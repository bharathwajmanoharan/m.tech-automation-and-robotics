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Poppins SemiBold" panose="000007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B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957262"/>
            <a:ext cx="110490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REAL TIME EMBEDDED SYSTEMS (21EIC504J)</a:t>
            </a:r>
            <a:endParaRPr dirty="0">
              <a:solidFill>
                <a:srgbClr val="38BDF8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1557337"/>
            <a:ext cx="11601450" cy="165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ARM ASSEMBLY</a:t>
            </a:r>
            <a:br>
              <a:rPr lang="en-US" sz="1800" b="0" i="0" u="none" strike="noStrike" cap="none" dirty="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PROGRAMMING</a:t>
            </a:r>
            <a:endParaRPr dirty="0">
              <a:solidFill>
                <a:srgbClr val="38BDF8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671887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Module-2 Seminar: Architecture &amp; Instructions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524500" y="4452937"/>
            <a:ext cx="1143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highlight>
                <a:srgbClr val="38BDF8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5081587"/>
            <a:ext cx="110490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Presented by: </a:t>
            </a:r>
            <a:r>
              <a:rPr lang="en-US" sz="1650" b="1" dirty="0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Mohamed Sabiq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5700712"/>
            <a:ext cx="110490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MTech • </a:t>
            </a:r>
            <a:r>
              <a:rPr lang="en-US" sz="1650" dirty="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Automation &amp; Robotics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045868" y="2047875"/>
            <a:ext cx="210026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Seminar Agenda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619750" y="2667000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2238375" y="3143250"/>
            <a:ext cx="3619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Instruction Set Basics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2238375" y="3648075"/>
            <a:ext cx="3619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Register Map (Cortex-M)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2238375" y="4152900"/>
            <a:ext cx="3619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Load-Store Architecture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62750" y="3143250"/>
            <a:ext cx="3619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Data Processing Ops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62750" y="3648075"/>
            <a:ext cx="3619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Control Flow &amp; Loops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62750" y="4152900"/>
            <a:ext cx="36195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Barrier &amp; Saturation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1718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6766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41814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1718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6766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18147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7858125" y="6648450"/>
            <a:ext cx="423862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This flow matches the Module-2 syllabus topics, focusing on technical depth for postgraduate study.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81212"/>
            <a:ext cx="5286375" cy="36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81212"/>
            <a:ext cx="5286375" cy="36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4233862"/>
            <a:ext cx="4505325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962025" y="247173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Command Language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62025" y="3081337"/>
            <a:ext cx="450532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ISA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is the CPU's native interface. Every command is defined by an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Opcode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and associated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Operands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724650" y="247173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RISC Principles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724650" y="3081337"/>
            <a:ext cx="450532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ARM uses Reduced Instruction Set Computing (RISC). It prioritizes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register-to-register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operations for predictable execution.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724650" y="4233862"/>
            <a:ext cx="450532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 Fixed-length instructions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• Single-cycle execution (mostly)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• Load-Store Model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is an Instruction Set?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7277100" y="6648450"/>
            <a:ext cx="481965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Assembly is basically the CPU’s direct language. Each instruction translates directly to a machine code bit pattern.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91225" y="1190625"/>
            <a:ext cx="5629275" cy="536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5">
            <a:alphaModFix/>
          </a:blip>
          <a:srcRect l="12292" r="12116"/>
          <a:stretch>
            <a:fillRect/>
          </a:stretch>
        </p:blipFill>
        <p:spPr>
          <a:xfrm>
            <a:off x="6162675" y="1317464"/>
            <a:ext cx="5314949" cy="509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1000125" y="2114550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R0 – R12: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General Purpose Registers for data processing.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000125" y="2933700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R13 (SP):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Stack Pointer. Points to the current stack top.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00125" y="3752850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R14 (LR):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Link Register. Stores return address for functions.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000125" y="4572000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R15 (PC):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Program Counter. Points to next instruction.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000125" y="5391150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xPSR: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Status flags (Z, N, C, V).</a:t>
            </a:r>
            <a:endParaRPr/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1431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96227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78142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6005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541972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ARM Cortex-M Register Map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428263" y="6515100"/>
            <a:ext cx="1166848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NOTE: Most ARM instructions operate directly on registers. R13, R14, and R15 have special hardware functions</a:t>
            </a:r>
            <a:r>
              <a:rPr lang="en-US" sz="75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09987"/>
            <a:ext cx="4953000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571500" y="852487"/>
            <a:ext cx="52006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Load-Store Architecture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571500" y="2681287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 ARM, memory is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isolated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from the ALU. You cannot perform arithmetic directly on RAM values.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71500" y="5195887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This decoupling allows for higher clock speeds and deterministic timing in RTOS.</a:t>
            </a:r>
            <a:endParaRPr/>
          </a:p>
        </p:txBody>
      </p:sp>
      <p:pic>
        <p:nvPicPr>
          <p:cNvPr id="157" name="Google Shape;15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8277225" y="6648450"/>
            <a:ext cx="381952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This is a very important ARM feature. The processor only manipulates data inside registers.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43087"/>
            <a:ext cx="5286375" cy="417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843087"/>
            <a:ext cx="5286375" cy="417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3367087"/>
            <a:ext cx="4505325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3681412"/>
            <a:ext cx="4505325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962025" y="2233612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LDR / STR Ops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962025" y="2843212"/>
            <a:ext cx="45053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Basic memory access instructions.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62025" y="4471987"/>
            <a:ext cx="45053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Supports offset, pre-index, and post-index addressing modes.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724650" y="2233612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Stack Management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724650" y="2843212"/>
            <a:ext cx="45053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Uses R13 (SP) to manage function context and local variables.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724650" y="4786312"/>
            <a:ext cx="45053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Note: Popping LR into PC performs an automatic function return.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Memory Access &amp; Stack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7629525" y="6648450"/>
            <a:ext cx="446722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Stack operations are critical in functions and interrupts to preserve the state of general-purpose registers.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85937"/>
            <a:ext cx="3492549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785937"/>
            <a:ext cx="3492549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785937"/>
            <a:ext cx="3492549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3862387"/>
            <a:ext cx="2901999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4176712"/>
            <a:ext cx="2901999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4176712"/>
            <a:ext cx="2901999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571500" y="5548312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Example: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SUBS R0, R0, #1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(Decrement and update status flags)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866775" y="2728912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ADD / SUB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866775" y="3338512"/>
            <a:ext cx="2901999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Standard math operations.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4645074" y="2728912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MUL / MLA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4645074" y="3338512"/>
            <a:ext cx="2901999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Multiply and Multiply-Accumulate.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8423374" y="2728912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ADC / SBC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8423374" y="3338512"/>
            <a:ext cx="2901999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Add/Sub with Carry (for 64-bit ops).</a:t>
            </a:r>
            <a:endParaRPr/>
          </a:p>
        </p:txBody>
      </p:sp>
      <p:pic>
        <p:nvPicPr>
          <p:cNvPr id="195" name="Google Shape;195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6775" y="21193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45074" y="2119312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23374" y="2119312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Arithmetic Processing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8067675" y="6648450"/>
            <a:ext cx="402907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Arithmetic instructions often update flags (using the 'S' suffix), which helps in making decisions.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62187"/>
            <a:ext cx="5286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38562"/>
            <a:ext cx="5286375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2271712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1000125" y="2414587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Bitwise Ops: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AND, ORR, EOR (XOR), BIC (Bit Clear).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1000125" y="2919412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Barrel Shifter: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Unique ARM feature to shift an operand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during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an ALU operation.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Logical Ops &amp; Shifting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7191375" y="6648450"/>
            <a:ext cx="490537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Bit operations are used heavily for peripheral registers. The barrel shifter provides 'free' scaling in many instructions.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571500" y="3314700"/>
            <a:ext cx="26289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ZNCV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571500" y="4267200"/>
            <a:ext cx="26289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STATUS FLAGS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3771900" y="2628900"/>
            <a:ext cx="824103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Status Flags (xPSR)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3771900" y="3238500"/>
            <a:ext cx="78486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Z (Zero):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Result was zero (Equal).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N (Negative):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Result bit 31 is set.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 (Carry):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Unsigned overflow.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V (Overflow):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Signed overflow.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3771900" y="4705350"/>
            <a:ext cx="7848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CMP R0, #10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calculates (R0 - 10) and updates flags without saving the result.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Condition Flags &amp; CMP</a:t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8458200" y="6648450"/>
            <a:ext cx="363855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CMP prepares the CPU for conditional branching by updating the status register flags.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62187"/>
            <a:ext cx="5286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29062"/>
            <a:ext cx="528637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2271712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1000125" y="2414587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B: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Unconditional Branch.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1000125" y="2919412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BEQ / BNE: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Branch if Equal / Not Equal.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1000125" y="3424237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BL: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Branch with Link (Function call).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Control Flow &amp; Branching</a:t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8372475" y="6648450"/>
            <a:ext cx="372427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This is how loops are built in assembly. SUBS updates flags, and BNE checks the Zero flag.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24062"/>
            <a:ext cx="3492549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24062"/>
            <a:ext cx="3492549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24062"/>
            <a:ext cx="3492549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 txBox="1"/>
          <p:nvPr/>
        </p:nvSpPr>
        <p:spPr>
          <a:xfrm>
            <a:off x="571500" y="531018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Crucial for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DMA</a:t>
            </a:r>
            <a:r>
              <a:rPr lang="en-US" sz="1650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Interrupts</a:t>
            </a:r>
            <a:r>
              <a:rPr lang="en-US" sz="1650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, and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Multicore</a:t>
            </a:r>
            <a:r>
              <a:rPr lang="en-US" sz="1650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synchronization.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866775" y="2967037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DMB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866775" y="3576637"/>
            <a:ext cx="2901999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Data Memory Barrier.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Ensures all memory access finishes before next memory operation.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4645074" y="2967037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DSB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4645074" y="3576637"/>
            <a:ext cx="2901999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Data Sync Barrier.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Halts execution until memory access is complete.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8423374" y="2967037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ISB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8423374" y="3576637"/>
            <a:ext cx="2901999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Instruction Sync Barrier.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Flushes pipeline and fetches new instructions.</a:t>
            </a:r>
            <a:endParaRPr/>
          </a:p>
        </p:txBody>
      </p:sp>
      <p:pic>
        <p:nvPicPr>
          <p:cNvPr id="256" name="Google Shape;256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35743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3574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3574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Memory Barrier Instructions</a:t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7239000" y="6648450"/>
            <a:ext cx="485775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Even if code is correct, hardware can reorder operations—barriers prevent race conditions in real-time peripherals.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988468"/>
            <a:ext cx="714375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 txBox="1"/>
          <p:nvPr/>
        </p:nvSpPr>
        <p:spPr>
          <a:xfrm>
            <a:off x="571500" y="1540668"/>
            <a:ext cx="750093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Safe Clamping</a:t>
            </a:r>
            <a:endParaRPr dirty="0"/>
          </a:p>
        </p:txBody>
      </p:sp>
      <p:sp>
        <p:nvSpPr>
          <p:cNvPr id="271" name="Google Shape;271;p24"/>
          <p:cNvSpPr txBox="1"/>
          <p:nvPr/>
        </p:nvSpPr>
        <p:spPr>
          <a:xfrm>
            <a:off x="571500" y="2150268"/>
            <a:ext cx="7143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Normal overflow "wraps around" (e.g., 127 + 1 = -128). Saturation 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clamps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the result at the maximum or minimum limit.</a:t>
            </a:r>
            <a:endParaRPr dirty="0"/>
          </a:p>
        </p:txBody>
      </p:sp>
      <p:sp>
        <p:nvSpPr>
          <p:cNvPr id="272" name="Google Shape;272;p24"/>
          <p:cNvSpPr txBox="1"/>
          <p:nvPr/>
        </p:nvSpPr>
        <p:spPr>
          <a:xfrm>
            <a:off x="628650" y="3806168"/>
            <a:ext cx="714375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Essential for: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• 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DSP: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Audio/Video filtering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• 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Control: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Motor torque limits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• 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Sensors: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Noise clamping</a:t>
            </a:r>
            <a:endParaRPr dirty="0"/>
          </a:p>
        </p:txBody>
      </p:sp>
      <p:sp>
        <p:nvSpPr>
          <p:cNvPr id="273" name="Google Shape;273;p2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Arithmetic Saturation</a:t>
            </a:r>
            <a:endParaRPr dirty="0"/>
          </a:p>
        </p:txBody>
      </p:sp>
      <p:sp>
        <p:nvSpPr>
          <p:cNvPr id="274" name="Google Shape;274;p24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 txBox="1"/>
          <p:nvPr/>
        </p:nvSpPr>
        <p:spPr>
          <a:xfrm>
            <a:off x="7591425" y="6648450"/>
            <a:ext cx="450532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Saturation avoids dangerous 'wrap-around' values which can cause control instability in real-time systems.</a:t>
            </a:r>
            <a:endParaRPr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A781D25-1BCA-8DF4-DE8A-377CD3E62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3334" y="3839530"/>
            <a:ext cx="5193416" cy="2955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 txBox="1"/>
          <p:nvPr/>
        </p:nvSpPr>
        <p:spPr>
          <a:xfrm>
            <a:off x="4705826" y="2143125"/>
            <a:ext cx="278034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Summary &amp; Questions</a:t>
            </a: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5619750" y="2762250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 txBox="1"/>
          <p:nvPr/>
        </p:nvSpPr>
        <p:spPr>
          <a:xfrm>
            <a:off x="2286000" y="3295650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We have explored the ARMv7-M Instruction Set, from fundamental Load-Store models to advanced Safety Barriers and DSP Saturation.</a:t>
            </a:r>
            <a:endParaRPr/>
          </a:p>
        </p:txBody>
      </p:sp>
      <p:pic>
        <p:nvPicPr>
          <p:cNvPr id="284" name="Google Shape;28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38775" y="1190625"/>
            <a:ext cx="131445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2286000" y="4514850"/>
            <a:ext cx="35718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 Register Bank R0-R15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• LDR/STR &amp; Stack Usage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• Barrel Shifter Optimization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6334125" y="4514850"/>
            <a:ext cx="35718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• Condition Flags &amp; Branches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• Pipeline Synchronization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• Saturation Safety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8982075" y="6648450"/>
            <a:ext cx="3114675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Finish with 2–3 questions to make it interactive. Thank you for your time.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2D4657-A2D3-A045-FAA5-723D5DDCE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4542" y="2413517"/>
            <a:ext cx="7322916" cy="20309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819</Words>
  <Application>Microsoft Office PowerPoint</Application>
  <PresentationFormat>Widescreen</PresentationFormat>
  <Paragraphs>83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Lato</vt:lpstr>
      <vt:lpstr>Inter</vt:lpstr>
      <vt:lpstr>Poppins SemiBold</vt:lpstr>
      <vt:lpstr>Poppins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Mohamed Sabiq</cp:lastModifiedBy>
  <cp:revision>1</cp:revision>
  <dcterms:modified xsi:type="dcterms:W3CDTF">2026-02-12T03:03:23Z</dcterms:modified>
</cp:coreProperties>
</file>