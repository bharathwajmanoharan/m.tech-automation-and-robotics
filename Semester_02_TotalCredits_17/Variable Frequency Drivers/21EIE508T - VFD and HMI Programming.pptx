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70" r:id="rId15"/>
    <p:sldId id="269"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7" r:id="rId37"/>
    <p:sldId id="291" r:id="rId38"/>
    <p:sldId id="298" r:id="rId39"/>
    <p:sldId id="292" r:id="rId40"/>
    <p:sldId id="293" r:id="rId41"/>
    <p:sldId id="294" r:id="rId42"/>
    <p:sldId id="295" r:id="rId43"/>
    <p:sldId id="296" r:id="rId44"/>
    <p:sldId id="299" r:id="rId45"/>
    <p:sldId id="300" r:id="rId46"/>
    <p:sldId id="301" r:id="rId47"/>
    <p:sldId id="302" r:id="rId48"/>
    <p:sldId id="303" r:id="rId49"/>
    <p:sldId id="305" r:id="rId50"/>
    <p:sldId id="306" r:id="rId51"/>
    <p:sldId id="308" r:id="rId52"/>
    <p:sldId id="309" r:id="rId53"/>
    <p:sldId id="304" r:id="rId54"/>
    <p:sldId id="310" r:id="rId55"/>
    <p:sldId id="307" r:id="rId56"/>
    <p:sldId id="311" r:id="rId57"/>
    <p:sldId id="312" r:id="rId58"/>
    <p:sldId id="313" r:id="rId59"/>
    <p:sldId id="314" r:id="rId60"/>
    <p:sldId id="315" r:id="rId6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87B53A-60DE-4920-976B-7E2972FA7BB6}" v="106" dt="2026-03-09T05:28:33.06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8" d="100"/>
          <a:sy n="78" d="100"/>
        </p:scale>
        <p:origin x="878" y="77"/>
      </p:cViewPr>
      <p:guideLst/>
    </p:cSldViewPr>
  </p:slideViewPr>
  <p:notesTextViewPr>
    <p:cViewPr>
      <p:scale>
        <a:sx n="3" d="2"/>
        <a:sy n="3" d="2"/>
      </p:scale>
      <p:origin x="0" y="-5"/>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microsoft.com/office/2015/10/relationships/revisionInfo" Target="revisionInfo.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ikith Kumar Reddy C" userId="c66f69d0a56e7f2e" providerId="LiveId" clId="{8E541177-B463-4575-8AAF-2C751ECE2BF9}"/>
    <pc:docChg chg="undo custSel addSld modSld">
      <pc:chgData name="Likith Kumar Reddy C" userId="c66f69d0a56e7f2e" providerId="LiveId" clId="{8E541177-B463-4575-8AAF-2C751ECE2BF9}" dt="2026-03-09T05:28:33.065" v="426"/>
      <pc:docMkLst>
        <pc:docMk/>
      </pc:docMkLst>
      <pc:sldChg chg="addSp delSp modSp new mod">
        <pc:chgData name="Likith Kumar Reddy C" userId="c66f69d0a56e7f2e" providerId="LiveId" clId="{8E541177-B463-4575-8AAF-2C751ECE2BF9}" dt="2026-02-13T03:53:44.238" v="14" actId="20577"/>
        <pc:sldMkLst>
          <pc:docMk/>
          <pc:sldMk cId="2736507526" sldId="277"/>
        </pc:sldMkLst>
        <pc:spChg chg="mod">
          <ac:chgData name="Likith Kumar Reddy C" userId="c66f69d0a56e7f2e" providerId="LiveId" clId="{8E541177-B463-4575-8AAF-2C751ECE2BF9}" dt="2026-02-13T03:53:01.493" v="1"/>
          <ac:spMkLst>
            <pc:docMk/>
            <pc:sldMk cId="2736507526" sldId="277"/>
            <ac:spMk id="2" creationId="{E32AA1B3-4524-7AA0-0676-C53B4239D04E}"/>
          </ac:spMkLst>
        </pc:spChg>
        <pc:spChg chg="add del mod">
          <ac:chgData name="Likith Kumar Reddy C" userId="c66f69d0a56e7f2e" providerId="LiveId" clId="{8E541177-B463-4575-8AAF-2C751ECE2BF9}" dt="2026-02-13T03:53:44.238" v="14" actId="20577"/>
          <ac:spMkLst>
            <pc:docMk/>
            <pc:sldMk cId="2736507526" sldId="277"/>
            <ac:spMk id="3" creationId="{5EDC7198-82A6-CD19-B461-A6B4E127F3C8}"/>
          </ac:spMkLst>
        </pc:spChg>
      </pc:sldChg>
      <pc:sldChg chg="modSp new mod">
        <pc:chgData name="Likith Kumar Reddy C" userId="c66f69d0a56e7f2e" providerId="LiveId" clId="{8E541177-B463-4575-8AAF-2C751ECE2BF9}" dt="2026-02-13T03:55:17.365" v="23"/>
        <pc:sldMkLst>
          <pc:docMk/>
          <pc:sldMk cId="3022944146" sldId="278"/>
        </pc:sldMkLst>
        <pc:spChg chg="mod">
          <ac:chgData name="Likith Kumar Reddy C" userId="c66f69d0a56e7f2e" providerId="LiveId" clId="{8E541177-B463-4575-8AAF-2C751ECE2BF9}" dt="2026-02-13T03:54:05.076" v="16"/>
          <ac:spMkLst>
            <pc:docMk/>
            <pc:sldMk cId="3022944146" sldId="278"/>
            <ac:spMk id="2" creationId="{0FFB2141-A995-352A-0FB0-655CC7A56276}"/>
          </ac:spMkLst>
        </pc:spChg>
        <pc:spChg chg="mod">
          <ac:chgData name="Likith Kumar Reddy C" userId="c66f69d0a56e7f2e" providerId="LiveId" clId="{8E541177-B463-4575-8AAF-2C751ECE2BF9}" dt="2026-02-13T03:55:17.365" v="23"/>
          <ac:spMkLst>
            <pc:docMk/>
            <pc:sldMk cId="3022944146" sldId="278"/>
            <ac:spMk id="3" creationId="{8570AE72-D698-E5F3-6415-BA1E88F511C1}"/>
          </ac:spMkLst>
        </pc:spChg>
      </pc:sldChg>
      <pc:sldChg chg="addSp delSp modSp new mod modClrScheme chgLayout">
        <pc:chgData name="Likith Kumar Reddy C" userId="c66f69d0a56e7f2e" providerId="LiveId" clId="{8E541177-B463-4575-8AAF-2C751ECE2BF9}" dt="2026-02-13T03:56:04.958" v="35" actId="5793"/>
        <pc:sldMkLst>
          <pc:docMk/>
          <pc:sldMk cId="3098373142" sldId="279"/>
        </pc:sldMkLst>
        <pc:spChg chg="add mod ord">
          <ac:chgData name="Likith Kumar Reddy C" userId="c66f69d0a56e7f2e" providerId="LiveId" clId="{8E541177-B463-4575-8AAF-2C751ECE2BF9}" dt="2026-02-13T03:55:24.013" v="25" actId="700"/>
          <ac:spMkLst>
            <pc:docMk/>
            <pc:sldMk cId="3098373142" sldId="279"/>
            <ac:spMk id="4" creationId="{EEE7F510-2CE9-80F0-FA95-10523011750D}"/>
          </ac:spMkLst>
        </pc:spChg>
        <pc:spChg chg="add mod ord">
          <ac:chgData name="Likith Kumar Reddy C" userId="c66f69d0a56e7f2e" providerId="LiveId" clId="{8E541177-B463-4575-8AAF-2C751ECE2BF9}" dt="2026-02-13T03:56:00.663" v="32" actId="27636"/>
          <ac:spMkLst>
            <pc:docMk/>
            <pc:sldMk cId="3098373142" sldId="279"/>
            <ac:spMk id="5" creationId="{128FB168-67E5-4E5F-B8AF-55F5FEC72B07}"/>
          </ac:spMkLst>
        </pc:spChg>
        <pc:spChg chg="add mod ord">
          <ac:chgData name="Likith Kumar Reddy C" userId="c66f69d0a56e7f2e" providerId="LiveId" clId="{8E541177-B463-4575-8AAF-2C751ECE2BF9}" dt="2026-02-13T03:56:04.958" v="35" actId="5793"/>
          <ac:spMkLst>
            <pc:docMk/>
            <pc:sldMk cId="3098373142" sldId="279"/>
            <ac:spMk id="6" creationId="{2769B327-0844-22D4-F306-B48C0D4D64A8}"/>
          </ac:spMkLst>
        </pc:spChg>
      </pc:sldChg>
      <pc:sldChg chg="modSp new mod">
        <pc:chgData name="Likith Kumar Reddy C" userId="c66f69d0a56e7f2e" providerId="LiveId" clId="{8E541177-B463-4575-8AAF-2C751ECE2BF9}" dt="2026-02-13T04:02:30.140" v="41" actId="5793"/>
        <pc:sldMkLst>
          <pc:docMk/>
          <pc:sldMk cId="989742418" sldId="280"/>
        </pc:sldMkLst>
        <pc:spChg chg="mod">
          <ac:chgData name="Likith Kumar Reddy C" userId="c66f69d0a56e7f2e" providerId="LiveId" clId="{8E541177-B463-4575-8AAF-2C751ECE2BF9}" dt="2026-02-13T04:01:57.943" v="38" actId="5793"/>
          <ac:spMkLst>
            <pc:docMk/>
            <pc:sldMk cId="989742418" sldId="280"/>
            <ac:spMk id="3" creationId="{FED6DA55-4391-2481-1C42-6A874E51C863}"/>
          </ac:spMkLst>
        </pc:spChg>
        <pc:spChg chg="mod">
          <ac:chgData name="Likith Kumar Reddy C" userId="c66f69d0a56e7f2e" providerId="LiveId" clId="{8E541177-B463-4575-8AAF-2C751ECE2BF9}" dt="2026-02-13T04:02:30.140" v="41" actId="5793"/>
          <ac:spMkLst>
            <pc:docMk/>
            <pc:sldMk cId="989742418" sldId="280"/>
            <ac:spMk id="4" creationId="{8BF06F27-5370-5CF7-4D51-6C435102D5FC}"/>
          </ac:spMkLst>
        </pc:spChg>
      </pc:sldChg>
      <pc:sldChg chg="modSp new mod">
        <pc:chgData name="Likith Kumar Reddy C" userId="c66f69d0a56e7f2e" providerId="LiveId" clId="{8E541177-B463-4575-8AAF-2C751ECE2BF9}" dt="2026-02-13T04:03:23.866" v="49" actId="5793"/>
        <pc:sldMkLst>
          <pc:docMk/>
          <pc:sldMk cId="3772205975" sldId="281"/>
        </pc:sldMkLst>
        <pc:spChg chg="mod">
          <ac:chgData name="Likith Kumar Reddy C" userId="c66f69d0a56e7f2e" providerId="LiveId" clId="{8E541177-B463-4575-8AAF-2C751ECE2BF9}" dt="2026-02-13T04:02:49.939" v="43"/>
          <ac:spMkLst>
            <pc:docMk/>
            <pc:sldMk cId="3772205975" sldId="281"/>
            <ac:spMk id="2" creationId="{9CEA0C0C-D50D-D055-3E19-969C038C4031}"/>
          </ac:spMkLst>
        </pc:spChg>
        <pc:spChg chg="mod">
          <ac:chgData name="Likith Kumar Reddy C" userId="c66f69d0a56e7f2e" providerId="LiveId" clId="{8E541177-B463-4575-8AAF-2C751ECE2BF9}" dt="2026-02-13T04:03:07.669" v="47" actId="5793"/>
          <ac:spMkLst>
            <pc:docMk/>
            <pc:sldMk cId="3772205975" sldId="281"/>
            <ac:spMk id="3" creationId="{80845386-D527-21AF-E609-EAEC442A1486}"/>
          </ac:spMkLst>
        </pc:spChg>
        <pc:spChg chg="mod">
          <ac:chgData name="Likith Kumar Reddy C" userId="c66f69d0a56e7f2e" providerId="LiveId" clId="{8E541177-B463-4575-8AAF-2C751ECE2BF9}" dt="2026-02-13T04:03:23.866" v="49" actId="5793"/>
          <ac:spMkLst>
            <pc:docMk/>
            <pc:sldMk cId="3772205975" sldId="281"/>
            <ac:spMk id="4" creationId="{1DFF51A7-722E-DAEA-1C5B-6B586A4E6D92}"/>
          </ac:spMkLst>
        </pc:spChg>
      </pc:sldChg>
      <pc:sldChg chg="modSp new mod">
        <pc:chgData name="Likith Kumar Reddy C" userId="c66f69d0a56e7f2e" providerId="LiveId" clId="{8E541177-B463-4575-8AAF-2C751ECE2BF9}" dt="2026-02-13T04:03:44.872" v="52" actId="5793"/>
        <pc:sldMkLst>
          <pc:docMk/>
          <pc:sldMk cId="489840811" sldId="282"/>
        </pc:sldMkLst>
        <pc:spChg chg="mod">
          <ac:chgData name="Likith Kumar Reddy C" userId="c66f69d0a56e7f2e" providerId="LiveId" clId="{8E541177-B463-4575-8AAF-2C751ECE2BF9}" dt="2026-02-13T04:03:44.872" v="52" actId="5793"/>
          <ac:spMkLst>
            <pc:docMk/>
            <pc:sldMk cId="489840811" sldId="282"/>
            <ac:spMk id="3" creationId="{0455C67A-F24D-8E0F-7D67-EF1C42EBA63C}"/>
          </ac:spMkLst>
        </pc:spChg>
      </pc:sldChg>
      <pc:sldChg chg="modSp new mod">
        <pc:chgData name="Likith Kumar Reddy C" userId="c66f69d0a56e7f2e" providerId="LiveId" clId="{8E541177-B463-4575-8AAF-2C751ECE2BF9}" dt="2026-02-13T04:04:51.511" v="58" actId="5793"/>
        <pc:sldMkLst>
          <pc:docMk/>
          <pc:sldMk cId="2801634133" sldId="283"/>
        </pc:sldMkLst>
        <pc:spChg chg="mod">
          <ac:chgData name="Likith Kumar Reddy C" userId="c66f69d0a56e7f2e" providerId="LiveId" clId="{8E541177-B463-4575-8AAF-2C751ECE2BF9}" dt="2026-02-13T04:04:08.327" v="54"/>
          <ac:spMkLst>
            <pc:docMk/>
            <pc:sldMk cId="2801634133" sldId="283"/>
            <ac:spMk id="2" creationId="{01D2B4C8-4171-6C90-4A37-583C2A9ABC9D}"/>
          </ac:spMkLst>
        </pc:spChg>
        <pc:spChg chg="mod">
          <ac:chgData name="Likith Kumar Reddy C" userId="c66f69d0a56e7f2e" providerId="LiveId" clId="{8E541177-B463-4575-8AAF-2C751ECE2BF9}" dt="2026-02-13T04:04:26.128" v="56" actId="5793"/>
          <ac:spMkLst>
            <pc:docMk/>
            <pc:sldMk cId="2801634133" sldId="283"/>
            <ac:spMk id="3" creationId="{143600FD-2A85-4361-D15E-96BB3DE0650E}"/>
          </ac:spMkLst>
        </pc:spChg>
        <pc:spChg chg="mod">
          <ac:chgData name="Likith Kumar Reddy C" userId="c66f69d0a56e7f2e" providerId="LiveId" clId="{8E541177-B463-4575-8AAF-2C751ECE2BF9}" dt="2026-02-13T04:04:51.511" v="58" actId="5793"/>
          <ac:spMkLst>
            <pc:docMk/>
            <pc:sldMk cId="2801634133" sldId="283"/>
            <ac:spMk id="4" creationId="{C09C550C-1820-1339-CF72-B7E4A1712D2E}"/>
          </ac:spMkLst>
        </pc:spChg>
      </pc:sldChg>
      <pc:sldChg chg="modSp new mod">
        <pc:chgData name="Likith Kumar Reddy C" userId="c66f69d0a56e7f2e" providerId="LiveId" clId="{8E541177-B463-4575-8AAF-2C751ECE2BF9}" dt="2026-02-13T04:05:21.262" v="63" actId="5793"/>
        <pc:sldMkLst>
          <pc:docMk/>
          <pc:sldMk cId="2219464269" sldId="284"/>
        </pc:sldMkLst>
        <pc:spChg chg="mod">
          <ac:chgData name="Likith Kumar Reddy C" userId="c66f69d0a56e7f2e" providerId="LiveId" clId="{8E541177-B463-4575-8AAF-2C751ECE2BF9}" dt="2026-02-13T04:05:09.173" v="61" actId="5793"/>
          <ac:spMkLst>
            <pc:docMk/>
            <pc:sldMk cId="2219464269" sldId="284"/>
            <ac:spMk id="3" creationId="{9D107C18-91FC-F02B-7A2B-1E9DF78F1ECD}"/>
          </ac:spMkLst>
        </pc:spChg>
        <pc:spChg chg="mod">
          <ac:chgData name="Likith Kumar Reddy C" userId="c66f69d0a56e7f2e" providerId="LiveId" clId="{8E541177-B463-4575-8AAF-2C751ECE2BF9}" dt="2026-02-13T04:05:21.262" v="63" actId="5793"/>
          <ac:spMkLst>
            <pc:docMk/>
            <pc:sldMk cId="2219464269" sldId="284"/>
            <ac:spMk id="4" creationId="{A1F95A16-6F0F-AF2C-3ECC-BF42F17E94CD}"/>
          </ac:spMkLst>
        </pc:spChg>
      </pc:sldChg>
      <pc:sldChg chg="modSp new mod">
        <pc:chgData name="Likith Kumar Reddy C" userId="c66f69d0a56e7f2e" providerId="LiveId" clId="{8E541177-B463-4575-8AAF-2C751ECE2BF9}" dt="2026-02-13T04:06:22.758" v="72" actId="5793"/>
        <pc:sldMkLst>
          <pc:docMk/>
          <pc:sldMk cId="2987812488" sldId="285"/>
        </pc:sldMkLst>
        <pc:spChg chg="mod">
          <ac:chgData name="Likith Kumar Reddy C" userId="c66f69d0a56e7f2e" providerId="LiveId" clId="{8E541177-B463-4575-8AAF-2C751ECE2BF9}" dt="2026-02-13T04:05:49.003" v="65"/>
          <ac:spMkLst>
            <pc:docMk/>
            <pc:sldMk cId="2987812488" sldId="285"/>
            <ac:spMk id="2" creationId="{2F9A9EAC-F491-D8C9-EF6F-421965F9B555}"/>
          </ac:spMkLst>
        </pc:spChg>
        <pc:spChg chg="mod">
          <ac:chgData name="Likith Kumar Reddy C" userId="c66f69d0a56e7f2e" providerId="LiveId" clId="{8E541177-B463-4575-8AAF-2C751ECE2BF9}" dt="2026-02-13T04:06:07.155" v="70" actId="5793"/>
          <ac:spMkLst>
            <pc:docMk/>
            <pc:sldMk cId="2987812488" sldId="285"/>
            <ac:spMk id="3" creationId="{2685724A-E7AC-33BF-BB81-FDF694A79515}"/>
          </ac:spMkLst>
        </pc:spChg>
        <pc:spChg chg="mod">
          <ac:chgData name="Likith Kumar Reddy C" userId="c66f69d0a56e7f2e" providerId="LiveId" clId="{8E541177-B463-4575-8AAF-2C751ECE2BF9}" dt="2026-02-13T04:06:22.758" v="72" actId="5793"/>
          <ac:spMkLst>
            <pc:docMk/>
            <pc:sldMk cId="2987812488" sldId="285"/>
            <ac:spMk id="4" creationId="{31CFA6C4-BEB7-E66F-1331-FA6D8BE03412}"/>
          </ac:spMkLst>
        </pc:spChg>
      </pc:sldChg>
      <pc:sldChg chg="modSp new mod">
        <pc:chgData name="Likith Kumar Reddy C" userId="c66f69d0a56e7f2e" providerId="LiveId" clId="{8E541177-B463-4575-8AAF-2C751ECE2BF9}" dt="2026-02-13T04:06:51.831" v="77" actId="5793"/>
        <pc:sldMkLst>
          <pc:docMk/>
          <pc:sldMk cId="3524828341" sldId="286"/>
        </pc:sldMkLst>
        <pc:spChg chg="mod">
          <ac:chgData name="Likith Kumar Reddy C" userId="c66f69d0a56e7f2e" providerId="LiveId" clId="{8E541177-B463-4575-8AAF-2C751ECE2BF9}" dt="2026-02-13T04:06:51.831" v="77" actId="5793"/>
          <ac:spMkLst>
            <pc:docMk/>
            <pc:sldMk cId="3524828341" sldId="286"/>
            <ac:spMk id="3" creationId="{66438BA3-141F-77A6-E5F3-021F26560F26}"/>
          </ac:spMkLst>
        </pc:spChg>
      </pc:sldChg>
      <pc:sldChg chg="modSp new mod">
        <pc:chgData name="Likith Kumar Reddy C" userId="c66f69d0a56e7f2e" providerId="LiveId" clId="{8E541177-B463-4575-8AAF-2C751ECE2BF9}" dt="2026-02-13T04:07:46.704" v="87" actId="5793"/>
        <pc:sldMkLst>
          <pc:docMk/>
          <pc:sldMk cId="3479643049" sldId="287"/>
        </pc:sldMkLst>
        <pc:spChg chg="mod">
          <ac:chgData name="Likith Kumar Reddy C" userId="c66f69d0a56e7f2e" providerId="LiveId" clId="{8E541177-B463-4575-8AAF-2C751ECE2BF9}" dt="2026-02-13T04:07:22.026" v="79"/>
          <ac:spMkLst>
            <pc:docMk/>
            <pc:sldMk cId="3479643049" sldId="287"/>
            <ac:spMk id="2" creationId="{7F4497F2-09CF-7360-09EA-E561B5741FB4}"/>
          </ac:spMkLst>
        </pc:spChg>
        <pc:spChg chg="mod">
          <ac:chgData name="Likith Kumar Reddy C" userId="c66f69d0a56e7f2e" providerId="LiveId" clId="{8E541177-B463-4575-8AAF-2C751ECE2BF9}" dt="2026-02-13T04:07:34.303" v="85" actId="5793"/>
          <ac:spMkLst>
            <pc:docMk/>
            <pc:sldMk cId="3479643049" sldId="287"/>
            <ac:spMk id="3" creationId="{695C1F15-628A-7410-8FF1-4AB921219285}"/>
          </ac:spMkLst>
        </pc:spChg>
        <pc:spChg chg="mod">
          <ac:chgData name="Likith Kumar Reddy C" userId="c66f69d0a56e7f2e" providerId="LiveId" clId="{8E541177-B463-4575-8AAF-2C751ECE2BF9}" dt="2026-02-13T04:07:46.704" v="87" actId="5793"/>
          <ac:spMkLst>
            <pc:docMk/>
            <pc:sldMk cId="3479643049" sldId="287"/>
            <ac:spMk id="4" creationId="{750ED0DC-2215-9980-0988-860260CC2958}"/>
          </ac:spMkLst>
        </pc:spChg>
      </pc:sldChg>
      <pc:sldChg chg="modSp new mod">
        <pc:chgData name="Likith Kumar Reddy C" userId="c66f69d0a56e7f2e" providerId="LiveId" clId="{8E541177-B463-4575-8AAF-2C751ECE2BF9}" dt="2026-02-13T04:08:01.183" v="90" actId="5793"/>
        <pc:sldMkLst>
          <pc:docMk/>
          <pc:sldMk cId="1715945542" sldId="288"/>
        </pc:sldMkLst>
        <pc:spChg chg="mod">
          <ac:chgData name="Likith Kumar Reddy C" userId="c66f69d0a56e7f2e" providerId="LiveId" clId="{8E541177-B463-4575-8AAF-2C751ECE2BF9}" dt="2026-02-13T04:08:01.183" v="90" actId="5793"/>
          <ac:spMkLst>
            <pc:docMk/>
            <pc:sldMk cId="1715945542" sldId="288"/>
            <ac:spMk id="3" creationId="{E198936E-39F5-B967-714A-D283AD05E799}"/>
          </ac:spMkLst>
        </pc:spChg>
      </pc:sldChg>
      <pc:sldChg chg="addSp delSp modSp new mod modClrScheme chgLayout">
        <pc:chgData name="Likith Kumar Reddy C" userId="c66f69d0a56e7f2e" providerId="LiveId" clId="{8E541177-B463-4575-8AAF-2C751ECE2BF9}" dt="2026-02-13T04:10:11.068" v="121" actId="27636"/>
        <pc:sldMkLst>
          <pc:docMk/>
          <pc:sldMk cId="2658653204" sldId="289"/>
        </pc:sldMkLst>
        <pc:spChg chg="mod ord">
          <ac:chgData name="Likith Kumar Reddy C" userId="c66f69d0a56e7f2e" providerId="LiveId" clId="{8E541177-B463-4575-8AAF-2C751ECE2BF9}" dt="2026-02-13T04:08:49.807" v="93" actId="700"/>
          <ac:spMkLst>
            <pc:docMk/>
            <pc:sldMk cId="2658653204" sldId="289"/>
            <ac:spMk id="2" creationId="{F7BECEE6-47E3-0E48-93FF-5C6F626D31EA}"/>
          </ac:spMkLst>
        </pc:spChg>
        <pc:spChg chg="add mod ord">
          <ac:chgData name="Likith Kumar Reddy C" userId="c66f69d0a56e7f2e" providerId="LiveId" clId="{8E541177-B463-4575-8AAF-2C751ECE2BF9}" dt="2026-02-13T04:10:11.068" v="121" actId="27636"/>
          <ac:spMkLst>
            <pc:docMk/>
            <pc:sldMk cId="2658653204" sldId="289"/>
            <ac:spMk id="5" creationId="{09EFDA61-3B05-0948-B696-589F8DEBD815}"/>
          </ac:spMkLst>
        </pc:spChg>
      </pc:sldChg>
      <pc:sldChg chg="addSp delSp modSp new mod modClrScheme chgLayout">
        <pc:chgData name="Likith Kumar Reddy C" userId="c66f69d0a56e7f2e" providerId="LiveId" clId="{8E541177-B463-4575-8AAF-2C751ECE2BF9}" dt="2026-02-27T04:07:05.705" v="205" actId="207"/>
        <pc:sldMkLst>
          <pc:docMk/>
          <pc:sldMk cId="4013200293" sldId="290"/>
        </pc:sldMkLst>
        <pc:spChg chg="mod ord">
          <ac:chgData name="Likith Kumar Reddy C" userId="c66f69d0a56e7f2e" providerId="LiveId" clId="{8E541177-B463-4575-8AAF-2C751ECE2BF9}" dt="2026-02-13T04:13:04.645" v="124" actId="700"/>
          <ac:spMkLst>
            <pc:docMk/>
            <pc:sldMk cId="4013200293" sldId="290"/>
            <ac:spMk id="2" creationId="{01A6641F-354A-AFAC-B518-950627C9CC1A}"/>
          </ac:spMkLst>
        </pc:spChg>
        <pc:spChg chg="add mod ord">
          <ac:chgData name="Likith Kumar Reddy C" userId="c66f69d0a56e7f2e" providerId="LiveId" clId="{8E541177-B463-4575-8AAF-2C751ECE2BF9}" dt="2026-02-27T04:05:22.546" v="180" actId="5793"/>
          <ac:spMkLst>
            <pc:docMk/>
            <pc:sldMk cId="4013200293" sldId="290"/>
            <ac:spMk id="4" creationId="{BB1D5290-7486-88E6-9556-0A29C6E49D93}"/>
          </ac:spMkLst>
        </pc:spChg>
        <pc:spChg chg="add mod ord">
          <ac:chgData name="Likith Kumar Reddy C" userId="c66f69d0a56e7f2e" providerId="LiveId" clId="{8E541177-B463-4575-8AAF-2C751ECE2BF9}" dt="2026-02-27T04:07:05.705" v="205" actId="207"/>
          <ac:spMkLst>
            <pc:docMk/>
            <pc:sldMk cId="4013200293" sldId="290"/>
            <ac:spMk id="5" creationId="{F12E51BE-579C-6DF7-5ABD-06C121DF6AAF}"/>
          </ac:spMkLst>
        </pc:spChg>
      </pc:sldChg>
      <pc:sldChg chg="modSp new mod">
        <pc:chgData name="Likith Kumar Reddy C" userId="c66f69d0a56e7f2e" providerId="LiveId" clId="{8E541177-B463-4575-8AAF-2C751ECE2BF9}" dt="2026-02-27T04:08:21.568" v="219" actId="207"/>
        <pc:sldMkLst>
          <pc:docMk/>
          <pc:sldMk cId="3849715758" sldId="291"/>
        </pc:sldMkLst>
        <pc:spChg chg="mod">
          <ac:chgData name="Likith Kumar Reddy C" userId="c66f69d0a56e7f2e" providerId="LiveId" clId="{8E541177-B463-4575-8AAF-2C751ECE2BF9}" dt="2026-02-27T04:07:42.744" v="212" actId="5793"/>
          <ac:spMkLst>
            <pc:docMk/>
            <pc:sldMk cId="3849715758" sldId="291"/>
            <ac:spMk id="3" creationId="{B2BCB7B1-B340-48A5-BEFA-6F21D09FD834}"/>
          </ac:spMkLst>
        </pc:spChg>
        <pc:spChg chg="mod">
          <ac:chgData name="Likith Kumar Reddy C" userId="c66f69d0a56e7f2e" providerId="LiveId" clId="{8E541177-B463-4575-8AAF-2C751ECE2BF9}" dt="2026-02-27T04:08:21.568" v="219" actId="207"/>
          <ac:spMkLst>
            <pc:docMk/>
            <pc:sldMk cId="3849715758" sldId="291"/>
            <ac:spMk id="4" creationId="{89D255C9-AE8C-DF35-A1E5-5F029A2078E5}"/>
          </ac:spMkLst>
        </pc:spChg>
      </pc:sldChg>
      <pc:sldChg chg="modSp new mod">
        <pc:chgData name="Likith Kumar Reddy C" userId="c66f69d0a56e7f2e" providerId="LiveId" clId="{8E541177-B463-4575-8AAF-2C751ECE2BF9}" dt="2026-02-13T04:15:15.660" v="139" actId="5793"/>
        <pc:sldMkLst>
          <pc:docMk/>
          <pc:sldMk cId="1375874359" sldId="292"/>
        </pc:sldMkLst>
        <pc:spChg chg="mod">
          <ac:chgData name="Likith Kumar Reddy C" userId="c66f69d0a56e7f2e" providerId="LiveId" clId="{8E541177-B463-4575-8AAF-2C751ECE2BF9}" dt="2026-02-13T04:14:50.925" v="135"/>
          <ac:spMkLst>
            <pc:docMk/>
            <pc:sldMk cId="1375874359" sldId="292"/>
            <ac:spMk id="2" creationId="{899BA089-EEAC-3074-7869-4CA1D0DD5EB0}"/>
          </ac:spMkLst>
        </pc:spChg>
        <pc:spChg chg="mod">
          <ac:chgData name="Likith Kumar Reddy C" userId="c66f69d0a56e7f2e" providerId="LiveId" clId="{8E541177-B463-4575-8AAF-2C751ECE2BF9}" dt="2026-02-13T04:15:02.274" v="137" actId="5793"/>
          <ac:spMkLst>
            <pc:docMk/>
            <pc:sldMk cId="1375874359" sldId="292"/>
            <ac:spMk id="3" creationId="{CEEAE15D-ACCB-0CA6-EC70-D3BE60D7CC83}"/>
          </ac:spMkLst>
        </pc:spChg>
        <pc:spChg chg="mod">
          <ac:chgData name="Likith Kumar Reddy C" userId="c66f69d0a56e7f2e" providerId="LiveId" clId="{8E541177-B463-4575-8AAF-2C751ECE2BF9}" dt="2026-02-13T04:15:15.660" v="139" actId="5793"/>
          <ac:spMkLst>
            <pc:docMk/>
            <pc:sldMk cId="1375874359" sldId="292"/>
            <ac:spMk id="4" creationId="{DA9CCF17-D910-D244-2DF3-413906592FD5}"/>
          </ac:spMkLst>
        </pc:spChg>
      </pc:sldChg>
      <pc:sldChg chg="modSp new mod">
        <pc:chgData name="Likith Kumar Reddy C" userId="c66f69d0a56e7f2e" providerId="LiveId" clId="{8E541177-B463-4575-8AAF-2C751ECE2BF9}" dt="2026-02-13T04:15:30.285" v="142" actId="5793"/>
        <pc:sldMkLst>
          <pc:docMk/>
          <pc:sldMk cId="1700738543" sldId="293"/>
        </pc:sldMkLst>
        <pc:spChg chg="mod">
          <ac:chgData name="Likith Kumar Reddy C" userId="c66f69d0a56e7f2e" providerId="LiveId" clId="{8E541177-B463-4575-8AAF-2C751ECE2BF9}" dt="2026-02-13T04:15:30.285" v="142" actId="5793"/>
          <ac:spMkLst>
            <pc:docMk/>
            <pc:sldMk cId="1700738543" sldId="293"/>
            <ac:spMk id="3" creationId="{9D070F3A-EFDB-6A81-8473-23296E7AEA46}"/>
          </ac:spMkLst>
        </pc:spChg>
      </pc:sldChg>
      <pc:sldChg chg="addSp delSp modSp new mod modClrScheme chgLayout">
        <pc:chgData name="Likith Kumar Reddy C" userId="c66f69d0a56e7f2e" providerId="LiveId" clId="{8E541177-B463-4575-8AAF-2C751ECE2BF9}" dt="2026-02-13T04:16:17.875" v="148" actId="5793"/>
        <pc:sldMkLst>
          <pc:docMk/>
          <pc:sldMk cId="3063087032" sldId="294"/>
        </pc:sldMkLst>
        <pc:spChg chg="mod ord">
          <ac:chgData name="Likith Kumar Reddy C" userId="c66f69d0a56e7f2e" providerId="LiveId" clId="{8E541177-B463-4575-8AAF-2C751ECE2BF9}" dt="2026-02-13T04:16:11.818" v="145" actId="700"/>
          <ac:spMkLst>
            <pc:docMk/>
            <pc:sldMk cId="3063087032" sldId="294"/>
            <ac:spMk id="2" creationId="{DC544485-1943-9D8C-9287-E188386F8F23}"/>
          </ac:spMkLst>
        </pc:spChg>
        <pc:spChg chg="add mod ord">
          <ac:chgData name="Likith Kumar Reddy C" userId="c66f69d0a56e7f2e" providerId="LiveId" clId="{8E541177-B463-4575-8AAF-2C751ECE2BF9}" dt="2026-02-13T04:16:17.875" v="148" actId="5793"/>
          <ac:spMkLst>
            <pc:docMk/>
            <pc:sldMk cId="3063087032" sldId="294"/>
            <ac:spMk id="5" creationId="{D6399507-6CF4-78CD-06A6-23218C23E711}"/>
          </ac:spMkLst>
        </pc:spChg>
      </pc:sldChg>
      <pc:sldChg chg="addSp delSp modSp new mod modClrScheme chgLayout">
        <pc:chgData name="Likith Kumar Reddy C" userId="c66f69d0a56e7f2e" providerId="LiveId" clId="{8E541177-B463-4575-8AAF-2C751ECE2BF9}" dt="2026-02-13T04:17:35.785" v="157" actId="5793"/>
        <pc:sldMkLst>
          <pc:docMk/>
          <pc:sldMk cId="2189233362" sldId="295"/>
        </pc:sldMkLst>
        <pc:spChg chg="mod ord">
          <ac:chgData name="Likith Kumar Reddy C" userId="c66f69d0a56e7f2e" providerId="LiveId" clId="{8E541177-B463-4575-8AAF-2C751ECE2BF9}" dt="2026-02-13T04:17:12.599" v="151" actId="700"/>
          <ac:spMkLst>
            <pc:docMk/>
            <pc:sldMk cId="2189233362" sldId="295"/>
            <ac:spMk id="2" creationId="{9E266B21-307F-6213-04FC-895E45C73D32}"/>
          </ac:spMkLst>
        </pc:spChg>
        <pc:spChg chg="add mod ord">
          <ac:chgData name="Likith Kumar Reddy C" userId="c66f69d0a56e7f2e" providerId="LiveId" clId="{8E541177-B463-4575-8AAF-2C751ECE2BF9}" dt="2026-02-13T04:17:23.984" v="155" actId="5793"/>
          <ac:spMkLst>
            <pc:docMk/>
            <pc:sldMk cId="2189233362" sldId="295"/>
            <ac:spMk id="4" creationId="{30D53C02-2F0E-0796-C491-510E6E28397B}"/>
          </ac:spMkLst>
        </pc:spChg>
        <pc:spChg chg="add mod ord">
          <ac:chgData name="Likith Kumar Reddy C" userId="c66f69d0a56e7f2e" providerId="LiveId" clId="{8E541177-B463-4575-8AAF-2C751ECE2BF9}" dt="2026-02-13T04:17:35.785" v="157" actId="5793"/>
          <ac:spMkLst>
            <pc:docMk/>
            <pc:sldMk cId="2189233362" sldId="295"/>
            <ac:spMk id="5" creationId="{696312FB-A07E-EE64-384A-FBF30CD18C98}"/>
          </ac:spMkLst>
        </pc:spChg>
      </pc:sldChg>
      <pc:sldChg chg="modSp new mod">
        <pc:chgData name="Likith Kumar Reddy C" userId="c66f69d0a56e7f2e" providerId="LiveId" clId="{8E541177-B463-4575-8AAF-2C751ECE2BF9}" dt="2026-02-13T04:17:58.648" v="162" actId="5793"/>
        <pc:sldMkLst>
          <pc:docMk/>
          <pc:sldMk cId="2048240135" sldId="296"/>
        </pc:sldMkLst>
        <pc:spChg chg="mod">
          <ac:chgData name="Likith Kumar Reddy C" userId="c66f69d0a56e7f2e" providerId="LiveId" clId="{8E541177-B463-4575-8AAF-2C751ECE2BF9}" dt="2026-02-13T04:17:47.989" v="160" actId="5793"/>
          <ac:spMkLst>
            <pc:docMk/>
            <pc:sldMk cId="2048240135" sldId="296"/>
            <ac:spMk id="3" creationId="{509F1E51-6E32-92B9-AAA3-2B34F98587FC}"/>
          </ac:spMkLst>
        </pc:spChg>
        <pc:spChg chg="mod">
          <ac:chgData name="Likith Kumar Reddy C" userId="c66f69d0a56e7f2e" providerId="LiveId" clId="{8E541177-B463-4575-8AAF-2C751ECE2BF9}" dt="2026-02-13T04:17:58.648" v="162" actId="5793"/>
          <ac:spMkLst>
            <pc:docMk/>
            <pc:sldMk cId="2048240135" sldId="296"/>
            <ac:spMk id="4" creationId="{67AA08BF-F7B2-AAC4-866F-6AC2C94F03C9}"/>
          </ac:spMkLst>
        </pc:spChg>
      </pc:sldChg>
      <pc:sldChg chg="modSp new mod">
        <pc:chgData name="Likith Kumar Reddy C" userId="c66f69d0a56e7f2e" providerId="LiveId" clId="{8E541177-B463-4575-8AAF-2C751ECE2BF9}" dt="2026-02-27T04:07:09.738" v="206" actId="207"/>
        <pc:sldMkLst>
          <pc:docMk/>
          <pc:sldMk cId="3831333615" sldId="297"/>
        </pc:sldMkLst>
        <pc:spChg chg="mod">
          <ac:chgData name="Likith Kumar Reddy C" userId="c66f69d0a56e7f2e" providerId="LiveId" clId="{8E541177-B463-4575-8AAF-2C751ECE2BF9}" dt="2026-02-27T04:06:29.861" v="197" actId="5793"/>
          <ac:spMkLst>
            <pc:docMk/>
            <pc:sldMk cId="3831333615" sldId="297"/>
            <ac:spMk id="3" creationId="{DF13A36D-CB55-EA0E-9A0A-C2ECAECFEBCD}"/>
          </ac:spMkLst>
        </pc:spChg>
        <pc:spChg chg="mod">
          <ac:chgData name="Likith Kumar Reddy C" userId="c66f69d0a56e7f2e" providerId="LiveId" clId="{8E541177-B463-4575-8AAF-2C751ECE2BF9}" dt="2026-02-27T04:07:09.738" v="206" actId="207"/>
          <ac:spMkLst>
            <pc:docMk/>
            <pc:sldMk cId="3831333615" sldId="297"/>
            <ac:spMk id="4" creationId="{F07F3D58-CA2C-B276-28FF-AFA2C0BE2C27}"/>
          </ac:spMkLst>
        </pc:spChg>
      </pc:sldChg>
      <pc:sldChg chg="modSp new mod">
        <pc:chgData name="Likith Kumar Reddy C" userId="c66f69d0a56e7f2e" providerId="LiveId" clId="{8E541177-B463-4575-8AAF-2C751ECE2BF9}" dt="2026-02-27T04:09:20.801" v="230" actId="207"/>
        <pc:sldMkLst>
          <pc:docMk/>
          <pc:sldMk cId="3590456141" sldId="298"/>
        </pc:sldMkLst>
        <pc:spChg chg="mod">
          <ac:chgData name="Likith Kumar Reddy C" userId="c66f69d0a56e7f2e" providerId="LiveId" clId="{8E541177-B463-4575-8AAF-2C751ECE2BF9}" dt="2026-02-27T04:08:48.537" v="224" actId="5793"/>
          <ac:spMkLst>
            <pc:docMk/>
            <pc:sldMk cId="3590456141" sldId="298"/>
            <ac:spMk id="3" creationId="{BE571AD3-7C16-740F-78D6-D8650C26D3B3}"/>
          </ac:spMkLst>
        </pc:spChg>
        <pc:spChg chg="mod">
          <ac:chgData name="Likith Kumar Reddy C" userId="c66f69d0a56e7f2e" providerId="LiveId" clId="{8E541177-B463-4575-8AAF-2C751ECE2BF9}" dt="2026-02-27T04:09:20.801" v="230" actId="207"/>
          <ac:spMkLst>
            <pc:docMk/>
            <pc:sldMk cId="3590456141" sldId="298"/>
            <ac:spMk id="4" creationId="{27E0793B-D5D7-ACD5-121A-A1CC1C49E439}"/>
          </ac:spMkLst>
        </pc:spChg>
      </pc:sldChg>
      <pc:sldChg chg="addSp delSp modSp new mod modClrScheme chgLayout">
        <pc:chgData name="Likith Kumar Reddy C" userId="c66f69d0a56e7f2e" providerId="LiveId" clId="{8E541177-B463-4575-8AAF-2C751ECE2BF9}" dt="2026-03-09T00:57:38.401" v="237" actId="5793"/>
        <pc:sldMkLst>
          <pc:docMk/>
          <pc:sldMk cId="1279942220" sldId="299"/>
        </pc:sldMkLst>
        <pc:spChg chg="mod ord">
          <ac:chgData name="Likith Kumar Reddy C" userId="c66f69d0a56e7f2e" providerId="LiveId" clId="{8E541177-B463-4575-8AAF-2C751ECE2BF9}" dt="2026-03-09T00:57:17.862" v="233" actId="700"/>
          <ac:spMkLst>
            <pc:docMk/>
            <pc:sldMk cId="1279942220" sldId="299"/>
            <ac:spMk id="2" creationId="{C930849A-8D5E-4A4E-71D6-E735A0E8CA6E}"/>
          </ac:spMkLst>
        </pc:spChg>
        <pc:spChg chg="del mod ord">
          <ac:chgData name="Likith Kumar Reddy C" userId="c66f69d0a56e7f2e" providerId="LiveId" clId="{8E541177-B463-4575-8AAF-2C751ECE2BF9}" dt="2026-03-09T00:57:17.862" v="233" actId="700"/>
          <ac:spMkLst>
            <pc:docMk/>
            <pc:sldMk cId="1279942220" sldId="299"/>
            <ac:spMk id="3" creationId="{C407A0EE-FDE7-4DC7-4379-DEEB3404ACA1}"/>
          </ac:spMkLst>
        </pc:spChg>
        <pc:spChg chg="del">
          <ac:chgData name="Likith Kumar Reddy C" userId="c66f69d0a56e7f2e" providerId="LiveId" clId="{8E541177-B463-4575-8AAF-2C751ECE2BF9}" dt="2026-03-09T00:57:17.862" v="233" actId="700"/>
          <ac:spMkLst>
            <pc:docMk/>
            <pc:sldMk cId="1279942220" sldId="299"/>
            <ac:spMk id="4" creationId="{7CA54EDB-3284-D0D4-F91E-F5460488E791}"/>
          </ac:spMkLst>
        </pc:spChg>
        <pc:spChg chg="add mod ord">
          <ac:chgData name="Likith Kumar Reddy C" userId="c66f69d0a56e7f2e" providerId="LiveId" clId="{8E541177-B463-4575-8AAF-2C751ECE2BF9}" dt="2026-03-09T00:57:38.401" v="237" actId="5793"/>
          <ac:spMkLst>
            <pc:docMk/>
            <pc:sldMk cId="1279942220" sldId="299"/>
            <ac:spMk id="5" creationId="{E2AC35E7-926F-BBE7-4359-A903EF5A5932}"/>
          </ac:spMkLst>
        </pc:spChg>
      </pc:sldChg>
      <pc:sldChg chg="addSp delSp modSp new mod modClrScheme chgLayout">
        <pc:chgData name="Likith Kumar Reddy C" userId="c66f69d0a56e7f2e" providerId="LiveId" clId="{8E541177-B463-4575-8AAF-2C751ECE2BF9}" dt="2026-03-09T00:59:03.668" v="253" actId="5793"/>
        <pc:sldMkLst>
          <pc:docMk/>
          <pc:sldMk cId="3758754231" sldId="300"/>
        </pc:sldMkLst>
        <pc:spChg chg="del mod ord">
          <ac:chgData name="Likith Kumar Reddy C" userId="c66f69d0a56e7f2e" providerId="LiveId" clId="{8E541177-B463-4575-8AAF-2C751ECE2BF9}" dt="2026-03-09T00:57:47.407" v="239" actId="700"/>
          <ac:spMkLst>
            <pc:docMk/>
            <pc:sldMk cId="3758754231" sldId="300"/>
            <ac:spMk id="2" creationId="{512C37FA-185E-F09A-84CC-D056686936C6}"/>
          </ac:spMkLst>
        </pc:spChg>
        <pc:spChg chg="del mod ord">
          <ac:chgData name="Likith Kumar Reddy C" userId="c66f69d0a56e7f2e" providerId="LiveId" clId="{8E541177-B463-4575-8AAF-2C751ECE2BF9}" dt="2026-03-09T00:57:47.407" v="239" actId="700"/>
          <ac:spMkLst>
            <pc:docMk/>
            <pc:sldMk cId="3758754231" sldId="300"/>
            <ac:spMk id="3" creationId="{824AE78A-9A31-7340-7DF6-8806F040CC33}"/>
          </ac:spMkLst>
        </pc:spChg>
        <pc:spChg chg="add mod ord">
          <ac:chgData name="Likith Kumar Reddy C" userId="c66f69d0a56e7f2e" providerId="LiveId" clId="{8E541177-B463-4575-8AAF-2C751ECE2BF9}" dt="2026-03-09T00:58:07.304" v="241" actId="700"/>
          <ac:spMkLst>
            <pc:docMk/>
            <pc:sldMk cId="3758754231" sldId="300"/>
            <ac:spMk id="4" creationId="{841892EF-81FF-63B4-9E2C-105A2A1CC756}"/>
          </ac:spMkLst>
        </pc:spChg>
        <pc:spChg chg="add del mod ord">
          <ac:chgData name="Likith Kumar Reddy C" userId="c66f69d0a56e7f2e" providerId="LiveId" clId="{8E541177-B463-4575-8AAF-2C751ECE2BF9}" dt="2026-03-09T00:58:07.304" v="241" actId="700"/>
          <ac:spMkLst>
            <pc:docMk/>
            <pc:sldMk cId="3758754231" sldId="300"/>
            <ac:spMk id="5" creationId="{DA3000DC-41EA-D959-EB31-76699740B59C}"/>
          </ac:spMkLst>
        </pc:spChg>
        <pc:spChg chg="add del mod ord">
          <ac:chgData name="Likith Kumar Reddy C" userId="c66f69d0a56e7f2e" providerId="LiveId" clId="{8E541177-B463-4575-8AAF-2C751ECE2BF9}" dt="2026-03-09T00:58:07.304" v="241" actId="700"/>
          <ac:spMkLst>
            <pc:docMk/>
            <pc:sldMk cId="3758754231" sldId="300"/>
            <ac:spMk id="6" creationId="{6C795A67-06F6-80E4-D8DA-D053E330D072}"/>
          </ac:spMkLst>
        </pc:spChg>
        <pc:spChg chg="add mod ord">
          <ac:chgData name="Likith Kumar Reddy C" userId="c66f69d0a56e7f2e" providerId="LiveId" clId="{8E541177-B463-4575-8AAF-2C751ECE2BF9}" dt="2026-03-09T00:58:16.846" v="242"/>
          <ac:spMkLst>
            <pc:docMk/>
            <pc:sldMk cId="3758754231" sldId="300"/>
            <ac:spMk id="7" creationId="{B7EB90B7-C9FF-EC62-DF9A-60E6C84086EB}"/>
          </ac:spMkLst>
        </pc:spChg>
        <pc:spChg chg="add mod ord">
          <ac:chgData name="Likith Kumar Reddy C" userId="c66f69d0a56e7f2e" providerId="LiveId" clId="{8E541177-B463-4575-8AAF-2C751ECE2BF9}" dt="2026-03-09T00:58:37.807" v="248" actId="5793"/>
          <ac:spMkLst>
            <pc:docMk/>
            <pc:sldMk cId="3758754231" sldId="300"/>
            <ac:spMk id="8" creationId="{108491D7-8EB2-D6CD-85F0-A3174152EE51}"/>
          </ac:spMkLst>
        </pc:spChg>
        <pc:spChg chg="add mod ord">
          <ac:chgData name="Likith Kumar Reddy C" userId="c66f69d0a56e7f2e" providerId="LiveId" clId="{8E541177-B463-4575-8AAF-2C751ECE2BF9}" dt="2026-03-09T00:58:48.117" v="249"/>
          <ac:spMkLst>
            <pc:docMk/>
            <pc:sldMk cId="3758754231" sldId="300"/>
            <ac:spMk id="9" creationId="{775154F4-8A91-E6E2-D26A-B874BDA55330}"/>
          </ac:spMkLst>
        </pc:spChg>
        <pc:spChg chg="add mod ord">
          <ac:chgData name="Likith Kumar Reddy C" userId="c66f69d0a56e7f2e" providerId="LiveId" clId="{8E541177-B463-4575-8AAF-2C751ECE2BF9}" dt="2026-03-09T00:59:03.668" v="253" actId="5793"/>
          <ac:spMkLst>
            <pc:docMk/>
            <pc:sldMk cId="3758754231" sldId="300"/>
            <ac:spMk id="10" creationId="{A7806BCB-5108-F709-7ACE-E8A141FEFE80}"/>
          </ac:spMkLst>
        </pc:spChg>
      </pc:sldChg>
      <pc:sldChg chg="addSp delSp modSp new mod modClrScheme chgLayout">
        <pc:chgData name="Likith Kumar Reddy C" userId="c66f69d0a56e7f2e" providerId="LiveId" clId="{8E541177-B463-4575-8AAF-2C751ECE2BF9}" dt="2026-03-09T01:00:05.581" v="263" actId="5793"/>
        <pc:sldMkLst>
          <pc:docMk/>
          <pc:sldMk cId="3694663152" sldId="301"/>
        </pc:sldMkLst>
        <pc:spChg chg="del mod ord">
          <ac:chgData name="Likith Kumar Reddy C" userId="c66f69d0a56e7f2e" providerId="LiveId" clId="{8E541177-B463-4575-8AAF-2C751ECE2BF9}" dt="2026-03-09T00:59:26.479" v="255" actId="700"/>
          <ac:spMkLst>
            <pc:docMk/>
            <pc:sldMk cId="3694663152" sldId="301"/>
            <ac:spMk id="2" creationId="{6A1AE6DF-EF18-CE00-6BC5-AB0BF2B08C13}"/>
          </ac:spMkLst>
        </pc:spChg>
        <pc:spChg chg="del">
          <ac:chgData name="Likith Kumar Reddy C" userId="c66f69d0a56e7f2e" providerId="LiveId" clId="{8E541177-B463-4575-8AAF-2C751ECE2BF9}" dt="2026-03-09T00:59:26.479" v="255" actId="700"/>
          <ac:spMkLst>
            <pc:docMk/>
            <pc:sldMk cId="3694663152" sldId="301"/>
            <ac:spMk id="3" creationId="{CCF56AD9-6F49-0611-528A-8487DF8FB429}"/>
          </ac:spMkLst>
        </pc:spChg>
        <pc:spChg chg="del mod ord">
          <ac:chgData name="Likith Kumar Reddy C" userId="c66f69d0a56e7f2e" providerId="LiveId" clId="{8E541177-B463-4575-8AAF-2C751ECE2BF9}" dt="2026-03-09T00:59:26.479" v="255" actId="700"/>
          <ac:spMkLst>
            <pc:docMk/>
            <pc:sldMk cId="3694663152" sldId="301"/>
            <ac:spMk id="4" creationId="{7E537140-9DDA-E718-40EF-C88C3346D1AD}"/>
          </ac:spMkLst>
        </pc:spChg>
        <pc:spChg chg="del">
          <ac:chgData name="Likith Kumar Reddy C" userId="c66f69d0a56e7f2e" providerId="LiveId" clId="{8E541177-B463-4575-8AAF-2C751ECE2BF9}" dt="2026-03-09T00:59:26.479" v="255" actId="700"/>
          <ac:spMkLst>
            <pc:docMk/>
            <pc:sldMk cId="3694663152" sldId="301"/>
            <ac:spMk id="5" creationId="{6025E83B-D1B1-5C10-6022-3294F47BADCC}"/>
          </ac:spMkLst>
        </pc:spChg>
        <pc:spChg chg="del mod ord">
          <ac:chgData name="Likith Kumar Reddy C" userId="c66f69d0a56e7f2e" providerId="LiveId" clId="{8E541177-B463-4575-8AAF-2C751ECE2BF9}" dt="2026-03-09T00:59:26.479" v="255" actId="700"/>
          <ac:spMkLst>
            <pc:docMk/>
            <pc:sldMk cId="3694663152" sldId="301"/>
            <ac:spMk id="6" creationId="{17557D03-EB22-FF35-8001-8D1ACB411240}"/>
          </ac:spMkLst>
        </pc:spChg>
        <pc:spChg chg="add mod ord">
          <ac:chgData name="Likith Kumar Reddy C" userId="c66f69d0a56e7f2e" providerId="LiveId" clId="{8E541177-B463-4575-8AAF-2C751ECE2BF9}" dt="2026-03-09T00:59:40.555" v="257" actId="700"/>
          <ac:spMkLst>
            <pc:docMk/>
            <pc:sldMk cId="3694663152" sldId="301"/>
            <ac:spMk id="7" creationId="{6BF78AE0-726B-8CDB-0392-C50F9D7564C4}"/>
          </ac:spMkLst>
        </pc:spChg>
        <pc:spChg chg="add del mod ord">
          <ac:chgData name="Likith Kumar Reddy C" userId="c66f69d0a56e7f2e" providerId="LiveId" clId="{8E541177-B463-4575-8AAF-2C751ECE2BF9}" dt="2026-03-09T00:59:40.555" v="257" actId="700"/>
          <ac:spMkLst>
            <pc:docMk/>
            <pc:sldMk cId="3694663152" sldId="301"/>
            <ac:spMk id="8" creationId="{00189F7B-AE01-A375-806C-499325EBA8D5}"/>
          </ac:spMkLst>
        </pc:spChg>
        <pc:spChg chg="add del mod ord">
          <ac:chgData name="Likith Kumar Reddy C" userId="c66f69d0a56e7f2e" providerId="LiveId" clId="{8E541177-B463-4575-8AAF-2C751ECE2BF9}" dt="2026-03-09T00:59:40.555" v="257" actId="700"/>
          <ac:spMkLst>
            <pc:docMk/>
            <pc:sldMk cId="3694663152" sldId="301"/>
            <ac:spMk id="9" creationId="{B1CB0975-523D-B2F0-AD69-D50F5186FAF9}"/>
          </ac:spMkLst>
        </pc:spChg>
        <pc:spChg chg="add mod ord">
          <ac:chgData name="Likith Kumar Reddy C" userId="c66f69d0a56e7f2e" providerId="LiveId" clId="{8E541177-B463-4575-8AAF-2C751ECE2BF9}" dt="2026-03-09T01:00:05.581" v="263" actId="5793"/>
          <ac:spMkLst>
            <pc:docMk/>
            <pc:sldMk cId="3694663152" sldId="301"/>
            <ac:spMk id="10" creationId="{8A9F6F3F-F452-63BA-292E-E762ECF46A23}"/>
          </ac:spMkLst>
        </pc:spChg>
      </pc:sldChg>
      <pc:sldChg chg="modSp new mod">
        <pc:chgData name="Likith Kumar Reddy C" userId="c66f69d0a56e7f2e" providerId="LiveId" clId="{8E541177-B463-4575-8AAF-2C751ECE2BF9}" dt="2026-03-09T01:00:30.420" v="269" actId="5793"/>
        <pc:sldMkLst>
          <pc:docMk/>
          <pc:sldMk cId="2699692078" sldId="302"/>
        </pc:sldMkLst>
        <pc:spChg chg="mod">
          <ac:chgData name="Likith Kumar Reddy C" userId="c66f69d0a56e7f2e" providerId="LiveId" clId="{8E541177-B463-4575-8AAF-2C751ECE2BF9}" dt="2026-03-09T01:00:30.420" v="269" actId="5793"/>
          <ac:spMkLst>
            <pc:docMk/>
            <pc:sldMk cId="2699692078" sldId="302"/>
            <ac:spMk id="3" creationId="{6E4E10A0-DD97-B3F5-1F11-9B228D43953D}"/>
          </ac:spMkLst>
        </pc:spChg>
      </pc:sldChg>
      <pc:sldChg chg="modSp new mod">
        <pc:chgData name="Likith Kumar Reddy C" userId="c66f69d0a56e7f2e" providerId="LiveId" clId="{8E541177-B463-4575-8AAF-2C751ECE2BF9}" dt="2026-03-09T01:00:46.545" v="274" actId="5793"/>
        <pc:sldMkLst>
          <pc:docMk/>
          <pc:sldMk cId="289760294" sldId="303"/>
        </pc:sldMkLst>
        <pc:spChg chg="mod">
          <ac:chgData name="Likith Kumar Reddy C" userId="c66f69d0a56e7f2e" providerId="LiveId" clId="{8E541177-B463-4575-8AAF-2C751ECE2BF9}" dt="2026-03-09T01:00:46.545" v="274" actId="5793"/>
          <ac:spMkLst>
            <pc:docMk/>
            <pc:sldMk cId="289760294" sldId="303"/>
            <ac:spMk id="3" creationId="{BFEFA611-AAD5-F925-81B3-FFA1A7047E81}"/>
          </ac:spMkLst>
        </pc:spChg>
      </pc:sldChg>
      <pc:sldChg chg="addSp delSp modSp new mod modClrScheme chgLayout">
        <pc:chgData name="Likith Kumar Reddy C" userId="c66f69d0a56e7f2e" providerId="LiveId" clId="{8E541177-B463-4575-8AAF-2C751ECE2BF9}" dt="2026-03-09T01:11:01.931" v="362" actId="27636"/>
        <pc:sldMkLst>
          <pc:docMk/>
          <pc:sldMk cId="939612204" sldId="304"/>
        </pc:sldMkLst>
        <pc:spChg chg="mod ord">
          <ac:chgData name="Likith Kumar Reddy C" userId="c66f69d0a56e7f2e" providerId="LiveId" clId="{8E541177-B463-4575-8AAF-2C751ECE2BF9}" dt="2026-03-09T01:09:04.145" v="317" actId="700"/>
          <ac:spMkLst>
            <pc:docMk/>
            <pc:sldMk cId="939612204" sldId="304"/>
            <ac:spMk id="2" creationId="{1EF8E89D-B68A-3464-8B17-47A62EEA1739}"/>
          </ac:spMkLst>
        </pc:spChg>
        <pc:spChg chg="del mod ord">
          <ac:chgData name="Likith Kumar Reddy C" userId="c66f69d0a56e7f2e" providerId="LiveId" clId="{8E541177-B463-4575-8AAF-2C751ECE2BF9}" dt="2026-03-09T01:09:04.145" v="317" actId="700"/>
          <ac:spMkLst>
            <pc:docMk/>
            <pc:sldMk cId="939612204" sldId="304"/>
            <ac:spMk id="3" creationId="{D7274C0B-6473-0D1B-730D-B7FAF568BC1E}"/>
          </ac:spMkLst>
        </pc:spChg>
        <pc:spChg chg="add mod ord">
          <ac:chgData name="Likith Kumar Reddy C" userId="c66f69d0a56e7f2e" providerId="LiveId" clId="{8E541177-B463-4575-8AAF-2C751ECE2BF9}" dt="2026-03-09T01:11:01.929" v="361" actId="27636"/>
          <ac:spMkLst>
            <pc:docMk/>
            <pc:sldMk cId="939612204" sldId="304"/>
            <ac:spMk id="4" creationId="{AA1CE988-11E5-FE95-D238-7A851ED88F26}"/>
          </ac:spMkLst>
        </pc:spChg>
        <pc:spChg chg="add mod ord">
          <ac:chgData name="Likith Kumar Reddy C" userId="c66f69d0a56e7f2e" providerId="LiveId" clId="{8E541177-B463-4575-8AAF-2C751ECE2BF9}" dt="2026-03-09T01:11:01.931" v="362" actId="27636"/>
          <ac:spMkLst>
            <pc:docMk/>
            <pc:sldMk cId="939612204" sldId="304"/>
            <ac:spMk id="5" creationId="{DA75861B-04C3-5AB8-867D-84E94EDF7FAA}"/>
          </ac:spMkLst>
        </pc:spChg>
        <pc:spChg chg="add mod">
          <ac:chgData name="Likith Kumar Reddy C" userId="c66f69d0a56e7f2e" providerId="LiveId" clId="{8E541177-B463-4575-8AAF-2C751ECE2BF9}" dt="2026-03-09T01:09:27.630" v="321" actId="1076"/>
          <ac:spMkLst>
            <pc:docMk/>
            <pc:sldMk cId="939612204" sldId="304"/>
            <ac:spMk id="7" creationId="{00079845-F02D-1CEC-7FB9-E55707344639}"/>
          </ac:spMkLst>
        </pc:spChg>
      </pc:sldChg>
      <pc:sldChg chg="modSp new mod">
        <pc:chgData name="Likith Kumar Reddy C" userId="c66f69d0a56e7f2e" providerId="LiveId" clId="{8E541177-B463-4575-8AAF-2C751ECE2BF9}" dt="2026-03-09T01:06:34.109" v="289" actId="5793"/>
        <pc:sldMkLst>
          <pc:docMk/>
          <pc:sldMk cId="3854585864" sldId="305"/>
        </pc:sldMkLst>
        <pc:spChg chg="mod">
          <ac:chgData name="Likith Kumar Reddy C" userId="c66f69d0a56e7f2e" providerId="LiveId" clId="{8E541177-B463-4575-8AAF-2C751ECE2BF9}" dt="2026-03-09T01:06:05.119" v="282"/>
          <ac:spMkLst>
            <pc:docMk/>
            <pc:sldMk cId="3854585864" sldId="305"/>
            <ac:spMk id="2" creationId="{B06B80F1-9B7E-E4B1-C6AB-CAEDA5D25377}"/>
          </ac:spMkLst>
        </pc:spChg>
        <pc:spChg chg="mod">
          <ac:chgData name="Likith Kumar Reddy C" userId="c66f69d0a56e7f2e" providerId="LiveId" clId="{8E541177-B463-4575-8AAF-2C751ECE2BF9}" dt="2026-03-09T01:06:34.109" v="289" actId="5793"/>
          <ac:spMkLst>
            <pc:docMk/>
            <pc:sldMk cId="3854585864" sldId="305"/>
            <ac:spMk id="3" creationId="{08C37B15-9E32-FAD5-7DE7-40AA17D575AB}"/>
          </ac:spMkLst>
        </pc:spChg>
      </pc:sldChg>
      <pc:sldChg chg="modSp new mod">
        <pc:chgData name="Likith Kumar Reddy C" userId="c66f69d0a56e7f2e" providerId="LiveId" clId="{8E541177-B463-4575-8AAF-2C751ECE2BF9}" dt="2026-03-09T01:06:53.189" v="293" actId="5793"/>
        <pc:sldMkLst>
          <pc:docMk/>
          <pc:sldMk cId="2784309643" sldId="306"/>
        </pc:sldMkLst>
        <pc:spChg chg="mod">
          <ac:chgData name="Likith Kumar Reddy C" userId="c66f69d0a56e7f2e" providerId="LiveId" clId="{8E541177-B463-4575-8AAF-2C751ECE2BF9}" dt="2026-03-09T01:06:53.189" v="293" actId="5793"/>
          <ac:spMkLst>
            <pc:docMk/>
            <pc:sldMk cId="2784309643" sldId="306"/>
            <ac:spMk id="3" creationId="{9CCC83B7-9D75-374E-0472-8F738D7C9BA2}"/>
          </ac:spMkLst>
        </pc:spChg>
      </pc:sldChg>
      <pc:sldChg chg="addSp modSp new mod">
        <pc:chgData name="Likith Kumar Reddy C" userId="c66f69d0a56e7f2e" providerId="LiveId" clId="{8E541177-B463-4575-8AAF-2C751ECE2BF9}" dt="2026-03-09T01:12:13.328" v="366" actId="1076"/>
        <pc:sldMkLst>
          <pc:docMk/>
          <pc:sldMk cId="3950347870" sldId="307"/>
        </pc:sldMkLst>
        <pc:spChg chg="mod">
          <ac:chgData name="Likith Kumar Reddy C" userId="c66f69d0a56e7f2e" providerId="LiveId" clId="{8E541177-B463-4575-8AAF-2C751ECE2BF9}" dt="2026-03-09T01:11:27.950" v="363"/>
          <ac:spMkLst>
            <pc:docMk/>
            <pc:sldMk cId="3950347870" sldId="307"/>
            <ac:spMk id="2" creationId="{FF222417-94A5-FB80-FF20-75C255DE6358}"/>
          </ac:spMkLst>
        </pc:spChg>
        <pc:spChg chg="mod">
          <ac:chgData name="Likith Kumar Reddy C" userId="c66f69d0a56e7f2e" providerId="LiveId" clId="{8E541177-B463-4575-8AAF-2C751ECE2BF9}" dt="2026-03-09T01:11:37.085" v="364"/>
          <ac:spMkLst>
            <pc:docMk/>
            <pc:sldMk cId="3950347870" sldId="307"/>
            <ac:spMk id="3" creationId="{26FB75ED-BF34-888A-5E0C-090E235D7196}"/>
          </ac:spMkLst>
        </pc:spChg>
        <pc:picChg chg="add mod">
          <ac:chgData name="Likith Kumar Reddy C" userId="c66f69d0a56e7f2e" providerId="LiveId" clId="{8E541177-B463-4575-8AAF-2C751ECE2BF9}" dt="2026-03-09T01:12:13.328" v="366" actId="1076"/>
          <ac:picMkLst>
            <pc:docMk/>
            <pc:sldMk cId="3950347870" sldId="307"/>
            <ac:picMk id="5" creationId="{8B0494BD-2D68-660B-9685-BC0EA5B551BE}"/>
          </ac:picMkLst>
        </pc:picChg>
      </pc:sldChg>
      <pc:sldChg chg="modSp new mod">
        <pc:chgData name="Likith Kumar Reddy C" userId="c66f69d0a56e7f2e" providerId="LiveId" clId="{8E541177-B463-4575-8AAF-2C751ECE2BF9}" dt="2026-03-09T01:07:33.556" v="304" actId="5793"/>
        <pc:sldMkLst>
          <pc:docMk/>
          <pc:sldMk cId="2849177914" sldId="308"/>
        </pc:sldMkLst>
        <pc:spChg chg="mod">
          <ac:chgData name="Likith Kumar Reddy C" userId="c66f69d0a56e7f2e" providerId="LiveId" clId="{8E541177-B463-4575-8AAF-2C751ECE2BF9}" dt="2026-03-09T01:07:33.556" v="304" actId="5793"/>
          <ac:spMkLst>
            <pc:docMk/>
            <pc:sldMk cId="2849177914" sldId="308"/>
            <ac:spMk id="3" creationId="{1392315C-C3CD-23C0-7AED-4529F3B49284}"/>
          </ac:spMkLst>
        </pc:spChg>
      </pc:sldChg>
      <pc:sldChg chg="modSp new mod">
        <pc:chgData name="Likith Kumar Reddy C" userId="c66f69d0a56e7f2e" providerId="LiveId" clId="{8E541177-B463-4575-8AAF-2C751ECE2BF9}" dt="2026-03-09T01:08:16.565" v="315" actId="5793"/>
        <pc:sldMkLst>
          <pc:docMk/>
          <pc:sldMk cId="2179555626" sldId="309"/>
        </pc:sldMkLst>
        <pc:spChg chg="mod">
          <ac:chgData name="Likith Kumar Reddy C" userId="c66f69d0a56e7f2e" providerId="LiveId" clId="{8E541177-B463-4575-8AAF-2C751ECE2BF9}" dt="2026-03-09T01:08:16.565" v="315" actId="5793"/>
          <ac:spMkLst>
            <pc:docMk/>
            <pc:sldMk cId="2179555626" sldId="309"/>
            <ac:spMk id="3" creationId="{39F9185D-A6CF-AEB2-6F59-25DD1F1B3A42}"/>
          </ac:spMkLst>
        </pc:spChg>
      </pc:sldChg>
      <pc:sldChg chg="modSp new mod">
        <pc:chgData name="Likith Kumar Reddy C" userId="c66f69d0a56e7f2e" providerId="LiveId" clId="{8E541177-B463-4575-8AAF-2C751ECE2BF9}" dt="2026-03-09T01:10:55.904" v="354" actId="20577"/>
        <pc:sldMkLst>
          <pc:docMk/>
          <pc:sldMk cId="2348390570" sldId="310"/>
        </pc:sldMkLst>
        <pc:spChg chg="mod">
          <ac:chgData name="Likith Kumar Reddy C" userId="c66f69d0a56e7f2e" providerId="LiveId" clId="{8E541177-B463-4575-8AAF-2C751ECE2BF9}" dt="2026-03-09T01:10:36.263" v="350" actId="5793"/>
          <ac:spMkLst>
            <pc:docMk/>
            <pc:sldMk cId="2348390570" sldId="310"/>
            <ac:spMk id="3" creationId="{D18F9AA2-C63D-1874-114B-6F0AB3AF1E9F}"/>
          </ac:spMkLst>
        </pc:spChg>
        <pc:spChg chg="mod">
          <ac:chgData name="Likith Kumar Reddy C" userId="c66f69d0a56e7f2e" providerId="LiveId" clId="{8E541177-B463-4575-8AAF-2C751ECE2BF9}" dt="2026-03-09T01:10:55.904" v="354" actId="20577"/>
          <ac:spMkLst>
            <pc:docMk/>
            <pc:sldMk cId="2348390570" sldId="310"/>
            <ac:spMk id="4" creationId="{D98F4A5C-7D43-6FDD-429B-3AECFC052559}"/>
          </ac:spMkLst>
        </pc:spChg>
      </pc:sldChg>
      <pc:sldChg chg="modSp new mod">
        <pc:chgData name="Likith Kumar Reddy C" userId="c66f69d0a56e7f2e" providerId="LiveId" clId="{8E541177-B463-4575-8AAF-2C751ECE2BF9}" dt="2026-03-09T01:18:13.890" v="377" actId="5793"/>
        <pc:sldMkLst>
          <pc:docMk/>
          <pc:sldMk cId="2860485808" sldId="311"/>
        </pc:sldMkLst>
        <pc:spChg chg="mod">
          <ac:chgData name="Likith Kumar Reddy C" userId="c66f69d0a56e7f2e" providerId="LiveId" clId="{8E541177-B463-4575-8AAF-2C751ECE2BF9}" dt="2026-03-09T01:12:27.233" v="368"/>
          <ac:spMkLst>
            <pc:docMk/>
            <pc:sldMk cId="2860485808" sldId="311"/>
            <ac:spMk id="2" creationId="{E77D8CA9-8082-A5ED-30BC-22B91615185A}"/>
          </ac:spMkLst>
        </pc:spChg>
        <pc:spChg chg="mod">
          <ac:chgData name="Likith Kumar Reddy C" userId="c66f69d0a56e7f2e" providerId="LiveId" clId="{8E541177-B463-4575-8AAF-2C751ECE2BF9}" dt="2026-03-09T01:18:13.890" v="377" actId="5793"/>
          <ac:spMkLst>
            <pc:docMk/>
            <pc:sldMk cId="2860485808" sldId="311"/>
            <ac:spMk id="3" creationId="{EDA8A306-8F37-D2BB-DA08-FEE04B42DEF2}"/>
          </ac:spMkLst>
        </pc:spChg>
      </pc:sldChg>
      <pc:sldChg chg="addSp delSp modSp new mod modClrScheme chgLayout">
        <pc:chgData name="Likith Kumar Reddy C" userId="c66f69d0a56e7f2e" providerId="LiveId" clId="{8E541177-B463-4575-8AAF-2C751ECE2BF9}" dt="2026-03-09T01:18:48.794" v="383" actId="700"/>
        <pc:sldMkLst>
          <pc:docMk/>
          <pc:sldMk cId="2148177552" sldId="312"/>
        </pc:sldMkLst>
        <pc:spChg chg="del mod ord">
          <ac:chgData name="Likith Kumar Reddy C" userId="c66f69d0a56e7f2e" providerId="LiveId" clId="{8E541177-B463-4575-8AAF-2C751ECE2BF9}" dt="2026-03-09T01:18:39.457" v="382" actId="700"/>
          <ac:spMkLst>
            <pc:docMk/>
            <pc:sldMk cId="2148177552" sldId="312"/>
            <ac:spMk id="2" creationId="{F0882265-FBAB-3510-60B3-7D703D142909}"/>
          </ac:spMkLst>
        </pc:spChg>
        <pc:spChg chg="mod ord">
          <ac:chgData name="Likith Kumar Reddy C" userId="c66f69d0a56e7f2e" providerId="LiveId" clId="{8E541177-B463-4575-8AAF-2C751ECE2BF9}" dt="2026-03-09T01:18:48.794" v="383" actId="700"/>
          <ac:spMkLst>
            <pc:docMk/>
            <pc:sldMk cId="2148177552" sldId="312"/>
            <ac:spMk id="3" creationId="{AF372A88-FA55-7281-E4EE-C9E1132DA6A4}"/>
          </ac:spMkLst>
        </pc:spChg>
        <pc:spChg chg="add del mod ord">
          <ac:chgData name="Likith Kumar Reddy C" userId="c66f69d0a56e7f2e" providerId="LiveId" clId="{8E541177-B463-4575-8AAF-2C751ECE2BF9}" dt="2026-03-09T01:18:48.794" v="383" actId="700"/>
          <ac:spMkLst>
            <pc:docMk/>
            <pc:sldMk cId="2148177552" sldId="312"/>
            <ac:spMk id="4" creationId="{F53F9979-9144-AC46-C70F-21694D75E6AA}"/>
          </ac:spMkLst>
        </pc:spChg>
        <pc:spChg chg="add del mod ord">
          <ac:chgData name="Likith Kumar Reddy C" userId="c66f69d0a56e7f2e" providerId="LiveId" clId="{8E541177-B463-4575-8AAF-2C751ECE2BF9}" dt="2026-03-09T01:18:48.794" v="383" actId="700"/>
          <ac:spMkLst>
            <pc:docMk/>
            <pc:sldMk cId="2148177552" sldId="312"/>
            <ac:spMk id="5" creationId="{E209758D-FDB9-EC41-5DF6-A7BB3A6D998B}"/>
          </ac:spMkLst>
        </pc:spChg>
        <pc:spChg chg="add mod ord">
          <ac:chgData name="Likith Kumar Reddy C" userId="c66f69d0a56e7f2e" providerId="LiveId" clId="{8E541177-B463-4575-8AAF-2C751ECE2BF9}" dt="2026-03-09T01:18:48.794" v="383" actId="700"/>
          <ac:spMkLst>
            <pc:docMk/>
            <pc:sldMk cId="2148177552" sldId="312"/>
            <ac:spMk id="6" creationId="{782E9B32-D2C1-6E4A-4921-16E4FD20BD38}"/>
          </ac:spMkLst>
        </pc:spChg>
      </pc:sldChg>
      <pc:sldChg chg="addSp modSp new mod">
        <pc:chgData name="Likith Kumar Reddy C" userId="c66f69d0a56e7f2e" providerId="LiveId" clId="{8E541177-B463-4575-8AAF-2C751ECE2BF9}" dt="2026-03-09T01:19:18.506" v="387" actId="1076"/>
        <pc:sldMkLst>
          <pc:docMk/>
          <pc:sldMk cId="2959714333" sldId="313"/>
        </pc:sldMkLst>
        <pc:spChg chg="mod">
          <ac:chgData name="Likith Kumar Reddy C" userId="c66f69d0a56e7f2e" providerId="LiveId" clId="{8E541177-B463-4575-8AAF-2C751ECE2BF9}" dt="2026-03-09T01:19:00.355" v="385"/>
          <ac:spMkLst>
            <pc:docMk/>
            <pc:sldMk cId="2959714333" sldId="313"/>
            <ac:spMk id="3" creationId="{491735DD-3B6B-51E9-4736-D50963634B93}"/>
          </ac:spMkLst>
        </pc:spChg>
        <pc:picChg chg="add mod">
          <ac:chgData name="Likith Kumar Reddy C" userId="c66f69d0a56e7f2e" providerId="LiveId" clId="{8E541177-B463-4575-8AAF-2C751ECE2BF9}" dt="2026-03-09T01:19:18.506" v="387" actId="1076"/>
          <ac:picMkLst>
            <pc:docMk/>
            <pc:sldMk cId="2959714333" sldId="313"/>
            <ac:picMk id="5" creationId="{64D4A6C5-06CD-3EBE-246D-3F7C5662D1F6}"/>
          </ac:picMkLst>
        </pc:picChg>
      </pc:sldChg>
      <pc:sldChg chg="modSp new mod">
        <pc:chgData name="Likith Kumar Reddy C" userId="c66f69d0a56e7f2e" providerId="LiveId" clId="{8E541177-B463-4575-8AAF-2C751ECE2BF9}" dt="2026-03-09T01:19:39.193" v="391" actId="5793"/>
        <pc:sldMkLst>
          <pc:docMk/>
          <pc:sldMk cId="240159965" sldId="314"/>
        </pc:sldMkLst>
        <pc:spChg chg="mod">
          <ac:chgData name="Likith Kumar Reddy C" userId="c66f69d0a56e7f2e" providerId="LiveId" clId="{8E541177-B463-4575-8AAF-2C751ECE2BF9}" dt="2026-03-09T01:19:39.193" v="391" actId="5793"/>
          <ac:spMkLst>
            <pc:docMk/>
            <pc:sldMk cId="240159965" sldId="314"/>
            <ac:spMk id="3" creationId="{F18CE9CA-62D1-25F4-C4DC-837C7F2CBDEB}"/>
          </ac:spMkLst>
        </pc:spChg>
      </pc:sldChg>
      <pc:sldChg chg="delSp modSp new mod">
        <pc:chgData name="Likith Kumar Reddy C" userId="c66f69d0a56e7f2e" providerId="LiveId" clId="{8E541177-B463-4575-8AAF-2C751ECE2BF9}" dt="2026-03-09T05:28:33.065" v="426"/>
        <pc:sldMkLst>
          <pc:docMk/>
          <pc:sldMk cId="96111192" sldId="315"/>
        </pc:sldMkLst>
        <pc:spChg chg="del">
          <ac:chgData name="Likith Kumar Reddy C" userId="c66f69d0a56e7f2e" providerId="LiveId" clId="{8E541177-B463-4575-8AAF-2C751ECE2BF9}" dt="2026-03-09T03:57:53.664" v="413" actId="478"/>
          <ac:spMkLst>
            <pc:docMk/>
            <pc:sldMk cId="96111192" sldId="315"/>
            <ac:spMk id="2" creationId="{B4B75F97-C02E-0B5E-B904-A7B4673D2B29}"/>
          </ac:spMkLst>
        </pc:spChg>
        <pc:spChg chg="mod">
          <ac:chgData name="Likith Kumar Reddy C" userId="c66f69d0a56e7f2e" providerId="LiveId" clId="{8E541177-B463-4575-8AAF-2C751ECE2BF9}" dt="2026-03-09T05:28:33.065" v="426"/>
          <ac:spMkLst>
            <pc:docMk/>
            <pc:sldMk cId="96111192" sldId="315"/>
            <ac:spMk id="3" creationId="{B9C9674B-DBDD-ED8C-79D0-A47471A0ECF9}"/>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20EC5-32FA-F9CA-F796-CDC0BB44CA7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4FF9D40-AB88-2296-1A34-81DFA9038DD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B000B307-9923-8677-CBA7-EA57BD7F8A26}"/>
              </a:ext>
            </a:extLst>
          </p:cNvPr>
          <p:cNvSpPr>
            <a:spLocks noGrp="1"/>
          </p:cNvSpPr>
          <p:nvPr>
            <p:ph type="dt" sz="half" idx="10"/>
          </p:nvPr>
        </p:nvSpPr>
        <p:spPr/>
        <p:txBody>
          <a:bodyPr/>
          <a:lstStyle/>
          <a:p>
            <a:fld id="{4F3EC96F-4454-4B16-884B-1F149B7B4B82}" type="datetimeFigureOut">
              <a:rPr lang="en-IN" smtClean="0"/>
              <a:t>09-03-2026</a:t>
            </a:fld>
            <a:endParaRPr lang="en-IN"/>
          </a:p>
        </p:txBody>
      </p:sp>
      <p:sp>
        <p:nvSpPr>
          <p:cNvPr id="5" name="Footer Placeholder 4">
            <a:extLst>
              <a:ext uri="{FF2B5EF4-FFF2-40B4-BE49-F238E27FC236}">
                <a16:creationId xmlns:a16="http://schemas.microsoft.com/office/drawing/2014/main" id="{E8CBB829-61F8-EC16-1F52-CBED11F0D4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E2DC6E-B589-5739-9032-DC800CDFF0F8}"/>
              </a:ext>
            </a:extLst>
          </p:cNvPr>
          <p:cNvSpPr>
            <a:spLocks noGrp="1"/>
          </p:cNvSpPr>
          <p:nvPr>
            <p:ph type="sldNum" sz="quarter" idx="12"/>
          </p:nvPr>
        </p:nvSpPr>
        <p:spPr/>
        <p:txBody>
          <a:bodyPr/>
          <a:lstStyle/>
          <a:p>
            <a:fld id="{4768A43A-39C0-498E-A690-711019516C8A}" type="slidenum">
              <a:rPr lang="en-IN" smtClean="0"/>
              <a:t>‹#›</a:t>
            </a:fld>
            <a:endParaRPr lang="en-IN"/>
          </a:p>
        </p:txBody>
      </p:sp>
    </p:spTree>
    <p:extLst>
      <p:ext uri="{BB962C8B-B14F-4D97-AF65-F5344CB8AC3E}">
        <p14:creationId xmlns:p14="http://schemas.microsoft.com/office/powerpoint/2010/main" val="8538322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CEE452-F48D-0316-07F5-F08A8FB2A64E}"/>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E33D45B-18F1-9EE1-D0D7-9CD144A618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D681A9F-4D1F-F8CF-49E9-588F68B67E6B}"/>
              </a:ext>
            </a:extLst>
          </p:cNvPr>
          <p:cNvSpPr>
            <a:spLocks noGrp="1"/>
          </p:cNvSpPr>
          <p:nvPr>
            <p:ph type="dt" sz="half" idx="10"/>
          </p:nvPr>
        </p:nvSpPr>
        <p:spPr/>
        <p:txBody>
          <a:bodyPr/>
          <a:lstStyle/>
          <a:p>
            <a:fld id="{4F3EC96F-4454-4B16-884B-1F149B7B4B82}" type="datetimeFigureOut">
              <a:rPr lang="en-IN" smtClean="0"/>
              <a:t>09-03-2026</a:t>
            </a:fld>
            <a:endParaRPr lang="en-IN"/>
          </a:p>
        </p:txBody>
      </p:sp>
      <p:sp>
        <p:nvSpPr>
          <p:cNvPr id="5" name="Footer Placeholder 4">
            <a:extLst>
              <a:ext uri="{FF2B5EF4-FFF2-40B4-BE49-F238E27FC236}">
                <a16:creationId xmlns:a16="http://schemas.microsoft.com/office/drawing/2014/main" id="{56083495-25A6-349A-1C89-D2C8EFB901F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3B3C4E5-67B9-3556-FC03-1BC58CFE149B}"/>
              </a:ext>
            </a:extLst>
          </p:cNvPr>
          <p:cNvSpPr>
            <a:spLocks noGrp="1"/>
          </p:cNvSpPr>
          <p:nvPr>
            <p:ph type="sldNum" sz="quarter" idx="12"/>
          </p:nvPr>
        </p:nvSpPr>
        <p:spPr/>
        <p:txBody>
          <a:bodyPr/>
          <a:lstStyle/>
          <a:p>
            <a:fld id="{4768A43A-39C0-498E-A690-711019516C8A}" type="slidenum">
              <a:rPr lang="en-IN" smtClean="0"/>
              <a:t>‹#›</a:t>
            </a:fld>
            <a:endParaRPr lang="en-IN"/>
          </a:p>
        </p:txBody>
      </p:sp>
    </p:spTree>
    <p:extLst>
      <p:ext uri="{BB962C8B-B14F-4D97-AF65-F5344CB8AC3E}">
        <p14:creationId xmlns:p14="http://schemas.microsoft.com/office/powerpoint/2010/main" val="8381381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DCE4E-2CD6-C215-AF9B-B31B7D03D9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762A490-15F8-00E3-AD35-975B91CD5AA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AAEB81F-C767-9731-1454-98B1334F2A6C}"/>
              </a:ext>
            </a:extLst>
          </p:cNvPr>
          <p:cNvSpPr>
            <a:spLocks noGrp="1"/>
          </p:cNvSpPr>
          <p:nvPr>
            <p:ph type="dt" sz="half" idx="10"/>
          </p:nvPr>
        </p:nvSpPr>
        <p:spPr/>
        <p:txBody>
          <a:bodyPr/>
          <a:lstStyle/>
          <a:p>
            <a:fld id="{4F3EC96F-4454-4B16-884B-1F149B7B4B82}" type="datetimeFigureOut">
              <a:rPr lang="en-IN" smtClean="0"/>
              <a:t>09-03-2026</a:t>
            </a:fld>
            <a:endParaRPr lang="en-IN"/>
          </a:p>
        </p:txBody>
      </p:sp>
      <p:sp>
        <p:nvSpPr>
          <p:cNvPr id="5" name="Footer Placeholder 4">
            <a:extLst>
              <a:ext uri="{FF2B5EF4-FFF2-40B4-BE49-F238E27FC236}">
                <a16:creationId xmlns:a16="http://schemas.microsoft.com/office/drawing/2014/main" id="{45D3DF50-8D23-44A4-80C6-94FC53A11E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2812557-E827-5547-34DF-02199064C9EC}"/>
              </a:ext>
            </a:extLst>
          </p:cNvPr>
          <p:cNvSpPr>
            <a:spLocks noGrp="1"/>
          </p:cNvSpPr>
          <p:nvPr>
            <p:ph type="sldNum" sz="quarter" idx="12"/>
          </p:nvPr>
        </p:nvSpPr>
        <p:spPr/>
        <p:txBody>
          <a:bodyPr/>
          <a:lstStyle/>
          <a:p>
            <a:fld id="{4768A43A-39C0-498E-A690-711019516C8A}" type="slidenum">
              <a:rPr lang="en-IN" smtClean="0"/>
              <a:t>‹#›</a:t>
            </a:fld>
            <a:endParaRPr lang="en-IN"/>
          </a:p>
        </p:txBody>
      </p:sp>
    </p:spTree>
    <p:extLst>
      <p:ext uri="{BB962C8B-B14F-4D97-AF65-F5344CB8AC3E}">
        <p14:creationId xmlns:p14="http://schemas.microsoft.com/office/powerpoint/2010/main" val="25446072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DC1FBE-3BBF-5E49-914C-92DD6421A2B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6B328DC-B8DD-5B32-2DFE-0825E040A99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B4717F8-41A7-EA61-CF3B-7C7239850BB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1B33FC9-3964-D36A-F203-FE9BD0F13AFA}"/>
              </a:ext>
            </a:extLst>
          </p:cNvPr>
          <p:cNvSpPr>
            <a:spLocks noGrp="1"/>
          </p:cNvSpPr>
          <p:nvPr>
            <p:ph type="dt" sz="half" idx="10"/>
          </p:nvPr>
        </p:nvSpPr>
        <p:spPr/>
        <p:txBody>
          <a:bodyPr/>
          <a:lstStyle/>
          <a:p>
            <a:fld id="{4F3EC96F-4454-4B16-884B-1F149B7B4B82}" type="datetimeFigureOut">
              <a:rPr lang="en-IN" smtClean="0"/>
              <a:t>09-03-2026</a:t>
            </a:fld>
            <a:endParaRPr lang="en-IN"/>
          </a:p>
        </p:txBody>
      </p:sp>
      <p:sp>
        <p:nvSpPr>
          <p:cNvPr id="6" name="Footer Placeholder 5">
            <a:extLst>
              <a:ext uri="{FF2B5EF4-FFF2-40B4-BE49-F238E27FC236}">
                <a16:creationId xmlns:a16="http://schemas.microsoft.com/office/drawing/2014/main" id="{809A97B2-6BF9-9F56-83E8-0D25B073A95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91ADBCF-2546-BC2B-28EC-A4684F009F1A}"/>
              </a:ext>
            </a:extLst>
          </p:cNvPr>
          <p:cNvSpPr>
            <a:spLocks noGrp="1"/>
          </p:cNvSpPr>
          <p:nvPr>
            <p:ph type="sldNum" sz="quarter" idx="12"/>
          </p:nvPr>
        </p:nvSpPr>
        <p:spPr/>
        <p:txBody>
          <a:bodyPr/>
          <a:lstStyle/>
          <a:p>
            <a:fld id="{4768A43A-39C0-498E-A690-711019516C8A}" type="slidenum">
              <a:rPr lang="en-IN" smtClean="0"/>
              <a:t>‹#›</a:t>
            </a:fld>
            <a:endParaRPr lang="en-IN"/>
          </a:p>
        </p:txBody>
      </p:sp>
    </p:spTree>
    <p:extLst>
      <p:ext uri="{BB962C8B-B14F-4D97-AF65-F5344CB8AC3E}">
        <p14:creationId xmlns:p14="http://schemas.microsoft.com/office/powerpoint/2010/main" val="27600102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66AC0-892F-7DD8-8ECA-FB8031A37C4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3E776A1-1106-329A-8F46-2B62A1B8D82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E5DAD05-7A1F-833D-7A05-30B5AC27BE9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0AB9E2B-BB1D-69CD-67F1-58BF2D90734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5FA307E-F994-E880-9054-4E607ADB0CA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6F2D5B7-BCCC-7E4F-5A59-F6C397695AED}"/>
              </a:ext>
            </a:extLst>
          </p:cNvPr>
          <p:cNvSpPr>
            <a:spLocks noGrp="1"/>
          </p:cNvSpPr>
          <p:nvPr>
            <p:ph type="dt" sz="half" idx="10"/>
          </p:nvPr>
        </p:nvSpPr>
        <p:spPr/>
        <p:txBody>
          <a:bodyPr/>
          <a:lstStyle/>
          <a:p>
            <a:fld id="{4F3EC96F-4454-4B16-884B-1F149B7B4B82}" type="datetimeFigureOut">
              <a:rPr lang="en-IN" smtClean="0"/>
              <a:t>09-03-2026</a:t>
            </a:fld>
            <a:endParaRPr lang="en-IN"/>
          </a:p>
        </p:txBody>
      </p:sp>
      <p:sp>
        <p:nvSpPr>
          <p:cNvPr id="8" name="Footer Placeholder 7">
            <a:extLst>
              <a:ext uri="{FF2B5EF4-FFF2-40B4-BE49-F238E27FC236}">
                <a16:creationId xmlns:a16="http://schemas.microsoft.com/office/drawing/2014/main" id="{9BF503D9-9805-B06B-7DC1-B7356C78679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8C9181F-BC46-1ED2-1B9A-7CE69BC5DB46}"/>
              </a:ext>
            </a:extLst>
          </p:cNvPr>
          <p:cNvSpPr>
            <a:spLocks noGrp="1"/>
          </p:cNvSpPr>
          <p:nvPr>
            <p:ph type="sldNum" sz="quarter" idx="12"/>
          </p:nvPr>
        </p:nvSpPr>
        <p:spPr/>
        <p:txBody>
          <a:bodyPr/>
          <a:lstStyle/>
          <a:p>
            <a:fld id="{4768A43A-39C0-498E-A690-711019516C8A}" type="slidenum">
              <a:rPr lang="en-IN" smtClean="0"/>
              <a:t>‹#›</a:t>
            </a:fld>
            <a:endParaRPr lang="en-IN"/>
          </a:p>
        </p:txBody>
      </p:sp>
    </p:spTree>
    <p:extLst>
      <p:ext uri="{BB962C8B-B14F-4D97-AF65-F5344CB8AC3E}">
        <p14:creationId xmlns:p14="http://schemas.microsoft.com/office/powerpoint/2010/main" val="3343961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E043EF-4151-0B91-1069-230E4407F1D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246F0B6-E331-B80A-1162-088B19C7FF7D}"/>
              </a:ext>
            </a:extLst>
          </p:cNvPr>
          <p:cNvSpPr>
            <a:spLocks noGrp="1"/>
          </p:cNvSpPr>
          <p:nvPr>
            <p:ph type="dt" sz="half" idx="10"/>
          </p:nvPr>
        </p:nvSpPr>
        <p:spPr/>
        <p:txBody>
          <a:bodyPr/>
          <a:lstStyle/>
          <a:p>
            <a:fld id="{4F3EC96F-4454-4B16-884B-1F149B7B4B82}" type="datetimeFigureOut">
              <a:rPr lang="en-IN" smtClean="0"/>
              <a:t>09-03-2026</a:t>
            </a:fld>
            <a:endParaRPr lang="en-IN"/>
          </a:p>
        </p:txBody>
      </p:sp>
      <p:sp>
        <p:nvSpPr>
          <p:cNvPr id="4" name="Footer Placeholder 3">
            <a:extLst>
              <a:ext uri="{FF2B5EF4-FFF2-40B4-BE49-F238E27FC236}">
                <a16:creationId xmlns:a16="http://schemas.microsoft.com/office/drawing/2014/main" id="{592E9449-48CA-4B36-F5BD-578A0384892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BF1C7AF-0F79-7D43-7C4C-487C0B5022D2}"/>
              </a:ext>
            </a:extLst>
          </p:cNvPr>
          <p:cNvSpPr>
            <a:spLocks noGrp="1"/>
          </p:cNvSpPr>
          <p:nvPr>
            <p:ph type="sldNum" sz="quarter" idx="12"/>
          </p:nvPr>
        </p:nvSpPr>
        <p:spPr/>
        <p:txBody>
          <a:bodyPr/>
          <a:lstStyle/>
          <a:p>
            <a:fld id="{4768A43A-39C0-498E-A690-711019516C8A}" type="slidenum">
              <a:rPr lang="en-IN" smtClean="0"/>
              <a:t>‹#›</a:t>
            </a:fld>
            <a:endParaRPr lang="en-IN"/>
          </a:p>
        </p:txBody>
      </p:sp>
    </p:spTree>
    <p:extLst>
      <p:ext uri="{BB962C8B-B14F-4D97-AF65-F5344CB8AC3E}">
        <p14:creationId xmlns:p14="http://schemas.microsoft.com/office/powerpoint/2010/main" val="5013384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21C9ED-7829-26E7-1837-E029742E9CDC}"/>
              </a:ext>
            </a:extLst>
          </p:cNvPr>
          <p:cNvSpPr>
            <a:spLocks noGrp="1"/>
          </p:cNvSpPr>
          <p:nvPr>
            <p:ph type="dt" sz="half" idx="10"/>
          </p:nvPr>
        </p:nvSpPr>
        <p:spPr/>
        <p:txBody>
          <a:bodyPr/>
          <a:lstStyle/>
          <a:p>
            <a:fld id="{4F3EC96F-4454-4B16-884B-1F149B7B4B82}" type="datetimeFigureOut">
              <a:rPr lang="en-IN" smtClean="0"/>
              <a:t>09-03-2026</a:t>
            </a:fld>
            <a:endParaRPr lang="en-IN"/>
          </a:p>
        </p:txBody>
      </p:sp>
      <p:sp>
        <p:nvSpPr>
          <p:cNvPr id="3" name="Footer Placeholder 2">
            <a:extLst>
              <a:ext uri="{FF2B5EF4-FFF2-40B4-BE49-F238E27FC236}">
                <a16:creationId xmlns:a16="http://schemas.microsoft.com/office/drawing/2014/main" id="{1A3E31EE-C17C-73D7-91DF-2884EB9B062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2541A74-2E81-9AC1-2FAE-6423BC21AF94}"/>
              </a:ext>
            </a:extLst>
          </p:cNvPr>
          <p:cNvSpPr>
            <a:spLocks noGrp="1"/>
          </p:cNvSpPr>
          <p:nvPr>
            <p:ph type="sldNum" sz="quarter" idx="12"/>
          </p:nvPr>
        </p:nvSpPr>
        <p:spPr/>
        <p:txBody>
          <a:bodyPr/>
          <a:lstStyle/>
          <a:p>
            <a:fld id="{4768A43A-39C0-498E-A690-711019516C8A}" type="slidenum">
              <a:rPr lang="en-IN" smtClean="0"/>
              <a:t>‹#›</a:t>
            </a:fld>
            <a:endParaRPr lang="en-IN"/>
          </a:p>
        </p:txBody>
      </p:sp>
    </p:spTree>
    <p:extLst>
      <p:ext uri="{BB962C8B-B14F-4D97-AF65-F5344CB8AC3E}">
        <p14:creationId xmlns:p14="http://schemas.microsoft.com/office/powerpoint/2010/main" val="24845702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63710A-595F-F04C-7C5F-D0C4F8F9FE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8E2F521A-72DB-3C13-55ED-CFB1C7F3BB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FDEF4B6-D90E-7D1E-09F0-31D569D9967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F11FC9B-6430-0193-3D5A-307177D12224}"/>
              </a:ext>
            </a:extLst>
          </p:cNvPr>
          <p:cNvSpPr>
            <a:spLocks noGrp="1"/>
          </p:cNvSpPr>
          <p:nvPr>
            <p:ph type="dt" sz="half" idx="10"/>
          </p:nvPr>
        </p:nvSpPr>
        <p:spPr/>
        <p:txBody>
          <a:bodyPr/>
          <a:lstStyle/>
          <a:p>
            <a:fld id="{4F3EC96F-4454-4B16-884B-1F149B7B4B82}" type="datetimeFigureOut">
              <a:rPr lang="en-IN" smtClean="0"/>
              <a:t>09-03-2026</a:t>
            </a:fld>
            <a:endParaRPr lang="en-IN"/>
          </a:p>
        </p:txBody>
      </p:sp>
      <p:sp>
        <p:nvSpPr>
          <p:cNvPr id="6" name="Footer Placeholder 5">
            <a:extLst>
              <a:ext uri="{FF2B5EF4-FFF2-40B4-BE49-F238E27FC236}">
                <a16:creationId xmlns:a16="http://schemas.microsoft.com/office/drawing/2014/main" id="{7F23A822-C5A2-62B8-3633-91F28D71629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19A961E-4F6C-456C-35CF-AC84725385C4}"/>
              </a:ext>
            </a:extLst>
          </p:cNvPr>
          <p:cNvSpPr>
            <a:spLocks noGrp="1"/>
          </p:cNvSpPr>
          <p:nvPr>
            <p:ph type="sldNum" sz="quarter" idx="12"/>
          </p:nvPr>
        </p:nvSpPr>
        <p:spPr/>
        <p:txBody>
          <a:bodyPr/>
          <a:lstStyle/>
          <a:p>
            <a:fld id="{4768A43A-39C0-498E-A690-711019516C8A}" type="slidenum">
              <a:rPr lang="en-IN" smtClean="0"/>
              <a:t>‹#›</a:t>
            </a:fld>
            <a:endParaRPr lang="en-IN"/>
          </a:p>
        </p:txBody>
      </p:sp>
    </p:spTree>
    <p:extLst>
      <p:ext uri="{BB962C8B-B14F-4D97-AF65-F5344CB8AC3E}">
        <p14:creationId xmlns:p14="http://schemas.microsoft.com/office/powerpoint/2010/main" val="26266532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2FD309-E638-2DF8-C24D-BDE9581254C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7D356649-BBD4-735C-69D0-C22284F4E50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EE8F1D2-74BF-F997-AE12-B6578B2C67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1EA6665-F7EC-AF3A-773E-1AAB13EE6385}"/>
              </a:ext>
            </a:extLst>
          </p:cNvPr>
          <p:cNvSpPr>
            <a:spLocks noGrp="1"/>
          </p:cNvSpPr>
          <p:nvPr>
            <p:ph type="dt" sz="half" idx="10"/>
          </p:nvPr>
        </p:nvSpPr>
        <p:spPr/>
        <p:txBody>
          <a:bodyPr/>
          <a:lstStyle/>
          <a:p>
            <a:fld id="{4F3EC96F-4454-4B16-884B-1F149B7B4B82}" type="datetimeFigureOut">
              <a:rPr lang="en-IN" smtClean="0"/>
              <a:t>09-03-2026</a:t>
            </a:fld>
            <a:endParaRPr lang="en-IN"/>
          </a:p>
        </p:txBody>
      </p:sp>
      <p:sp>
        <p:nvSpPr>
          <p:cNvPr id="6" name="Footer Placeholder 5">
            <a:extLst>
              <a:ext uri="{FF2B5EF4-FFF2-40B4-BE49-F238E27FC236}">
                <a16:creationId xmlns:a16="http://schemas.microsoft.com/office/drawing/2014/main" id="{B18257BB-69C8-43AF-2A5A-50060C97539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66918C2-BD1F-A435-207E-F21412AB104C}"/>
              </a:ext>
            </a:extLst>
          </p:cNvPr>
          <p:cNvSpPr>
            <a:spLocks noGrp="1"/>
          </p:cNvSpPr>
          <p:nvPr>
            <p:ph type="sldNum" sz="quarter" idx="12"/>
          </p:nvPr>
        </p:nvSpPr>
        <p:spPr/>
        <p:txBody>
          <a:bodyPr/>
          <a:lstStyle/>
          <a:p>
            <a:fld id="{4768A43A-39C0-498E-A690-711019516C8A}" type="slidenum">
              <a:rPr lang="en-IN" smtClean="0"/>
              <a:t>‹#›</a:t>
            </a:fld>
            <a:endParaRPr lang="en-IN"/>
          </a:p>
        </p:txBody>
      </p:sp>
    </p:spTree>
    <p:extLst>
      <p:ext uri="{BB962C8B-B14F-4D97-AF65-F5344CB8AC3E}">
        <p14:creationId xmlns:p14="http://schemas.microsoft.com/office/powerpoint/2010/main" val="3378714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34A5B3-A5AC-B835-8F8D-89BD217FA7D0}"/>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51A0AF2-EFB9-7384-F128-6592B0FE890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B33D8C4-82A6-F500-DBF7-531C1ADC887F}"/>
              </a:ext>
            </a:extLst>
          </p:cNvPr>
          <p:cNvSpPr>
            <a:spLocks noGrp="1"/>
          </p:cNvSpPr>
          <p:nvPr>
            <p:ph type="dt" sz="half" idx="10"/>
          </p:nvPr>
        </p:nvSpPr>
        <p:spPr/>
        <p:txBody>
          <a:bodyPr/>
          <a:lstStyle/>
          <a:p>
            <a:fld id="{4F3EC96F-4454-4B16-884B-1F149B7B4B82}" type="datetimeFigureOut">
              <a:rPr lang="en-IN" smtClean="0"/>
              <a:t>09-03-2026</a:t>
            </a:fld>
            <a:endParaRPr lang="en-IN"/>
          </a:p>
        </p:txBody>
      </p:sp>
      <p:sp>
        <p:nvSpPr>
          <p:cNvPr id="5" name="Footer Placeholder 4">
            <a:extLst>
              <a:ext uri="{FF2B5EF4-FFF2-40B4-BE49-F238E27FC236}">
                <a16:creationId xmlns:a16="http://schemas.microsoft.com/office/drawing/2014/main" id="{25B76657-8587-7B53-E343-F400AB3ED7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8704497-C802-9F0D-F5FA-E33330DA4554}"/>
              </a:ext>
            </a:extLst>
          </p:cNvPr>
          <p:cNvSpPr>
            <a:spLocks noGrp="1"/>
          </p:cNvSpPr>
          <p:nvPr>
            <p:ph type="sldNum" sz="quarter" idx="12"/>
          </p:nvPr>
        </p:nvSpPr>
        <p:spPr/>
        <p:txBody>
          <a:bodyPr/>
          <a:lstStyle/>
          <a:p>
            <a:fld id="{4768A43A-39C0-498E-A690-711019516C8A}" type="slidenum">
              <a:rPr lang="en-IN" smtClean="0"/>
              <a:t>‹#›</a:t>
            </a:fld>
            <a:endParaRPr lang="en-IN"/>
          </a:p>
        </p:txBody>
      </p:sp>
    </p:spTree>
    <p:extLst>
      <p:ext uri="{BB962C8B-B14F-4D97-AF65-F5344CB8AC3E}">
        <p14:creationId xmlns:p14="http://schemas.microsoft.com/office/powerpoint/2010/main" val="35382580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37A450E-8FCA-D7C6-3478-96D8D09DF15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AA97D95-E532-F403-51C0-EFED6FFDB68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3DE2CE4-9E7F-476D-649D-F529B1CE563F}"/>
              </a:ext>
            </a:extLst>
          </p:cNvPr>
          <p:cNvSpPr>
            <a:spLocks noGrp="1"/>
          </p:cNvSpPr>
          <p:nvPr>
            <p:ph type="dt" sz="half" idx="10"/>
          </p:nvPr>
        </p:nvSpPr>
        <p:spPr/>
        <p:txBody>
          <a:bodyPr/>
          <a:lstStyle/>
          <a:p>
            <a:fld id="{4F3EC96F-4454-4B16-884B-1F149B7B4B82}" type="datetimeFigureOut">
              <a:rPr lang="en-IN" smtClean="0"/>
              <a:t>09-03-2026</a:t>
            </a:fld>
            <a:endParaRPr lang="en-IN"/>
          </a:p>
        </p:txBody>
      </p:sp>
      <p:sp>
        <p:nvSpPr>
          <p:cNvPr id="5" name="Footer Placeholder 4">
            <a:extLst>
              <a:ext uri="{FF2B5EF4-FFF2-40B4-BE49-F238E27FC236}">
                <a16:creationId xmlns:a16="http://schemas.microsoft.com/office/drawing/2014/main" id="{316EE00B-4FE6-A61A-AB10-40AEE41D1DC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514F1E9-45F9-D81B-A603-49E76FACF944}"/>
              </a:ext>
            </a:extLst>
          </p:cNvPr>
          <p:cNvSpPr>
            <a:spLocks noGrp="1"/>
          </p:cNvSpPr>
          <p:nvPr>
            <p:ph type="sldNum" sz="quarter" idx="12"/>
          </p:nvPr>
        </p:nvSpPr>
        <p:spPr/>
        <p:txBody>
          <a:bodyPr/>
          <a:lstStyle/>
          <a:p>
            <a:fld id="{4768A43A-39C0-498E-A690-711019516C8A}" type="slidenum">
              <a:rPr lang="en-IN" smtClean="0"/>
              <a:t>‹#›</a:t>
            </a:fld>
            <a:endParaRPr lang="en-IN"/>
          </a:p>
        </p:txBody>
      </p:sp>
    </p:spTree>
    <p:extLst>
      <p:ext uri="{BB962C8B-B14F-4D97-AF65-F5344CB8AC3E}">
        <p14:creationId xmlns:p14="http://schemas.microsoft.com/office/powerpoint/2010/main" val="35862913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27F6F62-70D1-6500-0CF6-6D59E632A76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E23D325-354D-EE9F-2835-CB8F646F2C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323F93E-289C-31C8-A9DE-93658B58FD6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F3EC96F-4454-4B16-884B-1F149B7B4B82}" type="datetimeFigureOut">
              <a:rPr lang="en-IN" smtClean="0"/>
              <a:t>09-03-2026</a:t>
            </a:fld>
            <a:endParaRPr lang="en-IN"/>
          </a:p>
        </p:txBody>
      </p:sp>
      <p:sp>
        <p:nvSpPr>
          <p:cNvPr id="5" name="Footer Placeholder 4">
            <a:extLst>
              <a:ext uri="{FF2B5EF4-FFF2-40B4-BE49-F238E27FC236}">
                <a16:creationId xmlns:a16="http://schemas.microsoft.com/office/drawing/2014/main" id="{21955B84-2827-2D53-2D61-8AFEF074D4E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3B08B315-1619-E750-4185-F5F36883571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768A43A-39C0-498E-A690-711019516C8A}" type="slidenum">
              <a:rPr lang="en-IN" smtClean="0"/>
              <a:t>‹#›</a:t>
            </a:fld>
            <a:endParaRPr lang="en-IN"/>
          </a:p>
        </p:txBody>
      </p:sp>
    </p:spTree>
    <p:extLst>
      <p:ext uri="{BB962C8B-B14F-4D97-AF65-F5344CB8AC3E}">
        <p14:creationId xmlns:p14="http://schemas.microsoft.com/office/powerpoint/2010/main" val="36728366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BE351A-FEB7-710F-3D01-5C68FA8CA5A8}"/>
              </a:ext>
            </a:extLst>
          </p:cNvPr>
          <p:cNvSpPr>
            <a:spLocks noGrp="1"/>
          </p:cNvSpPr>
          <p:nvPr>
            <p:ph type="ctrTitle"/>
          </p:nvPr>
        </p:nvSpPr>
        <p:spPr>
          <a:xfrm>
            <a:off x="1111045" y="1122363"/>
            <a:ext cx="10264878" cy="3636450"/>
          </a:xfrm>
        </p:spPr>
        <p:txBody>
          <a:bodyPr>
            <a:normAutofit/>
          </a:bodyPr>
          <a:lstStyle/>
          <a:p>
            <a:pPr>
              <a:lnSpc>
                <a:spcPct val="150000"/>
              </a:lnSpc>
            </a:pPr>
            <a:r>
              <a:rPr lang="en-US" i="1" dirty="0">
                <a:effectLst>
                  <a:outerShdw blurRad="38100" dist="38100" dir="2700000" algn="tl">
                    <a:srgbClr val="000000">
                      <a:alpha val="43137"/>
                    </a:srgbClr>
                  </a:outerShdw>
                </a:effectLst>
                <a:latin typeface="Comic Sans MS" panose="030F0702030302020204" pitchFamily="66" charset="0"/>
              </a:rPr>
              <a:t>VFD and HMI Programming</a:t>
            </a:r>
            <a:br>
              <a:rPr lang="en-US" i="1" dirty="0">
                <a:effectLst>
                  <a:outerShdw blurRad="38100" dist="38100" dir="2700000" algn="tl">
                    <a:srgbClr val="000000">
                      <a:alpha val="43137"/>
                    </a:srgbClr>
                  </a:outerShdw>
                </a:effectLst>
                <a:latin typeface="Comic Sans MS" panose="030F0702030302020204" pitchFamily="66" charset="0"/>
              </a:rPr>
            </a:br>
            <a:endParaRPr lang="en-IN" i="1" dirty="0">
              <a:effectLst>
                <a:outerShdw blurRad="38100" dist="38100" dir="2700000" algn="tl">
                  <a:srgbClr val="000000">
                    <a:alpha val="43137"/>
                  </a:srgbClr>
                </a:outerShdw>
              </a:effectLst>
              <a:latin typeface="Comic Sans MS" panose="030F0702030302020204" pitchFamily="66" charset="0"/>
            </a:endParaRPr>
          </a:p>
        </p:txBody>
      </p:sp>
    </p:spTree>
    <p:extLst>
      <p:ext uri="{BB962C8B-B14F-4D97-AF65-F5344CB8AC3E}">
        <p14:creationId xmlns:p14="http://schemas.microsoft.com/office/powerpoint/2010/main" val="29927466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CF2647-CB7A-EA6A-4A68-7589A7778D88}"/>
              </a:ext>
            </a:extLst>
          </p:cNvPr>
          <p:cNvSpPr>
            <a:spLocks noGrp="1"/>
          </p:cNvSpPr>
          <p:nvPr>
            <p:ph type="title"/>
          </p:nvPr>
        </p:nvSpPr>
        <p:spPr/>
        <p:txBody>
          <a:bodyPr/>
          <a:lstStyle/>
          <a:p>
            <a:r>
              <a:rPr lang="en-IN" b="1" dirty="0"/>
              <a:t>What is a VFD?</a:t>
            </a:r>
            <a:endParaRPr lang="en-IN" dirty="0"/>
          </a:p>
        </p:txBody>
      </p:sp>
      <p:sp>
        <p:nvSpPr>
          <p:cNvPr id="3" name="Content Placeholder 2">
            <a:extLst>
              <a:ext uri="{FF2B5EF4-FFF2-40B4-BE49-F238E27FC236}">
                <a16:creationId xmlns:a16="http://schemas.microsoft.com/office/drawing/2014/main" id="{3E75CE52-9E66-D18E-04A2-79147062C54A}"/>
              </a:ext>
            </a:extLst>
          </p:cNvPr>
          <p:cNvSpPr>
            <a:spLocks noGrp="1"/>
          </p:cNvSpPr>
          <p:nvPr>
            <p:ph idx="1"/>
          </p:nvPr>
        </p:nvSpPr>
        <p:spPr/>
        <p:txBody>
          <a:bodyPr>
            <a:normAutofit/>
          </a:bodyPr>
          <a:lstStyle/>
          <a:p>
            <a:pPr algn="just">
              <a:lnSpc>
                <a:spcPct val="150000"/>
              </a:lnSpc>
            </a:pPr>
            <a:r>
              <a:rPr lang="en-US" sz="2000" b="1" dirty="0">
                <a:latin typeface="Bookman Old Style" panose="02050604050505020204" pitchFamily="18" charset="0"/>
              </a:rPr>
              <a:t>VFD</a:t>
            </a:r>
            <a:r>
              <a:rPr lang="en-US" sz="2000" dirty="0">
                <a:latin typeface="Bookman Old Style" panose="02050604050505020204" pitchFamily="18" charset="0"/>
              </a:rPr>
              <a:t> stands for </a:t>
            </a:r>
            <a:r>
              <a:rPr lang="en-US" sz="2000" b="1" dirty="0">
                <a:latin typeface="Bookman Old Style" panose="02050604050505020204" pitchFamily="18" charset="0"/>
              </a:rPr>
              <a:t>Variable Frequency Drive</a:t>
            </a:r>
            <a:r>
              <a:rPr lang="en-US" sz="2000" dirty="0">
                <a:latin typeface="Bookman Old Style" panose="02050604050505020204" pitchFamily="18" charset="0"/>
              </a:rPr>
              <a:t>. As its name suggests it is an adjustable frequency drive that varies the frequency of the AC supply. Since the speed of an induction motor depends on the supply frequency, the VFD can be used to vary its speed.</a:t>
            </a:r>
          </a:p>
          <a:p>
            <a:pPr algn="just">
              <a:lnSpc>
                <a:spcPct val="150000"/>
              </a:lnSpc>
            </a:pPr>
            <a:r>
              <a:rPr lang="en-US" sz="2000" dirty="0">
                <a:latin typeface="Bookman Old Style" panose="02050604050505020204" pitchFamily="18" charset="0"/>
              </a:rPr>
              <a:t>A VFD is a power converter that uses electronic circuits to convert a fixed frequency and fixed voltage into a variable frequency and variable voltage. It even enables a motor to run above its rated speed by increasing the frequency. Due to its programmable and easy to use UI (user interface), it can be easily used to monitor and maintain the speed of an electrical motor.</a:t>
            </a:r>
            <a:endParaRPr lang="en-IN" sz="2000" dirty="0">
              <a:latin typeface="Bookman Old Style" panose="02050604050505020204" pitchFamily="18" charset="0"/>
            </a:endParaRPr>
          </a:p>
        </p:txBody>
      </p:sp>
    </p:spTree>
    <p:extLst>
      <p:ext uri="{BB962C8B-B14F-4D97-AF65-F5344CB8AC3E}">
        <p14:creationId xmlns:p14="http://schemas.microsoft.com/office/powerpoint/2010/main" val="25484371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7C235F-F1C0-B26E-5637-12232AD9A7B1}"/>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D35DF79D-B0F2-8999-B2B8-8B0476877DDE}"/>
              </a:ext>
            </a:extLst>
          </p:cNvPr>
          <p:cNvPicPr>
            <a:picLocks noGrp="1" noChangeAspect="1"/>
          </p:cNvPicPr>
          <p:nvPr>
            <p:ph idx="1"/>
          </p:nvPr>
        </p:nvPicPr>
        <p:blipFill>
          <a:blip r:embed="rId2"/>
          <a:srcRect t="24702" b="5702"/>
          <a:stretch>
            <a:fillRect/>
          </a:stretch>
        </p:blipFill>
        <p:spPr>
          <a:xfrm>
            <a:off x="1990964" y="2290915"/>
            <a:ext cx="8210071" cy="3028337"/>
          </a:xfrm>
          <a:prstGeom prst="rect">
            <a:avLst/>
          </a:prstGeom>
        </p:spPr>
      </p:pic>
    </p:spTree>
    <p:extLst>
      <p:ext uri="{BB962C8B-B14F-4D97-AF65-F5344CB8AC3E}">
        <p14:creationId xmlns:p14="http://schemas.microsoft.com/office/powerpoint/2010/main" val="4081003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1C7E0-2CA4-D117-92CB-0233742B6443}"/>
              </a:ext>
            </a:extLst>
          </p:cNvPr>
          <p:cNvSpPr>
            <a:spLocks noGrp="1"/>
          </p:cNvSpPr>
          <p:nvPr>
            <p:ph type="title"/>
          </p:nvPr>
        </p:nvSpPr>
        <p:spPr>
          <a:xfrm>
            <a:off x="376084" y="286466"/>
            <a:ext cx="10515600" cy="1325563"/>
          </a:xfrm>
        </p:spPr>
        <p:txBody>
          <a:bodyPr/>
          <a:lstStyle/>
          <a:p>
            <a:r>
              <a:rPr lang="en-IN" b="1" dirty="0"/>
              <a:t>Circuit Diagram of VFD</a:t>
            </a:r>
            <a:endParaRPr lang="en-IN" dirty="0"/>
          </a:p>
        </p:txBody>
      </p:sp>
      <p:pic>
        <p:nvPicPr>
          <p:cNvPr id="4" name="Content Placeholder 3">
            <a:extLst>
              <a:ext uri="{FF2B5EF4-FFF2-40B4-BE49-F238E27FC236}">
                <a16:creationId xmlns:a16="http://schemas.microsoft.com/office/drawing/2014/main" id="{AF14739A-98DC-E775-2265-36DB6D876D2E}"/>
              </a:ext>
            </a:extLst>
          </p:cNvPr>
          <p:cNvPicPr>
            <a:picLocks noGrp="1" noChangeAspect="1"/>
          </p:cNvPicPr>
          <p:nvPr>
            <p:ph idx="1"/>
          </p:nvPr>
        </p:nvPicPr>
        <p:blipFill>
          <a:blip r:embed="rId2"/>
          <a:stretch>
            <a:fillRect/>
          </a:stretch>
        </p:blipFill>
        <p:spPr>
          <a:xfrm>
            <a:off x="2694943" y="1410647"/>
            <a:ext cx="6802113" cy="3513983"/>
          </a:xfrm>
          <a:prstGeom prst="rect">
            <a:avLst/>
          </a:prstGeom>
        </p:spPr>
      </p:pic>
      <p:sp>
        <p:nvSpPr>
          <p:cNvPr id="6" name="TextBox 5">
            <a:extLst>
              <a:ext uri="{FF2B5EF4-FFF2-40B4-BE49-F238E27FC236}">
                <a16:creationId xmlns:a16="http://schemas.microsoft.com/office/drawing/2014/main" id="{642DF479-D55A-3C8A-29F3-FD0ADBDDD789}"/>
              </a:ext>
            </a:extLst>
          </p:cNvPr>
          <p:cNvSpPr txBox="1"/>
          <p:nvPr/>
        </p:nvSpPr>
        <p:spPr>
          <a:xfrm>
            <a:off x="838200" y="4924630"/>
            <a:ext cx="10515600" cy="1425134"/>
          </a:xfrm>
          <a:prstGeom prst="rect">
            <a:avLst/>
          </a:prstGeom>
          <a:noFill/>
        </p:spPr>
        <p:txBody>
          <a:bodyPr wrap="square">
            <a:spAutoFit/>
          </a:bodyPr>
          <a:lstStyle/>
          <a:p>
            <a:pPr algn="just">
              <a:lnSpc>
                <a:spcPct val="150000"/>
              </a:lnSpc>
            </a:pPr>
            <a:r>
              <a:rPr lang="en-US" sz="2000" b="0" i="0" dirty="0">
                <a:solidFill>
                  <a:srgbClr val="2C2F34"/>
                </a:solidFill>
                <a:effectLst/>
                <a:latin typeface="Bookman Old Style" panose="02050604050505020204" pitchFamily="18" charset="0"/>
              </a:rPr>
              <a:t>The main function of a VFD is to vary the operating frequency of an AC supply. Simply put it converts the AC into DC and then into AC having adjustable frequency, but the operation uses four blocks or sections of VFD.</a:t>
            </a:r>
            <a:endParaRPr lang="en-IN" sz="2000" dirty="0">
              <a:latin typeface="Bookman Old Style" panose="02050604050505020204" pitchFamily="18" charset="0"/>
            </a:endParaRPr>
          </a:p>
        </p:txBody>
      </p:sp>
    </p:spTree>
    <p:extLst>
      <p:ext uri="{BB962C8B-B14F-4D97-AF65-F5344CB8AC3E}">
        <p14:creationId xmlns:p14="http://schemas.microsoft.com/office/powerpoint/2010/main" val="31081425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668964C-8DF4-E2D7-07C3-ED5DD321F814}"/>
              </a:ext>
            </a:extLst>
          </p:cNvPr>
          <p:cNvSpPr>
            <a:spLocks noGrp="1"/>
          </p:cNvSpPr>
          <p:nvPr>
            <p:ph type="title"/>
          </p:nvPr>
        </p:nvSpPr>
        <p:spPr>
          <a:xfrm>
            <a:off x="356419" y="196754"/>
            <a:ext cx="10515600" cy="1325563"/>
          </a:xfrm>
        </p:spPr>
        <p:txBody>
          <a:bodyPr/>
          <a:lstStyle/>
          <a:p>
            <a:r>
              <a:rPr lang="en-IN" b="1" dirty="0"/>
              <a:t>The Rectifier</a:t>
            </a:r>
            <a:endParaRPr lang="en-IN" dirty="0"/>
          </a:p>
        </p:txBody>
      </p:sp>
      <p:sp>
        <p:nvSpPr>
          <p:cNvPr id="5" name="Content Placeholder 4">
            <a:extLst>
              <a:ext uri="{FF2B5EF4-FFF2-40B4-BE49-F238E27FC236}">
                <a16:creationId xmlns:a16="http://schemas.microsoft.com/office/drawing/2014/main" id="{59A1E837-CFB1-7BC9-04DD-163E21F59715}"/>
              </a:ext>
            </a:extLst>
          </p:cNvPr>
          <p:cNvSpPr>
            <a:spLocks noGrp="1"/>
          </p:cNvSpPr>
          <p:nvPr>
            <p:ph sz="half" idx="1"/>
          </p:nvPr>
        </p:nvSpPr>
        <p:spPr>
          <a:xfrm>
            <a:off x="523567" y="1369912"/>
            <a:ext cx="6830961" cy="5291334"/>
          </a:xfrm>
        </p:spPr>
        <p:txBody>
          <a:bodyPr>
            <a:normAutofit/>
          </a:bodyPr>
          <a:lstStyle/>
          <a:p>
            <a:pPr algn="just">
              <a:lnSpc>
                <a:spcPct val="150000"/>
              </a:lnSpc>
            </a:pPr>
            <a:r>
              <a:rPr lang="en-US" sz="2000" dirty="0">
                <a:latin typeface="Bookman Old Style" panose="02050604050505020204" pitchFamily="18" charset="0"/>
              </a:rPr>
              <a:t>The input AC supply is connected to the Rectifier section of the VFD. It is a full-wave rectifier that converts the AC power into unfiltered DC.</a:t>
            </a:r>
          </a:p>
          <a:p>
            <a:pPr algn="just">
              <a:lnSpc>
                <a:spcPct val="150000"/>
              </a:lnSpc>
            </a:pPr>
            <a:r>
              <a:rPr lang="en-US" sz="2000" dirty="0">
                <a:latin typeface="Bookman Old Style" panose="02050604050505020204" pitchFamily="18" charset="0"/>
              </a:rPr>
              <a:t>It is made of 6 or 4 diodes or thyristors. Six diodes are used for three-phase power conversion while 4 diodes in bridge configuration are used for single-phase AC power conversion. Whereas the diode rectifier is used for uncontrolled conversion while the thyristor offers controlled switching that varies the output DC power.</a:t>
            </a:r>
            <a:endParaRPr lang="en-IN" sz="2000" dirty="0">
              <a:latin typeface="Bookman Old Style" panose="02050604050505020204" pitchFamily="18" charset="0"/>
            </a:endParaRPr>
          </a:p>
        </p:txBody>
      </p:sp>
      <p:pic>
        <p:nvPicPr>
          <p:cNvPr id="7" name="Content Placeholder 6">
            <a:extLst>
              <a:ext uri="{FF2B5EF4-FFF2-40B4-BE49-F238E27FC236}">
                <a16:creationId xmlns:a16="http://schemas.microsoft.com/office/drawing/2014/main" id="{603216E4-245D-9170-249E-6C00D3442CDB}"/>
              </a:ext>
            </a:extLst>
          </p:cNvPr>
          <p:cNvPicPr>
            <a:picLocks noGrp="1" noChangeAspect="1"/>
          </p:cNvPicPr>
          <p:nvPr>
            <p:ph sz="half" idx="2"/>
          </p:nvPr>
        </p:nvPicPr>
        <p:blipFill>
          <a:blip r:embed="rId2"/>
          <a:stretch>
            <a:fillRect/>
          </a:stretch>
        </p:blipFill>
        <p:spPr>
          <a:xfrm>
            <a:off x="7354528" y="2004123"/>
            <a:ext cx="3999271" cy="3082919"/>
          </a:xfrm>
          <a:prstGeom prst="rect">
            <a:avLst/>
          </a:prstGeom>
        </p:spPr>
      </p:pic>
    </p:spTree>
    <p:extLst>
      <p:ext uri="{BB962C8B-B14F-4D97-AF65-F5344CB8AC3E}">
        <p14:creationId xmlns:p14="http://schemas.microsoft.com/office/powerpoint/2010/main" val="30595316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9FCD75-BD43-A716-E259-5DC3877BD7B9}"/>
              </a:ext>
            </a:extLst>
          </p:cNvPr>
          <p:cNvSpPr>
            <a:spLocks noGrp="1"/>
          </p:cNvSpPr>
          <p:nvPr>
            <p:ph type="title"/>
          </p:nvPr>
        </p:nvSpPr>
        <p:spPr/>
        <p:txBody>
          <a:bodyPr/>
          <a:lstStyle/>
          <a:p>
            <a:r>
              <a:rPr lang="en-IN" b="1" dirty="0"/>
              <a:t>DC Bus and Filter</a:t>
            </a:r>
            <a:endParaRPr lang="en-IN" dirty="0"/>
          </a:p>
        </p:txBody>
      </p:sp>
      <p:sp>
        <p:nvSpPr>
          <p:cNvPr id="3" name="Content Placeholder 2">
            <a:extLst>
              <a:ext uri="{FF2B5EF4-FFF2-40B4-BE49-F238E27FC236}">
                <a16:creationId xmlns:a16="http://schemas.microsoft.com/office/drawing/2014/main" id="{0823F8C8-A92F-7932-FED8-A3A06690AD0B}"/>
              </a:ext>
            </a:extLst>
          </p:cNvPr>
          <p:cNvSpPr>
            <a:spLocks noGrp="1"/>
          </p:cNvSpPr>
          <p:nvPr>
            <p:ph sz="half" idx="1"/>
          </p:nvPr>
        </p:nvSpPr>
        <p:spPr>
          <a:xfrm>
            <a:off x="838199" y="1825624"/>
            <a:ext cx="6073877" cy="4791485"/>
          </a:xfrm>
        </p:spPr>
        <p:txBody>
          <a:bodyPr>
            <a:normAutofit/>
          </a:bodyPr>
          <a:lstStyle/>
          <a:p>
            <a:pPr algn="just">
              <a:lnSpc>
                <a:spcPct val="150000"/>
              </a:lnSpc>
            </a:pPr>
            <a:r>
              <a:rPr lang="en-US" sz="2000" dirty="0">
                <a:latin typeface="Bookman Old Style" panose="02050604050505020204" pitchFamily="18" charset="0"/>
              </a:rPr>
              <a:t>This intermediate section is used for filtering and storing the DC power that is retrieved by the inverter. Its main function of filters is to remove the ripples from the pulsating DC output of the rectifier.</a:t>
            </a:r>
          </a:p>
          <a:p>
            <a:pPr algn="just">
              <a:lnSpc>
                <a:spcPct val="150000"/>
              </a:lnSpc>
            </a:pPr>
            <a:r>
              <a:rPr lang="en-US" sz="2000" dirty="0">
                <a:latin typeface="Bookman Old Style" panose="02050604050505020204" pitchFamily="18" charset="0"/>
              </a:rPr>
              <a:t>It is mainly made of capacitors to filter the ripples from the pulsating DC and also store it. It may include an inductor as well depending on the type of ripples.</a:t>
            </a:r>
            <a:endParaRPr lang="en-IN" sz="2000" dirty="0">
              <a:latin typeface="Bookman Old Style" panose="02050604050505020204" pitchFamily="18" charset="0"/>
            </a:endParaRPr>
          </a:p>
        </p:txBody>
      </p:sp>
      <p:pic>
        <p:nvPicPr>
          <p:cNvPr id="5" name="Content Placeholder 4">
            <a:extLst>
              <a:ext uri="{FF2B5EF4-FFF2-40B4-BE49-F238E27FC236}">
                <a16:creationId xmlns:a16="http://schemas.microsoft.com/office/drawing/2014/main" id="{AE718CDB-B4AF-1730-5069-6090F238C91E}"/>
              </a:ext>
            </a:extLst>
          </p:cNvPr>
          <p:cNvPicPr>
            <a:picLocks noGrp="1" noChangeAspect="1"/>
          </p:cNvPicPr>
          <p:nvPr>
            <p:ph sz="half" idx="2"/>
          </p:nvPr>
        </p:nvPicPr>
        <p:blipFill>
          <a:blip r:embed="rId2"/>
          <a:stretch>
            <a:fillRect/>
          </a:stretch>
        </p:blipFill>
        <p:spPr>
          <a:xfrm>
            <a:off x="7549148" y="1862932"/>
            <a:ext cx="3228389" cy="3426824"/>
          </a:xfrm>
          <a:prstGeom prst="rect">
            <a:avLst/>
          </a:prstGeom>
        </p:spPr>
      </p:pic>
    </p:spTree>
    <p:extLst>
      <p:ext uri="{BB962C8B-B14F-4D97-AF65-F5344CB8AC3E}">
        <p14:creationId xmlns:p14="http://schemas.microsoft.com/office/powerpoint/2010/main" val="28672783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6BA8C4-D5EA-6EAA-1750-93D4FEC47CA0}"/>
              </a:ext>
            </a:extLst>
          </p:cNvPr>
          <p:cNvSpPr>
            <a:spLocks noGrp="1"/>
          </p:cNvSpPr>
          <p:nvPr>
            <p:ph type="title"/>
          </p:nvPr>
        </p:nvSpPr>
        <p:spPr>
          <a:xfrm>
            <a:off x="199104" y="168480"/>
            <a:ext cx="10515600" cy="1325563"/>
          </a:xfrm>
        </p:spPr>
        <p:txBody>
          <a:bodyPr/>
          <a:lstStyle/>
          <a:p>
            <a:r>
              <a:rPr lang="en-IN" b="1" dirty="0"/>
              <a:t>Inverter</a:t>
            </a:r>
            <a:endParaRPr lang="en-IN" dirty="0"/>
          </a:p>
        </p:txBody>
      </p:sp>
      <p:sp>
        <p:nvSpPr>
          <p:cNvPr id="3" name="Content Placeholder 2">
            <a:extLst>
              <a:ext uri="{FF2B5EF4-FFF2-40B4-BE49-F238E27FC236}">
                <a16:creationId xmlns:a16="http://schemas.microsoft.com/office/drawing/2014/main" id="{69D59076-BAD5-A50D-0C60-202E6A820D4B}"/>
              </a:ext>
            </a:extLst>
          </p:cNvPr>
          <p:cNvSpPr>
            <a:spLocks noGrp="1"/>
          </p:cNvSpPr>
          <p:nvPr>
            <p:ph sz="half" idx="1"/>
          </p:nvPr>
        </p:nvSpPr>
        <p:spPr>
          <a:xfrm>
            <a:off x="521110" y="1406013"/>
            <a:ext cx="6626942" cy="4770950"/>
          </a:xfrm>
        </p:spPr>
        <p:txBody>
          <a:bodyPr>
            <a:noAutofit/>
          </a:bodyPr>
          <a:lstStyle/>
          <a:p>
            <a:pPr marL="0" indent="0" algn="just">
              <a:lnSpc>
                <a:spcPct val="170000"/>
              </a:lnSpc>
              <a:buNone/>
            </a:pPr>
            <a:r>
              <a:rPr lang="en-US" sz="1800" dirty="0">
                <a:latin typeface="Bookman Old Style" panose="02050604050505020204" pitchFamily="18" charset="0"/>
              </a:rPr>
              <a:t>This is the inverter or switching section that converts the steady DC into alternating AC with adjustable frequency.</a:t>
            </a:r>
          </a:p>
          <a:p>
            <a:pPr marL="0" indent="0" algn="just">
              <a:lnSpc>
                <a:spcPct val="170000"/>
              </a:lnSpc>
              <a:buNone/>
            </a:pPr>
            <a:r>
              <a:rPr lang="en-US" sz="1800" dirty="0">
                <a:latin typeface="Bookman Old Style" panose="02050604050505020204" pitchFamily="18" charset="0"/>
              </a:rPr>
              <a:t>It is made of power transistors or IGBTs. They switch rapidly to provide alternating voltage at the output. Its switching frequency determines the output AC frequency. Where as, the switching rate of IGBTs is controlled through the control unit.</a:t>
            </a:r>
          </a:p>
          <a:p>
            <a:pPr marL="0" indent="0" algn="just">
              <a:lnSpc>
                <a:spcPct val="170000"/>
              </a:lnSpc>
              <a:buNone/>
            </a:pPr>
            <a:r>
              <a:rPr lang="en-US" sz="1800" dirty="0">
                <a:latin typeface="Bookman Old Style" panose="02050604050505020204" pitchFamily="18" charset="0"/>
              </a:rPr>
              <a:t>There are 4 IGBTs used for single-phase conversion while 6 IGBTs are used for three-phase power conversion.</a:t>
            </a:r>
            <a:endParaRPr lang="en-IN" sz="1800" dirty="0"/>
          </a:p>
        </p:txBody>
      </p:sp>
      <p:pic>
        <p:nvPicPr>
          <p:cNvPr id="5" name="Content Placeholder 4">
            <a:extLst>
              <a:ext uri="{FF2B5EF4-FFF2-40B4-BE49-F238E27FC236}">
                <a16:creationId xmlns:a16="http://schemas.microsoft.com/office/drawing/2014/main" id="{F8D61C4B-F2D0-41AA-BE1F-37E7180C6229}"/>
              </a:ext>
            </a:extLst>
          </p:cNvPr>
          <p:cNvPicPr>
            <a:picLocks noGrp="1" noChangeAspect="1"/>
          </p:cNvPicPr>
          <p:nvPr>
            <p:ph sz="half" idx="2"/>
          </p:nvPr>
        </p:nvPicPr>
        <p:blipFill>
          <a:blip r:embed="rId2"/>
          <a:stretch>
            <a:fillRect/>
          </a:stretch>
        </p:blipFill>
        <p:spPr>
          <a:xfrm>
            <a:off x="7403691" y="1949706"/>
            <a:ext cx="4650658" cy="2726030"/>
          </a:xfrm>
          <a:prstGeom prst="rect">
            <a:avLst/>
          </a:prstGeom>
        </p:spPr>
      </p:pic>
    </p:spTree>
    <p:extLst>
      <p:ext uri="{BB962C8B-B14F-4D97-AF65-F5344CB8AC3E}">
        <p14:creationId xmlns:p14="http://schemas.microsoft.com/office/powerpoint/2010/main" val="3665315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EB4EBFB-93F2-3408-DF6F-604CED795D58}"/>
              </a:ext>
            </a:extLst>
          </p:cNvPr>
          <p:cNvSpPr>
            <a:spLocks noGrp="1"/>
          </p:cNvSpPr>
          <p:nvPr>
            <p:ph type="title"/>
          </p:nvPr>
        </p:nvSpPr>
        <p:spPr>
          <a:xfrm>
            <a:off x="444909" y="247137"/>
            <a:ext cx="10515600" cy="1325563"/>
          </a:xfrm>
        </p:spPr>
        <p:txBody>
          <a:bodyPr/>
          <a:lstStyle/>
          <a:p>
            <a:r>
              <a:rPr lang="en-IN" b="1" dirty="0"/>
              <a:t>Control Unit</a:t>
            </a:r>
            <a:endParaRPr lang="en-IN" dirty="0"/>
          </a:p>
        </p:txBody>
      </p:sp>
      <p:sp>
        <p:nvSpPr>
          <p:cNvPr id="6" name="Content Placeholder 5">
            <a:extLst>
              <a:ext uri="{FF2B5EF4-FFF2-40B4-BE49-F238E27FC236}">
                <a16:creationId xmlns:a16="http://schemas.microsoft.com/office/drawing/2014/main" id="{FDAB43D1-9833-5375-EFE0-BB51409BD93C}"/>
              </a:ext>
            </a:extLst>
          </p:cNvPr>
          <p:cNvSpPr>
            <a:spLocks noGrp="1"/>
          </p:cNvSpPr>
          <p:nvPr>
            <p:ph idx="1"/>
          </p:nvPr>
        </p:nvSpPr>
        <p:spPr/>
        <p:txBody>
          <a:bodyPr>
            <a:normAutofit/>
          </a:bodyPr>
          <a:lstStyle/>
          <a:p>
            <a:pPr algn="just">
              <a:lnSpc>
                <a:spcPct val="150000"/>
              </a:lnSpc>
            </a:pPr>
            <a:r>
              <a:rPr lang="en-US" sz="2000" dirty="0">
                <a:latin typeface="Bookman Old Style" panose="02050604050505020204" pitchFamily="18" charset="0"/>
              </a:rPr>
              <a:t>This section is the controlling unit responsible for controlling the switching operation, output frequency, output power. It is integrated with the user interface and sensors to acquire the necessary data. It also monitors fault conditions.</a:t>
            </a:r>
          </a:p>
          <a:p>
            <a:pPr algn="just">
              <a:lnSpc>
                <a:spcPct val="150000"/>
              </a:lnSpc>
            </a:pPr>
            <a:r>
              <a:rPr lang="en-US" sz="2000" dirty="0">
                <a:latin typeface="Bookman Old Style" panose="02050604050505020204" pitchFamily="18" charset="0"/>
              </a:rPr>
              <a:t>The control unit consists of an embedded microprocessor programmed for controlling the rectifier and inverter section. It can react in microseconds in case of any fault conditions. The feedback data from the speed sensor is used to monitor the speed as well as adjust it accordingly to the need.  </a:t>
            </a:r>
            <a:endParaRPr lang="en-IN" sz="2000" dirty="0">
              <a:latin typeface="Bookman Old Style" panose="02050604050505020204" pitchFamily="18" charset="0"/>
            </a:endParaRPr>
          </a:p>
        </p:txBody>
      </p:sp>
    </p:spTree>
    <p:extLst>
      <p:ext uri="{BB962C8B-B14F-4D97-AF65-F5344CB8AC3E}">
        <p14:creationId xmlns:p14="http://schemas.microsoft.com/office/powerpoint/2010/main" val="25349140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6B6D2E-B333-606C-5E0D-E7E06A85CB6C}"/>
              </a:ext>
            </a:extLst>
          </p:cNvPr>
          <p:cNvSpPr>
            <a:spLocks noGrp="1"/>
          </p:cNvSpPr>
          <p:nvPr>
            <p:ph type="title"/>
          </p:nvPr>
        </p:nvSpPr>
        <p:spPr>
          <a:xfrm>
            <a:off x="346587" y="315963"/>
            <a:ext cx="10515600" cy="1325563"/>
          </a:xfrm>
        </p:spPr>
        <p:txBody>
          <a:bodyPr/>
          <a:lstStyle/>
          <a:p>
            <a:r>
              <a:rPr lang="en-IN" b="1" dirty="0"/>
              <a:t>Types of VFDs</a:t>
            </a:r>
            <a:endParaRPr lang="en-IN" dirty="0"/>
          </a:p>
        </p:txBody>
      </p:sp>
      <p:sp>
        <p:nvSpPr>
          <p:cNvPr id="3" name="Content Placeholder 2">
            <a:extLst>
              <a:ext uri="{FF2B5EF4-FFF2-40B4-BE49-F238E27FC236}">
                <a16:creationId xmlns:a16="http://schemas.microsoft.com/office/drawing/2014/main" id="{BBED5046-7FDF-C960-4CCD-E8EE1C728DA9}"/>
              </a:ext>
            </a:extLst>
          </p:cNvPr>
          <p:cNvSpPr>
            <a:spLocks noGrp="1"/>
          </p:cNvSpPr>
          <p:nvPr>
            <p:ph idx="1"/>
          </p:nvPr>
        </p:nvSpPr>
        <p:spPr/>
        <p:txBody>
          <a:bodyPr>
            <a:normAutofit/>
          </a:bodyPr>
          <a:lstStyle/>
          <a:p>
            <a:pPr marL="0" indent="0">
              <a:buNone/>
            </a:pPr>
            <a:r>
              <a:rPr lang="en-US" sz="2000" dirty="0">
                <a:latin typeface="Bookman Old Style" panose="02050604050505020204" pitchFamily="18" charset="0"/>
              </a:rPr>
              <a:t>There are three types of VFD classified based on the method of power conversion.</a:t>
            </a:r>
          </a:p>
          <a:p>
            <a:endParaRPr lang="en-US" sz="2000" dirty="0">
              <a:latin typeface="Bookman Old Style" panose="02050604050505020204" pitchFamily="18" charset="0"/>
            </a:endParaRPr>
          </a:p>
          <a:p>
            <a:pPr lvl="1">
              <a:lnSpc>
                <a:spcPct val="200000"/>
              </a:lnSpc>
              <a:buFont typeface="Wingdings" panose="05000000000000000000" pitchFamily="2" charset="2"/>
              <a:buChar char="Ø"/>
            </a:pPr>
            <a:r>
              <a:rPr lang="en-IN" sz="2000" b="1" dirty="0">
                <a:latin typeface="Bookman Old Style" panose="02050604050505020204" pitchFamily="18" charset="0"/>
              </a:rPr>
              <a:t>VSI type VFDs</a:t>
            </a:r>
          </a:p>
          <a:p>
            <a:pPr lvl="1">
              <a:lnSpc>
                <a:spcPct val="200000"/>
              </a:lnSpc>
              <a:buFont typeface="Wingdings" panose="05000000000000000000" pitchFamily="2" charset="2"/>
              <a:buChar char="Ø"/>
            </a:pPr>
            <a:r>
              <a:rPr lang="en-IN" sz="2000" b="1" dirty="0">
                <a:latin typeface="Bookman Old Style" panose="02050604050505020204" pitchFamily="18" charset="0"/>
              </a:rPr>
              <a:t>CSI type VFDs</a:t>
            </a:r>
          </a:p>
          <a:p>
            <a:pPr lvl="1">
              <a:lnSpc>
                <a:spcPct val="200000"/>
              </a:lnSpc>
              <a:buFont typeface="Wingdings" panose="05000000000000000000" pitchFamily="2" charset="2"/>
              <a:buChar char="Ø"/>
            </a:pPr>
            <a:r>
              <a:rPr lang="en-IN" sz="2000" b="1" dirty="0">
                <a:latin typeface="Bookman Old Style" panose="02050604050505020204" pitchFamily="18" charset="0"/>
              </a:rPr>
              <a:t>PWM type VFD</a:t>
            </a:r>
          </a:p>
          <a:p>
            <a:endParaRPr lang="en-IN" sz="2000" dirty="0">
              <a:latin typeface="Bookman Old Style" panose="02050604050505020204" pitchFamily="18" charset="0"/>
            </a:endParaRPr>
          </a:p>
        </p:txBody>
      </p:sp>
    </p:spTree>
    <p:extLst>
      <p:ext uri="{BB962C8B-B14F-4D97-AF65-F5344CB8AC3E}">
        <p14:creationId xmlns:p14="http://schemas.microsoft.com/office/powerpoint/2010/main" val="17034840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935B22-864E-E0C7-0C65-DE3D25C8A1BF}"/>
              </a:ext>
            </a:extLst>
          </p:cNvPr>
          <p:cNvSpPr>
            <a:spLocks noGrp="1"/>
          </p:cNvSpPr>
          <p:nvPr>
            <p:ph type="title"/>
          </p:nvPr>
        </p:nvSpPr>
        <p:spPr>
          <a:xfrm>
            <a:off x="199103" y="210175"/>
            <a:ext cx="10515600" cy="1325563"/>
          </a:xfrm>
        </p:spPr>
        <p:txBody>
          <a:bodyPr/>
          <a:lstStyle/>
          <a:p>
            <a:r>
              <a:rPr lang="en-IN" b="1" dirty="0"/>
              <a:t>VSI type VFDs</a:t>
            </a:r>
            <a:endParaRPr lang="en-IN" dirty="0"/>
          </a:p>
        </p:txBody>
      </p:sp>
      <p:pic>
        <p:nvPicPr>
          <p:cNvPr id="4" name="Content Placeholder 3">
            <a:extLst>
              <a:ext uri="{FF2B5EF4-FFF2-40B4-BE49-F238E27FC236}">
                <a16:creationId xmlns:a16="http://schemas.microsoft.com/office/drawing/2014/main" id="{76A52237-1B65-648B-D570-7B75F2FF55C7}"/>
              </a:ext>
            </a:extLst>
          </p:cNvPr>
          <p:cNvPicPr>
            <a:picLocks noGrp="1" noChangeAspect="1"/>
          </p:cNvPicPr>
          <p:nvPr>
            <p:ph idx="1"/>
          </p:nvPr>
        </p:nvPicPr>
        <p:blipFill>
          <a:blip r:embed="rId2"/>
          <a:stretch>
            <a:fillRect/>
          </a:stretch>
        </p:blipFill>
        <p:spPr>
          <a:xfrm>
            <a:off x="4350774" y="840168"/>
            <a:ext cx="7315200" cy="1962150"/>
          </a:xfrm>
          <a:prstGeom prst="rect">
            <a:avLst/>
          </a:prstGeom>
        </p:spPr>
      </p:pic>
      <p:sp>
        <p:nvSpPr>
          <p:cNvPr id="6" name="TextBox 5">
            <a:extLst>
              <a:ext uri="{FF2B5EF4-FFF2-40B4-BE49-F238E27FC236}">
                <a16:creationId xmlns:a16="http://schemas.microsoft.com/office/drawing/2014/main" id="{742E7A5D-987D-1A25-F482-62D60ACDAB18}"/>
              </a:ext>
            </a:extLst>
          </p:cNvPr>
          <p:cNvSpPr txBox="1"/>
          <p:nvPr/>
        </p:nvSpPr>
        <p:spPr>
          <a:xfrm>
            <a:off x="838200" y="2802318"/>
            <a:ext cx="10515599" cy="4062651"/>
          </a:xfrm>
          <a:prstGeom prst="rect">
            <a:avLst/>
          </a:prstGeom>
          <a:noFill/>
        </p:spPr>
        <p:txBody>
          <a:bodyPr wrap="square">
            <a:spAutoFit/>
          </a:bodyPr>
          <a:lstStyle/>
          <a:p>
            <a:pPr algn="just">
              <a:lnSpc>
                <a:spcPct val="150000"/>
              </a:lnSpc>
            </a:pPr>
            <a:r>
              <a:rPr lang="en-US" sz="2000" b="0" i="0" dirty="0">
                <a:solidFill>
                  <a:srgbClr val="2C2F34"/>
                </a:solidFill>
                <a:effectLst/>
                <a:latin typeface="Bookman Old Style" panose="02050604050505020204" pitchFamily="18" charset="0"/>
              </a:rPr>
              <a:t>The VSI or </a:t>
            </a:r>
            <a:r>
              <a:rPr lang="en-US" sz="2000" b="1" i="0" dirty="0">
                <a:solidFill>
                  <a:srgbClr val="2C2F34"/>
                </a:solidFill>
                <a:effectLst/>
                <a:latin typeface="Bookman Old Style" panose="02050604050505020204" pitchFamily="18" charset="0"/>
              </a:rPr>
              <a:t>Voltage Source Inverter</a:t>
            </a:r>
            <a:r>
              <a:rPr lang="en-US" sz="2000" b="0" i="0" dirty="0">
                <a:solidFill>
                  <a:srgbClr val="2C2F34"/>
                </a:solidFill>
                <a:effectLst/>
                <a:latin typeface="Bookman Old Style" panose="02050604050505020204" pitchFamily="18" charset="0"/>
              </a:rPr>
              <a:t> type VFD is the most common type. it </a:t>
            </a:r>
            <a:r>
              <a:rPr lang="en-US" sz="2000" b="0" i="1" dirty="0">
                <a:solidFill>
                  <a:srgbClr val="2C2F34"/>
                </a:solidFill>
                <a:effectLst/>
                <a:latin typeface="Bookman Old Style" panose="02050604050505020204" pitchFamily="18" charset="0"/>
              </a:rPr>
              <a:t>provides a smooth voltage waveform </a:t>
            </a:r>
            <a:r>
              <a:rPr lang="en-US" sz="2000" b="0" i="0" dirty="0">
                <a:solidFill>
                  <a:srgbClr val="2C2F34"/>
                </a:solidFill>
                <a:effectLst/>
                <a:latin typeface="Bookman Old Style" panose="02050604050505020204" pitchFamily="18" charset="0"/>
              </a:rPr>
              <a:t>that </a:t>
            </a:r>
            <a:r>
              <a:rPr lang="en-US" sz="2000" b="0" i="1" dirty="0">
                <a:solidFill>
                  <a:srgbClr val="2C2F34"/>
                </a:solidFill>
                <a:effectLst/>
                <a:latin typeface="Bookman Old Style" panose="02050604050505020204" pitchFamily="18" charset="0"/>
              </a:rPr>
              <a:t>depends on the output frequency</a:t>
            </a:r>
            <a:r>
              <a:rPr lang="en-US" sz="2000" b="0" i="0" dirty="0">
                <a:solidFill>
                  <a:srgbClr val="2C2F34"/>
                </a:solidFill>
                <a:effectLst/>
                <a:latin typeface="Bookman Old Style" panose="02050604050505020204" pitchFamily="18" charset="0"/>
              </a:rPr>
              <a:t>. It has a very simple design including a simple diode rectifier with a capacitor for filtering and storing DC energy. The DC voltage is then converted into AC using an inverter. They offer very good operating speed and control multiple motors.</a:t>
            </a:r>
          </a:p>
          <a:p>
            <a:pPr algn="just">
              <a:lnSpc>
                <a:spcPct val="150000"/>
              </a:lnSpc>
            </a:pPr>
            <a:r>
              <a:rPr lang="en-US" sz="2000" b="0" i="1" dirty="0">
                <a:solidFill>
                  <a:srgbClr val="C00000"/>
                </a:solidFill>
                <a:effectLst/>
                <a:latin typeface="Bookman Old Style" panose="02050604050505020204" pitchFamily="18" charset="0"/>
              </a:rPr>
              <a:t>The drawback of VSI is that they have </a:t>
            </a:r>
            <a:r>
              <a:rPr lang="en-US" sz="2000" b="0" i="1" u="none" strike="noStrike" dirty="0">
                <a:solidFill>
                  <a:srgbClr val="C00000"/>
                </a:solidFill>
                <a:effectLst/>
                <a:latin typeface="Bookman Old Style" panose="02050604050505020204" pitchFamily="18" charset="0"/>
              </a:rPr>
              <a:t>poor power factors</a:t>
            </a:r>
            <a:r>
              <a:rPr lang="en-US" sz="2000" b="0" i="1" dirty="0">
                <a:solidFill>
                  <a:srgbClr val="C00000"/>
                </a:solidFill>
                <a:effectLst/>
                <a:latin typeface="Bookman Old Style" panose="02050604050505020204" pitchFamily="18" charset="0"/>
              </a:rPr>
              <a:t> as well as they cause motor cogging at a low frequency below 6 Hz. Apart from that, they are also non-regenerative i.e. they cannot store the energy flowing back from the motor.</a:t>
            </a:r>
            <a:endParaRPr lang="en-IN" sz="2000" i="1" dirty="0">
              <a:solidFill>
                <a:srgbClr val="C00000"/>
              </a:solidFill>
              <a:latin typeface="Bookman Old Style" panose="02050604050505020204" pitchFamily="18" charset="0"/>
            </a:endParaRPr>
          </a:p>
          <a:p>
            <a:pPr algn="just"/>
            <a:endParaRPr lang="en-IN" dirty="0"/>
          </a:p>
        </p:txBody>
      </p:sp>
    </p:spTree>
    <p:extLst>
      <p:ext uri="{BB962C8B-B14F-4D97-AF65-F5344CB8AC3E}">
        <p14:creationId xmlns:p14="http://schemas.microsoft.com/office/powerpoint/2010/main" val="28246422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4030DFA3-52BA-6C96-6940-CD28E444B039}"/>
              </a:ext>
            </a:extLst>
          </p:cNvPr>
          <p:cNvSpPr>
            <a:spLocks noGrp="1"/>
          </p:cNvSpPr>
          <p:nvPr>
            <p:ph type="body" idx="1"/>
          </p:nvPr>
        </p:nvSpPr>
        <p:spPr>
          <a:xfrm>
            <a:off x="348175" y="422634"/>
            <a:ext cx="5157787" cy="823912"/>
          </a:xfrm>
        </p:spPr>
        <p:txBody>
          <a:bodyPr/>
          <a:lstStyle/>
          <a:p>
            <a:r>
              <a:rPr lang="en-IN" dirty="0"/>
              <a:t>Advantages</a:t>
            </a:r>
          </a:p>
        </p:txBody>
      </p:sp>
      <p:sp>
        <p:nvSpPr>
          <p:cNvPr id="9" name="Content Placeholder 8">
            <a:extLst>
              <a:ext uri="{FF2B5EF4-FFF2-40B4-BE49-F238E27FC236}">
                <a16:creationId xmlns:a16="http://schemas.microsoft.com/office/drawing/2014/main" id="{FEB7777A-E8DF-B13F-839E-1A2C5E9FD3A1}"/>
              </a:ext>
            </a:extLst>
          </p:cNvPr>
          <p:cNvSpPr>
            <a:spLocks noGrp="1"/>
          </p:cNvSpPr>
          <p:nvPr>
            <p:ph sz="half" idx="2"/>
          </p:nvPr>
        </p:nvSpPr>
        <p:spPr>
          <a:xfrm>
            <a:off x="348175" y="1246546"/>
            <a:ext cx="5157787" cy="3684588"/>
          </a:xfrm>
        </p:spPr>
        <p:txBody>
          <a:bodyPr>
            <a:normAutofit fontScale="85000" lnSpcReduction="20000"/>
          </a:bodyPr>
          <a:lstStyle/>
          <a:p>
            <a:pPr>
              <a:lnSpc>
                <a:spcPct val="160000"/>
              </a:lnSpc>
            </a:pPr>
            <a:r>
              <a:rPr lang="en-US" sz="2000" dirty="0">
                <a:latin typeface="Bookman Old Style" panose="02050604050505020204" pitchFamily="18" charset="0"/>
              </a:rPr>
              <a:t>It has a very simple design.</a:t>
            </a:r>
          </a:p>
          <a:p>
            <a:pPr>
              <a:lnSpc>
                <a:spcPct val="160000"/>
              </a:lnSpc>
            </a:pPr>
            <a:r>
              <a:rPr lang="en-US" sz="2000" dirty="0">
                <a:latin typeface="Bookman Old Style" panose="02050604050505020204" pitchFamily="18" charset="0"/>
              </a:rPr>
              <a:t>It is very cheaper and cost-effective.</a:t>
            </a:r>
          </a:p>
          <a:p>
            <a:pPr>
              <a:lnSpc>
                <a:spcPct val="160000"/>
              </a:lnSpc>
            </a:pPr>
            <a:r>
              <a:rPr lang="en-US" sz="2000" dirty="0">
                <a:latin typeface="Bookman Old Style" panose="02050604050505020204" pitchFamily="18" charset="0"/>
              </a:rPr>
              <a:t>It offers a very good operating speed range</a:t>
            </a:r>
          </a:p>
          <a:p>
            <a:pPr>
              <a:lnSpc>
                <a:spcPct val="160000"/>
              </a:lnSpc>
            </a:pPr>
            <a:r>
              <a:rPr lang="en-US" sz="2000" dirty="0">
                <a:latin typeface="Bookman Old Style" panose="02050604050505020204" pitchFamily="18" charset="0"/>
              </a:rPr>
              <a:t>It can control multiple motors.</a:t>
            </a:r>
          </a:p>
          <a:p>
            <a:pPr>
              <a:lnSpc>
                <a:spcPct val="160000"/>
              </a:lnSpc>
            </a:pPr>
            <a:endParaRPr lang="en-IN" sz="2000" dirty="0">
              <a:latin typeface="Bookman Old Style" panose="02050604050505020204" pitchFamily="18" charset="0"/>
            </a:endParaRPr>
          </a:p>
        </p:txBody>
      </p:sp>
      <p:sp>
        <p:nvSpPr>
          <p:cNvPr id="10" name="Text Placeholder 9">
            <a:extLst>
              <a:ext uri="{FF2B5EF4-FFF2-40B4-BE49-F238E27FC236}">
                <a16:creationId xmlns:a16="http://schemas.microsoft.com/office/drawing/2014/main" id="{24467644-2E97-E4C6-BB29-5654889F2087}"/>
              </a:ext>
            </a:extLst>
          </p:cNvPr>
          <p:cNvSpPr>
            <a:spLocks noGrp="1"/>
          </p:cNvSpPr>
          <p:nvPr>
            <p:ph type="body" sz="quarter" idx="3"/>
          </p:nvPr>
        </p:nvSpPr>
        <p:spPr>
          <a:xfrm>
            <a:off x="5680587" y="422634"/>
            <a:ext cx="5183188" cy="823912"/>
          </a:xfrm>
        </p:spPr>
        <p:txBody>
          <a:bodyPr/>
          <a:lstStyle/>
          <a:p>
            <a:r>
              <a:rPr lang="en-IN" dirty="0"/>
              <a:t>Disadvantages</a:t>
            </a:r>
          </a:p>
        </p:txBody>
      </p:sp>
      <p:sp>
        <p:nvSpPr>
          <p:cNvPr id="11" name="Content Placeholder 10">
            <a:extLst>
              <a:ext uri="{FF2B5EF4-FFF2-40B4-BE49-F238E27FC236}">
                <a16:creationId xmlns:a16="http://schemas.microsoft.com/office/drawing/2014/main" id="{B09385E6-D08A-624A-3BB4-440808CE8A1E}"/>
              </a:ext>
            </a:extLst>
          </p:cNvPr>
          <p:cNvSpPr>
            <a:spLocks noGrp="1"/>
          </p:cNvSpPr>
          <p:nvPr>
            <p:ph sz="quarter" idx="4"/>
          </p:nvPr>
        </p:nvSpPr>
        <p:spPr>
          <a:xfrm>
            <a:off x="5680587" y="1246546"/>
            <a:ext cx="5183188" cy="3684588"/>
          </a:xfrm>
        </p:spPr>
        <p:txBody>
          <a:bodyPr>
            <a:normAutofit fontScale="85000" lnSpcReduction="20000"/>
          </a:bodyPr>
          <a:lstStyle/>
          <a:p>
            <a:pPr>
              <a:lnSpc>
                <a:spcPct val="150000"/>
              </a:lnSpc>
            </a:pPr>
            <a:r>
              <a:rPr lang="en-US" sz="2000" dirty="0">
                <a:latin typeface="Bookman Old Style" panose="02050604050505020204" pitchFamily="18" charset="0"/>
              </a:rPr>
              <a:t>It has a very poor power factor, especially at low speed.</a:t>
            </a:r>
          </a:p>
          <a:p>
            <a:pPr>
              <a:lnSpc>
                <a:spcPct val="150000"/>
              </a:lnSpc>
            </a:pPr>
            <a:r>
              <a:rPr lang="en-US" sz="2000" dirty="0">
                <a:latin typeface="Bookman Old Style" panose="02050604050505020204" pitchFamily="18" charset="0"/>
              </a:rPr>
              <a:t>It causes the motor to cog below 6Hz frequency.</a:t>
            </a:r>
          </a:p>
          <a:p>
            <a:pPr>
              <a:lnSpc>
                <a:spcPct val="150000"/>
              </a:lnSpc>
            </a:pPr>
            <a:r>
              <a:rPr lang="en-US" sz="2000" dirty="0">
                <a:latin typeface="Bookman Old Style" panose="02050604050505020204" pitchFamily="18" charset="0"/>
              </a:rPr>
              <a:t>The cogging causes the motor to jerk at starting and stopping.</a:t>
            </a:r>
          </a:p>
          <a:p>
            <a:pPr>
              <a:lnSpc>
                <a:spcPct val="150000"/>
              </a:lnSpc>
            </a:pPr>
            <a:r>
              <a:rPr lang="en-US" sz="2000" dirty="0">
                <a:latin typeface="Bookman Old Style" panose="02050604050505020204" pitchFamily="18" charset="0"/>
              </a:rPr>
              <a:t>Different harmonics are generated at its output.</a:t>
            </a:r>
          </a:p>
          <a:p>
            <a:pPr>
              <a:lnSpc>
                <a:spcPct val="150000"/>
              </a:lnSpc>
            </a:pPr>
            <a:r>
              <a:rPr lang="en-US" sz="2000" dirty="0">
                <a:latin typeface="Bookman Old Style" panose="02050604050505020204" pitchFamily="18" charset="0"/>
              </a:rPr>
              <a:t>They are non-regenerative.</a:t>
            </a:r>
          </a:p>
          <a:p>
            <a:pPr>
              <a:lnSpc>
                <a:spcPct val="150000"/>
              </a:lnSpc>
            </a:pPr>
            <a:endParaRPr lang="en-IN" sz="2000" dirty="0">
              <a:latin typeface="Bookman Old Style" panose="02050604050505020204" pitchFamily="18" charset="0"/>
            </a:endParaRPr>
          </a:p>
        </p:txBody>
      </p:sp>
    </p:spTree>
    <p:extLst>
      <p:ext uri="{BB962C8B-B14F-4D97-AF65-F5344CB8AC3E}">
        <p14:creationId xmlns:p14="http://schemas.microsoft.com/office/powerpoint/2010/main" val="6110294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0D6CB43F-AE64-A7C8-4A5A-103E2E35381C}"/>
              </a:ext>
            </a:extLst>
          </p:cNvPr>
          <p:cNvSpPr>
            <a:spLocks noGrp="1"/>
          </p:cNvSpPr>
          <p:nvPr>
            <p:ph type="title"/>
          </p:nvPr>
        </p:nvSpPr>
        <p:spPr>
          <a:xfrm>
            <a:off x="228600" y="197977"/>
            <a:ext cx="10515600" cy="1325563"/>
          </a:xfrm>
        </p:spPr>
        <p:txBody>
          <a:bodyPr/>
          <a:lstStyle/>
          <a:p>
            <a:r>
              <a:rPr lang="en-IN" b="1" dirty="0"/>
              <a:t>CSI type VFDs</a:t>
            </a:r>
            <a:endParaRPr lang="en-IN" dirty="0"/>
          </a:p>
        </p:txBody>
      </p:sp>
      <p:pic>
        <p:nvPicPr>
          <p:cNvPr id="9" name="Content Placeholder 8">
            <a:extLst>
              <a:ext uri="{FF2B5EF4-FFF2-40B4-BE49-F238E27FC236}">
                <a16:creationId xmlns:a16="http://schemas.microsoft.com/office/drawing/2014/main" id="{485B35BC-C814-DE70-819C-C2C381FA0F36}"/>
              </a:ext>
            </a:extLst>
          </p:cNvPr>
          <p:cNvPicPr>
            <a:picLocks noGrp="1" noChangeAspect="1"/>
          </p:cNvPicPr>
          <p:nvPr>
            <p:ph idx="1"/>
          </p:nvPr>
        </p:nvPicPr>
        <p:blipFill>
          <a:blip r:embed="rId2"/>
          <a:stretch>
            <a:fillRect/>
          </a:stretch>
        </p:blipFill>
        <p:spPr>
          <a:xfrm>
            <a:off x="4321656" y="740799"/>
            <a:ext cx="7315200" cy="2009775"/>
          </a:xfrm>
          <a:prstGeom prst="rect">
            <a:avLst/>
          </a:prstGeom>
        </p:spPr>
      </p:pic>
      <p:sp>
        <p:nvSpPr>
          <p:cNvPr id="11" name="TextBox 10">
            <a:extLst>
              <a:ext uri="{FF2B5EF4-FFF2-40B4-BE49-F238E27FC236}">
                <a16:creationId xmlns:a16="http://schemas.microsoft.com/office/drawing/2014/main" id="{29EBD003-26E0-C7AE-5526-095FE094F35A}"/>
              </a:ext>
            </a:extLst>
          </p:cNvPr>
          <p:cNvSpPr txBox="1"/>
          <p:nvPr/>
        </p:nvSpPr>
        <p:spPr>
          <a:xfrm>
            <a:off x="707780" y="3429000"/>
            <a:ext cx="10646019" cy="2862322"/>
          </a:xfrm>
          <a:prstGeom prst="rect">
            <a:avLst/>
          </a:prstGeom>
          <a:noFill/>
        </p:spPr>
        <p:txBody>
          <a:bodyPr wrap="square">
            <a:spAutoFit/>
          </a:bodyPr>
          <a:lstStyle/>
          <a:p>
            <a:pPr algn="just">
              <a:lnSpc>
                <a:spcPct val="150000"/>
              </a:lnSpc>
            </a:pPr>
            <a:r>
              <a:rPr lang="en-US" b="0" i="0" dirty="0">
                <a:solidFill>
                  <a:srgbClr val="2C2F34"/>
                </a:solidFill>
                <a:effectLst/>
                <a:latin typeface="Bookman Old Style" panose="02050604050505020204" pitchFamily="18" charset="0"/>
              </a:rPr>
              <a:t>CSI or Current Source Inverter type VFD provides a smooth current waveform as opposed to the smooth voltage waveform of the VSI type. It utilizes large inductors and expensive inductors to store and deliver steady DC current.</a:t>
            </a:r>
          </a:p>
          <a:p>
            <a:pPr algn="just">
              <a:lnSpc>
                <a:spcPct val="150000"/>
              </a:lnSpc>
            </a:pPr>
            <a:r>
              <a:rPr lang="en-US" b="0" i="0" dirty="0">
                <a:solidFill>
                  <a:srgbClr val="2C2F34"/>
                </a:solidFill>
                <a:effectLst/>
                <a:latin typeface="Bookman Old Style" panose="02050604050505020204" pitchFamily="18" charset="0"/>
              </a:rPr>
              <a:t>The drawback of VSI is that they have </a:t>
            </a:r>
            <a:r>
              <a:rPr lang="en-US" b="0" i="0" u="none" strike="noStrike" dirty="0">
                <a:solidFill>
                  <a:srgbClr val="0041EE"/>
                </a:solidFill>
                <a:effectLst/>
                <a:latin typeface="Bookman Old Style" panose="02050604050505020204" pitchFamily="18" charset="0"/>
              </a:rPr>
              <a:t>poor power factors</a:t>
            </a:r>
            <a:r>
              <a:rPr lang="en-US" b="0" i="0" dirty="0">
                <a:solidFill>
                  <a:srgbClr val="2C2F34"/>
                </a:solidFill>
                <a:effectLst/>
                <a:latin typeface="Bookman Old Style" panose="02050604050505020204" pitchFamily="18" charset="0"/>
              </a:rPr>
              <a:t> as well as they cause motor cogging at a low frequency below 6 Hz. Apart from that, they are also non-regenerative i.e. they cannot store the energy flowing back from the motor.</a:t>
            </a:r>
            <a:endParaRPr lang="en-IN" dirty="0">
              <a:latin typeface="Bookman Old Style" panose="02050604050505020204" pitchFamily="18" charset="0"/>
            </a:endParaRPr>
          </a:p>
          <a:p>
            <a:endParaRPr lang="en-IN" dirty="0"/>
          </a:p>
        </p:txBody>
      </p:sp>
    </p:spTree>
    <p:extLst>
      <p:ext uri="{BB962C8B-B14F-4D97-AF65-F5344CB8AC3E}">
        <p14:creationId xmlns:p14="http://schemas.microsoft.com/office/powerpoint/2010/main" val="21627081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5EA4FF-F64F-ED30-2502-3BAB1E0DDA20}"/>
            </a:ext>
          </a:extLst>
        </p:cNvPr>
        <p:cNvGrpSpPr/>
        <p:nvPr/>
      </p:nvGrpSpPr>
      <p:grpSpPr>
        <a:xfrm>
          <a:off x="0" y="0"/>
          <a:ext cx="0" cy="0"/>
          <a:chOff x="0" y="0"/>
          <a:chExt cx="0" cy="0"/>
        </a:xfrm>
      </p:grpSpPr>
      <p:sp>
        <p:nvSpPr>
          <p:cNvPr id="8" name="Text Placeholder 7">
            <a:extLst>
              <a:ext uri="{FF2B5EF4-FFF2-40B4-BE49-F238E27FC236}">
                <a16:creationId xmlns:a16="http://schemas.microsoft.com/office/drawing/2014/main" id="{6103885E-0995-4686-2339-9F379C0832F5}"/>
              </a:ext>
            </a:extLst>
          </p:cNvPr>
          <p:cNvSpPr>
            <a:spLocks noGrp="1"/>
          </p:cNvSpPr>
          <p:nvPr>
            <p:ph type="body" idx="1"/>
          </p:nvPr>
        </p:nvSpPr>
        <p:spPr>
          <a:xfrm>
            <a:off x="446497" y="461963"/>
            <a:ext cx="5157787" cy="823912"/>
          </a:xfrm>
        </p:spPr>
        <p:txBody>
          <a:bodyPr>
            <a:normAutofit/>
          </a:bodyPr>
          <a:lstStyle/>
          <a:p>
            <a:r>
              <a:rPr lang="en-IN" sz="2000" dirty="0">
                <a:latin typeface="Bookman Old Style" panose="02050604050505020204" pitchFamily="18" charset="0"/>
              </a:rPr>
              <a:t>Advantages</a:t>
            </a:r>
          </a:p>
        </p:txBody>
      </p:sp>
      <p:sp>
        <p:nvSpPr>
          <p:cNvPr id="9" name="Content Placeholder 8">
            <a:extLst>
              <a:ext uri="{FF2B5EF4-FFF2-40B4-BE49-F238E27FC236}">
                <a16:creationId xmlns:a16="http://schemas.microsoft.com/office/drawing/2014/main" id="{55EC6A85-ADAF-6A97-2AB1-C5579D77993F}"/>
              </a:ext>
            </a:extLst>
          </p:cNvPr>
          <p:cNvSpPr>
            <a:spLocks noGrp="1"/>
          </p:cNvSpPr>
          <p:nvPr>
            <p:ph sz="half" idx="2"/>
          </p:nvPr>
        </p:nvSpPr>
        <p:spPr>
          <a:xfrm>
            <a:off x="446497" y="1285875"/>
            <a:ext cx="5157787" cy="3684588"/>
          </a:xfrm>
        </p:spPr>
        <p:txBody>
          <a:bodyPr>
            <a:normAutofit/>
          </a:bodyPr>
          <a:lstStyle/>
          <a:p>
            <a:r>
              <a:rPr lang="en-US" sz="2000" dirty="0">
                <a:latin typeface="Bookman Old Style" panose="02050604050505020204" pitchFamily="18" charset="0"/>
              </a:rPr>
              <a:t>It has regenerative capabilities to absorb the power coming back from the motor.</a:t>
            </a:r>
          </a:p>
          <a:p>
            <a:r>
              <a:rPr lang="en-US" sz="2000" dirty="0">
                <a:latin typeface="Bookman Old Style" panose="02050604050505020204" pitchFamily="18" charset="0"/>
              </a:rPr>
              <a:t>It acts as a constant current source that supports high-power motors.</a:t>
            </a:r>
          </a:p>
          <a:p>
            <a:r>
              <a:rPr lang="en-US" sz="2000" dirty="0">
                <a:latin typeface="Bookman Old Style" panose="02050604050505020204" pitchFamily="18" charset="0"/>
              </a:rPr>
              <a:t>It has a very simple design.</a:t>
            </a:r>
          </a:p>
          <a:p>
            <a:r>
              <a:rPr lang="en-US" sz="2000" dirty="0">
                <a:latin typeface="Bookman Old Style" panose="02050604050505020204" pitchFamily="18" charset="0"/>
              </a:rPr>
              <a:t>It is more reliable than VSI type VFD.</a:t>
            </a:r>
          </a:p>
        </p:txBody>
      </p:sp>
      <p:sp>
        <p:nvSpPr>
          <p:cNvPr id="10" name="Text Placeholder 9">
            <a:extLst>
              <a:ext uri="{FF2B5EF4-FFF2-40B4-BE49-F238E27FC236}">
                <a16:creationId xmlns:a16="http://schemas.microsoft.com/office/drawing/2014/main" id="{BAD12FBC-F39F-5D3D-F8DA-CF81CDD5E75C}"/>
              </a:ext>
            </a:extLst>
          </p:cNvPr>
          <p:cNvSpPr>
            <a:spLocks noGrp="1"/>
          </p:cNvSpPr>
          <p:nvPr>
            <p:ph type="body" sz="quarter" idx="3"/>
          </p:nvPr>
        </p:nvSpPr>
        <p:spPr>
          <a:xfrm>
            <a:off x="5778909" y="461963"/>
            <a:ext cx="5183188" cy="823912"/>
          </a:xfrm>
        </p:spPr>
        <p:txBody>
          <a:bodyPr>
            <a:normAutofit/>
          </a:bodyPr>
          <a:lstStyle/>
          <a:p>
            <a:r>
              <a:rPr lang="en-IN" sz="2000" dirty="0">
                <a:latin typeface="Bookman Old Style" panose="02050604050505020204" pitchFamily="18" charset="0"/>
              </a:rPr>
              <a:t>Disadvantages</a:t>
            </a:r>
          </a:p>
        </p:txBody>
      </p:sp>
      <p:sp>
        <p:nvSpPr>
          <p:cNvPr id="11" name="Content Placeholder 10">
            <a:extLst>
              <a:ext uri="{FF2B5EF4-FFF2-40B4-BE49-F238E27FC236}">
                <a16:creationId xmlns:a16="http://schemas.microsoft.com/office/drawing/2014/main" id="{4B753D09-F700-93EC-E35C-B5494AB51BE6}"/>
              </a:ext>
            </a:extLst>
          </p:cNvPr>
          <p:cNvSpPr>
            <a:spLocks noGrp="1"/>
          </p:cNvSpPr>
          <p:nvPr>
            <p:ph sz="quarter" idx="4"/>
          </p:nvPr>
        </p:nvSpPr>
        <p:spPr>
          <a:xfrm>
            <a:off x="5778909" y="1285875"/>
            <a:ext cx="5183188" cy="3684588"/>
          </a:xfrm>
        </p:spPr>
        <p:txBody>
          <a:bodyPr>
            <a:normAutofit/>
          </a:bodyPr>
          <a:lstStyle/>
          <a:p>
            <a:r>
              <a:rPr lang="en-US" sz="2000" dirty="0">
                <a:latin typeface="Bookman Old Style" panose="02050604050505020204" pitchFamily="18" charset="0"/>
              </a:rPr>
              <a:t>It has a poor power factor, especially at low speed.</a:t>
            </a:r>
          </a:p>
          <a:p>
            <a:r>
              <a:rPr lang="en-US" sz="2000" dirty="0">
                <a:latin typeface="Bookman Old Style" panose="02050604050505020204" pitchFamily="18" charset="0"/>
              </a:rPr>
              <a:t>The inductors are very large and expensive.</a:t>
            </a:r>
          </a:p>
          <a:p>
            <a:r>
              <a:rPr lang="en-US" sz="2000" dirty="0">
                <a:latin typeface="Bookman Old Style" panose="02050604050505020204" pitchFamily="18" charset="0"/>
              </a:rPr>
              <a:t>Overall CSI VFD is expensive than VSI VFD.</a:t>
            </a:r>
          </a:p>
          <a:p>
            <a:r>
              <a:rPr lang="en-US" sz="2000" dirty="0">
                <a:latin typeface="Bookman Old Style" panose="02050604050505020204" pitchFamily="18" charset="0"/>
              </a:rPr>
              <a:t>It causes cogging effect creates jerks in the motor shaft during starting and stopping.</a:t>
            </a:r>
          </a:p>
          <a:p>
            <a:r>
              <a:rPr lang="en-US" sz="2000" dirty="0">
                <a:latin typeface="Bookman Old Style" panose="02050604050505020204" pitchFamily="18" charset="0"/>
              </a:rPr>
              <a:t>Unlike the VSI type, it cannot run multiple motors at once.</a:t>
            </a:r>
          </a:p>
          <a:p>
            <a:endParaRPr lang="en-US" sz="2000" dirty="0">
              <a:latin typeface="Bookman Old Style" panose="02050604050505020204" pitchFamily="18" charset="0"/>
            </a:endParaRPr>
          </a:p>
        </p:txBody>
      </p:sp>
    </p:spTree>
    <p:extLst>
      <p:ext uri="{BB962C8B-B14F-4D97-AF65-F5344CB8AC3E}">
        <p14:creationId xmlns:p14="http://schemas.microsoft.com/office/powerpoint/2010/main" val="4848272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2CA84-6A5A-EB91-7B0C-AF41A7F5C8E3}"/>
              </a:ext>
            </a:extLst>
          </p:cNvPr>
          <p:cNvSpPr>
            <a:spLocks noGrp="1"/>
          </p:cNvSpPr>
          <p:nvPr>
            <p:ph type="title"/>
          </p:nvPr>
        </p:nvSpPr>
        <p:spPr>
          <a:xfrm>
            <a:off x="189271" y="250407"/>
            <a:ext cx="10515600" cy="1325563"/>
          </a:xfrm>
        </p:spPr>
        <p:txBody>
          <a:bodyPr/>
          <a:lstStyle/>
          <a:p>
            <a:r>
              <a:rPr lang="en-IN" b="1" dirty="0"/>
              <a:t>PWM type VFD</a:t>
            </a:r>
            <a:endParaRPr lang="en-IN" dirty="0"/>
          </a:p>
        </p:txBody>
      </p:sp>
      <p:pic>
        <p:nvPicPr>
          <p:cNvPr id="6" name="Content Placeholder 5">
            <a:extLst>
              <a:ext uri="{FF2B5EF4-FFF2-40B4-BE49-F238E27FC236}">
                <a16:creationId xmlns:a16="http://schemas.microsoft.com/office/drawing/2014/main" id="{BD052E9A-0AEC-2BBF-CA01-A4DE9A5E46FB}"/>
              </a:ext>
            </a:extLst>
          </p:cNvPr>
          <p:cNvPicPr>
            <a:picLocks noGrp="1" noChangeAspect="1"/>
          </p:cNvPicPr>
          <p:nvPr>
            <p:ph idx="1"/>
          </p:nvPr>
        </p:nvPicPr>
        <p:blipFill>
          <a:blip r:embed="rId2"/>
          <a:stretch>
            <a:fillRect/>
          </a:stretch>
        </p:blipFill>
        <p:spPr>
          <a:xfrm>
            <a:off x="6132809" y="703442"/>
            <a:ext cx="5335573" cy="2167577"/>
          </a:xfrm>
          <a:prstGeom prst="rect">
            <a:avLst/>
          </a:prstGeom>
        </p:spPr>
      </p:pic>
      <p:sp>
        <p:nvSpPr>
          <p:cNvPr id="8" name="TextBox 7">
            <a:extLst>
              <a:ext uri="{FF2B5EF4-FFF2-40B4-BE49-F238E27FC236}">
                <a16:creationId xmlns:a16="http://schemas.microsoft.com/office/drawing/2014/main" id="{E55A3582-B251-EF7D-0B23-A85C3FD87109}"/>
              </a:ext>
            </a:extLst>
          </p:cNvPr>
          <p:cNvSpPr txBox="1"/>
          <p:nvPr/>
        </p:nvSpPr>
        <p:spPr>
          <a:xfrm>
            <a:off x="1138886" y="2983522"/>
            <a:ext cx="10329496" cy="3374514"/>
          </a:xfrm>
          <a:prstGeom prst="rect">
            <a:avLst/>
          </a:prstGeom>
          <a:noFill/>
        </p:spPr>
        <p:txBody>
          <a:bodyPr wrap="square">
            <a:spAutoFit/>
          </a:bodyPr>
          <a:lstStyle/>
          <a:p>
            <a:pPr>
              <a:lnSpc>
                <a:spcPct val="150000"/>
              </a:lnSpc>
            </a:pPr>
            <a:r>
              <a:rPr lang="en-US" sz="1600" b="0" i="0" dirty="0">
                <a:solidFill>
                  <a:srgbClr val="2C2F34"/>
                </a:solidFill>
                <a:effectLst/>
                <a:latin typeface="Bookman Old Style" panose="02050604050505020204" pitchFamily="18" charset="0"/>
              </a:rPr>
              <a:t>PWM or Pulse Width Modulation is a technique where the duty cycle of a signal is varied to vary the average power delivered. PWM-based VFD uses fixed DC voltage pulses of different duty cycles to simulate a sinusoidal waveform. It is an improved version of VSI, therefore, it provides stable voltage with an improved power factor.</a:t>
            </a:r>
          </a:p>
          <a:p>
            <a:pPr algn="just">
              <a:lnSpc>
                <a:spcPct val="150000"/>
              </a:lnSpc>
              <a:spcAft>
                <a:spcPts val="1875"/>
              </a:spcAft>
              <a:buNone/>
            </a:pPr>
            <a:r>
              <a:rPr lang="en-US" sz="1600" b="0" i="0" dirty="0">
                <a:solidFill>
                  <a:srgbClr val="2C2F34"/>
                </a:solidFill>
                <a:effectLst/>
                <a:latin typeface="Bookman Old Style" panose="02050604050505020204" pitchFamily="18" charset="0"/>
              </a:rPr>
              <a:t>It has a simple diode bridge rectifier that converts AC into DC. The Control Unit is programmed to control the duty cycle of the inverted output by adjusting the switching speed of the inverter. It also requires an extra regulator at its output to regulate the voltage pulses and provide a smooth </a:t>
            </a:r>
            <a:r>
              <a:rPr lang="en-US" sz="1600" b="0" i="0" u="none" strike="noStrike" dirty="0">
                <a:solidFill>
                  <a:srgbClr val="0041EE"/>
                </a:solidFill>
                <a:effectLst/>
                <a:latin typeface="Bookman Old Style" panose="02050604050505020204" pitchFamily="18" charset="0"/>
              </a:rPr>
              <a:t>voltage and current</a:t>
            </a:r>
            <a:r>
              <a:rPr lang="en-US" sz="1600" b="0" i="0" dirty="0">
                <a:solidFill>
                  <a:srgbClr val="2C2F34"/>
                </a:solidFill>
                <a:effectLst/>
                <a:latin typeface="Bookman Old Style" panose="02050604050505020204" pitchFamily="18" charset="0"/>
              </a:rPr>
              <a:t> waveform. It is the most common method used in VFDs due to its numerous advantages over the VSI and CSI VFD. </a:t>
            </a:r>
            <a:endParaRPr lang="en-IN" sz="1600" dirty="0">
              <a:latin typeface="Bookman Old Style" panose="02050604050505020204" pitchFamily="18" charset="0"/>
            </a:endParaRPr>
          </a:p>
        </p:txBody>
      </p:sp>
    </p:spTree>
    <p:extLst>
      <p:ext uri="{BB962C8B-B14F-4D97-AF65-F5344CB8AC3E}">
        <p14:creationId xmlns:p14="http://schemas.microsoft.com/office/powerpoint/2010/main" val="27671387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D89E4B41-B902-07BD-6A23-5F7B93C86B1D}"/>
              </a:ext>
            </a:extLst>
          </p:cNvPr>
          <p:cNvSpPr>
            <a:spLocks noGrp="1"/>
          </p:cNvSpPr>
          <p:nvPr>
            <p:ph type="body" idx="1"/>
          </p:nvPr>
        </p:nvSpPr>
        <p:spPr>
          <a:xfrm>
            <a:off x="377672" y="432466"/>
            <a:ext cx="5157787" cy="823912"/>
          </a:xfrm>
        </p:spPr>
        <p:txBody>
          <a:bodyPr>
            <a:normAutofit/>
          </a:bodyPr>
          <a:lstStyle/>
          <a:p>
            <a:r>
              <a:rPr lang="en-IN" sz="2000" dirty="0">
                <a:latin typeface="Bookman Old Style" panose="02050604050505020204" pitchFamily="18" charset="0"/>
              </a:rPr>
              <a:t>Advantages</a:t>
            </a:r>
          </a:p>
        </p:txBody>
      </p:sp>
      <p:sp>
        <p:nvSpPr>
          <p:cNvPr id="4" name="Content Placeholder 3">
            <a:extLst>
              <a:ext uri="{FF2B5EF4-FFF2-40B4-BE49-F238E27FC236}">
                <a16:creationId xmlns:a16="http://schemas.microsoft.com/office/drawing/2014/main" id="{96323EC6-0E16-7AF1-9B0A-05A90F0BADF8}"/>
              </a:ext>
            </a:extLst>
          </p:cNvPr>
          <p:cNvSpPr>
            <a:spLocks noGrp="1"/>
          </p:cNvSpPr>
          <p:nvPr>
            <p:ph sz="half" idx="2"/>
          </p:nvPr>
        </p:nvSpPr>
        <p:spPr>
          <a:xfrm>
            <a:off x="377672" y="1256378"/>
            <a:ext cx="5157787" cy="3684588"/>
          </a:xfrm>
        </p:spPr>
        <p:txBody>
          <a:bodyPr>
            <a:normAutofit/>
          </a:bodyPr>
          <a:lstStyle/>
          <a:p>
            <a:r>
              <a:rPr lang="en-US" sz="2000" dirty="0">
                <a:latin typeface="Bookman Old Style" panose="02050604050505020204" pitchFamily="18" charset="0"/>
              </a:rPr>
              <a:t>It has an improved power factor.</a:t>
            </a:r>
          </a:p>
          <a:p>
            <a:r>
              <a:rPr lang="en-US" sz="2000" dirty="0">
                <a:latin typeface="Bookman Old Style" panose="02050604050505020204" pitchFamily="18" charset="0"/>
              </a:rPr>
              <a:t>It does not cause cogging in motors.</a:t>
            </a:r>
          </a:p>
          <a:p>
            <a:r>
              <a:rPr lang="en-US" sz="2000" dirty="0">
                <a:latin typeface="Bookman Old Style" panose="02050604050505020204" pitchFamily="18" charset="0"/>
              </a:rPr>
              <a:t>It has much better efficiency than VSI and CSI.</a:t>
            </a:r>
            <a:endParaRPr lang="en-IN" sz="2000" dirty="0">
              <a:latin typeface="Bookman Old Style" panose="02050604050505020204" pitchFamily="18" charset="0"/>
            </a:endParaRPr>
          </a:p>
        </p:txBody>
      </p:sp>
      <p:sp>
        <p:nvSpPr>
          <p:cNvPr id="5" name="Text Placeholder 4">
            <a:extLst>
              <a:ext uri="{FF2B5EF4-FFF2-40B4-BE49-F238E27FC236}">
                <a16:creationId xmlns:a16="http://schemas.microsoft.com/office/drawing/2014/main" id="{798F5685-5917-7353-2887-98BA7FF07947}"/>
              </a:ext>
            </a:extLst>
          </p:cNvPr>
          <p:cNvSpPr>
            <a:spLocks noGrp="1"/>
          </p:cNvSpPr>
          <p:nvPr>
            <p:ph type="body" sz="quarter" idx="3"/>
          </p:nvPr>
        </p:nvSpPr>
        <p:spPr>
          <a:xfrm>
            <a:off x="5710084" y="432466"/>
            <a:ext cx="5183188" cy="823912"/>
          </a:xfrm>
        </p:spPr>
        <p:txBody>
          <a:bodyPr>
            <a:normAutofit/>
          </a:bodyPr>
          <a:lstStyle/>
          <a:p>
            <a:r>
              <a:rPr lang="en-IN" sz="2000" dirty="0">
                <a:latin typeface="Bookman Old Style" panose="02050604050505020204" pitchFamily="18" charset="0"/>
              </a:rPr>
              <a:t>Disadvantages</a:t>
            </a:r>
          </a:p>
        </p:txBody>
      </p:sp>
      <p:sp>
        <p:nvSpPr>
          <p:cNvPr id="6" name="Content Placeholder 5">
            <a:extLst>
              <a:ext uri="{FF2B5EF4-FFF2-40B4-BE49-F238E27FC236}">
                <a16:creationId xmlns:a16="http://schemas.microsoft.com/office/drawing/2014/main" id="{87B33F1E-6EF2-54CC-60CF-190F79B07831}"/>
              </a:ext>
            </a:extLst>
          </p:cNvPr>
          <p:cNvSpPr>
            <a:spLocks noGrp="1"/>
          </p:cNvSpPr>
          <p:nvPr>
            <p:ph sz="quarter" idx="4"/>
          </p:nvPr>
        </p:nvSpPr>
        <p:spPr>
          <a:xfrm>
            <a:off x="5710084" y="1256378"/>
            <a:ext cx="5183188" cy="3684588"/>
          </a:xfrm>
        </p:spPr>
        <p:txBody>
          <a:bodyPr>
            <a:normAutofit/>
          </a:bodyPr>
          <a:lstStyle/>
          <a:p>
            <a:r>
              <a:rPr lang="en-US" sz="2000" dirty="0">
                <a:latin typeface="Bookman Old Style" panose="02050604050505020204" pitchFamily="18" charset="0"/>
              </a:rPr>
              <a:t>It has a complex design and implementation.</a:t>
            </a:r>
          </a:p>
          <a:p>
            <a:r>
              <a:rPr lang="en-US" sz="2000" dirty="0">
                <a:latin typeface="Bookman Old Style" panose="02050604050505020204" pitchFamily="18" charset="0"/>
              </a:rPr>
              <a:t>It requires an additional hardware circuit, regulator.</a:t>
            </a:r>
          </a:p>
          <a:p>
            <a:r>
              <a:rPr lang="en-US" sz="2000" dirty="0">
                <a:latin typeface="Bookman Old Style" panose="02050604050505020204" pitchFamily="18" charset="0"/>
              </a:rPr>
              <a:t>It is expensive than VSI and CSI.</a:t>
            </a:r>
            <a:endParaRPr lang="en-IN" sz="2000" dirty="0">
              <a:latin typeface="Bookman Old Style" panose="02050604050505020204" pitchFamily="18" charset="0"/>
            </a:endParaRPr>
          </a:p>
        </p:txBody>
      </p:sp>
    </p:spTree>
    <p:extLst>
      <p:ext uri="{BB962C8B-B14F-4D97-AF65-F5344CB8AC3E}">
        <p14:creationId xmlns:p14="http://schemas.microsoft.com/office/powerpoint/2010/main" val="151591541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C45AA2F3-81AB-B57E-97A4-0EEA2C3F79BE}"/>
              </a:ext>
            </a:extLst>
          </p:cNvPr>
          <p:cNvSpPr>
            <a:spLocks noGrp="1"/>
          </p:cNvSpPr>
          <p:nvPr>
            <p:ph type="title"/>
          </p:nvPr>
        </p:nvSpPr>
        <p:spPr/>
        <p:txBody>
          <a:bodyPr/>
          <a:lstStyle/>
          <a:p>
            <a:r>
              <a:rPr lang="en-IN" b="1" dirty="0"/>
              <a:t>Advantages of VFD</a:t>
            </a:r>
            <a:endParaRPr lang="en-IN" dirty="0"/>
          </a:p>
        </p:txBody>
      </p:sp>
      <p:sp>
        <p:nvSpPr>
          <p:cNvPr id="8" name="Content Placeholder 7">
            <a:extLst>
              <a:ext uri="{FF2B5EF4-FFF2-40B4-BE49-F238E27FC236}">
                <a16:creationId xmlns:a16="http://schemas.microsoft.com/office/drawing/2014/main" id="{89D10A78-40BC-695E-AF5E-35EAF12DA439}"/>
              </a:ext>
            </a:extLst>
          </p:cNvPr>
          <p:cNvSpPr>
            <a:spLocks noGrp="1"/>
          </p:cNvSpPr>
          <p:nvPr>
            <p:ph idx="1"/>
          </p:nvPr>
        </p:nvSpPr>
        <p:spPr/>
        <p:txBody>
          <a:bodyPr>
            <a:noAutofit/>
          </a:bodyPr>
          <a:lstStyle/>
          <a:p>
            <a:pPr algn="just"/>
            <a:r>
              <a:rPr lang="en-US" sz="2000" b="1" dirty="0">
                <a:latin typeface="Bookman Old Style" panose="02050604050505020204" pitchFamily="18" charset="0"/>
              </a:rPr>
              <a:t>Improved Efficiency: </a:t>
            </a:r>
            <a:r>
              <a:rPr lang="en-US" sz="2000" dirty="0">
                <a:latin typeface="Bookman Old Style" panose="02050604050505020204" pitchFamily="18" charset="0"/>
              </a:rPr>
              <a:t>The conventional speed control using the variable voltage method wastes a lot of energy as compared to the variable frequency method. Therefore, VFD is used in industries to increase motor efficiency and conserve a great amount of energy.</a:t>
            </a:r>
          </a:p>
          <a:p>
            <a:pPr algn="just"/>
            <a:endParaRPr lang="en-US" sz="2000" dirty="0">
              <a:latin typeface="Bookman Old Style" panose="02050604050505020204" pitchFamily="18" charset="0"/>
            </a:endParaRPr>
          </a:p>
          <a:p>
            <a:pPr algn="just"/>
            <a:r>
              <a:rPr lang="en-US" sz="2000" b="1" dirty="0">
                <a:latin typeface="Bookman Old Style" panose="02050604050505020204" pitchFamily="18" charset="0"/>
              </a:rPr>
              <a:t>Precise Control: </a:t>
            </a:r>
            <a:r>
              <a:rPr lang="en-US" sz="2000" dirty="0">
                <a:latin typeface="Bookman Old Style" panose="02050604050505020204" pitchFamily="18" charset="0"/>
              </a:rPr>
              <a:t>A VFD allows tighter control of the speed using a sensor to run the motor at an efficient speed that does not cause hindrance and increases the production speed in the industries.</a:t>
            </a:r>
          </a:p>
          <a:p>
            <a:pPr algn="just"/>
            <a:endParaRPr lang="en-US" sz="2000" dirty="0">
              <a:latin typeface="Bookman Old Style" panose="02050604050505020204" pitchFamily="18" charset="0"/>
            </a:endParaRPr>
          </a:p>
          <a:p>
            <a:pPr algn="just"/>
            <a:r>
              <a:rPr lang="en-US" sz="2000" b="1" dirty="0">
                <a:latin typeface="Bookman Old Style" panose="02050604050505020204" pitchFamily="18" charset="0"/>
              </a:rPr>
              <a:t>Limits Inrush Current: </a:t>
            </a:r>
            <a:r>
              <a:rPr lang="en-US" sz="2000" dirty="0">
                <a:latin typeface="Bookman Old Style" panose="02050604050505020204" pitchFamily="18" charset="0"/>
              </a:rPr>
              <a:t>Inrush current is the huge starting current drawn by an induction motor during its startup. it is 5 to 8 times greater than its rated current. It can damage the windings of the motor. The VFD can safely limit the starting current and it is used in one of the methods for induction motor starting.</a:t>
            </a:r>
            <a:endParaRPr lang="en-IN" sz="2000" dirty="0">
              <a:latin typeface="Bookman Old Style" panose="02050604050505020204" pitchFamily="18" charset="0"/>
            </a:endParaRPr>
          </a:p>
        </p:txBody>
      </p:sp>
    </p:spTree>
    <p:extLst>
      <p:ext uri="{BB962C8B-B14F-4D97-AF65-F5344CB8AC3E}">
        <p14:creationId xmlns:p14="http://schemas.microsoft.com/office/powerpoint/2010/main" val="36710729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69C9C9F-DD08-7FDD-318C-C4761DDAA11D}"/>
              </a:ext>
            </a:extLst>
          </p:cNvPr>
          <p:cNvSpPr>
            <a:spLocks noGrp="1"/>
          </p:cNvSpPr>
          <p:nvPr>
            <p:ph idx="1"/>
          </p:nvPr>
        </p:nvSpPr>
        <p:spPr/>
        <p:txBody>
          <a:bodyPr>
            <a:normAutofit/>
          </a:bodyPr>
          <a:lstStyle/>
          <a:p>
            <a:r>
              <a:rPr lang="en-US" sz="2000" b="1" dirty="0">
                <a:latin typeface="Bookman Old Style" panose="02050604050505020204" pitchFamily="18" charset="0"/>
              </a:rPr>
              <a:t>Extend Mechanical Life: </a:t>
            </a:r>
            <a:r>
              <a:rPr lang="en-US" sz="2000" dirty="0">
                <a:latin typeface="Bookman Old Style" panose="02050604050505020204" pitchFamily="18" charset="0"/>
              </a:rPr>
              <a:t>It can safely start and stop a motor with a gradual change in speed without any mechanical jerks. It extends the mechanical life of the motor.</a:t>
            </a:r>
          </a:p>
          <a:p>
            <a:endParaRPr lang="en-US" sz="2000" dirty="0">
              <a:latin typeface="Bookman Old Style" panose="02050604050505020204" pitchFamily="18" charset="0"/>
            </a:endParaRPr>
          </a:p>
          <a:p>
            <a:r>
              <a:rPr lang="en-US" sz="2000" b="1" dirty="0">
                <a:latin typeface="Bookman Old Style" panose="02050604050505020204" pitchFamily="18" charset="0"/>
              </a:rPr>
              <a:t>Reduced Maintenance: </a:t>
            </a:r>
            <a:r>
              <a:rPr lang="en-US" sz="2000" dirty="0">
                <a:latin typeface="Bookman Old Style" panose="02050604050505020204" pitchFamily="18" charset="0"/>
              </a:rPr>
              <a:t>Smooth operation of motors reduces the mechanical stress and eliminates the jerks that eventually reduce the maintenance required for such motor. Thus reducing the long-term cost.</a:t>
            </a:r>
          </a:p>
          <a:p>
            <a:endParaRPr lang="en-US" sz="2000" dirty="0">
              <a:latin typeface="Bookman Old Style" panose="02050604050505020204" pitchFamily="18" charset="0"/>
            </a:endParaRPr>
          </a:p>
          <a:p>
            <a:r>
              <a:rPr lang="en-US" sz="2000" b="1" dirty="0">
                <a:latin typeface="Bookman Old Style" panose="02050604050505020204" pitchFamily="18" charset="0"/>
              </a:rPr>
              <a:t>Power Factor: </a:t>
            </a:r>
            <a:r>
              <a:rPr lang="en-US" sz="2000" dirty="0">
                <a:latin typeface="Bookman Old Style" panose="02050604050505020204" pitchFamily="18" charset="0"/>
              </a:rPr>
              <a:t>A poor power factor causes reactive power loss that is the energy wasted in the form of heat. Induction motor usually has a low power factor. A VFD improves the power factor to utilize the power more efficiently.</a:t>
            </a:r>
            <a:endParaRPr lang="en-IN" sz="2000" dirty="0">
              <a:latin typeface="Bookman Old Style" panose="02050604050505020204" pitchFamily="18" charset="0"/>
            </a:endParaRPr>
          </a:p>
        </p:txBody>
      </p:sp>
    </p:spTree>
    <p:extLst>
      <p:ext uri="{BB962C8B-B14F-4D97-AF65-F5344CB8AC3E}">
        <p14:creationId xmlns:p14="http://schemas.microsoft.com/office/powerpoint/2010/main" val="17341511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D7038A-EE14-6B8B-E5A2-AAB110968B5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42BC894-CBD0-B435-C143-40A8D4689C35}"/>
              </a:ext>
            </a:extLst>
          </p:cNvPr>
          <p:cNvSpPr>
            <a:spLocks noGrp="1"/>
          </p:cNvSpPr>
          <p:nvPr>
            <p:ph idx="1"/>
          </p:nvPr>
        </p:nvSpPr>
        <p:spPr/>
        <p:txBody>
          <a:bodyPr>
            <a:normAutofit/>
          </a:bodyPr>
          <a:lstStyle/>
          <a:p>
            <a:pPr algn="just"/>
            <a:r>
              <a:rPr lang="en-US" sz="2000" b="1" dirty="0">
                <a:latin typeface="Bookman Old Style" panose="02050604050505020204" pitchFamily="18" charset="0"/>
              </a:rPr>
              <a:t>Protection: </a:t>
            </a:r>
            <a:r>
              <a:rPr lang="en-US" sz="2000" dirty="0">
                <a:latin typeface="Bookman Old Style" panose="02050604050505020204" pitchFamily="18" charset="0"/>
              </a:rPr>
              <a:t>A VFD can also provide protection against overload, over-voltage and phase loss. It immediately stops the supply current in case of such faults to protect the load connected from damage.</a:t>
            </a:r>
          </a:p>
          <a:p>
            <a:pPr algn="just"/>
            <a:endParaRPr lang="en-US" sz="2000" dirty="0">
              <a:latin typeface="Bookman Old Style" panose="02050604050505020204" pitchFamily="18" charset="0"/>
            </a:endParaRPr>
          </a:p>
          <a:p>
            <a:pPr algn="just"/>
            <a:r>
              <a:rPr lang="en-US" sz="2000" b="1" dirty="0">
                <a:latin typeface="Bookman Old Style" panose="02050604050505020204" pitchFamily="18" charset="0"/>
              </a:rPr>
              <a:t>Easy installation: </a:t>
            </a:r>
            <a:r>
              <a:rPr lang="en-US" sz="2000" dirty="0">
                <a:latin typeface="Bookman Old Style" panose="02050604050505020204" pitchFamily="18" charset="0"/>
              </a:rPr>
              <a:t>They are easier to install and operate since they are programmed during manufacturing with easy to operate and friendly user interface. </a:t>
            </a:r>
            <a:endParaRPr lang="en-IN" sz="2000" dirty="0">
              <a:latin typeface="Bookman Old Style" panose="02050604050505020204" pitchFamily="18" charset="0"/>
            </a:endParaRPr>
          </a:p>
        </p:txBody>
      </p:sp>
    </p:spTree>
    <p:extLst>
      <p:ext uri="{BB962C8B-B14F-4D97-AF65-F5344CB8AC3E}">
        <p14:creationId xmlns:p14="http://schemas.microsoft.com/office/powerpoint/2010/main" val="7799562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50656-806D-E1ED-7A2B-81D0C19E15F5}"/>
              </a:ext>
            </a:extLst>
          </p:cNvPr>
          <p:cNvSpPr>
            <a:spLocks noGrp="1"/>
          </p:cNvSpPr>
          <p:nvPr>
            <p:ph type="title"/>
          </p:nvPr>
        </p:nvSpPr>
        <p:spPr/>
        <p:txBody>
          <a:bodyPr/>
          <a:lstStyle/>
          <a:p>
            <a:r>
              <a:rPr lang="en-IN" b="1" dirty="0"/>
              <a:t>Disadvantages of VFD</a:t>
            </a:r>
            <a:endParaRPr lang="en-IN" dirty="0"/>
          </a:p>
        </p:txBody>
      </p:sp>
      <p:sp>
        <p:nvSpPr>
          <p:cNvPr id="3" name="Content Placeholder 2">
            <a:extLst>
              <a:ext uri="{FF2B5EF4-FFF2-40B4-BE49-F238E27FC236}">
                <a16:creationId xmlns:a16="http://schemas.microsoft.com/office/drawing/2014/main" id="{028F5937-6848-468C-95EB-005C090176A1}"/>
              </a:ext>
            </a:extLst>
          </p:cNvPr>
          <p:cNvSpPr>
            <a:spLocks noGrp="1"/>
          </p:cNvSpPr>
          <p:nvPr>
            <p:ph idx="1"/>
          </p:nvPr>
        </p:nvSpPr>
        <p:spPr/>
        <p:txBody>
          <a:bodyPr>
            <a:normAutofit/>
          </a:bodyPr>
          <a:lstStyle/>
          <a:p>
            <a:pPr algn="just"/>
            <a:r>
              <a:rPr lang="en-US" sz="2000" b="1" dirty="0">
                <a:latin typeface="Bookman Old Style" panose="02050604050505020204" pitchFamily="18" charset="0"/>
              </a:rPr>
              <a:t>Initial Cost: </a:t>
            </a:r>
            <a:r>
              <a:rPr lang="en-US" sz="2000" dirty="0">
                <a:latin typeface="Bookman Old Style" panose="02050604050505020204" pitchFamily="18" charset="0"/>
              </a:rPr>
              <a:t>VFDs are expensive than direct on-line or across the line motor starter. Therefore, the initial cost for the installation of VFDs in a large factory is fairly high. </a:t>
            </a:r>
          </a:p>
          <a:p>
            <a:pPr algn="just"/>
            <a:endParaRPr lang="en-US" sz="2000" dirty="0">
              <a:latin typeface="Bookman Old Style" panose="02050604050505020204" pitchFamily="18" charset="0"/>
            </a:endParaRPr>
          </a:p>
          <a:p>
            <a:pPr algn="just"/>
            <a:r>
              <a:rPr lang="en-US" sz="2000" b="1" dirty="0">
                <a:latin typeface="Bookman Old Style" panose="02050604050505020204" pitchFamily="18" charset="0"/>
              </a:rPr>
              <a:t>Special Motor Design: </a:t>
            </a:r>
            <a:r>
              <a:rPr lang="en-US" sz="2000" dirty="0">
                <a:latin typeface="Bookman Old Style" panose="02050604050505020204" pitchFamily="18" charset="0"/>
              </a:rPr>
              <a:t>The PWM-based AC output of VFD is not pure sinusoid. It can create stress in the windings of a normal AC motor that can heat up and degrade the winding insulation. Therefore, a special motor with improved insulation design rated for PWM inverter is required for running with VFD.</a:t>
            </a:r>
          </a:p>
          <a:p>
            <a:pPr algn="just"/>
            <a:endParaRPr lang="en-US" sz="2000" dirty="0">
              <a:latin typeface="Bookman Old Style" panose="02050604050505020204" pitchFamily="18" charset="0"/>
            </a:endParaRPr>
          </a:p>
          <a:p>
            <a:pPr algn="just"/>
            <a:r>
              <a:rPr lang="en-US" sz="2000" b="1" dirty="0">
                <a:latin typeface="Bookman Old Style" panose="02050604050505020204" pitchFamily="18" charset="0"/>
              </a:rPr>
              <a:t>Harmonics: </a:t>
            </a:r>
            <a:r>
              <a:rPr lang="en-US" sz="2000" dirty="0">
                <a:latin typeface="Bookman Old Style" panose="02050604050505020204" pitchFamily="18" charset="0"/>
              </a:rPr>
              <a:t>The VFD can create harmonic in the supply. The non-linear current draw of the rectifier circuit creates distortion in the supply that affects the electrical equipment connected in parallel. Therefore, it requires extra harmonic filters.</a:t>
            </a:r>
            <a:endParaRPr lang="en-IN" sz="2000" dirty="0">
              <a:latin typeface="Bookman Old Style" panose="02050604050505020204" pitchFamily="18" charset="0"/>
            </a:endParaRPr>
          </a:p>
        </p:txBody>
      </p:sp>
    </p:spTree>
    <p:extLst>
      <p:ext uri="{BB962C8B-B14F-4D97-AF65-F5344CB8AC3E}">
        <p14:creationId xmlns:p14="http://schemas.microsoft.com/office/powerpoint/2010/main" val="121176952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4820D-6090-A1E9-D355-924DEF558E7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32BC9AB-8F46-263C-C564-CCE6B98D06EC}"/>
              </a:ext>
            </a:extLst>
          </p:cNvPr>
          <p:cNvSpPr>
            <a:spLocks noGrp="1"/>
          </p:cNvSpPr>
          <p:nvPr>
            <p:ph idx="1"/>
          </p:nvPr>
        </p:nvSpPr>
        <p:spPr/>
        <p:txBody>
          <a:bodyPr>
            <a:normAutofit/>
          </a:bodyPr>
          <a:lstStyle/>
          <a:p>
            <a:pPr algn="just"/>
            <a:r>
              <a:rPr lang="en-US" sz="2000" b="1" dirty="0">
                <a:latin typeface="Bookman Old Style" panose="02050604050505020204" pitchFamily="18" charset="0"/>
              </a:rPr>
              <a:t>Complex Operation: </a:t>
            </a:r>
            <a:r>
              <a:rPr lang="en-US" sz="2000" dirty="0">
                <a:latin typeface="Bookman Old Style" panose="02050604050505020204" pitchFamily="18" charset="0"/>
              </a:rPr>
              <a:t>As compared to direct on-line DOL or across the line starter, the operation and settings of VFD is complex. Modern VFDs have a more user-friendly interface, but still, it cannot compete with the direct on-line starter simple push-button operation.</a:t>
            </a:r>
          </a:p>
          <a:p>
            <a:pPr algn="just"/>
            <a:endParaRPr lang="en-US" sz="2000" dirty="0">
              <a:latin typeface="Bookman Old Style" panose="02050604050505020204" pitchFamily="18" charset="0"/>
            </a:endParaRPr>
          </a:p>
          <a:p>
            <a:pPr algn="just"/>
            <a:r>
              <a:rPr lang="en-US" sz="2000" b="1" dirty="0">
                <a:latin typeface="Bookman Old Style" panose="02050604050505020204" pitchFamily="18" charset="0"/>
              </a:rPr>
              <a:t>Extreme Environment: </a:t>
            </a:r>
            <a:r>
              <a:rPr lang="en-US" sz="2000" dirty="0">
                <a:latin typeface="Bookman Old Style" panose="02050604050505020204" pitchFamily="18" charset="0"/>
              </a:rPr>
              <a:t>As compared to the DOL starter, the electronic circuitry in VFD is sensitive and its operation is affected by extreme cold or heat. It requires additional measures to cope with such an extreme environment.</a:t>
            </a:r>
            <a:endParaRPr lang="en-IN" sz="2000" dirty="0">
              <a:latin typeface="Bookman Old Style" panose="02050604050505020204" pitchFamily="18" charset="0"/>
            </a:endParaRPr>
          </a:p>
        </p:txBody>
      </p:sp>
    </p:spTree>
    <p:extLst>
      <p:ext uri="{BB962C8B-B14F-4D97-AF65-F5344CB8AC3E}">
        <p14:creationId xmlns:p14="http://schemas.microsoft.com/office/powerpoint/2010/main" val="37088792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BD0DA2-4CC1-B4CB-B520-FE06CA6CA686}"/>
              </a:ext>
            </a:extLst>
          </p:cNvPr>
          <p:cNvSpPr>
            <a:spLocks noGrp="1"/>
          </p:cNvSpPr>
          <p:nvPr>
            <p:ph type="title"/>
          </p:nvPr>
        </p:nvSpPr>
        <p:spPr/>
        <p:txBody>
          <a:bodyPr/>
          <a:lstStyle/>
          <a:p>
            <a:r>
              <a:rPr lang="en-IN" b="1" dirty="0"/>
              <a:t>Application of VFD</a:t>
            </a:r>
            <a:endParaRPr lang="en-IN" dirty="0"/>
          </a:p>
        </p:txBody>
      </p:sp>
      <p:sp>
        <p:nvSpPr>
          <p:cNvPr id="3" name="Content Placeholder 2">
            <a:extLst>
              <a:ext uri="{FF2B5EF4-FFF2-40B4-BE49-F238E27FC236}">
                <a16:creationId xmlns:a16="http://schemas.microsoft.com/office/drawing/2014/main" id="{B281F131-9BE1-8D71-0DCE-EB9701A35964}"/>
              </a:ext>
            </a:extLst>
          </p:cNvPr>
          <p:cNvSpPr>
            <a:spLocks noGrp="1"/>
          </p:cNvSpPr>
          <p:nvPr>
            <p:ph idx="1"/>
          </p:nvPr>
        </p:nvSpPr>
        <p:spPr/>
        <p:txBody>
          <a:bodyPr>
            <a:normAutofit fontScale="92500" lnSpcReduction="10000"/>
          </a:bodyPr>
          <a:lstStyle/>
          <a:p>
            <a:pPr marL="0" indent="0" algn="just">
              <a:buNone/>
            </a:pPr>
            <a:r>
              <a:rPr lang="en-US" sz="2000" dirty="0">
                <a:latin typeface="Bookman Old Style" panose="02050604050505020204" pitchFamily="18" charset="0"/>
              </a:rPr>
              <a:t>Here are some applications of VFD.</a:t>
            </a:r>
          </a:p>
          <a:p>
            <a:pPr algn="just">
              <a:lnSpc>
                <a:spcPct val="150000"/>
              </a:lnSpc>
            </a:pPr>
            <a:r>
              <a:rPr lang="en-US" sz="2000" dirty="0">
                <a:latin typeface="Bookman Old Style" panose="02050604050505020204" pitchFamily="18" charset="0"/>
              </a:rPr>
              <a:t>The variable-frequency feature is used for controlling the speed of induction motor whose speed only depends on frequency.</a:t>
            </a:r>
          </a:p>
          <a:p>
            <a:pPr algn="just">
              <a:lnSpc>
                <a:spcPct val="150000"/>
              </a:lnSpc>
            </a:pPr>
            <a:r>
              <a:rPr lang="en-US" sz="2000" dirty="0">
                <a:latin typeface="Bookman Old Style" panose="02050604050505020204" pitchFamily="18" charset="0"/>
              </a:rPr>
              <a:t>It is used for precise motor speed control with smooth starting and stopping in conveyor belt systems to avoid any accidents and have increased production.</a:t>
            </a:r>
          </a:p>
          <a:p>
            <a:pPr algn="just">
              <a:lnSpc>
                <a:spcPct val="150000"/>
              </a:lnSpc>
            </a:pPr>
            <a:r>
              <a:rPr lang="en-US" sz="2000" dirty="0">
                <a:latin typeface="Bookman Old Style" panose="02050604050505020204" pitchFamily="18" charset="0"/>
              </a:rPr>
              <a:t>The precise speed control is also used in the cooling system to maintain temperature.</a:t>
            </a:r>
          </a:p>
          <a:p>
            <a:pPr algn="just">
              <a:lnSpc>
                <a:spcPct val="150000"/>
              </a:lnSpc>
            </a:pPr>
            <a:r>
              <a:rPr lang="en-US" sz="2000" dirty="0">
                <a:latin typeface="Bookman Old Style" panose="02050604050505020204" pitchFamily="18" charset="0"/>
              </a:rPr>
              <a:t>Lifts and escalators use the smooth start and stop feature of VFD.</a:t>
            </a:r>
          </a:p>
          <a:p>
            <a:pPr algn="just">
              <a:lnSpc>
                <a:spcPct val="150000"/>
              </a:lnSpc>
            </a:pPr>
            <a:r>
              <a:rPr lang="en-US" sz="2000" dirty="0">
                <a:latin typeface="Bookman Old Style" panose="02050604050505020204" pitchFamily="18" charset="0"/>
              </a:rPr>
              <a:t>They are used for water pumps and also for crushers in mining.</a:t>
            </a:r>
          </a:p>
          <a:p>
            <a:pPr algn="just">
              <a:lnSpc>
                <a:spcPct val="150000"/>
              </a:lnSpc>
            </a:pPr>
            <a:r>
              <a:rPr lang="en-US" sz="2000" dirty="0">
                <a:latin typeface="Bookman Old Style" panose="02050604050505020204" pitchFamily="18" charset="0"/>
              </a:rPr>
              <a:t>Hoist and crane use VFD for precise control of speed and positioning.</a:t>
            </a:r>
          </a:p>
          <a:p>
            <a:pPr algn="just"/>
            <a:endParaRPr lang="en-IN" sz="2000" dirty="0">
              <a:latin typeface="Bookman Old Style" panose="02050604050505020204" pitchFamily="18" charset="0"/>
            </a:endParaRPr>
          </a:p>
        </p:txBody>
      </p:sp>
    </p:spTree>
    <p:extLst>
      <p:ext uri="{BB962C8B-B14F-4D97-AF65-F5344CB8AC3E}">
        <p14:creationId xmlns:p14="http://schemas.microsoft.com/office/powerpoint/2010/main" val="29748026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AA1B3-4524-7AA0-0676-C53B4239D04E}"/>
              </a:ext>
            </a:extLst>
          </p:cNvPr>
          <p:cNvSpPr>
            <a:spLocks noGrp="1"/>
          </p:cNvSpPr>
          <p:nvPr>
            <p:ph type="title"/>
          </p:nvPr>
        </p:nvSpPr>
        <p:spPr/>
        <p:txBody>
          <a:bodyPr/>
          <a:lstStyle/>
          <a:p>
            <a:r>
              <a:rPr lang="en-IN" dirty="0"/>
              <a:t>Why Use an Inverter?</a:t>
            </a:r>
          </a:p>
        </p:txBody>
      </p:sp>
      <p:sp>
        <p:nvSpPr>
          <p:cNvPr id="3" name="Content Placeholder 2">
            <a:extLst>
              <a:ext uri="{FF2B5EF4-FFF2-40B4-BE49-F238E27FC236}">
                <a16:creationId xmlns:a16="http://schemas.microsoft.com/office/drawing/2014/main" id="{5EDC7198-82A6-CD19-B461-A6B4E127F3C8}"/>
              </a:ext>
            </a:extLst>
          </p:cNvPr>
          <p:cNvSpPr>
            <a:spLocks noGrp="1"/>
          </p:cNvSpPr>
          <p:nvPr>
            <p:ph idx="1"/>
          </p:nvPr>
        </p:nvSpPr>
        <p:spPr/>
        <p:txBody>
          <a:bodyPr/>
          <a:lstStyle/>
          <a:p>
            <a:r>
              <a:rPr lang="en-US" dirty="0"/>
              <a:t>Energy savings</a:t>
            </a:r>
          </a:p>
          <a:p>
            <a:r>
              <a:rPr lang="en-US" dirty="0"/>
              <a:t>Smooth acceleration and deceleration</a:t>
            </a:r>
          </a:p>
          <a:p>
            <a:r>
              <a:rPr lang="en-US" dirty="0"/>
              <a:t>Reduced mechanical stress</a:t>
            </a:r>
          </a:p>
          <a:p>
            <a:r>
              <a:rPr lang="en-US" dirty="0"/>
              <a:t>Speed control</a:t>
            </a:r>
          </a:p>
          <a:p>
            <a:r>
              <a:rPr lang="en-US" dirty="0"/>
              <a:t>Process optimization</a:t>
            </a:r>
          </a:p>
          <a:p>
            <a:r>
              <a:rPr lang="en-US" dirty="0"/>
              <a:t>Soft start capability</a:t>
            </a:r>
            <a:endParaRPr lang="en-IN" dirty="0"/>
          </a:p>
        </p:txBody>
      </p:sp>
    </p:spTree>
    <p:extLst>
      <p:ext uri="{BB962C8B-B14F-4D97-AF65-F5344CB8AC3E}">
        <p14:creationId xmlns:p14="http://schemas.microsoft.com/office/powerpoint/2010/main" val="273650752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B2141-A995-352A-0FB0-655CC7A56276}"/>
              </a:ext>
            </a:extLst>
          </p:cNvPr>
          <p:cNvSpPr>
            <a:spLocks noGrp="1"/>
          </p:cNvSpPr>
          <p:nvPr>
            <p:ph type="title"/>
          </p:nvPr>
        </p:nvSpPr>
        <p:spPr/>
        <p:txBody>
          <a:bodyPr/>
          <a:lstStyle/>
          <a:p>
            <a:r>
              <a:rPr lang="en-IN" dirty="0"/>
              <a:t>Inverter Selection</a:t>
            </a:r>
          </a:p>
        </p:txBody>
      </p:sp>
      <p:sp>
        <p:nvSpPr>
          <p:cNvPr id="3" name="Content Placeholder 2">
            <a:extLst>
              <a:ext uri="{FF2B5EF4-FFF2-40B4-BE49-F238E27FC236}">
                <a16:creationId xmlns:a16="http://schemas.microsoft.com/office/drawing/2014/main" id="{8570AE72-D698-E5F3-6415-BA1E88F511C1}"/>
              </a:ext>
            </a:extLst>
          </p:cNvPr>
          <p:cNvSpPr>
            <a:spLocks noGrp="1"/>
          </p:cNvSpPr>
          <p:nvPr>
            <p:ph idx="1"/>
          </p:nvPr>
        </p:nvSpPr>
        <p:spPr/>
        <p:txBody>
          <a:bodyPr/>
          <a:lstStyle/>
          <a:p>
            <a:r>
              <a:rPr lang="en-IN" dirty="0"/>
              <a:t>Motor-Based Selection</a:t>
            </a:r>
          </a:p>
          <a:p>
            <a:r>
              <a:rPr lang="en-IN" dirty="0"/>
              <a:t>Load-Based Selection</a:t>
            </a:r>
          </a:p>
          <a:p>
            <a:r>
              <a:rPr lang="en-IN" dirty="0"/>
              <a:t>Environmental Considerations</a:t>
            </a:r>
          </a:p>
          <a:p>
            <a:r>
              <a:rPr lang="en-IN" dirty="0"/>
              <a:t>Overload Capacity</a:t>
            </a:r>
          </a:p>
        </p:txBody>
      </p:sp>
    </p:spTree>
    <p:extLst>
      <p:ext uri="{BB962C8B-B14F-4D97-AF65-F5344CB8AC3E}">
        <p14:creationId xmlns:p14="http://schemas.microsoft.com/office/powerpoint/2010/main" val="30229441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EE7F510-2CE9-80F0-FA95-10523011750D}"/>
              </a:ext>
            </a:extLst>
          </p:cNvPr>
          <p:cNvSpPr>
            <a:spLocks noGrp="1"/>
          </p:cNvSpPr>
          <p:nvPr>
            <p:ph type="title"/>
          </p:nvPr>
        </p:nvSpPr>
        <p:spPr/>
        <p:txBody>
          <a:bodyPr/>
          <a:lstStyle/>
          <a:p>
            <a:endParaRPr lang="en-IN"/>
          </a:p>
        </p:txBody>
      </p:sp>
      <p:sp>
        <p:nvSpPr>
          <p:cNvPr id="5" name="Content Placeholder 4">
            <a:extLst>
              <a:ext uri="{FF2B5EF4-FFF2-40B4-BE49-F238E27FC236}">
                <a16:creationId xmlns:a16="http://schemas.microsoft.com/office/drawing/2014/main" id="{128FB168-67E5-4E5F-B8AF-55F5FEC72B07}"/>
              </a:ext>
            </a:extLst>
          </p:cNvPr>
          <p:cNvSpPr>
            <a:spLocks noGrp="1"/>
          </p:cNvSpPr>
          <p:nvPr>
            <p:ph sz="half" idx="1"/>
          </p:nvPr>
        </p:nvSpPr>
        <p:spPr/>
        <p:txBody>
          <a:bodyPr>
            <a:normAutofit fontScale="85000" lnSpcReduction="20000"/>
          </a:bodyPr>
          <a:lstStyle/>
          <a:p>
            <a:pPr marL="0" indent="0">
              <a:buNone/>
            </a:pPr>
            <a:r>
              <a:rPr lang="en-US" b="1" dirty="0"/>
              <a:t>Motor-Based Selection</a:t>
            </a:r>
          </a:p>
          <a:p>
            <a:pPr marL="0" indent="0">
              <a:buNone/>
            </a:pPr>
            <a:r>
              <a:rPr lang="en-US" dirty="0"/>
              <a:t>Select inverter based on:</a:t>
            </a:r>
          </a:p>
          <a:p>
            <a:r>
              <a:rPr lang="en-US" b="1" dirty="0"/>
              <a:t>Motor Rated Power (kW/HP)</a:t>
            </a:r>
            <a:endParaRPr lang="en-US" dirty="0"/>
          </a:p>
          <a:p>
            <a:r>
              <a:rPr lang="en-US" b="1" dirty="0"/>
              <a:t>Rated Current (Primary selection criterion)</a:t>
            </a:r>
            <a:endParaRPr lang="en-US" dirty="0"/>
          </a:p>
          <a:p>
            <a:r>
              <a:rPr lang="en-US" b="1" dirty="0"/>
              <a:t>Voltage rating</a:t>
            </a:r>
            <a:endParaRPr lang="en-US" dirty="0"/>
          </a:p>
          <a:p>
            <a:r>
              <a:rPr lang="en-US" b="1" dirty="0"/>
              <a:t>Frequency rating</a:t>
            </a:r>
            <a:endParaRPr lang="en-US" dirty="0"/>
          </a:p>
          <a:p>
            <a:r>
              <a:rPr lang="en-US" b="1" dirty="0"/>
              <a:t>Number of phases</a:t>
            </a:r>
            <a:endParaRPr lang="en-US" dirty="0"/>
          </a:p>
          <a:p>
            <a:endParaRPr lang="en-IN" dirty="0"/>
          </a:p>
        </p:txBody>
      </p:sp>
      <p:sp>
        <p:nvSpPr>
          <p:cNvPr id="6" name="Content Placeholder 5">
            <a:extLst>
              <a:ext uri="{FF2B5EF4-FFF2-40B4-BE49-F238E27FC236}">
                <a16:creationId xmlns:a16="http://schemas.microsoft.com/office/drawing/2014/main" id="{2769B327-0844-22D4-F306-B48C0D4D64A8}"/>
              </a:ext>
            </a:extLst>
          </p:cNvPr>
          <p:cNvSpPr>
            <a:spLocks noGrp="1"/>
          </p:cNvSpPr>
          <p:nvPr>
            <p:ph sz="half" idx="2"/>
          </p:nvPr>
        </p:nvSpPr>
        <p:spPr/>
        <p:txBody>
          <a:bodyPr>
            <a:normAutofit fontScale="85000" lnSpcReduction="20000"/>
          </a:bodyPr>
          <a:lstStyle/>
          <a:p>
            <a:pPr marL="0" indent="0">
              <a:buNone/>
            </a:pPr>
            <a:r>
              <a:rPr lang="en-IN" b="1" dirty="0"/>
              <a:t>Load-Based Selection</a:t>
            </a:r>
          </a:p>
          <a:p>
            <a:pPr marL="0" indent="0">
              <a:buNone/>
            </a:pPr>
            <a:r>
              <a:rPr lang="en-IN" b="1" dirty="0"/>
              <a:t>Load Types:</a:t>
            </a:r>
          </a:p>
          <a:p>
            <a:r>
              <a:rPr lang="en-IN" b="1" dirty="0"/>
              <a:t>Constant Torque Load</a:t>
            </a:r>
            <a:endParaRPr lang="en-IN" dirty="0"/>
          </a:p>
          <a:p>
            <a:pPr lvl="1"/>
            <a:r>
              <a:rPr lang="en-IN" dirty="0"/>
              <a:t>Conveyor</a:t>
            </a:r>
          </a:p>
          <a:p>
            <a:pPr lvl="1"/>
            <a:r>
              <a:rPr lang="en-IN" dirty="0"/>
              <a:t>Compressor</a:t>
            </a:r>
          </a:p>
          <a:p>
            <a:pPr lvl="1"/>
            <a:r>
              <a:rPr lang="en-IN" dirty="0"/>
              <a:t>Extruder</a:t>
            </a:r>
          </a:p>
          <a:p>
            <a:r>
              <a:rPr lang="en-IN" b="1" dirty="0"/>
              <a:t>Variable Torque Load</a:t>
            </a:r>
            <a:endParaRPr lang="en-IN" dirty="0"/>
          </a:p>
          <a:p>
            <a:pPr lvl="1"/>
            <a:r>
              <a:rPr lang="en-IN" dirty="0"/>
              <a:t>Fan</a:t>
            </a:r>
          </a:p>
          <a:p>
            <a:pPr lvl="1"/>
            <a:r>
              <a:rPr lang="en-IN" dirty="0"/>
              <a:t>Pump</a:t>
            </a:r>
          </a:p>
          <a:p>
            <a:pPr lvl="1"/>
            <a:r>
              <a:rPr lang="en-IN" dirty="0"/>
              <a:t>Blower</a:t>
            </a:r>
          </a:p>
          <a:p>
            <a:r>
              <a:rPr lang="en-IN" b="1" dirty="0"/>
              <a:t>Constant Power Load</a:t>
            </a:r>
            <a:endParaRPr lang="en-IN" dirty="0"/>
          </a:p>
          <a:p>
            <a:pPr lvl="1"/>
            <a:r>
              <a:rPr lang="en-IN" dirty="0"/>
              <a:t>Winder</a:t>
            </a:r>
          </a:p>
          <a:p>
            <a:pPr lvl="1"/>
            <a:r>
              <a:rPr lang="en-IN" dirty="0"/>
              <a:t>CNC spindle</a:t>
            </a:r>
          </a:p>
          <a:p>
            <a:endParaRPr lang="en-IN" dirty="0"/>
          </a:p>
        </p:txBody>
      </p:sp>
    </p:spTree>
    <p:extLst>
      <p:ext uri="{BB962C8B-B14F-4D97-AF65-F5344CB8AC3E}">
        <p14:creationId xmlns:p14="http://schemas.microsoft.com/office/powerpoint/2010/main" val="30983731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6E40CE-7713-4960-2B84-4C1F2373574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ED6DA55-4391-2481-1C42-6A874E51C863}"/>
              </a:ext>
            </a:extLst>
          </p:cNvPr>
          <p:cNvSpPr>
            <a:spLocks noGrp="1"/>
          </p:cNvSpPr>
          <p:nvPr>
            <p:ph sz="half" idx="1"/>
          </p:nvPr>
        </p:nvSpPr>
        <p:spPr/>
        <p:txBody>
          <a:bodyPr/>
          <a:lstStyle/>
          <a:p>
            <a:pPr marL="0" indent="0">
              <a:buNone/>
            </a:pPr>
            <a:r>
              <a:rPr lang="en-IN" b="1" dirty="0"/>
              <a:t>Environmental Considerations</a:t>
            </a:r>
          </a:p>
          <a:p>
            <a:r>
              <a:rPr lang="en-IN" dirty="0"/>
              <a:t>Ambient temperature</a:t>
            </a:r>
          </a:p>
          <a:p>
            <a:r>
              <a:rPr lang="en-IN" dirty="0"/>
              <a:t>Altitude</a:t>
            </a:r>
          </a:p>
          <a:p>
            <a:r>
              <a:rPr lang="en-IN" dirty="0"/>
              <a:t>Dust/moisture (IP rating)</a:t>
            </a:r>
          </a:p>
          <a:p>
            <a:r>
              <a:rPr lang="en-IN" dirty="0"/>
              <a:t>Enclosure type (IP20, IP54, etc.)</a:t>
            </a:r>
          </a:p>
          <a:p>
            <a:r>
              <a:rPr lang="en-IN" dirty="0"/>
              <a:t>Cooling method</a:t>
            </a:r>
          </a:p>
          <a:p>
            <a:endParaRPr lang="en-IN" dirty="0"/>
          </a:p>
        </p:txBody>
      </p:sp>
      <p:sp>
        <p:nvSpPr>
          <p:cNvPr id="4" name="Content Placeholder 3">
            <a:extLst>
              <a:ext uri="{FF2B5EF4-FFF2-40B4-BE49-F238E27FC236}">
                <a16:creationId xmlns:a16="http://schemas.microsoft.com/office/drawing/2014/main" id="{8BF06F27-5370-5CF7-4D51-6C435102D5FC}"/>
              </a:ext>
            </a:extLst>
          </p:cNvPr>
          <p:cNvSpPr>
            <a:spLocks noGrp="1"/>
          </p:cNvSpPr>
          <p:nvPr>
            <p:ph sz="half" idx="2"/>
          </p:nvPr>
        </p:nvSpPr>
        <p:spPr/>
        <p:txBody>
          <a:bodyPr/>
          <a:lstStyle/>
          <a:p>
            <a:pPr marL="0" indent="0">
              <a:buNone/>
            </a:pPr>
            <a:r>
              <a:rPr lang="en-US" b="1" dirty="0"/>
              <a:t>Overload Capacity</a:t>
            </a:r>
          </a:p>
          <a:p>
            <a:pPr marL="0" indent="0">
              <a:buNone/>
            </a:pPr>
            <a:r>
              <a:rPr lang="en-US" dirty="0"/>
              <a:t>Typical ratings:</a:t>
            </a:r>
          </a:p>
          <a:p>
            <a:r>
              <a:rPr lang="en-US" dirty="0"/>
              <a:t>150% for 60 seconds (Normal duty)</a:t>
            </a:r>
          </a:p>
          <a:p>
            <a:r>
              <a:rPr lang="en-US" dirty="0"/>
              <a:t>200% for 3 seconds (Heavy duty)</a:t>
            </a:r>
          </a:p>
          <a:p>
            <a:endParaRPr lang="en-IN" dirty="0"/>
          </a:p>
        </p:txBody>
      </p:sp>
    </p:spTree>
    <p:extLst>
      <p:ext uri="{BB962C8B-B14F-4D97-AF65-F5344CB8AC3E}">
        <p14:creationId xmlns:p14="http://schemas.microsoft.com/office/powerpoint/2010/main" val="98974241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A0C0C-D50D-D055-3E19-969C038C4031}"/>
              </a:ext>
            </a:extLst>
          </p:cNvPr>
          <p:cNvSpPr>
            <a:spLocks noGrp="1"/>
          </p:cNvSpPr>
          <p:nvPr>
            <p:ph type="title"/>
          </p:nvPr>
        </p:nvSpPr>
        <p:spPr/>
        <p:txBody>
          <a:bodyPr/>
          <a:lstStyle/>
          <a:p>
            <a:r>
              <a:rPr lang="en-IN" dirty="0"/>
              <a:t>Selection of Peripheral Devices</a:t>
            </a:r>
          </a:p>
        </p:txBody>
      </p:sp>
      <p:sp>
        <p:nvSpPr>
          <p:cNvPr id="3" name="Content Placeholder 2">
            <a:extLst>
              <a:ext uri="{FF2B5EF4-FFF2-40B4-BE49-F238E27FC236}">
                <a16:creationId xmlns:a16="http://schemas.microsoft.com/office/drawing/2014/main" id="{80845386-D527-21AF-E609-EAEC442A1486}"/>
              </a:ext>
            </a:extLst>
          </p:cNvPr>
          <p:cNvSpPr>
            <a:spLocks noGrp="1"/>
          </p:cNvSpPr>
          <p:nvPr>
            <p:ph sz="half" idx="1"/>
          </p:nvPr>
        </p:nvSpPr>
        <p:spPr/>
        <p:txBody>
          <a:bodyPr>
            <a:normAutofit lnSpcReduction="10000"/>
          </a:bodyPr>
          <a:lstStyle/>
          <a:p>
            <a:pPr marL="0" indent="0">
              <a:buNone/>
            </a:pPr>
            <a:r>
              <a:rPr lang="en-IN" b="1" dirty="0"/>
              <a:t>Input Side Devices</a:t>
            </a:r>
          </a:p>
          <a:p>
            <a:r>
              <a:rPr lang="en-IN" b="1" dirty="0"/>
              <a:t>MCB/MCCB</a:t>
            </a:r>
            <a:endParaRPr lang="en-IN" dirty="0"/>
          </a:p>
          <a:p>
            <a:pPr lvl="1"/>
            <a:r>
              <a:rPr lang="en-IN" dirty="0"/>
              <a:t>Short circuit protection.</a:t>
            </a:r>
          </a:p>
          <a:p>
            <a:r>
              <a:rPr lang="en-IN" b="1" dirty="0"/>
              <a:t>Contactor</a:t>
            </a:r>
            <a:endParaRPr lang="en-IN" dirty="0"/>
          </a:p>
          <a:p>
            <a:pPr lvl="1"/>
            <a:r>
              <a:rPr lang="en-IN" dirty="0"/>
              <a:t>Isolation.</a:t>
            </a:r>
          </a:p>
          <a:p>
            <a:r>
              <a:rPr lang="en-IN" b="1" dirty="0"/>
              <a:t>Line Reactor</a:t>
            </a:r>
            <a:endParaRPr lang="en-IN" dirty="0"/>
          </a:p>
          <a:p>
            <a:pPr lvl="1"/>
            <a:r>
              <a:rPr lang="en-IN" dirty="0"/>
              <a:t>Reduces harmonics.</a:t>
            </a:r>
          </a:p>
          <a:p>
            <a:r>
              <a:rPr lang="en-IN" b="1" dirty="0"/>
              <a:t>EMI Filter</a:t>
            </a:r>
            <a:endParaRPr lang="en-IN" dirty="0"/>
          </a:p>
          <a:p>
            <a:pPr lvl="1"/>
            <a:r>
              <a:rPr lang="en-IN" dirty="0"/>
              <a:t>Reduces electromagnetic interference.</a:t>
            </a:r>
          </a:p>
          <a:p>
            <a:endParaRPr lang="en-IN" dirty="0"/>
          </a:p>
        </p:txBody>
      </p:sp>
      <p:sp>
        <p:nvSpPr>
          <p:cNvPr id="4" name="Content Placeholder 3">
            <a:extLst>
              <a:ext uri="{FF2B5EF4-FFF2-40B4-BE49-F238E27FC236}">
                <a16:creationId xmlns:a16="http://schemas.microsoft.com/office/drawing/2014/main" id="{1DFF51A7-722E-DAEA-1C5B-6B586A4E6D92}"/>
              </a:ext>
            </a:extLst>
          </p:cNvPr>
          <p:cNvSpPr>
            <a:spLocks noGrp="1"/>
          </p:cNvSpPr>
          <p:nvPr>
            <p:ph sz="half" idx="2"/>
          </p:nvPr>
        </p:nvSpPr>
        <p:spPr/>
        <p:txBody>
          <a:bodyPr>
            <a:normAutofit lnSpcReduction="10000"/>
          </a:bodyPr>
          <a:lstStyle/>
          <a:p>
            <a:pPr marL="0" indent="0">
              <a:buNone/>
            </a:pPr>
            <a:r>
              <a:rPr lang="en-IN" b="1" dirty="0"/>
              <a:t>Output Side Devices</a:t>
            </a:r>
          </a:p>
          <a:p>
            <a:r>
              <a:rPr lang="en-IN" b="1" dirty="0"/>
              <a:t>Output Reactor</a:t>
            </a:r>
            <a:endParaRPr lang="en-IN" dirty="0"/>
          </a:p>
          <a:p>
            <a:pPr lvl="1"/>
            <a:r>
              <a:rPr lang="en-IN" dirty="0"/>
              <a:t>Reduces dv/dt stress.</a:t>
            </a:r>
          </a:p>
          <a:p>
            <a:r>
              <a:rPr lang="en-IN" b="1" dirty="0"/>
              <a:t>Braking Resistor</a:t>
            </a:r>
            <a:endParaRPr lang="en-IN" dirty="0"/>
          </a:p>
          <a:p>
            <a:pPr lvl="1"/>
            <a:r>
              <a:rPr lang="en-IN" dirty="0"/>
              <a:t>Dissipates regenerative energy.</a:t>
            </a:r>
          </a:p>
          <a:p>
            <a:r>
              <a:rPr lang="en-IN" b="1" dirty="0"/>
              <a:t>Dynamic Braking Unit</a:t>
            </a:r>
            <a:endParaRPr lang="en-IN" dirty="0"/>
          </a:p>
          <a:p>
            <a:r>
              <a:rPr lang="en-IN" b="1" dirty="0"/>
              <a:t>Motor Protection Relay</a:t>
            </a:r>
            <a:endParaRPr lang="en-IN" dirty="0"/>
          </a:p>
          <a:p>
            <a:endParaRPr lang="en-IN" dirty="0"/>
          </a:p>
        </p:txBody>
      </p:sp>
    </p:spTree>
    <p:extLst>
      <p:ext uri="{BB962C8B-B14F-4D97-AF65-F5344CB8AC3E}">
        <p14:creationId xmlns:p14="http://schemas.microsoft.com/office/powerpoint/2010/main" val="37722059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BF8BC1-3875-13EF-DC6D-8D5CC1BB29E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455C67A-F24D-8E0F-7D67-EF1C42EBA63C}"/>
              </a:ext>
            </a:extLst>
          </p:cNvPr>
          <p:cNvSpPr>
            <a:spLocks noGrp="1"/>
          </p:cNvSpPr>
          <p:nvPr>
            <p:ph sz="half" idx="1"/>
          </p:nvPr>
        </p:nvSpPr>
        <p:spPr/>
        <p:txBody>
          <a:bodyPr/>
          <a:lstStyle/>
          <a:p>
            <a:pPr marL="0" indent="0">
              <a:buNone/>
            </a:pPr>
            <a:r>
              <a:rPr lang="en-IN" b="1" dirty="0"/>
              <a:t>Control Side Devices</a:t>
            </a:r>
          </a:p>
          <a:p>
            <a:r>
              <a:rPr lang="en-IN" dirty="0"/>
              <a:t>Push buttons</a:t>
            </a:r>
          </a:p>
          <a:p>
            <a:r>
              <a:rPr lang="en-IN" dirty="0"/>
              <a:t>Selector switches</a:t>
            </a:r>
          </a:p>
          <a:p>
            <a:r>
              <a:rPr lang="en-IN" dirty="0"/>
              <a:t>Potentiometer (Speed control)</a:t>
            </a:r>
          </a:p>
          <a:p>
            <a:r>
              <a:rPr lang="en-IN" dirty="0"/>
              <a:t>PLC</a:t>
            </a:r>
          </a:p>
          <a:p>
            <a:r>
              <a:rPr lang="en-IN" dirty="0"/>
              <a:t>HMI</a:t>
            </a:r>
          </a:p>
          <a:p>
            <a:r>
              <a:rPr lang="en-IN" dirty="0"/>
              <a:t>Encoder (for feedback control)</a:t>
            </a:r>
          </a:p>
          <a:p>
            <a:endParaRPr lang="en-IN" dirty="0"/>
          </a:p>
        </p:txBody>
      </p:sp>
      <p:sp>
        <p:nvSpPr>
          <p:cNvPr id="4" name="Content Placeholder 3">
            <a:extLst>
              <a:ext uri="{FF2B5EF4-FFF2-40B4-BE49-F238E27FC236}">
                <a16:creationId xmlns:a16="http://schemas.microsoft.com/office/drawing/2014/main" id="{7686439F-CF2F-9033-660D-076C9953EBF7}"/>
              </a:ext>
            </a:extLst>
          </p:cNvPr>
          <p:cNvSpPr>
            <a:spLocks noGrp="1"/>
          </p:cNvSpPr>
          <p:nvPr>
            <p:ph sz="half" idx="2"/>
          </p:nvPr>
        </p:nvSpPr>
        <p:spPr/>
        <p:txBody>
          <a:bodyPr/>
          <a:lstStyle/>
          <a:p>
            <a:endParaRPr lang="en-IN"/>
          </a:p>
        </p:txBody>
      </p:sp>
    </p:spTree>
    <p:extLst>
      <p:ext uri="{BB962C8B-B14F-4D97-AF65-F5344CB8AC3E}">
        <p14:creationId xmlns:p14="http://schemas.microsoft.com/office/powerpoint/2010/main" val="4898408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D2B4C8-4171-6C90-4A37-583C2A9ABC9D}"/>
              </a:ext>
            </a:extLst>
          </p:cNvPr>
          <p:cNvSpPr>
            <a:spLocks noGrp="1"/>
          </p:cNvSpPr>
          <p:nvPr>
            <p:ph type="title"/>
          </p:nvPr>
        </p:nvSpPr>
        <p:spPr/>
        <p:txBody>
          <a:bodyPr/>
          <a:lstStyle/>
          <a:p>
            <a:r>
              <a:rPr lang="en-US" dirty="0"/>
              <a:t>Motor Types Used with Inverters</a:t>
            </a:r>
            <a:endParaRPr lang="en-IN" dirty="0"/>
          </a:p>
        </p:txBody>
      </p:sp>
      <p:sp>
        <p:nvSpPr>
          <p:cNvPr id="3" name="Content Placeholder 2">
            <a:extLst>
              <a:ext uri="{FF2B5EF4-FFF2-40B4-BE49-F238E27FC236}">
                <a16:creationId xmlns:a16="http://schemas.microsoft.com/office/drawing/2014/main" id="{143600FD-2A85-4361-D15E-96BB3DE0650E}"/>
              </a:ext>
            </a:extLst>
          </p:cNvPr>
          <p:cNvSpPr>
            <a:spLocks noGrp="1"/>
          </p:cNvSpPr>
          <p:nvPr>
            <p:ph sz="half" idx="1"/>
          </p:nvPr>
        </p:nvSpPr>
        <p:spPr/>
        <p:txBody>
          <a:bodyPr/>
          <a:lstStyle/>
          <a:p>
            <a:pPr marL="0" indent="0">
              <a:buNone/>
            </a:pPr>
            <a:r>
              <a:rPr lang="en-US" b="1" dirty="0"/>
              <a:t>Induction Motor (Most Common)</a:t>
            </a:r>
          </a:p>
          <a:p>
            <a:r>
              <a:rPr lang="en-US" dirty="0"/>
              <a:t>Squirrel cage motor</a:t>
            </a:r>
          </a:p>
          <a:p>
            <a:r>
              <a:rPr lang="en-US" dirty="0"/>
              <a:t>Robust and economical</a:t>
            </a:r>
          </a:p>
          <a:p>
            <a:r>
              <a:rPr lang="en-US" dirty="0"/>
              <a:t>Suitable for scalar control (V/f)</a:t>
            </a:r>
          </a:p>
          <a:p>
            <a:endParaRPr lang="en-IN" dirty="0"/>
          </a:p>
        </p:txBody>
      </p:sp>
      <p:sp>
        <p:nvSpPr>
          <p:cNvPr id="4" name="Content Placeholder 3">
            <a:extLst>
              <a:ext uri="{FF2B5EF4-FFF2-40B4-BE49-F238E27FC236}">
                <a16:creationId xmlns:a16="http://schemas.microsoft.com/office/drawing/2014/main" id="{C09C550C-1820-1339-CF72-B7E4A1712D2E}"/>
              </a:ext>
            </a:extLst>
          </p:cNvPr>
          <p:cNvSpPr>
            <a:spLocks noGrp="1"/>
          </p:cNvSpPr>
          <p:nvPr>
            <p:ph sz="half" idx="2"/>
          </p:nvPr>
        </p:nvSpPr>
        <p:spPr/>
        <p:txBody>
          <a:bodyPr/>
          <a:lstStyle/>
          <a:p>
            <a:pPr marL="0" indent="0">
              <a:buNone/>
            </a:pPr>
            <a:r>
              <a:rPr lang="en-US" b="1" dirty="0"/>
              <a:t>Permanent Magnet Synchronous Motor (PMSM)</a:t>
            </a:r>
          </a:p>
          <a:p>
            <a:r>
              <a:rPr lang="en-US" dirty="0"/>
              <a:t>High efficiency</a:t>
            </a:r>
          </a:p>
          <a:p>
            <a:r>
              <a:rPr lang="en-US" dirty="0"/>
              <a:t>Used in servo systems</a:t>
            </a:r>
          </a:p>
          <a:p>
            <a:r>
              <a:rPr lang="en-US" dirty="0"/>
              <a:t>Requires vector control</a:t>
            </a:r>
          </a:p>
          <a:p>
            <a:endParaRPr lang="en-IN" dirty="0"/>
          </a:p>
        </p:txBody>
      </p:sp>
    </p:spTree>
    <p:extLst>
      <p:ext uri="{BB962C8B-B14F-4D97-AF65-F5344CB8AC3E}">
        <p14:creationId xmlns:p14="http://schemas.microsoft.com/office/powerpoint/2010/main" val="280163413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9A732-5982-0651-D82E-E165C8283D1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D107C18-91FC-F02B-7A2B-1E9DF78F1ECD}"/>
              </a:ext>
            </a:extLst>
          </p:cNvPr>
          <p:cNvSpPr>
            <a:spLocks noGrp="1"/>
          </p:cNvSpPr>
          <p:nvPr>
            <p:ph sz="half" idx="1"/>
          </p:nvPr>
        </p:nvSpPr>
        <p:spPr/>
        <p:txBody>
          <a:bodyPr/>
          <a:lstStyle/>
          <a:p>
            <a:pPr marL="0" indent="0">
              <a:buNone/>
            </a:pPr>
            <a:r>
              <a:rPr lang="en-US" b="1" dirty="0"/>
              <a:t>Synchronous Motor</a:t>
            </a:r>
          </a:p>
          <a:p>
            <a:r>
              <a:rPr lang="en-US" dirty="0"/>
              <a:t>Precise speed control</a:t>
            </a:r>
          </a:p>
          <a:p>
            <a:r>
              <a:rPr lang="en-US" dirty="0"/>
              <a:t>Power factor correction capability</a:t>
            </a:r>
          </a:p>
          <a:p>
            <a:endParaRPr lang="en-IN" dirty="0"/>
          </a:p>
        </p:txBody>
      </p:sp>
      <p:sp>
        <p:nvSpPr>
          <p:cNvPr id="4" name="Content Placeholder 3">
            <a:extLst>
              <a:ext uri="{FF2B5EF4-FFF2-40B4-BE49-F238E27FC236}">
                <a16:creationId xmlns:a16="http://schemas.microsoft.com/office/drawing/2014/main" id="{A1F95A16-6F0F-AF2C-3ECC-BF42F17E94CD}"/>
              </a:ext>
            </a:extLst>
          </p:cNvPr>
          <p:cNvSpPr>
            <a:spLocks noGrp="1"/>
          </p:cNvSpPr>
          <p:nvPr>
            <p:ph sz="half" idx="2"/>
          </p:nvPr>
        </p:nvSpPr>
        <p:spPr/>
        <p:txBody>
          <a:bodyPr/>
          <a:lstStyle/>
          <a:p>
            <a:pPr marL="0" indent="0">
              <a:buNone/>
            </a:pPr>
            <a:r>
              <a:rPr lang="en-IN" b="1" dirty="0"/>
              <a:t>Special Motors</a:t>
            </a:r>
          </a:p>
          <a:p>
            <a:r>
              <a:rPr lang="en-IN" dirty="0"/>
              <a:t>Servo motor</a:t>
            </a:r>
          </a:p>
          <a:p>
            <a:r>
              <a:rPr lang="en-IN" dirty="0"/>
              <a:t>Spindle motor</a:t>
            </a:r>
          </a:p>
          <a:p>
            <a:r>
              <a:rPr lang="en-IN" dirty="0"/>
              <a:t>BLDC motor</a:t>
            </a:r>
          </a:p>
          <a:p>
            <a:endParaRPr lang="en-IN" dirty="0"/>
          </a:p>
        </p:txBody>
      </p:sp>
    </p:spTree>
    <p:extLst>
      <p:ext uri="{BB962C8B-B14F-4D97-AF65-F5344CB8AC3E}">
        <p14:creationId xmlns:p14="http://schemas.microsoft.com/office/powerpoint/2010/main" val="22194642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9A9EAC-F491-D8C9-EF6F-421965F9B555}"/>
              </a:ext>
            </a:extLst>
          </p:cNvPr>
          <p:cNvSpPr>
            <a:spLocks noGrp="1"/>
          </p:cNvSpPr>
          <p:nvPr>
            <p:ph type="title"/>
          </p:nvPr>
        </p:nvSpPr>
        <p:spPr/>
        <p:txBody>
          <a:bodyPr/>
          <a:lstStyle/>
          <a:p>
            <a:r>
              <a:rPr lang="en-IN" dirty="0"/>
              <a:t>Power and Signal Connections</a:t>
            </a:r>
          </a:p>
        </p:txBody>
      </p:sp>
      <p:sp>
        <p:nvSpPr>
          <p:cNvPr id="3" name="Content Placeholder 2">
            <a:extLst>
              <a:ext uri="{FF2B5EF4-FFF2-40B4-BE49-F238E27FC236}">
                <a16:creationId xmlns:a16="http://schemas.microsoft.com/office/drawing/2014/main" id="{2685724A-E7AC-33BF-BB81-FDF694A79515}"/>
              </a:ext>
            </a:extLst>
          </p:cNvPr>
          <p:cNvSpPr>
            <a:spLocks noGrp="1"/>
          </p:cNvSpPr>
          <p:nvPr>
            <p:ph sz="half" idx="1"/>
          </p:nvPr>
        </p:nvSpPr>
        <p:spPr/>
        <p:txBody>
          <a:bodyPr/>
          <a:lstStyle/>
          <a:p>
            <a:pPr marL="0" indent="0">
              <a:buNone/>
            </a:pPr>
            <a:r>
              <a:rPr lang="en-US" b="1" dirty="0"/>
              <a:t>Power Connections</a:t>
            </a:r>
          </a:p>
          <a:p>
            <a:pPr marL="0" indent="0">
              <a:buNone/>
            </a:pPr>
            <a:r>
              <a:rPr lang="en-US" b="1" dirty="0"/>
              <a:t>Input Terminals:</a:t>
            </a:r>
          </a:p>
          <a:p>
            <a:r>
              <a:rPr lang="en-US" dirty="0"/>
              <a:t>R, Y, B (3-phase)</a:t>
            </a:r>
          </a:p>
          <a:p>
            <a:r>
              <a:rPr lang="en-US" dirty="0"/>
              <a:t>L, N (single phase)</a:t>
            </a:r>
          </a:p>
          <a:p>
            <a:pPr marL="0" indent="0">
              <a:buNone/>
            </a:pPr>
            <a:r>
              <a:rPr lang="en-US" b="1" dirty="0"/>
              <a:t>Output Terminals:</a:t>
            </a:r>
          </a:p>
          <a:p>
            <a:r>
              <a:rPr lang="en-US" dirty="0"/>
              <a:t>U, V, W (to motor)</a:t>
            </a:r>
          </a:p>
          <a:p>
            <a:pPr marL="0" indent="0">
              <a:buNone/>
            </a:pPr>
            <a:r>
              <a:rPr lang="en-US" b="1" dirty="0"/>
              <a:t>Ground:</a:t>
            </a:r>
          </a:p>
          <a:p>
            <a:r>
              <a:rPr lang="en-US" dirty="0"/>
              <a:t>Earth terminal mandatory</a:t>
            </a:r>
          </a:p>
          <a:p>
            <a:endParaRPr lang="en-IN" dirty="0"/>
          </a:p>
        </p:txBody>
      </p:sp>
      <p:sp>
        <p:nvSpPr>
          <p:cNvPr id="4" name="Content Placeholder 3">
            <a:extLst>
              <a:ext uri="{FF2B5EF4-FFF2-40B4-BE49-F238E27FC236}">
                <a16:creationId xmlns:a16="http://schemas.microsoft.com/office/drawing/2014/main" id="{31CFA6C4-BEB7-E66F-1331-FA6D8BE03412}"/>
              </a:ext>
            </a:extLst>
          </p:cNvPr>
          <p:cNvSpPr>
            <a:spLocks noGrp="1"/>
          </p:cNvSpPr>
          <p:nvPr>
            <p:ph sz="half" idx="2"/>
          </p:nvPr>
        </p:nvSpPr>
        <p:spPr/>
        <p:txBody>
          <a:bodyPr/>
          <a:lstStyle/>
          <a:p>
            <a:pPr marL="0" indent="0">
              <a:buNone/>
            </a:pPr>
            <a:r>
              <a:rPr lang="en-IN" b="1" dirty="0"/>
              <a:t>Control (Signal) Connections</a:t>
            </a:r>
          </a:p>
          <a:p>
            <a:r>
              <a:rPr lang="en-IN" dirty="0"/>
              <a:t>Digital Inputs (DI)</a:t>
            </a:r>
          </a:p>
          <a:p>
            <a:r>
              <a:rPr lang="en-IN" dirty="0"/>
              <a:t>Analog Inputs (AI)</a:t>
            </a:r>
          </a:p>
          <a:p>
            <a:r>
              <a:rPr lang="en-IN" dirty="0"/>
              <a:t>Digital Outputs (DO)</a:t>
            </a:r>
          </a:p>
          <a:p>
            <a:r>
              <a:rPr lang="en-IN" dirty="0"/>
              <a:t>Analog Outputs (AO)</a:t>
            </a:r>
          </a:p>
          <a:p>
            <a:r>
              <a:rPr lang="en-IN" dirty="0"/>
              <a:t>Communication Ports (RS-485, Modbus)</a:t>
            </a:r>
          </a:p>
          <a:p>
            <a:endParaRPr lang="en-IN" dirty="0"/>
          </a:p>
        </p:txBody>
      </p:sp>
    </p:spTree>
    <p:extLst>
      <p:ext uri="{BB962C8B-B14F-4D97-AF65-F5344CB8AC3E}">
        <p14:creationId xmlns:p14="http://schemas.microsoft.com/office/powerpoint/2010/main" val="298781248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CEDFA-3F4B-1171-1546-E185F2622C1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6438BA3-141F-77A6-E5F3-021F26560F26}"/>
              </a:ext>
            </a:extLst>
          </p:cNvPr>
          <p:cNvSpPr>
            <a:spLocks noGrp="1"/>
          </p:cNvSpPr>
          <p:nvPr>
            <p:ph sz="half" idx="1"/>
          </p:nvPr>
        </p:nvSpPr>
        <p:spPr/>
        <p:txBody>
          <a:bodyPr/>
          <a:lstStyle/>
          <a:p>
            <a:pPr marL="0" indent="0">
              <a:buNone/>
            </a:pPr>
            <a:r>
              <a:rPr lang="en-US" b="1" dirty="0"/>
              <a:t>Analog Speed Control Example:</a:t>
            </a:r>
          </a:p>
          <a:p>
            <a:r>
              <a:rPr lang="en-US" dirty="0"/>
              <a:t>0–10 V → Speed reference</a:t>
            </a:r>
          </a:p>
          <a:p>
            <a:r>
              <a:rPr lang="en-US" dirty="0"/>
              <a:t>4–20 mA → Industrial control standard</a:t>
            </a:r>
          </a:p>
          <a:p>
            <a:endParaRPr lang="en-IN" dirty="0"/>
          </a:p>
        </p:txBody>
      </p:sp>
      <p:sp>
        <p:nvSpPr>
          <p:cNvPr id="4" name="Content Placeholder 3">
            <a:extLst>
              <a:ext uri="{FF2B5EF4-FFF2-40B4-BE49-F238E27FC236}">
                <a16:creationId xmlns:a16="http://schemas.microsoft.com/office/drawing/2014/main" id="{E6EBFA7F-143E-0387-5EAB-55C6712D7FC9}"/>
              </a:ext>
            </a:extLst>
          </p:cNvPr>
          <p:cNvSpPr>
            <a:spLocks noGrp="1"/>
          </p:cNvSpPr>
          <p:nvPr>
            <p:ph sz="half" idx="2"/>
          </p:nvPr>
        </p:nvSpPr>
        <p:spPr/>
        <p:txBody>
          <a:bodyPr/>
          <a:lstStyle/>
          <a:p>
            <a:endParaRPr lang="en-IN"/>
          </a:p>
        </p:txBody>
      </p:sp>
    </p:spTree>
    <p:extLst>
      <p:ext uri="{BB962C8B-B14F-4D97-AF65-F5344CB8AC3E}">
        <p14:creationId xmlns:p14="http://schemas.microsoft.com/office/powerpoint/2010/main" val="35248283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497F2-09CF-7360-09EA-E561B5741FB4}"/>
              </a:ext>
            </a:extLst>
          </p:cNvPr>
          <p:cNvSpPr>
            <a:spLocks noGrp="1"/>
          </p:cNvSpPr>
          <p:nvPr>
            <p:ph type="title"/>
          </p:nvPr>
        </p:nvSpPr>
        <p:spPr/>
        <p:txBody>
          <a:bodyPr/>
          <a:lstStyle/>
          <a:p>
            <a:r>
              <a:rPr lang="en-IN" dirty="0"/>
              <a:t>Important Parameters of Inverter</a:t>
            </a:r>
          </a:p>
        </p:txBody>
      </p:sp>
      <p:sp>
        <p:nvSpPr>
          <p:cNvPr id="3" name="Content Placeholder 2">
            <a:extLst>
              <a:ext uri="{FF2B5EF4-FFF2-40B4-BE49-F238E27FC236}">
                <a16:creationId xmlns:a16="http://schemas.microsoft.com/office/drawing/2014/main" id="{695C1F15-628A-7410-8FF1-4AB921219285}"/>
              </a:ext>
            </a:extLst>
          </p:cNvPr>
          <p:cNvSpPr>
            <a:spLocks noGrp="1"/>
          </p:cNvSpPr>
          <p:nvPr>
            <p:ph sz="half" idx="1"/>
          </p:nvPr>
        </p:nvSpPr>
        <p:spPr/>
        <p:txBody>
          <a:bodyPr>
            <a:normAutofit lnSpcReduction="10000"/>
          </a:bodyPr>
          <a:lstStyle/>
          <a:p>
            <a:pPr marL="0" indent="0">
              <a:buNone/>
            </a:pPr>
            <a:r>
              <a:rPr lang="en-US" b="1" dirty="0"/>
              <a:t>Basic Parameters</a:t>
            </a:r>
          </a:p>
          <a:p>
            <a:r>
              <a:rPr lang="en-US" dirty="0"/>
              <a:t>Motor rated voltage</a:t>
            </a:r>
          </a:p>
          <a:p>
            <a:r>
              <a:rPr lang="en-US" dirty="0"/>
              <a:t>Motor rated current</a:t>
            </a:r>
          </a:p>
          <a:p>
            <a:r>
              <a:rPr lang="en-US" dirty="0"/>
              <a:t>Motor rated frequency</a:t>
            </a:r>
          </a:p>
          <a:p>
            <a:r>
              <a:rPr lang="en-US" dirty="0"/>
              <a:t>Motor rated speed</a:t>
            </a:r>
          </a:p>
          <a:p>
            <a:r>
              <a:rPr lang="en-US" dirty="0"/>
              <a:t>Acceleration time</a:t>
            </a:r>
          </a:p>
          <a:p>
            <a:r>
              <a:rPr lang="en-US" dirty="0"/>
              <a:t>Deceleration time</a:t>
            </a:r>
          </a:p>
          <a:p>
            <a:r>
              <a:rPr lang="en-US" dirty="0"/>
              <a:t>Maximum frequency</a:t>
            </a:r>
          </a:p>
          <a:p>
            <a:r>
              <a:rPr lang="en-US" dirty="0"/>
              <a:t>Minimum frequency</a:t>
            </a:r>
          </a:p>
          <a:p>
            <a:endParaRPr lang="en-IN" dirty="0"/>
          </a:p>
        </p:txBody>
      </p:sp>
      <p:sp>
        <p:nvSpPr>
          <p:cNvPr id="4" name="Content Placeholder 3">
            <a:extLst>
              <a:ext uri="{FF2B5EF4-FFF2-40B4-BE49-F238E27FC236}">
                <a16:creationId xmlns:a16="http://schemas.microsoft.com/office/drawing/2014/main" id="{750ED0DC-2215-9980-0988-860260CC2958}"/>
              </a:ext>
            </a:extLst>
          </p:cNvPr>
          <p:cNvSpPr>
            <a:spLocks noGrp="1"/>
          </p:cNvSpPr>
          <p:nvPr>
            <p:ph sz="half" idx="2"/>
          </p:nvPr>
        </p:nvSpPr>
        <p:spPr/>
        <p:txBody>
          <a:bodyPr>
            <a:normAutofit lnSpcReduction="10000"/>
          </a:bodyPr>
          <a:lstStyle/>
          <a:p>
            <a:pPr marL="0" indent="0">
              <a:buNone/>
            </a:pPr>
            <a:r>
              <a:rPr lang="en-IN" b="1" dirty="0"/>
              <a:t>Protection Parameters</a:t>
            </a:r>
          </a:p>
          <a:p>
            <a:r>
              <a:rPr lang="en-IN" dirty="0"/>
              <a:t>Overcurrent</a:t>
            </a:r>
          </a:p>
          <a:p>
            <a:r>
              <a:rPr lang="en-IN" dirty="0"/>
              <a:t>Overvoltage</a:t>
            </a:r>
          </a:p>
          <a:p>
            <a:r>
              <a:rPr lang="en-IN" dirty="0"/>
              <a:t>Undervoltage</a:t>
            </a:r>
          </a:p>
          <a:p>
            <a:r>
              <a:rPr lang="en-IN" dirty="0"/>
              <a:t>Overtemperature</a:t>
            </a:r>
          </a:p>
          <a:p>
            <a:r>
              <a:rPr lang="en-IN" dirty="0"/>
              <a:t>Ground fault</a:t>
            </a:r>
          </a:p>
          <a:p>
            <a:r>
              <a:rPr lang="en-IN" dirty="0"/>
              <a:t>Phase loss</a:t>
            </a:r>
          </a:p>
          <a:p>
            <a:endParaRPr lang="en-IN" dirty="0"/>
          </a:p>
        </p:txBody>
      </p:sp>
    </p:spTree>
    <p:extLst>
      <p:ext uri="{BB962C8B-B14F-4D97-AF65-F5344CB8AC3E}">
        <p14:creationId xmlns:p14="http://schemas.microsoft.com/office/powerpoint/2010/main" val="347964304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99B3B-FED1-0062-8B1E-832951A5C28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198936E-39F5-B967-714A-D283AD05E799}"/>
              </a:ext>
            </a:extLst>
          </p:cNvPr>
          <p:cNvSpPr>
            <a:spLocks noGrp="1"/>
          </p:cNvSpPr>
          <p:nvPr>
            <p:ph sz="half" idx="1"/>
          </p:nvPr>
        </p:nvSpPr>
        <p:spPr/>
        <p:txBody>
          <a:bodyPr/>
          <a:lstStyle/>
          <a:p>
            <a:pPr marL="0" indent="0">
              <a:buNone/>
            </a:pPr>
            <a:r>
              <a:rPr lang="en-US" b="1" dirty="0"/>
              <a:t>Control Parameters</a:t>
            </a:r>
          </a:p>
          <a:p>
            <a:r>
              <a:rPr lang="en-US" dirty="0"/>
              <a:t>V/f curve</a:t>
            </a:r>
          </a:p>
          <a:p>
            <a:r>
              <a:rPr lang="en-US" dirty="0"/>
              <a:t>Carrier frequency</a:t>
            </a:r>
          </a:p>
          <a:p>
            <a:r>
              <a:rPr lang="en-US" dirty="0"/>
              <a:t>Torque boost</a:t>
            </a:r>
          </a:p>
          <a:p>
            <a:r>
              <a:rPr lang="en-US" dirty="0"/>
              <a:t>PID settings</a:t>
            </a:r>
          </a:p>
          <a:p>
            <a:r>
              <a:rPr lang="en-US" dirty="0"/>
              <a:t>Slip compensation</a:t>
            </a:r>
          </a:p>
          <a:p>
            <a:endParaRPr lang="en-IN" dirty="0"/>
          </a:p>
        </p:txBody>
      </p:sp>
      <p:sp>
        <p:nvSpPr>
          <p:cNvPr id="4" name="Content Placeholder 3">
            <a:extLst>
              <a:ext uri="{FF2B5EF4-FFF2-40B4-BE49-F238E27FC236}">
                <a16:creationId xmlns:a16="http://schemas.microsoft.com/office/drawing/2014/main" id="{454EA956-825B-684C-8D0D-1A550E49AD03}"/>
              </a:ext>
            </a:extLst>
          </p:cNvPr>
          <p:cNvSpPr>
            <a:spLocks noGrp="1"/>
          </p:cNvSpPr>
          <p:nvPr>
            <p:ph sz="half" idx="2"/>
          </p:nvPr>
        </p:nvSpPr>
        <p:spPr/>
        <p:txBody>
          <a:bodyPr/>
          <a:lstStyle/>
          <a:p>
            <a:endParaRPr lang="en-IN"/>
          </a:p>
        </p:txBody>
      </p:sp>
    </p:spTree>
    <p:extLst>
      <p:ext uri="{BB962C8B-B14F-4D97-AF65-F5344CB8AC3E}">
        <p14:creationId xmlns:p14="http://schemas.microsoft.com/office/powerpoint/2010/main" val="17159455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ECEE6-47E3-0E48-93FF-5C6F626D31EA}"/>
              </a:ext>
            </a:extLst>
          </p:cNvPr>
          <p:cNvSpPr>
            <a:spLocks noGrp="1"/>
          </p:cNvSpPr>
          <p:nvPr>
            <p:ph type="title"/>
          </p:nvPr>
        </p:nvSpPr>
        <p:spPr/>
        <p:txBody>
          <a:bodyPr/>
          <a:lstStyle/>
          <a:p>
            <a:r>
              <a:rPr lang="en-US" dirty="0"/>
              <a:t>Different Types of Load Patterns</a:t>
            </a:r>
            <a:endParaRPr lang="en-IN" dirty="0"/>
          </a:p>
        </p:txBody>
      </p:sp>
      <p:sp>
        <p:nvSpPr>
          <p:cNvPr id="5" name="Content Placeholder 4">
            <a:extLst>
              <a:ext uri="{FF2B5EF4-FFF2-40B4-BE49-F238E27FC236}">
                <a16:creationId xmlns:a16="http://schemas.microsoft.com/office/drawing/2014/main" id="{09EFDA61-3B05-0948-B696-589F8DEBD815}"/>
              </a:ext>
            </a:extLst>
          </p:cNvPr>
          <p:cNvSpPr>
            <a:spLocks noGrp="1"/>
          </p:cNvSpPr>
          <p:nvPr>
            <p:ph idx="1"/>
          </p:nvPr>
        </p:nvSpPr>
        <p:spPr>
          <a:xfrm>
            <a:off x="838200" y="1317523"/>
            <a:ext cx="10515600" cy="4859440"/>
          </a:xfrm>
        </p:spPr>
        <p:txBody>
          <a:bodyPr>
            <a:normAutofit fontScale="62500" lnSpcReduction="20000"/>
          </a:bodyPr>
          <a:lstStyle/>
          <a:p>
            <a:pPr marL="0" indent="0">
              <a:buNone/>
            </a:pPr>
            <a:r>
              <a:rPr lang="en-US" b="1" dirty="0"/>
              <a:t>Continuous Load</a:t>
            </a:r>
          </a:p>
          <a:p>
            <a:r>
              <a:rPr lang="en-US" dirty="0"/>
              <a:t>Motor runs continuously.</a:t>
            </a:r>
          </a:p>
          <a:p>
            <a:r>
              <a:rPr lang="en-US" dirty="0"/>
              <a:t>Example: Conveyor</a:t>
            </a:r>
          </a:p>
          <a:p>
            <a:pPr marL="0" indent="0">
              <a:buNone/>
            </a:pPr>
            <a:r>
              <a:rPr lang="en-US" b="1" dirty="0"/>
              <a:t>Intermittent Load</a:t>
            </a:r>
          </a:p>
          <a:p>
            <a:r>
              <a:rPr lang="en-US" dirty="0"/>
              <a:t>Frequent start/stop.</a:t>
            </a:r>
          </a:p>
          <a:p>
            <a:r>
              <a:rPr lang="en-US" dirty="0"/>
              <a:t>Example: Lift</a:t>
            </a:r>
          </a:p>
          <a:p>
            <a:pPr marL="0" indent="0">
              <a:buNone/>
            </a:pPr>
            <a:r>
              <a:rPr lang="en-US" b="1" dirty="0"/>
              <a:t>Impact Load</a:t>
            </a:r>
          </a:p>
          <a:p>
            <a:r>
              <a:rPr lang="en-US" dirty="0"/>
              <a:t>Sudden torque variation.</a:t>
            </a:r>
          </a:p>
          <a:p>
            <a:r>
              <a:rPr lang="en-US" dirty="0"/>
              <a:t>Example: Press machine</a:t>
            </a:r>
          </a:p>
          <a:p>
            <a:pPr marL="0" indent="0">
              <a:buNone/>
            </a:pPr>
            <a:r>
              <a:rPr lang="en-US" b="1" dirty="0"/>
              <a:t>Variable Torque Load</a:t>
            </a:r>
          </a:p>
          <a:p>
            <a:r>
              <a:rPr lang="en-US" dirty="0"/>
              <a:t>Torque proportional to square of speed.</a:t>
            </a:r>
          </a:p>
          <a:p>
            <a:r>
              <a:rPr lang="en-US" dirty="0"/>
              <a:t>Example: Fan and pump</a:t>
            </a:r>
          </a:p>
          <a:p>
            <a:pPr marL="0" indent="0">
              <a:buNone/>
            </a:pPr>
            <a:r>
              <a:rPr lang="en-US" b="1" dirty="0"/>
              <a:t>Constant Power Load</a:t>
            </a:r>
          </a:p>
          <a:p>
            <a:r>
              <a:rPr lang="en-US" dirty="0"/>
              <a:t>Power constant; torque inversely proportional to speed.</a:t>
            </a:r>
          </a:p>
          <a:p>
            <a:r>
              <a:rPr lang="en-US" dirty="0"/>
              <a:t>Example: Winder</a:t>
            </a:r>
          </a:p>
          <a:p>
            <a:pPr marL="0" indent="0">
              <a:buNone/>
            </a:pPr>
            <a:endParaRPr lang="en-US" dirty="0"/>
          </a:p>
          <a:p>
            <a:endParaRPr lang="en-IN" dirty="0"/>
          </a:p>
        </p:txBody>
      </p:sp>
    </p:spTree>
    <p:extLst>
      <p:ext uri="{BB962C8B-B14F-4D97-AF65-F5344CB8AC3E}">
        <p14:creationId xmlns:p14="http://schemas.microsoft.com/office/powerpoint/2010/main" val="265865320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6641F-354A-AFAC-B518-950627C9CC1A}"/>
              </a:ext>
            </a:extLst>
          </p:cNvPr>
          <p:cNvSpPr>
            <a:spLocks noGrp="1"/>
          </p:cNvSpPr>
          <p:nvPr>
            <p:ph type="title"/>
          </p:nvPr>
        </p:nvSpPr>
        <p:spPr/>
        <p:txBody>
          <a:bodyPr/>
          <a:lstStyle/>
          <a:p>
            <a:r>
              <a:rPr lang="en-IN" dirty="0"/>
              <a:t>Different Modes of Operation</a:t>
            </a:r>
          </a:p>
        </p:txBody>
      </p:sp>
      <mc:AlternateContent xmlns:mc="http://schemas.openxmlformats.org/markup-compatibility/2006" xmlns:a14="http://schemas.microsoft.com/office/drawing/2010/main">
        <mc:Choice Requires="a14">
          <p:sp>
            <p:nvSpPr>
              <p:cNvPr id="4" name="Content Placeholder 3">
                <a:extLst>
                  <a:ext uri="{FF2B5EF4-FFF2-40B4-BE49-F238E27FC236}">
                    <a16:creationId xmlns:a16="http://schemas.microsoft.com/office/drawing/2014/main" id="{BB1D5290-7486-88E6-9556-0A29C6E49D93}"/>
                  </a:ext>
                </a:extLst>
              </p:cNvPr>
              <p:cNvSpPr>
                <a:spLocks noGrp="1"/>
              </p:cNvSpPr>
              <p:nvPr>
                <p:ph sz="half" idx="1"/>
              </p:nvPr>
            </p:nvSpPr>
            <p:spPr/>
            <p:txBody>
              <a:bodyPr>
                <a:normAutofit fontScale="92500" lnSpcReduction="10000"/>
              </a:bodyPr>
              <a:lstStyle/>
              <a:p>
                <a:pPr marL="0" indent="0">
                  <a:buNone/>
                </a:pPr>
                <a:r>
                  <a:rPr lang="en-US" b="1" dirty="0"/>
                  <a:t>V/f Control (Scalar Control)</a:t>
                </a:r>
              </a:p>
              <a:p>
                <a:r>
                  <a:rPr lang="en-IN" sz="2300" dirty="0"/>
                  <a:t>Maintain a constant </a:t>
                </a:r>
                <a:r>
                  <a:rPr lang="en-IN" sz="2300" b="1" dirty="0"/>
                  <a:t>Voltage/Frequency (V/f)</a:t>
                </a:r>
                <a:r>
                  <a:rPr lang="en-IN" sz="2300" dirty="0"/>
                  <a:t> ratio to keep motor flux constant.</a:t>
                </a:r>
              </a:p>
              <a:p>
                <a14:m>
                  <m:oMath xmlns:m="http://schemas.openxmlformats.org/officeDocument/2006/math">
                    <m:f>
                      <m:fPr>
                        <m:ctrlPr>
                          <a:rPr lang="ar-AE" sz="2300" i="1">
                            <a:latin typeface="Cambria Math" panose="02040503050406030204" pitchFamily="18" charset="0"/>
                          </a:rPr>
                        </m:ctrlPr>
                      </m:fPr>
                      <m:num>
                        <m:r>
                          <a:rPr lang="ar-AE" sz="2300" i="1">
                            <a:latin typeface="Cambria Math" panose="02040503050406030204" pitchFamily="18" charset="0"/>
                          </a:rPr>
                          <m:t>𝑉</m:t>
                        </m:r>
                      </m:num>
                      <m:den>
                        <m:r>
                          <a:rPr lang="ar-AE" sz="2300" i="1">
                            <a:latin typeface="Cambria Math" panose="02040503050406030204" pitchFamily="18" charset="0"/>
                          </a:rPr>
                          <m:t>𝑓</m:t>
                        </m:r>
                      </m:den>
                    </m:f>
                    <m:r>
                      <a:rPr lang="ar-AE" sz="2300">
                        <a:latin typeface="Cambria Math" panose="02040503050406030204" pitchFamily="18" charset="0"/>
                      </a:rPr>
                      <m:t>=</m:t>
                    </m:r>
                    <m:r>
                      <m:rPr>
                        <m:nor/>
                      </m:rPr>
                      <a:rPr lang="en-IN" sz="2300" i="1"/>
                      <m:t>Constant</m:t>
                    </m:r>
                  </m:oMath>
                </a14:m>
                <a:endParaRPr lang="en-IN" sz="2300" b="0" dirty="0"/>
              </a:p>
              <a:p>
                <a:r>
                  <a:rPr lang="en-IN" sz="2300" dirty="0"/>
                  <a:t>If frequency increases → voltage increases proportionally.</a:t>
                </a:r>
              </a:p>
              <a:p>
                <a:pPr marL="0" indent="0">
                  <a:buNone/>
                </a:pPr>
                <a:r>
                  <a:rPr lang="en-IN" sz="2300" b="1" dirty="0"/>
                  <a:t>How it behaves</a:t>
                </a:r>
              </a:p>
              <a:p>
                <a:r>
                  <a:rPr lang="en-IN" sz="2300" dirty="0"/>
                  <a:t>Speed is controlled by changing frequency.</a:t>
                </a:r>
              </a:p>
              <a:p>
                <a:r>
                  <a:rPr lang="en-IN" sz="2300" dirty="0"/>
                  <a:t>Torque depends on load (no direct torque control).</a:t>
                </a:r>
              </a:p>
              <a:p>
                <a:r>
                  <a:rPr lang="en-IN" sz="2300" dirty="0"/>
                  <a:t>Usually open-loop (no feedback).</a:t>
                </a:r>
              </a:p>
              <a:p>
                <a:endParaRPr lang="en-IN" dirty="0"/>
              </a:p>
            </p:txBody>
          </p:sp>
        </mc:Choice>
        <mc:Fallback xmlns="">
          <p:sp>
            <p:nvSpPr>
              <p:cNvPr id="4" name="Content Placeholder 3">
                <a:extLst>
                  <a:ext uri="{FF2B5EF4-FFF2-40B4-BE49-F238E27FC236}">
                    <a16:creationId xmlns:a16="http://schemas.microsoft.com/office/drawing/2014/main" id="{BB1D5290-7486-88E6-9556-0A29C6E49D93}"/>
                  </a:ext>
                </a:extLst>
              </p:cNvPr>
              <p:cNvSpPr>
                <a:spLocks noGrp="1" noRot="1" noChangeAspect="1" noMove="1" noResize="1" noEditPoints="1" noAdjustHandles="1" noChangeArrowheads="1" noChangeShapeType="1" noTextEdit="1"/>
              </p:cNvSpPr>
              <p:nvPr>
                <p:ph sz="half" idx="1"/>
              </p:nvPr>
            </p:nvSpPr>
            <p:spPr>
              <a:blipFill>
                <a:blip r:embed="rId2"/>
                <a:stretch>
                  <a:fillRect l="-2118" t="-2801" r="-1176" b="-1821"/>
                </a:stretch>
              </a:blipFill>
            </p:spPr>
            <p:txBody>
              <a:bodyPr/>
              <a:lstStyle/>
              <a:p>
                <a:r>
                  <a:rPr lang="en-IN">
                    <a:noFill/>
                  </a:rPr>
                  <a:t> </a:t>
                </a:r>
              </a:p>
            </p:txBody>
          </p:sp>
        </mc:Fallback>
      </mc:AlternateContent>
      <p:sp>
        <p:nvSpPr>
          <p:cNvPr id="5" name="Content Placeholder 4">
            <a:extLst>
              <a:ext uri="{FF2B5EF4-FFF2-40B4-BE49-F238E27FC236}">
                <a16:creationId xmlns:a16="http://schemas.microsoft.com/office/drawing/2014/main" id="{F12E51BE-579C-6DF7-5ABD-06C121DF6AAF}"/>
              </a:ext>
            </a:extLst>
          </p:cNvPr>
          <p:cNvSpPr>
            <a:spLocks noGrp="1"/>
          </p:cNvSpPr>
          <p:nvPr>
            <p:ph sz="half" idx="2"/>
          </p:nvPr>
        </p:nvSpPr>
        <p:spPr/>
        <p:txBody>
          <a:bodyPr>
            <a:normAutofit fontScale="92500" lnSpcReduction="10000"/>
          </a:bodyPr>
          <a:lstStyle/>
          <a:p>
            <a:pPr marL="0" indent="0">
              <a:buNone/>
            </a:pPr>
            <a:r>
              <a:rPr lang="en-US" b="1" dirty="0">
                <a:solidFill>
                  <a:srgbClr val="FF0000"/>
                </a:solidFill>
              </a:rPr>
              <a:t>Simple Example</a:t>
            </a:r>
          </a:p>
          <a:p>
            <a:pPr marL="0" indent="0">
              <a:buNone/>
            </a:pPr>
            <a:endParaRPr lang="en-US" b="1" dirty="0">
              <a:solidFill>
                <a:srgbClr val="FF0000"/>
              </a:solidFill>
            </a:endParaRPr>
          </a:p>
          <a:p>
            <a:pPr marL="0" indent="0">
              <a:buNone/>
            </a:pPr>
            <a:r>
              <a:rPr lang="en-US" b="1" dirty="0">
                <a:solidFill>
                  <a:schemeClr val="accent1"/>
                </a:solidFill>
              </a:rPr>
              <a:t>Ceiling Fan or Water Pump</a:t>
            </a:r>
            <a:endParaRPr lang="en-US" dirty="0">
              <a:solidFill>
                <a:schemeClr val="accent1"/>
              </a:solidFill>
            </a:endParaRPr>
          </a:p>
          <a:p>
            <a:r>
              <a:rPr lang="en-US" dirty="0">
                <a:solidFill>
                  <a:srgbClr val="FF0000"/>
                </a:solidFill>
              </a:rPr>
              <a:t>If you reduce frequency from 50 Hz to 25 Hz:</a:t>
            </a:r>
          </a:p>
          <a:p>
            <a:r>
              <a:rPr lang="en-US" dirty="0">
                <a:solidFill>
                  <a:srgbClr val="FF0000"/>
                </a:solidFill>
              </a:rPr>
              <a:t>Speed becomes approximately half.</a:t>
            </a:r>
          </a:p>
          <a:p>
            <a:r>
              <a:rPr lang="en-US" dirty="0">
                <a:solidFill>
                  <a:srgbClr val="FF0000"/>
                </a:solidFill>
              </a:rPr>
              <a:t>Voltage is also reduced proportionally.</a:t>
            </a:r>
          </a:p>
          <a:p>
            <a:r>
              <a:rPr lang="en-US" dirty="0">
                <a:solidFill>
                  <a:srgbClr val="FF0000"/>
                </a:solidFill>
              </a:rPr>
              <a:t>Motor runs smoothly but torque control is not precise.</a:t>
            </a:r>
          </a:p>
          <a:p>
            <a:endParaRPr lang="en-IN" dirty="0"/>
          </a:p>
        </p:txBody>
      </p:sp>
    </p:spTree>
    <p:extLst>
      <p:ext uri="{BB962C8B-B14F-4D97-AF65-F5344CB8AC3E}">
        <p14:creationId xmlns:p14="http://schemas.microsoft.com/office/powerpoint/2010/main" val="40132002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43CB2-E101-2E52-3BFB-FD47C2BF7FB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F13A36D-CB55-EA0E-9A0A-C2ECAECFEBCD}"/>
              </a:ext>
            </a:extLst>
          </p:cNvPr>
          <p:cNvSpPr>
            <a:spLocks noGrp="1"/>
          </p:cNvSpPr>
          <p:nvPr>
            <p:ph sz="half" idx="1"/>
          </p:nvPr>
        </p:nvSpPr>
        <p:spPr/>
        <p:txBody>
          <a:bodyPr>
            <a:normAutofit fontScale="77500" lnSpcReduction="20000"/>
          </a:bodyPr>
          <a:lstStyle/>
          <a:p>
            <a:pPr marL="0" indent="0">
              <a:buNone/>
            </a:pPr>
            <a:r>
              <a:rPr lang="en-US" b="1" dirty="0"/>
              <a:t>Vector Control (Field-Oriented Control)</a:t>
            </a:r>
          </a:p>
          <a:p>
            <a:r>
              <a:rPr lang="en-US" dirty="0"/>
              <a:t>Separates motor current into:</a:t>
            </a:r>
          </a:p>
          <a:p>
            <a:r>
              <a:rPr lang="en-US" b="1" dirty="0"/>
              <a:t>Flux component (Id)</a:t>
            </a:r>
            <a:endParaRPr lang="en-US" dirty="0"/>
          </a:p>
          <a:p>
            <a:r>
              <a:rPr lang="en-US" b="1" dirty="0"/>
              <a:t>Torque component (</a:t>
            </a:r>
            <a:r>
              <a:rPr lang="en-US" b="1" dirty="0" err="1"/>
              <a:t>Iq</a:t>
            </a:r>
            <a:r>
              <a:rPr lang="en-US" b="1" dirty="0"/>
              <a:t>)</a:t>
            </a:r>
            <a:endParaRPr lang="en-US" dirty="0"/>
          </a:p>
          <a:p>
            <a:pPr marL="0" indent="0">
              <a:buNone/>
            </a:pPr>
            <a:r>
              <a:rPr lang="en-US" dirty="0"/>
              <a:t>Just like a DC motor where:</a:t>
            </a:r>
          </a:p>
          <a:p>
            <a:r>
              <a:rPr lang="en-US" dirty="0"/>
              <a:t>Field controls flux</a:t>
            </a:r>
          </a:p>
          <a:p>
            <a:r>
              <a:rPr lang="en-US" dirty="0"/>
              <a:t>Armature controls torque</a:t>
            </a:r>
          </a:p>
          <a:p>
            <a:pPr marL="0" indent="0">
              <a:buNone/>
            </a:pPr>
            <a:r>
              <a:rPr lang="en-US" b="1" dirty="0"/>
              <a:t>How it behaves</a:t>
            </a:r>
          </a:p>
          <a:p>
            <a:r>
              <a:rPr lang="en-US" dirty="0"/>
              <a:t>Torque and flux are controlled independently.</a:t>
            </a:r>
          </a:p>
          <a:p>
            <a:r>
              <a:rPr lang="en-US" dirty="0"/>
              <a:t>Very fast response.</a:t>
            </a:r>
          </a:p>
          <a:p>
            <a:r>
              <a:rPr lang="en-US" dirty="0"/>
              <a:t>High torque even at low speed.</a:t>
            </a:r>
          </a:p>
          <a:p>
            <a:pPr marL="0" indent="0">
              <a:buNone/>
            </a:pPr>
            <a:endParaRPr lang="en-US" dirty="0"/>
          </a:p>
          <a:p>
            <a:endParaRPr lang="en-IN" dirty="0"/>
          </a:p>
          <a:p>
            <a:endParaRPr lang="en-IN" dirty="0"/>
          </a:p>
        </p:txBody>
      </p:sp>
      <p:sp>
        <p:nvSpPr>
          <p:cNvPr id="4" name="Content Placeholder 3">
            <a:extLst>
              <a:ext uri="{FF2B5EF4-FFF2-40B4-BE49-F238E27FC236}">
                <a16:creationId xmlns:a16="http://schemas.microsoft.com/office/drawing/2014/main" id="{F07F3D58-CA2C-B276-28FF-AFA2C0BE2C27}"/>
              </a:ext>
            </a:extLst>
          </p:cNvPr>
          <p:cNvSpPr>
            <a:spLocks noGrp="1"/>
          </p:cNvSpPr>
          <p:nvPr>
            <p:ph sz="half" idx="2"/>
          </p:nvPr>
        </p:nvSpPr>
        <p:spPr/>
        <p:txBody>
          <a:bodyPr>
            <a:normAutofit fontScale="77500" lnSpcReduction="20000"/>
          </a:bodyPr>
          <a:lstStyle/>
          <a:p>
            <a:pPr marL="0" indent="0">
              <a:buNone/>
            </a:pPr>
            <a:r>
              <a:rPr lang="en-US" b="1" dirty="0">
                <a:solidFill>
                  <a:srgbClr val="FF0000"/>
                </a:solidFill>
              </a:rPr>
              <a:t>Simple Example</a:t>
            </a:r>
          </a:p>
          <a:p>
            <a:pPr marL="0" indent="0">
              <a:buNone/>
            </a:pPr>
            <a:endParaRPr lang="en-US" b="1" dirty="0">
              <a:solidFill>
                <a:srgbClr val="FF0000"/>
              </a:solidFill>
            </a:endParaRPr>
          </a:p>
          <a:p>
            <a:pPr marL="0" indent="0">
              <a:buNone/>
            </a:pPr>
            <a:r>
              <a:rPr lang="en-US" b="1" dirty="0">
                <a:solidFill>
                  <a:schemeClr val="accent1"/>
                </a:solidFill>
              </a:rPr>
              <a:t>Elevator or CNC Machine</a:t>
            </a:r>
            <a:endParaRPr lang="en-US" dirty="0">
              <a:solidFill>
                <a:schemeClr val="accent1"/>
              </a:solidFill>
            </a:endParaRPr>
          </a:p>
          <a:p>
            <a:r>
              <a:rPr lang="en-US" dirty="0">
                <a:solidFill>
                  <a:srgbClr val="FF0000"/>
                </a:solidFill>
              </a:rPr>
              <a:t>If load suddenly increases:</a:t>
            </a:r>
          </a:p>
          <a:p>
            <a:r>
              <a:rPr lang="en-US" dirty="0">
                <a:solidFill>
                  <a:srgbClr val="FF0000"/>
                </a:solidFill>
              </a:rPr>
              <a:t>Drive immediately increases torque current (</a:t>
            </a:r>
            <a:r>
              <a:rPr lang="en-US" dirty="0" err="1">
                <a:solidFill>
                  <a:srgbClr val="FF0000"/>
                </a:solidFill>
              </a:rPr>
              <a:t>Iq</a:t>
            </a:r>
            <a:r>
              <a:rPr lang="en-US" dirty="0">
                <a:solidFill>
                  <a:srgbClr val="FF0000"/>
                </a:solidFill>
              </a:rPr>
              <a:t>).</a:t>
            </a:r>
          </a:p>
          <a:p>
            <a:r>
              <a:rPr lang="en-US" dirty="0">
                <a:solidFill>
                  <a:srgbClr val="FF0000"/>
                </a:solidFill>
              </a:rPr>
              <a:t>Speed remains almost constant.</a:t>
            </a:r>
          </a:p>
          <a:p>
            <a:r>
              <a:rPr lang="en-US" dirty="0">
                <a:solidFill>
                  <a:srgbClr val="FF0000"/>
                </a:solidFill>
              </a:rPr>
              <a:t>Very smooth operation.</a:t>
            </a:r>
          </a:p>
          <a:p>
            <a:endParaRPr lang="en-IN" dirty="0"/>
          </a:p>
        </p:txBody>
      </p:sp>
    </p:spTree>
    <p:extLst>
      <p:ext uri="{BB962C8B-B14F-4D97-AF65-F5344CB8AC3E}">
        <p14:creationId xmlns:p14="http://schemas.microsoft.com/office/powerpoint/2010/main" val="383133361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CD500-8C4A-D632-3164-CB96BBCFA364}"/>
              </a:ext>
            </a:extLst>
          </p:cNvPr>
          <p:cNvSpPr>
            <a:spLocks noGrp="1"/>
          </p:cNvSpPr>
          <p:nvPr>
            <p:ph type="title"/>
          </p:nvPr>
        </p:nvSpPr>
        <p:spPr/>
        <p:txBody>
          <a:bodyPr/>
          <a:lstStyle/>
          <a:p>
            <a:endParaRPr lang="en-IN"/>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2BCB7B1-B340-48A5-BEFA-6F21D09FD834}"/>
                  </a:ext>
                </a:extLst>
              </p:cNvPr>
              <p:cNvSpPr>
                <a:spLocks noGrp="1"/>
              </p:cNvSpPr>
              <p:nvPr>
                <p:ph sz="half" idx="1"/>
              </p:nvPr>
            </p:nvSpPr>
            <p:spPr/>
            <p:txBody>
              <a:bodyPr>
                <a:normAutofit fontScale="77500" lnSpcReduction="20000"/>
              </a:bodyPr>
              <a:lstStyle/>
              <a:p>
                <a:pPr marL="0" indent="0">
                  <a:buNone/>
                </a:pPr>
                <a:r>
                  <a:rPr lang="en-US" b="1" dirty="0"/>
                  <a:t>Closed Loop Control</a:t>
                </a:r>
              </a:p>
              <a:p>
                <a:r>
                  <a:rPr lang="en-IN" dirty="0"/>
                  <a:t>Uses feedback (encoder/resolver) to compare:</a:t>
                </a:r>
              </a:p>
              <a:p>
                <a14:m>
                  <m:oMath xmlns:m="http://schemas.openxmlformats.org/officeDocument/2006/math">
                    <m:r>
                      <m:rPr>
                        <m:nor/>
                      </m:rPr>
                      <a:rPr lang="en-IN" b="0"/>
                      <m:t>Error</m:t>
                    </m:r>
                    <m:r>
                      <a:rPr lang="en-IN">
                        <a:latin typeface="Cambria Math" panose="02040503050406030204" pitchFamily="18" charset="0"/>
                      </a:rPr>
                      <m:t>=</m:t>
                    </m:r>
                    <m:r>
                      <m:rPr>
                        <m:nor/>
                      </m:rPr>
                      <a:rPr lang="en-IN" i="1"/>
                      <m:t>Reference</m:t>
                    </m:r>
                    <m:r>
                      <m:rPr>
                        <m:nor/>
                      </m:rPr>
                      <a:rPr lang="en-IN" i="1"/>
                      <m:t> </m:t>
                    </m:r>
                    <m:r>
                      <m:rPr>
                        <m:nor/>
                      </m:rPr>
                      <a:rPr lang="en-IN" i="1"/>
                      <m:t>Speed</m:t>
                    </m:r>
                    <m:r>
                      <a:rPr lang="en-IN">
                        <a:latin typeface="Cambria Math" panose="02040503050406030204" pitchFamily="18" charset="0"/>
                      </a:rPr>
                      <m:t>−</m:t>
                    </m:r>
                    <m:r>
                      <m:rPr>
                        <m:nor/>
                      </m:rPr>
                      <a:rPr lang="en-IN" i="1"/>
                      <m:t>Actual</m:t>
                    </m:r>
                    <m:r>
                      <m:rPr>
                        <m:nor/>
                      </m:rPr>
                      <a:rPr lang="en-IN" i="1"/>
                      <m:t> </m:t>
                    </m:r>
                    <m:r>
                      <m:rPr>
                        <m:nor/>
                      </m:rPr>
                      <a:rPr lang="en-IN" i="1"/>
                      <m:t>Speed</m:t>
                    </m:r>
                  </m:oMath>
                </a14:m>
                <a:endParaRPr lang="en-IN" b="0" dirty="0"/>
              </a:p>
              <a:p>
                <a:r>
                  <a:rPr lang="en-IN" dirty="0"/>
                  <a:t>The controller corrects the error automatically.</a:t>
                </a:r>
              </a:p>
              <a:p>
                <a:pPr marL="0" indent="0">
                  <a:buNone/>
                </a:pPr>
                <a:r>
                  <a:rPr lang="en-IN" b="1" dirty="0"/>
                  <a:t>How it behaves</a:t>
                </a:r>
              </a:p>
              <a:p>
                <a:r>
                  <a:rPr lang="en-IN" dirty="0"/>
                  <a:t>Constant monitoring of actual speed.</a:t>
                </a:r>
              </a:p>
              <a:p>
                <a:r>
                  <a:rPr lang="en-IN" dirty="0"/>
                  <a:t>Very accurate speed control.</a:t>
                </a:r>
              </a:p>
              <a:p>
                <a:r>
                  <a:rPr lang="en-IN" dirty="0"/>
                  <a:t>Quick correction during disturbances.</a:t>
                </a:r>
              </a:p>
              <a:p>
                <a:endParaRPr lang="en-IN" dirty="0"/>
              </a:p>
            </p:txBody>
          </p:sp>
        </mc:Choice>
        <mc:Fallback xmlns="">
          <p:sp>
            <p:nvSpPr>
              <p:cNvPr id="3" name="Content Placeholder 2">
                <a:extLst>
                  <a:ext uri="{FF2B5EF4-FFF2-40B4-BE49-F238E27FC236}">
                    <a16:creationId xmlns:a16="http://schemas.microsoft.com/office/drawing/2014/main" id="{B2BCB7B1-B340-48A5-BEFA-6F21D09FD834}"/>
                  </a:ext>
                </a:extLst>
              </p:cNvPr>
              <p:cNvSpPr>
                <a:spLocks noGrp="1" noRot="1" noChangeAspect="1" noMove="1" noResize="1" noEditPoints="1" noAdjustHandles="1" noChangeArrowheads="1" noChangeShapeType="1" noTextEdit="1"/>
              </p:cNvSpPr>
              <p:nvPr>
                <p:ph sz="half" idx="1"/>
              </p:nvPr>
            </p:nvSpPr>
            <p:spPr>
              <a:blipFill>
                <a:blip r:embed="rId2"/>
                <a:stretch>
                  <a:fillRect l="-1529" t="-2661"/>
                </a:stretch>
              </a:blipFill>
            </p:spPr>
            <p:txBody>
              <a:bodyPr/>
              <a:lstStyle/>
              <a:p>
                <a:r>
                  <a:rPr lang="en-IN">
                    <a:noFill/>
                  </a:rPr>
                  <a:t> </a:t>
                </a:r>
              </a:p>
            </p:txBody>
          </p:sp>
        </mc:Fallback>
      </mc:AlternateContent>
      <p:sp>
        <p:nvSpPr>
          <p:cNvPr id="4" name="Content Placeholder 3">
            <a:extLst>
              <a:ext uri="{FF2B5EF4-FFF2-40B4-BE49-F238E27FC236}">
                <a16:creationId xmlns:a16="http://schemas.microsoft.com/office/drawing/2014/main" id="{89D255C9-AE8C-DF35-A1E5-5F029A2078E5}"/>
              </a:ext>
            </a:extLst>
          </p:cNvPr>
          <p:cNvSpPr>
            <a:spLocks noGrp="1"/>
          </p:cNvSpPr>
          <p:nvPr>
            <p:ph sz="half" idx="2"/>
          </p:nvPr>
        </p:nvSpPr>
        <p:spPr/>
        <p:txBody>
          <a:bodyPr>
            <a:normAutofit fontScale="77500" lnSpcReduction="20000"/>
          </a:bodyPr>
          <a:lstStyle/>
          <a:p>
            <a:pPr marL="0" indent="0">
              <a:buNone/>
            </a:pPr>
            <a:r>
              <a:rPr lang="en-US" b="1" dirty="0">
                <a:solidFill>
                  <a:srgbClr val="FF0000"/>
                </a:solidFill>
              </a:rPr>
              <a:t>Simple Example</a:t>
            </a:r>
          </a:p>
          <a:p>
            <a:pPr marL="0" indent="0">
              <a:buNone/>
            </a:pPr>
            <a:r>
              <a:rPr lang="en-US" b="1" dirty="0">
                <a:solidFill>
                  <a:schemeClr val="accent1"/>
                </a:solidFill>
              </a:rPr>
              <a:t>Robotic Arm</a:t>
            </a:r>
            <a:endParaRPr lang="en-US" dirty="0">
              <a:solidFill>
                <a:schemeClr val="accent1"/>
              </a:solidFill>
            </a:endParaRPr>
          </a:p>
          <a:p>
            <a:r>
              <a:rPr lang="en-US" dirty="0">
                <a:solidFill>
                  <a:srgbClr val="FF0000"/>
                </a:solidFill>
              </a:rPr>
              <a:t>If commanded speed = 1000 rpm</a:t>
            </a:r>
            <a:br>
              <a:rPr lang="en-US" dirty="0">
                <a:solidFill>
                  <a:srgbClr val="FF0000"/>
                </a:solidFill>
              </a:rPr>
            </a:br>
            <a:r>
              <a:rPr lang="en-US" dirty="0">
                <a:solidFill>
                  <a:srgbClr val="FF0000"/>
                </a:solidFill>
              </a:rPr>
              <a:t>If actual speed drops to 950 rpm (due to load),</a:t>
            </a:r>
            <a:br>
              <a:rPr lang="en-US" dirty="0">
                <a:solidFill>
                  <a:srgbClr val="FF0000"/>
                </a:solidFill>
              </a:rPr>
            </a:br>
            <a:r>
              <a:rPr lang="en-US" dirty="0">
                <a:solidFill>
                  <a:srgbClr val="FF0000"/>
                </a:solidFill>
              </a:rPr>
              <a:t>→ Controller detects error</a:t>
            </a:r>
            <a:br>
              <a:rPr lang="en-US" dirty="0">
                <a:solidFill>
                  <a:srgbClr val="FF0000"/>
                </a:solidFill>
              </a:rPr>
            </a:br>
            <a:r>
              <a:rPr lang="en-US" dirty="0">
                <a:solidFill>
                  <a:srgbClr val="FF0000"/>
                </a:solidFill>
              </a:rPr>
              <a:t>→ Increases torque</a:t>
            </a:r>
            <a:br>
              <a:rPr lang="en-US" dirty="0">
                <a:solidFill>
                  <a:srgbClr val="FF0000"/>
                </a:solidFill>
              </a:rPr>
            </a:br>
            <a:r>
              <a:rPr lang="en-US" dirty="0">
                <a:solidFill>
                  <a:srgbClr val="FF0000"/>
                </a:solidFill>
              </a:rPr>
              <a:t>→ Speed returns to 1000 rpm</a:t>
            </a:r>
          </a:p>
          <a:p>
            <a:endParaRPr lang="en-IN" dirty="0"/>
          </a:p>
        </p:txBody>
      </p:sp>
    </p:spTree>
    <p:extLst>
      <p:ext uri="{BB962C8B-B14F-4D97-AF65-F5344CB8AC3E}">
        <p14:creationId xmlns:p14="http://schemas.microsoft.com/office/powerpoint/2010/main" val="384971575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005D3C-8E32-97EC-0CB2-8125E3F496A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E571AD3-7C16-740F-78D6-D8650C26D3B3}"/>
              </a:ext>
            </a:extLst>
          </p:cNvPr>
          <p:cNvSpPr>
            <a:spLocks noGrp="1"/>
          </p:cNvSpPr>
          <p:nvPr>
            <p:ph sz="half" idx="1"/>
          </p:nvPr>
        </p:nvSpPr>
        <p:spPr/>
        <p:txBody>
          <a:bodyPr>
            <a:normAutofit fontScale="92500" lnSpcReduction="10000"/>
          </a:bodyPr>
          <a:lstStyle/>
          <a:p>
            <a:pPr marL="0" indent="0">
              <a:buNone/>
            </a:pPr>
            <a:r>
              <a:rPr lang="en-US" b="1" dirty="0" err="1"/>
              <a:t>Sensorless</a:t>
            </a:r>
            <a:r>
              <a:rPr lang="en-US" b="1" dirty="0"/>
              <a:t> Vector Control</a:t>
            </a:r>
          </a:p>
          <a:p>
            <a:r>
              <a:rPr lang="en-US" dirty="0"/>
              <a:t>Same as vector control but </a:t>
            </a:r>
            <a:r>
              <a:rPr lang="en-US" b="1" dirty="0"/>
              <a:t>without speed sensor</a:t>
            </a:r>
            <a:r>
              <a:rPr lang="en-US" dirty="0"/>
              <a:t>.</a:t>
            </a:r>
          </a:p>
          <a:p>
            <a:r>
              <a:rPr lang="en-US" dirty="0"/>
              <a:t>Speed is estimated using motor voltage and current models.</a:t>
            </a:r>
          </a:p>
          <a:p>
            <a:pPr marL="0" indent="0">
              <a:buNone/>
            </a:pPr>
            <a:r>
              <a:rPr lang="en-US" b="1" dirty="0"/>
              <a:t>How it behaves</a:t>
            </a:r>
          </a:p>
          <a:p>
            <a:r>
              <a:rPr lang="en-US" dirty="0"/>
              <a:t>No encoder required.</a:t>
            </a:r>
          </a:p>
          <a:p>
            <a:r>
              <a:rPr lang="en-US" dirty="0"/>
              <a:t>Good performance at medium and high speeds.</a:t>
            </a:r>
          </a:p>
          <a:p>
            <a:r>
              <a:rPr lang="en-US" dirty="0"/>
              <a:t>Slightly less accurate at very low speed.</a:t>
            </a:r>
          </a:p>
          <a:p>
            <a:endParaRPr lang="en-IN" dirty="0"/>
          </a:p>
          <a:p>
            <a:endParaRPr lang="en-IN" dirty="0"/>
          </a:p>
        </p:txBody>
      </p:sp>
      <p:sp>
        <p:nvSpPr>
          <p:cNvPr id="4" name="Content Placeholder 3">
            <a:extLst>
              <a:ext uri="{FF2B5EF4-FFF2-40B4-BE49-F238E27FC236}">
                <a16:creationId xmlns:a16="http://schemas.microsoft.com/office/drawing/2014/main" id="{27E0793B-D5D7-ACD5-121A-A1CC1C49E439}"/>
              </a:ext>
            </a:extLst>
          </p:cNvPr>
          <p:cNvSpPr>
            <a:spLocks noGrp="1"/>
          </p:cNvSpPr>
          <p:nvPr>
            <p:ph sz="half" idx="2"/>
          </p:nvPr>
        </p:nvSpPr>
        <p:spPr/>
        <p:txBody>
          <a:bodyPr>
            <a:normAutofit fontScale="92500" lnSpcReduction="10000"/>
          </a:bodyPr>
          <a:lstStyle/>
          <a:p>
            <a:pPr marL="0" indent="0">
              <a:buNone/>
            </a:pPr>
            <a:r>
              <a:rPr lang="en-US" b="1" dirty="0">
                <a:solidFill>
                  <a:srgbClr val="FF0000"/>
                </a:solidFill>
              </a:rPr>
              <a:t>Simple Example</a:t>
            </a:r>
          </a:p>
          <a:p>
            <a:pPr marL="0" indent="0">
              <a:buNone/>
            </a:pPr>
            <a:r>
              <a:rPr lang="en-US" b="1" dirty="0">
                <a:solidFill>
                  <a:schemeClr val="accent1"/>
                </a:solidFill>
              </a:rPr>
              <a:t>Industrial Pump System</a:t>
            </a:r>
            <a:endParaRPr lang="en-US" dirty="0">
              <a:solidFill>
                <a:schemeClr val="accent1"/>
              </a:solidFill>
            </a:endParaRPr>
          </a:p>
          <a:p>
            <a:r>
              <a:rPr lang="en-US" dirty="0">
                <a:solidFill>
                  <a:srgbClr val="FF0000"/>
                </a:solidFill>
              </a:rPr>
              <a:t>Instead of installing an encoder:</a:t>
            </a:r>
          </a:p>
          <a:p>
            <a:r>
              <a:rPr lang="en-US" dirty="0">
                <a:solidFill>
                  <a:srgbClr val="FF0000"/>
                </a:solidFill>
              </a:rPr>
              <a:t>Drive calculates speed internally.</a:t>
            </a:r>
          </a:p>
          <a:p>
            <a:r>
              <a:rPr lang="en-US" dirty="0">
                <a:solidFill>
                  <a:srgbClr val="FF0000"/>
                </a:solidFill>
              </a:rPr>
              <a:t>Maintains good speed regulation.</a:t>
            </a:r>
          </a:p>
          <a:p>
            <a:r>
              <a:rPr lang="en-US" dirty="0">
                <a:solidFill>
                  <a:srgbClr val="FF0000"/>
                </a:solidFill>
              </a:rPr>
              <a:t>Reduces cost and maintenance.</a:t>
            </a:r>
          </a:p>
          <a:p>
            <a:endParaRPr lang="en-IN" dirty="0"/>
          </a:p>
        </p:txBody>
      </p:sp>
    </p:spTree>
    <p:extLst>
      <p:ext uri="{BB962C8B-B14F-4D97-AF65-F5344CB8AC3E}">
        <p14:creationId xmlns:p14="http://schemas.microsoft.com/office/powerpoint/2010/main" val="359045614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BA089-EEAC-3074-7869-4CA1D0DD5EB0}"/>
              </a:ext>
            </a:extLst>
          </p:cNvPr>
          <p:cNvSpPr>
            <a:spLocks noGrp="1"/>
          </p:cNvSpPr>
          <p:nvPr>
            <p:ph type="title"/>
          </p:nvPr>
        </p:nvSpPr>
        <p:spPr/>
        <p:txBody>
          <a:bodyPr/>
          <a:lstStyle/>
          <a:p>
            <a:r>
              <a:rPr lang="en-IN" dirty="0"/>
              <a:t>PU, External &amp; Network Mode</a:t>
            </a:r>
          </a:p>
        </p:txBody>
      </p:sp>
      <p:sp>
        <p:nvSpPr>
          <p:cNvPr id="3" name="Content Placeholder 2">
            <a:extLst>
              <a:ext uri="{FF2B5EF4-FFF2-40B4-BE49-F238E27FC236}">
                <a16:creationId xmlns:a16="http://schemas.microsoft.com/office/drawing/2014/main" id="{CEEAE15D-ACCB-0CA6-EC70-D3BE60D7CC83}"/>
              </a:ext>
            </a:extLst>
          </p:cNvPr>
          <p:cNvSpPr>
            <a:spLocks noGrp="1"/>
          </p:cNvSpPr>
          <p:nvPr>
            <p:ph sz="half" idx="1"/>
          </p:nvPr>
        </p:nvSpPr>
        <p:spPr/>
        <p:txBody>
          <a:bodyPr/>
          <a:lstStyle/>
          <a:p>
            <a:pPr marL="0" indent="0">
              <a:buNone/>
            </a:pPr>
            <a:r>
              <a:rPr lang="en-US" b="1" dirty="0"/>
              <a:t>PU Mode (Programming Unit Mode)</a:t>
            </a:r>
          </a:p>
          <a:p>
            <a:r>
              <a:rPr lang="en-US" dirty="0"/>
              <a:t>Control from keypad.</a:t>
            </a:r>
          </a:p>
          <a:p>
            <a:r>
              <a:rPr lang="en-US" dirty="0"/>
              <a:t>Used for:</a:t>
            </a:r>
          </a:p>
          <a:p>
            <a:pPr lvl="1"/>
            <a:r>
              <a:rPr lang="en-US" dirty="0"/>
              <a:t>Testing</a:t>
            </a:r>
          </a:p>
          <a:p>
            <a:pPr lvl="1"/>
            <a:r>
              <a:rPr lang="en-US" dirty="0"/>
              <a:t>Commissioning</a:t>
            </a:r>
          </a:p>
          <a:p>
            <a:pPr lvl="1"/>
            <a:r>
              <a:rPr lang="en-US" dirty="0"/>
              <a:t>Troubleshooting</a:t>
            </a:r>
          </a:p>
          <a:p>
            <a:endParaRPr lang="en-IN" dirty="0"/>
          </a:p>
        </p:txBody>
      </p:sp>
      <p:sp>
        <p:nvSpPr>
          <p:cNvPr id="4" name="Content Placeholder 3">
            <a:extLst>
              <a:ext uri="{FF2B5EF4-FFF2-40B4-BE49-F238E27FC236}">
                <a16:creationId xmlns:a16="http://schemas.microsoft.com/office/drawing/2014/main" id="{DA9CCF17-D910-D244-2DF3-413906592FD5}"/>
              </a:ext>
            </a:extLst>
          </p:cNvPr>
          <p:cNvSpPr>
            <a:spLocks noGrp="1"/>
          </p:cNvSpPr>
          <p:nvPr>
            <p:ph sz="half" idx="2"/>
          </p:nvPr>
        </p:nvSpPr>
        <p:spPr/>
        <p:txBody>
          <a:bodyPr/>
          <a:lstStyle/>
          <a:p>
            <a:pPr marL="0" indent="0">
              <a:buNone/>
            </a:pPr>
            <a:r>
              <a:rPr lang="en-IN" b="1" dirty="0"/>
              <a:t>External Mode</a:t>
            </a:r>
          </a:p>
          <a:p>
            <a:r>
              <a:rPr lang="en-IN" dirty="0"/>
              <a:t>Controlled via:</a:t>
            </a:r>
          </a:p>
          <a:p>
            <a:pPr lvl="1"/>
            <a:r>
              <a:rPr lang="en-IN" dirty="0"/>
              <a:t>Terminal inputs</a:t>
            </a:r>
          </a:p>
          <a:p>
            <a:pPr lvl="1"/>
            <a:r>
              <a:rPr lang="en-IN" dirty="0"/>
              <a:t>Analog signals</a:t>
            </a:r>
          </a:p>
          <a:p>
            <a:pPr lvl="1"/>
            <a:r>
              <a:rPr lang="en-IN" dirty="0"/>
              <a:t>PLC</a:t>
            </a:r>
          </a:p>
          <a:p>
            <a:r>
              <a:rPr lang="en-IN" dirty="0"/>
              <a:t>Used in industrial automation.</a:t>
            </a:r>
          </a:p>
          <a:p>
            <a:endParaRPr lang="en-IN" dirty="0"/>
          </a:p>
        </p:txBody>
      </p:sp>
    </p:spTree>
    <p:extLst>
      <p:ext uri="{BB962C8B-B14F-4D97-AF65-F5344CB8AC3E}">
        <p14:creationId xmlns:p14="http://schemas.microsoft.com/office/powerpoint/2010/main" val="13758743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663C6E-830A-9C7D-286E-9EE66F639AD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D070F3A-EFDB-6A81-8473-23296E7AEA46}"/>
              </a:ext>
            </a:extLst>
          </p:cNvPr>
          <p:cNvSpPr>
            <a:spLocks noGrp="1"/>
          </p:cNvSpPr>
          <p:nvPr>
            <p:ph sz="half" idx="1"/>
          </p:nvPr>
        </p:nvSpPr>
        <p:spPr/>
        <p:txBody>
          <a:bodyPr/>
          <a:lstStyle/>
          <a:p>
            <a:pPr marL="0" indent="0">
              <a:buNone/>
            </a:pPr>
            <a:r>
              <a:rPr lang="en-US" b="1" dirty="0"/>
              <a:t>Network Mode</a:t>
            </a:r>
          </a:p>
          <a:p>
            <a:r>
              <a:rPr lang="en-US" dirty="0"/>
              <a:t>Controlled through communication protocol:</a:t>
            </a:r>
          </a:p>
          <a:p>
            <a:pPr lvl="1"/>
            <a:r>
              <a:rPr lang="en-US" dirty="0"/>
              <a:t>Modbus</a:t>
            </a:r>
          </a:p>
          <a:p>
            <a:pPr lvl="1"/>
            <a:r>
              <a:rPr lang="en-US" dirty="0"/>
              <a:t>Profibus</a:t>
            </a:r>
          </a:p>
          <a:p>
            <a:pPr lvl="1"/>
            <a:r>
              <a:rPr lang="en-US" dirty="0"/>
              <a:t>CAN</a:t>
            </a:r>
          </a:p>
          <a:p>
            <a:pPr lvl="1"/>
            <a:r>
              <a:rPr lang="en-US" dirty="0"/>
              <a:t>Ethernet/IP</a:t>
            </a:r>
          </a:p>
          <a:p>
            <a:r>
              <a:rPr lang="en-US" dirty="0"/>
              <a:t>Used in Industry 4.0 systems.</a:t>
            </a:r>
          </a:p>
          <a:p>
            <a:endParaRPr lang="en-IN" dirty="0"/>
          </a:p>
        </p:txBody>
      </p:sp>
      <p:sp>
        <p:nvSpPr>
          <p:cNvPr id="4" name="Content Placeholder 3">
            <a:extLst>
              <a:ext uri="{FF2B5EF4-FFF2-40B4-BE49-F238E27FC236}">
                <a16:creationId xmlns:a16="http://schemas.microsoft.com/office/drawing/2014/main" id="{2B51B194-6272-D7FB-A0A6-E7EB267EEEE0}"/>
              </a:ext>
            </a:extLst>
          </p:cNvPr>
          <p:cNvSpPr>
            <a:spLocks noGrp="1"/>
          </p:cNvSpPr>
          <p:nvPr>
            <p:ph sz="half" idx="2"/>
          </p:nvPr>
        </p:nvSpPr>
        <p:spPr/>
        <p:txBody>
          <a:bodyPr/>
          <a:lstStyle/>
          <a:p>
            <a:endParaRPr lang="en-IN"/>
          </a:p>
        </p:txBody>
      </p:sp>
    </p:spTree>
    <p:extLst>
      <p:ext uri="{BB962C8B-B14F-4D97-AF65-F5344CB8AC3E}">
        <p14:creationId xmlns:p14="http://schemas.microsoft.com/office/powerpoint/2010/main" val="170073854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44485-1943-9D8C-9287-E188386F8F23}"/>
              </a:ext>
            </a:extLst>
          </p:cNvPr>
          <p:cNvSpPr>
            <a:spLocks noGrp="1"/>
          </p:cNvSpPr>
          <p:nvPr>
            <p:ph type="title"/>
          </p:nvPr>
        </p:nvSpPr>
        <p:spPr/>
        <p:txBody>
          <a:bodyPr/>
          <a:lstStyle/>
          <a:p>
            <a:r>
              <a:rPr lang="en-IN" dirty="0"/>
              <a:t>JOG Operation</a:t>
            </a:r>
          </a:p>
        </p:txBody>
      </p:sp>
      <p:sp>
        <p:nvSpPr>
          <p:cNvPr id="5" name="Content Placeholder 4">
            <a:extLst>
              <a:ext uri="{FF2B5EF4-FFF2-40B4-BE49-F238E27FC236}">
                <a16:creationId xmlns:a16="http://schemas.microsoft.com/office/drawing/2014/main" id="{D6399507-6CF4-78CD-06A6-23218C23E711}"/>
              </a:ext>
            </a:extLst>
          </p:cNvPr>
          <p:cNvSpPr>
            <a:spLocks noGrp="1"/>
          </p:cNvSpPr>
          <p:nvPr>
            <p:ph idx="1"/>
          </p:nvPr>
        </p:nvSpPr>
        <p:spPr/>
        <p:txBody>
          <a:bodyPr>
            <a:normAutofit fontScale="92500" lnSpcReduction="20000"/>
          </a:bodyPr>
          <a:lstStyle/>
          <a:p>
            <a:r>
              <a:rPr lang="en-US" dirty="0"/>
              <a:t>Short duration low-speed operation.</a:t>
            </a:r>
          </a:p>
          <a:p>
            <a:r>
              <a:rPr lang="en-US" dirty="0"/>
              <a:t>Used for:</a:t>
            </a:r>
          </a:p>
          <a:p>
            <a:pPr lvl="1"/>
            <a:r>
              <a:rPr lang="en-US" dirty="0"/>
              <a:t>Positioning</a:t>
            </a:r>
          </a:p>
          <a:p>
            <a:pPr lvl="1"/>
            <a:r>
              <a:rPr lang="en-US" dirty="0"/>
              <a:t>Alignment</a:t>
            </a:r>
          </a:p>
          <a:p>
            <a:pPr lvl="1"/>
            <a:r>
              <a:rPr lang="en-US" dirty="0"/>
              <a:t>Maintenance</a:t>
            </a:r>
          </a:p>
          <a:p>
            <a:pPr marL="0" indent="0">
              <a:buNone/>
            </a:pPr>
            <a:r>
              <a:rPr lang="en-US" b="1" dirty="0"/>
              <a:t>Features:</a:t>
            </a:r>
          </a:p>
          <a:p>
            <a:r>
              <a:rPr lang="en-US" dirty="0"/>
              <a:t>Fixed low frequency</a:t>
            </a:r>
          </a:p>
          <a:p>
            <a:r>
              <a:rPr lang="en-US" dirty="0"/>
              <a:t>Operates only while button pressed</a:t>
            </a:r>
          </a:p>
          <a:p>
            <a:r>
              <a:rPr lang="en-US" dirty="0"/>
              <a:t>Example:</a:t>
            </a:r>
          </a:p>
          <a:p>
            <a:r>
              <a:rPr lang="en-US" dirty="0"/>
              <a:t>Conveyor belt alignment</a:t>
            </a:r>
          </a:p>
          <a:p>
            <a:r>
              <a:rPr lang="en-US" dirty="0"/>
              <a:t>Tool positioning</a:t>
            </a:r>
          </a:p>
        </p:txBody>
      </p:sp>
    </p:spTree>
    <p:extLst>
      <p:ext uri="{BB962C8B-B14F-4D97-AF65-F5344CB8AC3E}">
        <p14:creationId xmlns:p14="http://schemas.microsoft.com/office/powerpoint/2010/main" val="306308703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66B21-307F-6213-04FC-895E45C73D32}"/>
              </a:ext>
            </a:extLst>
          </p:cNvPr>
          <p:cNvSpPr>
            <a:spLocks noGrp="1"/>
          </p:cNvSpPr>
          <p:nvPr>
            <p:ph type="title"/>
          </p:nvPr>
        </p:nvSpPr>
        <p:spPr/>
        <p:txBody>
          <a:bodyPr/>
          <a:lstStyle/>
          <a:p>
            <a:r>
              <a:rPr lang="en-IN" dirty="0"/>
              <a:t>I/O Assignment in Inverter</a:t>
            </a:r>
          </a:p>
        </p:txBody>
      </p:sp>
      <p:sp>
        <p:nvSpPr>
          <p:cNvPr id="4" name="Content Placeholder 3">
            <a:extLst>
              <a:ext uri="{FF2B5EF4-FFF2-40B4-BE49-F238E27FC236}">
                <a16:creationId xmlns:a16="http://schemas.microsoft.com/office/drawing/2014/main" id="{30D53C02-2F0E-0796-C491-510E6E28397B}"/>
              </a:ext>
            </a:extLst>
          </p:cNvPr>
          <p:cNvSpPr>
            <a:spLocks noGrp="1"/>
          </p:cNvSpPr>
          <p:nvPr>
            <p:ph sz="half" idx="1"/>
          </p:nvPr>
        </p:nvSpPr>
        <p:spPr/>
        <p:txBody>
          <a:bodyPr>
            <a:normAutofit lnSpcReduction="10000"/>
          </a:bodyPr>
          <a:lstStyle/>
          <a:p>
            <a:pPr marL="0" indent="0">
              <a:buNone/>
            </a:pPr>
            <a:r>
              <a:rPr lang="en-US" b="1" dirty="0"/>
              <a:t>Digital Input Assignment</a:t>
            </a:r>
          </a:p>
          <a:p>
            <a:r>
              <a:rPr lang="en-US" dirty="0"/>
              <a:t>Typical functions:</a:t>
            </a:r>
          </a:p>
          <a:p>
            <a:r>
              <a:rPr lang="en-US" dirty="0"/>
              <a:t>Start</a:t>
            </a:r>
          </a:p>
          <a:p>
            <a:r>
              <a:rPr lang="en-US" dirty="0"/>
              <a:t>Stop</a:t>
            </a:r>
          </a:p>
          <a:p>
            <a:r>
              <a:rPr lang="en-US" dirty="0"/>
              <a:t>Forward</a:t>
            </a:r>
          </a:p>
          <a:p>
            <a:r>
              <a:rPr lang="en-US" dirty="0"/>
              <a:t>Reverse</a:t>
            </a:r>
          </a:p>
          <a:p>
            <a:r>
              <a:rPr lang="en-US" dirty="0"/>
              <a:t>Reset</a:t>
            </a:r>
          </a:p>
          <a:p>
            <a:r>
              <a:rPr lang="en-US" dirty="0"/>
              <a:t>JOG</a:t>
            </a:r>
          </a:p>
          <a:p>
            <a:r>
              <a:rPr lang="en-US" dirty="0"/>
              <a:t>Multi-speed selection</a:t>
            </a:r>
          </a:p>
          <a:p>
            <a:endParaRPr lang="en-IN" dirty="0"/>
          </a:p>
        </p:txBody>
      </p:sp>
      <p:sp>
        <p:nvSpPr>
          <p:cNvPr id="5" name="Content Placeholder 4">
            <a:extLst>
              <a:ext uri="{FF2B5EF4-FFF2-40B4-BE49-F238E27FC236}">
                <a16:creationId xmlns:a16="http://schemas.microsoft.com/office/drawing/2014/main" id="{696312FB-A07E-EE64-384A-FBF30CD18C98}"/>
              </a:ext>
            </a:extLst>
          </p:cNvPr>
          <p:cNvSpPr>
            <a:spLocks noGrp="1"/>
          </p:cNvSpPr>
          <p:nvPr>
            <p:ph sz="half" idx="2"/>
          </p:nvPr>
        </p:nvSpPr>
        <p:spPr/>
        <p:txBody>
          <a:bodyPr>
            <a:normAutofit lnSpcReduction="10000"/>
          </a:bodyPr>
          <a:lstStyle/>
          <a:p>
            <a:pPr marL="0" indent="0">
              <a:buNone/>
            </a:pPr>
            <a:r>
              <a:rPr lang="en-US" b="1" dirty="0"/>
              <a:t>Analog Input Assignment</a:t>
            </a:r>
          </a:p>
          <a:p>
            <a:r>
              <a:rPr lang="en-US" dirty="0"/>
              <a:t>Speed reference</a:t>
            </a:r>
          </a:p>
          <a:p>
            <a:r>
              <a:rPr lang="en-US" dirty="0"/>
              <a:t>PID feedback</a:t>
            </a:r>
          </a:p>
          <a:p>
            <a:r>
              <a:rPr lang="en-US" dirty="0"/>
              <a:t>Torque limit</a:t>
            </a:r>
          </a:p>
          <a:p>
            <a:endParaRPr lang="en-IN" dirty="0"/>
          </a:p>
        </p:txBody>
      </p:sp>
    </p:spTree>
    <p:extLst>
      <p:ext uri="{BB962C8B-B14F-4D97-AF65-F5344CB8AC3E}">
        <p14:creationId xmlns:p14="http://schemas.microsoft.com/office/powerpoint/2010/main" val="218923336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49779-D08E-A598-8910-1242E7E2F35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09F1E51-6E32-92B9-AAA3-2B34F98587FC}"/>
              </a:ext>
            </a:extLst>
          </p:cNvPr>
          <p:cNvSpPr>
            <a:spLocks noGrp="1"/>
          </p:cNvSpPr>
          <p:nvPr>
            <p:ph sz="half" idx="1"/>
          </p:nvPr>
        </p:nvSpPr>
        <p:spPr/>
        <p:txBody>
          <a:bodyPr/>
          <a:lstStyle/>
          <a:p>
            <a:pPr marL="0" indent="0">
              <a:buNone/>
            </a:pPr>
            <a:r>
              <a:rPr lang="en-US" b="1" dirty="0"/>
              <a:t>Digital Output Assignment</a:t>
            </a:r>
          </a:p>
          <a:p>
            <a:r>
              <a:rPr lang="en-US" dirty="0"/>
              <a:t>Run indication</a:t>
            </a:r>
          </a:p>
          <a:p>
            <a:r>
              <a:rPr lang="en-US" dirty="0"/>
              <a:t>Fault signal</a:t>
            </a:r>
          </a:p>
          <a:p>
            <a:r>
              <a:rPr lang="en-US" dirty="0"/>
              <a:t>At speed</a:t>
            </a:r>
          </a:p>
          <a:p>
            <a:r>
              <a:rPr lang="en-US" dirty="0"/>
              <a:t>Zero speed detection</a:t>
            </a:r>
          </a:p>
          <a:p>
            <a:endParaRPr lang="en-IN" dirty="0"/>
          </a:p>
        </p:txBody>
      </p:sp>
      <p:sp>
        <p:nvSpPr>
          <p:cNvPr id="4" name="Content Placeholder 3">
            <a:extLst>
              <a:ext uri="{FF2B5EF4-FFF2-40B4-BE49-F238E27FC236}">
                <a16:creationId xmlns:a16="http://schemas.microsoft.com/office/drawing/2014/main" id="{67AA08BF-F7B2-AAC4-866F-6AC2C94F03C9}"/>
              </a:ext>
            </a:extLst>
          </p:cNvPr>
          <p:cNvSpPr>
            <a:spLocks noGrp="1"/>
          </p:cNvSpPr>
          <p:nvPr>
            <p:ph sz="half" idx="2"/>
          </p:nvPr>
        </p:nvSpPr>
        <p:spPr/>
        <p:txBody>
          <a:bodyPr/>
          <a:lstStyle/>
          <a:p>
            <a:pPr marL="0" indent="0">
              <a:buNone/>
            </a:pPr>
            <a:r>
              <a:rPr lang="en-US" b="1" dirty="0"/>
              <a:t>Analog Output Assignment</a:t>
            </a:r>
          </a:p>
          <a:p>
            <a:r>
              <a:rPr lang="en-US" dirty="0"/>
              <a:t>Motor speed</a:t>
            </a:r>
          </a:p>
          <a:p>
            <a:r>
              <a:rPr lang="en-US" dirty="0"/>
              <a:t>Output frequency</a:t>
            </a:r>
          </a:p>
          <a:p>
            <a:r>
              <a:rPr lang="en-US" dirty="0"/>
              <a:t>Motor current</a:t>
            </a:r>
          </a:p>
          <a:p>
            <a:r>
              <a:rPr lang="en-US" dirty="0"/>
              <a:t>Torque percentage</a:t>
            </a:r>
          </a:p>
          <a:p>
            <a:endParaRPr lang="en-IN" dirty="0"/>
          </a:p>
        </p:txBody>
      </p:sp>
    </p:spTree>
    <p:extLst>
      <p:ext uri="{BB962C8B-B14F-4D97-AF65-F5344CB8AC3E}">
        <p14:creationId xmlns:p14="http://schemas.microsoft.com/office/powerpoint/2010/main" val="20482401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0849A-8D5E-4A4E-71D6-E735A0E8CA6E}"/>
              </a:ext>
            </a:extLst>
          </p:cNvPr>
          <p:cNvSpPr>
            <a:spLocks noGrp="1"/>
          </p:cNvSpPr>
          <p:nvPr>
            <p:ph type="title"/>
          </p:nvPr>
        </p:nvSpPr>
        <p:spPr/>
        <p:txBody>
          <a:bodyPr/>
          <a:lstStyle/>
          <a:p>
            <a:r>
              <a:rPr lang="en-US" dirty="0"/>
              <a:t>Auto-Tuning in VFD (Offline and Online)</a:t>
            </a:r>
            <a:endParaRPr lang="en-IN" dirty="0"/>
          </a:p>
        </p:txBody>
      </p:sp>
      <p:sp>
        <p:nvSpPr>
          <p:cNvPr id="5" name="Content Placeholder 4">
            <a:extLst>
              <a:ext uri="{FF2B5EF4-FFF2-40B4-BE49-F238E27FC236}">
                <a16:creationId xmlns:a16="http://schemas.microsoft.com/office/drawing/2014/main" id="{E2AC35E7-926F-BBE7-4359-A903EF5A5932}"/>
              </a:ext>
            </a:extLst>
          </p:cNvPr>
          <p:cNvSpPr>
            <a:spLocks noGrp="1"/>
          </p:cNvSpPr>
          <p:nvPr>
            <p:ph idx="1"/>
          </p:nvPr>
        </p:nvSpPr>
        <p:spPr/>
        <p:txBody>
          <a:bodyPr>
            <a:normAutofit fontScale="92500" lnSpcReduction="20000"/>
          </a:bodyPr>
          <a:lstStyle/>
          <a:p>
            <a:pPr marL="0" indent="0">
              <a:buNone/>
            </a:pPr>
            <a:r>
              <a:rPr lang="en-US" b="1" dirty="0"/>
              <a:t>Auto-tuning</a:t>
            </a:r>
            <a:r>
              <a:rPr lang="en-US" dirty="0"/>
              <a:t> is a feature in a Variable Frequency Drive (VFD) that automatically identifies the </a:t>
            </a:r>
            <a:r>
              <a:rPr lang="en-US" b="1" dirty="0"/>
              <a:t>electrical parameters of the connected motor</a:t>
            </a:r>
            <a:r>
              <a:rPr lang="en-US" dirty="0"/>
              <a:t> and adjusts the control algorithm to ensure </a:t>
            </a:r>
            <a:r>
              <a:rPr lang="en-US" b="1" dirty="0"/>
              <a:t>accurate speed, torque, and position control</a:t>
            </a:r>
            <a:r>
              <a:rPr lang="en-US" dirty="0"/>
              <a:t>.</a:t>
            </a:r>
          </a:p>
          <a:p>
            <a:r>
              <a:rPr lang="en-US" dirty="0"/>
              <a:t>Motor parameters that are typically identified include:</a:t>
            </a:r>
          </a:p>
          <a:p>
            <a:r>
              <a:rPr lang="en-US" dirty="0"/>
              <a:t>Stator resistance</a:t>
            </a:r>
          </a:p>
          <a:p>
            <a:r>
              <a:rPr lang="en-US" dirty="0"/>
              <a:t>Rotor resistance</a:t>
            </a:r>
          </a:p>
          <a:p>
            <a:r>
              <a:rPr lang="en-US" dirty="0"/>
              <a:t>Inductance</a:t>
            </a:r>
          </a:p>
          <a:p>
            <a:r>
              <a:rPr lang="en-US" dirty="0"/>
              <a:t>Magnetizing current</a:t>
            </a:r>
          </a:p>
          <a:p>
            <a:r>
              <a:rPr lang="en-US" dirty="0"/>
              <a:t>Motor inertia</a:t>
            </a:r>
          </a:p>
          <a:p>
            <a:pPr marL="0" indent="0">
              <a:buNone/>
            </a:pPr>
            <a:r>
              <a:rPr lang="en-US" dirty="0"/>
              <a:t>Accurate parameter identification improves </a:t>
            </a:r>
            <a:r>
              <a:rPr lang="en-US" b="1" dirty="0"/>
              <a:t>control accuracy and efficiency</a:t>
            </a:r>
            <a:r>
              <a:rPr lang="en-US" dirty="0"/>
              <a:t>, especially in </a:t>
            </a:r>
            <a:r>
              <a:rPr lang="en-US" b="1" dirty="0"/>
              <a:t>vector control drives</a:t>
            </a:r>
            <a:r>
              <a:rPr lang="en-US" dirty="0"/>
              <a:t>.</a:t>
            </a:r>
          </a:p>
          <a:p>
            <a:endParaRPr lang="en-IN" dirty="0"/>
          </a:p>
        </p:txBody>
      </p:sp>
    </p:spTree>
    <p:extLst>
      <p:ext uri="{BB962C8B-B14F-4D97-AF65-F5344CB8AC3E}">
        <p14:creationId xmlns:p14="http://schemas.microsoft.com/office/powerpoint/2010/main" val="127994222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41892EF-81FF-63B4-9E2C-105A2A1CC756}"/>
              </a:ext>
            </a:extLst>
          </p:cNvPr>
          <p:cNvSpPr>
            <a:spLocks noGrp="1"/>
          </p:cNvSpPr>
          <p:nvPr>
            <p:ph type="title"/>
          </p:nvPr>
        </p:nvSpPr>
        <p:spPr/>
        <p:txBody>
          <a:bodyPr/>
          <a:lstStyle/>
          <a:p>
            <a:r>
              <a:rPr lang="en-IN" dirty="0"/>
              <a:t>Types of Auto-Tuning</a:t>
            </a:r>
          </a:p>
        </p:txBody>
      </p:sp>
      <p:sp>
        <p:nvSpPr>
          <p:cNvPr id="7" name="Text Placeholder 6">
            <a:extLst>
              <a:ext uri="{FF2B5EF4-FFF2-40B4-BE49-F238E27FC236}">
                <a16:creationId xmlns:a16="http://schemas.microsoft.com/office/drawing/2014/main" id="{B7EB90B7-C9FF-EC62-DF9A-60E6C84086EB}"/>
              </a:ext>
            </a:extLst>
          </p:cNvPr>
          <p:cNvSpPr>
            <a:spLocks noGrp="1"/>
          </p:cNvSpPr>
          <p:nvPr>
            <p:ph type="body" idx="1"/>
          </p:nvPr>
        </p:nvSpPr>
        <p:spPr/>
        <p:txBody>
          <a:bodyPr/>
          <a:lstStyle/>
          <a:p>
            <a:r>
              <a:rPr lang="en-IN" dirty="0"/>
              <a:t>Offline Auto-Tuning (Static Auto-Tune)</a:t>
            </a:r>
          </a:p>
        </p:txBody>
      </p:sp>
      <p:sp>
        <p:nvSpPr>
          <p:cNvPr id="8" name="Content Placeholder 7">
            <a:extLst>
              <a:ext uri="{FF2B5EF4-FFF2-40B4-BE49-F238E27FC236}">
                <a16:creationId xmlns:a16="http://schemas.microsoft.com/office/drawing/2014/main" id="{108491D7-8EB2-D6CD-85F0-A3174152EE51}"/>
              </a:ext>
            </a:extLst>
          </p:cNvPr>
          <p:cNvSpPr>
            <a:spLocks noGrp="1"/>
          </p:cNvSpPr>
          <p:nvPr>
            <p:ph sz="half" idx="2"/>
          </p:nvPr>
        </p:nvSpPr>
        <p:spPr/>
        <p:txBody>
          <a:bodyPr>
            <a:normAutofit fontScale="55000" lnSpcReduction="20000"/>
          </a:bodyPr>
          <a:lstStyle/>
          <a:p>
            <a:pPr marL="0" indent="0">
              <a:buNone/>
            </a:pPr>
            <a:r>
              <a:rPr lang="en-US" b="1" dirty="0"/>
              <a:t>Working</a:t>
            </a:r>
          </a:p>
          <a:p>
            <a:r>
              <a:rPr lang="en-US" dirty="0"/>
              <a:t>The motor </a:t>
            </a:r>
            <a:r>
              <a:rPr lang="en-US" b="1" dirty="0"/>
              <a:t>does not rotate</a:t>
            </a:r>
            <a:r>
              <a:rPr lang="en-US" dirty="0"/>
              <a:t> during tuning.</a:t>
            </a:r>
          </a:p>
          <a:p>
            <a:r>
              <a:rPr lang="en-US" dirty="0"/>
              <a:t>VFD injects a small test signal into the motor windings.</a:t>
            </a:r>
          </a:p>
          <a:p>
            <a:r>
              <a:rPr lang="en-US" dirty="0"/>
              <a:t>Electrical parameters are measured.</a:t>
            </a:r>
          </a:p>
          <a:p>
            <a:pPr marL="0" indent="0">
              <a:buNone/>
            </a:pPr>
            <a:r>
              <a:rPr lang="en-US" b="1" dirty="0"/>
              <a:t>Features</a:t>
            </a:r>
          </a:p>
          <a:p>
            <a:r>
              <a:rPr lang="en-US" dirty="0"/>
              <a:t>Safe for systems where motor movement is not allowed.</a:t>
            </a:r>
          </a:p>
          <a:p>
            <a:r>
              <a:rPr lang="en-US" dirty="0"/>
              <a:t>Faster tuning process.</a:t>
            </a:r>
          </a:p>
          <a:p>
            <a:pPr marL="0" indent="0">
              <a:buNone/>
            </a:pPr>
            <a:r>
              <a:rPr lang="en-US" b="1" dirty="0"/>
              <a:t>Example</a:t>
            </a:r>
          </a:p>
          <a:p>
            <a:r>
              <a:rPr lang="en-US" dirty="0"/>
              <a:t>A </a:t>
            </a:r>
            <a:r>
              <a:rPr lang="en-US" b="1" dirty="0"/>
              <a:t>conveyor belt system</a:t>
            </a:r>
            <a:r>
              <a:rPr lang="en-US" dirty="0"/>
              <a:t> in a packaging plant is connected to a new motor.</a:t>
            </a:r>
            <a:br>
              <a:rPr lang="en-US" dirty="0"/>
            </a:br>
            <a:r>
              <a:rPr lang="en-US" dirty="0"/>
              <a:t>Before running the system, the engineer performs </a:t>
            </a:r>
            <a:r>
              <a:rPr lang="en-US" b="1" dirty="0"/>
              <a:t>offline auto-tuning</a:t>
            </a:r>
            <a:r>
              <a:rPr lang="en-US" dirty="0"/>
              <a:t> to allow the VFD to learn the motor parameters without rotating the conveyor.</a:t>
            </a:r>
          </a:p>
          <a:p>
            <a:endParaRPr lang="en-IN" dirty="0"/>
          </a:p>
        </p:txBody>
      </p:sp>
      <p:sp>
        <p:nvSpPr>
          <p:cNvPr id="9" name="Text Placeholder 8">
            <a:extLst>
              <a:ext uri="{FF2B5EF4-FFF2-40B4-BE49-F238E27FC236}">
                <a16:creationId xmlns:a16="http://schemas.microsoft.com/office/drawing/2014/main" id="{775154F4-8A91-E6E2-D26A-B874BDA55330}"/>
              </a:ext>
            </a:extLst>
          </p:cNvPr>
          <p:cNvSpPr>
            <a:spLocks noGrp="1"/>
          </p:cNvSpPr>
          <p:nvPr>
            <p:ph type="body" sz="quarter" idx="3"/>
          </p:nvPr>
        </p:nvSpPr>
        <p:spPr/>
        <p:txBody>
          <a:bodyPr/>
          <a:lstStyle/>
          <a:p>
            <a:r>
              <a:rPr lang="en-IN" dirty="0"/>
              <a:t>Online Auto-Tuning (Dynamic Auto-Tune)</a:t>
            </a:r>
          </a:p>
        </p:txBody>
      </p:sp>
      <p:sp>
        <p:nvSpPr>
          <p:cNvPr id="10" name="Content Placeholder 9">
            <a:extLst>
              <a:ext uri="{FF2B5EF4-FFF2-40B4-BE49-F238E27FC236}">
                <a16:creationId xmlns:a16="http://schemas.microsoft.com/office/drawing/2014/main" id="{A7806BCB-5108-F709-7ACE-E8A141FEFE80}"/>
              </a:ext>
            </a:extLst>
          </p:cNvPr>
          <p:cNvSpPr>
            <a:spLocks noGrp="1"/>
          </p:cNvSpPr>
          <p:nvPr>
            <p:ph sz="quarter" idx="4"/>
          </p:nvPr>
        </p:nvSpPr>
        <p:spPr/>
        <p:txBody>
          <a:bodyPr>
            <a:normAutofit fontScale="55000" lnSpcReduction="20000"/>
          </a:bodyPr>
          <a:lstStyle/>
          <a:p>
            <a:pPr marL="0" indent="0">
              <a:buNone/>
            </a:pPr>
            <a:r>
              <a:rPr lang="en-US" b="1" dirty="0"/>
              <a:t>Working</a:t>
            </a:r>
          </a:p>
          <a:p>
            <a:r>
              <a:rPr lang="en-US" dirty="0"/>
              <a:t>Motor </a:t>
            </a:r>
            <a:r>
              <a:rPr lang="en-US" b="1" dirty="0"/>
              <a:t>rotates during tuning</a:t>
            </a:r>
            <a:r>
              <a:rPr lang="en-US" dirty="0"/>
              <a:t>.</a:t>
            </a:r>
          </a:p>
          <a:p>
            <a:r>
              <a:rPr lang="en-US" dirty="0"/>
              <a:t>VFD measures dynamic parameters such as inertia and load characteristics.</a:t>
            </a:r>
          </a:p>
          <a:p>
            <a:pPr marL="0" indent="0">
              <a:buNone/>
            </a:pPr>
            <a:r>
              <a:rPr lang="en-US" b="1" dirty="0"/>
              <a:t>Features</a:t>
            </a:r>
          </a:p>
          <a:p>
            <a:r>
              <a:rPr lang="en-US" dirty="0"/>
              <a:t>Provides more accurate tuning.</a:t>
            </a:r>
          </a:p>
          <a:p>
            <a:r>
              <a:rPr lang="en-US" dirty="0"/>
              <a:t>Used when precise </a:t>
            </a:r>
            <a:r>
              <a:rPr lang="en-US" b="1" dirty="0"/>
              <a:t>vector control</a:t>
            </a:r>
            <a:r>
              <a:rPr lang="en-US" dirty="0"/>
              <a:t> is required.</a:t>
            </a:r>
          </a:p>
          <a:p>
            <a:pPr marL="0" indent="0">
              <a:buNone/>
            </a:pPr>
            <a:r>
              <a:rPr lang="en-US" b="1" dirty="0"/>
              <a:t>Example</a:t>
            </a:r>
          </a:p>
          <a:p>
            <a:r>
              <a:rPr lang="en-US" dirty="0"/>
              <a:t>In a </a:t>
            </a:r>
            <a:r>
              <a:rPr lang="en-US" b="1" dirty="0"/>
              <a:t>CNC machine spindle</a:t>
            </a:r>
            <a:r>
              <a:rPr lang="en-US" dirty="0"/>
              <a:t>, precise torque control is required.</a:t>
            </a:r>
            <a:br>
              <a:rPr lang="en-US" dirty="0"/>
            </a:br>
            <a:r>
              <a:rPr lang="en-US" dirty="0"/>
              <a:t>Online auto-tuning is performed while the motor rotates to obtain accurate dynamic parameters.</a:t>
            </a:r>
          </a:p>
          <a:p>
            <a:endParaRPr lang="en-IN" dirty="0"/>
          </a:p>
        </p:txBody>
      </p:sp>
    </p:spTree>
    <p:extLst>
      <p:ext uri="{BB962C8B-B14F-4D97-AF65-F5344CB8AC3E}">
        <p14:creationId xmlns:p14="http://schemas.microsoft.com/office/powerpoint/2010/main" val="375875423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6BF78AE0-726B-8CDB-0392-C50F9D7564C4}"/>
              </a:ext>
            </a:extLst>
          </p:cNvPr>
          <p:cNvSpPr>
            <a:spLocks noGrp="1"/>
          </p:cNvSpPr>
          <p:nvPr>
            <p:ph type="title"/>
          </p:nvPr>
        </p:nvSpPr>
        <p:spPr/>
        <p:txBody>
          <a:bodyPr/>
          <a:lstStyle/>
          <a:p>
            <a:r>
              <a:rPr lang="en-IN" dirty="0"/>
              <a:t>Control Types in VFD</a:t>
            </a:r>
          </a:p>
        </p:txBody>
      </p:sp>
      <mc:AlternateContent xmlns:mc="http://schemas.openxmlformats.org/markup-compatibility/2006">
        <mc:Choice xmlns:a14="http://schemas.microsoft.com/office/drawing/2010/main" Requires="a14">
          <p:sp>
            <p:nvSpPr>
              <p:cNvPr id="10" name="Content Placeholder 9">
                <a:extLst>
                  <a:ext uri="{FF2B5EF4-FFF2-40B4-BE49-F238E27FC236}">
                    <a16:creationId xmlns:a16="http://schemas.microsoft.com/office/drawing/2014/main" id="{8A9F6F3F-F452-63BA-292E-E762ECF46A23}"/>
                  </a:ext>
                </a:extLst>
              </p:cNvPr>
              <p:cNvSpPr>
                <a:spLocks noGrp="1"/>
              </p:cNvSpPr>
              <p:nvPr>
                <p:ph idx="1"/>
              </p:nvPr>
            </p:nvSpPr>
            <p:spPr/>
            <p:txBody>
              <a:bodyPr>
                <a:normAutofit fontScale="85000" lnSpcReduction="10000"/>
              </a:bodyPr>
              <a:lstStyle/>
              <a:p>
                <a:pPr marL="0" indent="0">
                  <a:buNone/>
                </a:pPr>
                <a:r>
                  <a:rPr lang="en-IN" b="1" dirty="0"/>
                  <a:t>Speed Control</a:t>
                </a:r>
              </a:p>
              <a:p>
                <a:r>
                  <a:rPr lang="en-IN" dirty="0"/>
                  <a:t>Controls the </a:t>
                </a:r>
                <a:r>
                  <a:rPr lang="en-IN" b="1" dirty="0"/>
                  <a:t>rotational speed of the motor</a:t>
                </a:r>
                <a:r>
                  <a:rPr lang="en-IN" dirty="0"/>
                  <a:t> by adjusting output frequency.</a:t>
                </a:r>
              </a:p>
              <a:p>
                <a:pPr marL="0" indent="0">
                  <a:buNone/>
                </a:pPr>
                <a:r>
                  <a:rPr lang="en-IN" dirty="0"/>
                  <a:t>Relationship:</a:t>
                </a:r>
              </a:p>
              <a:p>
                <a14:m>
                  <m:oMath xmlns:m="http://schemas.openxmlformats.org/officeDocument/2006/math">
                    <m:sSub>
                      <m:sSubPr>
                        <m:ctrlPr>
                          <a:rPr lang="ar-AE"/>
                        </m:ctrlPr>
                      </m:sSubPr>
                      <m:e>
                        <m:r>
                          <a:rPr lang="ar-AE" i="1"/>
                          <m:t>𝑁</m:t>
                        </m:r>
                      </m:e>
                      <m:sub>
                        <m:r>
                          <a:rPr lang="ar-AE" i="1"/>
                          <m:t>𝑠</m:t>
                        </m:r>
                      </m:sub>
                    </m:sSub>
                    <m:r>
                      <a:rPr lang="ar-AE"/>
                      <m:t>=</m:t>
                    </m:r>
                    <m:f>
                      <m:fPr>
                        <m:ctrlPr>
                          <a:rPr lang="ar-AE" i="1"/>
                        </m:ctrlPr>
                      </m:fPr>
                      <m:num>
                        <m:r>
                          <a:rPr lang="ar-AE"/>
                          <m:t>120</m:t>
                        </m:r>
                        <m:r>
                          <a:rPr lang="ar-AE" i="1"/>
                          <m:t>𝑓</m:t>
                        </m:r>
                      </m:num>
                      <m:den>
                        <m:r>
                          <a:rPr lang="ar-AE" i="1"/>
                          <m:t>𝑃</m:t>
                        </m:r>
                      </m:den>
                    </m:f>
                  </m:oMath>
                </a14:m>
                <a:endParaRPr lang="ar-AE" dirty="0"/>
              </a:p>
              <a:p>
                <a:pPr marL="0" indent="0">
                  <a:buNone/>
                </a:pPr>
                <a:r>
                  <a:rPr lang="en-IN" dirty="0"/>
                  <a:t>Where</a:t>
                </a:r>
                <a:br>
                  <a:rPr lang="en-IN" dirty="0"/>
                </a:br>
                <a14:m>
                  <m:oMath xmlns:m="http://schemas.openxmlformats.org/officeDocument/2006/math">
                    <m:sSub>
                      <m:sSubPr>
                        <m:ctrlPr>
                          <a:rPr lang="ar-AE"/>
                        </m:ctrlPr>
                      </m:sSubPr>
                      <m:e>
                        <m:r>
                          <a:rPr lang="ar-AE" i="1"/>
                          <m:t>𝑁</m:t>
                        </m:r>
                      </m:e>
                      <m:sub>
                        <m:r>
                          <a:rPr lang="ar-AE" i="1"/>
                          <m:t>𝑠</m:t>
                        </m:r>
                      </m:sub>
                    </m:sSub>
                  </m:oMath>
                </a14:m>
                <a:r>
                  <a:rPr lang="ar-AE" dirty="0"/>
                  <a:t>= </a:t>
                </a:r>
                <a:r>
                  <a:rPr lang="en-IN" dirty="0"/>
                  <a:t>synchronous speed</a:t>
                </a:r>
                <a:br>
                  <a:rPr lang="en-IN" dirty="0"/>
                </a:br>
                <a14:m>
                  <m:oMath xmlns:m="http://schemas.openxmlformats.org/officeDocument/2006/math">
                    <m:r>
                      <a:rPr lang="en-IN" i="1"/>
                      <m:t>𝑓</m:t>
                    </m:r>
                  </m:oMath>
                </a14:m>
                <a:r>
                  <a:rPr lang="en-IN" dirty="0"/>
                  <a:t>= supply frequency</a:t>
                </a:r>
                <a:br>
                  <a:rPr lang="en-IN" dirty="0"/>
                </a:br>
                <a14:m>
                  <m:oMath xmlns:m="http://schemas.openxmlformats.org/officeDocument/2006/math">
                    <m:r>
                      <a:rPr lang="en-IN" i="1"/>
                      <m:t>𝑃</m:t>
                    </m:r>
                  </m:oMath>
                </a14:m>
                <a:r>
                  <a:rPr lang="en-IN" dirty="0"/>
                  <a:t>= number of poles</a:t>
                </a:r>
              </a:p>
              <a:p>
                <a:pPr marL="0" indent="0">
                  <a:buNone/>
                </a:pPr>
                <a:r>
                  <a:rPr lang="en-IN" b="1" dirty="0"/>
                  <a:t>Example</a:t>
                </a:r>
              </a:p>
              <a:p>
                <a:r>
                  <a:rPr lang="en-IN" dirty="0"/>
                  <a:t>In a </a:t>
                </a:r>
                <a:r>
                  <a:rPr lang="en-IN" b="1" dirty="0"/>
                  <a:t>water pump</a:t>
                </a:r>
                <a:r>
                  <a:rPr lang="en-IN" dirty="0"/>
                  <a:t>, reducing frequency from 50 Hz to 40 Hz reduces the motor speed and pump flow rate.</a:t>
                </a:r>
              </a:p>
              <a:p>
                <a:endParaRPr lang="en-IN" dirty="0"/>
              </a:p>
            </p:txBody>
          </p:sp>
        </mc:Choice>
        <mc:Fallback>
          <p:sp>
            <p:nvSpPr>
              <p:cNvPr id="10" name="Content Placeholder 9">
                <a:extLst>
                  <a:ext uri="{FF2B5EF4-FFF2-40B4-BE49-F238E27FC236}">
                    <a16:creationId xmlns:a16="http://schemas.microsoft.com/office/drawing/2014/main" id="{8A9F6F3F-F452-63BA-292E-E762ECF46A23}"/>
                  </a:ext>
                </a:extLst>
              </p:cNvPr>
              <p:cNvSpPr>
                <a:spLocks noGrp="1" noRot="1" noChangeAspect="1" noMove="1" noResize="1" noEditPoints="1" noAdjustHandles="1" noChangeArrowheads="1" noChangeShapeType="1" noTextEdit="1"/>
              </p:cNvSpPr>
              <p:nvPr>
                <p:ph idx="1"/>
              </p:nvPr>
            </p:nvSpPr>
            <p:spPr>
              <a:blipFill>
                <a:blip r:embed="rId2"/>
                <a:stretch>
                  <a:fillRect l="-928" t="-2521" b="-1401"/>
                </a:stretch>
              </a:blipFill>
            </p:spPr>
            <p:txBody>
              <a:bodyPr/>
              <a:lstStyle/>
              <a:p>
                <a:r>
                  <a:rPr lang="en-IN">
                    <a:noFill/>
                  </a:rPr>
                  <a:t> </a:t>
                </a:r>
              </a:p>
            </p:txBody>
          </p:sp>
        </mc:Fallback>
      </mc:AlternateContent>
    </p:spTree>
    <p:extLst>
      <p:ext uri="{BB962C8B-B14F-4D97-AF65-F5344CB8AC3E}">
        <p14:creationId xmlns:p14="http://schemas.microsoft.com/office/powerpoint/2010/main" val="369466315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14CDEF-E9CA-FE0A-F962-9BEFBEEEDC6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E4E10A0-DD97-B3F5-1F11-9B228D43953D}"/>
              </a:ext>
            </a:extLst>
          </p:cNvPr>
          <p:cNvSpPr>
            <a:spLocks noGrp="1"/>
          </p:cNvSpPr>
          <p:nvPr>
            <p:ph idx="1"/>
          </p:nvPr>
        </p:nvSpPr>
        <p:spPr/>
        <p:txBody>
          <a:bodyPr>
            <a:normAutofit lnSpcReduction="10000"/>
          </a:bodyPr>
          <a:lstStyle/>
          <a:p>
            <a:pPr marL="0" indent="0">
              <a:buNone/>
            </a:pPr>
            <a:r>
              <a:rPr lang="en-US" b="1" dirty="0"/>
              <a:t>Torque Control</a:t>
            </a:r>
          </a:p>
          <a:p>
            <a:r>
              <a:rPr lang="en-US" dirty="0"/>
              <a:t>Controls the </a:t>
            </a:r>
            <a:r>
              <a:rPr lang="en-US" b="1" dirty="0"/>
              <a:t>torque output of the motor</a:t>
            </a:r>
            <a:r>
              <a:rPr lang="en-US" dirty="0"/>
              <a:t> independent of speed.</a:t>
            </a:r>
          </a:p>
          <a:p>
            <a:pPr marL="0" indent="0">
              <a:buNone/>
            </a:pPr>
            <a:r>
              <a:rPr lang="en-US" dirty="0"/>
              <a:t>Used in:</a:t>
            </a:r>
          </a:p>
          <a:p>
            <a:r>
              <a:rPr lang="en-US" dirty="0"/>
              <a:t>Winding machines</a:t>
            </a:r>
          </a:p>
          <a:p>
            <a:r>
              <a:rPr lang="en-US" dirty="0"/>
              <a:t>Conveyors</a:t>
            </a:r>
          </a:p>
          <a:p>
            <a:r>
              <a:rPr lang="en-US" dirty="0"/>
              <a:t>Extruders</a:t>
            </a:r>
          </a:p>
          <a:p>
            <a:pPr marL="0" indent="0">
              <a:buNone/>
            </a:pPr>
            <a:r>
              <a:rPr lang="en-US" b="1" dirty="0"/>
              <a:t>Example</a:t>
            </a:r>
          </a:p>
          <a:p>
            <a:r>
              <a:rPr lang="en-US" dirty="0"/>
              <a:t>In a </a:t>
            </a:r>
            <a:r>
              <a:rPr lang="en-US" b="1" dirty="0"/>
              <a:t>paper winding machine</a:t>
            </a:r>
            <a:r>
              <a:rPr lang="en-US" dirty="0"/>
              <a:t>, torque must remain constant while the roll diameter changes.</a:t>
            </a:r>
          </a:p>
          <a:p>
            <a:endParaRPr lang="en-IN" dirty="0"/>
          </a:p>
        </p:txBody>
      </p:sp>
    </p:spTree>
    <p:extLst>
      <p:ext uri="{BB962C8B-B14F-4D97-AF65-F5344CB8AC3E}">
        <p14:creationId xmlns:p14="http://schemas.microsoft.com/office/powerpoint/2010/main" val="269969207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18706-0611-222E-B5BF-034C04B4F11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FEFA611-AAD5-F925-81B3-FFA1A7047E81}"/>
              </a:ext>
            </a:extLst>
          </p:cNvPr>
          <p:cNvSpPr>
            <a:spLocks noGrp="1"/>
          </p:cNvSpPr>
          <p:nvPr>
            <p:ph idx="1"/>
          </p:nvPr>
        </p:nvSpPr>
        <p:spPr/>
        <p:txBody>
          <a:bodyPr/>
          <a:lstStyle/>
          <a:p>
            <a:pPr marL="0" indent="0">
              <a:buNone/>
            </a:pPr>
            <a:r>
              <a:rPr lang="en-US" b="1" dirty="0"/>
              <a:t>Position Control</a:t>
            </a:r>
          </a:p>
          <a:p>
            <a:r>
              <a:rPr lang="en-US" dirty="0"/>
              <a:t>Used when the motor must stop at an </a:t>
            </a:r>
            <a:r>
              <a:rPr lang="en-US" b="1" dirty="0"/>
              <a:t>exact angular position</a:t>
            </a:r>
            <a:r>
              <a:rPr lang="en-US" dirty="0"/>
              <a:t>.</a:t>
            </a:r>
          </a:p>
          <a:p>
            <a:pPr marL="0" indent="0">
              <a:buNone/>
            </a:pPr>
            <a:r>
              <a:rPr lang="en-US" dirty="0"/>
              <a:t>Requires:</a:t>
            </a:r>
          </a:p>
          <a:p>
            <a:r>
              <a:rPr lang="en-US" dirty="0"/>
              <a:t>Encoder or feedback sensor.</a:t>
            </a:r>
          </a:p>
          <a:p>
            <a:pPr marL="0" indent="0">
              <a:buNone/>
            </a:pPr>
            <a:r>
              <a:rPr lang="en-US" b="1" dirty="0"/>
              <a:t>Example</a:t>
            </a:r>
          </a:p>
          <a:p>
            <a:r>
              <a:rPr lang="en-US" dirty="0"/>
              <a:t>In </a:t>
            </a:r>
            <a:r>
              <a:rPr lang="en-US" b="1" dirty="0"/>
              <a:t>robotic arms</a:t>
            </a:r>
            <a:r>
              <a:rPr lang="en-US" dirty="0"/>
              <a:t>, motors must move to precise angular positions.</a:t>
            </a:r>
          </a:p>
          <a:p>
            <a:endParaRPr lang="en-IN" dirty="0"/>
          </a:p>
        </p:txBody>
      </p:sp>
    </p:spTree>
    <p:extLst>
      <p:ext uri="{BB962C8B-B14F-4D97-AF65-F5344CB8AC3E}">
        <p14:creationId xmlns:p14="http://schemas.microsoft.com/office/powerpoint/2010/main" val="28976029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6B80F1-9B7E-E4B1-C6AB-CAEDA5D25377}"/>
              </a:ext>
            </a:extLst>
          </p:cNvPr>
          <p:cNvSpPr>
            <a:spLocks noGrp="1"/>
          </p:cNvSpPr>
          <p:nvPr>
            <p:ph type="title"/>
          </p:nvPr>
        </p:nvSpPr>
        <p:spPr/>
        <p:txBody>
          <a:bodyPr/>
          <a:lstStyle/>
          <a:p>
            <a:r>
              <a:rPr lang="en-US" dirty="0"/>
              <a:t>Braking Mechanism in a VFD-Driven Motor</a:t>
            </a:r>
            <a:endParaRPr lang="en-IN" dirty="0"/>
          </a:p>
        </p:txBody>
      </p:sp>
      <p:sp>
        <p:nvSpPr>
          <p:cNvPr id="3" name="Content Placeholder 2">
            <a:extLst>
              <a:ext uri="{FF2B5EF4-FFF2-40B4-BE49-F238E27FC236}">
                <a16:creationId xmlns:a16="http://schemas.microsoft.com/office/drawing/2014/main" id="{08C37B15-9E32-FAD5-7DE7-40AA17D575AB}"/>
              </a:ext>
            </a:extLst>
          </p:cNvPr>
          <p:cNvSpPr>
            <a:spLocks noGrp="1"/>
          </p:cNvSpPr>
          <p:nvPr>
            <p:ph idx="1"/>
          </p:nvPr>
        </p:nvSpPr>
        <p:spPr/>
        <p:txBody>
          <a:bodyPr>
            <a:normAutofit fontScale="92500" lnSpcReduction="10000"/>
          </a:bodyPr>
          <a:lstStyle/>
          <a:p>
            <a:pPr marL="0" indent="0">
              <a:buNone/>
            </a:pPr>
            <a:r>
              <a:rPr lang="en-US" dirty="0"/>
              <a:t>In many industrial applications, a motor must </a:t>
            </a:r>
            <a:r>
              <a:rPr lang="en-US" b="1" dirty="0"/>
              <a:t>stop quickly, safely, and accurately</a:t>
            </a:r>
            <a:r>
              <a:rPr lang="en-US" dirty="0"/>
              <a:t>. When a motor is decelerated rapidly, the rotating parts (motor rotor and connected load) still contain </a:t>
            </a:r>
            <a:r>
              <a:rPr lang="en-US" b="1" dirty="0"/>
              <a:t>stored kinetic energy</a:t>
            </a:r>
            <a:r>
              <a:rPr lang="en-US" dirty="0"/>
              <a:t>. If this energy is not controlled, it can cause </a:t>
            </a:r>
            <a:r>
              <a:rPr lang="en-US" b="1" dirty="0"/>
              <a:t>overvoltage in the VFD, mechanical damage, or unsafe operation</a:t>
            </a:r>
            <a:r>
              <a:rPr lang="en-US" dirty="0"/>
              <a:t>. Therefore, a </a:t>
            </a:r>
            <a:r>
              <a:rPr lang="en-US" b="1" dirty="0"/>
              <a:t>braking mechanism is required</a:t>
            </a:r>
            <a:r>
              <a:rPr lang="en-US" dirty="0"/>
              <a:t>.</a:t>
            </a:r>
          </a:p>
          <a:p>
            <a:pPr marL="0" indent="0">
              <a:buNone/>
            </a:pPr>
            <a:r>
              <a:rPr lang="en-US" b="1" dirty="0"/>
              <a:t>1. To Stop the Motor Quickly</a:t>
            </a:r>
          </a:p>
          <a:p>
            <a:r>
              <a:rPr lang="en-US" dirty="0"/>
              <a:t>Some industrial processes require </a:t>
            </a:r>
            <a:r>
              <a:rPr lang="en-US" b="1" dirty="0"/>
              <a:t>rapid stopping</a:t>
            </a:r>
            <a:r>
              <a:rPr lang="en-US" dirty="0"/>
              <a:t> to maintain productivity and safety.</a:t>
            </a:r>
          </a:p>
          <a:p>
            <a:pPr marL="0" indent="0">
              <a:buNone/>
            </a:pPr>
            <a:r>
              <a:rPr lang="en-US" b="1" dirty="0"/>
              <a:t>Example:</a:t>
            </a:r>
            <a:br>
              <a:rPr lang="en-US" dirty="0"/>
            </a:br>
            <a:r>
              <a:rPr lang="en-US" dirty="0"/>
              <a:t>In a </a:t>
            </a:r>
            <a:r>
              <a:rPr lang="en-US" b="1" dirty="0"/>
              <a:t>conveyor system</a:t>
            </a:r>
            <a:r>
              <a:rPr lang="en-US" dirty="0"/>
              <a:t>, when the stop command is given, the motor should stop immediately to prevent product damage or accidents.</a:t>
            </a:r>
          </a:p>
          <a:p>
            <a:pPr marL="0" indent="0">
              <a:buNone/>
            </a:pPr>
            <a:endParaRPr lang="en-IN" dirty="0"/>
          </a:p>
        </p:txBody>
      </p:sp>
    </p:spTree>
    <p:extLst>
      <p:ext uri="{BB962C8B-B14F-4D97-AF65-F5344CB8AC3E}">
        <p14:creationId xmlns:p14="http://schemas.microsoft.com/office/powerpoint/2010/main" val="385458586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5D512E-7DCC-7CB4-86E8-C9308FE74F1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9CCC83B7-9D75-374E-0472-8F738D7C9BA2}"/>
              </a:ext>
            </a:extLst>
          </p:cNvPr>
          <p:cNvSpPr>
            <a:spLocks noGrp="1"/>
          </p:cNvSpPr>
          <p:nvPr>
            <p:ph idx="1"/>
          </p:nvPr>
        </p:nvSpPr>
        <p:spPr/>
        <p:txBody>
          <a:bodyPr/>
          <a:lstStyle/>
          <a:p>
            <a:pPr marL="0" indent="0">
              <a:buNone/>
            </a:pPr>
            <a:r>
              <a:rPr lang="en-US" b="1" dirty="0"/>
              <a:t>2. To Prevent Overvoltage in the VFD</a:t>
            </a:r>
          </a:p>
          <a:p>
            <a:r>
              <a:rPr lang="en-US" dirty="0"/>
              <a:t>When a motor slows down, it behaves like a </a:t>
            </a:r>
            <a:r>
              <a:rPr lang="en-US" b="1" dirty="0"/>
              <a:t>generator</a:t>
            </a:r>
            <a:r>
              <a:rPr lang="en-US" dirty="0"/>
              <a:t> and sends electrical energy back to the VFD. This energy increases the </a:t>
            </a:r>
            <a:r>
              <a:rPr lang="en-US" b="1" dirty="0"/>
              <a:t>DC bus voltage</a:t>
            </a:r>
            <a:r>
              <a:rPr lang="en-US" dirty="0"/>
              <a:t> in the drive.</a:t>
            </a:r>
          </a:p>
          <a:p>
            <a:pPr marL="0" indent="0">
              <a:buNone/>
            </a:pPr>
            <a:r>
              <a:rPr lang="en-US" dirty="0"/>
              <a:t>If the voltage becomes too high, it may:</a:t>
            </a:r>
          </a:p>
          <a:p>
            <a:r>
              <a:rPr lang="en-US" dirty="0"/>
              <a:t>Trip the VFD</a:t>
            </a:r>
          </a:p>
          <a:p>
            <a:r>
              <a:rPr lang="en-US" dirty="0"/>
              <a:t>Damage electronic components</a:t>
            </a:r>
          </a:p>
          <a:p>
            <a:r>
              <a:rPr lang="en-US" dirty="0"/>
              <a:t>Braking mechanisms help </a:t>
            </a:r>
            <a:r>
              <a:rPr lang="en-US" b="1" dirty="0"/>
              <a:t>dissipate or redirect this energy</a:t>
            </a:r>
            <a:r>
              <a:rPr lang="en-US" dirty="0"/>
              <a:t>.</a:t>
            </a:r>
          </a:p>
          <a:p>
            <a:endParaRPr lang="en-IN" dirty="0"/>
          </a:p>
        </p:txBody>
      </p:sp>
    </p:spTree>
    <p:extLst>
      <p:ext uri="{BB962C8B-B14F-4D97-AF65-F5344CB8AC3E}">
        <p14:creationId xmlns:p14="http://schemas.microsoft.com/office/powerpoint/2010/main" val="278430964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83C2E-3D99-12FF-A533-BF3EF22957B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1392315C-C3CD-23C0-7AED-4529F3B49284}"/>
              </a:ext>
            </a:extLst>
          </p:cNvPr>
          <p:cNvSpPr>
            <a:spLocks noGrp="1"/>
          </p:cNvSpPr>
          <p:nvPr>
            <p:ph idx="1"/>
          </p:nvPr>
        </p:nvSpPr>
        <p:spPr/>
        <p:txBody>
          <a:bodyPr>
            <a:normAutofit fontScale="70000" lnSpcReduction="20000"/>
          </a:bodyPr>
          <a:lstStyle/>
          <a:p>
            <a:pPr marL="0" indent="0">
              <a:buNone/>
            </a:pPr>
            <a:r>
              <a:rPr lang="en-US" b="1" dirty="0"/>
              <a:t>3. To Improve Process Control</a:t>
            </a:r>
          </a:p>
          <a:p>
            <a:pPr marL="0" indent="0">
              <a:buNone/>
            </a:pPr>
            <a:r>
              <a:rPr lang="en-US" dirty="0"/>
              <a:t>Precise braking helps maintain </a:t>
            </a:r>
            <a:r>
              <a:rPr lang="en-US" b="1" dirty="0"/>
              <a:t>accurate control of motion</a:t>
            </a:r>
            <a:r>
              <a:rPr lang="en-US" dirty="0"/>
              <a:t>.</a:t>
            </a:r>
          </a:p>
          <a:p>
            <a:r>
              <a:rPr lang="en-US" b="1" dirty="0"/>
              <a:t>Example:</a:t>
            </a:r>
            <a:br>
              <a:rPr lang="en-US" dirty="0"/>
            </a:br>
            <a:r>
              <a:rPr lang="en-US" dirty="0"/>
              <a:t>In </a:t>
            </a:r>
            <a:r>
              <a:rPr lang="en-US" b="1" dirty="0"/>
              <a:t>robotic systems or CNC machines</a:t>
            </a:r>
            <a:r>
              <a:rPr lang="en-US" dirty="0"/>
              <a:t>, motors must stop at exact positions. A braking mechanism ensures controlled deceleration.</a:t>
            </a:r>
          </a:p>
          <a:p>
            <a:pPr marL="0" indent="0">
              <a:buNone/>
            </a:pPr>
            <a:r>
              <a:rPr lang="en-US" b="1" dirty="0"/>
              <a:t>4. To Handle High Inertia Loads</a:t>
            </a:r>
          </a:p>
          <a:p>
            <a:pPr marL="0" indent="0">
              <a:buNone/>
            </a:pPr>
            <a:r>
              <a:rPr lang="en-US" dirty="0"/>
              <a:t>Machines with large rotating masses continue to rotate even after the motor power is reduced.</a:t>
            </a:r>
          </a:p>
          <a:p>
            <a:pPr marL="0" indent="0">
              <a:buNone/>
            </a:pPr>
            <a:r>
              <a:rPr lang="en-US" b="1" dirty="0"/>
              <a:t>Examples of high inertia loads:</a:t>
            </a:r>
            <a:endParaRPr lang="en-US" dirty="0"/>
          </a:p>
          <a:p>
            <a:r>
              <a:rPr lang="en-US" dirty="0"/>
              <a:t>Cranes</a:t>
            </a:r>
          </a:p>
          <a:p>
            <a:r>
              <a:rPr lang="en-US" dirty="0"/>
              <a:t>Elevators</a:t>
            </a:r>
          </a:p>
          <a:p>
            <a:r>
              <a:rPr lang="en-US" dirty="0"/>
              <a:t>Rolling mills</a:t>
            </a:r>
          </a:p>
          <a:p>
            <a:r>
              <a:rPr lang="en-US" dirty="0"/>
              <a:t>Flywheels</a:t>
            </a:r>
          </a:p>
          <a:p>
            <a:r>
              <a:rPr lang="en-US" dirty="0"/>
              <a:t>Braking systems help </a:t>
            </a:r>
            <a:r>
              <a:rPr lang="en-US" b="1" dirty="0"/>
              <a:t>reduce stopping time</a:t>
            </a:r>
            <a:r>
              <a:rPr lang="en-US" dirty="0"/>
              <a:t> and control these heavy loads safely.</a:t>
            </a:r>
          </a:p>
          <a:p>
            <a:pPr marL="0" indent="0">
              <a:buNone/>
            </a:pPr>
            <a:endParaRPr lang="en-IN" dirty="0"/>
          </a:p>
        </p:txBody>
      </p:sp>
    </p:spTree>
    <p:extLst>
      <p:ext uri="{BB962C8B-B14F-4D97-AF65-F5344CB8AC3E}">
        <p14:creationId xmlns:p14="http://schemas.microsoft.com/office/powerpoint/2010/main" val="284917791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D91B0-D8B0-0A97-81A5-288CE5E9C3E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9F9185D-A6CF-AEB2-6F59-25DD1F1B3A42}"/>
              </a:ext>
            </a:extLst>
          </p:cNvPr>
          <p:cNvSpPr>
            <a:spLocks noGrp="1"/>
          </p:cNvSpPr>
          <p:nvPr>
            <p:ph idx="1"/>
          </p:nvPr>
        </p:nvSpPr>
        <p:spPr/>
        <p:txBody>
          <a:bodyPr>
            <a:normAutofit fontScale="92500" lnSpcReduction="10000"/>
          </a:bodyPr>
          <a:lstStyle/>
          <a:p>
            <a:pPr marL="0" indent="0">
              <a:buNone/>
            </a:pPr>
            <a:r>
              <a:rPr lang="en-US" b="1" dirty="0"/>
              <a:t>5. To Enhance Safety</a:t>
            </a:r>
          </a:p>
          <a:p>
            <a:pPr marL="0" indent="0">
              <a:buNone/>
            </a:pPr>
            <a:r>
              <a:rPr lang="en-US" dirty="0"/>
              <a:t>Uncontrolled motion can lead to accidents in industrial environments.</a:t>
            </a:r>
          </a:p>
          <a:p>
            <a:pPr marL="0" indent="0">
              <a:buNone/>
            </a:pPr>
            <a:r>
              <a:rPr lang="en-US" b="1" dirty="0"/>
              <a:t>Example:</a:t>
            </a:r>
            <a:br>
              <a:rPr lang="en-US" dirty="0"/>
            </a:br>
            <a:r>
              <a:rPr lang="en-US" dirty="0"/>
              <a:t>In </a:t>
            </a:r>
            <a:r>
              <a:rPr lang="en-US" b="1" dirty="0"/>
              <a:t>elevators</a:t>
            </a:r>
            <a:r>
              <a:rPr lang="en-US" dirty="0"/>
              <a:t>, braking mechanisms ensure the motor stops safely at the correct floor without overshooting.</a:t>
            </a:r>
          </a:p>
          <a:p>
            <a:pPr marL="0" indent="0">
              <a:buNone/>
            </a:pPr>
            <a:r>
              <a:rPr lang="en-US" b="1" dirty="0"/>
              <a:t>6. To Improve Energy Efficiency</a:t>
            </a:r>
          </a:p>
          <a:p>
            <a:pPr marL="0" indent="0">
              <a:buNone/>
            </a:pPr>
            <a:r>
              <a:rPr lang="en-US" dirty="0"/>
              <a:t>In regenerative braking systems, the generated energy is </a:t>
            </a:r>
            <a:r>
              <a:rPr lang="en-US" b="1" dirty="0"/>
              <a:t>returned to the power supply</a:t>
            </a:r>
            <a:r>
              <a:rPr lang="en-US" dirty="0"/>
              <a:t>, reducing energy waste.</a:t>
            </a:r>
          </a:p>
          <a:p>
            <a:pPr marL="0" indent="0">
              <a:buNone/>
            </a:pPr>
            <a:r>
              <a:rPr lang="en-US" b="1" dirty="0"/>
              <a:t>Example:</a:t>
            </a:r>
            <a:br>
              <a:rPr lang="en-US" dirty="0"/>
            </a:br>
            <a:r>
              <a:rPr lang="en-US" dirty="0"/>
              <a:t>Electric trains use regenerative braking to send electricity back to the grid.</a:t>
            </a:r>
          </a:p>
          <a:p>
            <a:pPr marL="0" indent="0">
              <a:buNone/>
            </a:pPr>
            <a:endParaRPr lang="en-IN" dirty="0"/>
          </a:p>
        </p:txBody>
      </p:sp>
    </p:spTree>
    <p:extLst>
      <p:ext uri="{BB962C8B-B14F-4D97-AF65-F5344CB8AC3E}">
        <p14:creationId xmlns:p14="http://schemas.microsoft.com/office/powerpoint/2010/main" val="217955562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8E89D-B68A-3464-8B17-47A62EEA1739}"/>
              </a:ext>
            </a:extLst>
          </p:cNvPr>
          <p:cNvSpPr>
            <a:spLocks noGrp="1"/>
          </p:cNvSpPr>
          <p:nvPr>
            <p:ph type="title"/>
          </p:nvPr>
        </p:nvSpPr>
        <p:spPr/>
        <p:txBody>
          <a:bodyPr/>
          <a:lstStyle/>
          <a:p>
            <a:r>
              <a:rPr lang="en-US" b="1" dirty="0"/>
              <a:t>Braking Features in VFD</a:t>
            </a:r>
            <a:endParaRPr lang="en-IN" dirty="0"/>
          </a:p>
        </p:txBody>
      </p:sp>
      <p:sp>
        <p:nvSpPr>
          <p:cNvPr id="4" name="Content Placeholder 3">
            <a:extLst>
              <a:ext uri="{FF2B5EF4-FFF2-40B4-BE49-F238E27FC236}">
                <a16:creationId xmlns:a16="http://schemas.microsoft.com/office/drawing/2014/main" id="{AA1CE988-11E5-FE95-D238-7A851ED88F26}"/>
              </a:ext>
            </a:extLst>
          </p:cNvPr>
          <p:cNvSpPr>
            <a:spLocks noGrp="1"/>
          </p:cNvSpPr>
          <p:nvPr>
            <p:ph sz="half" idx="1"/>
          </p:nvPr>
        </p:nvSpPr>
        <p:spPr/>
        <p:txBody>
          <a:bodyPr>
            <a:normAutofit fontScale="85000" lnSpcReduction="10000"/>
          </a:bodyPr>
          <a:lstStyle/>
          <a:p>
            <a:pPr marL="0" indent="0">
              <a:buNone/>
            </a:pPr>
            <a:r>
              <a:rPr lang="en-US" b="1" dirty="0"/>
              <a:t>Dynamic Braking</a:t>
            </a:r>
          </a:p>
          <a:p>
            <a:pPr marL="0" indent="0">
              <a:buNone/>
            </a:pPr>
            <a:r>
              <a:rPr lang="en-US" b="1" dirty="0"/>
              <a:t>Principle</a:t>
            </a:r>
          </a:p>
          <a:p>
            <a:r>
              <a:rPr lang="en-US" dirty="0"/>
              <a:t>Excess energy is converted into heat through a </a:t>
            </a:r>
            <a:r>
              <a:rPr lang="en-US" b="1" dirty="0"/>
              <a:t>braking resistor</a:t>
            </a:r>
            <a:r>
              <a:rPr lang="en-US" dirty="0"/>
              <a:t>.</a:t>
            </a:r>
          </a:p>
          <a:p>
            <a:r>
              <a:rPr lang="en-US" dirty="0"/>
              <a:t>A braking chopper circuit connects the resistor to the DC bus.</a:t>
            </a:r>
          </a:p>
          <a:p>
            <a:pPr marL="0" indent="0">
              <a:buNone/>
            </a:pPr>
            <a:r>
              <a:rPr lang="en-US" b="1" dirty="0"/>
              <a:t>Working</a:t>
            </a:r>
          </a:p>
          <a:p>
            <a:r>
              <a:rPr lang="en-US" dirty="0"/>
              <a:t>Motor slows down.</a:t>
            </a:r>
          </a:p>
          <a:p>
            <a:r>
              <a:rPr lang="en-US" dirty="0"/>
              <a:t>Energy flows back to the VFD.</a:t>
            </a:r>
          </a:p>
          <a:p>
            <a:r>
              <a:rPr lang="en-US" dirty="0"/>
              <a:t>Chopper circuit activates.</a:t>
            </a:r>
          </a:p>
          <a:p>
            <a:r>
              <a:rPr lang="en-US" dirty="0"/>
              <a:t>Energy dissipates in braking resistor.</a:t>
            </a:r>
          </a:p>
          <a:p>
            <a:endParaRPr lang="en-IN" dirty="0"/>
          </a:p>
        </p:txBody>
      </p:sp>
      <p:sp>
        <p:nvSpPr>
          <p:cNvPr id="5" name="Content Placeholder 4">
            <a:extLst>
              <a:ext uri="{FF2B5EF4-FFF2-40B4-BE49-F238E27FC236}">
                <a16:creationId xmlns:a16="http://schemas.microsoft.com/office/drawing/2014/main" id="{DA75861B-04C3-5AB8-867D-84E94EDF7FAA}"/>
              </a:ext>
            </a:extLst>
          </p:cNvPr>
          <p:cNvSpPr>
            <a:spLocks noGrp="1"/>
          </p:cNvSpPr>
          <p:nvPr>
            <p:ph sz="half" idx="2"/>
          </p:nvPr>
        </p:nvSpPr>
        <p:spPr/>
        <p:txBody>
          <a:bodyPr>
            <a:normAutofit fontScale="85000" lnSpcReduction="10000"/>
          </a:bodyPr>
          <a:lstStyle/>
          <a:p>
            <a:pPr marL="0" indent="0">
              <a:buNone/>
            </a:pPr>
            <a:r>
              <a:rPr lang="en-US" b="1" dirty="0"/>
              <a:t>Advantages</a:t>
            </a:r>
          </a:p>
          <a:p>
            <a:r>
              <a:rPr lang="en-US" dirty="0"/>
              <a:t>Simple and reliable</a:t>
            </a:r>
          </a:p>
          <a:p>
            <a:r>
              <a:rPr lang="en-US" dirty="0"/>
              <a:t>Cost effective</a:t>
            </a:r>
          </a:p>
          <a:p>
            <a:pPr marL="0" indent="0">
              <a:buNone/>
            </a:pPr>
            <a:r>
              <a:rPr lang="en-US" b="1" dirty="0"/>
              <a:t>Example</a:t>
            </a:r>
          </a:p>
          <a:p>
            <a:r>
              <a:rPr lang="en-US" dirty="0"/>
              <a:t>Used in:</a:t>
            </a:r>
          </a:p>
          <a:p>
            <a:r>
              <a:rPr lang="en-US" dirty="0"/>
              <a:t>Elevators</a:t>
            </a:r>
          </a:p>
          <a:p>
            <a:r>
              <a:rPr lang="en-US" dirty="0"/>
              <a:t>Cranes</a:t>
            </a:r>
          </a:p>
          <a:p>
            <a:r>
              <a:rPr lang="en-US" dirty="0"/>
              <a:t>Conveyor systems</a:t>
            </a:r>
          </a:p>
          <a:p>
            <a:pPr marL="0" indent="0">
              <a:buNone/>
            </a:pPr>
            <a:r>
              <a:rPr lang="en-US" dirty="0"/>
              <a:t>When a </a:t>
            </a:r>
            <a:r>
              <a:rPr lang="en-US" b="1" dirty="0"/>
              <a:t>crane lowers a load</a:t>
            </a:r>
            <a:r>
              <a:rPr lang="en-US" dirty="0"/>
              <a:t>, the motor generates energy which is dissipated in the braking resistor.</a:t>
            </a:r>
          </a:p>
          <a:p>
            <a:endParaRPr lang="en-IN" dirty="0"/>
          </a:p>
        </p:txBody>
      </p:sp>
      <p:sp>
        <p:nvSpPr>
          <p:cNvPr id="7" name="TextBox 6">
            <a:extLst>
              <a:ext uri="{FF2B5EF4-FFF2-40B4-BE49-F238E27FC236}">
                <a16:creationId xmlns:a16="http://schemas.microsoft.com/office/drawing/2014/main" id="{00079845-F02D-1CEC-7FB9-E55707344639}"/>
              </a:ext>
            </a:extLst>
          </p:cNvPr>
          <p:cNvSpPr txBox="1"/>
          <p:nvPr/>
        </p:nvSpPr>
        <p:spPr>
          <a:xfrm>
            <a:off x="7118555" y="566241"/>
            <a:ext cx="4984955" cy="923330"/>
          </a:xfrm>
          <a:prstGeom prst="rect">
            <a:avLst/>
          </a:prstGeom>
          <a:noFill/>
        </p:spPr>
        <p:txBody>
          <a:bodyPr wrap="square">
            <a:spAutoFit/>
          </a:bodyPr>
          <a:lstStyle/>
          <a:p>
            <a:pPr>
              <a:buNone/>
            </a:pPr>
            <a:r>
              <a:rPr lang="en-US" dirty="0"/>
              <a:t>When a motor decelerates quickly, it behaves like a </a:t>
            </a:r>
            <a:r>
              <a:rPr lang="en-US" b="1" dirty="0"/>
              <a:t>generator</a:t>
            </a:r>
            <a:r>
              <a:rPr lang="en-US" dirty="0"/>
              <a:t> and sends energy back to the drive. This energy must be dissipated or reused.</a:t>
            </a:r>
          </a:p>
        </p:txBody>
      </p:sp>
    </p:spTree>
    <p:extLst>
      <p:ext uri="{BB962C8B-B14F-4D97-AF65-F5344CB8AC3E}">
        <p14:creationId xmlns:p14="http://schemas.microsoft.com/office/powerpoint/2010/main" val="93961220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03577-68D8-7057-0422-1B3C6F5D2C2B}"/>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18F9AA2-C63D-1874-114B-6F0AB3AF1E9F}"/>
              </a:ext>
            </a:extLst>
          </p:cNvPr>
          <p:cNvSpPr>
            <a:spLocks noGrp="1"/>
          </p:cNvSpPr>
          <p:nvPr>
            <p:ph sz="half" idx="1"/>
          </p:nvPr>
        </p:nvSpPr>
        <p:spPr/>
        <p:txBody>
          <a:bodyPr>
            <a:normAutofit fontScale="70000" lnSpcReduction="20000"/>
          </a:bodyPr>
          <a:lstStyle/>
          <a:p>
            <a:pPr marL="0" indent="0">
              <a:buNone/>
            </a:pPr>
            <a:r>
              <a:rPr lang="en-US" b="1" dirty="0"/>
              <a:t>Regenerative Braking</a:t>
            </a:r>
          </a:p>
          <a:p>
            <a:pPr marL="0" indent="0">
              <a:buNone/>
            </a:pPr>
            <a:r>
              <a:rPr lang="en-US" b="1" dirty="0"/>
              <a:t>Principle</a:t>
            </a:r>
          </a:p>
          <a:p>
            <a:r>
              <a:rPr lang="en-US" dirty="0"/>
              <a:t>Instead of wasting energy as heat, the energy is </a:t>
            </a:r>
            <a:r>
              <a:rPr lang="en-US" b="1" dirty="0"/>
              <a:t>fed back to the power supply</a:t>
            </a:r>
            <a:r>
              <a:rPr lang="en-US" dirty="0"/>
              <a:t>.</a:t>
            </a:r>
          </a:p>
          <a:p>
            <a:pPr marL="0" indent="0">
              <a:buNone/>
            </a:pPr>
            <a:r>
              <a:rPr lang="en-US" b="1" dirty="0"/>
              <a:t>Working</a:t>
            </a:r>
          </a:p>
          <a:p>
            <a:r>
              <a:rPr lang="en-US" dirty="0"/>
              <a:t>Motor acts as generator.</a:t>
            </a:r>
          </a:p>
          <a:p>
            <a:r>
              <a:rPr lang="en-US" dirty="0"/>
              <a:t>Energy flows back to DC bus.</a:t>
            </a:r>
          </a:p>
          <a:p>
            <a:r>
              <a:rPr lang="en-US" dirty="0"/>
              <a:t>Regenerative unit converts it to AC.</a:t>
            </a:r>
          </a:p>
          <a:p>
            <a:r>
              <a:rPr lang="en-US" dirty="0"/>
              <a:t>Power returned to electrical grid.</a:t>
            </a:r>
          </a:p>
          <a:p>
            <a:pPr marL="0" indent="0">
              <a:buNone/>
            </a:pPr>
            <a:r>
              <a:rPr lang="en-US" b="1" dirty="0"/>
              <a:t>Advantages</a:t>
            </a:r>
          </a:p>
          <a:p>
            <a:r>
              <a:rPr lang="en-US" dirty="0"/>
              <a:t>Energy efficient</a:t>
            </a:r>
          </a:p>
          <a:p>
            <a:r>
              <a:rPr lang="en-US" dirty="0"/>
              <a:t>Reduces operating cost</a:t>
            </a:r>
          </a:p>
          <a:p>
            <a:endParaRPr lang="en-IN" dirty="0"/>
          </a:p>
        </p:txBody>
      </p:sp>
      <p:sp>
        <p:nvSpPr>
          <p:cNvPr id="4" name="Content Placeholder 3">
            <a:extLst>
              <a:ext uri="{FF2B5EF4-FFF2-40B4-BE49-F238E27FC236}">
                <a16:creationId xmlns:a16="http://schemas.microsoft.com/office/drawing/2014/main" id="{D98F4A5C-7D43-6FDD-429B-3AECFC052559}"/>
              </a:ext>
            </a:extLst>
          </p:cNvPr>
          <p:cNvSpPr>
            <a:spLocks noGrp="1"/>
          </p:cNvSpPr>
          <p:nvPr>
            <p:ph sz="half" idx="2"/>
          </p:nvPr>
        </p:nvSpPr>
        <p:spPr/>
        <p:txBody>
          <a:bodyPr>
            <a:normAutofit fontScale="70000" lnSpcReduction="20000"/>
          </a:bodyPr>
          <a:lstStyle/>
          <a:p>
            <a:pPr marL="0" indent="0">
              <a:buNone/>
            </a:pPr>
            <a:r>
              <a:rPr lang="en-US" b="1" dirty="0"/>
              <a:t>Example</a:t>
            </a:r>
          </a:p>
          <a:p>
            <a:r>
              <a:rPr lang="en-US" dirty="0"/>
              <a:t>Used in:</a:t>
            </a:r>
          </a:p>
          <a:p>
            <a:r>
              <a:rPr lang="en-US" dirty="0"/>
              <a:t>Electric trains</a:t>
            </a:r>
          </a:p>
          <a:p>
            <a:r>
              <a:rPr lang="en-US" dirty="0"/>
              <a:t>Elevators</a:t>
            </a:r>
          </a:p>
          <a:p>
            <a:r>
              <a:rPr lang="en-US" dirty="0"/>
              <a:t>Large industrial drives</a:t>
            </a:r>
          </a:p>
          <a:p>
            <a:pPr marL="0" indent="0">
              <a:buNone/>
            </a:pPr>
            <a:endParaRPr lang="en-US" dirty="0"/>
          </a:p>
          <a:p>
            <a:pPr marL="0" indent="0">
              <a:buNone/>
            </a:pPr>
            <a:r>
              <a:rPr lang="en-US" dirty="0"/>
              <a:t>When a </a:t>
            </a:r>
            <a:r>
              <a:rPr lang="en-US" b="1" dirty="0"/>
              <a:t>metro train slows down</a:t>
            </a:r>
            <a:r>
              <a:rPr lang="en-US" dirty="0"/>
              <a:t>, the motor generates electricity that is returned to the power grid.</a:t>
            </a:r>
          </a:p>
          <a:p>
            <a:endParaRPr lang="en-IN" dirty="0"/>
          </a:p>
        </p:txBody>
      </p:sp>
    </p:spTree>
    <p:extLst>
      <p:ext uri="{BB962C8B-B14F-4D97-AF65-F5344CB8AC3E}">
        <p14:creationId xmlns:p14="http://schemas.microsoft.com/office/powerpoint/2010/main" val="234839057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222417-94A5-FB80-FF20-75C255DE6358}"/>
              </a:ext>
            </a:extLst>
          </p:cNvPr>
          <p:cNvSpPr>
            <a:spLocks noGrp="1"/>
          </p:cNvSpPr>
          <p:nvPr>
            <p:ph type="title"/>
          </p:nvPr>
        </p:nvSpPr>
        <p:spPr/>
        <p:txBody>
          <a:bodyPr/>
          <a:lstStyle/>
          <a:p>
            <a:r>
              <a:rPr lang="en-IN" dirty="0"/>
              <a:t>Faults in VFD</a:t>
            </a:r>
          </a:p>
        </p:txBody>
      </p:sp>
      <p:sp>
        <p:nvSpPr>
          <p:cNvPr id="3" name="Content Placeholder 2">
            <a:extLst>
              <a:ext uri="{FF2B5EF4-FFF2-40B4-BE49-F238E27FC236}">
                <a16:creationId xmlns:a16="http://schemas.microsoft.com/office/drawing/2014/main" id="{26FB75ED-BF34-888A-5E0C-090E235D7196}"/>
              </a:ext>
            </a:extLst>
          </p:cNvPr>
          <p:cNvSpPr>
            <a:spLocks noGrp="1"/>
          </p:cNvSpPr>
          <p:nvPr>
            <p:ph idx="1"/>
          </p:nvPr>
        </p:nvSpPr>
        <p:spPr/>
        <p:txBody>
          <a:bodyPr/>
          <a:lstStyle/>
          <a:p>
            <a:r>
              <a:rPr lang="en-US" dirty="0"/>
              <a:t>VFDs include protection mechanisms to prevent damage to the drive and motor.</a:t>
            </a:r>
            <a:endParaRPr lang="en-IN" dirty="0"/>
          </a:p>
        </p:txBody>
      </p:sp>
      <p:pic>
        <p:nvPicPr>
          <p:cNvPr id="5" name="Picture 4">
            <a:extLst>
              <a:ext uri="{FF2B5EF4-FFF2-40B4-BE49-F238E27FC236}">
                <a16:creationId xmlns:a16="http://schemas.microsoft.com/office/drawing/2014/main" id="{8B0494BD-2D68-660B-9685-BC0EA5B551BE}"/>
              </a:ext>
            </a:extLst>
          </p:cNvPr>
          <p:cNvPicPr>
            <a:picLocks noChangeAspect="1"/>
          </p:cNvPicPr>
          <p:nvPr/>
        </p:nvPicPr>
        <p:blipFill>
          <a:blip r:embed="rId2"/>
          <a:stretch>
            <a:fillRect/>
          </a:stretch>
        </p:blipFill>
        <p:spPr>
          <a:xfrm>
            <a:off x="2547442" y="2691895"/>
            <a:ext cx="7097115" cy="3620005"/>
          </a:xfrm>
          <a:prstGeom prst="rect">
            <a:avLst/>
          </a:prstGeom>
        </p:spPr>
      </p:pic>
    </p:spTree>
    <p:extLst>
      <p:ext uri="{BB962C8B-B14F-4D97-AF65-F5344CB8AC3E}">
        <p14:creationId xmlns:p14="http://schemas.microsoft.com/office/powerpoint/2010/main" val="395034787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7D8CA9-8082-A5ED-30BC-22B91615185A}"/>
              </a:ext>
            </a:extLst>
          </p:cNvPr>
          <p:cNvSpPr>
            <a:spLocks noGrp="1"/>
          </p:cNvSpPr>
          <p:nvPr>
            <p:ph type="title"/>
          </p:nvPr>
        </p:nvSpPr>
        <p:spPr/>
        <p:txBody>
          <a:bodyPr/>
          <a:lstStyle/>
          <a:p>
            <a:r>
              <a:rPr lang="en-IN" dirty="0"/>
              <a:t>Troubleshooting Techniques</a:t>
            </a:r>
          </a:p>
        </p:txBody>
      </p:sp>
      <p:sp>
        <p:nvSpPr>
          <p:cNvPr id="3" name="Content Placeholder 2">
            <a:extLst>
              <a:ext uri="{FF2B5EF4-FFF2-40B4-BE49-F238E27FC236}">
                <a16:creationId xmlns:a16="http://schemas.microsoft.com/office/drawing/2014/main" id="{EDA8A306-8F37-D2BB-DA08-FEE04B42DEF2}"/>
              </a:ext>
            </a:extLst>
          </p:cNvPr>
          <p:cNvSpPr>
            <a:spLocks noGrp="1"/>
          </p:cNvSpPr>
          <p:nvPr>
            <p:ph idx="1"/>
          </p:nvPr>
        </p:nvSpPr>
        <p:spPr/>
        <p:txBody>
          <a:bodyPr>
            <a:normAutofit fontScale="77500" lnSpcReduction="20000"/>
          </a:bodyPr>
          <a:lstStyle/>
          <a:p>
            <a:pPr marL="0" indent="0">
              <a:buNone/>
            </a:pPr>
            <a:r>
              <a:rPr lang="en-US" dirty="0"/>
              <a:t>Troubleshooting is the systematic process of identifying and correcting faults.</a:t>
            </a:r>
          </a:p>
          <a:p>
            <a:pPr marL="0" indent="0">
              <a:buNone/>
            </a:pPr>
            <a:r>
              <a:rPr lang="en-US" b="1" dirty="0"/>
              <a:t>Step-by-Step Troubleshooting</a:t>
            </a:r>
          </a:p>
          <a:p>
            <a:pPr marL="0" indent="0">
              <a:buNone/>
            </a:pPr>
            <a:r>
              <a:rPr lang="en-US" b="1" dirty="0"/>
              <a:t>Step 1 – Check Power Supply</a:t>
            </a:r>
          </a:p>
          <a:p>
            <a:pPr marL="0" indent="0">
              <a:buNone/>
            </a:pPr>
            <a:r>
              <a:rPr lang="en-US" dirty="0"/>
              <a:t>Verify:</a:t>
            </a:r>
          </a:p>
          <a:p>
            <a:r>
              <a:rPr lang="en-US" dirty="0"/>
              <a:t>Input voltage</a:t>
            </a:r>
          </a:p>
          <a:p>
            <a:r>
              <a:rPr lang="en-US" dirty="0"/>
              <a:t>Phase balance</a:t>
            </a:r>
          </a:p>
          <a:p>
            <a:r>
              <a:rPr lang="en-US" dirty="0"/>
              <a:t>Proper grounding</a:t>
            </a:r>
          </a:p>
          <a:p>
            <a:pPr marL="0" indent="0">
              <a:buNone/>
            </a:pPr>
            <a:r>
              <a:rPr lang="en-US" b="1" dirty="0"/>
              <a:t>Step 2 – Inspect Wiring</a:t>
            </a:r>
          </a:p>
          <a:p>
            <a:pPr marL="0" indent="0">
              <a:buNone/>
            </a:pPr>
            <a:r>
              <a:rPr lang="en-US" dirty="0"/>
              <a:t>Check:</a:t>
            </a:r>
          </a:p>
          <a:p>
            <a:r>
              <a:rPr lang="en-US" dirty="0"/>
              <a:t>Motor cables</a:t>
            </a:r>
          </a:p>
          <a:p>
            <a:r>
              <a:rPr lang="en-US" dirty="0"/>
              <a:t>Control wiring</a:t>
            </a:r>
          </a:p>
          <a:p>
            <a:r>
              <a:rPr lang="en-US" dirty="0"/>
              <a:t>Communication cables</a:t>
            </a:r>
          </a:p>
          <a:p>
            <a:endParaRPr lang="en-IN" dirty="0"/>
          </a:p>
        </p:txBody>
      </p:sp>
    </p:spTree>
    <p:extLst>
      <p:ext uri="{BB962C8B-B14F-4D97-AF65-F5344CB8AC3E}">
        <p14:creationId xmlns:p14="http://schemas.microsoft.com/office/powerpoint/2010/main" val="286048580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782E9B32-D2C1-6E4A-4921-16E4FD20BD3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AF372A88-FA55-7281-E4EE-C9E1132DA6A4}"/>
              </a:ext>
            </a:extLst>
          </p:cNvPr>
          <p:cNvSpPr>
            <a:spLocks noGrp="1"/>
          </p:cNvSpPr>
          <p:nvPr>
            <p:ph idx="1"/>
          </p:nvPr>
        </p:nvSpPr>
        <p:spPr/>
        <p:txBody>
          <a:bodyPr/>
          <a:lstStyle/>
          <a:p>
            <a:pPr marL="0" indent="0">
              <a:buNone/>
            </a:pPr>
            <a:r>
              <a:rPr lang="en-US" b="1" dirty="0"/>
              <a:t>Step 3 – Verify Parameter Settings</a:t>
            </a:r>
          </a:p>
          <a:p>
            <a:r>
              <a:rPr lang="en-US" dirty="0"/>
              <a:t>Incorrect parameters may cause:</a:t>
            </a:r>
          </a:p>
          <a:p>
            <a:r>
              <a:rPr lang="en-US" dirty="0"/>
              <a:t>Motor vibration</a:t>
            </a:r>
          </a:p>
          <a:p>
            <a:r>
              <a:rPr lang="en-US" dirty="0"/>
              <a:t>Speed instability</a:t>
            </a:r>
          </a:p>
          <a:p>
            <a:pPr marL="0" indent="0">
              <a:buNone/>
            </a:pPr>
            <a:r>
              <a:rPr lang="en-US" dirty="0"/>
              <a:t>Examples:</a:t>
            </a:r>
          </a:p>
          <a:p>
            <a:r>
              <a:rPr lang="en-US" dirty="0"/>
              <a:t>Wrong motor rating</a:t>
            </a:r>
          </a:p>
          <a:p>
            <a:r>
              <a:rPr lang="en-US" dirty="0"/>
              <a:t>Incorrect acceleration time</a:t>
            </a:r>
          </a:p>
          <a:p>
            <a:endParaRPr lang="en-IN" dirty="0"/>
          </a:p>
        </p:txBody>
      </p:sp>
    </p:spTree>
    <p:extLst>
      <p:ext uri="{BB962C8B-B14F-4D97-AF65-F5344CB8AC3E}">
        <p14:creationId xmlns:p14="http://schemas.microsoft.com/office/powerpoint/2010/main" val="214817755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536B87-1DB4-51DA-759A-C1989BF255A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91735DD-3B6B-51E9-4736-D50963634B93}"/>
              </a:ext>
            </a:extLst>
          </p:cNvPr>
          <p:cNvSpPr>
            <a:spLocks noGrp="1"/>
          </p:cNvSpPr>
          <p:nvPr>
            <p:ph idx="1"/>
          </p:nvPr>
        </p:nvSpPr>
        <p:spPr/>
        <p:txBody>
          <a:bodyPr/>
          <a:lstStyle/>
          <a:p>
            <a:r>
              <a:rPr lang="en-IN" b="1" dirty="0"/>
              <a:t>Step 4 – </a:t>
            </a:r>
            <a:r>
              <a:rPr lang="en-IN" b="1" dirty="0" err="1"/>
              <a:t>Analyze</a:t>
            </a:r>
            <a:r>
              <a:rPr lang="en-IN" b="1" dirty="0"/>
              <a:t> Fault Codes</a:t>
            </a:r>
          </a:p>
          <a:p>
            <a:r>
              <a:rPr lang="en-IN" dirty="0"/>
              <a:t>VFD displays fault codes.</a:t>
            </a:r>
          </a:p>
          <a:p>
            <a:endParaRPr lang="en-IN" dirty="0"/>
          </a:p>
        </p:txBody>
      </p:sp>
      <p:pic>
        <p:nvPicPr>
          <p:cNvPr id="5" name="Picture 4">
            <a:extLst>
              <a:ext uri="{FF2B5EF4-FFF2-40B4-BE49-F238E27FC236}">
                <a16:creationId xmlns:a16="http://schemas.microsoft.com/office/drawing/2014/main" id="{64D4A6C5-06CD-3EBE-246D-3F7C5662D1F6}"/>
              </a:ext>
            </a:extLst>
          </p:cNvPr>
          <p:cNvPicPr>
            <a:picLocks noChangeAspect="1"/>
          </p:cNvPicPr>
          <p:nvPr/>
        </p:nvPicPr>
        <p:blipFill>
          <a:blip r:embed="rId2"/>
          <a:stretch>
            <a:fillRect/>
          </a:stretch>
        </p:blipFill>
        <p:spPr>
          <a:xfrm>
            <a:off x="2852634" y="3077240"/>
            <a:ext cx="5896798" cy="1848108"/>
          </a:xfrm>
          <a:prstGeom prst="rect">
            <a:avLst/>
          </a:prstGeom>
        </p:spPr>
      </p:pic>
    </p:spTree>
    <p:extLst>
      <p:ext uri="{BB962C8B-B14F-4D97-AF65-F5344CB8AC3E}">
        <p14:creationId xmlns:p14="http://schemas.microsoft.com/office/powerpoint/2010/main" val="295971433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58416-9240-410B-5CD4-9B0A5DA7F89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18CE9CA-62D1-25F4-C4DC-837C7F2CBDEB}"/>
              </a:ext>
            </a:extLst>
          </p:cNvPr>
          <p:cNvSpPr>
            <a:spLocks noGrp="1"/>
          </p:cNvSpPr>
          <p:nvPr>
            <p:ph idx="1"/>
          </p:nvPr>
        </p:nvSpPr>
        <p:spPr/>
        <p:txBody>
          <a:bodyPr/>
          <a:lstStyle/>
          <a:p>
            <a:pPr marL="0" indent="0">
              <a:buNone/>
            </a:pPr>
            <a:r>
              <a:rPr lang="en-US" b="1" dirty="0"/>
              <a:t>Step 5 – Check Motor Condition</a:t>
            </a:r>
          </a:p>
          <a:p>
            <a:pPr marL="0" indent="0">
              <a:buNone/>
            </a:pPr>
            <a:r>
              <a:rPr lang="en-US" dirty="0"/>
              <a:t>Verify:</a:t>
            </a:r>
          </a:p>
          <a:p>
            <a:r>
              <a:rPr lang="en-US" dirty="0"/>
              <a:t>Motor insulation</a:t>
            </a:r>
          </a:p>
          <a:p>
            <a:r>
              <a:rPr lang="en-US" dirty="0"/>
              <a:t>Bearing condition</a:t>
            </a:r>
          </a:p>
          <a:p>
            <a:r>
              <a:rPr lang="en-US" dirty="0"/>
              <a:t>Load torque</a:t>
            </a:r>
          </a:p>
          <a:p>
            <a:endParaRPr lang="en-IN" dirty="0"/>
          </a:p>
        </p:txBody>
      </p:sp>
    </p:spTree>
    <p:extLst>
      <p:ext uri="{BB962C8B-B14F-4D97-AF65-F5344CB8AC3E}">
        <p14:creationId xmlns:p14="http://schemas.microsoft.com/office/powerpoint/2010/main" val="24015996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C9674B-DBDD-ED8C-79D0-A47471A0ECF9}"/>
              </a:ext>
            </a:extLst>
          </p:cNvPr>
          <p:cNvSpPr>
            <a:spLocks noGrp="1"/>
          </p:cNvSpPr>
          <p:nvPr>
            <p:ph idx="1"/>
          </p:nvPr>
        </p:nvSpPr>
        <p:spPr>
          <a:xfrm>
            <a:off x="235974" y="226142"/>
            <a:ext cx="11729884" cy="6410632"/>
          </a:xfrm>
        </p:spPr>
        <p:txBody>
          <a:bodyPr>
            <a:normAutofit/>
          </a:bodyPr>
          <a:lstStyle/>
          <a:p>
            <a:pPr algn="just">
              <a:lnSpc>
                <a:spcPct val="100000"/>
              </a:lnSpc>
            </a:pPr>
            <a:endParaRPr lang="en-US" sz="2400" b="1" i="1" dirty="0">
              <a:latin typeface="Times New Roman" panose="02020603050405020304" pitchFamily="18" charset="0"/>
              <a:cs typeface="Times New Roman" panose="02020603050405020304" pitchFamily="18" charset="0"/>
            </a:endParaRPr>
          </a:p>
          <a:p>
            <a:pPr marL="457200" indent="-457200" algn="just">
              <a:lnSpc>
                <a:spcPct val="100000"/>
              </a:lnSpc>
              <a:buFont typeface="+mj-lt"/>
              <a:buAutoNum type="arabicPeriod"/>
            </a:pPr>
            <a:r>
              <a:rPr lang="en-US" sz="2400" b="1" i="1" dirty="0">
                <a:latin typeface="Times New Roman" panose="02020603050405020304" pitchFamily="18" charset="0"/>
                <a:cs typeface="Times New Roman" panose="02020603050405020304" pitchFamily="18" charset="0"/>
              </a:rPr>
              <a:t>Apply the concept of V/f control to explain how a VFD maintains constant flux in an induction motor. Illustrate with a neat diagram and discuss its suitability for different load types.</a:t>
            </a:r>
          </a:p>
          <a:p>
            <a:pPr marL="457200" indent="-457200" algn="just">
              <a:lnSpc>
                <a:spcPct val="100000"/>
              </a:lnSpc>
              <a:buFont typeface="+mj-lt"/>
              <a:buAutoNum type="arabicPeriod"/>
            </a:pPr>
            <a:r>
              <a:rPr lang="en-US" sz="2400" b="1" i="1" dirty="0">
                <a:latin typeface="Times New Roman" panose="02020603050405020304" pitchFamily="18" charset="0"/>
                <a:cs typeface="Times New Roman" panose="02020603050405020304" pitchFamily="18" charset="0"/>
              </a:rPr>
              <a:t>Explain how vector control improves torque response compared to scalar control. Apply the concept of decoupled flux and torque control in an industrial motor application.</a:t>
            </a:r>
          </a:p>
          <a:p>
            <a:pPr marL="457200" indent="-457200" algn="just">
              <a:lnSpc>
                <a:spcPct val="100000"/>
              </a:lnSpc>
              <a:buFont typeface="+mj-lt"/>
              <a:buAutoNum type="arabicPeriod"/>
            </a:pPr>
            <a:r>
              <a:rPr lang="en-US" sz="2400" b="1" i="1" dirty="0">
                <a:latin typeface="Times New Roman" panose="02020603050405020304" pitchFamily="18" charset="0"/>
                <a:cs typeface="Times New Roman" panose="02020603050405020304" pitchFamily="18" charset="0"/>
              </a:rPr>
              <a:t>Discuss the operational modes of a VFD (PU mode, External mode, Net mode, Jog mode). Explain how each mode is selected and applied in an industrial setup.</a:t>
            </a:r>
          </a:p>
          <a:p>
            <a:pPr marL="457200" indent="-457200" algn="just">
              <a:lnSpc>
                <a:spcPct val="100000"/>
              </a:lnSpc>
              <a:buFont typeface="+mj-lt"/>
              <a:buAutoNum type="arabicPeriod"/>
            </a:pPr>
            <a:r>
              <a:rPr lang="en-US" sz="2400" b="1" i="1" dirty="0">
                <a:latin typeface="Times New Roman" panose="02020603050405020304" pitchFamily="18" charset="0"/>
                <a:cs typeface="Times New Roman" panose="02020603050405020304" pitchFamily="18" charset="0"/>
              </a:rPr>
              <a:t>Explain the process of auto-tuning (online and offline) in a VFD. Apply this concept to justify its importance in improving motor performance and stability.</a:t>
            </a:r>
          </a:p>
          <a:p>
            <a:pPr marL="457200" indent="-457200" algn="just">
              <a:lnSpc>
                <a:spcPct val="100000"/>
              </a:lnSpc>
              <a:buFont typeface="+mj-lt"/>
              <a:buAutoNum type="arabicPeriod"/>
            </a:pPr>
            <a:r>
              <a:rPr lang="en-US" sz="2400" b="1" i="1" dirty="0">
                <a:latin typeface="Times New Roman" panose="02020603050405020304" pitchFamily="18" charset="0"/>
                <a:cs typeface="Times New Roman" panose="02020603050405020304" pitchFamily="18" charset="0"/>
              </a:rPr>
              <a:t>Describe the braking methods available in VFDs (Dynamic and Regenerative braking). Explain their working principles and industrial applicability.</a:t>
            </a:r>
          </a:p>
          <a:p>
            <a:pPr marL="457200" indent="-457200" algn="just">
              <a:lnSpc>
                <a:spcPct val="100000"/>
              </a:lnSpc>
              <a:buFont typeface="+mj-lt"/>
              <a:buAutoNum type="arabicPeriod"/>
            </a:pPr>
            <a:r>
              <a:rPr lang="en-US" sz="2400" b="1" i="1" dirty="0">
                <a:latin typeface="Times New Roman" panose="02020603050405020304" pitchFamily="18" charset="0"/>
                <a:cs typeface="Times New Roman" panose="02020603050405020304" pitchFamily="18" charset="0"/>
              </a:rPr>
              <a:t>Classify different load patterns (constant torque, variable torque, constant power). Apply suitable VFD control modes for each load and justify your selection.</a:t>
            </a:r>
            <a:endParaRPr lang="en-IN" sz="2400" b="1"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61111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451</TotalTime>
  <Words>3903</Words>
  <Application>Microsoft Office PowerPoint</Application>
  <PresentationFormat>Widescreen</PresentationFormat>
  <Paragraphs>502</Paragraphs>
  <Slides>60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60</vt:i4>
      </vt:variant>
    </vt:vector>
  </HeadingPairs>
  <TitlesOfParts>
    <vt:vector size="69" baseType="lpstr">
      <vt:lpstr>Aptos</vt:lpstr>
      <vt:lpstr>Aptos Display</vt:lpstr>
      <vt:lpstr>Arial</vt:lpstr>
      <vt:lpstr>Bookman Old Style</vt:lpstr>
      <vt:lpstr>Cambria Math</vt:lpstr>
      <vt:lpstr>Comic Sans MS</vt:lpstr>
      <vt:lpstr>Times New Roman</vt:lpstr>
      <vt:lpstr>Wingdings</vt:lpstr>
      <vt:lpstr>Office Theme</vt:lpstr>
      <vt:lpstr>VFD and HMI Programming </vt:lpstr>
      <vt:lpstr>What is a VFD?</vt:lpstr>
      <vt:lpstr>PowerPoint Presentation</vt:lpstr>
      <vt:lpstr>Circuit Diagram of VFD</vt:lpstr>
      <vt:lpstr>The Rectifier</vt:lpstr>
      <vt:lpstr>DC Bus and Filter</vt:lpstr>
      <vt:lpstr>Inverter</vt:lpstr>
      <vt:lpstr>Control Unit</vt:lpstr>
      <vt:lpstr>Types of VFDs</vt:lpstr>
      <vt:lpstr>VSI type VFDs</vt:lpstr>
      <vt:lpstr>PowerPoint Presentation</vt:lpstr>
      <vt:lpstr>CSI type VFDs</vt:lpstr>
      <vt:lpstr>PowerPoint Presentation</vt:lpstr>
      <vt:lpstr>PWM type VFD</vt:lpstr>
      <vt:lpstr>PowerPoint Presentation</vt:lpstr>
      <vt:lpstr>Advantages of VFD</vt:lpstr>
      <vt:lpstr>PowerPoint Presentation</vt:lpstr>
      <vt:lpstr>PowerPoint Presentation</vt:lpstr>
      <vt:lpstr>Disadvantages of VFD</vt:lpstr>
      <vt:lpstr>PowerPoint Presentation</vt:lpstr>
      <vt:lpstr>Application of VFD</vt:lpstr>
      <vt:lpstr>Why Use an Inverter?</vt:lpstr>
      <vt:lpstr>Inverter Selection</vt:lpstr>
      <vt:lpstr>PowerPoint Presentation</vt:lpstr>
      <vt:lpstr>PowerPoint Presentation</vt:lpstr>
      <vt:lpstr>Selection of Peripheral Devices</vt:lpstr>
      <vt:lpstr>PowerPoint Presentation</vt:lpstr>
      <vt:lpstr>Motor Types Used with Inverters</vt:lpstr>
      <vt:lpstr>PowerPoint Presentation</vt:lpstr>
      <vt:lpstr>Power and Signal Connections</vt:lpstr>
      <vt:lpstr>PowerPoint Presentation</vt:lpstr>
      <vt:lpstr>Important Parameters of Inverter</vt:lpstr>
      <vt:lpstr>PowerPoint Presentation</vt:lpstr>
      <vt:lpstr>Different Types of Load Patterns</vt:lpstr>
      <vt:lpstr>Different Modes of Operation</vt:lpstr>
      <vt:lpstr>PowerPoint Presentation</vt:lpstr>
      <vt:lpstr>PowerPoint Presentation</vt:lpstr>
      <vt:lpstr>PowerPoint Presentation</vt:lpstr>
      <vt:lpstr>PU, External &amp; Network Mode</vt:lpstr>
      <vt:lpstr>PowerPoint Presentation</vt:lpstr>
      <vt:lpstr>JOG Operation</vt:lpstr>
      <vt:lpstr>I/O Assignment in Inverter</vt:lpstr>
      <vt:lpstr>PowerPoint Presentation</vt:lpstr>
      <vt:lpstr>Auto-Tuning in VFD (Offline and Online)</vt:lpstr>
      <vt:lpstr>Types of Auto-Tuning</vt:lpstr>
      <vt:lpstr>Control Types in VFD</vt:lpstr>
      <vt:lpstr>PowerPoint Presentation</vt:lpstr>
      <vt:lpstr>PowerPoint Presentation</vt:lpstr>
      <vt:lpstr>Braking Mechanism in a VFD-Driven Motor</vt:lpstr>
      <vt:lpstr>PowerPoint Presentation</vt:lpstr>
      <vt:lpstr>PowerPoint Presentation</vt:lpstr>
      <vt:lpstr>PowerPoint Presentation</vt:lpstr>
      <vt:lpstr>Braking Features in VFD</vt:lpstr>
      <vt:lpstr>PowerPoint Presentation</vt:lpstr>
      <vt:lpstr>Faults in VFD</vt:lpstr>
      <vt:lpstr>Troubleshooting Techniques</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Likith Kumar Reddy C</dc:creator>
  <cp:lastModifiedBy>Likith Kumar Reddy C</cp:lastModifiedBy>
  <cp:revision>1</cp:revision>
  <dcterms:created xsi:type="dcterms:W3CDTF">2026-02-04T03:50:13Z</dcterms:created>
  <dcterms:modified xsi:type="dcterms:W3CDTF">2026-03-09T05:28:38Z</dcterms:modified>
</cp:coreProperties>
</file>