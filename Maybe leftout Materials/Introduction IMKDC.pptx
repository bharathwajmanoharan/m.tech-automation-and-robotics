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57" r:id="rId17"/>
    <p:sldId id="272" r:id="rId18"/>
    <p:sldId id="273" r:id="rId19"/>
    <p:sldId id="274" r:id="rId20"/>
    <p:sldId id="275" r:id="rId21"/>
    <p:sldId id="276" r:id="rId22"/>
    <p:sldId id="277" r:id="rId23"/>
    <p:sldId id="278" r:id="rId24"/>
    <p:sldId id="287" r:id="rId25"/>
    <p:sldId id="288" r:id="rId26"/>
    <p:sldId id="279" r:id="rId27"/>
    <p:sldId id="280" r:id="rId28"/>
    <p:sldId id="281" r:id="rId29"/>
    <p:sldId id="282" r:id="rId30"/>
    <p:sldId id="283" r:id="rId31"/>
    <p:sldId id="284" r:id="rId32"/>
    <p:sldId id="285" r:id="rId33"/>
    <p:sldId id="286"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howGuides="1">
      <p:cViewPr varScale="1">
        <p:scale>
          <a:sx n="75" d="100"/>
          <a:sy n="75" d="100"/>
        </p:scale>
        <p:origin x="902"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8-14T08:00:50.525"/>
    </inkml:context>
    <inkml:brush xml:id="br0">
      <inkml:brushProperty name="width" value="0.05292" units="cm"/>
      <inkml:brushProperty name="height" value="0.05292" units="cm"/>
      <inkml:brushProperty name="color" value="#FF0000"/>
    </inkml:brush>
  </inkml:definitions>
  <inkml:trace contextRef="#ctx0" brushRef="#br0">8696 1940 0,'0'36'563,"35"69"-532,-35-87-15,18 0-1,-18-1 1,0 1-16,18 0 15,-1 34 1,-17-34 0,35 35-1,-17 0 1,-18-35 0,0-1-16,18 1 15,-18 0 1,17-18-1,-17 17 1,0 1 31,0-1 0</inkml:trace>
  <inkml:trace contextRef="#ctx0" brushRef="#br0" timeOffset="3326.57">15646 5027 0,'35'-18'391,"0"18"-376,1 0 1,-1 0 31,-35 18-32,17 35 1,1 70 0,0-52-1,-18-36 1,0 1-1,17-1 1,-17 0 0,0 53-16,0-35 31,0 0-15,0-35-1,0-1 1,0 1 15,0 0-15,0-1 31,-17 1-32</inkml:trace>
  <inkml:trace contextRef="#ctx0" brushRef="#br0" timeOffset="6426.75">15893 5433 0,'0'35'203,"0"0"-187,0 36-16,0-1 15,0 19 1,17-72-16,-17 19 16,0-19-1,0 18 1,0 1 0,0-19-1,0 1 16,0 0 1,-17-18-17,-36 17 17,-88 1-17,35-18 1,18 0-1,-36 0 1,106-18 0,-17 1-1,-18-19 1,18-52 0,35 71-1,0-1-15,0-35 16,0 18-1,0-1 1,0 19 0,0-1 62,18 18-63,-1-35 1,36 35-16,18 0 16,87 0-1,19 0 1,-89 0-16,71 35 16,52-35-1,-140 0 1,158 35-1,-123-17 1,53 17 0,-106-17-1,-36-18 17,1 0-32,0 18 15,-1-18 48,1 0-16,0 0-16,-1 0 0</inkml:trace>
  <inkml:trace contextRef="#ctx0" brushRef="#br0" timeOffset="8933.03">18909 7761 0,'0'-18'125,"88"-87"-110,-70 52-15,35 0 16,35-71 15,-71 89-31,19 17 0,17-17 31,-36 0-31,54 35 32,-36 0-17,18 35 1,-35-17-1,17-1-15,0 54 16,1 0 0,-36-36-16,0 35 15,-18-17 1,-17 18 0,-36-1-1,36-34 1,17 17-1,-17-36 1,17 1 0,18-1-1,-17-17 17,52 0 93,53-88-94,-35 88-31,18-17 31,-54 17-31,1-18 0,52 18 31,-34 0-31,-19 0 16,71 0 15,-70 0-15,0 0 15,-1 0 0,-17 18 16,0 52-16,0 1-15,-35 35 0,-18-1-1,0-69 17,18 17-17,0-36-15,-36 36 16,-17-18-1,17 1-15,18-19 16,-70 19 0,88-19-1,-18 1 1,18 0 0,17-18-1,0 0 16</inkml:trace>
  <inkml:trace contextRef="#ctx0" brushRef="#br0" timeOffset="14069.63">27305 5627 0,'-18'17'172,"-17"72"-156,35-1-1,-18 71 1,1-18-1,-18 35 1,35-70 0,-36 53-1,54-18 17,0-35-17,-18-53-15,17 52 16,18-52-1,-35-17-15,18-19 16,17 36 0,-17-35-1,17-1 1,-17 1 0,0-18-1,-1 0 1,36 0 15,35-53-15,18-53-1,18-70 17,-71 70-17,-36 53 1,-17 18-16,0-18 15,0 18 1,0 17-16,-17 18 16,-1-35-1,-35-1 1,-18 1 0,18 35-1,1-17 1,-1 17-1,0 0 1,35 0 0,-17 0-16,-53 35 31,-36 0-15,54-35-1,17 18 1,0-1-1,17-17-15,19 18 16,-1 0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8-14T08:01:14.601"/>
    </inkml:context>
    <inkml:brush xml:id="br0">
      <inkml:brushProperty name="width" value="0.05292" units="cm"/>
      <inkml:brushProperty name="height" value="0.05292" units="cm"/>
      <inkml:brushProperty name="color" value="#FF0000"/>
    </inkml:brush>
  </inkml:definitions>
  <inkml:trace contextRef="#ctx0" brushRef="#br0">8149 8026 0,'53'0'421,"141"17"-389,35-17-1,283 0 0,-177-35-15,18 0-1,35-1 1,18-16 0,-265 34-1,-18 0 1,-52 18-16,17-35 16,35 17-1,1-35 1,-71 53-1,0-17 1,-36 17 0,1-18-16,0 18 15,-1-17 63,1 17-46</inkml:trace>
  <inkml:trace contextRef="#ctx0" brushRef="#br0" timeOffset="1420.09">16334 6368 0,'105'0'234,"336"-18"-202,-317 0-17,458-123 1,-282 53 0,-106 53-1,18-18 1,-89 0-1,-35 35 1,-53 1-16,1 17 16,-36-18-1,17 18 1,1 0 31</inkml:trace>
  <inkml:trace contextRef="#ctx0" brushRef="#br0" timeOffset="3731.91">23618 7250 0,'-17'194'203,"17"-71"-187,0-52-1,0 158 1,35-17-1,0 87 1,-17-228 0,0 17-16,35 89 31,-18-89 0,-18-71 0,-17-34 48,0-89-64,0-106 1,-70-176-1,52 194 1,-35 0 15,18 71-31,0-54 32,0 36-1,17 124-16,18-1-15,0 36 79,0 87-64,0 1 1,35 35-1,-17-52-15,17 52 16,-17 53 0,-1 70 15,1-123-15,-18-52 15,18-54-16,-18-18 1,0 1 31</inkml:trace>
  <inkml:trace contextRef="#ctx0" brushRef="#br0" timeOffset="5555.27">21343 10601 0,'106'35'250,"35"18"-235,141 35 1,18-70 0,53-18-1,0 0 17,-195 0-17,1-18 1,-71-17-1,-52 35 1,-19-18 0,1 18-1,0 0 63</inkml:trace>
  <inkml:trace contextRef="#ctx0" brushRef="#br0" timeOffset="8072.01">29757 6756 0,'0'35'500,"17"88"-484,19 71-1,-36-123 1,0-36-1,0 18-15,17-35 32,-17-1-32,0 1 15,0 0 32,0-71 63,-35-106-95,17 0 1,1-52-1,-1 122 1,18 37 0,0-1-16,0 0 15,0 35 17,0 0-17,0 1 1,0-1-1,18 1 17,17-1-17,-17 0-15,52 18 16,-17 0 0,0 0-16,-18 0 15,1 0-15,17 0 16,-36 0-1,18 0 1,-35 53 31,-70 176-16,35-193-31,-18 105 16,-35-18-1,35-34 1,35-72 0,18 18-1,-35-35 17,52 0 77,36 0-93,-17 0-16,69 18 15,125 17 1,-89 1-1,-53-19 1,-53 1 0,-17-18-1,0 0 1</inkml:trace>
  <inkml:trace contextRef="#ctx0" brushRef="#br0" timeOffset="9696.02">30127 8026 0,'18'17'422</inkml:trace>
  <inkml:trace contextRef="#ctx0" brushRef="#br0" timeOffset="11853.48">30145 8043 0,'17'71'250,"1"52"-234,-18-52-16,18 105 15,-1 71 1,1-141-16,0-35 15,-1 70 1,-17-124 0,0 1-1,0 0 32,0-54 0,-53-69-31,18-1-1,-18-35 1,36 70-16,-1-35 16,0 0-1,18 36 1,0 35-1,0-18 1,36 0 0,-19 17 15,1 36-15,-1-17-1,1 17 1,0-18-16,35 18 15,0 0 1,-18 0 0,35 18-1,-52-18 1,0 17 0,-18 1 15,17 0-16,-17-1 48,0 1-32,0 17-31,0-17 31,-70 35 1,35-53-17,-18 70 1,17-70 0,19 36-1,-1-36 16,18 17-15,18 19 31,105 52-31,-17-18-1,-18 19 1,-17-37-16,35 19 15,17 17 1,-52-53 0,-18-17-1,-36-18 1,-17 18 0</inkml:trace>
  <inkml:trace contextRef="#ctx0" brushRef="#br0" timeOffset="14121.64">30727 9878 0,'0'123'219,"70"71"-203,-52-106-16,88 195 31,-88-230-31,17 35 15,0-35 1,-35-18 0</inkml:trace>
  <inkml:trace contextRef="#ctx0" brushRef="#br0" timeOffset="15733.63">30833 10442 0,'17'-17'375,"177"-36"-344,-123 53 0,-53 0-15,-1 0 15,-17 17 32,0 1-1,0 0-31,0-1-15,0 1 0,0-1-1,-17 19 17,-19-19-1,19 1-16,17 0 1,-18-1 15,0 1-15,1-18 0,-36 18-1,0-1 1,-18 1-1,36 17 1,-35 0-16,-36-17 31,88 0-31,0-1 0,1-17 16,-18 18-16,17 0 31,0-18 0</inkml:trace>
  <inkml:trace contextRef="#ctx0" brushRef="#br0" timeOffset="17471.56">30868 11906 0,'0'53'141,"18"176"-126,-1-70 1,36 265-1,-35-336-15,-18 0 16,18 71 0,-18-142-1,0 1 1,-18-89 46,-53-334-30,54 299-32,17-459 31,35 389-15,18-36-1,-18 89 1,0 70-16,1 0 15,-1 18 1,36-18 0,34 18-1,1 35 1,-53 0 0,0 0-16,-35 0 15,-1 0 1,1 17-1,0 36 1,-18-18 0,-18 36-1,-17-36-15,-89 89 16,-52 70 15,17-35-15,124-71-1,0-71-15,17 19 16,0-19 0,1-17-1,-1 0 1,18 18 15,0 0-15,176 123-1,54 35 1,-72-105-16,107 123 16,-53-18 15,-107-123-31,54 70 16,-88-70 15,-54-35-16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879CA-4CCC-8737-07EB-984D8882F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7083C75-740B-B4B4-6FE0-22EED18D2C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228EE7-9AB7-6052-2E18-0CC23497C7D4}"/>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7F635756-D569-8EEC-3DF8-1F6DA70435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8B26D2-DDBC-4E3E-6C61-CCAB38F2128F}"/>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4236665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08223-7BE6-3897-0EED-F32781EDD0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217451-3DD3-1474-4BF1-D7B92B1A4E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2C1FE2-D259-77C5-B29E-E475321ECEFF}"/>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588B11F2-B778-2218-CDB6-B4A755EE0E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DADAA3-1EA2-619E-3E20-A1382ADE6C70}"/>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184913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0B773-221F-D44C-4E48-324E02AFF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0E4A65-46D1-4297-A295-6AAF125F0F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D5ECD2-8FA3-6653-96B9-C6B552F7BFEC}"/>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18B901D8-A86D-CFAE-BBF1-ADF538B4B1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363C70-3D2F-90EC-22BF-58199A476DF3}"/>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1718741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09C40-A20C-B498-F004-85B5E580B9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24BFED-134F-3420-B1C5-99C23E5E94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D5CDAE-99CD-A9CC-0E2D-E22B1355A1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3508379-30DC-C5C8-AB68-4EAD1868E130}"/>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6" name="Footer Placeholder 5">
            <a:extLst>
              <a:ext uri="{FF2B5EF4-FFF2-40B4-BE49-F238E27FC236}">
                <a16:creationId xmlns:a16="http://schemas.microsoft.com/office/drawing/2014/main" id="{40D029CB-6183-26A5-E949-F1799E8503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4462C8-D50F-F74E-68BE-944227770CE8}"/>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1933703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247CB-6EC1-D8AD-D480-4114F546C0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E0A73C-3462-2274-186D-0D0A2AF2DB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DAEF6F-F30B-0D3B-F3F5-2F0D41F245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CE8707F-3665-2D0D-5D63-69E03AECF9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1D403C-7C27-0234-9953-6FA7E57E3D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7F63D-DD42-0057-F811-BDD1741A09F3}"/>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8" name="Footer Placeholder 7">
            <a:extLst>
              <a:ext uri="{FF2B5EF4-FFF2-40B4-BE49-F238E27FC236}">
                <a16:creationId xmlns:a16="http://schemas.microsoft.com/office/drawing/2014/main" id="{26500C32-D445-FAFA-ECF3-0291BBC3B8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E2F863-6C5F-B4B9-C644-DB1C6F43AA26}"/>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2946359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E8764-037F-0869-D983-6158FE7CD5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4873F0-F96B-9D84-A7FC-E5179F52D17C}"/>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4" name="Footer Placeholder 3">
            <a:extLst>
              <a:ext uri="{FF2B5EF4-FFF2-40B4-BE49-F238E27FC236}">
                <a16:creationId xmlns:a16="http://schemas.microsoft.com/office/drawing/2014/main" id="{BBCF6AF1-4F59-FEBE-A533-1822061E4D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2115778-338E-04F9-71FC-75EECBD8B29E}"/>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281629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F88A84-CD36-D5C6-77FA-395EC4623E7F}"/>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3" name="Footer Placeholder 2">
            <a:extLst>
              <a:ext uri="{FF2B5EF4-FFF2-40B4-BE49-F238E27FC236}">
                <a16:creationId xmlns:a16="http://schemas.microsoft.com/office/drawing/2014/main" id="{C283CCF4-01D7-AD7B-DE6C-15684274E4C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BC2EFB-0E6C-0FEE-16C1-D33330F9B5F9}"/>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271883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97221-FF9F-E401-92DA-40967D755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885760E-9EB2-63D3-F89F-63518061AA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CEF171-BFD4-559E-7F69-C41A6CDA6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4CAE64-EC8A-B451-BA64-39F054D2D882}"/>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6" name="Footer Placeholder 5">
            <a:extLst>
              <a:ext uri="{FF2B5EF4-FFF2-40B4-BE49-F238E27FC236}">
                <a16:creationId xmlns:a16="http://schemas.microsoft.com/office/drawing/2014/main" id="{CDF19DBD-F7B0-67FC-14D3-B13382692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530ACD-BB51-AF29-4428-2A7D72242E57}"/>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580410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8C271-D01B-C45F-7B52-7C555CBEA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12A87B1-A0A9-5BD0-7E9D-B6D653FF16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7BB6F9D-7721-B133-0221-2B3191219F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C99A4B-68C0-96EB-7D24-43FF04DEF4F6}"/>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6" name="Footer Placeholder 5">
            <a:extLst>
              <a:ext uri="{FF2B5EF4-FFF2-40B4-BE49-F238E27FC236}">
                <a16:creationId xmlns:a16="http://schemas.microsoft.com/office/drawing/2014/main" id="{E5BCFB8F-D235-E469-B348-7C6A262B9D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88060E-9433-39F7-94DA-CFFC430DAF59}"/>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138925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15DE4-1168-E307-7C7A-77CC8F60D5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6468DB-BB11-A2C5-8987-C114D204FF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DAA0C7-CA81-FA26-4853-9024B9E3E832}"/>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545191BD-0AF9-B77F-77BD-43E9CCB52C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00782B-FDA8-56FA-B096-C7C3EF8650A1}"/>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124811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BA3ED9-24BC-1299-4417-DB3F40DB3B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5EC297-275D-8F61-7F45-05AD5504A6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B2E8DF-61BB-2581-234D-76363AD42FF8}"/>
              </a:ext>
            </a:extLst>
          </p:cNvPr>
          <p:cNvSpPr>
            <a:spLocks noGrp="1"/>
          </p:cNvSpPr>
          <p:nvPr>
            <p:ph type="dt" sz="half" idx="10"/>
          </p:nvPr>
        </p:nvSpPr>
        <p:spPr/>
        <p:txBody>
          <a:body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7E672926-A896-51FB-A032-E1296369FB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C9B7F3-2F04-9E30-AC57-B37FEF08ED50}"/>
              </a:ext>
            </a:extLst>
          </p:cNvPr>
          <p:cNvSpPr>
            <a:spLocks noGrp="1"/>
          </p:cNvSpPr>
          <p:nvPr>
            <p:ph type="sldNum" sz="quarter" idx="12"/>
          </p:nvPr>
        </p:nvSpPr>
        <p:spPr/>
        <p:txBody>
          <a:bodyPr/>
          <a:lstStyle/>
          <a:p>
            <a:fld id="{B1CAB5D6-3332-4499-80FD-F3B96FF50F22}" type="slidenum">
              <a:rPr lang="en-IN" smtClean="0"/>
              <a:t>‹#›</a:t>
            </a:fld>
            <a:endParaRPr lang="en-IN"/>
          </a:p>
        </p:txBody>
      </p:sp>
    </p:spTree>
    <p:extLst>
      <p:ext uri="{BB962C8B-B14F-4D97-AF65-F5344CB8AC3E}">
        <p14:creationId xmlns:p14="http://schemas.microsoft.com/office/powerpoint/2010/main" val="3963221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AEC542-2F89-DE53-6134-3D36627AE7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4B39F-DAC3-F180-F170-A410B37292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45594F-BFB4-FA94-403F-E926AA6602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024986-AEAF-494E-B353-CD44E5944393}" type="datetimeFigureOut">
              <a:rPr lang="en-IN" smtClean="0"/>
              <a:t>18-08-2025</a:t>
            </a:fld>
            <a:endParaRPr lang="en-IN"/>
          </a:p>
        </p:txBody>
      </p:sp>
      <p:sp>
        <p:nvSpPr>
          <p:cNvPr id="5" name="Footer Placeholder 4">
            <a:extLst>
              <a:ext uri="{FF2B5EF4-FFF2-40B4-BE49-F238E27FC236}">
                <a16:creationId xmlns:a16="http://schemas.microsoft.com/office/drawing/2014/main" id="{F0E0F238-82E9-BD34-FFE6-0476B15B93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AD6078-D6A8-9A41-EF33-BBCAD16272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CAB5D6-3332-4499-80FD-F3B96FF50F22}" type="slidenum">
              <a:rPr lang="en-IN" smtClean="0"/>
              <a:t>‹#›</a:t>
            </a:fld>
            <a:endParaRPr lang="en-IN"/>
          </a:p>
        </p:txBody>
      </p:sp>
    </p:spTree>
    <p:extLst>
      <p:ext uri="{BB962C8B-B14F-4D97-AF65-F5344CB8AC3E}">
        <p14:creationId xmlns:p14="http://schemas.microsoft.com/office/powerpoint/2010/main" val="14291845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youtube.com/watch?v=EjvdpkX9fD8" TargetMode="External"/><Relationship Id="rId2" Type="http://schemas.openxmlformats.org/officeDocument/2006/relationships/hyperlink" Target="https://www.youtube.com/watch?v=FORcPhBaa50" TargetMode="External"/><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3DD0E7-B9A3-8E3F-487C-7452BB2BB5B3}"/>
              </a:ext>
            </a:extLst>
          </p:cNvPr>
          <p:cNvSpPr>
            <a:spLocks noGrp="1"/>
          </p:cNvSpPr>
          <p:nvPr>
            <p:ph type="subTitle" idx="1"/>
          </p:nvPr>
        </p:nvSpPr>
        <p:spPr>
          <a:xfrm>
            <a:off x="0" y="0"/>
            <a:ext cx="12263120" cy="1655762"/>
          </a:xfrm>
        </p:spPr>
        <p:txBody>
          <a:bodyPr/>
          <a:lstStyle/>
          <a:p>
            <a:r>
              <a:rPr lang="en-IN" sz="4000" b="1" dirty="0">
                <a:solidFill>
                  <a:srgbClr val="00B050"/>
                </a:solidFill>
                <a:latin typeface="Times New Roman" panose="02020603050405020304" pitchFamily="18" charset="0"/>
                <a:cs typeface="Times New Roman" panose="02020603050405020304" pitchFamily="18" charset="0"/>
              </a:rPr>
              <a:t>21MHE521J Industrial Manipulators – Kinematics, Dynamics and Control</a:t>
            </a:r>
          </a:p>
          <a:p>
            <a:endParaRPr lang="en-IN" dirty="0"/>
          </a:p>
        </p:txBody>
      </p:sp>
      <p:sp>
        <p:nvSpPr>
          <p:cNvPr id="6" name="TextBox 5">
            <a:extLst>
              <a:ext uri="{FF2B5EF4-FFF2-40B4-BE49-F238E27FC236}">
                <a16:creationId xmlns:a16="http://schemas.microsoft.com/office/drawing/2014/main" id="{2C0AA758-CDC1-EB7B-ECE4-68099E287644}"/>
              </a:ext>
            </a:extLst>
          </p:cNvPr>
          <p:cNvSpPr txBox="1"/>
          <p:nvPr/>
        </p:nvSpPr>
        <p:spPr>
          <a:xfrm>
            <a:off x="0" y="1805478"/>
            <a:ext cx="12192000" cy="3247043"/>
          </a:xfrm>
          <a:prstGeom prst="rect">
            <a:avLst/>
          </a:prstGeom>
          <a:noFill/>
        </p:spPr>
        <p:txBody>
          <a:bodyPr wrap="square">
            <a:spAutoFit/>
          </a:bodyPr>
          <a:lstStyle/>
          <a:p>
            <a:pPr algn="ctr"/>
            <a:endParaRPr lang="en-US" sz="2500" dirty="0">
              <a:solidFill>
                <a:srgbClr val="00B0F0"/>
              </a:solidFill>
              <a:latin typeface="Times New Roman" panose="02020603050405020304" pitchFamily="18" charset="0"/>
              <a:cs typeface="Times New Roman" panose="02020603050405020304" pitchFamily="18" charset="0"/>
            </a:endParaRPr>
          </a:p>
          <a:p>
            <a:pPr algn="ctr"/>
            <a:endParaRPr lang="en-US" sz="2500" dirty="0">
              <a:solidFill>
                <a:srgbClr val="00B0F0"/>
              </a:solidFill>
              <a:latin typeface="Times New Roman" panose="02020603050405020304" pitchFamily="18" charset="0"/>
              <a:cs typeface="Times New Roman" panose="02020603050405020304" pitchFamily="18" charset="0"/>
            </a:endParaRPr>
          </a:p>
          <a:p>
            <a:pPr algn="ctr"/>
            <a:r>
              <a:rPr lang="en-US" sz="3000" b="1" dirty="0">
                <a:solidFill>
                  <a:srgbClr val="C00000"/>
                </a:solidFill>
                <a:latin typeface="Times New Roman" panose="02020603050405020304" pitchFamily="18" charset="0"/>
                <a:cs typeface="Times New Roman" panose="02020603050405020304" pitchFamily="18" charset="0"/>
              </a:rPr>
              <a:t>Course Instructor</a:t>
            </a:r>
          </a:p>
          <a:p>
            <a:pPr algn="ctr"/>
            <a:r>
              <a:rPr lang="en-US" sz="2500" dirty="0">
                <a:latin typeface="Times New Roman" panose="02020603050405020304" pitchFamily="18" charset="0"/>
                <a:cs typeface="Times New Roman" panose="02020603050405020304" pitchFamily="18" charset="0"/>
              </a:rPr>
              <a:t>Dr A Vimala </a:t>
            </a:r>
            <a:r>
              <a:rPr lang="en-US" sz="2500" dirty="0" err="1">
                <a:latin typeface="Times New Roman" panose="02020603050405020304" pitchFamily="18" charset="0"/>
                <a:cs typeface="Times New Roman" panose="02020603050405020304" pitchFamily="18" charset="0"/>
              </a:rPr>
              <a:t>Starbino</a:t>
            </a:r>
            <a:endParaRPr lang="en-US" sz="2500" dirty="0">
              <a:latin typeface="Times New Roman" panose="02020603050405020304" pitchFamily="18" charset="0"/>
              <a:cs typeface="Times New Roman" panose="02020603050405020304" pitchFamily="18" charset="0"/>
            </a:endParaRPr>
          </a:p>
          <a:p>
            <a:pPr algn="ctr"/>
            <a:r>
              <a:rPr lang="en-US" sz="2500" dirty="0">
                <a:latin typeface="Times New Roman" panose="02020603050405020304" pitchFamily="18" charset="0"/>
                <a:cs typeface="Times New Roman" panose="02020603050405020304" pitchFamily="18" charset="0"/>
              </a:rPr>
              <a:t>Assistant Professor</a:t>
            </a:r>
          </a:p>
          <a:p>
            <a:pPr algn="ctr"/>
            <a:r>
              <a:rPr lang="en-US" sz="2500" dirty="0">
                <a:latin typeface="Times New Roman" panose="02020603050405020304" pitchFamily="18" charset="0"/>
                <a:cs typeface="Times New Roman" panose="02020603050405020304" pitchFamily="18" charset="0"/>
              </a:rPr>
              <a:t>Department of Mechatronics Engineering</a:t>
            </a:r>
          </a:p>
          <a:p>
            <a:pPr algn="ctr"/>
            <a:r>
              <a:rPr lang="en-US" sz="2500" dirty="0">
                <a:latin typeface="Times New Roman" panose="02020603050405020304" pitchFamily="18" charset="0"/>
                <a:cs typeface="Times New Roman" panose="02020603050405020304" pitchFamily="18" charset="0"/>
              </a:rPr>
              <a:t>SRM Institute of Science and Technology</a:t>
            </a:r>
          </a:p>
          <a:p>
            <a:pPr algn="ctr"/>
            <a:r>
              <a:rPr lang="en-US" sz="2500" dirty="0" err="1">
                <a:latin typeface="Times New Roman" panose="02020603050405020304" pitchFamily="18" charset="0"/>
                <a:cs typeface="Times New Roman" panose="02020603050405020304" pitchFamily="18" charset="0"/>
              </a:rPr>
              <a:t>Kattankulathur</a:t>
            </a:r>
            <a:endParaRPr lang="en-IN"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8985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WhatsApp Video 2025-08-12 at 20.14.50_e674dcb5">
            <a:hlinkClick r:id="" action="ppaction://media"/>
            <a:extLst>
              <a:ext uri="{FF2B5EF4-FFF2-40B4-BE49-F238E27FC236}">
                <a16:creationId xmlns:a16="http://schemas.microsoft.com/office/drawing/2014/main" id="{8EAD5F15-E64D-CC39-F4CA-7CD06C9B7EC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96640" y="0"/>
            <a:ext cx="4031933" cy="6858000"/>
          </a:xfrm>
          <a:prstGeom prst="rect">
            <a:avLst/>
          </a:prstGeom>
        </p:spPr>
      </p:pic>
    </p:spTree>
    <p:extLst>
      <p:ext uri="{BB962C8B-B14F-4D97-AF65-F5344CB8AC3E}">
        <p14:creationId xmlns:p14="http://schemas.microsoft.com/office/powerpoint/2010/main" val="141900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77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4D42B11-4173-1746-64DB-38C9830F2D9E}"/>
              </a:ext>
            </a:extLst>
          </p:cNvPr>
          <p:cNvSpPr>
            <a:spLocks noChangeArrowheads="1"/>
          </p:cNvSpPr>
          <p:nvPr/>
        </p:nvSpPr>
        <p:spPr bwMode="auto">
          <a:xfrm>
            <a:off x="0" y="390364"/>
            <a:ext cx="808736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robotics, a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manipulator</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basically the mechanical arm of a robot — the part that moves and interacts with objects in the environment.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Links</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rigid segments (like bones)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Joints</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movable connections between links (like elbows or wrists)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End-effector</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“tool” at the tip (like a gripper, welding torch, or drill) that actually does the 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manipulator’s job is to </a:t>
            </a: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position and orient its end-effector</a:t>
            </a: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right place so it can perform tasks such as picking up objects, welding, assembling parts, or even doing surgery.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engineering terms, it’s defined 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device composed of links and joints, capable of moving and positioning an end-effector to perform specific tasks</a:t>
            </a:r>
            <a:r>
              <a:rPr kumimoji="0" lang="en-US" altLang="en-US" sz="2000" b="1" u="none" strike="noStrike" cap="none" normalizeH="0" baseline="0" dirty="0">
                <a:ln>
                  <a:noFill/>
                </a:ln>
                <a:solidFill>
                  <a:schemeClr val="tx1"/>
                </a:solidFill>
                <a:effectLst/>
                <a:latin typeface="Arial" panose="020B0604020202020204" pitchFamily="34" charset="0"/>
              </a:rPr>
              <a:t>.</a:t>
            </a:r>
          </a:p>
        </p:txBody>
      </p:sp>
      <p:pic>
        <p:nvPicPr>
          <p:cNvPr id="6" name="Picture 5">
            <a:extLst>
              <a:ext uri="{FF2B5EF4-FFF2-40B4-BE49-F238E27FC236}">
                <a16:creationId xmlns:a16="http://schemas.microsoft.com/office/drawing/2014/main" id="{D3058467-AC21-07B1-254B-2DE1F05D9955}"/>
              </a:ext>
            </a:extLst>
          </p:cNvPr>
          <p:cNvPicPr>
            <a:picLocks noChangeAspect="1"/>
          </p:cNvPicPr>
          <p:nvPr/>
        </p:nvPicPr>
        <p:blipFill>
          <a:blip r:embed="rId2"/>
          <a:stretch>
            <a:fillRect/>
          </a:stretch>
        </p:blipFill>
        <p:spPr>
          <a:xfrm>
            <a:off x="7955280" y="1341120"/>
            <a:ext cx="4236720" cy="2966720"/>
          </a:xfrm>
          <a:prstGeom prst="rect">
            <a:avLst/>
          </a:prstGeom>
        </p:spPr>
      </p:pic>
    </p:spTree>
    <p:extLst>
      <p:ext uri="{BB962C8B-B14F-4D97-AF65-F5344CB8AC3E}">
        <p14:creationId xmlns:p14="http://schemas.microsoft.com/office/powerpoint/2010/main" val="2654836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DBB1304-C583-5049-534A-ECDAE16B9700}"/>
              </a:ext>
            </a:extLst>
          </p:cNvPr>
          <p:cNvGraphicFramePr>
            <a:graphicFrameLocks noGrp="1"/>
          </p:cNvGraphicFramePr>
          <p:nvPr>
            <p:extLst>
              <p:ext uri="{D42A27DB-BD31-4B8C-83A1-F6EECF244321}">
                <p14:modId xmlns:p14="http://schemas.microsoft.com/office/powerpoint/2010/main" val="2604343077"/>
              </p:ext>
            </p:extLst>
          </p:nvPr>
        </p:nvGraphicFramePr>
        <p:xfrm>
          <a:off x="182373" y="172720"/>
          <a:ext cx="11867388" cy="6144590"/>
        </p:xfrm>
        <a:graphic>
          <a:graphicData uri="http://schemas.openxmlformats.org/drawingml/2006/table">
            <a:tbl>
              <a:tblPr firstRow="1" bandRow="1">
                <a:tableStyleId>{5C22544A-7EE6-4342-B048-85BDC9FD1C3A}</a:tableStyleId>
              </a:tblPr>
              <a:tblGrid>
                <a:gridCol w="1446963">
                  <a:extLst>
                    <a:ext uri="{9D8B030D-6E8A-4147-A177-3AD203B41FA5}">
                      <a16:colId xmlns:a16="http://schemas.microsoft.com/office/drawing/2014/main" val="1992038282"/>
                    </a:ext>
                  </a:extLst>
                </a:gridCol>
                <a:gridCol w="4788171">
                  <a:extLst>
                    <a:ext uri="{9D8B030D-6E8A-4147-A177-3AD203B41FA5}">
                      <a16:colId xmlns:a16="http://schemas.microsoft.com/office/drawing/2014/main" val="2118468838"/>
                    </a:ext>
                  </a:extLst>
                </a:gridCol>
                <a:gridCol w="5632254">
                  <a:extLst>
                    <a:ext uri="{9D8B030D-6E8A-4147-A177-3AD203B41FA5}">
                      <a16:colId xmlns:a16="http://schemas.microsoft.com/office/drawing/2014/main" val="3130700118"/>
                    </a:ext>
                  </a:extLst>
                </a:gridCol>
              </a:tblGrid>
              <a:tr h="568960">
                <a:tc>
                  <a:txBody>
                    <a:bodyPr/>
                    <a:lstStyle/>
                    <a:p>
                      <a:pPr algn="ctr">
                        <a:defRPr sz="1200">
                          <a:solidFill>
                            <a:srgbClr val="000000"/>
                          </a:solidFill>
                          <a:latin typeface="Times New Roman"/>
                        </a:defRPr>
                      </a:pPr>
                      <a:r>
                        <a:rPr sz="2000" dirty="0">
                          <a:solidFill>
                            <a:schemeClr val="bg1"/>
                          </a:solidFill>
                        </a:rPr>
                        <a:t>Aspect</a:t>
                      </a:r>
                    </a:p>
                  </a:txBody>
                  <a:tcPr marL="100584" marR="100584"/>
                </a:tc>
                <a:tc>
                  <a:txBody>
                    <a:bodyPr/>
                    <a:lstStyle/>
                    <a:p>
                      <a:pPr algn="ctr">
                        <a:defRPr sz="1200">
                          <a:solidFill>
                            <a:srgbClr val="000000"/>
                          </a:solidFill>
                          <a:latin typeface="Times New Roman"/>
                        </a:defRPr>
                      </a:pPr>
                      <a:r>
                        <a:rPr sz="2000" dirty="0">
                          <a:solidFill>
                            <a:schemeClr val="bg1"/>
                          </a:solidFill>
                        </a:rPr>
                        <a:t>Manipulator</a:t>
                      </a:r>
                    </a:p>
                  </a:txBody>
                  <a:tcPr marL="100584" marR="100584"/>
                </a:tc>
                <a:tc>
                  <a:txBody>
                    <a:bodyPr/>
                    <a:lstStyle/>
                    <a:p>
                      <a:pPr algn="ctr">
                        <a:defRPr sz="1200">
                          <a:solidFill>
                            <a:srgbClr val="000000"/>
                          </a:solidFill>
                          <a:latin typeface="Times New Roman"/>
                        </a:defRPr>
                      </a:pPr>
                      <a:r>
                        <a:rPr sz="2000" dirty="0">
                          <a:solidFill>
                            <a:schemeClr val="bg1"/>
                          </a:solidFill>
                        </a:rPr>
                        <a:t>Robotics</a:t>
                      </a:r>
                    </a:p>
                  </a:txBody>
                  <a:tcPr marL="100584" marR="100584"/>
                </a:tc>
                <a:extLst>
                  <a:ext uri="{0D108BD9-81ED-4DB2-BD59-A6C34878D82A}">
                    <a16:rowId xmlns:a16="http://schemas.microsoft.com/office/drawing/2014/main" val="1560603162"/>
                  </a:ext>
                </a:extLst>
              </a:tr>
              <a:tr h="1115126">
                <a:tc>
                  <a:txBody>
                    <a:bodyPr/>
                    <a:lstStyle/>
                    <a:p>
                      <a:pPr algn="l">
                        <a:defRPr sz="1200">
                          <a:solidFill>
                            <a:srgbClr val="000000"/>
                          </a:solidFill>
                          <a:latin typeface="Times New Roman"/>
                        </a:defRPr>
                      </a:pPr>
                      <a:r>
                        <a:rPr sz="2000" dirty="0"/>
                        <a:t>Definition</a:t>
                      </a:r>
                    </a:p>
                  </a:txBody>
                  <a:tcPr marL="100584" marR="100584"/>
                </a:tc>
                <a:tc>
                  <a:txBody>
                    <a:bodyPr/>
                    <a:lstStyle/>
                    <a:p>
                      <a:pPr algn="l">
                        <a:defRPr sz="1200">
                          <a:solidFill>
                            <a:srgbClr val="000000"/>
                          </a:solidFill>
                          <a:latin typeface="Times New Roman"/>
                        </a:defRPr>
                      </a:pPr>
                      <a:r>
                        <a:rPr sz="2000" dirty="0"/>
                        <a:t>A mechanical arm or device used to handle objects by moving, lifting, or positioning them.</a:t>
                      </a:r>
                    </a:p>
                  </a:txBody>
                  <a:tcPr marL="100584" marR="100584"/>
                </a:tc>
                <a:tc>
                  <a:txBody>
                    <a:bodyPr/>
                    <a:lstStyle/>
                    <a:p>
                      <a:pPr algn="l">
                        <a:defRPr sz="1200">
                          <a:solidFill>
                            <a:srgbClr val="000000"/>
                          </a:solidFill>
                          <a:latin typeface="Times New Roman"/>
                        </a:defRPr>
                      </a:pPr>
                      <a:r>
                        <a:rPr sz="2000" dirty="0"/>
                        <a:t>The interdisciplinary field involving the design, construction, programming, and control of robots.</a:t>
                      </a:r>
                    </a:p>
                  </a:txBody>
                  <a:tcPr marL="100584" marR="100584"/>
                </a:tc>
                <a:extLst>
                  <a:ext uri="{0D108BD9-81ED-4DB2-BD59-A6C34878D82A}">
                    <a16:rowId xmlns:a16="http://schemas.microsoft.com/office/drawing/2014/main" val="591091187"/>
                  </a:ext>
                </a:extLst>
              </a:tr>
              <a:tr h="1115126">
                <a:tc>
                  <a:txBody>
                    <a:bodyPr/>
                    <a:lstStyle/>
                    <a:p>
                      <a:pPr algn="l">
                        <a:defRPr sz="1200">
                          <a:solidFill>
                            <a:srgbClr val="000000"/>
                          </a:solidFill>
                          <a:latin typeface="Times New Roman"/>
                        </a:defRPr>
                      </a:pPr>
                      <a:r>
                        <a:rPr sz="2000" dirty="0"/>
                        <a:t>Scope</a:t>
                      </a:r>
                    </a:p>
                  </a:txBody>
                  <a:tcPr marL="100584" marR="100584"/>
                </a:tc>
                <a:tc>
                  <a:txBody>
                    <a:bodyPr/>
                    <a:lstStyle/>
                    <a:p>
                      <a:pPr algn="l">
                        <a:defRPr sz="1200">
                          <a:solidFill>
                            <a:srgbClr val="000000"/>
                          </a:solidFill>
                          <a:latin typeface="Times New Roman"/>
                        </a:defRPr>
                      </a:pPr>
                      <a:r>
                        <a:rPr sz="2000" dirty="0"/>
                        <a:t>Part of a robot (focuses on the physical arm mechanism).</a:t>
                      </a:r>
                    </a:p>
                  </a:txBody>
                  <a:tcPr marL="100584" marR="100584"/>
                </a:tc>
                <a:tc>
                  <a:txBody>
                    <a:bodyPr/>
                    <a:lstStyle/>
                    <a:p>
                      <a:pPr algn="l">
                        <a:defRPr sz="1200">
                          <a:solidFill>
                            <a:srgbClr val="000000"/>
                          </a:solidFill>
                          <a:latin typeface="Times New Roman"/>
                        </a:defRPr>
                      </a:pPr>
                      <a:r>
                        <a:rPr sz="2000" dirty="0"/>
                        <a:t>Covers the whole robot system, including manipulator, sensors, actuators, controllers, and software.</a:t>
                      </a:r>
                    </a:p>
                  </a:txBody>
                  <a:tcPr marL="100584" marR="100584"/>
                </a:tc>
                <a:extLst>
                  <a:ext uri="{0D108BD9-81ED-4DB2-BD59-A6C34878D82A}">
                    <a16:rowId xmlns:a16="http://schemas.microsoft.com/office/drawing/2014/main" val="1220385691"/>
                  </a:ext>
                </a:extLst>
              </a:tr>
              <a:tr h="1115126">
                <a:tc>
                  <a:txBody>
                    <a:bodyPr/>
                    <a:lstStyle/>
                    <a:p>
                      <a:pPr algn="l">
                        <a:defRPr sz="1200">
                          <a:solidFill>
                            <a:srgbClr val="000000"/>
                          </a:solidFill>
                          <a:latin typeface="Times New Roman"/>
                        </a:defRPr>
                      </a:pPr>
                      <a:r>
                        <a:rPr sz="2000" dirty="0"/>
                        <a:t>Function</a:t>
                      </a:r>
                    </a:p>
                  </a:txBody>
                  <a:tcPr marL="100584" marR="100584"/>
                </a:tc>
                <a:tc>
                  <a:txBody>
                    <a:bodyPr/>
                    <a:lstStyle/>
                    <a:p>
                      <a:pPr algn="l">
                        <a:defRPr sz="1200">
                          <a:solidFill>
                            <a:srgbClr val="000000"/>
                          </a:solidFill>
                          <a:latin typeface="Times New Roman"/>
                        </a:defRPr>
                      </a:pPr>
                      <a:r>
                        <a:rPr sz="2000" dirty="0"/>
                        <a:t>Moves and positions the end-effector to perform tasks like welding, painting, or picking objects.</a:t>
                      </a:r>
                    </a:p>
                  </a:txBody>
                  <a:tcPr marL="100584" marR="100584"/>
                </a:tc>
                <a:tc>
                  <a:txBody>
                    <a:bodyPr/>
                    <a:lstStyle/>
                    <a:p>
                      <a:pPr algn="l">
                        <a:defRPr sz="1200">
                          <a:solidFill>
                            <a:srgbClr val="000000"/>
                          </a:solidFill>
                          <a:latin typeface="Times New Roman"/>
                        </a:defRPr>
                      </a:pPr>
                      <a:r>
                        <a:rPr sz="2000" dirty="0"/>
                        <a:t>Integrates sensing, decision-making, and action to perform autonomous or semi-autonomous tasks.</a:t>
                      </a:r>
                    </a:p>
                  </a:txBody>
                  <a:tcPr marL="100584" marR="100584"/>
                </a:tc>
                <a:extLst>
                  <a:ext uri="{0D108BD9-81ED-4DB2-BD59-A6C34878D82A}">
                    <a16:rowId xmlns:a16="http://schemas.microsoft.com/office/drawing/2014/main" val="1890736051"/>
                  </a:ext>
                </a:extLst>
              </a:tr>
              <a:tr h="1115126">
                <a:tc>
                  <a:txBody>
                    <a:bodyPr/>
                    <a:lstStyle/>
                    <a:p>
                      <a:pPr algn="l">
                        <a:defRPr sz="1200">
                          <a:solidFill>
                            <a:srgbClr val="000000"/>
                          </a:solidFill>
                          <a:latin typeface="Times New Roman"/>
                        </a:defRPr>
                      </a:pPr>
                      <a:r>
                        <a:rPr sz="2000" dirty="0"/>
                        <a:t>Control</a:t>
                      </a:r>
                    </a:p>
                  </a:txBody>
                  <a:tcPr marL="100584" marR="100584"/>
                </a:tc>
                <a:tc>
                  <a:txBody>
                    <a:bodyPr/>
                    <a:lstStyle/>
                    <a:p>
                      <a:pPr algn="l">
                        <a:defRPr sz="1200">
                          <a:solidFill>
                            <a:srgbClr val="000000"/>
                          </a:solidFill>
                          <a:latin typeface="Times New Roman"/>
                        </a:defRPr>
                      </a:pPr>
                      <a:r>
                        <a:rPr sz="2000" dirty="0"/>
                        <a:t>Usually controlled through joint angles, trajectories, and motion planning.</a:t>
                      </a:r>
                    </a:p>
                  </a:txBody>
                  <a:tcPr marL="100584" marR="100584"/>
                </a:tc>
                <a:tc>
                  <a:txBody>
                    <a:bodyPr/>
                    <a:lstStyle/>
                    <a:p>
                      <a:pPr algn="l">
                        <a:defRPr sz="1200">
                          <a:solidFill>
                            <a:srgbClr val="000000"/>
                          </a:solidFill>
                          <a:latin typeface="Times New Roman"/>
                        </a:defRPr>
                      </a:pPr>
                      <a:r>
                        <a:rPr sz="2000" dirty="0"/>
                        <a:t>Involves control of manipulators, mobile bases, sensors, and software for complete task execution.</a:t>
                      </a:r>
                    </a:p>
                  </a:txBody>
                  <a:tcPr marL="100584" marR="100584"/>
                </a:tc>
                <a:extLst>
                  <a:ext uri="{0D108BD9-81ED-4DB2-BD59-A6C34878D82A}">
                    <a16:rowId xmlns:a16="http://schemas.microsoft.com/office/drawing/2014/main" val="2761109114"/>
                  </a:ext>
                </a:extLst>
              </a:tr>
              <a:tr h="1115126">
                <a:tc>
                  <a:txBody>
                    <a:bodyPr/>
                    <a:lstStyle/>
                    <a:p>
                      <a:pPr algn="l">
                        <a:defRPr sz="1200">
                          <a:solidFill>
                            <a:srgbClr val="000000"/>
                          </a:solidFill>
                          <a:latin typeface="Times New Roman"/>
                        </a:defRPr>
                      </a:pPr>
                      <a:r>
                        <a:rPr sz="2000" dirty="0"/>
                        <a:t>Example</a:t>
                      </a:r>
                    </a:p>
                  </a:txBody>
                  <a:tcPr marL="100584" marR="100584"/>
                </a:tc>
                <a:tc>
                  <a:txBody>
                    <a:bodyPr/>
                    <a:lstStyle/>
                    <a:p>
                      <a:pPr algn="l">
                        <a:defRPr sz="1200">
                          <a:solidFill>
                            <a:srgbClr val="000000"/>
                          </a:solidFill>
                          <a:latin typeface="Times New Roman"/>
                        </a:defRPr>
                      </a:pPr>
                      <a:r>
                        <a:rPr sz="2000" dirty="0"/>
                        <a:t>The robotic arm in an assembly line.</a:t>
                      </a:r>
                    </a:p>
                  </a:txBody>
                  <a:tcPr marL="100584" marR="100584"/>
                </a:tc>
                <a:tc>
                  <a:txBody>
                    <a:bodyPr/>
                    <a:lstStyle/>
                    <a:p>
                      <a:pPr algn="l">
                        <a:defRPr sz="1200">
                          <a:solidFill>
                            <a:srgbClr val="000000"/>
                          </a:solidFill>
                          <a:latin typeface="Times New Roman"/>
                        </a:defRPr>
                      </a:pPr>
                      <a:r>
                        <a:rPr sz="2000" dirty="0"/>
                        <a:t>An autonomous warehouse robot that navigates, detects items, and picks them up with its manipulator.</a:t>
                      </a:r>
                    </a:p>
                  </a:txBody>
                  <a:tcPr marL="100584" marR="100584"/>
                </a:tc>
                <a:extLst>
                  <a:ext uri="{0D108BD9-81ED-4DB2-BD59-A6C34878D82A}">
                    <a16:rowId xmlns:a16="http://schemas.microsoft.com/office/drawing/2014/main" val="2161016309"/>
                  </a:ext>
                </a:extLst>
              </a:tr>
            </a:tbl>
          </a:graphicData>
        </a:graphic>
      </p:graphicFrame>
    </p:spTree>
    <p:extLst>
      <p:ext uri="{BB962C8B-B14F-4D97-AF65-F5344CB8AC3E}">
        <p14:creationId xmlns:p14="http://schemas.microsoft.com/office/powerpoint/2010/main" val="3149669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769B62-6A31-0F21-EE4C-D61911D21177}"/>
              </a:ext>
            </a:extLst>
          </p:cNvPr>
          <p:cNvSpPr txBox="1"/>
          <p:nvPr/>
        </p:nvSpPr>
        <p:spPr>
          <a:xfrm>
            <a:off x="0" y="142240"/>
            <a:ext cx="12192000" cy="2308324"/>
          </a:xfrm>
          <a:prstGeom prst="rect">
            <a:avLst/>
          </a:prstGeom>
          <a:noFill/>
        </p:spPr>
        <p:txBody>
          <a:bodyPr wrap="square">
            <a:spAutoFit/>
          </a:bodyPr>
          <a:lstStyle/>
          <a:p>
            <a:pPr algn="l"/>
            <a:r>
              <a:rPr lang="en-US" sz="1800" b="1" i="0" u="none" strike="noStrike" baseline="0" dirty="0">
                <a:solidFill>
                  <a:srgbClr val="00B050"/>
                </a:solidFill>
                <a:latin typeface="Times New Roman" panose="02020603050405020304" pitchFamily="18" charset="0"/>
                <a:cs typeface="Times New Roman" panose="02020603050405020304" pitchFamily="18" charset="0"/>
              </a:rPr>
              <a:t>Module-1 – Introduction to Manipulator Robotics and Transformations 15 Hour</a:t>
            </a:r>
          </a:p>
          <a:p>
            <a:pPr algn="l"/>
            <a:r>
              <a:rPr lang="en-US" sz="1800" b="0" i="0" u="none" strike="noStrike" baseline="0" dirty="0">
                <a:latin typeface="Times New Roman" panose="02020603050405020304" pitchFamily="18" charset="0"/>
                <a:cs typeface="Times New Roman" panose="02020603050405020304" pitchFamily="18" charset="0"/>
              </a:rPr>
              <a:t>Basic terminologies in robotics, Anatomy of Robot , Basic configuration based on work volume, Description of point and body in space, Representing translation of body, Representing rotation of a body</a:t>
            </a:r>
          </a:p>
          <a:p>
            <a:pPr algn="l"/>
            <a:r>
              <a:rPr lang="en-US" sz="1800" b="0" i="0" u="none" strike="noStrike" baseline="0" dirty="0">
                <a:latin typeface="Times New Roman" panose="02020603050405020304" pitchFamily="18" charset="0"/>
                <a:cs typeface="Times New Roman" panose="02020603050405020304" pitchFamily="18" charset="0"/>
              </a:rPr>
              <a:t>– Rotation matrix, Euler angle representation, Quaternions , Homogenous transformations, Importance of Transformations in Robotics – Mapping (Frame to frame) and operators, Numerical on</a:t>
            </a:r>
          </a:p>
          <a:p>
            <a:pPr algn="l"/>
            <a:r>
              <a:rPr lang="en-IN" sz="1800" b="0" i="0" u="none" strike="noStrike" baseline="0" dirty="0">
                <a:latin typeface="Times New Roman" panose="02020603050405020304" pitchFamily="18" charset="0"/>
                <a:cs typeface="Times New Roman" panose="02020603050405020304" pitchFamily="18" charset="0"/>
              </a:rPr>
              <a:t>transformations</a:t>
            </a:r>
          </a:p>
          <a:p>
            <a:pPr algn="l"/>
            <a:r>
              <a:rPr lang="en-US" sz="1800" b="0" i="0" u="none" strike="noStrike" baseline="0" dirty="0">
                <a:latin typeface="Times New Roman" panose="02020603050405020304" pitchFamily="18" charset="0"/>
                <a:cs typeface="Times New Roman" panose="02020603050405020304" pitchFamily="18" charset="0"/>
              </a:rPr>
              <a:t>Lab 1: Basics of Linear algebra and vector transformations</a:t>
            </a:r>
          </a:p>
          <a:p>
            <a:pPr algn="l"/>
            <a:r>
              <a:rPr lang="en-IN" sz="1800" b="0" i="0" u="none" strike="noStrike" baseline="0" dirty="0">
                <a:latin typeface="Times New Roman" panose="02020603050405020304" pitchFamily="18" charset="0"/>
                <a:cs typeface="Times New Roman" panose="02020603050405020304" pitchFamily="18" charset="0"/>
              </a:rPr>
              <a:t>Lab 2: Introduction to spatial transformations</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C2CB420-09C1-C42B-58DC-A4D89D51A75B}"/>
              </a:ext>
            </a:extLst>
          </p:cNvPr>
          <p:cNvSpPr txBox="1"/>
          <p:nvPr/>
        </p:nvSpPr>
        <p:spPr>
          <a:xfrm>
            <a:off x="0" y="2915871"/>
            <a:ext cx="12192000" cy="2308324"/>
          </a:xfrm>
          <a:prstGeom prst="rect">
            <a:avLst/>
          </a:prstGeom>
          <a:noFill/>
        </p:spPr>
        <p:txBody>
          <a:bodyPr wrap="square">
            <a:spAutoFit/>
          </a:bodyPr>
          <a:lstStyle/>
          <a:p>
            <a:pPr algn="l"/>
            <a:r>
              <a:rPr lang="en-US" sz="1800" b="1" i="0" u="none" strike="noStrike" baseline="0" dirty="0">
                <a:solidFill>
                  <a:srgbClr val="00B050"/>
                </a:solidFill>
                <a:latin typeface="Times New Roman" panose="02020603050405020304" pitchFamily="18" charset="0"/>
                <a:cs typeface="Times New Roman" panose="02020603050405020304" pitchFamily="18" charset="0"/>
              </a:rPr>
              <a:t>Module-2 – Introduction to Kinematics 15 Hour</a:t>
            </a:r>
          </a:p>
          <a:p>
            <a:pPr algn="l"/>
            <a:r>
              <a:rPr lang="en-US" sz="1800" b="0" i="0" u="none" strike="noStrike" baseline="0" dirty="0">
                <a:latin typeface="Times New Roman" panose="02020603050405020304" pitchFamily="18" charset="0"/>
                <a:cs typeface="Times New Roman" panose="02020603050405020304" pitchFamily="18" charset="0"/>
              </a:rPr>
              <a:t>Definition of Kinematics – Forward and Inverse Kinematics, Introduction to manipulator forward kinematics – Geometric and analytical method, Example of geometric method – 2R </a:t>
            </a:r>
            <a:r>
              <a:rPr lang="en-US" sz="1800" b="0" i="0" u="none" strike="noStrike" baseline="0" dirty="0" err="1">
                <a:latin typeface="Times New Roman" panose="02020603050405020304" pitchFamily="18" charset="0"/>
                <a:cs typeface="Times New Roman" panose="02020603050405020304" pitchFamily="18" charset="0"/>
              </a:rPr>
              <a:t>palanar</a:t>
            </a:r>
            <a:r>
              <a:rPr lang="en-US" sz="1800" b="0" i="0" u="none" strike="noStrike" baseline="0" dirty="0">
                <a:latin typeface="Times New Roman" panose="02020603050405020304" pitchFamily="18" charset="0"/>
                <a:cs typeface="Times New Roman" panose="02020603050405020304" pitchFamily="18" charset="0"/>
              </a:rPr>
              <a:t> and 3R spatial</a:t>
            </a:r>
          </a:p>
          <a:p>
            <a:pPr algn="l"/>
            <a:r>
              <a:rPr lang="en-IN" sz="1800" b="0" i="0" u="none" strike="noStrike" baseline="0" dirty="0">
                <a:latin typeface="Times New Roman" panose="02020603050405020304" pitchFamily="18" charset="0"/>
                <a:cs typeface="Times New Roman" panose="02020603050405020304" pitchFamily="18" charset="0"/>
              </a:rPr>
              <a:t>manipulator, Introduction to standard DH convention, DH matrix and transformation, Forward kinematics computation using standard DH – 2R manipulator, 3R spatial manipulator, RPY wrist, Introduction</a:t>
            </a:r>
          </a:p>
          <a:p>
            <a:pPr algn="l"/>
            <a:r>
              <a:rPr lang="en-US" sz="1800" b="0" i="0" u="none" strike="noStrike" baseline="0" dirty="0">
                <a:latin typeface="Times New Roman" panose="02020603050405020304" pitchFamily="18" charset="0"/>
                <a:cs typeface="Times New Roman" panose="02020603050405020304" pitchFamily="18" charset="0"/>
              </a:rPr>
              <a:t>to Inverse kinematics and application, Inverse Kinematic computation: Closed form solution, conditions and steps in computation, Inverse kinematics computation using standard DH – 2R manipulator,</a:t>
            </a:r>
          </a:p>
          <a:p>
            <a:pPr algn="l"/>
            <a:r>
              <a:rPr lang="en-US" sz="1800" b="0" i="0" u="none" strike="noStrike" baseline="0" dirty="0">
                <a:latin typeface="Times New Roman" panose="02020603050405020304" pitchFamily="18" charset="0"/>
                <a:cs typeface="Times New Roman" panose="02020603050405020304" pitchFamily="18" charset="0"/>
              </a:rPr>
              <a:t>3R spatial manipulator, RPY wrist, Application of Inverse kinematics and transformations for a general pick and place application</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8B81F9B-A479-E299-4676-9346A4BE050C}"/>
              </a:ext>
            </a:extLst>
          </p:cNvPr>
          <p:cNvSpPr txBox="1"/>
          <p:nvPr/>
        </p:nvSpPr>
        <p:spPr>
          <a:xfrm>
            <a:off x="0" y="5224195"/>
            <a:ext cx="6121400" cy="646331"/>
          </a:xfrm>
          <a:prstGeom prst="rect">
            <a:avLst/>
          </a:prstGeom>
          <a:noFill/>
        </p:spPr>
        <p:txBody>
          <a:bodyPr wrap="square">
            <a:spAutoFit/>
          </a:bodyPr>
          <a:lstStyle/>
          <a:p>
            <a:pPr algn="l"/>
            <a:r>
              <a:rPr lang="en-US" sz="1800" b="0" i="0" u="none" strike="noStrike" baseline="0" dirty="0">
                <a:latin typeface="Times New Roman" panose="02020603050405020304" pitchFamily="18" charset="0"/>
                <a:cs typeface="Times New Roman" panose="02020603050405020304" pitchFamily="18" charset="0"/>
              </a:rPr>
              <a:t>Lab 3: Simulation of Forward kinematics model</a:t>
            </a:r>
          </a:p>
          <a:p>
            <a:pPr algn="l"/>
            <a:r>
              <a:rPr lang="en-US" sz="1800" b="0" i="0" u="none" strike="noStrike" baseline="0" dirty="0">
                <a:latin typeface="Times New Roman" panose="02020603050405020304" pitchFamily="18" charset="0"/>
                <a:cs typeface="Times New Roman" panose="02020603050405020304" pitchFamily="18" charset="0"/>
              </a:rPr>
              <a:t>Lab 4: Simulation of inverse kinematic model</a:t>
            </a:r>
          </a:p>
        </p:txBody>
      </p:sp>
    </p:spTree>
    <p:extLst>
      <p:ext uri="{BB962C8B-B14F-4D97-AF65-F5344CB8AC3E}">
        <p14:creationId xmlns:p14="http://schemas.microsoft.com/office/powerpoint/2010/main" val="1347669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935268-EC14-6661-B9B3-1AAB9F302BFC}"/>
              </a:ext>
            </a:extLst>
          </p:cNvPr>
          <p:cNvSpPr txBox="1"/>
          <p:nvPr/>
        </p:nvSpPr>
        <p:spPr>
          <a:xfrm>
            <a:off x="0" y="0"/>
            <a:ext cx="12192000" cy="2585323"/>
          </a:xfrm>
          <a:prstGeom prst="rect">
            <a:avLst/>
          </a:prstGeom>
          <a:noFill/>
        </p:spPr>
        <p:txBody>
          <a:bodyPr wrap="square">
            <a:spAutoFit/>
          </a:bodyPr>
          <a:lstStyle/>
          <a:p>
            <a:pPr algn="l"/>
            <a:r>
              <a:rPr lang="en-US" sz="1800" b="1" i="0" u="none" strike="noStrike" baseline="0" dirty="0">
                <a:solidFill>
                  <a:srgbClr val="00B050"/>
                </a:solidFill>
                <a:latin typeface="Times New Roman" panose="02020603050405020304" pitchFamily="18" charset="0"/>
                <a:cs typeface="Times New Roman" panose="02020603050405020304" pitchFamily="18" charset="0"/>
              </a:rPr>
              <a:t>Module-3 – Differential Kinematics and Trajectory Planning 15 Hour</a:t>
            </a:r>
          </a:p>
          <a:p>
            <a:pPr algn="l"/>
            <a:r>
              <a:rPr lang="en-US" sz="1800" b="0" i="0" u="none" strike="noStrike" baseline="0" dirty="0">
                <a:latin typeface="Times New Roman" panose="02020603050405020304" pitchFamily="18" charset="0"/>
                <a:cs typeface="Times New Roman" panose="02020603050405020304" pitchFamily="18" charset="0"/>
              </a:rPr>
              <a:t>Introduction to Differential kinematics – Jacobian matrix and mapping, Velocity representations (Linear and angular velocity) and transformations – multi </a:t>
            </a:r>
            <a:r>
              <a:rPr lang="en-US" sz="1800" b="0" i="0" u="none" strike="noStrike" baseline="0" dirty="0" err="1">
                <a:latin typeface="Times New Roman" panose="02020603050405020304" pitchFamily="18" charset="0"/>
                <a:cs typeface="Times New Roman" panose="02020603050405020304" pitchFamily="18" charset="0"/>
              </a:rPr>
              <a:t>DoF</a:t>
            </a:r>
            <a:r>
              <a:rPr lang="en-US" sz="1800" b="0" i="0" u="none" strike="noStrike" baseline="0" dirty="0">
                <a:latin typeface="Times New Roman" panose="02020603050405020304" pitchFamily="18" charset="0"/>
                <a:cs typeface="Times New Roman" panose="02020603050405020304" pitchFamily="18" charset="0"/>
              </a:rPr>
              <a:t> rigid body, Steps in the computation of </a:t>
            </a:r>
            <a:r>
              <a:rPr lang="en-IN" sz="1800" b="0" i="0" u="none" strike="noStrike" baseline="0" dirty="0">
                <a:latin typeface="Times New Roman" panose="02020603050405020304" pitchFamily="18" charset="0"/>
                <a:cs typeface="Times New Roman" panose="02020603050405020304" pitchFamily="18" charset="0"/>
              </a:rPr>
              <a:t>Jacobian matrix for multi </a:t>
            </a:r>
            <a:r>
              <a:rPr lang="en-IN" sz="1800" b="0" i="0" u="none" strike="noStrike" baseline="0" dirty="0" err="1">
                <a:latin typeface="Times New Roman" panose="02020603050405020304" pitchFamily="18" charset="0"/>
                <a:cs typeface="Times New Roman" panose="02020603050405020304" pitchFamily="18" charset="0"/>
              </a:rPr>
              <a:t>DoF</a:t>
            </a:r>
            <a:r>
              <a:rPr lang="en-IN" sz="1800" b="0" i="0" u="none" strike="noStrike" baseline="0" dirty="0">
                <a:latin typeface="Times New Roman" panose="02020603050405020304" pitchFamily="18" charset="0"/>
                <a:cs typeface="Times New Roman" panose="02020603050405020304" pitchFamily="18" charset="0"/>
              </a:rPr>
              <a:t> manipulators, Jacobian computation – 2R planar, 3R spatial and RPY wrist, Concept of singularity and its consequence, Computing singularity conditions for manipulators - 2R planar, 3R spatial and RPY wrist (Wrist singularity), Introduction to trajectory planning and its importance, Joint space trajectory planning (cubic polynomial and trapezoidal), Cartesian space trajectory planning.</a:t>
            </a:r>
          </a:p>
          <a:p>
            <a:pPr algn="l"/>
            <a:r>
              <a:rPr lang="en-US" sz="1800" b="0" i="0" u="none" strike="noStrike" baseline="0" dirty="0">
                <a:latin typeface="Times New Roman" panose="02020603050405020304" pitchFamily="18" charset="0"/>
                <a:cs typeface="Times New Roman" panose="02020603050405020304" pitchFamily="18" charset="0"/>
              </a:rPr>
              <a:t>Lab 5: Velocity kinematics model and singularity simulation</a:t>
            </a:r>
          </a:p>
          <a:p>
            <a:pPr algn="l"/>
            <a:r>
              <a:rPr lang="en-IN" sz="1800" b="0" i="0" u="none" strike="noStrike" baseline="0" dirty="0">
                <a:latin typeface="Times New Roman" panose="02020603050405020304" pitchFamily="18" charset="0"/>
                <a:cs typeface="Times New Roman" panose="02020603050405020304" pitchFamily="18" charset="0"/>
              </a:rPr>
              <a:t>Lab 6: Trajectory planning</a:t>
            </a:r>
          </a:p>
          <a:p>
            <a:pPr algn="l"/>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F4CB1E1-8DE6-C9D2-D9D6-86F528E6DF6C}"/>
              </a:ext>
            </a:extLst>
          </p:cNvPr>
          <p:cNvSpPr txBox="1"/>
          <p:nvPr/>
        </p:nvSpPr>
        <p:spPr>
          <a:xfrm>
            <a:off x="0" y="2384802"/>
            <a:ext cx="12192000" cy="3970318"/>
          </a:xfrm>
          <a:prstGeom prst="rect">
            <a:avLst/>
          </a:prstGeom>
          <a:noFill/>
        </p:spPr>
        <p:txBody>
          <a:bodyPr wrap="square">
            <a:spAutoFit/>
          </a:bodyPr>
          <a:lstStyle/>
          <a:p>
            <a:pPr algn="l"/>
            <a:r>
              <a:rPr lang="en-US" sz="1800" b="1" i="0" u="none" strike="noStrike" baseline="0" dirty="0">
                <a:solidFill>
                  <a:srgbClr val="00B050"/>
                </a:solidFill>
                <a:latin typeface="Times New Roman" panose="02020603050405020304" pitchFamily="18" charset="0"/>
                <a:cs typeface="Times New Roman" panose="02020603050405020304" pitchFamily="18" charset="0"/>
              </a:rPr>
              <a:t>Module-4 – Introduction to Manipulator Dynamics 15 Hour</a:t>
            </a:r>
          </a:p>
          <a:p>
            <a:pPr algn="l"/>
            <a:r>
              <a:rPr lang="en-IN" sz="1800" b="0" i="0" u="none" strike="noStrike" baseline="0" dirty="0">
                <a:latin typeface="Times New Roman" panose="02020603050405020304" pitchFamily="18" charset="0"/>
                <a:cs typeface="Times New Roman" panose="02020603050405020304" pitchFamily="18" charset="0"/>
              </a:rPr>
              <a:t>Concept of Dynamics – Forward and Inverse dynamics, Dynamics computation method- Newton Euler (example of 2R planar manipulator), Recursive dynamics, </a:t>
            </a:r>
            <a:r>
              <a:rPr lang="en-IN" sz="1800" b="0" i="0" u="none" strike="noStrike" baseline="0" dirty="0" err="1">
                <a:latin typeface="Times New Roman" panose="02020603050405020304" pitchFamily="18" charset="0"/>
                <a:cs typeface="Times New Roman" panose="02020603050405020304" pitchFamily="18" charset="0"/>
              </a:rPr>
              <a:t>Lagrangian</a:t>
            </a:r>
            <a:r>
              <a:rPr lang="en-IN" sz="1800" b="0" i="0" u="none" strike="noStrike" baseline="0" dirty="0">
                <a:latin typeface="Times New Roman" panose="02020603050405020304" pitchFamily="18" charset="0"/>
                <a:cs typeface="Times New Roman" panose="02020603050405020304" pitchFamily="18" charset="0"/>
              </a:rPr>
              <a:t> method (example of 2R planar </a:t>
            </a:r>
            <a:r>
              <a:rPr lang="en-US" sz="1800" b="0" i="0" u="none" strike="noStrike" baseline="0" dirty="0">
                <a:latin typeface="Times New Roman" panose="02020603050405020304" pitchFamily="18" charset="0"/>
                <a:cs typeface="Times New Roman" panose="02020603050405020304" pitchFamily="18" charset="0"/>
              </a:rPr>
              <a:t>manipulator), Dynamics of 1R,and 3R spatial arm, Dynamics of pendulum over cart (transfer function and state space model) and its importance in control</a:t>
            </a:r>
          </a:p>
          <a:p>
            <a:pPr algn="l"/>
            <a:r>
              <a:rPr lang="en-US" sz="1800" b="0" i="0" u="none" strike="noStrike" baseline="0" dirty="0">
                <a:latin typeface="Times New Roman" panose="02020603050405020304" pitchFamily="18" charset="0"/>
                <a:cs typeface="Times New Roman" panose="02020603050405020304" pitchFamily="18" charset="0"/>
              </a:rPr>
              <a:t>Lab 7: Dynamics simulation I</a:t>
            </a:r>
          </a:p>
          <a:p>
            <a:pPr algn="l"/>
            <a:r>
              <a:rPr lang="fr-FR" sz="1800" b="0" i="0" u="none" strike="noStrike" baseline="0" dirty="0" err="1">
                <a:latin typeface="Times New Roman" panose="02020603050405020304" pitchFamily="18" charset="0"/>
                <a:cs typeface="Times New Roman" panose="02020603050405020304" pitchFamily="18" charset="0"/>
              </a:rPr>
              <a:t>Lab</a:t>
            </a:r>
            <a:r>
              <a:rPr lang="fr-FR" sz="1800" b="0" i="0" u="none" strike="noStrike" baseline="0" dirty="0">
                <a:latin typeface="Times New Roman" panose="02020603050405020304" pitchFamily="18" charset="0"/>
                <a:cs typeface="Times New Roman" panose="02020603050405020304" pitchFamily="18" charset="0"/>
              </a:rPr>
              <a:t> 8: Dynamics simulation- II</a:t>
            </a:r>
          </a:p>
          <a:p>
            <a:pPr algn="l"/>
            <a:endParaRPr lang="fr-FR" dirty="0">
              <a:latin typeface="Times New Roman" panose="02020603050405020304" pitchFamily="18" charset="0"/>
              <a:cs typeface="Times New Roman" panose="02020603050405020304" pitchFamily="18" charset="0"/>
            </a:endParaRPr>
          </a:p>
          <a:p>
            <a:pPr algn="l"/>
            <a:endParaRPr lang="fr-FR" sz="1800" b="0" i="0" u="none" strike="noStrike" baseline="0" dirty="0">
              <a:latin typeface="Times New Roman" panose="02020603050405020304" pitchFamily="18" charset="0"/>
              <a:cs typeface="Times New Roman" panose="02020603050405020304" pitchFamily="18" charset="0"/>
            </a:endParaRPr>
          </a:p>
          <a:p>
            <a:pPr algn="l"/>
            <a:r>
              <a:rPr lang="en-US" sz="1800" b="1" i="0" u="none" strike="noStrike" baseline="0" dirty="0">
                <a:solidFill>
                  <a:srgbClr val="00B050"/>
                </a:solidFill>
                <a:latin typeface="Times New Roman" panose="02020603050405020304" pitchFamily="18" charset="0"/>
                <a:cs typeface="Times New Roman" panose="02020603050405020304" pitchFamily="18" charset="0"/>
              </a:rPr>
              <a:t>Module-5 – Manipulator Control 15 Hour</a:t>
            </a:r>
          </a:p>
          <a:p>
            <a:pPr algn="l"/>
            <a:r>
              <a:rPr lang="en-US" sz="1800" b="0" i="0" u="none" strike="noStrike" baseline="0" dirty="0">
                <a:latin typeface="Times New Roman" panose="02020603050405020304" pitchFamily="18" charset="0"/>
                <a:cs typeface="Times New Roman" panose="02020603050405020304" pitchFamily="18" charset="0"/>
              </a:rPr>
              <a:t>Introduction to joint and cartesian control, Position and velocity control (P,PI and PID), Properties of PID control and tuning, Concept of partition control, Computed torque control, Introduction to force control, Hybrid force -position control and its control architecture, Concept of natural and artificial constraints, Example of Peg in Hole assembly</a:t>
            </a:r>
          </a:p>
          <a:p>
            <a:pPr algn="l"/>
            <a:r>
              <a:rPr lang="en-US" sz="1800" b="0" i="0" u="none" strike="noStrike" baseline="0" dirty="0">
                <a:latin typeface="Times New Roman" panose="02020603050405020304" pitchFamily="18" charset="0"/>
                <a:cs typeface="Times New Roman" panose="02020603050405020304" pitchFamily="18" charset="0"/>
              </a:rPr>
              <a:t>Lab 9: Closed loop control- PID</a:t>
            </a:r>
          </a:p>
          <a:p>
            <a:pPr algn="l"/>
            <a:r>
              <a:rPr lang="en-US" sz="1800" b="0" i="0" u="none" strike="noStrike" baseline="0" dirty="0">
                <a:latin typeface="Times New Roman" panose="02020603050405020304" pitchFamily="18" charset="0"/>
                <a:cs typeface="Times New Roman" panose="02020603050405020304" pitchFamily="18" charset="0"/>
              </a:rPr>
              <a:t>Lab 10: Computed torque control- Simulation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1414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18185"/>
          </a:xfrm>
        </p:spPr>
        <p:txBody>
          <a:bodyPr>
            <a:normAutofit fontScale="90000"/>
          </a:bodyPr>
          <a:lstStyle/>
          <a:p>
            <a:r>
              <a:rPr lang="en-US" sz="4000" dirty="0">
                <a:solidFill>
                  <a:srgbClr val="7030A0"/>
                </a:solidFill>
                <a:latin typeface="Times New Roman" panose="02020603050405020304" pitchFamily="18" charset="0"/>
                <a:cs typeface="Times New Roman" panose="02020603050405020304" pitchFamily="18" charset="0"/>
              </a:rPr>
              <a:t>Robot Components</a:t>
            </a:r>
          </a:p>
        </p:txBody>
      </p:sp>
      <p:sp>
        <p:nvSpPr>
          <p:cNvPr id="3" name="Content Placeholder 2"/>
          <p:cNvSpPr>
            <a:spLocks noGrp="1"/>
          </p:cNvSpPr>
          <p:nvPr>
            <p:ph idx="1"/>
          </p:nvPr>
        </p:nvSpPr>
        <p:spPr>
          <a:xfrm>
            <a:off x="0" y="618186"/>
            <a:ext cx="12192000" cy="6239814"/>
          </a:xfrm>
        </p:spPr>
        <p:txBody>
          <a:bodyPr>
            <a:normAutofit lnSpcReduction="10000"/>
          </a:bodyPr>
          <a:lstStyle/>
          <a:p>
            <a:pPr marL="0" indent="0" algn="just">
              <a:buNone/>
            </a:pPr>
            <a:r>
              <a:rPr lang="en-US" sz="2200" dirty="0">
                <a:latin typeface="Times New Roman" panose="02020603050405020304" pitchFamily="18" charset="0"/>
                <a:cs typeface="Times New Roman" panose="02020603050405020304" pitchFamily="18" charset="0"/>
              </a:rPr>
              <a:t>A robot, as a system, consists of the following elements, which are integrated together to form a whole:</a:t>
            </a:r>
          </a:p>
          <a:p>
            <a:pPr algn="just"/>
            <a:r>
              <a:rPr lang="en-US" sz="2200" dirty="0">
                <a:solidFill>
                  <a:srgbClr val="FF0000"/>
                </a:solidFill>
                <a:latin typeface="Times New Roman" panose="02020603050405020304" pitchFamily="18" charset="0"/>
                <a:cs typeface="Times New Roman" panose="02020603050405020304" pitchFamily="18" charset="0"/>
              </a:rPr>
              <a:t>Manipulator or the rover</a:t>
            </a:r>
            <a:r>
              <a:rPr lang="en-US" sz="2200" dirty="0">
                <a:latin typeface="Times New Roman" panose="02020603050405020304" pitchFamily="18" charset="0"/>
                <a:cs typeface="Times New Roman" panose="02020603050405020304" pitchFamily="18" charset="0"/>
              </a:rPr>
              <a:t>: This is the main body of the robot which consists of the links, the joints, and other structural elements of the robot. Without other elements, the manipulator alone is not a robot</a:t>
            </a:r>
          </a:p>
          <a:p>
            <a:pPr algn="just"/>
            <a:r>
              <a:rPr lang="en-US" sz="2200" dirty="0">
                <a:solidFill>
                  <a:srgbClr val="FF0000"/>
                </a:solidFill>
                <a:latin typeface="Times New Roman" panose="02020603050405020304" pitchFamily="18" charset="0"/>
                <a:cs typeface="Times New Roman" panose="02020603050405020304" pitchFamily="18" charset="0"/>
              </a:rPr>
              <a:t>End effector</a:t>
            </a:r>
            <a:r>
              <a:rPr lang="en-US" sz="2200" dirty="0">
                <a:latin typeface="Times New Roman" panose="02020603050405020304" pitchFamily="18" charset="0"/>
                <a:cs typeface="Times New Roman" panose="02020603050405020304" pitchFamily="18" charset="0"/>
              </a:rPr>
              <a:t>: This part is connected to the last joint (hand) of a manipulator that generally handles objects, makes connections to other machines, or performs the required tasks. Robot manufacturers generally do not design or sell end effectors. In most cases, all they supply is a simple gripper. </a:t>
            </a:r>
          </a:p>
          <a:p>
            <a:pPr algn="just"/>
            <a:r>
              <a:rPr lang="en-US" sz="2200" dirty="0">
                <a:solidFill>
                  <a:srgbClr val="FF0000"/>
                </a:solidFill>
                <a:latin typeface="Times New Roman" panose="02020603050405020304" pitchFamily="18" charset="0"/>
                <a:cs typeface="Times New Roman" panose="02020603050405020304" pitchFamily="18" charset="0"/>
              </a:rPr>
              <a:t>Actuators</a:t>
            </a:r>
            <a:r>
              <a:rPr lang="en-US" sz="2200" dirty="0">
                <a:latin typeface="Times New Roman" panose="02020603050405020304" pitchFamily="18" charset="0"/>
                <a:cs typeface="Times New Roman" panose="02020603050405020304" pitchFamily="18" charset="0"/>
              </a:rPr>
              <a:t>: Actuators are the ‘‘muscles’’ of the manipulators. The controller sends signals to the actuators, which, in turn, move the robot joints and links. Common types are servomotors, stepper motors, pneumatic actuators, and hydraulic actuators. Actuators are under the control of the controller.</a:t>
            </a:r>
          </a:p>
          <a:p>
            <a:pPr algn="just"/>
            <a:r>
              <a:rPr lang="en-US" sz="2200" dirty="0">
                <a:solidFill>
                  <a:srgbClr val="FF0000"/>
                </a:solidFill>
                <a:latin typeface="Times New Roman" panose="02020603050405020304" pitchFamily="18" charset="0"/>
                <a:cs typeface="Times New Roman" panose="02020603050405020304" pitchFamily="18" charset="0"/>
              </a:rPr>
              <a:t>Sensors</a:t>
            </a:r>
            <a:r>
              <a:rPr lang="en-US" sz="2200" dirty="0">
                <a:latin typeface="Times New Roman" panose="02020603050405020304" pitchFamily="18" charset="0"/>
                <a:cs typeface="Times New Roman" panose="02020603050405020304" pitchFamily="18" charset="0"/>
              </a:rPr>
              <a:t>: Sensors are used to collect information about the internal state of the robot or to communicate with the outside environment. As in humans, the robot controller needs to know the location of each link of the robot in order to know the robot’s configuration. When you wake up in the morning, even without opening your eyes, or when it is completely dark, you still know where your arms and legs are. This is because feedback sensors in your central nervous system embedded in muscle tendons send information to the brain. The brain uses this information to determine the length of your muscles and, consequently, the state of your arms, legs, and so on. The same is true for robots, where sensors integrated into the robot send information about each joint or link to the controller that determines the configuration of the robot. Still similar to your major senses of sight, touch, hearing, taste, and speech, robots are equipped with external sensory devices such as a vision system, touch and tactile sensors, speech synthesizer, and the like that enable the robot to communicate with the outside world.</a:t>
            </a:r>
          </a:p>
          <a:p>
            <a:endParaRPr lang="en-US" sz="2000" dirty="0"/>
          </a:p>
          <a:p>
            <a:endParaRPr lang="en-US" sz="2000" dirty="0">
              <a:solidFill>
                <a:srgbClr val="00B050"/>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86849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582"/>
            <a:ext cx="12192000" cy="6835417"/>
          </a:xfrm>
        </p:spPr>
        <p:txBody>
          <a:bodyPr>
            <a:normAutofit/>
          </a:bodyPr>
          <a:lstStyle/>
          <a:p>
            <a:pPr algn="just"/>
            <a:r>
              <a:rPr lang="en-US" sz="2000" dirty="0">
                <a:solidFill>
                  <a:srgbClr val="FF0000"/>
                </a:solidFill>
                <a:latin typeface="Times New Roman" panose="02020603050405020304" pitchFamily="18" charset="0"/>
                <a:cs typeface="Times New Roman" panose="02020603050405020304" pitchFamily="18" charset="0"/>
              </a:rPr>
              <a:t>Controller: </a:t>
            </a:r>
            <a:r>
              <a:rPr lang="en-US" sz="2000" dirty="0">
                <a:latin typeface="Times New Roman" panose="02020603050405020304" pitchFamily="18" charset="0"/>
                <a:cs typeface="Times New Roman" panose="02020603050405020304" pitchFamily="18" charset="0"/>
              </a:rPr>
              <a:t>The controller is rather similar to your cerebellum; although it does not have the power of the brain, it still controls your motions. The controller receives its data from the computer (the brain of the system), controls the motions of the actuators, and coordinates the motions with the sensory feedback information. Suppose that in order for the robot to pick up a part from a bin, it is necessary that its first joint be at 35 </a:t>
            </a:r>
            <a:r>
              <a:rPr lang="en-US" sz="2000" dirty="0" err="1">
                <a:latin typeface="Times New Roman" panose="02020603050405020304" pitchFamily="18" charset="0"/>
                <a:cs typeface="Times New Roman" panose="02020603050405020304" pitchFamily="18" charset="0"/>
              </a:rPr>
              <a:t>deg</a:t>
            </a:r>
            <a:r>
              <a:rPr lang="en-US" sz="2000" dirty="0">
                <a:latin typeface="Times New Roman" panose="02020603050405020304" pitchFamily="18" charset="0"/>
                <a:cs typeface="Times New Roman" panose="02020603050405020304" pitchFamily="18" charset="0"/>
              </a:rPr>
              <a:t> . If the joint is not already at this magnitude, the controller will send a signal to the actuator—a current to an electric motor, air to a pneumatic cylinder, or a signal to a hydraulic servo valve— causing it to move. It will then measure the change in the joint angle through the feedback sensor attached to the joint (a potentiometer, an encoder, etc.). When the joint reaches the desired value, the signal is stopped. In more sophisticated robots, the velocity and the force exerted by the robot are also controlled by the controller.</a:t>
            </a:r>
          </a:p>
          <a:p>
            <a:pPr algn="just"/>
            <a:r>
              <a:rPr lang="en-US" sz="2000" dirty="0">
                <a:solidFill>
                  <a:srgbClr val="FF0000"/>
                </a:solidFill>
                <a:latin typeface="Times New Roman" panose="02020603050405020304" pitchFamily="18" charset="0"/>
                <a:cs typeface="Times New Roman" panose="02020603050405020304" pitchFamily="18" charset="0"/>
              </a:rPr>
              <a:t>Processor</a:t>
            </a:r>
            <a:r>
              <a:rPr lang="en-US" sz="2000" dirty="0">
                <a:latin typeface="Times New Roman" panose="02020603050405020304" pitchFamily="18" charset="0"/>
                <a:cs typeface="Times New Roman" panose="02020603050405020304" pitchFamily="18" charset="0"/>
              </a:rPr>
              <a:t>: The processor is the brain of the robot. It calculates the motions of the robot’s joints, determines how much and how fast each joint must move to achieve the desired location and speeds, and oversees the coordinated actions of the controller and the sensors. The processor is generally a computer, which works like all other computers, but is dedicated to this purpose. It requires an operating system, programs, peripheral equipment like a monitor, and has the same limitations and capabilities. In some systems, the controller and the processor are integrated together into one unit. In others, they are separate units, and in some, although the controller is provided by the manufacturer, the processor is not; they expect the user to provide his or her processor.</a:t>
            </a:r>
          </a:p>
          <a:p>
            <a:pPr algn="just"/>
            <a:r>
              <a:rPr lang="en-US" sz="2000" dirty="0">
                <a:solidFill>
                  <a:srgbClr val="FF0000"/>
                </a:solidFill>
                <a:latin typeface="Times New Roman" panose="02020603050405020304" pitchFamily="18" charset="0"/>
                <a:cs typeface="Times New Roman" panose="02020603050405020304" pitchFamily="18" charset="0"/>
              </a:rPr>
              <a:t>Software</a:t>
            </a:r>
            <a:r>
              <a:rPr lang="en-US" sz="2000" dirty="0">
                <a:latin typeface="Times New Roman" panose="02020603050405020304" pitchFamily="18" charset="0"/>
                <a:cs typeface="Times New Roman" panose="02020603050405020304" pitchFamily="18" charset="0"/>
              </a:rPr>
              <a:t>: Three groups of software programs are used in a robot. One is the operating system that operates the processor. The second is the robotic software that calculates the necessary motions of each joint based on the kinematic equations of the robot. This information is sent to the controller. This software may be at many different levels, from machine language to sophisticated languages used by modern robots. The third group is the collection of application-oriented routines and programs developed to use the robot or its peripherals for specific tasks such as assembly, machine loading, material handling, and vision routines.</a:t>
            </a:r>
          </a:p>
          <a:p>
            <a:pPr algn="just"/>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5237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5753" y="0"/>
            <a:ext cx="8881436" cy="661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2788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7289" y="732256"/>
            <a:ext cx="8718998" cy="599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206062" y="153159"/>
            <a:ext cx="4417941" cy="707886"/>
          </a:xfrm>
          <a:prstGeom prst="rect">
            <a:avLst/>
          </a:prstGeom>
          <a:noFill/>
        </p:spPr>
        <p:txBody>
          <a:bodyPr wrap="none" rtlCol="0">
            <a:spAutoFit/>
          </a:bodyPr>
          <a:lstStyle/>
          <a:p>
            <a:r>
              <a:rPr lang="en-US" sz="4000" b="1" dirty="0">
                <a:solidFill>
                  <a:srgbClr val="7030A0"/>
                </a:solidFill>
                <a:latin typeface="Times New Roman" panose="02020603050405020304" pitchFamily="18" charset="0"/>
                <a:cs typeface="Times New Roman" panose="02020603050405020304" pitchFamily="18" charset="0"/>
              </a:rPr>
              <a:t>Robot Terminology</a:t>
            </a:r>
          </a:p>
        </p:txBody>
      </p:sp>
    </p:spTree>
    <p:extLst>
      <p:ext uri="{BB962C8B-B14F-4D97-AF65-F5344CB8AC3E}">
        <p14:creationId xmlns:p14="http://schemas.microsoft.com/office/powerpoint/2010/main" val="16611626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5462"/>
            <a:ext cx="12192000" cy="6822538"/>
          </a:xfrm>
        </p:spPr>
        <p:txBody>
          <a:bodyPr>
            <a:normAutofit/>
          </a:bodyPr>
          <a:lstStyle/>
          <a:p>
            <a:pPr marL="0" indent="0">
              <a:buNone/>
            </a:pPr>
            <a:r>
              <a:rPr lang="en-US" sz="2400" b="1" dirty="0">
                <a:solidFill>
                  <a:srgbClr val="7030A0"/>
                </a:solidFill>
                <a:latin typeface="Times New Roman" panose="02020603050405020304" pitchFamily="18" charset="0"/>
                <a:cs typeface="Times New Roman" panose="02020603050405020304" pitchFamily="18" charset="0"/>
              </a:rPr>
              <a:t>Robot Anatomy</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Manipulator or Robotic arm has many similarities to the human body</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Mechanical structure of a robot is like skeleton in human body</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Robot Anatomy is therefore a study of skeleton of robot </a:t>
            </a:r>
          </a:p>
          <a:p>
            <a:pPr marL="0" indent="0">
              <a:buNone/>
            </a:pPr>
            <a:r>
              <a:rPr lang="en-US" sz="2200" dirty="0">
                <a:latin typeface="Times New Roman" panose="02020603050405020304" pitchFamily="18" charset="0"/>
                <a:cs typeface="Times New Roman" panose="02020603050405020304" pitchFamily="18" charset="0"/>
              </a:rPr>
              <a:t>i.e. physical construction of the manipulator structure</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Mechanical structure consists of </a:t>
            </a:r>
          </a:p>
          <a:p>
            <a:pPr marL="0" lvl="1" indent="0" algn="just">
              <a:spcBef>
                <a:spcPts val="1000"/>
              </a:spcBef>
              <a:buNone/>
            </a:pPr>
            <a:r>
              <a:rPr lang="en-US" sz="2000" b="1" dirty="0">
                <a:solidFill>
                  <a:srgbClr val="00B050"/>
                </a:solidFill>
                <a:latin typeface="Times New Roman" panose="02020603050405020304" pitchFamily="18" charset="0"/>
                <a:cs typeface="Times New Roman" panose="02020603050405020304" pitchFamily="18" charset="0"/>
              </a:rPr>
              <a:t>Rigid bodies (links) connected by means of articulations (joints), is segmented into an arm that ensures  mobility and reachability, a wrist that confers orientation and an end effector that performs the required task</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Most manipulators are mounted on a base fastened to the floor or on the mobile platform of an autonomous guided vehicle (AGV)</a:t>
            </a:r>
          </a:p>
          <a:p>
            <a:pPr marL="457200" lvl="1" indent="0">
              <a:buNone/>
            </a:pPr>
            <a:endParaRPr lang="en-US" sz="2000" b="1" dirty="0">
              <a:solidFill>
                <a:srgbClr val="00B050"/>
              </a:solidFill>
              <a:latin typeface="Times New Roman" panose="02020603050405020304" pitchFamily="18" charset="0"/>
              <a:cs typeface="Times New Roman" panose="02020603050405020304" pitchFamily="18" charset="0"/>
            </a:endParaRPr>
          </a:p>
          <a:p>
            <a:pPr marL="457200" lvl="1" indent="0">
              <a:buNone/>
            </a:pPr>
            <a:endParaRPr lang="en-US"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92110" y="3986077"/>
            <a:ext cx="4315496" cy="2723287"/>
          </a:xfrm>
          <a:prstGeom prst="rect">
            <a:avLst/>
          </a:prstGeom>
        </p:spPr>
      </p:pic>
      <p:pic>
        <p:nvPicPr>
          <p:cNvPr id="5" name="Picture 4"/>
          <p:cNvPicPr>
            <a:picLocks noChangeAspect="1"/>
          </p:cNvPicPr>
          <p:nvPr/>
        </p:nvPicPr>
        <p:blipFill>
          <a:blip r:embed="rId3"/>
          <a:stretch>
            <a:fillRect/>
          </a:stretch>
        </p:blipFill>
        <p:spPr>
          <a:xfrm>
            <a:off x="4507606" y="4109470"/>
            <a:ext cx="4419600" cy="2476500"/>
          </a:xfrm>
          <a:prstGeom prst="rect">
            <a:avLst/>
          </a:prstGeom>
        </p:spPr>
      </p:pic>
      <p:pic>
        <p:nvPicPr>
          <p:cNvPr id="6" name="Picture 5"/>
          <p:cNvPicPr>
            <a:picLocks noChangeAspect="1"/>
          </p:cNvPicPr>
          <p:nvPr/>
        </p:nvPicPr>
        <p:blipFill>
          <a:blip r:embed="rId4"/>
          <a:stretch>
            <a:fillRect/>
          </a:stretch>
        </p:blipFill>
        <p:spPr>
          <a:xfrm>
            <a:off x="8945115" y="3986077"/>
            <a:ext cx="3228975" cy="2867025"/>
          </a:xfrm>
          <a:prstGeom prst="rect">
            <a:avLst/>
          </a:prstGeom>
        </p:spPr>
      </p:pic>
      <p:pic>
        <p:nvPicPr>
          <p:cNvPr id="7" name="Picture 6"/>
          <p:cNvPicPr>
            <a:picLocks noChangeAspect="1"/>
          </p:cNvPicPr>
          <p:nvPr/>
        </p:nvPicPr>
        <p:blipFill>
          <a:blip r:embed="rId5"/>
          <a:stretch>
            <a:fillRect/>
          </a:stretch>
        </p:blipFill>
        <p:spPr>
          <a:xfrm>
            <a:off x="8361339" y="298763"/>
            <a:ext cx="3790950" cy="2190750"/>
          </a:xfrm>
          <a:prstGeom prst="rect">
            <a:avLst/>
          </a:prstGeom>
        </p:spPr>
      </p:pic>
    </p:spTree>
    <p:extLst>
      <p:ext uri="{BB962C8B-B14F-4D97-AF65-F5344CB8AC3E}">
        <p14:creationId xmlns:p14="http://schemas.microsoft.com/office/powerpoint/2010/main" val="908142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514350" indent="-514350">
              <a:buAutoNum type="arabicPeriod"/>
            </a:pPr>
            <a:r>
              <a:rPr lang="en-US" b="1" dirty="0">
                <a:solidFill>
                  <a:srgbClr val="7030A0"/>
                </a:solidFill>
                <a:latin typeface="Times New Roman" panose="02020603050405020304" pitchFamily="18" charset="0"/>
                <a:cs typeface="Times New Roman" panose="02020603050405020304" pitchFamily="18" charset="0"/>
              </a:rPr>
              <a:t>Links</a:t>
            </a:r>
          </a:p>
          <a:p>
            <a:pPr marL="514350" indent="-514350">
              <a:buAutoNum type="arabicPeriod"/>
            </a:pPr>
            <a:endParaRPr lang="en-US" b="1" dirty="0">
              <a:solidFill>
                <a:srgbClr val="7030A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Links are used to transmit mechanical power</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Mechanical structure of a robotic manipulator is a mechanism whose members are rigid links or bars </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Rigid link that can be connected at most with other two other links is referred to as a binary link</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Two links are connected together by a joint</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Links are represented by straight lines and rotary joint by a small circle</a:t>
            </a:r>
          </a:p>
          <a:p>
            <a:pPr marL="0" indent="0">
              <a:buNone/>
            </a:pPr>
            <a:r>
              <a:rPr lang="en-US" sz="2200" dirty="0">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2"/>
          <a:stretch>
            <a:fillRect/>
          </a:stretch>
        </p:blipFill>
        <p:spPr>
          <a:xfrm>
            <a:off x="1652385" y="3915177"/>
            <a:ext cx="3759815" cy="2107775"/>
          </a:xfrm>
          <a:prstGeom prst="rect">
            <a:avLst/>
          </a:prstGeom>
        </p:spPr>
      </p:pic>
      <p:pic>
        <p:nvPicPr>
          <p:cNvPr id="5" name="Picture 4"/>
          <p:cNvPicPr>
            <a:picLocks noChangeAspect="1"/>
          </p:cNvPicPr>
          <p:nvPr/>
        </p:nvPicPr>
        <p:blipFill>
          <a:blip r:embed="rId3"/>
          <a:stretch>
            <a:fillRect/>
          </a:stretch>
        </p:blipFill>
        <p:spPr>
          <a:xfrm>
            <a:off x="5829367" y="4005330"/>
            <a:ext cx="4658940" cy="2133533"/>
          </a:xfrm>
          <a:prstGeom prst="rect">
            <a:avLst/>
          </a:prstGeom>
        </p:spPr>
      </p:pic>
    </p:spTree>
    <p:extLst>
      <p:ext uri="{BB962C8B-B14F-4D97-AF65-F5344CB8AC3E}">
        <p14:creationId xmlns:p14="http://schemas.microsoft.com/office/powerpoint/2010/main" val="556442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sz="2400" b="1" dirty="0">
                <a:solidFill>
                  <a:srgbClr val="7030A0"/>
                </a:solidFill>
                <a:latin typeface="Times New Roman" panose="02020603050405020304" pitchFamily="18" charset="0"/>
                <a:cs typeface="Times New Roman" panose="02020603050405020304" pitchFamily="18" charset="0"/>
              </a:rPr>
              <a:t>2. Joints and Joint Notation Scheme</a:t>
            </a:r>
          </a:p>
          <a:p>
            <a:pPr marL="0" indent="0">
              <a:buNone/>
            </a:pPr>
            <a:r>
              <a:rPr lang="en-US" sz="2400" dirty="0">
                <a:latin typeface="Times New Roman" panose="02020603050405020304" pitchFamily="18" charset="0"/>
                <a:cs typeface="Times New Roman" panose="02020603050405020304" pitchFamily="18" charset="0"/>
              </a:rPr>
              <a:t>Two basic types are commonly used in industrial robots</a:t>
            </a:r>
          </a:p>
          <a:p>
            <a:pPr marL="0" indent="0">
              <a:buNone/>
            </a:pPr>
            <a:r>
              <a:rPr lang="en-US" sz="2400" dirty="0">
                <a:latin typeface="Times New Roman" panose="02020603050405020304" pitchFamily="18" charset="0"/>
                <a:cs typeface="Times New Roman" panose="02020603050405020304" pitchFamily="18" charset="0"/>
              </a:rPr>
              <a:t>	Revolute</a:t>
            </a:r>
          </a:p>
          <a:p>
            <a:pPr marL="0" indent="0">
              <a:buNone/>
            </a:pPr>
            <a:r>
              <a:rPr lang="en-US" sz="2400" dirty="0">
                <a:latin typeface="Times New Roman" panose="02020603050405020304" pitchFamily="18" charset="0"/>
                <a:cs typeface="Times New Roman" panose="02020603050405020304" pitchFamily="18" charset="0"/>
              </a:rPr>
              <a:t>	Prismatic</a:t>
            </a:r>
          </a:p>
          <a:p>
            <a:pPr marL="0" indent="0">
              <a:buNone/>
            </a:pPr>
            <a:r>
              <a:rPr lang="en-US" sz="2200" b="1" dirty="0">
                <a:latin typeface="Times New Roman" panose="02020603050405020304" pitchFamily="18" charset="0"/>
                <a:cs typeface="Times New Roman" panose="02020603050405020304" pitchFamily="18" charset="0"/>
              </a:rPr>
              <a:t>Revolute Joint</a:t>
            </a:r>
            <a:r>
              <a:rPr lang="en-US" sz="2400" b="1"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Two links are jointed by a pin (pivot) about the axis of which </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the  links can rotate with respect to each other</a:t>
            </a:r>
          </a:p>
          <a:p>
            <a:pPr marL="0" indent="0">
              <a:lnSpc>
                <a:spcPct val="100000"/>
              </a:lnSpc>
              <a:spcBef>
                <a:spcPts val="0"/>
              </a:spcBef>
              <a:buNone/>
            </a:pPr>
            <a:r>
              <a:rPr lang="en-US" sz="2200" b="1" dirty="0">
                <a:latin typeface="Times New Roman" panose="02020603050405020304" pitchFamily="18" charset="0"/>
                <a:cs typeface="Times New Roman" panose="02020603050405020304" pitchFamily="18" charset="0"/>
              </a:rPr>
              <a:t>Prismatic Joint</a:t>
            </a:r>
            <a:r>
              <a:rPr lang="en-US" sz="2400" b="1"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Two links are so jointed that these can slide (linearly move)</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with respect to each other</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Screw and nut, rack and pinion are ways to implement </a:t>
            </a:r>
          </a:p>
          <a:p>
            <a:pPr marL="0" indent="0">
              <a:lnSpc>
                <a:spcPct val="100000"/>
              </a:lnSpc>
              <a:spcBef>
                <a:spcPts val="0"/>
              </a:spcBef>
              <a:buNone/>
            </a:pPr>
            <a:r>
              <a:rPr lang="en-US" sz="2200" dirty="0">
                <a:latin typeface="Times New Roman" panose="02020603050405020304" pitchFamily="18" charset="0"/>
                <a:cs typeface="Times New Roman" panose="02020603050405020304" pitchFamily="18" charset="0"/>
              </a:rPr>
              <a:t>prismatic joints</a:t>
            </a:r>
          </a:p>
          <a:p>
            <a:pPr marL="0" indent="0">
              <a:lnSpc>
                <a:spcPct val="100000"/>
              </a:lnSpc>
              <a:spcBef>
                <a:spcPts val="0"/>
              </a:spcBef>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b="1" dirty="0">
              <a:solidFill>
                <a:srgbClr val="7030A0"/>
              </a:solidFill>
              <a:latin typeface="Times New Roman" panose="02020603050405020304" pitchFamily="18" charset="0"/>
              <a:cs typeface="Times New Roman" panose="02020603050405020304" pitchFamily="18" charset="0"/>
            </a:endParaRPr>
          </a:p>
          <a:p>
            <a:pPr marL="0" indent="0">
              <a:buNone/>
            </a:pPr>
            <a:endParaRPr lang="en-US" b="1" dirty="0">
              <a:solidFill>
                <a:srgbClr val="7030A0"/>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445829" y="-11175"/>
            <a:ext cx="4746171" cy="3631841"/>
          </a:xfrm>
          <a:prstGeom prst="rect">
            <a:avLst/>
          </a:prstGeom>
        </p:spPr>
      </p:pic>
      <p:pic>
        <p:nvPicPr>
          <p:cNvPr id="5" name="Picture 4"/>
          <p:cNvPicPr>
            <a:picLocks noChangeAspect="1"/>
          </p:cNvPicPr>
          <p:nvPr/>
        </p:nvPicPr>
        <p:blipFill>
          <a:blip r:embed="rId3"/>
          <a:stretch>
            <a:fillRect/>
          </a:stretch>
        </p:blipFill>
        <p:spPr>
          <a:xfrm>
            <a:off x="0" y="4811213"/>
            <a:ext cx="3653935" cy="2013048"/>
          </a:xfrm>
          <a:prstGeom prst="rect">
            <a:avLst/>
          </a:prstGeom>
        </p:spPr>
      </p:pic>
      <p:pic>
        <p:nvPicPr>
          <p:cNvPr id="6" name="Picture 5"/>
          <p:cNvPicPr>
            <a:picLocks noChangeAspect="1"/>
          </p:cNvPicPr>
          <p:nvPr/>
        </p:nvPicPr>
        <p:blipFill>
          <a:blip r:embed="rId4"/>
          <a:stretch>
            <a:fillRect/>
          </a:stretch>
        </p:blipFill>
        <p:spPr>
          <a:xfrm>
            <a:off x="4698787" y="4325339"/>
            <a:ext cx="2590294" cy="2325023"/>
          </a:xfrm>
          <a:prstGeom prst="rect">
            <a:avLst/>
          </a:prstGeom>
        </p:spPr>
      </p:pic>
      <p:pic>
        <p:nvPicPr>
          <p:cNvPr id="9" name="Picture 8"/>
          <p:cNvPicPr>
            <a:picLocks noChangeAspect="1"/>
          </p:cNvPicPr>
          <p:nvPr/>
        </p:nvPicPr>
        <p:blipFill>
          <a:blip r:embed="rId5"/>
          <a:stretch>
            <a:fillRect/>
          </a:stretch>
        </p:blipFill>
        <p:spPr>
          <a:xfrm>
            <a:off x="7050859" y="3662951"/>
            <a:ext cx="4617830" cy="3161310"/>
          </a:xfrm>
          <a:prstGeom prst="rect">
            <a:avLst/>
          </a:prstGeom>
        </p:spPr>
      </p:pic>
    </p:spTree>
    <p:extLst>
      <p:ext uri="{BB962C8B-B14F-4D97-AF65-F5344CB8AC3E}">
        <p14:creationId xmlns:p14="http://schemas.microsoft.com/office/powerpoint/2010/main" val="602929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7839075" cy="3552825"/>
          </a:xfrm>
          <a:prstGeom prst="rect">
            <a:avLst/>
          </a:prstGeom>
        </p:spPr>
      </p:pic>
      <p:pic>
        <p:nvPicPr>
          <p:cNvPr id="5" name="Picture 4"/>
          <p:cNvPicPr>
            <a:picLocks noChangeAspect="1"/>
          </p:cNvPicPr>
          <p:nvPr/>
        </p:nvPicPr>
        <p:blipFill>
          <a:blip r:embed="rId3"/>
          <a:stretch>
            <a:fillRect/>
          </a:stretch>
        </p:blipFill>
        <p:spPr>
          <a:xfrm>
            <a:off x="8478390" y="63522"/>
            <a:ext cx="3400425" cy="2790825"/>
          </a:xfrm>
          <a:prstGeom prst="rect">
            <a:avLst/>
          </a:prstGeom>
        </p:spPr>
      </p:pic>
      <p:pic>
        <p:nvPicPr>
          <p:cNvPr id="6" name="Picture 5"/>
          <p:cNvPicPr>
            <a:picLocks noChangeAspect="1"/>
          </p:cNvPicPr>
          <p:nvPr/>
        </p:nvPicPr>
        <p:blipFill>
          <a:blip r:embed="rId4"/>
          <a:stretch>
            <a:fillRect/>
          </a:stretch>
        </p:blipFill>
        <p:spPr>
          <a:xfrm>
            <a:off x="9153525" y="2733675"/>
            <a:ext cx="3038475" cy="819150"/>
          </a:xfrm>
          <a:prstGeom prst="rect">
            <a:avLst/>
          </a:prstGeom>
        </p:spPr>
      </p:pic>
      <p:pic>
        <p:nvPicPr>
          <p:cNvPr id="7" name="Picture 6"/>
          <p:cNvPicPr>
            <a:picLocks noChangeAspect="1"/>
          </p:cNvPicPr>
          <p:nvPr/>
        </p:nvPicPr>
        <p:blipFill>
          <a:blip r:embed="rId5"/>
          <a:stretch>
            <a:fillRect/>
          </a:stretch>
        </p:blipFill>
        <p:spPr>
          <a:xfrm>
            <a:off x="0" y="3552825"/>
            <a:ext cx="3914775" cy="3038475"/>
          </a:xfrm>
          <a:prstGeom prst="rect">
            <a:avLst/>
          </a:prstGeom>
        </p:spPr>
      </p:pic>
      <p:pic>
        <p:nvPicPr>
          <p:cNvPr id="8" name="Picture 7"/>
          <p:cNvPicPr>
            <a:picLocks noChangeAspect="1"/>
          </p:cNvPicPr>
          <p:nvPr/>
        </p:nvPicPr>
        <p:blipFill>
          <a:blip r:embed="rId6"/>
          <a:stretch>
            <a:fillRect/>
          </a:stretch>
        </p:blipFill>
        <p:spPr>
          <a:xfrm>
            <a:off x="3272106" y="6105525"/>
            <a:ext cx="2943225" cy="752475"/>
          </a:xfrm>
          <a:prstGeom prst="rect">
            <a:avLst/>
          </a:prstGeom>
        </p:spPr>
      </p:pic>
      <p:pic>
        <p:nvPicPr>
          <p:cNvPr id="9" name="Picture 8"/>
          <p:cNvPicPr>
            <a:picLocks noChangeAspect="1"/>
          </p:cNvPicPr>
          <p:nvPr/>
        </p:nvPicPr>
        <p:blipFill>
          <a:blip r:embed="rId7"/>
          <a:stretch>
            <a:fillRect/>
          </a:stretch>
        </p:blipFill>
        <p:spPr>
          <a:xfrm>
            <a:off x="8302177" y="3786523"/>
            <a:ext cx="3752850" cy="3019425"/>
          </a:xfrm>
          <a:prstGeom prst="rect">
            <a:avLst/>
          </a:prstGeom>
        </p:spPr>
      </p:pic>
      <p:pic>
        <p:nvPicPr>
          <p:cNvPr id="10" name="Picture 9"/>
          <p:cNvPicPr>
            <a:picLocks noChangeAspect="1"/>
          </p:cNvPicPr>
          <p:nvPr/>
        </p:nvPicPr>
        <p:blipFill>
          <a:blip r:embed="rId8"/>
          <a:stretch>
            <a:fillRect/>
          </a:stretch>
        </p:blipFill>
        <p:spPr>
          <a:xfrm>
            <a:off x="4929892" y="4046851"/>
            <a:ext cx="4657725" cy="876300"/>
          </a:xfrm>
          <a:prstGeom prst="rect">
            <a:avLst/>
          </a:prstGeom>
        </p:spPr>
      </p:pic>
    </p:spTree>
    <p:extLst>
      <p:ext uri="{BB962C8B-B14F-4D97-AF65-F5344CB8AC3E}">
        <p14:creationId xmlns:p14="http://schemas.microsoft.com/office/powerpoint/2010/main" val="2772085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0"/>
            <a:ext cx="12192001" cy="6858000"/>
          </a:xfrm>
        </p:spPr>
        <p:txBody>
          <a:bodyPr>
            <a:normAutofit lnSpcReduction="10000"/>
          </a:bodyPr>
          <a:lstStyle/>
          <a:p>
            <a:pPr marL="0" indent="0">
              <a:buNone/>
            </a:pPr>
            <a:r>
              <a:rPr lang="en-US" sz="2200" dirty="0">
                <a:latin typeface="Times New Roman" panose="02020603050405020304" pitchFamily="18" charset="0"/>
                <a:cs typeface="Times New Roman" panose="02020603050405020304" pitchFamily="18" charset="0"/>
              </a:rPr>
              <a:t>Other types of possible joints used are </a:t>
            </a:r>
          </a:p>
          <a:p>
            <a:pPr marL="0" indent="0">
              <a:buNone/>
            </a:pPr>
            <a:r>
              <a:rPr lang="en-US" sz="2200" dirty="0">
                <a:latin typeface="Times New Roman" panose="02020603050405020304" pitchFamily="18" charset="0"/>
                <a:cs typeface="Times New Roman" panose="02020603050405020304" pitchFamily="18" charset="0"/>
              </a:rPr>
              <a:t>	Planar (one surface sliding over another surface)</a:t>
            </a:r>
          </a:p>
          <a:p>
            <a:pPr marL="0" indent="0">
              <a:buNone/>
            </a:pPr>
            <a:r>
              <a:rPr lang="en-US" sz="2200" dirty="0">
                <a:latin typeface="Times New Roman" panose="02020603050405020304" pitchFamily="18" charset="0"/>
                <a:cs typeface="Times New Roman" panose="02020603050405020304" pitchFamily="18" charset="0"/>
              </a:rPr>
              <a:t>	Cylindrical (one link rotates about the other at 90° angle)</a:t>
            </a:r>
          </a:p>
          <a:p>
            <a:pPr marL="0" indent="0">
              <a:buNone/>
            </a:pPr>
            <a:r>
              <a:rPr lang="en-US" sz="2200" dirty="0">
                <a:latin typeface="Times New Roman" panose="02020603050405020304" pitchFamily="18" charset="0"/>
                <a:cs typeface="Times New Roman" panose="02020603050405020304" pitchFamily="18" charset="0"/>
              </a:rPr>
              <a:t>	Spherical (one link can move with respect to the other in 3 dimensions)</a:t>
            </a:r>
          </a:p>
          <a:p>
            <a:pPr marL="0" indent="0">
              <a:buNone/>
            </a:pPr>
            <a:r>
              <a:rPr lang="en-US" sz="2200" dirty="0">
                <a:latin typeface="Times New Roman" panose="02020603050405020304" pitchFamily="18" charset="0"/>
                <a:cs typeface="Times New Roman" panose="02020603050405020304" pitchFamily="18" charset="0"/>
              </a:rPr>
              <a:t>	Twist (2 links remains aligned along a straight line but one twists about the other around the link axis </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Open Kinematic Chain – one end is connected to the base and the end effector is connected to free end of  the last link.</a:t>
            </a:r>
          </a:p>
          <a:p>
            <a:pPr marL="0" indent="0">
              <a:buNone/>
            </a:pPr>
            <a:r>
              <a:rPr lang="en-US" sz="2000" dirty="0">
                <a:latin typeface="Times New Roman" panose="02020603050405020304" pitchFamily="18" charset="0"/>
                <a:cs typeface="Times New Roman" panose="02020603050405020304" pitchFamily="18" charset="0"/>
              </a:rPr>
              <a:t>Closed Kinematic chain – Parallel manipulators</a:t>
            </a:r>
          </a:p>
        </p:txBody>
      </p:sp>
      <p:pic>
        <p:nvPicPr>
          <p:cNvPr id="4" name="Picture 3"/>
          <p:cNvPicPr>
            <a:picLocks noChangeAspect="1"/>
          </p:cNvPicPr>
          <p:nvPr/>
        </p:nvPicPr>
        <p:blipFill>
          <a:blip r:embed="rId2"/>
          <a:stretch>
            <a:fillRect/>
          </a:stretch>
        </p:blipFill>
        <p:spPr>
          <a:xfrm>
            <a:off x="6763662" y="2561688"/>
            <a:ext cx="5428338" cy="2976227"/>
          </a:xfrm>
          <a:prstGeom prst="rect">
            <a:avLst/>
          </a:prstGeom>
        </p:spPr>
      </p:pic>
      <p:pic>
        <p:nvPicPr>
          <p:cNvPr id="5" name="Picture 4"/>
          <p:cNvPicPr>
            <a:picLocks noChangeAspect="1"/>
          </p:cNvPicPr>
          <p:nvPr/>
        </p:nvPicPr>
        <p:blipFill>
          <a:blip r:embed="rId3"/>
          <a:stretch>
            <a:fillRect/>
          </a:stretch>
        </p:blipFill>
        <p:spPr>
          <a:xfrm>
            <a:off x="5056229" y="4130369"/>
            <a:ext cx="1680628" cy="1628516"/>
          </a:xfrm>
          <a:prstGeom prst="rect">
            <a:avLst/>
          </a:prstGeom>
        </p:spPr>
      </p:pic>
      <p:pic>
        <p:nvPicPr>
          <p:cNvPr id="6" name="Picture 5"/>
          <p:cNvPicPr>
            <a:picLocks noChangeAspect="1"/>
          </p:cNvPicPr>
          <p:nvPr/>
        </p:nvPicPr>
        <p:blipFill>
          <a:blip r:embed="rId4"/>
          <a:stretch>
            <a:fillRect/>
          </a:stretch>
        </p:blipFill>
        <p:spPr>
          <a:xfrm>
            <a:off x="5056229" y="2561688"/>
            <a:ext cx="1590400" cy="1488160"/>
          </a:xfrm>
          <a:prstGeom prst="rect">
            <a:avLst/>
          </a:prstGeom>
        </p:spPr>
      </p:pic>
      <p:pic>
        <p:nvPicPr>
          <p:cNvPr id="7" name="Picture 6"/>
          <p:cNvPicPr>
            <a:picLocks noChangeAspect="1"/>
          </p:cNvPicPr>
          <p:nvPr/>
        </p:nvPicPr>
        <p:blipFill>
          <a:blip r:embed="rId5"/>
          <a:stretch>
            <a:fillRect/>
          </a:stretch>
        </p:blipFill>
        <p:spPr>
          <a:xfrm>
            <a:off x="-1" y="3078051"/>
            <a:ext cx="4499588" cy="640718"/>
          </a:xfrm>
          <a:prstGeom prst="rect">
            <a:avLst/>
          </a:prstGeom>
        </p:spPr>
      </p:pic>
      <p:pic>
        <p:nvPicPr>
          <p:cNvPr id="8" name="Picture 7"/>
          <p:cNvPicPr>
            <a:picLocks noChangeAspect="1"/>
          </p:cNvPicPr>
          <p:nvPr/>
        </p:nvPicPr>
        <p:blipFill>
          <a:blip r:embed="rId6"/>
          <a:stretch>
            <a:fillRect/>
          </a:stretch>
        </p:blipFill>
        <p:spPr>
          <a:xfrm>
            <a:off x="0" y="4828697"/>
            <a:ext cx="4784883" cy="452828"/>
          </a:xfrm>
          <a:prstGeom prst="rect">
            <a:avLst/>
          </a:prstGeom>
        </p:spPr>
      </p:pic>
    </p:spTree>
    <p:extLst>
      <p:ext uri="{BB962C8B-B14F-4D97-AF65-F5344CB8AC3E}">
        <p14:creationId xmlns:p14="http://schemas.microsoft.com/office/powerpoint/2010/main" val="3660911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809289"/>
            <a:ext cx="12192000" cy="4934688"/>
          </a:xfrm>
          <a:prstGeom prst="rect">
            <a:avLst/>
          </a:prstGeom>
        </p:spPr>
      </p:pic>
      <p:sp>
        <p:nvSpPr>
          <p:cNvPr id="5" name="Rectangle 4"/>
          <p:cNvSpPr/>
          <p:nvPr/>
        </p:nvSpPr>
        <p:spPr>
          <a:xfrm>
            <a:off x="492030" y="6090565"/>
            <a:ext cx="5603970" cy="369332"/>
          </a:xfrm>
          <a:prstGeom prst="rect">
            <a:avLst/>
          </a:prstGeom>
        </p:spPr>
        <p:txBody>
          <a:bodyPr wrap="none">
            <a:spAutoFit/>
          </a:bodyPr>
          <a:lstStyle/>
          <a:p>
            <a:r>
              <a:rPr lang="en-US" dirty="0"/>
              <a:t>https://www.youtube.com/watch?v=zI64DyaRUvQ&amp;t=22s</a:t>
            </a:r>
          </a:p>
        </p:txBody>
      </p:sp>
    </p:spTree>
    <p:extLst>
      <p:ext uri="{BB962C8B-B14F-4D97-AF65-F5344CB8AC3E}">
        <p14:creationId xmlns:p14="http://schemas.microsoft.com/office/powerpoint/2010/main" val="3939503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704"/>
            <a:ext cx="12192000" cy="6848296"/>
          </a:xfrm>
        </p:spPr>
        <p:txBody>
          <a:bodyPr>
            <a:normAutofit/>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3. </a:t>
            </a:r>
            <a:r>
              <a:rPr lang="en-US" sz="2200" b="1" dirty="0" err="1">
                <a:solidFill>
                  <a:srgbClr val="7030A0"/>
                </a:solidFill>
                <a:latin typeface="Times New Roman" panose="02020603050405020304" pitchFamily="18" charset="0"/>
                <a:cs typeface="Times New Roman" panose="02020603050405020304" pitchFamily="18" charset="0"/>
              </a:rPr>
              <a:t>DoF</a:t>
            </a:r>
            <a:endParaRPr lang="en-US" sz="2200" b="1" dirty="0">
              <a:solidFill>
                <a:srgbClr val="7030A0"/>
              </a:solidFill>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The number of independent movements that an object can perform in a 3D space is called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a:t>
            </a:r>
          </a:p>
          <a:p>
            <a:pPr marL="0" indent="0">
              <a:buNone/>
            </a:pPr>
            <a:r>
              <a:rPr lang="en-US" sz="2200" dirty="0">
                <a:latin typeface="Times New Roman" panose="02020603050405020304" pitchFamily="18" charset="0"/>
                <a:cs typeface="Times New Roman" panose="02020603050405020304" pitchFamily="18" charset="0"/>
              </a:rPr>
              <a:t>Rigid body free in space has 6dof.</a:t>
            </a:r>
          </a:p>
          <a:p>
            <a:pPr marL="0" indent="0">
              <a:buNone/>
            </a:pPr>
            <a:r>
              <a:rPr lang="en-US" sz="2200" dirty="0">
                <a:latin typeface="Times New Roman" panose="02020603050405020304" pitchFamily="18" charset="0"/>
                <a:cs typeface="Times New Roman" panose="02020603050405020304" pitchFamily="18" charset="0"/>
              </a:rPr>
              <a:t>In 3D space, 6 independent variables are required to specify the location (position and orientation)</a:t>
            </a:r>
          </a:p>
          <a:p>
            <a:pPr marL="0" indent="0">
              <a:buNone/>
            </a:pPr>
            <a:r>
              <a:rPr lang="en-US" sz="2200" dirty="0">
                <a:latin typeface="Times New Roman" panose="02020603050405020304" pitchFamily="18" charset="0"/>
                <a:cs typeface="Times New Roman" panose="02020603050405020304" pitchFamily="18" charset="0"/>
              </a:rPr>
              <a:t>In 2D space (a plane), an object has 3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 2 </a:t>
            </a:r>
            <a:r>
              <a:rPr lang="en-US" sz="2200" dirty="0" err="1">
                <a:latin typeface="Times New Roman" panose="02020603050405020304" pitchFamily="18" charset="0"/>
                <a:cs typeface="Times New Roman" panose="02020603050405020304" pitchFamily="18" charset="0"/>
              </a:rPr>
              <a:t>translatory</a:t>
            </a:r>
            <a:r>
              <a:rPr lang="en-US" sz="2200" dirty="0">
                <a:latin typeface="Times New Roman" panose="02020603050405020304" pitchFamily="18" charset="0"/>
                <a:cs typeface="Times New Roman" panose="02020603050405020304" pitchFamily="18" charset="0"/>
              </a:rPr>
              <a:t> and 1 rotational  </a:t>
            </a:r>
          </a:p>
          <a:p>
            <a:pPr marL="0" indent="0">
              <a:buNone/>
            </a:pPr>
            <a:r>
              <a:rPr lang="en-US" sz="2200" dirty="0">
                <a:latin typeface="Times New Roman" panose="02020603050405020304" pitchFamily="18" charset="0"/>
                <a:cs typeface="Times New Roman" panose="02020603050405020304" pitchFamily="18" charset="0"/>
              </a:rPr>
              <a:t>In open kinematic chain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is equal to the number of joints. (each joint has 1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a:t>
            </a:r>
          </a:p>
        </p:txBody>
      </p:sp>
      <p:pic>
        <p:nvPicPr>
          <p:cNvPr id="4" name="Picture 3"/>
          <p:cNvPicPr>
            <a:picLocks noChangeAspect="1"/>
          </p:cNvPicPr>
          <p:nvPr/>
        </p:nvPicPr>
        <p:blipFill>
          <a:blip r:embed="rId2"/>
          <a:stretch>
            <a:fillRect/>
          </a:stretch>
        </p:blipFill>
        <p:spPr>
          <a:xfrm>
            <a:off x="352962" y="2486763"/>
            <a:ext cx="2733675" cy="2219325"/>
          </a:xfrm>
          <a:prstGeom prst="rect">
            <a:avLst/>
          </a:prstGeom>
        </p:spPr>
      </p:pic>
      <p:pic>
        <p:nvPicPr>
          <p:cNvPr id="5" name="Picture 4"/>
          <p:cNvPicPr>
            <a:picLocks noChangeAspect="1"/>
          </p:cNvPicPr>
          <p:nvPr/>
        </p:nvPicPr>
        <p:blipFill>
          <a:blip r:embed="rId3"/>
          <a:stretch>
            <a:fillRect/>
          </a:stretch>
        </p:blipFill>
        <p:spPr>
          <a:xfrm>
            <a:off x="4220849" y="2929675"/>
            <a:ext cx="2647950" cy="1333500"/>
          </a:xfrm>
          <a:prstGeom prst="rect">
            <a:avLst/>
          </a:prstGeom>
        </p:spPr>
      </p:pic>
    </p:spTree>
    <p:extLst>
      <p:ext uri="{BB962C8B-B14F-4D97-AF65-F5344CB8AC3E}">
        <p14:creationId xmlns:p14="http://schemas.microsoft.com/office/powerpoint/2010/main" val="2379321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572" y="528034"/>
            <a:ext cx="11597705" cy="4945487"/>
          </a:xfrm>
          <a:prstGeom prst="rect">
            <a:avLst/>
          </a:prstGeom>
        </p:spPr>
      </p:pic>
    </p:spTree>
    <p:extLst>
      <p:ext uri="{BB962C8B-B14F-4D97-AF65-F5344CB8AC3E}">
        <p14:creationId xmlns:p14="http://schemas.microsoft.com/office/powerpoint/2010/main" val="729630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 y="0"/>
            <a:ext cx="5782614" cy="3515932"/>
          </a:xfrm>
          <a:prstGeom prst="rect">
            <a:avLst/>
          </a:prstGeom>
        </p:spPr>
      </p:pic>
      <p:pic>
        <p:nvPicPr>
          <p:cNvPr id="5" name="Picture 4"/>
          <p:cNvPicPr>
            <a:picLocks noChangeAspect="1"/>
          </p:cNvPicPr>
          <p:nvPr/>
        </p:nvPicPr>
        <p:blipFill>
          <a:blip r:embed="rId3"/>
          <a:stretch>
            <a:fillRect/>
          </a:stretch>
        </p:blipFill>
        <p:spPr>
          <a:xfrm>
            <a:off x="1" y="3606084"/>
            <a:ext cx="7268289" cy="3251916"/>
          </a:xfrm>
          <a:prstGeom prst="rect">
            <a:avLst/>
          </a:prstGeom>
        </p:spPr>
      </p:pic>
    </p:spTree>
    <p:extLst>
      <p:ext uri="{BB962C8B-B14F-4D97-AF65-F5344CB8AC3E}">
        <p14:creationId xmlns:p14="http://schemas.microsoft.com/office/powerpoint/2010/main" val="263731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
            <a:ext cx="6074162" cy="3734733"/>
          </a:xfrm>
          <a:prstGeom prst="rect">
            <a:avLst/>
          </a:prstGeom>
        </p:spPr>
      </p:pic>
      <p:pic>
        <p:nvPicPr>
          <p:cNvPr id="6" name="Picture 5"/>
          <p:cNvPicPr>
            <a:picLocks noChangeAspect="1"/>
          </p:cNvPicPr>
          <p:nvPr/>
        </p:nvPicPr>
        <p:blipFill>
          <a:blip r:embed="rId3"/>
          <a:stretch>
            <a:fillRect/>
          </a:stretch>
        </p:blipFill>
        <p:spPr>
          <a:xfrm>
            <a:off x="6074162" y="-1"/>
            <a:ext cx="6117838" cy="3746129"/>
          </a:xfrm>
          <a:prstGeom prst="rect">
            <a:avLst/>
          </a:prstGeom>
        </p:spPr>
      </p:pic>
      <p:pic>
        <p:nvPicPr>
          <p:cNvPr id="7" name="Picture 6"/>
          <p:cNvPicPr>
            <a:picLocks noChangeAspect="1"/>
          </p:cNvPicPr>
          <p:nvPr/>
        </p:nvPicPr>
        <p:blipFill>
          <a:blip r:embed="rId4"/>
          <a:stretch>
            <a:fillRect/>
          </a:stretch>
        </p:blipFill>
        <p:spPr>
          <a:xfrm>
            <a:off x="180304" y="3836280"/>
            <a:ext cx="3065440" cy="2257279"/>
          </a:xfrm>
          <a:prstGeom prst="rect">
            <a:avLst/>
          </a:prstGeom>
        </p:spPr>
      </p:pic>
      <p:pic>
        <p:nvPicPr>
          <p:cNvPr id="8" name="Picture 7"/>
          <p:cNvPicPr>
            <a:picLocks noChangeAspect="1"/>
          </p:cNvPicPr>
          <p:nvPr/>
        </p:nvPicPr>
        <p:blipFill>
          <a:blip r:embed="rId5"/>
          <a:stretch>
            <a:fillRect/>
          </a:stretch>
        </p:blipFill>
        <p:spPr>
          <a:xfrm>
            <a:off x="9839728" y="3464406"/>
            <a:ext cx="2352272" cy="3393594"/>
          </a:xfrm>
          <a:prstGeom prst="rect">
            <a:avLst/>
          </a:prstGeom>
        </p:spPr>
      </p:pic>
    </p:spTree>
    <p:extLst>
      <p:ext uri="{BB962C8B-B14F-4D97-AF65-F5344CB8AC3E}">
        <p14:creationId xmlns:p14="http://schemas.microsoft.com/office/powerpoint/2010/main" val="1698461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0"/>
            <a:ext cx="4729766" cy="2910625"/>
          </a:xfrm>
          <a:prstGeom prst="rect">
            <a:avLst/>
          </a:prstGeom>
        </p:spPr>
      </p:pic>
      <p:pic>
        <p:nvPicPr>
          <p:cNvPr id="7" name="Picture 6"/>
          <p:cNvPicPr>
            <a:picLocks noChangeAspect="1"/>
          </p:cNvPicPr>
          <p:nvPr/>
        </p:nvPicPr>
        <p:blipFill>
          <a:blip r:embed="rId3"/>
          <a:stretch>
            <a:fillRect/>
          </a:stretch>
        </p:blipFill>
        <p:spPr>
          <a:xfrm>
            <a:off x="7791450" y="0"/>
            <a:ext cx="4400550" cy="4371975"/>
          </a:xfrm>
          <a:prstGeom prst="rect">
            <a:avLst/>
          </a:prstGeom>
        </p:spPr>
      </p:pic>
      <p:sp>
        <p:nvSpPr>
          <p:cNvPr id="8" name="Rectangle 7"/>
          <p:cNvSpPr/>
          <p:nvPr/>
        </p:nvSpPr>
        <p:spPr>
          <a:xfrm>
            <a:off x="6611825" y="6435209"/>
            <a:ext cx="5603970" cy="369332"/>
          </a:xfrm>
          <a:prstGeom prst="rect">
            <a:avLst/>
          </a:prstGeom>
        </p:spPr>
        <p:txBody>
          <a:bodyPr wrap="none">
            <a:spAutoFit/>
          </a:bodyPr>
          <a:lstStyle/>
          <a:p>
            <a:r>
              <a:rPr lang="en-US" dirty="0"/>
              <a:t>https://www.youtube.com/watch?v=zI64DyaRUvQ&amp;t=22s</a:t>
            </a:r>
          </a:p>
        </p:txBody>
      </p:sp>
      <p:pic>
        <p:nvPicPr>
          <p:cNvPr id="9" name="Picture 8"/>
          <p:cNvPicPr>
            <a:picLocks noChangeAspect="1"/>
          </p:cNvPicPr>
          <p:nvPr/>
        </p:nvPicPr>
        <p:blipFill>
          <a:blip r:embed="rId4"/>
          <a:stretch>
            <a:fillRect/>
          </a:stretch>
        </p:blipFill>
        <p:spPr>
          <a:xfrm>
            <a:off x="0" y="2941572"/>
            <a:ext cx="6611825" cy="3678303"/>
          </a:xfrm>
          <a:prstGeom prst="rect">
            <a:avLst/>
          </a:prstGeom>
        </p:spPr>
      </p:pic>
      <p:sp>
        <p:nvSpPr>
          <p:cNvPr id="10" name="TextBox 9"/>
          <p:cNvSpPr txBox="1"/>
          <p:nvPr/>
        </p:nvSpPr>
        <p:spPr>
          <a:xfrm>
            <a:off x="7508383" y="5512158"/>
            <a:ext cx="178132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Human Arm???</a:t>
            </a:r>
          </a:p>
        </p:txBody>
      </p:sp>
    </p:spTree>
    <p:extLst>
      <p:ext uri="{BB962C8B-B14F-4D97-AF65-F5344CB8AC3E}">
        <p14:creationId xmlns:p14="http://schemas.microsoft.com/office/powerpoint/2010/main" val="2953842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84102" y="190703"/>
            <a:ext cx="7263683" cy="666729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56018C2-AB7C-4E72-C0CC-7EFE9AB37F90}"/>
                  </a:ext>
                </a:extLst>
              </p14:cNvPr>
              <p14:cNvContentPartPr/>
              <p14:nvPr/>
            </p14:nvContentPartPr>
            <p14:xfrm>
              <a:off x="3130560" y="698400"/>
              <a:ext cx="6890040" cy="2369160"/>
            </p14:xfrm>
          </p:contentPart>
        </mc:Choice>
        <mc:Fallback xmlns="">
          <p:pic>
            <p:nvPicPr>
              <p:cNvPr id="2" name="Ink 1">
                <a:extLst>
                  <a:ext uri="{FF2B5EF4-FFF2-40B4-BE49-F238E27FC236}">
                    <a16:creationId xmlns:a16="http://schemas.microsoft.com/office/drawing/2014/main" id="{156018C2-AB7C-4E72-C0CC-7EFE9AB37F90}"/>
                  </a:ext>
                </a:extLst>
              </p:cNvPr>
              <p:cNvPicPr/>
              <p:nvPr/>
            </p:nvPicPr>
            <p:blipFill>
              <a:blip r:embed="rId4"/>
              <a:stretch>
                <a:fillRect/>
              </a:stretch>
            </p:blipFill>
            <p:spPr>
              <a:xfrm>
                <a:off x="3121200" y="689040"/>
                <a:ext cx="6908760" cy="2387880"/>
              </a:xfrm>
              <a:prstGeom prst="rect">
                <a:avLst/>
              </a:prstGeom>
            </p:spPr>
          </p:pic>
        </mc:Fallback>
      </mc:AlternateContent>
    </p:spTree>
    <p:extLst>
      <p:ext uri="{BB962C8B-B14F-4D97-AF65-F5344CB8AC3E}">
        <p14:creationId xmlns:p14="http://schemas.microsoft.com/office/powerpoint/2010/main" val="2974618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90399" y="669701"/>
            <a:ext cx="7135472" cy="5460643"/>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95886CA-D8F3-FC43-344D-B2AF5254503B}"/>
                  </a:ext>
                </a:extLst>
              </p14:cNvPr>
              <p14:cNvContentPartPr/>
              <p14:nvPr/>
            </p14:nvContentPartPr>
            <p14:xfrm>
              <a:off x="2933640" y="2127240"/>
              <a:ext cx="8699760" cy="2603880"/>
            </p14:xfrm>
          </p:contentPart>
        </mc:Choice>
        <mc:Fallback xmlns="">
          <p:pic>
            <p:nvPicPr>
              <p:cNvPr id="2" name="Ink 1">
                <a:extLst>
                  <a:ext uri="{FF2B5EF4-FFF2-40B4-BE49-F238E27FC236}">
                    <a16:creationId xmlns:a16="http://schemas.microsoft.com/office/drawing/2014/main" id="{295886CA-D8F3-FC43-344D-B2AF5254503B}"/>
                  </a:ext>
                </a:extLst>
              </p:cNvPr>
              <p:cNvPicPr/>
              <p:nvPr/>
            </p:nvPicPr>
            <p:blipFill>
              <a:blip r:embed="rId4"/>
              <a:stretch>
                <a:fillRect/>
              </a:stretch>
            </p:blipFill>
            <p:spPr>
              <a:xfrm>
                <a:off x="2924280" y="2117880"/>
                <a:ext cx="8718480" cy="2622600"/>
              </a:xfrm>
              <a:prstGeom prst="rect">
                <a:avLst/>
              </a:prstGeom>
            </p:spPr>
          </p:pic>
        </mc:Fallback>
      </mc:AlternateContent>
    </p:spTree>
    <p:extLst>
      <p:ext uri="{BB962C8B-B14F-4D97-AF65-F5344CB8AC3E}">
        <p14:creationId xmlns:p14="http://schemas.microsoft.com/office/powerpoint/2010/main" val="222685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1088AA3-2BA5-F419-B37D-467A19E287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53" y="245110"/>
            <a:ext cx="3786187" cy="36444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F4B6D71B-BF1A-C70B-DFB4-155DF8987517}"/>
              </a:ext>
            </a:extLst>
          </p:cNvPr>
          <p:cNvPicPr>
            <a:picLocks noChangeAspect="1"/>
          </p:cNvPicPr>
          <p:nvPr/>
        </p:nvPicPr>
        <p:blipFill>
          <a:blip r:embed="rId3"/>
          <a:stretch>
            <a:fillRect/>
          </a:stretch>
        </p:blipFill>
        <p:spPr>
          <a:xfrm>
            <a:off x="6096000" y="245110"/>
            <a:ext cx="3220720" cy="3317517"/>
          </a:xfrm>
          <a:prstGeom prst="rect">
            <a:avLst/>
          </a:prstGeom>
        </p:spPr>
      </p:pic>
    </p:spTree>
    <p:extLst>
      <p:ext uri="{BB962C8B-B14F-4D97-AF65-F5344CB8AC3E}">
        <p14:creationId xmlns:p14="http://schemas.microsoft.com/office/powerpoint/2010/main" val="3228566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5A71C29-86BE-1FD5-85C5-9675B36203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1761" y="292421"/>
            <a:ext cx="6431439" cy="6273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32924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4. Required </a:t>
            </a:r>
            <a:r>
              <a:rPr lang="en-US" sz="2200" b="1" dirty="0" err="1">
                <a:solidFill>
                  <a:srgbClr val="7030A0"/>
                </a:solidFill>
                <a:latin typeface="Times New Roman" panose="02020603050405020304" pitchFamily="18" charset="0"/>
                <a:cs typeface="Times New Roman" panose="02020603050405020304" pitchFamily="18" charset="0"/>
              </a:rPr>
              <a:t>DoF</a:t>
            </a:r>
            <a:r>
              <a:rPr lang="en-US" sz="2200" b="1" dirty="0">
                <a:solidFill>
                  <a:srgbClr val="7030A0"/>
                </a:solidFill>
                <a:latin typeface="Times New Roman" panose="02020603050405020304" pitchFamily="18" charset="0"/>
                <a:cs typeface="Times New Roman" panose="02020603050405020304" pitchFamily="18" charset="0"/>
              </a:rPr>
              <a:t> in a Manipulator</a:t>
            </a:r>
          </a:p>
          <a:p>
            <a:pPr marL="0" indent="0">
              <a:buNone/>
            </a:pPr>
            <a:r>
              <a:rPr lang="en-US" sz="2200" dirty="0">
                <a:latin typeface="Times New Roman" panose="02020603050405020304" pitchFamily="18" charset="0"/>
                <a:cs typeface="Times New Roman" panose="02020603050405020304" pitchFamily="18" charset="0"/>
              </a:rPr>
              <a:t>Spatial Manipulator – to position and orientate a body freely in 3D space , a manipulator with 6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is required. Such Manipulator is called spatial manipulator</a:t>
            </a:r>
          </a:p>
          <a:p>
            <a:pPr marL="0" indent="0">
              <a:buNone/>
            </a:pPr>
            <a:r>
              <a:rPr lang="en-US" sz="2200" dirty="0">
                <a:latin typeface="Times New Roman" panose="02020603050405020304" pitchFamily="18" charset="0"/>
                <a:cs typeface="Times New Roman" panose="02020603050405020304" pitchFamily="18" charset="0"/>
              </a:rPr>
              <a:t>A manipulator with less than 6dof has constrained motion in 3D space</a:t>
            </a:r>
          </a:p>
          <a:p>
            <a:pPr marL="0" indent="0">
              <a:buNone/>
            </a:pPr>
            <a:r>
              <a:rPr lang="en-US" sz="2200" dirty="0">
                <a:latin typeface="Times New Roman" panose="02020603050405020304" pitchFamily="18" charset="0"/>
                <a:cs typeface="Times New Roman" panose="02020603050405020304" pitchFamily="18" charset="0"/>
              </a:rPr>
              <a:t>A planar manipulator can only sweep a 2D space or a plane and can have any number of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a:t>
            </a:r>
          </a:p>
          <a:p>
            <a:pPr marL="0" indent="0">
              <a:buNone/>
            </a:pPr>
            <a:r>
              <a:rPr lang="en-US" sz="2200" dirty="0">
                <a:latin typeface="Times New Roman" panose="02020603050405020304" pitchFamily="18" charset="0"/>
                <a:cs typeface="Times New Roman" panose="02020603050405020304" pitchFamily="18" charset="0"/>
              </a:rPr>
              <a:t>Spatial manipulators with more than 6dof have surplus joints and  are known as redundant manipulators. Extra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may enhance the performance by adding to its dexterity.</a:t>
            </a:r>
          </a:p>
          <a:p>
            <a:pPr marL="0" indent="0">
              <a:buNone/>
            </a:pPr>
            <a:r>
              <a:rPr lang="en-US" sz="2200" dirty="0">
                <a:latin typeface="Times New Roman" panose="02020603050405020304" pitchFamily="18" charset="0"/>
                <a:cs typeface="Times New Roman" panose="02020603050405020304" pitchFamily="18" charset="0"/>
              </a:rPr>
              <a:t>Dexterity implies that manipulator can reach a subspace which is obstructed by objects , by the capability of going around these.</a:t>
            </a:r>
          </a:p>
          <a:p>
            <a:pPr marL="0" indent="0">
              <a:buNone/>
            </a:pP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of a manipulator are distributed into subassemblies of arm and wrist</a:t>
            </a:r>
          </a:p>
          <a:p>
            <a:pPr marL="0" indent="0">
              <a:buNone/>
            </a:pPr>
            <a:r>
              <a:rPr lang="en-US" sz="2200" dirty="0">
                <a:latin typeface="Times New Roman" panose="02020603050405020304" pitchFamily="18" charset="0"/>
                <a:cs typeface="Times New Roman" panose="02020603050405020304" pitchFamily="18" charset="0"/>
              </a:rPr>
              <a:t>Arm is used for positioning the end effector in space hence 3 </a:t>
            </a:r>
            <a:r>
              <a:rPr lang="en-US" sz="2200" dirty="0" err="1">
                <a:latin typeface="Times New Roman" panose="02020603050405020304" pitchFamily="18" charset="0"/>
                <a:cs typeface="Times New Roman" panose="02020603050405020304" pitchFamily="18" charset="0"/>
              </a:rPr>
              <a:t>dof</a:t>
            </a:r>
            <a:r>
              <a:rPr lang="en-US" sz="2200" dirty="0">
                <a:latin typeface="Times New Roman" panose="02020603050405020304" pitchFamily="18" charset="0"/>
                <a:cs typeface="Times New Roman" panose="02020603050405020304" pitchFamily="18" charset="0"/>
              </a:rPr>
              <a:t> is required. Remaining 3dof are provided in the wrist whose task is to orient the end effector.</a:t>
            </a:r>
          </a:p>
          <a:p>
            <a:pPr marL="0" indent="0">
              <a:buNone/>
            </a:pPr>
            <a:r>
              <a:rPr lang="en-US" sz="2200" dirty="0">
                <a:latin typeface="Times New Roman" panose="02020603050405020304" pitchFamily="18" charset="0"/>
                <a:cs typeface="Times New Roman" panose="02020603050405020304" pitchFamily="18" charset="0"/>
              </a:rPr>
              <a:t>	</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165028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fontScale="92500" lnSpcReduction="10000"/>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5. Arm configuration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Mechanics of the arm with 3dof depends on the type of 3 joints employed and their arrangement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Purpose of the arm is to position the wrist in 3D space and the arm has following characteristic requirements</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Links are long enough to provide for maximum reach in the space</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The design is mechanically robust because the arm has to bear not only the load of </a:t>
            </a:r>
            <a:r>
              <a:rPr lang="en-US" sz="1800" dirty="0" err="1">
                <a:latin typeface="Times New Roman" panose="02020603050405020304" pitchFamily="18" charset="0"/>
                <a:cs typeface="Times New Roman" panose="02020603050405020304" pitchFamily="18" charset="0"/>
              </a:rPr>
              <a:t>workpiece</a:t>
            </a:r>
            <a:r>
              <a:rPr lang="en-US" sz="1800" dirty="0">
                <a:latin typeface="Times New Roman" panose="02020603050405020304" pitchFamily="18" charset="0"/>
                <a:cs typeface="Times New Roman" panose="02020603050405020304" pitchFamily="18" charset="0"/>
              </a:rPr>
              <a:t> but also has to carry the wrist and the end effector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The four basic configurations are</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Cartesian (rectangular)configuration</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Cylindrical configuration</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Polar (spherical) configuration</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Articulated (revolute or jointed arm) configuration</a:t>
            </a:r>
          </a:p>
          <a:p>
            <a:pPr>
              <a:buFont typeface="Wingdings" panose="05000000000000000000" pitchFamily="2" charset="2"/>
              <a:buChar char="v"/>
            </a:pPr>
            <a:r>
              <a:rPr lang="en-US" sz="2000" b="1" i="1" dirty="0">
                <a:latin typeface="Times New Roman" panose="02020603050405020304" pitchFamily="18" charset="0"/>
                <a:cs typeface="Times New Roman" panose="02020603050405020304" pitchFamily="18" charset="0"/>
              </a:rPr>
              <a:t>Cartesian configuration</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Simplest configuration with all 3P joints</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Endpoint of the arm is capable of operating in cuboidal space called workspace</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Workspace represents the portion of space around the base of the manipulator that </a:t>
            </a:r>
          </a:p>
          <a:p>
            <a:pPr marL="457200" lvl="1" indent="0">
              <a:buNone/>
            </a:pPr>
            <a:r>
              <a:rPr lang="en-US" sz="1800" dirty="0">
                <a:latin typeface="Times New Roman" panose="02020603050405020304" pitchFamily="18" charset="0"/>
                <a:cs typeface="Times New Roman" panose="02020603050405020304" pitchFamily="18" charset="0"/>
              </a:rPr>
              <a:t>can be accessed by the arm endpoint.</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Shape and size of the workspace depends on arm configuration, structure, </a:t>
            </a:r>
            <a:r>
              <a:rPr lang="en-US" sz="1800" dirty="0" err="1">
                <a:latin typeface="Times New Roman" panose="02020603050405020304" pitchFamily="18" charset="0"/>
                <a:cs typeface="Times New Roman" panose="02020603050405020304" pitchFamily="18" charset="0"/>
              </a:rPr>
              <a:t>dof</a:t>
            </a:r>
            <a:r>
              <a:rPr lang="en-US" sz="1800" dirty="0">
                <a:latin typeface="Times New Roman" panose="02020603050405020304" pitchFamily="18" charset="0"/>
                <a:cs typeface="Times New Roman" panose="02020603050405020304" pitchFamily="18" charset="0"/>
              </a:rPr>
              <a:t>, </a:t>
            </a:r>
          </a:p>
          <a:p>
            <a:pPr marL="457200" lvl="1" indent="0">
              <a:buNone/>
            </a:pPr>
            <a:r>
              <a:rPr lang="en-US" sz="1800" dirty="0">
                <a:latin typeface="Times New Roman" panose="02020603050405020304" pitchFamily="18" charset="0"/>
                <a:cs typeface="Times New Roman" panose="02020603050405020304" pitchFamily="18" charset="0"/>
              </a:rPr>
              <a:t>Link size, design of joints.</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Volume of the space swept is called work volume</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Surface of the workspace describes the work envelope</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It is not preferred for many applications due to limited manipulability even </a:t>
            </a:r>
          </a:p>
          <a:p>
            <a:pPr marL="457200" lvl="1" indent="0">
              <a:buNone/>
            </a:pPr>
            <a:r>
              <a:rPr lang="en-US" sz="1800" dirty="0">
                <a:latin typeface="Times New Roman" panose="02020603050405020304" pitchFamily="18" charset="0"/>
                <a:cs typeface="Times New Roman" panose="02020603050405020304" pitchFamily="18" charset="0"/>
              </a:rPr>
              <a:t>though it has high precision and is easy to program. It gives large work volume but </a:t>
            </a:r>
          </a:p>
          <a:p>
            <a:pPr marL="457200" lvl="1" indent="0">
              <a:buNone/>
            </a:pPr>
            <a:r>
              <a:rPr lang="en-US" sz="1800" dirty="0">
                <a:latin typeface="Times New Roman" panose="02020603050405020304" pitchFamily="18" charset="0"/>
                <a:cs typeface="Times New Roman" panose="02020603050405020304" pitchFamily="18" charset="0"/>
              </a:rPr>
              <a:t>has a low dexterity.</a:t>
            </a: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72450" y="4057650"/>
            <a:ext cx="4019550" cy="2800350"/>
          </a:xfrm>
          <a:prstGeom prst="rect">
            <a:avLst/>
          </a:prstGeom>
        </p:spPr>
      </p:pic>
    </p:spTree>
    <p:extLst>
      <p:ext uri="{BB962C8B-B14F-4D97-AF65-F5344CB8AC3E}">
        <p14:creationId xmlns:p14="http://schemas.microsoft.com/office/powerpoint/2010/main" val="2201194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200" b="1" i="1" dirty="0">
                <a:latin typeface="Times New Roman" panose="02020603050405020304" pitchFamily="18" charset="0"/>
                <a:cs typeface="Times New Roman" panose="02020603050405020304" pitchFamily="18" charset="0"/>
              </a:rPr>
              <a:t>Cylindrical configuration RPP</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Workspace is hollow cylinder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Offers good mechanical stiffness and the wrist positioning accuracy </a:t>
            </a:r>
          </a:p>
          <a:p>
            <a:pPr marL="0" indent="0">
              <a:buNone/>
            </a:pPr>
            <a:r>
              <a:rPr lang="en-US" sz="2000" dirty="0">
                <a:latin typeface="Times New Roman" panose="02020603050405020304" pitchFamily="18" charset="0"/>
                <a:cs typeface="Times New Roman" panose="02020603050405020304" pitchFamily="18" charset="0"/>
              </a:rPr>
              <a:t>decreases as the horizontal stroke increases. </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is suitable to access narrow horizontal configurations and hence useful for</a:t>
            </a:r>
          </a:p>
          <a:p>
            <a:pPr marL="0" indent="0">
              <a:buNone/>
            </a:pPr>
            <a:r>
              <a:rPr lang="en-US" sz="2000" dirty="0">
                <a:latin typeface="Times New Roman" panose="02020603050405020304" pitchFamily="18" charset="0"/>
                <a:cs typeface="Times New Roman" panose="02020603050405020304" pitchFamily="18" charset="0"/>
              </a:rPr>
              <a:t> machine loading operations </a:t>
            </a:r>
          </a:p>
          <a:p>
            <a:pPr marL="0" indent="0">
              <a:buNone/>
            </a:pPr>
            <a:r>
              <a:rPr lang="en-US" sz="2200" b="1" i="1" dirty="0">
                <a:latin typeface="Times New Roman" panose="02020603050405020304" pitchFamily="18" charset="0"/>
                <a:cs typeface="Times New Roman" panose="02020603050405020304" pitchFamily="18" charset="0"/>
              </a:rPr>
              <a:t>Polar (spherical) configuration RRP</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Partial spherical shell space – work volume but PRR will not give spherical work volume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allows manipulation of objects on the floor because its shoulder joint allows it end effector to go below base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Mechanical stiffness is lower than Cartesian and cylindrical wrist positioning accuracy decreases with increasing radial stroke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Industrial applications: Machining, spray painting</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876025" y="0"/>
            <a:ext cx="3315975" cy="2379934"/>
          </a:xfrm>
          <a:prstGeom prst="rect">
            <a:avLst/>
          </a:prstGeom>
        </p:spPr>
      </p:pic>
      <p:pic>
        <p:nvPicPr>
          <p:cNvPr id="5" name="Picture 4"/>
          <p:cNvPicPr>
            <a:picLocks noChangeAspect="1"/>
          </p:cNvPicPr>
          <p:nvPr/>
        </p:nvPicPr>
        <p:blipFill>
          <a:blip r:embed="rId3"/>
          <a:stretch>
            <a:fillRect/>
          </a:stretch>
        </p:blipFill>
        <p:spPr>
          <a:xfrm>
            <a:off x="8273455" y="3959046"/>
            <a:ext cx="3886746" cy="2898954"/>
          </a:xfrm>
          <a:prstGeom prst="rect">
            <a:avLst/>
          </a:prstGeom>
        </p:spPr>
      </p:pic>
    </p:spTree>
    <p:extLst>
      <p:ext uri="{BB962C8B-B14F-4D97-AF65-F5344CB8AC3E}">
        <p14:creationId xmlns:p14="http://schemas.microsoft.com/office/powerpoint/2010/main" val="2552133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200" b="1" i="1" dirty="0">
                <a:latin typeface="Times New Roman" panose="02020603050405020304" pitchFamily="18" charset="0"/>
                <a:cs typeface="Times New Roman" panose="02020603050405020304" pitchFamily="18" charset="0"/>
              </a:rPr>
              <a:t>Articulated (revolute or jointed arm) configuration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Articulated arm is the type that best simulates a human arm and a manipulator </a:t>
            </a:r>
          </a:p>
          <a:p>
            <a:pPr marL="0" indent="0">
              <a:buNone/>
            </a:pPr>
            <a:r>
              <a:rPr lang="en-US" sz="2000" dirty="0">
                <a:latin typeface="Times New Roman" panose="02020603050405020304" pitchFamily="18" charset="0"/>
                <a:cs typeface="Times New Roman" panose="02020603050405020304" pitchFamily="18" charset="0"/>
              </a:rPr>
              <a:t>with this type of an arm is often referred to as anthropomorphic manipulator</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Work volume is spherical shaped, arm endpoint can reach the base point </a:t>
            </a:r>
          </a:p>
          <a:p>
            <a:pPr marL="0" indent="0">
              <a:buNone/>
            </a:pPr>
            <a:r>
              <a:rPr lang="en-US" sz="2000" dirty="0">
                <a:latin typeface="Times New Roman" panose="02020603050405020304" pitchFamily="18" charset="0"/>
                <a:cs typeface="Times New Roman" panose="02020603050405020304" pitchFamily="18" charset="0"/>
              </a:rPr>
              <a:t>and below the base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Most dexterous one because all the joints are revolute, range of </a:t>
            </a:r>
          </a:p>
          <a:p>
            <a:pPr marL="0" indent="0">
              <a:buNone/>
            </a:pPr>
            <a:r>
              <a:rPr lang="en-US" sz="2000" dirty="0">
                <a:latin typeface="Times New Roman" panose="02020603050405020304" pitchFamily="18" charset="0"/>
                <a:cs typeface="Times New Roman" panose="02020603050405020304" pitchFamily="18" charset="0"/>
              </a:rPr>
              <a:t>industrial applications of this arm is wide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200" b="1" i="1" dirty="0">
                <a:latin typeface="Times New Roman" panose="02020603050405020304" pitchFamily="18" charset="0"/>
                <a:cs typeface="Times New Roman" panose="02020603050405020304" pitchFamily="18" charset="0"/>
              </a:rPr>
              <a:t>Other configurations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Characteristics of articulated and cylindrical configurations combined to form SCARA</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has vertical major axis rotations such that gravitational load, </a:t>
            </a:r>
            <a:r>
              <a:rPr lang="en-US" sz="2000" dirty="0" err="1">
                <a:latin typeface="Times New Roman" panose="02020603050405020304" pitchFamily="18" charset="0"/>
                <a:cs typeface="Times New Roman" panose="02020603050405020304" pitchFamily="18" charset="0"/>
              </a:rPr>
              <a:t>coriolis</a:t>
            </a:r>
            <a:r>
              <a:rPr lang="en-US" sz="2000" dirty="0">
                <a:latin typeface="Times New Roman" panose="02020603050405020304" pitchFamily="18" charset="0"/>
                <a:cs typeface="Times New Roman" panose="02020603050405020304" pitchFamily="18" charset="0"/>
              </a:rPr>
              <a:t> and </a:t>
            </a:r>
          </a:p>
          <a:p>
            <a:pPr marL="0" indent="0">
              <a:buNone/>
            </a:pPr>
            <a:r>
              <a:rPr lang="en-US" sz="2000" dirty="0">
                <a:latin typeface="Times New Roman" panose="02020603050405020304" pitchFamily="18" charset="0"/>
                <a:cs typeface="Times New Roman" panose="02020603050405020304" pitchFamily="18" charset="0"/>
              </a:rPr>
              <a:t>centrifugal forces do not stress the structure as much as they would if the axes </a:t>
            </a:r>
          </a:p>
          <a:p>
            <a:pPr marL="0" indent="0">
              <a:buNone/>
            </a:pPr>
            <a:r>
              <a:rPr lang="en-US" sz="2000" dirty="0">
                <a:latin typeface="Times New Roman" panose="02020603050405020304" pitchFamily="18" charset="0"/>
                <a:cs typeface="Times New Roman" panose="02020603050405020304" pitchFamily="18" charset="0"/>
              </a:rPr>
              <a:t>were horizontal.</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advantage is very important at high speeds and high precision, this </a:t>
            </a:r>
          </a:p>
          <a:p>
            <a:pPr marL="0" indent="0">
              <a:buNone/>
            </a:pPr>
            <a:r>
              <a:rPr lang="en-US" sz="2000" dirty="0">
                <a:latin typeface="Times New Roman" panose="02020603050405020304" pitchFamily="18" charset="0"/>
                <a:cs typeface="Times New Roman" panose="02020603050405020304" pitchFamily="18" charset="0"/>
              </a:rPr>
              <a:t>configuration provides high stiffness to arm in vertical region and high </a:t>
            </a:r>
          </a:p>
          <a:p>
            <a:pPr marL="0" indent="0">
              <a:buNone/>
            </a:pPr>
            <a:r>
              <a:rPr lang="en-US" sz="2000" dirty="0">
                <a:latin typeface="Times New Roman" panose="02020603050405020304" pitchFamily="18" charset="0"/>
                <a:cs typeface="Times New Roman" panose="02020603050405020304" pitchFamily="18" charset="0"/>
              </a:rPr>
              <a:t>compliance in horizontal plane</a:t>
            </a:r>
          </a:p>
        </p:txBody>
      </p:sp>
      <p:pic>
        <p:nvPicPr>
          <p:cNvPr id="4" name="Picture 3"/>
          <p:cNvPicPr>
            <a:picLocks noChangeAspect="1"/>
          </p:cNvPicPr>
          <p:nvPr/>
        </p:nvPicPr>
        <p:blipFill>
          <a:blip r:embed="rId2"/>
          <a:stretch>
            <a:fillRect/>
          </a:stretch>
        </p:blipFill>
        <p:spPr>
          <a:xfrm>
            <a:off x="8428226" y="1"/>
            <a:ext cx="3763774" cy="2820472"/>
          </a:xfrm>
          <a:prstGeom prst="rect">
            <a:avLst/>
          </a:prstGeom>
        </p:spPr>
      </p:pic>
      <p:pic>
        <p:nvPicPr>
          <p:cNvPr id="6" name="Picture 5"/>
          <p:cNvPicPr>
            <a:picLocks noChangeAspect="1"/>
          </p:cNvPicPr>
          <p:nvPr/>
        </p:nvPicPr>
        <p:blipFill>
          <a:blip r:embed="rId3"/>
          <a:stretch>
            <a:fillRect/>
          </a:stretch>
        </p:blipFill>
        <p:spPr>
          <a:xfrm>
            <a:off x="8410575" y="3962400"/>
            <a:ext cx="3781425" cy="2895600"/>
          </a:xfrm>
          <a:prstGeom prst="rect">
            <a:avLst/>
          </a:prstGeom>
        </p:spPr>
      </p:pic>
    </p:spTree>
    <p:extLst>
      <p:ext uri="{BB962C8B-B14F-4D97-AF65-F5344CB8AC3E}">
        <p14:creationId xmlns:p14="http://schemas.microsoft.com/office/powerpoint/2010/main" val="2552383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6. Wrist configuration</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Arm configurations carry and position the wrist, which is the second part of manipulator that is attached to the endpoint of the arm.</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Wrist – to orientate the end effector to perform the task properly.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requires only rotary joints because its sole purpose is to orientate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dof</a:t>
            </a:r>
            <a:r>
              <a:rPr lang="en-US" sz="2000" dirty="0">
                <a:latin typeface="Times New Roman" panose="02020603050405020304" pitchFamily="18" charset="0"/>
                <a:cs typeface="Times New Roman" panose="02020603050405020304" pitchFamily="18" charset="0"/>
              </a:rPr>
              <a:t> wrist permitting rotation about 3 perpendicular axes provides for </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Roll (motion in a plane perpendicular to end of the arm)</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Pitch (motion in vertical plane passing through the arm)</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Yaw (motion in a horizontal plane that also passes through the arm)  </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type of wrist is called RPY wrist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wrist with highest dexterity is one where 3 rotary joint axes intersect at a point</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https://www.youtube.com/watch?v=EjvdpkX9fD8</a:t>
            </a:r>
          </a:p>
        </p:txBody>
      </p:sp>
      <p:pic>
        <p:nvPicPr>
          <p:cNvPr id="4" name="Picture 3"/>
          <p:cNvPicPr>
            <a:picLocks noChangeAspect="1"/>
          </p:cNvPicPr>
          <p:nvPr/>
        </p:nvPicPr>
        <p:blipFill>
          <a:blip r:embed="rId2"/>
          <a:stretch>
            <a:fillRect/>
          </a:stretch>
        </p:blipFill>
        <p:spPr>
          <a:xfrm>
            <a:off x="6062731" y="4182727"/>
            <a:ext cx="5373709" cy="2675273"/>
          </a:xfrm>
          <a:prstGeom prst="rect">
            <a:avLst/>
          </a:prstGeom>
        </p:spPr>
      </p:pic>
    </p:spTree>
    <p:extLst>
      <p:ext uri="{BB962C8B-B14F-4D97-AF65-F5344CB8AC3E}">
        <p14:creationId xmlns:p14="http://schemas.microsoft.com/office/powerpoint/2010/main" val="4011298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4351338"/>
          </a:xfrm>
        </p:spPr>
        <p:txBody>
          <a:bodyPr>
            <a:normAutofit fontScale="92500" lnSpcReduction="10000"/>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7. End effector</a:t>
            </a:r>
          </a:p>
          <a:p>
            <a:pPr>
              <a:buFont typeface="Wingdings" panose="05000000000000000000" pitchFamily="2" charset="2"/>
              <a:buChar char="v"/>
            </a:pPr>
            <a:r>
              <a:rPr lang="en-US" sz="2200" dirty="0">
                <a:solidFill>
                  <a:srgbClr val="7030A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it is external to the manipulator</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According to the task to be executed, different end effectors can be attached to the end of the wrist</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Grippers</a:t>
            </a:r>
          </a:p>
          <a:p>
            <a:pPr lvl="1">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Tools</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Grippers are to grasp or hold the </a:t>
            </a:r>
            <a:r>
              <a:rPr lang="en-US" sz="2200" dirty="0" err="1">
                <a:latin typeface="Times New Roman" panose="02020603050405020304" pitchFamily="18" charset="0"/>
                <a:cs typeface="Times New Roman" panose="02020603050405020304" pitchFamily="18" charset="0"/>
              </a:rPr>
              <a:t>workpiece</a:t>
            </a:r>
            <a:r>
              <a:rPr lang="en-US" sz="2200" dirty="0">
                <a:latin typeface="Times New Roman" panose="02020603050405020304" pitchFamily="18" charset="0"/>
                <a:cs typeface="Times New Roman" panose="02020603050405020304" pitchFamily="18" charset="0"/>
              </a:rPr>
              <a:t> during work cycle</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Applications: material handling, machine loading-unloading, palletizing, </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Employ mechanical grasping or other alternative ways such as magnetic, vacuum, bellows for holding objects</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For many tasks performed by manipulator, end effector is a tool. </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For ex, cutting tool, a drill, welding torch, spray gun or a screw driver is the end effector for machining, welding, painting or assembly task mounted at the wrist.</a:t>
            </a:r>
          </a:p>
          <a:p>
            <a:pP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Sometimes gripper maybe used to hold the tool instead of </a:t>
            </a:r>
            <a:r>
              <a:rPr lang="en-US" sz="2200" dirty="0" err="1">
                <a:latin typeface="Times New Roman" panose="02020603050405020304" pitchFamily="18" charset="0"/>
                <a:cs typeface="Times New Roman" panose="02020603050405020304" pitchFamily="18" charset="0"/>
              </a:rPr>
              <a:t>workpiece</a:t>
            </a: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614804" y="4351338"/>
            <a:ext cx="4563849" cy="2179749"/>
          </a:xfrm>
          <a:prstGeom prst="rect">
            <a:avLst/>
          </a:prstGeom>
        </p:spPr>
      </p:pic>
    </p:spTree>
    <p:extLst>
      <p:ext uri="{BB962C8B-B14F-4D97-AF65-F5344CB8AC3E}">
        <p14:creationId xmlns:p14="http://schemas.microsoft.com/office/powerpoint/2010/main" val="1545248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a:bodyPr>
          <a:lstStyle/>
          <a:p>
            <a:pPr marL="0" indent="0">
              <a:buNone/>
            </a:pPr>
            <a:r>
              <a:rPr lang="en-US" sz="2200" b="1" dirty="0">
                <a:solidFill>
                  <a:srgbClr val="7030A0"/>
                </a:solidFill>
                <a:latin typeface="Times New Roman" panose="02020603050405020304" pitchFamily="18" charset="0"/>
                <a:cs typeface="Times New Roman" panose="02020603050405020304" pitchFamily="18" charset="0"/>
              </a:rPr>
              <a:t>RPY Wrist </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Wrist – to orientate the end effector to perform the task properly.</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requires only rotary joints because its sole purpose is to orientate</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dof</a:t>
            </a:r>
            <a:r>
              <a:rPr lang="en-US" sz="2000" dirty="0">
                <a:latin typeface="Times New Roman" panose="02020603050405020304" pitchFamily="18" charset="0"/>
                <a:cs typeface="Times New Roman" panose="02020603050405020304" pitchFamily="18" charset="0"/>
              </a:rPr>
              <a:t> wrist permitting rotation about 3 perpendicular axes provides for </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Roll (motion in a plane perpendicular to end of the arm) – rotates the tool about its center axis</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Pitch (motion in vertical plane passing through the arm) – moves the tool vertically up and down</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Yaw (motion in a horizontal plane that also passes through the arm) – turns the tool left and right  </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This type of wrist is called RPY wrist</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hlinkClick r:id="rId2"/>
              </a:rPr>
              <a:t>https://www.youtube.com/watch?v=FORcPhBaa50</a:t>
            </a:r>
            <a:r>
              <a:rPr lang="en-US" sz="2000" dirty="0">
                <a:latin typeface="Times New Roman" panose="02020603050405020304" pitchFamily="18" charset="0"/>
                <a:cs typeface="Times New Roman" panose="02020603050405020304" pitchFamily="18" charset="0"/>
              </a:rPr>
              <a:t> (from 1.09min)</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hlinkClick r:id="rId3"/>
              </a:rPr>
              <a:t>https://www.youtube.com/watch?v=EjvdpkX9fD8</a:t>
            </a:r>
            <a:r>
              <a:rPr lang="en-US" sz="2000" dirty="0">
                <a:latin typeface="Times New Roman" panose="02020603050405020304" pitchFamily="18" charset="0"/>
                <a:cs typeface="Times New Roman" panose="02020603050405020304" pitchFamily="18" charset="0"/>
              </a:rPr>
              <a:t> (from 1.42min)</a:t>
            </a:r>
          </a:p>
          <a:p>
            <a:pP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4"/>
          <a:stretch>
            <a:fillRect/>
          </a:stretch>
        </p:blipFill>
        <p:spPr>
          <a:xfrm>
            <a:off x="8578938" y="0"/>
            <a:ext cx="3326925" cy="1510249"/>
          </a:xfrm>
          <a:prstGeom prst="rect">
            <a:avLst/>
          </a:prstGeom>
        </p:spPr>
      </p:pic>
      <p:pic>
        <p:nvPicPr>
          <p:cNvPr id="7" name="Picture 6"/>
          <p:cNvPicPr>
            <a:picLocks noChangeAspect="1"/>
          </p:cNvPicPr>
          <p:nvPr/>
        </p:nvPicPr>
        <p:blipFill>
          <a:blip r:embed="rId5"/>
          <a:stretch>
            <a:fillRect/>
          </a:stretch>
        </p:blipFill>
        <p:spPr>
          <a:xfrm>
            <a:off x="7497102" y="2871989"/>
            <a:ext cx="4694897" cy="3997066"/>
          </a:xfrm>
          <a:prstGeom prst="rect">
            <a:avLst/>
          </a:prstGeom>
        </p:spPr>
      </p:pic>
    </p:spTree>
    <p:extLst>
      <p:ext uri="{BB962C8B-B14F-4D97-AF65-F5344CB8AC3E}">
        <p14:creationId xmlns:p14="http://schemas.microsoft.com/office/powerpoint/2010/main" val="1589679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1"/>
            <a:ext cx="5207683" cy="3541691"/>
          </a:xfrm>
          <a:prstGeom prst="rect">
            <a:avLst/>
          </a:prstGeom>
        </p:spPr>
      </p:pic>
      <p:pic>
        <p:nvPicPr>
          <p:cNvPr id="8" name="Picture 7"/>
          <p:cNvPicPr>
            <a:picLocks noChangeAspect="1"/>
          </p:cNvPicPr>
          <p:nvPr/>
        </p:nvPicPr>
        <p:blipFill>
          <a:blip r:embed="rId3"/>
          <a:stretch>
            <a:fillRect/>
          </a:stretch>
        </p:blipFill>
        <p:spPr>
          <a:xfrm>
            <a:off x="7276565" y="-55473"/>
            <a:ext cx="4902558" cy="6858000"/>
          </a:xfrm>
          <a:prstGeom prst="rect">
            <a:avLst/>
          </a:prstGeom>
        </p:spPr>
      </p:pic>
      <p:pic>
        <p:nvPicPr>
          <p:cNvPr id="2" name="Picture 1"/>
          <p:cNvPicPr>
            <a:picLocks noChangeAspect="1"/>
          </p:cNvPicPr>
          <p:nvPr/>
        </p:nvPicPr>
        <p:blipFill>
          <a:blip r:embed="rId4"/>
          <a:stretch>
            <a:fillRect/>
          </a:stretch>
        </p:blipFill>
        <p:spPr>
          <a:xfrm>
            <a:off x="0" y="3541690"/>
            <a:ext cx="2907785" cy="2041301"/>
          </a:xfrm>
          <a:prstGeom prst="rect">
            <a:avLst/>
          </a:prstGeom>
        </p:spPr>
      </p:pic>
      <p:pic>
        <p:nvPicPr>
          <p:cNvPr id="3" name="Picture 2"/>
          <p:cNvPicPr>
            <a:picLocks noChangeAspect="1"/>
          </p:cNvPicPr>
          <p:nvPr/>
        </p:nvPicPr>
        <p:blipFill>
          <a:blip r:embed="rId5"/>
          <a:stretch>
            <a:fillRect/>
          </a:stretch>
        </p:blipFill>
        <p:spPr>
          <a:xfrm>
            <a:off x="3220152" y="3664039"/>
            <a:ext cx="3021972" cy="1918952"/>
          </a:xfrm>
          <a:prstGeom prst="rect">
            <a:avLst/>
          </a:prstGeom>
        </p:spPr>
      </p:pic>
      <p:pic>
        <p:nvPicPr>
          <p:cNvPr id="4" name="Picture 3"/>
          <p:cNvPicPr>
            <a:picLocks noChangeAspect="1"/>
          </p:cNvPicPr>
          <p:nvPr/>
        </p:nvPicPr>
        <p:blipFill>
          <a:blip r:embed="rId6"/>
          <a:stretch>
            <a:fillRect/>
          </a:stretch>
        </p:blipFill>
        <p:spPr>
          <a:xfrm>
            <a:off x="3686055" y="598805"/>
            <a:ext cx="2581827" cy="2774722"/>
          </a:xfrm>
          <a:prstGeom prst="rect">
            <a:avLst/>
          </a:prstGeom>
        </p:spPr>
      </p:pic>
    </p:spTree>
    <p:extLst>
      <p:ext uri="{BB962C8B-B14F-4D97-AF65-F5344CB8AC3E}">
        <p14:creationId xmlns:p14="http://schemas.microsoft.com/office/powerpoint/2010/main" val="3148656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746</TotalTime>
  <Words>3195</Words>
  <Application>Microsoft Office PowerPoint</Application>
  <PresentationFormat>Widescreen</PresentationFormat>
  <Paragraphs>223</Paragraphs>
  <Slides>33</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Robot Components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Vimala A</dc:creator>
  <cp:lastModifiedBy>Vimala A</cp:lastModifiedBy>
  <cp:revision>6</cp:revision>
  <dcterms:created xsi:type="dcterms:W3CDTF">2025-08-09T06:56:38Z</dcterms:created>
  <dcterms:modified xsi:type="dcterms:W3CDTF">2025-08-18T06:00:01Z</dcterms:modified>
</cp:coreProperties>
</file>