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05" r:id="rId2"/>
    <p:sldMasterId id="2147483693" r:id="rId3"/>
    <p:sldMasterId id="2147483666" r:id="rId4"/>
  </p:sldMasterIdLst>
  <p:notesMasterIdLst>
    <p:notesMasterId r:id="rId35"/>
  </p:notesMasterIdLst>
  <p:handoutMasterIdLst>
    <p:handoutMasterId r:id="rId36"/>
  </p:handoutMasterIdLst>
  <p:sldIdLst>
    <p:sldId id="592" r:id="rId5"/>
    <p:sldId id="492" r:id="rId6"/>
    <p:sldId id="657" r:id="rId7"/>
    <p:sldId id="658" r:id="rId8"/>
    <p:sldId id="660" r:id="rId9"/>
    <p:sldId id="661" r:id="rId10"/>
    <p:sldId id="659" r:id="rId11"/>
    <p:sldId id="663" r:id="rId12"/>
    <p:sldId id="662" r:id="rId13"/>
    <p:sldId id="652" r:id="rId14"/>
    <p:sldId id="653" r:id="rId15"/>
    <p:sldId id="654" r:id="rId16"/>
    <p:sldId id="655" r:id="rId17"/>
    <p:sldId id="675" r:id="rId18"/>
    <p:sldId id="669" r:id="rId19"/>
    <p:sldId id="665" r:id="rId20"/>
    <p:sldId id="670" r:id="rId21"/>
    <p:sldId id="671" r:id="rId22"/>
    <p:sldId id="672" r:id="rId23"/>
    <p:sldId id="677" r:id="rId24"/>
    <p:sldId id="673" r:id="rId25"/>
    <p:sldId id="676" r:id="rId26"/>
    <p:sldId id="664" r:id="rId27"/>
    <p:sldId id="666" r:id="rId28"/>
    <p:sldId id="667" r:id="rId29"/>
    <p:sldId id="668" r:id="rId30"/>
    <p:sldId id="678" r:id="rId31"/>
    <p:sldId id="679" r:id="rId32"/>
    <p:sldId id="591" r:id="rId33"/>
    <p:sldId id="680" r:id="rId3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8FD28C-636E-4AE2-9BD0-48FA2483C40B}">
          <p14:sldIdLst>
            <p14:sldId id="592"/>
            <p14:sldId id="492"/>
            <p14:sldId id="657"/>
            <p14:sldId id="658"/>
            <p14:sldId id="660"/>
            <p14:sldId id="661"/>
            <p14:sldId id="659"/>
            <p14:sldId id="663"/>
            <p14:sldId id="662"/>
            <p14:sldId id="652"/>
            <p14:sldId id="653"/>
            <p14:sldId id="654"/>
            <p14:sldId id="655"/>
            <p14:sldId id="675"/>
            <p14:sldId id="669"/>
            <p14:sldId id="665"/>
            <p14:sldId id="670"/>
            <p14:sldId id="671"/>
            <p14:sldId id="672"/>
            <p14:sldId id="677"/>
            <p14:sldId id="673"/>
            <p14:sldId id="676"/>
            <p14:sldId id="664"/>
            <p14:sldId id="666"/>
            <p14:sldId id="667"/>
            <p14:sldId id="668"/>
            <p14:sldId id="678"/>
            <p14:sldId id="679"/>
            <p14:sldId id="591"/>
            <p14:sldId id="6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A8D065F3-F8D4-4E66-8C50-604B34C8F48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C90C1E0-50B4-481F-AB6B-1A73C9D01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525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F650C1EA-B98B-4012-86EF-1EF1FB8420D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5AEF4486-5F71-4F6F-9336-2B9B7370C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1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6171028" y="6625886"/>
            <a:ext cx="6020972" cy="205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entagon 17"/>
          <p:cNvSpPr/>
          <p:nvPr userDrawn="1"/>
        </p:nvSpPr>
        <p:spPr>
          <a:xfrm>
            <a:off x="0" y="6427078"/>
            <a:ext cx="6879098" cy="404794"/>
          </a:xfrm>
          <a:prstGeom prst="homePlate">
            <a:avLst>
              <a:gd name="adj" fmla="val 50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/>
          <p:cNvSpPr/>
          <p:nvPr userDrawn="1"/>
        </p:nvSpPr>
        <p:spPr>
          <a:xfrm>
            <a:off x="0" y="6483350"/>
            <a:ext cx="6850966" cy="404794"/>
          </a:xfrm>
          <a:prstGeom prst="homePlate">
            <a:avLst>
              <a:gd name="adj" fmla="val 5063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171028" y="6682154"/>
            <a:ext cx="6020972" cy="20599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75" y="6477219"/>
            <a:ext cx="5393798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j-lt"/>
                <a:cs typeface="Microsoft Uighur" panose="02000000000000000000" pitchFamily="2" charset="-78"/>
              </a:defRPr>
            </a:lvl1pPr>
          </a:lstStyle>
          <a:p>
            <a:r>
              <a:rPr lang="en-US" dirty="0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3745" y="6682154"/>
            <a:ext cx="1028700" cy="1803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AFB949-428C-4290-8A69-E88B5757503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7" y="6507732"/>
            <a:ext cx="300930" cy="30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8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9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4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5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6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5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3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32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4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2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77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5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54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91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30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46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27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4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41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143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61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280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327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461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9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516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532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967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7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69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608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040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94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47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114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733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4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038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2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700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03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07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17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4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022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542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78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868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979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622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479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9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515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948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96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171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823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63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9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984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3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2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3" r:id="rId12"/>
    <p:sldLayoutId id="2147483682" r:id="rId13"/>
    <p:sldLayoutId id="2147483681" r:id="rId14"/>
    <p:sldLayoutId id="2147483680" r:id="rId15"/>
    <p:sldLayoutId id="2147483679" r:id="rId16"/>
    <p:sldLayoutId id="2147483678" r:id="rId17"/>
    <p:sldLayoutId id="2147483665" r:id="rId18"/>
    <p:sldLayoutId id="2147483664" r:id="rId19"/>
    <p:sldLayoutId id="2147483663" r:id="rId20"/>
    <p:sldLayoutId id="2147483662" r:id="rId21"/>
    <p:sldLayoutId id="2147483661" r:id="rId22"/>
    <p:sldLayoutId id="2147483660" r:id="rId23"/>
    <p:sldLayoutId id="2147483651" r:id="rId24"/>
    <p:sldLayoutId id="2147483652" r:id="rId25"/>
    <p:sldLayoutId id="2147483653" r:id="rId26"/>
    <p:sldLayoutId id="2147483654" r:id="rId27"/>
    <p:sldLayoutId id="2147483655" r:id="rId28"/>
    <p:sldLayoutId id="2147483656" r:id="rId29"/>
    <p:sldLayoutId id="2147483657" r:id="rId30"/>
    <p:sldLayoutId id="2147483658" r:id="rId31"/>
    <p:sldLayoutId id="2147483659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3194-2100-4698-898C-4EA38224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7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of Computer Science &amp; Engineering, IIT Guwahati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D9CE7-0295-4B44-9AAA-35D5313A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6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IIT Guwahati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136E8-7CBA-4D1B-B292-0F14862D2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2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319627" y="1956083"/>
            <a:ext cx="11734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391667" y="381299"/>
            <a:ext cx="11569700" cy="12840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The Role of AI/ML in Cybersecurity</a:t>
            </a:r>
            <a:endParaRPr lang="en-US" sz="4000" b="1" dirty="0">
              <a:cs typeface="Microsoft Uighur" panose="020000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24" y="2126746"/>
            <a:ext cx="2166258" cy="21575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8836" y="4486390"/>
            <a:ext cx="6096000" cy="20415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3820"/>
              </a:lnSpc>
              <a:spcBef>
                <a:spcPts val="100"/>
              </a:spcBef>
            </a:pPr>
            <a:r>
              <a:rPr lang="en-US" b="1" dirty="0"/>
              <a:t>Dr. Bhale Pradeepkumar, Assistant Professor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Department of Computer Science &amp; Engineering, IIITDM Kancheepuram</a:t>
            </a:r>
            <a:br>
              <a:rPr lang="en-US" dirty="0"/>
            </a:br>
            <a:r>
              <a:rPr lang="en-US" dirty="0"/>
              <a:t>pradeepkumar@iiitdm.ac.in</a:t>
            </a:r>
            <a:endParaRPr lang="en-US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3868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154" y="362647"/>
            <a:ext cx="3019097" cy="103735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6902" y="1486858"/>
            <a:ext cx="7733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Cyber security Research &amp; Core Capability @IIT Guwahati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2371" y="2079673"/>
            <a:ext cx="563081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2400" dirty="0"/>
              <a:t>Statistics, Machine Learning &amp; AI </a:t>
            </a:r>
          </a:p>
          <a:p>
            <a:r>
              <a:rPr lang="en-US" sz="2000" dirty="0"/>
              <a:t>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Defining the concepts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     Third Wave of AI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     Need for Explainable AI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16902" y="3510833"/>
            <a:ext cx="20207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6902" y="4004518"/>
            <a:ext cx="3528210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Research Methodology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Use Cases</a:t>
            </a: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116902" y="4820125"/>
            <a:ext cx="3025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/>
              <a:t>IoT security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6902" y="5281790"/>
            <a:ext cx="3928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/>
              <a:t>Cyber Security Application</a:t>
            </a:r>
          </a:p>
        </p:txBody>
      </p:sp>
    </p:spTree>
    <p:extLst>
      <p:ext uri="{BB962C8B-B14F-4D97-AF65-F5344CB8AC3E}">
        <p14:creationId xmlns:p14="http://schemas.microsoft.com/office/powerpoint/2010/main" val="143733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270325" y="5819208"/>
            <a:ext cx="5125703" cy="4390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9" y="342160"/>
            <a:ext cx="6347909" cy="818215"/>
          </a:xfrm>
        </p:spPr>
        <p:txBody>
          <a:bodyPr>
            <a:normAutofit/>
          </a:bodyPr>
          <a:lstStyle/>
          <a:p>
            <a:r>
              <a:rPr lang="en-US" sz="4000" dirty="0"/>
              <a:t>ML and AI – What Is It?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23186" y="1261889"/>
            <a:ext cx="780303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Machine Learning </a:t>
            </a:r>
            <a:r>
              <a:rPr lang="en-US" sz="2600" dirty="0"/>
              <a:t>– Algorithmic ways to “describe”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7159" y="1743578"/>
            <a:ext cx="99042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Supervised</a:t>
            </a:r>
            <a:r>
              <a:rPr lang="en-US" sz="2400" dirty="0"/>
              <a:t> - learning from training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Unsupervised</a:t>
            </a:r>
            <a:r>
              <a:rPr lang="en-US" sz="2400" dirty="0"/>
              <a:t> - optimization problem to solve (clustering, dim reduction)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3186" y="2467894"/>
            <a:ext cx="757284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Deep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Learning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/>
              <a:t>– a ‘</a:t>
            </a:r>
            <a:r>
              <a:rPr lang="en-US" sz="2600" dirty="0">
                <a:solidFill>
                  <a:srgbClr val="FF0000"/>
                </a:solidFill>
              </a:rPr>
              <a:t>newer</a:t>
            </a:r>
            <a:r>
              <a:rPr lang="en-US" sz="2600" dirty="0"/>
              <a:t>’ machine learning algorithm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161" y="2913516"/>
            <a:ext cx="69150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Eliminates the feature engineering 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Verifiability / explainability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505" y="3690576"/>
            <a:ext cx="112139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Mining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/>
              <a:t>– Methods to explore data – automatically and interactively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505" y="4228530"/>
            <a:ext cx="1071551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Artificial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Intelligence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/>
              <a:t>– “</a:t>
            </a:r>
            <a:r>
              <a:rPr lang="en-US" sz="2600" dirty="0">
                <a:solidFill>
                  <a:srgbClr val="FF0000"/>
                </a:solidFill>
              </a:rPr>
              <a:t>Just calling something AI doesn’t make it AI.</a:t>
            </a:r>
            <a:r>
              <a:rPr lang="en-US" sz="2600" dirty="0"/>
              <a:t>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505" y="4874697"/>
            <a:ext cx="102843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“A program that doesn't simply classify or compute model parameters, but comes up with </a:t>
            </a:r>
            <a:r>
              <a:rPr lang="en-US" sz="2400" dirty="0">
                <a:solidFill>
                  <a:srgbClr val="FF0000"/>
                </a:solidFill>
              </a:rPr>
              <a:t>novel knowledge </a:t>
            </a:r>
            <a:r>
              <a:rPr lang="en-US" sz="2400" dirty="0"/>
              <a:t>that a security analyst finds insightful.”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8493" y="5837224"/>
            <a:ext cx="46903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We don’t have artificial intelligence (yet)</a:t>
            </a:r>
          </a:p>
        </p:txBody>
      </p:sp>
    </p:spTree>
    <p:extLst>
      <p:ext uri="{BB962C8B-B14F-4D97-AF65-F5344CB8AC3E}">
        <p14:creationId xmlns:p14="http://schemas.microsoft.com/office/powerpoint/2010/main" val="416444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967" y="620373"/>
            <a:ext cx="4459014" cy="717441"/>
          </a:xfrm>
        </p:spPr>
        <p:txBody>
          <a:bodyPr/>
          <a:lstStyle/>
          <a:p>
            <a:r>
              <a:rPr lang="en-US" dirty="0"/>
              <a:t>Third Wave of AI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52" y="1839310"/>
            <a:ext cx="11015046" cy="413641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2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693" y="506146"/>
            <a:ext cx="6307681" cy="781115"/>
          </a:xfrm>
        </p:spPr>
        <p:txBody>
          <a:bodyPr/>
          <a:lstStyle/>
          <a:p>
            <a:r>
              <a:rPr lang="en-US" dirty="0"/>
              <a:t>Need for Explainable AI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48" y="1384924"/>
            <a:ext cx="10748679" cy="3689006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4401" y="5269255"/>
            <a:ext cx="10156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Explainable AI and ML </a:t>
            </a:r>
            <a:r>
              <a:rPr lang="en-US" sz="2400" dirty="0"/>
              <a:t>is essential for future customers to understand, trust, and effectively manage the emerging generation of AI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32017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076" y="448610"/>
            <a:ext cx="10523483" cy="706930"/>
          </a:xfrm>
        </p:spPr>
        <p:txBody>
          <a:bodyPr/>
          <a:lstStyle/>
          <a:p>
            <a:r>
              <a:rPr lang="en-US" dirty="0"/>
              <a:t>Black-box AI creates business risk for Industry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02" y="1502979"/>
            <a:ext cx="10552581" cy="4831736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8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462" y="482012"/>
            <a:ext cx="5804338" cy="768719"/>
          </a:xfrm>
        </p:spPr>
        <p:txBody>
          <a:bodyPr/>
          <a:lstStyle/>
          <a:p>
            <a:r>
              <a:rPr lang="en-US" dirty="0"/>
              <a:t>What is Explainable AI?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96" y="1486215"/>
            <a:ext cx="10535834" cy="4648706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24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279" y="358245"/>
            <a:ext cx="11217166" cy="1325563"/>
          </a:xfrm>
        </p:spPr>
        <p:txBody>
          <a:bodyPr/>
          <a:lstStyle/>
          <a:p>
            <a:r>
              <a:rPr lang="en-US" dirty="0"/>
              <a:t>Why Explainability: Verify the ML Model / System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434" y="1547173"/>
            <a:ext cx="9764110" cy="459535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8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Explainability: Improve ML Model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839" y="2094414"/>
            <a:ext cx="7348321" cy="38137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1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655" y="862732"/>
            <a:ext cx="6561083" cy="381109"/>
          </a:xfrm>
        </p:spPr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53311" y="2156319"/>
            <a:ext cx="83373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Growth of Malware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400" dirty="0"/>
              <a:t>With over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12 million </a:t>
            </a:r>
            <a:r>
              <a:rPr lang="en-US" sz="2400" dirty="0"/>
              <a:t>new malicious threats created every month by hackers around the globe, we have exceeded the capacity of the threat research community to identify, research and write signatures for each threat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953967" y="4223282"/>
            <a:ext cx="83360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Growth of Devices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With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50B devices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being connected to public and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private networks by 2020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, the attack surface has increase exponentially</a:t>
            </a:r>
            <a:endParaRPr lang="en-US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072" y="2541112"/>
            <a:ext cx="1146969" cy="11469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991" y="4223282"/>
            <a:ext cx="1073478" cy="10734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33446" y="1520867"/>
            <a:ext cx="6599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Two Mega Trends Impacting Cyber Security</a:t>
            </a:r>
          </a:p>
        </p:txBody>
      </p:sp>
    </p:spTree>
    <p:extLst>
      <p:ext uri="{BB962C8B-B14F-4D97-AF65-F5344CB8AC3E}">
        <p14:creationId xmlns:p14="http://schemas.microsoft.com/office/powerpoint/2010/main" val="305256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Three Cyber Security Problems Ripe for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690688"/>
            <a:ext cx="1019057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Malware Detection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Leveraging the power of machine learning to detect and prevent zero-day and polymorphic malware across multiple threat vectors and platforms</a:t>
            </a:r>
          </a:p>
          <a:p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Stream Analysis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Leveraging the power of machine learning to identify anomalous activity in system logs and network activity</a:t>
            </a:r>
          </a:p>
          <a:p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Threat Intelligence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Leveraging the power of machine learning and Natural Language Processing (NLP) to prioritize alerts and provide automated threat research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2349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856890" cy="927647"/>
          </a:xfrm>
        </p:spPr>
        <p:txBody>
          <a:bodyPr/>
          <a:lstStyle/>
          <a:p>
            <a:r>
              <a:rPr lang="en-US" dirty="0"/>
              <a:t>Research Methodology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641" y="1575073"/>
            <a:ext cx="5414717" cy="449990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938" y="449208"/>
            <a:ext cx="3229303" cy="877077"/>
          </a:xfrm>
        </p:spPr>
        <p:txBody>
          <a:bodyPr/>
          <a:lstStyle/>
          <a:p>
            <a:r>
              <a:rPr lang="en-US" dirty="0"/>
              <a:t>Use Cases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030" y="1783705"/>
            <a:ext cx="9735207" cy="379465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28498" y="2701158"/>
            <a:ext cx="8282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Cyber security: Use case IoT Ecosystem </a:t>
            </a:r>
          </a:p>
        </p:txBody>
      </p:sp>
    </p:spTree>
    <p:extLst>
      <p:ext uri="{BB962C8B-B14F-4D97-AF65-F5344CB8AC3E}">
        <p14:creationId xmlns:p14="http://schemas.microsoft.com/office/powerpoint/2010/main" val="136843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8588"/>
            <a:ext cx="4878173" cy="938158"/>
          </a:xfrm>
        </p:spPr>
        <p:txBody>
          <a:bodyPr/>
          <a:lstStyle/>
          <a:p>
            <a:r>
              <a:rPr lang="en-US" dirty="0"/>
              <a:t>IoT security system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06" y="1983080"/>
            <a:ext cx="10382289" cy="25345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64847" y="4759248"/>
            <a:ext cx="70642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 : A big picture of the general learning based IoT security system.</a:t>
            </a:r>
          </a:p>
        </p:txBody>
      </p:sp>
    </p:spTree>
    <p:extLst>
      <p:ext uri="{BB962C8B-B14F-4D97-AF65-F5344CB8AC3E}">
        <p14:creationId xmlns:p14="http://schemas.microsoft.com/office/powerpoint/2010/main" val="106415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threat model in Internet of Things.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398"/>
            <a:ext cx="10515600" cy="389358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58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296" y="532450"/>
            <a:ext cx="7294180" cy="670272"/>
          </a:xfrm>
        </p:spPr>
        <p:txBody>
          <a:bodyPr>
            <a:normAutofit fontScale="90000"/>
          </a:bodyPr>
          <a:lstStyle/>
          <a:p>
            <a:r>
              <a:rPr lang="en-US" dirty="0"/>
              <a:t>ML-based IoT security methods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322" y="1355833"/>
            <a:ext cx="8456173" cy="480010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40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37" y="566998"/>
            <a:ext cx="8610600" cy="864585"/>
          </a:xfrm>
        </p:spPr>
        <p:txBody>
          <a:bodyPr>
            <a:normAutofit/>
          </a:bodyPr>
          <a:lstStyle/>
          <a:p>
            <a:r>
              <a:rPr lang="en-US" sz="4000" dirty="0"/>
              <a:t>ML-based authentication in IoT systems.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0476" y="2131712"/>
            <a:ext cx="5834381" cy="351193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0437" y="167143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Traditional authentication schemes are not always applicable to IoT devices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77462" y="250242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computation,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battery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013" y="3870548"/>
            <a:ext cx="52794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Deep learning techniques such as DNN can be applied for IoT devices with sufficient computation and memory resources to further improve the authentication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162869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7433441" cy="938158"/>
          </a:xfrm>
        </p:spPr>
        <p:txBody>
          <a:bodyPr/>
          <a:lstStyle/>
          <a:p>
            <a:r>
              <a:rPr lang="en-US" dirty="0"/>
              <a:t>ML-based offloading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4135" y="2476609"/>
            <a:ext cx="7341006" cy="347892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1945" y="1614074"/>
            <a:ext cx="66740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IoT offloading has to address  the  attacks launched from the PHY- or MAC- layer attacks.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1945" y="2756193"/>
            <a:ext cx="35840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jamming,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rogue edge devices,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rogue IoT devices,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eavesdropping,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man-in-the-middle attacks, and  smart  attacks . </a:t>
            </a:r>
          </a:p>
        </p:txBody>
      </p:sp>
    </p:spTree>
    <p:extLst>
      <p:ext uri="{BB962C8B-B14F-4D97-AF65-F5344CB8AC3E}">
        <p14:creationId xmlns:p14="http://schemas.microsoft.com/office/powerpoint/2010/main" val="1901423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756" y="461872"/>
            <a:ext cx="5152697" cy="955309"/>
          </a:xfrm>
        </p:spPr>
        <p:txBody>
          <a:bodyPr/>
          <a:lstStyle/>
          <a:p>
            <a:r>
              <a:rPr lang="en-US" dirty="0"/>
              <a:t>ML-based offloading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653" y="153270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Deep Q-network (DQN)</a:t>
            </a:r>
            <a:r>
              <a:rPr lang="en-US" dirty="0"/>
              <a:t>-based anti jamming transmission accelerates the learning speed for IoT devices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convolutional NN (CNN) </a:t>
            </a:r>
            <a:r>
              <a:rPr lang="en-US" dirty="0"/>
              <a:t>to compress the state space for large-scale networks with a large number of IoT devices and jamming policies in a dynamic IoT system and thus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increase the SINR of the received signals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output of the CNN </a:t>
            </a:r>
            <a:r>
              <a:rPr lang="en-US" dirty="0"/>
              <a:t>is used for estimating the values of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Q-function </a:t>
            </a:r>
            <a:r>
              <a:rPr lang="en-US" dirty="0"/>
              <a:t>for each anti jamming transmission policy. </a:t>
            </a:r>
          </a:p>
          <a:p>
            <a:r>
              <a:rPr lang="en-US" dirty="0"/>
              <a:t>This scheme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increases the SINR </a:t>
            </a:r>
            <a:r>
              <a:rPr lang="en-US" dirty="0"/>
              <a:t>of the received signals by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8.3%</a:t>
            </a:r>
            <a:r>
              <a:rPr lang="en-US" dirty="0"/>
              <a:t> and saves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66.7%</a:t>
            </a:r>
            <a:r>
              <a:rPr lang="en-US" dirty="0"/>
              <a:t> of the learning time compared with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Q-learning scheme in the offloading against jamming attacks.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55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ML-based malware detection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488" y="1825625"/>
            <a:ext cx="8765024" cy="435133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07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ML-based malware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devices can apply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supervised learning techniques </a:t>
            </a:r>
            <a:r>
              <a:rPr lang="en-US" dirty="0"/>
              <a:t>to evaluate the runtime behaviors of the apps in malware detection. </a:t>
            </a:r>
          </a:p>
          <a:p>
            <a:r>
              <a:rPr lang="en-US" dirty="0"/>
              <a:t>IoT device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uses K-NNs </a:t>
            </a:r>
            <a:r>
              <a:rPr lang="en-US" dirty="0"/>
              <a:t>and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random forest classifiers </a:t>
            </a:r>
            <a:r>
              <a:rPr lang="en-US" dirty="0"/>
              <a:t>to build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malware-detection model</a:t>
            </a:r>
            <a:r>
              <a:rPr lang="en-US" dirty="0"/>
              <a:t>. </a:t>
            </a:r>
          </a:p>
          <a:p>
            <a:r>
              <a:rPr lang="en-US" dirty="0"/>
              <a:t>IoT device filters the TCP packets and selects the features among various network features including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frame number and length</a:t>
            </a:r>
            <a:r>
              <a:rPr lang="en-US" dirty="0"/>
              <a:t>,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labels them, and stores these features</a:t>
            </a:r>
            <a:r>
              <a:rPr lang="en-US" dirty="0"/>
              <a:t> in the database.</a:t>
            </a:r>
          </a:p>
          <a:p>
            <a:r>
              <a:rPr lang="en-US" dirty="0"/>
              <a:t>True positive rates of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K-NN-based malware detection and random forest-based scheme</a:t>
            </a:r>
            <a:r>
              <a:rPr lang="en-US" dirty="0"/>
              <a:t> with the MalGenome data set are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99.7% </a:t>
            </a:r>
            <a:r>
              <a:rPr lang="en-US" dirty="0"/>
              <a:t>and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9 9.9%</a:t>
            </a:r>
            <a:r>
              <a:rPr lang="en-US" dirty="0"/>
              <a:t>, respectively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820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00853" y="2648608"/>
            <a:ext cx="6758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Cyber Security Application</a:t>
            </a:r>
          </a:p>
        </p:txBody>
      </p:sp>
    </p:spTree>
    <p:extLst>
      <p:ext uri="{BB962C8B-B14F-4D97-AF65-F5344CB8AC3E}">
        <p14:creationId xmlns:p14="http://schemas.microsoft.com/office/powerpoint/2010/main" val="305327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285" y="591537"/>
            <a:ext cx="6046076" cy="601827"/>
          </a:xfrm>
        </p:spPr>
        <p:txBody>
          <a:bodyPr>
            <a:normAutofit fontScale="90000"/>
          </a:bodyPr>
          <a:lstStyle/>
          <a:p>
            <a:r>
              <a:rPr lang="en-US" dirty="0"/>
              <a:t>Ransomware Detection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624" y="1136624"/>
            <a:ext cx="3821381" cy="215051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086" y="1520351"/>
            <a:ext cx="3341579" cy="1697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876" y="3339287"/>
            <a:ext cx="5354179" cy="25123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8805" y="1611716"/>
            <a:ext cx="39334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ransomware attack can encrypt critical data, causing huge damages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538" y="4023011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Ransomware life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Software similarity and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Propagation 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Intelligent detection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0326" y="3495769"/>
            <a:ext cx="3510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Research Objective: </a:t>
            </a:r>
          </a:p>
        </p:txBody>
      </p:sp>
    </p:spTree>
    <p:extLst>
      <p:ext uri="{BB962C8B-B14F-4D97-AF65-F5344CB8AC3E}">
        <p14:creationId xmlns:p14="http://schemas.microsoft.com/office/powerpoint/2010/main" val="187079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Insider Attack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4094"/>
            <a:ext cx="5772807" cy="3145768"/>
          </a:xfrm>
        </p:spPr>
        <p:txBody>
          <a:bodyPr>
            <a:noAutofit/>
          </a:bodyPr>
          <a:lstStyle/>
          <a:p>
            <a:r>
              <a:rPr lang="en-US" sz="2400" dirty="0"/>
              <a:t>Insider attacks are highlighted as “the most damaging risk”</a:t>
            </a:r>
          </a:p>
          <a:p>
            <a:r>
              <a:rPr lang="en-US" sz="2400" dirty="0"/>
              <a:t>We design a novel fine-grained anomaly behaviour identification system to predict cyber insider attacks</a:t>
            </a:r>
          </a:p>
          <a:p>
            <a:r>
              <a:rPr lang="en-US" sz="2400" dirty="0"/>
              <a:t>It can analyse big behaviour data, making real-time decision, and learning varying behaviour features,</a:t>
            </a:r>
          </a:p>
          <a:p>
            <a:r>
              <a:rPr lang="en-US" sz="2400" dirty="0"/>
              <a:t>It can provide maximised protection to large-scale private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864" y="2071676"/>
            <a:ext cx="4431936" cy="322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80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Internet Traffic for Security Applications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9988" y="1841146"/>
            <a:ext cx="4886592" cy="354931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2890" y="1952748"/>
            <a:ext cx="51934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Develop a set of novel techniques for Internet traffic classification, which is important to defend against the serious cyber-attacks and effectively minimize the damage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348329" y="4023918"/>
            <a:ext cx="16711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Real-time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Robust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3769741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867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Xiao, L., Wan, X., Lu, X., Zhang, Y., &amp; Wu, D. (2018). IoT security techniques based on machine learning: How do IoT devices use AI to enhance security?. </a:t>
            </a:r>
            <a:r>
              <a:rPr lang="en-US" sz="2000" i="1" dirty="0"/>
              <a:t>IEEE Signal Processing Magazine</a:t>
            </a:r>
            <a:r>
              <a:rPr lang="en-US" sz="2000" dirty="0"/>
              <a:t>, </a:t>
            </a:r>
            <a:r>
              <a:rPr lang="en-US" sz="2000" i="1" dirty="0"/>
              <a:t>35</a:t>
            </a:r>
            <a:r>
              <a:rPr lang="en-US" sz="2000" dirty="0"/>
              <a:t>(5), 41-49.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Tang, </a:t>
            </a:r>
            <a:r>
              <a:rPr lang="en-US" sz="2000" dirty="0" err="1"/>
              <a:t>Jie</a:t>
            </a:r>
            <a:r>
              <a:rPr lang="en-US" sz="2000" dirty="0"/>
              <a:t>, </a:t>
            </a:r>
            <a:r>
              <a:rPr lang="en-US" sz="2000" dirty="0" err="1"/>
              <a:t>Dawei</a:t>
            </a:r>
            <a:r>
              <a:rPr lang="en-US" sz="2000" dirty="0"/>
              <a:t> Sun, </a:t>
            </a:r>
            <a:r>
              <a:rPr lang="en-US" sz="2000" dirty="0" err="1"/>
              <a:t>Shaoshan</a:t>
            </a:r>
            <a:r>
              <a:rPr lang="en-US" sz="2000" dirty="0"/>
              <a:t> Liu, and Jean-Luc </a:t>
            </a:r>
            <a:r>
              <a:rPr lang="en-US" sz="2000" dirty="0" err="1"/>
              <a:t>Gaudiot</a:t>
            </a:r>
            <a:r>
              <a:rPr lang="en-US" sz="2000" dirty="0"/>
              <a:t>. "Enabling deep learning on IoT devices." </a:t>
            </a:r>
            <a:r>
              <a:rPr lang="en-US" sz="2000" i="1" dirty="0"/>
              <a:t>Computer</a:t>
            </a:r>
            <a:r>
              <a:rPr lang="en-US" sz="2000" dirty="0"/>
              <a:t> 50, no. 10 (2017): 92-96.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Cp</a:t>
            </a:r>
            <a:r>
              <a:rPr lang="en-US" sz="2000" dirty="0"/>
              <a:t>, P., Narayanan, S., </a:t>
            </a:r>
            <a:r>
              <a:rPr lang="en-US" sz="2000" dirty="0" err="1"/>
              <a:t>Kommuri</a:t>
            </a:r>
            <a:r>
              <a:rPr lang="en-US" sz="2000" dirty="0"/>
              <a:t>, V. S., Subramanian, S., </a:t>
            </a:r>
            <a:r>
              <a:rPr lang="en-US" sz="2000" dirty="0" err="1"/>
              <a:t>Bijlani</a:t>
            </a:r>
            <a:r>
              <a:rPr lang="en-US" sz="2000" dirty="0"/>
              <a:t>, K., </a:t>
            </a:r>
            <a:r>
              <a:rPr lang="en-US" sz="2000" dirty="0" err="1"/>
              <a:t>Nagendra</a:t>
            </a:r>
            <a:r>
              <a:rPr lang="en-US" sz="2000" dirty="0"/>
              <a:t>, S., &amp; </a:t>
            </a:r>
            <a:r>
              <a:rPr lang="en-US" sz="2000" dirty="0" err="1"/>
              <a:t>Podila</a:t>
            </a:r>
            <a:r>
              <a:rPr lang="en-US" sz="2000" dirty="0"/>
              <a:t>, N. ICACCI-02 (A): Artificial Intelligence and Machine Learning/Data Engineering/Biocomputing (Regular Papers).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Vermesan, </a:t>
            </a:r>
            <a:r>
              <a:rPr lang="en-US" sz="2000" dirty="0" err="1"/>
              <a:t>Ovidiu</a:t>
            </a:r>
            <a:r>
              <a:rPr lang="en-US" sz="2000" dirty="0"/>
              <a:t>, Arne </a:t>
            </a:r>
            <a:r>
              <a:rPr lang="en-US" sz="2000" dirty="0" err="1"/>
              <a:t>Bröring</a:t>
            </a:r>
            <a:r>
              <a:rPr lang="en-US" sz="2000" dirty="0"/>
              <a:t>, Elias </a:t>
            </a:r>
            <a:r>
              <a:rPr lang="en-US" sz="2000" dirty="0" err="1"/>
              <a:t>Tragos</a:t>
            </a:r>
            <a:r>
              <a:rPr lang="en-US" sz="2000" dirty="0"/>
              <a:t>, Martin Serrano, Davide </a:t>
            </a:r>
            <a:r>
              <a:rPr lang="en-US" sz="2000" dirty="0" err="1"/>
              <a:t>Bacciu</a:t>
            </a:r>
            <a:r>
              <a:rPr lang="en-US" sz="2000" dirty="0"/>
              <a:t>, Stefano </a:t>
            </a:r>
            <a:r>
              <a:rPr lang="en-US" sz="2000" dirty="0" err="1"/>
              <a:t>Chessa</a:t>
            </a:r>
            <a:r>
              <a:rPr lang="en-US" sz="2000" dirty="0"/>
              <a:t>, Claudio </a:t>
            </a:r>
            <a:r>
              <a:rPr lang="en-US" sz="2000" dirty="0" err="1"/>
              <a:t>Gallicchio</a:t>
            </a:r>
            <a:r>
              <a:rPr lang="en-US" sz="2000" dirty="0"/>
              <a:t> et al. "Internet of robotic things: converging sensing/actuating, </a:t>
            </a:r>
            <a:r>
              <a:rPr lang="en-US" sz="2000" dirty="0" err="1"/>
              <a:t>hypoconnectivity</a:t>
            </a:r>
            <a:r>
              <a:rPr lang="en-US" sz="2000" dirty="0"/>
              <a:t>, artificial intelligence and IoT Platforms." (2017): 97-155.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Diro</a:t>
            </a:r>
            <a:r>
              <a:rPr lang="en-US" sz="2000" dirty="0"/>
              <a:t>, </a:t>
            </a:r>
            <a:r>
              <a:rPr lang="en-US" sz="2000" dirty="0" err="1"/>
              <a:t>Abebe</a:t>
            </a:r>
            <a:r>
              <a:rPr lang="en-US" sz="2000" dirty="0"/>
              <a:t> </a:t>
            </a:r>
            <a:r>
              <a:rPr lang="en-US" sz="2000" dirty="0" err="1"/>
              <a:t>Abeshu</a:t>
            </a:r>
            <a:r>
              <a:rPr lang="en-US" sz="2000" dirty="0"/>
              <a:t>, and Naveen </a:t>
            </a:r>
            <a:r>
              <a:rPr lang="en-US" sz="2000" dirty="0" err="1"/>
              <a:t>Chilamkurti</a:t>
            </a:r>
            <a:r>
              <a:rPr lang="en-US" sz="2000" dirty="0"/>
              <a:t>. "Distributed attack detection scheme using deep learning approach for Internet of Things." </a:t>
            </a:r>
            <a:r>
              <a:rPr lang="en-US" sz="2000" i="1" dirty="0"/>
              <a:t>Future Generation Computer Systems</a:t>
            </a:r>
            <a:r>
              <a:rPr lang="en-US" sz="2000" dirty="0"/>
              <a:t> 82 (2018): 761-768.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4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sz="2000" dirty="0"/>
              <a:t>Kumar, P.M., Gandhi, U., </a:t>
            </a:r>
            <a:r>
              <a:rPr lang="en-US" sz="2000" dirty="0" err="1"/>
              <a:t>Varatharajan</a:t>
            </a:r>
            <a:r>
              <a:rPr lang="en-US" sz="2000" dirty="0"/>
              <a:t>, R., </a:t>
            </a:r>
            <a:r>
              <a:rPr lang="en-US" sz="2000" dirty="0" err="1"/>
              <a:t>Manogaran</a:t>
            </a:r>
            <a:r>
              <a:rPr lang="en-US" sz="2000" dirty="0"/>
              <a:t>, G., </a:t>
            </a:r>
            <a:r>
              <a:rPr lang="en-US" sz="2000" dirty="0" err="1"/>
              <a:t>Jidhesh</a:t>
            </a:r>
            <a:r>
              <a:rPr lang="en-US" sz="2000" dirty="0"/>
              <a:t>, R. and Vadivel, T., 2017. Intelligent face recognition and navigation system using neural learning for smart security in Internet of Things. </a:t>
            </a:r>
            <a:r>
              <a:rPr lang="en-US" sz="2000" i="1" dirty="0"/>
              <a:t>Cluster Computing</a:t>
            </a:r>
            <a:r>
              <a:rPr lang="en-US" sz="2000" dirty="0"/>
              <a:t>, pp.1-12.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sz="2000" dirty="0"/>
              <a:t>Lee, Jong-</a:t>
            </a:r>
            <a:r>
              <a:rPr lang="en-US" sz="2000" dirty="0" err="1"/>
              <a:t>Hyouk</a:t>
            </a:r>
            <a:r>
              <a:rPr lang="en-US" sz="2000" dirty="0"/>
              <a:t>, and </a:t>
            </a:r>
            <a:r>
              <a:rPr lang="en-US" sz="2000" dirty="0" err="1"/>
              <a:t>Hyoungshick</a:t>
            </a:r>
            <a:r>
              <a:rPr lang="en-US" sz="2000" dirty="0"/>
              <a:t> Kim. "Security and privacy challenges in the internet of things [security and privacy matters]." </a:t>
            </a:r>
            <a:r>
              <a:rPr lang="en-US" sz="2000" i="1" dirty="0"/>
              <a:t>IEEE Consumer Electronics Magazine</a:t>
            </a:r>
            <a:r>
              <a:rPr lang="en-US" sz="2000" dirty="0"/>
              <a:t> 6, no. 3 (2017): 134-136.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it-IT" sz="2000" dirty="0"/>
              <a:t>Al-Turjman, Fadi, ed. </a:t>
            </a:r>
            <a:r>
              <a:rPr lang="it-IT" sz="2000" i="1" dirty="0"/>
              <a:t>Artificial Intelligence in IoT</a:t>
            </a:r>
            <a:r>
              <a:rPr lang="it-IT" sz="2000" dirty="0"/>
              <a:t>. Springer, 2019.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sz="2000" dirty="0"/>
              <a:t>Chen, Yan-</a:t>
            </a:r>
            <a:r>
              <a:rPr lang="en-US" sz="2000" dirty="0" err="1"/>
              <a:t>Ju</a:t>
            </a:r>
            <a:r>
              <a:rPr lang="en-US" sz="2000" dirty="0"/>
              <a:t>, Wen-Han </a:t>
            </a:r>
            <a:r>
              <a:rPr lang="en-US" sz="2000" dirty="0" err="1"/>
              <a:t>Kuo</a:t>
            </a:r>
            <a:r>
              <a:rPr lang="en-US" sz="2000" dirty="0"/>
              <a:t>, Sung-Yun Tsai, </a:t>
            </a:r>
            <a:r>
              <a:rPr lang="en-US" sz="2000" dirty="0" err="1"/>
              <a:t>Jiann</a:t>
            </a:r>
            <a:r>
              <a:rPr lang="en-US" sz="2000" dirty="0"/>
              <a:t>-Liang Chen, Yu-Hung Chen, and Wei-Zhao Xu. "Artificial Intelligence Hybrid Learning Architecture for Malware Families Classification." In 2019 21st International Conference on Advanced Communication Technology (ICACT), pp. 503-510. IEEE, 201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096" y="940594"/>
            <a:ext cx="260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References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6090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097" y="2763099"/>
            <a:ext cx="5150061" cy="8413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/>
              <a:t>Thank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795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15" y="1428684"/>
            <a:ext cx="7173821" cy="4309963"/>
          </a:xfrm>
        </p:spPr>
      </p:pic>
    </p:spTree>
    <p:extLst>
      <p:ext uri="{BB962C8B-B14F-4D97-AF65-F5344CB8AC3E}">
        <p14:creationId xmlns:p14="http://schemas.microsoft.com/office/powerpoint/2010/main" val="28467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114005</TotalTime>
  <Words>1206</Words>
  <Application>Microsoft Office PowerPoint</Application>
  <PresentationFormat>Widescreen</PresentationFormat>
  <Paragraphs>137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MT</vt:lpstr>
      <vt:lpstr>Calibri</vt:lpstr>
      <vt:lpstr>Calibri Light</vt:lpstr>
      <vt:lpstr>Microsoft Uighur</vt:lpstr>
      <vt:lpstr>Office Theme</vt:lpstr>
      <vt:lpstr>2_Custom Design</vt:lpstr>
      <vt:lpstr>1_Custom Design</vt:lpstr>
      <vt:lpstr>Custom Design</vt:lpstr>
      <vt:lpstr>PowerPoint Presentation</vt:lpstr>
      <vt:lpstr>Outline</vt:lpstr>
      <vt:lpstr>ML and AI – What Is It?</vt:lpstr>
      <vt:lpstr>Third Wave of AI</vt:lpstr>
      <vt:lpstr>Need for Explainable AI</vt:lpstr>
      <vt:lpstr>Black-box AI creates business risk for Industry</vt:lpstr>
      <vt:lpstr>What is Explainable AI?</vt:lpstr>
      <vt:lpstr>Why Explainability: Verify the ML Model / System</vt:lpstr>
      <vt:lpstr>Why Explainability: Improve ML Model</vt:lpstr>
      <vt:lpstr>Motivation</vt:lpstr>
      <vt:lpstr>Three Cyber Security Problems Ripe for Artificial Intelligence</vt:lpstr>
      <vt:lpstr>Research Methodology</vt:lpstr>
      <vt:lpstr>Use Cases</vt:lpstr>
      <vt:lpstr>PowerPoint Presentation</vt:lpstr>
      <vt:lpstr>IoT security system</vt:lpstr>
      <vt:lpstr>The threat model in Internet of Things.</vt:lpstr>
      <vt:lpstr>ML-based IoT security methods</vt:lpstr>
      <vt:lpstr>ML-based authentication in IoT systems.</vt:lpstr>
      <vt:lpstr>ML-based offloading</vt:lpstr>
      <vt:lpstr>ML-based offloading</vt:lpstr>
      <vt:lpstr>ML-based malware detection</vt:lpstr>
      <vt:lpstr>ML-based malware detection</vt:lpstr>
      <vt:lpstr>PowerPoint Presentation</vt:lpstr>
      <vt:lpstr>Ransomware Detection</vt:lpstr>
      <vt:lpstr>Insider Attack Detection</vt:lpstr>
      <vt:lpstr>Classifying Internet Traffic for Security Applications</vt:lpstr>
      <vt:lpstr>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Design-for-Test and Test Optimization Technique for Digital VLSI Circuits</dc:title>
  <dc:creator>Sisir Jena</dc:creator>
  <cp:lastModifiedBy>Bhale</cp:lastModifiedBy>
  <cp:revision>635</cp:revision>
  <cp:lastPrinted>2018-04-24T05:43:25Z</cp:lastPrinted>
  <dcterms:created xsi:type="dcterms:W3CDTF">2017-11-29T13:37:39Z</dcterms:created>
  <dcterms:modified xsi:type="dcterms:W3CDTF">2025-09-16T16:40:43Z</dcterms:modified>
</cp:coreProperties>
</file>