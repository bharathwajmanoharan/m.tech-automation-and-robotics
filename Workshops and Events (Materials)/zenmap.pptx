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70" r:id="rId4"/>
    <p:sldId id="258" r:id="rId5"/>
    <p:sldId id="271" r:id="rId6"/>
    <p:sldId id="259" r:id="rId7"/>
    <p:sldId id="260" r:id="rId8"/>
    <p:sldId id="272" r:id="rId9"/>
    <p:sldId id="273" r:id="rId10"/>
    <p:sldId id="274" r:id="rId11"/>
    <p:sldId id="275" r:id="rId12"/>
    <p:sldId id="276" r:id="rId13"/>
    <p:sldId id="277" r:id="rId14"/>
    <p:sldId id="278" r:id="rId15"/>
    <p:sldId id="280" r:id="rId16"/>
    <p:sldId id="281" r:id="rId17"/>
    <p:sldId id="282" r:id="rId18"/>
    <p:sldId id="283" r:id="rId19"/>
    <p:sldId id="284" r:id="rId20"/>
    <p:sldId id="285" r:id="rId21"/>
    <p:sldId id="286" r:id="rId22"/>
    <p:sldId id="287" r:id="rId23"/>
    <p:sldId id="288" r:id="rId24"/>
    <p:sldId id="289" r:id="rId25"/>
    <p:sldId id="261" r:id="rId26"/>
    <p:sldId id="262" r:id="rId27"/>
    <p:sldId id="263" r:id="rId28"/>
    <p:sldId id="265" r:id="rId29"/>
    <p:sldId id="266" r:id="rId30"/>
    <p:sldId id="267" r:id="rId31"/>
    <p:sldId id="269" r:id="rId3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8"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825DC07-37C9-48C0-A0A8-2C4E9521D3DE}" type="datetimeFigureOut">
              <a:rPr lang="en-US" smtClean="0"/>
              <a:t>9/16/2025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BC9DFC0-CE75-422F-9292-32A364EB9D49}" type="slidenum">
              <a:rPr lang="en-US" smtClean="0"/>
              <a:t>‹#›</a:t>
            </a:fld>
            <a:endParaRPr lang="en-US"/>
          </a:p>
        </p:txBody>
      </p:sp>
    </p:spTree>
    <p:extLst>
      <p:ext uri="{BB962C8B-B14F-4D97-AF65-F5344CB8AC3E}">
        <p14:creationId xmlns:p14="http://schemas.microsoft.com/office/powerpoint/2010/main" val="1401270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C9DFC0-CE75-422F-9292-32A364EB9D49}" type="slidenum">
              <a:rPr lang="en-US" smtClean="0"/>
              <a:t>6</a:t>
            </a:fld>
            <a:endParaRPr lang="en-US"/>
          </a:p>
        </p:txBody>
      </p:sp>
    </p:spTree>
    <p:extLst>
      <p:ext uri="{BB962C8B-B14F-4D97-AF65-F5344CB8AC3E}">
        <p14:creationId xmlns:p14="http://schemas.microsoft.com/office/powerpoint/2010/main" val="2284105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C9DFC0-CE75-422F-9292-32A364EB9D49}" type="slidenum">
              <a:rPr lang="en-US" smtClean="0"/>
              <a:t>7</a:t>
            </a:fld>
            <a:endParaRPr lang="en-US"/>
          </a:p>
        </p:txBody>
      </p:sp>
    </p:spTree>
    <p:extLst>
      <p:ext uri="{BB962C8B-B14F-4D97-AF65-F5344CB8AC3E}">
        <p14:creationId xmlns:p14="http://schemas.microsoft.com/office/powerpoint/2010/main" val="87645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C9DFC0-CE75-422F-9292-32A364EB9D49}" type="slidenum">
              <a:rPr lang="en-US" smtClean="0"/>
              <a:t>23</a:t>
            </a:fld>
            <a:endParaRPr lang="en-US"/>
          </a:p>
        </p:txBody>
      </p:sp>
    </p:spTree>
    <p:extLst>
      <p:ext uri="{BB962C8B-B14F-4D97-AF65-F5344CB8AC3E}">
        <p14:creationId xmlns:p14="http://schemas.microsoft.com/office/powerpoint/2010/main" val="1723683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C9DFC0-CE75-422F-9292-32A364EB9D49}" type="slidenum">
              <a:rPr lang="en-US" smtClean="0"/>
              <a:t>24</a:t>
            </a:fld>
            <a:endParaRPr lang="en-US"/>
          </a:p>
        </p:txBody>
      </p:sp>
    </p:spTree>
    <p:extLst>
      <p:ext uri="{BB962C8B-B14F-4D97-AF65-F5344CB8AC3E}">
        <p14:creationId xmlns:p14="http://schemas.microsoft.com/office/powerpoint/2010/main" val="315684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8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8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8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4271009" y="1308821"/>
            <a:ext cx="3649980" cy="2661920"/>
          </a:xfrm>
          <a:prstGeom prst="rect">
            <a:avLst/>
          </a:prstGeom>
        </p:spPr>
        <p:txBody>
          <a:bodyPr wrap="square" lIns="0" tIns="0" rIns="0" bIns="0">
            <a:spAutoFit/>
          </a:bodyPr>
          <a:lstStyle>
            <a:lvl1pPr>
              <a:defRPr sz="88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916939" y="1793493"/>
            <a:ext cx="10358120" cy="35217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en.wikipedia.org/wiki/Stream_Control_Transmission_Protoco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4.xml"/><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4400" y="990600"/>
            <a:ext cx="3649980" cy="2104422"/>
          </a:xfrm>
          <a:prstGeom prst="rect">
            <a:avLst/>
          </a:prstGeom>
        </p:spPr>
        <p:txBody>
          <a:bodyPr vert="horz" wrap="square" lIns="0" tIns="742950" rIns="0" bIns="0" rtlCol="0">
            <a:spAutoFit/>
          </a:bodyPr>
          <a:lstStyle/>
          <a:p>
            <a:pPr algn="ctr">
              <a:lnSpc>
                <a:spcPct val="100000"/>
              </a:lnSpc>
              <a:spcBef>
                <a:spcPts val="5850"/>
              </a:spcBef>
            </a:pPr>
            <a:r>
              <a:rPr spc="-900" dirty="0" err="1"/>
              <a:t>Z</a:t>
            </a:r>
            <a:r>
              <a:rPr spc="-380" dirty="0" err="1"/>
              <a:t>enmap</a:t>
            </a:r>
            <a:endParaRPr spc="-380" dirty="0"/>
          </a:p>
        </p:txBody>
      </p:sp>
      <p:sp>
        <p:nvSpPr>
          <p:cNvPr id="3" name="object 3"/>
          <p:cNvSpPr/>
          <p:nvPr/>
        </p:nvSpPr>
        <p:spPr>
          <a:xfrm>
            <a:off x="4850890" y="3581400"/>
            <a:ext cx="4674109" cy="292607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981"/>
            <a:ext cx="1718945" cy="696595"/>
          </a:xfrm>
          <a:prstGeom prst="rect">
            <a:avLst/>
          </a:prstGeom>
        </p:spPr>
        <p:txBody>
          <a:bodyPr vert="horz" wrap="square" lIns="0" tIns="13335" rIns="0" bIns="0" rtlCol="0">
            <a:spAutoFit/>
          </a:bodyPr>
          <a:lstStyle/>
          <a:p>
            <a:pPr marL="12700">
              <a:lnSpc>
                <a:spcPct val="100000"/>
              </a:lnSpc>
              <a:spcBef>
                <a:spcPts val="105"/>
              </a:spcBef>
            </a:pPr>
            <a:r>
              <a:rPr sz="4400" spc="-180" dirty="0"/>
              <a:t>Agenda</a:t>
            </a:r>
            <a:endParaRPr sz="4400" dirty="0"/>
          </a:p>
        </p:txBody>
      </p:sp>
      <p:sp>
        <p:nvSpPr>
          <p:cNvPr id="3" name="object 3"/>
          <p:cNvSpPr txBox="1"/>
          <p:nvPr/>
        </p:nvSpPr>
        <p:spPr>
          <a:xfrm>
            <a:off x="916939" y="1707918"/>
            <a:ext cx="7872730" cy="3666388"/>
          </a:xfrm>
          <a:prstGeom prst="rect">
            <a:avLst/>
          </a:prstGeom>
        </p:spPr>
        <p:txBody>
          <a:bodyPr vert="horz" wrap="square" lIns="0" tIns="97790" rIns="0" bIns="0" rtlCol="0">
            <a:spAutoFit/>
          </a:bodyPr>
          <a:lstStyle/>
          <a:p>
            <a:pPr marL="241300" indent="-229235">
              <a:lnSpc>
                <a:spcPct val="100000"/>
              </a:lnSpc>
              <a:spcBef>
                <a:spcPts val="770"/>
              </a:spcBef>
              <a:buFont typeface="Arial"/>
              <a:buChar char="•"/>
              <a:tabLst>
                <a:tab pos="241935" algn="l"/>
              </a:tabLst>
            </a:pPr>
            <a:r>
              <a:rPr lang="en-US" sz="2800" spc="-114" dirty="0" err="1">
                <a:solidFill>
                  <a:srgbClr val="FFFFFF"/>
                </a:solidFill>
                <a:latin typeface="Trebuchet MS"/>
                <a:cs typeface="Trebuchet MS"/>
              </a:rPr>
              <a:t>Hisotry</a:t>
            </a:r>
            <a:endParaRPr lang="en-US" sz="2800" spc="-114" dirty="0">
              <a:solidFill>
                <a:srgbClr val="FFFFFF"/>
              </a:solidFill>
              <a:latin typeface="Trebuchet MS"/>
              <a:cs typeface="Trebuchet MS"/>
            </a:endParaRPr>
          </a:p>
          <a:p>
            <a:pPr marL="241300" indent="-229235">
              <a:lnSpc>
                <a:spcPct val="100000"/>
              </a:lnSpc>
              <a:spcBef>
                <a:spcPts val="770"/>
              </a:spcBef>
              <a:buFont typeface="Arial"/>
              <a:buChar char="•"/>
              <a:tabLst>
                <a:tab pos="241935" algn="l"/>
              </a:tabLst>
            </a:pPr>
            <a:r>
              <a:rPr sz="2800" spc="-114" dirty="0">
                <a:solidFill>
                  <a:srgbClr val="FFFFFF"/>
                </a:solidFill>
                <a:latin typeface="Trebuchet MS"/>
                <a:cs typeface="Trebuchet MS"/>
              </a:rPr>
              <a:t>Introduction</a:t>
            </a:r>
            <a:endParaRPr sz="2800" dirty="0">
              <a:latin typeface="Trebuchet MS"/>
              <a:cs typeface="Trebuchet MS"/>
            </a:endParaRPr>
          </a:p>
          <a:p>
            <a:pPr marL="241300" indent="-229235">
              <a:lnSpc>
                <a:spcPct val="100000"/>
              </a:lnSpc>
              <a:spcBef>
                <a:spcPts val="670"/>
              </a:spcBef>
              <a:buFont typeface="Arial"/>
              <a:buChar char="•"/>
              <a:tabLst>
                <a:tab pos="241935" algn="l"/>
              </a:tabLst>
            </a:pPr>
            <a:r>
              <a:rPr sz="2800" spc="-90" dirty="0">
                <a:solidFill>
                  <a:srgbClr val="FFFFFF"/>
                </a:solidFill>
                <a:latin typeface="Trebuchet MS"/>
                <a:cs typeface="Trebuchet MS"/>
              </a:rPr>
              <a:t>Purpose </a:t>
            </a:r>
            <a:r>
              <a:rPr sz="2800" spc="-110" dirty="0">
                <a:solidFill>
                  <a:srgbClr val="FFFFFF"/>
                </a:solidFill>
                <a:latin typeface="Trebuchet MS"/>
                <a:cs typeface="Trebuchet MS"/>
              </a:rPr>
              <a:t>of </a:t>
            </a:r>
            <a:r>
              <a:rPr sz="2800" spc="-135" dirty="0">
                <a:solidFill>
                  <a:srgbClr val="FFFFFF"/>
                </a:solidFill>
                <a:latin typeface="Trebuchet MS"/>
                <a:cs typeface="Trebuchet MS"/>
              </a:rPr>
              <a:t>a </a:t>
            </a:r>
            <a:r>
              <a:rPr sz="2800" spc="-145" dirty="0">
                <a:solidFill>
                  <a:srgbClr val="FFFFFF"/>
                </a:solidFill>
                <a:latin typeface="Trebuchet MS"/>
                <a:cs typeface="Trebuchet MS"/>
              </a:rPr>
              <a:t>Graphical </a:t>
            </a:r>
            <a:r>
              <a:rPr sz="2800" spc="-125" dirty="0">
                <a:solidFill>
                  <a:srgbClr val="FFFFFF"/>
                </a:solidFill>
                <a:latin typeface="Trebuchet MS"/>
                <a:cs typeface="Trebuchet MS"/>
              </a:rPr>
              <a:t>Frontend </a:t>
            </a:r>
            <a:r>
              <a:rPr sz="2800" spc="-135" dirty="0">
                <a:solidFill>
                  <a:srgbClr val="FFFFFF"/>
                </a:solidFill>
                <a:latin typeface="Trebuchet MS"/>
                <a:cs typeface="Trebuchet MS"/>
              </a:rPr>
              <a:t>for </a:t>
            </a:r>
            <a:r>
              <a:rPr sz="2800" spc="-75" dirty="0">
                <a:solidFill>
                  <a:srgbClr val="FFFFFF"/>
                </a:solidFill>
                <a:latin typeface="Trebuchet MS"/>
                <a:cs typeface="Trebuchet MS"/>
              </a:rPr>
              <a:t>Nmap</a:t>
            </a:r>
            <a:r>
              <a:rPr sz="2800" spc="-645" dirty="0">
                <a:solidFill>
                  <a:srgbClr val="FFFFFF"/>
                </a:solidFill>
                <a:latin typeface="Trebuchet MS"/>
                <a:cs typeface="Trebuchet MS"/>
              </a:rPr>
              <a:t> </a:t>
            </a:r>
            <a:r>
              <a:rPr sz="2800" spc="-175" dirty="0">
                <a:solidFill>
                  <a:srgbClr val="FFFFFF"/>
                </a:solidFill>
                <a:latin typeface="Trebuchet MS"/>
                <a:cs typeface="Trebuchet MS"/>
              </a:rPr>
              <a:t>- </a:t>
            </a:r>
            <a:r>
              <a:rPr sz="2800" spc="-140" dirty="0">
                <a:solidFill>
                  <a:srgbClr val="FFFFFF"/>
                </a:solidFill>
                <a:latin typeface="Trebuchet MS"/>
                <a:cs typeface="Trebuchet MS"/>
              </a:rPr>
              <a:t>Features</a:t>
            </a:r>
            <a:endParaRPr sz="2800" dirty="0">
              <a:latin typeface="Trebuchet MS"/>
              <a:cs typeface="Trebuchet MS"/>
            </a:endParaRPr>
          </a:p>
          <a:p>
            <a:pPr marL="241300" indent="-229235">
              <a:lnSpc>
                <a:spcPct val="100000"/>
              </a:lnSpc>
              <a:spcBef>
                <a:spcPts val="665"/>
              </a:spcBef>
              <a:buFont typeface="Arial"/>
              <a:buChar char="•"/>
              <a:tabLst>
                <a:tab pos="241935" algn="l"/>
              </a:tabLst>
            </a:pPr>
            <a:r>
              <a:rPr sz="2800" spc="-105" dirty="0">
                <a:solidFill>
                  <a:srgbClr val="FFFFFF"/>
                </a:solidFill>
                <a:latin typeface="Trebuchet MS"/>
                <a:cs typeface="Trebuchet MS"/>
              </a:rPr>
              <a:t>Screenshots</a:t>
            </a:r>
            <a:endParaRPr sz="2800" dirty="0">
              <a:latin typeface="Trebuchet MS"/>
              <a:cs typeface="Trebuchet MS"/>
            </a:endParaRPr>
          </a:p>
          <a:p>
            <a:pPr marL="241300" indent="-229235">
              <a:lnSpc>
                <a:spcPct val="100000"/>
              </a:lnSpc>
              <a:spcBef>
                <a:spcPts val="660"/>
              </a:spcBef>
              <a:buFont typeface="Arial"/>
              <a:buChar char="•"/>
              <a:tabLst>
                <a:tab pos="241935" algn="l"/>
              </a:tabLst>
            </a:pPr>
            <a:r>
              <a:rPr sz="2800" spc="-120" dirty="0">
                <a:solidFill>
                  <a:srgbClr val="FFFFFF"/>
                </a:solidFill>
                <a:latin typeface="Trebuchet MS"/>
                <a:cs typeface="Trebuchet MS"/>
              </a:rPr>
              <a:t>Results</a:t>
            </a:r>
            <a:endParaRPr sz="2800" dirty="0">
              <a:latin typeface="Trebuchet MS"/>
              <a:cs typeface="Trebuchet MS"/>
            </a:endParaRPr>
          </a:p>
          <a:p>
            <a:pPr marL="241300" indent="-229235">
              <a:lnSpc>
                <a:spcPct val="100000"/>
              </a:lnSpc>
              <a:spcBef>
                <a:spcPts val="670"/>
              </a:spcBef>
              <a:buFont typeface="Arial"/>
              <a:buChar char="•"/>
              <a:tabLst>
                <a:tab pos="241935" algn="l"/>
              </a:tabLst>
            </a:pPr>
            <a:r>
              <a:rPr sz="2800" spc="-110" dirty="0">
                <a:solidFill>
                  <a:srgbClr val="FFFFFF"/>
                </a:solidFill>
                <a:latin typeface="Trebuchet MS"/>
                <a:cs typeface="Trebuchet MS"/>
              </a:rPr>
              <a:t>Conclusion</a:t>
            </a:r>
            <a:endParaRPr sz="2800" dirty="0">
              <a:latin typeface="Trebuchet MS"/>
              <a:cs typeface="Trebuchet MS"/>
            </a:endParaRPr>
          </a:p>
          <a:p>
            <a:pPr marL="241300" indent="-229235">
              <a:lnSpc>
                <a:spcPct val="100000"/>
              </a:lnSpc>
              <a:spcBef>
                <a:spcPts val="660"/>
              </a:spcBef>
              <a:buFont typeface="Arial"/>
              <a:buChar char="•"/>
              <a:tabLst>
                <a:tab pos="241935" algn="l"/>
              </a:tabLst>
            </a:pPr>
            <a:r>
              <a:rPr sz="2800" spc="-145" dirty="0">
                <a:solidFill>
                  <a:srgbClr val="FFFFFF"/>
                </a:solidFill>
                <a:latin typeface="Trebuchet MS"/>
                <a:cs typeface="Trebuchet MS"/>
              </a:rPr>
              <a:t>References</a:t>
            </a:r>
            <a:endParaRPr sz="28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54331-F7AF-4B99-885C-72DDEE98B3DA}"/>
              </a:ext>
            </a:extLst>
          </p:cNvPr>
          <p:cNvSpPr>
            <a:spLocks noGrp="1"/>
          </p:cNvSpPr>
          <p:nvPr>
            <p:ph type="title"/>
          </p:nvPr>
        </p:nvSpPr>
        <p:spPr>
          <a:xfrm>
            <a:off x="762000" y="304800"/>
            <a:ext cx="10439400" cy="4555093"/>
          </a:xfrm>
        </p:spPr>
        <p:txBody>
          <a:bodyPr/>
          <a:lstStyle/>
          <a:p>
            <a:r>
              <a:rPr lang="en-US" sz="4400" dirty="0"/>
              <a:t>History:</a:t>
            </a:r>
            <a:br>
              <a:rPr lang="en-US" sz="4400" dirty="0"/>
            </a:br>
            <a:r>
              <a:rPr lang="en-US" sz="2800" dirty="0"/>
              <a:t/>
            </a:r>
            <a:br>
              <a:rPr lang="en-US" sz="2800" dirty="0"/>
            </a:br>
            <a:r>
              <a:rPr lang="en-US" sz="2800" dirty="0"/>
              <a:t> An Nmap GUI created during the Google-sponsored Nmap Summer of Code in 2005 and 2006. The primary author of </a:t>
            </a:r>
            <a:r>
              <a:rPr lang="en-US" sz="2800" dirty="0" err="1"/>
              <a:t>Umit</a:t>
            </a:r>
            <a:r>
              <a:rPr lang="en-US" sz="2800" dirty="0"/>
              <a:t> was Adriano Monteiro Marques. When </a:t>
            </a:r>
            <a:r>
              <a:rPr lang="en-US" sz="2800" dirty="0" err="1"/>
              <a:t>Umit</a:t>
            </a:r>
            <a:r>
              <a:rPr lang="en-US" sz="2800" dirty="0"/>
              <a:t> was modified and integrated into Nmap in 2007, it was renamed </a:t>
            </a:r>
            <a:r>
              <a:rPr lang="en-US" sz="2800" dirty="0" err="1"/>
              <a:t>Zenmap</a:t>
            </a:r>
            <a:r>
              <a:rPr lang="en-US" sz="2800" dirty="0"/>
              <a:t>.</a:t>
            </a:r>
            <a:br>
              <a:rPr lang="en-US" sz="2800" dirty="0"/>
            </a:br>
            <a:r>
              <a:rPr lang="en-US" sz="2800" dirty="0"/>
              <a:t/>
            </a:r>
            <a:br>
              <a:rPr lang="en-US" sz="2800" dirty="0"/>
            </a:br>
            <a:r>
              <a:rPr lang="en-US" sz="2800" dirty="0"/>
              <a:t/>
            </a:r>
            <a:br>
              <a:rPr lang="en-US" sz="2800" dirty="0"/>
            </a:br>
            <a:r>
              <a:rPr lang="en-US" sz="2800" dirty="0"/>
              <a:t/>
            </a:r>
            <a:br>
              <a:rPr lang="en-US" sz="2800" dirty="0"/>
            </a:br>
            <a:endParaRPr lang="en-US" sz="2800" dirty="0"/>
          </a:p>
        </p:txBody>
      </p:sp>
    </p:spTree>
    <p:extLst>
      <p:ext uri="{BB962C8B-B14F-4D97-AF65-F5344CB8AC3E}">
        <p14:creationId xmlns:p14="http://schemas.microsoft.com/office/powerpoint/2010/main" val="303677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981"/>
            <a:ext cx="2813050" cy="696595"/>
          </a:xfrm>
          <a:prstGeom prst="rect">
            <a:avLst/>
          </a:prstGeom>
        </p:spPr>
        <p:txBody>
          <a:bodyPr vert="horz" wrap="square" lIns="0" tIns="13335" rIns="0" bIns="0" rtlCol="0">
            <a:spAutoFit/>
          </a:bodyPr>
          <a:lstStyle/>
          <a:p>
            <a:pPr marL="12700">
              <a:lnSpc>
                <a:spcPct val="100000"/>
              </a:lnSpc>
              <a:spcBef>
                <a:spcPts val="105"/>
              </a:spcBef>
            </a:pPr>
            <a:r>
              <a:rPr sz="4400" spc="-195" dirty="0"/>
              <a:t>Introduction</a:t>
            </a:r>
            <a:endParaRPr sz="4400" dirty="0"/>
          </a:p>
        </p:txBody>
      </p:sp>
      <p:sp>
        <p:nvSpPr>
          <p:cNvPr id="3" name="object 3"/>
          <p:cNvSpPr txBox="1"/>
          <p:nvPr/>
        </p:nvSpPr>
        <p:spPr>
          <a:xfrm>
            <a:off x="916939" y="1737106"/>
            <a:ext cx="10209530" cy="3304623"/>
          </a:xfrm>
          <a:prstGeom prst="rect">
            <a:avLst/>
          </a:prstGeom>
        </p:spPr>
        <p:txBody>
          <a:bodyPr vert="horz" wrap="square" lIns="0" tIns="13335" rIns="0" bIns="0" rtlCol="0">
            <a:spAutoFit/>
          </a:bodyPr>
          <a:lstStyle/>
          <a:p>
            <a:pPr marL="241300" indent="-229235">
              <a:lnSpc>
                <a:spcPct val="100000"/>
              </a:lnSpc>
              <a:spcBef>
                <a:spcPts val="105"/>
              </a:spcBef>
              <a:buFont typeface="Arial"/>
              <a:buChar char="•"/>
              <a:tabLst>
                <a:tab pos="241935" algn="l"/>
              </a:tabLst>
            </a:pPr>
            <a:r>
              <a:rPr sz="2600" spc="-120" dirty="0">
                <a:solidFill>
                  <a:srgbClr val="FFFFFF"/>
                </a:solidFill>
                <a:latin typeface="Trebuchet MS"/>
                <a:cs typeface="Trebuchet MS"/>
              </a:rPr>
              <a:t>Zenmap</a:t>
            </a:r>
            <a:r>
              <a:rPr sz="2600" spc="-235" dirty="0">
                <a:solidFill>
                  <a:srgbClr val="FFFFFF"/>
                </a:solidFill>
                <a:latin typeface="Trebuchet MS"/>
                <a:cs typeface="Trebuchet MS"/>
              </a:rPr>
              <a:t> </a:t>
            </a:r>
            <a:r>
              <a:rPr sz="2600" spc="-90" dirty="0">
                <a:solidFill>
                  <a:srgbClr val="FFFFFF"/>
                </a:solidFill>
                <a:latin typeface="Trebuchet MS"/>
                <a:cs typeface="Trebuchet MS"/>
              </a:rPr>
              <a:t>is</a:t>
            </a:r>
            <a:r>
              <a:rPr sz="2600" spc="-204" dirty="0">
                <a:solidFill>
                  <a:srgbClr val="FFFFFF"/>
                </a:solidFill>
                <a:latin typeface="Trebuchet MS"/>
                <a:cs typeface="Trebuchet MS"/>
              </a:rPr>
              <a:t> </a:t>
            </a:r>
            <a:r>
              <a:rPr sz="2600" spc="-114" dirty="0">
                <a:solidFill>
                  <a:srgbClr val="FFFFFF"/>
                </a:solidFill>
                <a:latin typeface="Trebuchet MS"/>
                <a:cs typeface="Trebuchet MS"/>
              </a:rPr>
              <a:t>the</a:t>
            </a:r>
            <a:r>
              <a:rPr sz="2600" spc="-204" dirty="0">
                <a:solidFill>
                  <a:srgbClr val="FFFFFF"/>
                </a:solidFill>
                <a:latin typeface="Trebuchet MS"/>
                <a:cs typeface="Trebuchet MS"/>
              </a:rPr>
              <a:t> </a:t>
            </a:r>
            <a:r>
              <a:rPr sz="2600" spc="-150" dirty="0">
                <a:solidFill>
                  <a:srgbClr val="FFFFFF"/>
                </a:solidFill>
                <a:latin typeface="Trebuchet MS"/>
                <a:cs typeface="Trebuchet MS"/>
              </a:rPr>
              <a:t>official</a:t>
            </a:r>
            <a:r>
              <a:rPr lang="en-US" sz="2600" spc="-150" dirty="0">
                <a:solidFill>
                  <a:srgbClr val="FFFFFF"/>
                </a:solidFill>
                <a:latin typeface="Trebuchet MS"/>
                <a:cs typeface="Trebuchet MS"/>
              </a:rPr>
              <a:t> </a:t>
            </a:r>
            <a:r>
              <a:rPr sz="2600" spc="-200" dirty="0">
                <a:solidFill>
                  <a:srgbClr val="FFFFFF"/>
                </a:solidFill>
                <a:latin typeface="Trebuchet MS"/>
                <a:cs typeface="Trebuchet MS"/>
              </a:rPr>
              <a:t> </a:t>
            </a:r>
            <a:r>
              <a:rPr sz="2600" spc="-65" dirty="0">
                <a:solidFill>
                  <a:srgbClr val="FFFFFF"/>
                </a:solidFill>
                <a:latin typeface="Trebuchet MS"/>
                <a:cs typeface="Trebuchet MS"/>
              </a:rPr>
              <a:t>Nmap</a:t>
            </a:r>
            <a:r>
              <a:rPr sz="2600" spc="-220" dirty="0">
                <a:solidFill>
                  <a:srgbClr val="FFFFFF"/>
                </a:solidFill>
                <a:latin typeface="Trebuchet MS"/>
                <a:cs typeface="Trebuchet MS"/>
              </a:rPr>
              <a:t> </a:t>
            </a:r>
            <a:r>
              <a:rPr sz="2600" spc="-120" dirty="0">
                <a:solidFill>
                  <a:srgbClr val="FFFFFF"/>
                </a:solidFill>
                <a:latin typeface="Trebuchet MS"/>
                <a:cs typeface="Trebuchet MS"/>
              </a:rPr>
              <a:t>Security</a:t>
            </a:r>
            <a:r>
              <a:rPr sz="2600" spc="-220" dirty="0">
                <a:solidFill>
                  <a:srgbClr val="FFFFFF"/>
                </a:solidFill>
                <a:latin typeface="Trebuchet MS"/>
                <a:cs typeface="Trebuchet MS"/>
              </a:rPr>
              <a:t> </a:t>
            </a:r>
            <a:r>
              <a:rPr sz="2600" spc="-105" dirty="0">
                <a:solidFill>
                  <a:srgbClr val="FFFFFF"/>
                </a:solidFill>
                <a:latin typeface="Trebuchet MS"/>
                <a:cs typeface="Trebuchet MS"/>
              </a:rPr>
              <a:t>Scanner</a:t>
            </a:r>
            <a:r>
              <a:rPr sz="2600" spc="-195" dirty="0">
                <a:solidFill>
                  <a:srgbClr val="FFFFFF"/>
                </a:solidFill>
                <a:latin typeface="Trebuchet MS"/>
                <a:cs typeface="Trebuchet MS"/>
              </a:rPr>
              <a:t> </a:t>
            </a:r>
            <a:r>
              <a:rPr sz="2600" spc="-125" dirty="0">
                <a:solidFill>
                  <a:srgbClr val="FFFFFF"/>
                </a:solidFill>
                <a:latin typeface="Trebuchet MS"/>
                <a:cs typeface="Trebuchet MS"/>
              </a:rPr>
              <a:t>GUI.</a:t>
            </a:r>
            <a:endParaRPr sz="2600" dirty="0">
              <a:latin typeface="Trebuchet MS"/>
              <a:cs typeface="Trebuchet MS"/>
            </a:endParaRPr>
          </a:p>
          <a:p>
            <a:pPr marL="241300" marR="5080" indent="-229235">
              <a:lnSpc>
                <a:spcPct val="70000"/>
              </a:lnSpc>
              <a:spcBef>
                <a:spcPts val="995"/>
              </a:spcBef>
              <a:buFont typeface="Arial"/>
              <a:buChar char="•"/>
              <a:tabLst>
                <a:tab pos="241935" algn="l"/>
              </a:tabLst>
            </a:pPr>
            <a:r>
              <a:rPr sz="2600" spc="-114" dirty="0">
                <a:solidFill>
                  <a:srgbClr val="FFFFFF"/>
                </a:solidFill>
                <a:latin typeface="Trebuchet MS"/>
                <a:cs typeface="Trebuchet MS"/>
              </a:rPr>
              <a:t>It</a:t>
            </a:r>
            <a:r>
              <a:rPr sz="2600" spc="-204" dirty="0">
                <a:solidFill>
                  <a:srgbClr val="FFFFFF"/>
                </a:solidFill>
                <a:latin typeface="Trebuchet MS"/>
                <a:cs typeface="Trebuchet MS"/>
              </a:rPr>
              <a:t> </a:t>
            </a:r>
            <a:r>
              <a:rPr sz="2600" spc="-90" dirty="0">
                <a:solidFill>
                  <a:srgbClr val="FFFFFF"/>
                </a:solidFill>
                <a:latin typeface="Trebuchet MS"/>
                <a:cs typeface="Trebuchet MS"/>
              </a:rPr>
              <a:t>is</a:t>
            </a:r>
            <a:r>
              <a:rPr sz="2600" spc="-204" dirty="0">
                <a:solidFill>
                  <a:srgbClr val="FFFFFF"/>
                </a:solidFill>
                <a:latin typeface="Trebuchet MS"/>
                <a:cs typeface="Trebuchet MS"/>
              </a:rPr>
              <a:t> </a:t>
            </a:r>
            <a:r>
              <a:rPr sz="2600" spc="-120" dirty="0">
                <a:solidFill>
                  <a:srgbClr val="FFFFFF"/>
                </a:solidFill>
                <a:latin typeface="Trebuchet MS"/>
                <a:cs typeface="Trebuchet MS"/>
              </a:rPr>
              <a:t>a</a:t>
            </a:r>
            <a:r>
              <a:rPr sz="2600" spc="-195" dirty="0">
                <a:solidFill>
                  <a:srgbClr val="FFFFFF"/>
                </a:solidFill>
                <a:latin typeface="Trebuchet MS"/>
                <a:cs typeface="Trebuchet MS"/>
              </a:rPr>
              <a:t> </a:t>
            </a:r>
            <a:r>
              <a:rPr sz="2600" spc="-130" dirty="0">
                <a:solidFill>
                  <a:srgbClr val="FFFFFF"/>
                </a:solidFill>
                <a:latin typeface="Trebuchet MS"/>
                <a:cs typeface="Trebuchet MS"/>
              </a:rPr>
              <a:t>multi-platform</a:t>
            </a:r>
            <a:r>
              <a:rPr sz="2600" spc="-185" dirty="0">
                <a:solidFill>
                  <a:srgbClr val="FFFFFF"/>
                </a:solidFill>
                <a:latin typeface="Trebuchet MS"/>
                <a:cs typeface="Trebuchet MS"/>
              </a:rPr>
              <a:t> </a:t>
            </a:r>
            <a:r>
              <a:rPr sz="2600" spc="-140" dirty="0">
                <a:solidFill>
                  <a:srgbClr val="FFFFFF"/>
                </a:solidFill>
                <a:latin typeface="Trebuchet MS"/>
                <a:cs typeface="Trebuchet MS"/>
              </a:rPr>
              <a:t>free</a:t>
            </a:r>
            <a:r>
              <a:rPr sz="2600" spc="-220" dirty="0">
                <a:solidFill>
                  <a:srgbClr val="FFFFFF"/>
                </a:solidFill>
                <a:latin typeface="Trebuchet MS"/>
                <a:cs typeface="Trebuchet MS"/>
              </a:rPr>
              <a:t> </a:t>
            </a:r>
            <a:r>
              <a:rPr sz="2600" spc="-85" dirty="0">
                <a:solidFill>
                  <a:srgbClr val="FFFFFF"/>
                </a:solidFill>
                <a:latin typeface="Trebuchet MS"/>
                <a:cs typeface="Trebuchet MS"/>
              </a:rPr>
              <a:t>and</a:t>
            </a:r>
            <a:r>
              <a:rPr sz="2600" spc="-210" dirty="0">
                <a:solidFill>
                  <a:srgbClr val="FFFFFF"/>
                </a:solidFill>
                <a:latin typeface="Trebuchet MS"/>
                <a:cs typeface="Trebuchet MS"/>
              </a:rPr>
              <a:t> </a:t>
            </a:r>
            <a:r>
              <a:rPr sz="2600" spc="-75" dirty="0">
                <a:solidFill>
                  <a:srgbClr val="FFFFFF"/>
                </a:solidFill>
                <a:latin typeface="Trebuchet MS"/>
                <a:cs typeface="Trebuchet MS"/>
              </a:rPr>
              <a:t>open</a:t>
            </a:r>
            <a:r>
              <a:rPr sz="2600" spc="-215" dirty="0">
                <a:solidFill>
                  <a:srgbClr val="FFFFFF"/>
                </a:solidFill>
                <a:latin typeface="Trebuchet MS"/>
                <a:cs typeface="Trebuchet MS"/>
              </a:rPr>
              <a:t> </a:t>
            </a:r>
            <a:r>
              <a:rPr sz="2600" spc="-95" dirty="0">
                <a:solidFill>
                  <a:srgbClr val="FFFFFF"/>
                </a:solidFill>
                <a:latin typeface="Trebuchet MS"/>
                <a:cs typeface="Trebuchet MS"/>
              </a:rPr>
              <a:t>source</a:t>
            </a:r>
            <a:r>
              <a:rPr sz="2600" spc="-204" dirty="0">
                <a:solidFill>
                  <a:srgbClr val="FFFFFF"/>
                </a:solidFill>
                <a:latin typeface="Trebuchet MS"/>
                <a:cs typeface="Trebuchet MS"/>
              </a:rPr>
              <a:t> </a:t>
            </a:r>
            <a:r>
              <a:rPr sz="2600" spc="-120" dirty="0">
                <a:solidFill>
                  <a:srgbClr val="FFFFFF"/>
                </a:solidFill>
                <a:latin typeface="Trebuchet MS"/>
                <a:cs typeface="Trebuchet MS"/>
              </a:rPr>
              <a:t>application</a:t>
            </a:r>
            <a:r>
              <a:rPr sz="2600" spc="-200" dirty="0">
                <a:solidFill>
                  <a:srgbClr val="FFFFFF"/>
                </a:solidFill>
                <a:latin typeface="Trebuchet MS"/>
                <a:cs typeface="Trebuchet MS"/>
              </a:rPr>
              <a:t> </a:t>
            </a:r>
            <a:r>
              <a:rPr sz="2600" spc="-105" dirty="0">
                <a:solidFill>
                  <a:srgbClr val="FFFFFF"/>
                </a:solidFill>
                <a:latin typeface="Trebuchet MS"/>
                <a:cs typeface="Trebuchet MS"/>
              </a:rPr>
              <a:t>which</a:t>
            </a:r>
            <a:r>
              <a:rPr sz="2600" spc="-204" dirty="0">
                <a:solidFill>
                  <a:srgbClr val="FFFFFF"/>
                </a:solidFill>
                <a:latin typeface="Trebuchet MS"/>
                <a:cs typeface="Trebuchet MS"/>
              </a:rPr>
              <a:t> </a:t>
            </a:r>
            <a:r>
              <a:rPr sz="2600" spc="-95" dirty="0">
                <a:solidFill>
                  <a:srgbClr val="FFFFFF"/>
                </a:solidFill>
                <a:latin typeface="Trebuchet MS"/>
                <a:cs typeface="Trebuchet MS"/>
              </a:rPr>
              <a:t>aims</a:t>
            </a:r>
            <a:r>
              <a:rPr sz="2600" spc="-210" dirty="0">
                <a:solidFill>
                  <a:srgbClr val="FFFFFF"/>
                </a:solidFill>
                <a:latin typeface="Trebuchet MS"/>
                <a:cs typeface="Trebuchet MS"/>
              </a:rPr>
              <a:t> </a:t>
            </a:r>
            <a:r>
              <a:rPr sz="2600" spc="-105" dirty="0">
                <a:solidFill>
                  <a:srgbClr val="FFFFFF"/>
                </a:solidFill>
                <a:latin typeface="Trebuchet MS"/>
                <a:cs typeface="Trebuchet MS"/>
              </a:rPr>
              <a:t>to</a:t>
            </a:r>
            <a:r>
              <a:rPr sz="2600" spc="-200" dirty="0">
                <a:solidFill>
                  <a:srgbClr val="FFFFFF"/>
                </a:solidFill>
                <a:latin typeface="Trebuchet MS"/>
                <a:cs typeface="Trebuchet MS"/>
              </a:rPr>
              <a:t> </a:t>
            </a:r>
            <a:r>
              <a:rPr sz="2600" spc="-140" dirty="0">
                <a:solidFill>
                  <a:srgbClr val="FFFFFF"/>
                </a:solidFill>
                <a:latin typeface="Trebuchet MS"/>
                <a:cs typeface="Trebuchet MS"/>
              </a:rPr>
              <a:t>make  </a:t>
            </a:r>
            <a:r>
              <a:rPr sz="2600" spc="-65" dirty="0">
                <a:solidFill>
                  <a:srgbClr val="FFFFFF"/>
                </a:solidFill>
                <a:latin typeface="Trebuchet MS"/>
                <a:cs typeface="Trebuchet MS"/>
              </a:rPr>
              <a:t>Nmap</a:t>
            </a:r>
            <a:r>
              <a:rPr sz="2600" spc="-220" dirty="0">
                <a:solidFill>
                  <a:srgbClr val="FFFFFF"/>
                </a:solidFill>
                <a:latin typeface="Trebuchet MS"/>
                <a:cs typeface="Trebuchet MS"/>
              </a:rPr>
              <a:t> </a:t>
            </a:r>
            <a:r>
              <a:rPr sz="2600" spc="-110" dirty="0">
                <a:solidFill>
                  <a:srgbClr val="FFFFFF"/>
                </a:solidFill>
                <a:latin typeface="Trebuchet MS"/>
                <a:cs typeface="Trebuchet MS"/>
              </a:rPr>
              <a:t>easy</a:t>
            </a:r>
            <a:r>
              <a:rPr sz="2600" spc="-215" dirty="0">
                <a:solidFill>
                  <a:srgbClr val="FFFFFF"/>
                </a:solidFill>
                <a:latin typeface="Trebuchet MS"/>
                <a:cs typeface="Trebuchet MS"/>
              </a:rPr>
              <a:t> </a:t>
            </a:r>
            <a:r>
              <a:rPr sz="2600" spc="-120" dirty="0">
                <a:solidFill>
                  <a:srgbClr val="FFFFFF"/>
                </a:solidFill>
                <a:latin typeface="Trebuchet MS"/>
                <a:cs typeface="Trebuchet MS"/>
              </a:rPr>
              <a:t>for</a:t>
            </a:r>
            <a:r>
              <a:rPr sz="2600" spc="-200" dirty="0">
                <a:solidFill>
                  <a:srgbClr val="FFFFFF"/>
                </a:solidFill>
                <a:latin typeface="Trebuchet MS"/>
                <a:cs typeface="Trebuchet MS"/>
              </a:rPr>
              <a:t> </a:t>
            </a:r>
            <a:r>
              <a:rPr sz="2600" spc="-100" dirty="0">
                <a:solidFill>
                  <a:srgbClr val="FFFFFF"/>
                </a:solidFill>
                <a:latin typeface="Trebuchet MS"/>
                <a:cs typeface="Trebuchet MS"/>
              </a:rPr>
              <a:t>beginners</a:t>
            </a:r>
            <a:r>
              <a:rPr sz="2600" spc="-235" dirty="0">
                <a:solidFill>
                  <a:srgbClr val="FFFFFF"/>
                </a:solidFill>
                <a:latin typeface="Trebuchet MS"/>
                <a:cs typeface="Trebuchet MS"/>
              </a:rPr>
              <a:t> </a:t>
            </a:r>
            <a:r>
              <a:rPr sz="2600" spc="-105" dirty="0">
                <a:solidFill>
                  <a:srgbClr val="FFFFFF"/>
                </a:solidFill>
                <a:latin typeface="Trebuchet MS"/>
                <a:cs typeface="Trebuchet MS"/>
              </a:rPr>
              <a:t>to</a:t>
            </a:r>
            <a:r>
              <a:rPr sz="2600" spc="-190" dirty="0">
                <a:solidFill>
                  <a:srgbClr val="FFFFFF"/>
                </a:solidFill>
                <a:latin typeface="Trebuchet MS"/>
                <a:cs typeface="Trebuchet MS"/>
              </a:rPr>
              <a:t> </a:t>
            </a:r>
            <a:r>
              <a:rPr sz="2600" spc="-135" dirty="0">
                <a:solidFill>
                  <a:srgbClr val="FFFFFF"/>
                </a:solidFill>
                <a:latin typeface="Trebuchet MS"/>
                <a:cs typeface="Trebuchet MS"/>
              </a:rPr>
              <a:t>use.</a:t>
            </a:r>
            <a:endParaRPr sz="2600" dirty="0">
              <a:latin typeface="Trebuchet MS"/>
              <a:cs typeface="Trebuchet MS"/>
            </a:endParaRPr>
          </a:p>
          <a:p>
            <a:pPr marL="241300" indent="-229235">
              <a:lnSpc>
                <a:spcPct val="100000"/>
              </a:lnSpc>
              <a:spcBef>
                <a:spcPts val="60"/>
              </a:spcBef>
              <a:buFont typeface="Arial"/>
              <a:buChar char="•"/>
              <a:tabLst>
                <a:tab pos="241935" algn="l"/>
              </a:tabLst>
            </a:pPr>
            <a:r>
              <a:rPr sz="2600" spc="-114" dirty="0">
                <a:solidFill>
                  <a:srgbClr val="FFFFFF"/>
                </a:solidFill>
                <a:latin typeface="Trebuchet MS"/>
                <a:cs typeface="Trebuchet MS"/>
              </a:rPr>
              <a:t>It</a:t>
            </a:r>
            <a:r>
              <a:rPr sz="2600" spc="-195" dirty="0">
                <a:solidFill>
                  <a:srgbClr val="FFFFFF"/>
                </a:solidFill>
                <a:latin typeface="Trebuchet MS"/>
                <a:cs typeface="Trebuchet MS"/>
              </a:rPr>
              <a:t> </a:t>
            </a:r>
            <a:r>
              <a:rPr sz="2600" spc="-95" dirty="0">
                <a:solidFill>
                  <a:srgbClr val="FFFFFF"/>
                </a:solidFill>
                <a:latin typeface="Trebuchet MS"/>
                <a:cs typeface="Trebuchet MS"/>
              </a:rPr>
              <a:t>provides</a:t>
            </a:r>
            <a:r>
              <a:rPr sz="2600" spc="-225" dirty="0">
                <a:solidFill>
                  <a:srgbClr val="FFFFFF"/>
                </a:solidFill>
                <a:latin typeface="Trebuchet MS"/>
                <a:cs typeface="Trebuchet MS"/>
              </a:rPr>
              <a:t> </a:t>
            </a:r>
            <a:r>
              <a:rPr sz="2600" spc="-114" dirty="0">
                <a:solidFill>
                  <a:srgbClr val="FFFFFF"/>
                </a:solidFill>
                <a:latin typeface="Trebuchet MS"/>
                <a:cs typeface="Trebuchet MS"/>
              </a:rPr>
              <a:t>advanced</a:t>
            </a:r>
            <a:r>
              <a:rPr sz="2600" spc="-229" dirty="0">
                <a:solidFill>
                  <a:srgbClr val="FFFFFF"/>
                </a:solidFill>
                <a:latin typeface="Trebuchet MS"/>
                <a:cs typeface="Trebuchet MS"/>
              </a:rPr>
              <a:t> </a:t>
            </a:r>
            <a:r>
              <a:rPr sz="2600" spc="-125" dirty="0">
                <a:solidFill>
                  <a:srgbClr val="FFFFFF"/>
                </a:solidFill>
                <a:latin typeface="Trebuchet MS"/>
                <a:cs typeface="Trebuchet MS"/>
              </a:rPr>
              <a:t>features</a:t>
            </a:r>
            <a:r>
              <a:rPr sz="2600" spc="-229" dirty="0">
                <a:solidFill>
                  <a:srgbClr val="FFFFFF"/>
                </a:solidFill>
                <a:latin typeface="Trebuchet MS"/>
                <a:cs typeface="Trebuchet MS"/>
              </a:rPr>
              <a:t> </a:t>
            </a:r>
            <a:r>
              <a:rPr sz="2600" spc="-125" dirty="0">
                <a:solidFill>
                  <a:srgbClr val="FFFFFF"/>
                </a:solidFill>
                <a:latin typeface="Trebuchet MS"/>
                <a:cs typeface="Trebuchet MS"/>
              </a:rPr>
              <a:t>for</a:t>
            </a:r>
            <a:r>
              <a:rPr sz="2600" spc="-190" dirty="0">
                <a:solidFill>
                  <a:srgbClr val="FFFFFF"/>
                </a:solidFill>
                <a:latin typeface="Trebuchet MS"/>
                <a:cs typeface="Trebuchet MS"/>
              </a:rPr>
              <a:t> </a:t>
            </a:r>
            <a:r>
              <a:rPr sz="2600" spc="-130" dirty="0">
                <a:solidFill>
                  <a:srgbClr val="FFFFFF"/>
                </a:solidFill>
                <a:latin typeface="Trebuchet MS"/>
                <a:cs typeface="Trebuchet MS"/>
              </a:rPr>
              <a:t>experienced</a:t>
            </a:r>
            <a:r>
              <a:rPr sz="2600" spc="-240" dirty="0">
                <a:solidFill>
                  <a:srgbClr val="FFFFFF"/>
                </a:solidFill>
                <a:latin typeface="Trebuchet MS"/>
                <a:cs typeface="Trebuchet MS"/>
              </a:rPr>
              <a:t> </a:t>
            </a:r>
            <a:r>
              <a:rPr sz="2600" spc="-65" dirty="0">
                <a:solidFill>
                  <a:srgbClr val="FFFFFF"/>
                </a:solidFill>
                <a:latin typeface="Trebuchet MS"/>
                <a:cs typeface="Trebuchet MS"/>
              </a:rPr>
              <a:t>Nmap</a:t>
            </a:r>
            <a:r>
              <a:rPr sz="2600" spc="-215" dirty="0">
                <a:solidFill>
                  <a:srgbClr val="FFFFFF"/>
                </a:solidFill>
                <a:latin typeface="Trebuchet MS"/>
                <a:cs typeface="Trebuchet MS"/>
              </a:rPr>
              <a:t> </a:t>
            </a:r>
            <a:r>
              <a:rPr sz="2600" spc="-120" dirty="0">
                <a:solidFill>
                  <a:srgbClr val="FFFFFF"/>
                </a:solidFill>
                <a:latin typeface="Trebuchet MS"/>
                <a:cs typeface="Trebuchet MS"/>
              </a:rPr>
              <a:t>users.</a:t>
            </a:r>
            <a:endParaRPr sz="2600" dirty="0">
              <a:latin typeface="Trebuchet MS"/>
              <a:cs typeface="Trebuchet MS"/>
            </a:endParaRPr>
          </a:p>
          <a:p>
            <a:pPr marL="241300" marR="263525" indent="-229235">
              <a:lnSpc>
                <a:spcPct val="70000"/>
              </a:lnSpc>
              <a:spcBef>
                <a:spcPts val="1010"/>
              </a:spcBef>
              <a:buFont typeface="Arial"/>
              <a:buChar char="•"/>
              <a:tabLst>
                <a:tab pos="241935" algn="l"/>
              </a:tabLst>
            </a:pPr>
            <a:r>
              <a:rPr sz="2600" spc="-120" dirty="0">
                <a:solidFill>
                  <a:srgbClr val="FFFFFF"/>
                </a:solidFill>
                <a:latin typeface="Trebuchet MS"/>
                <a:cs typeface="Trebuchet MS"/>
              </a:rPr>
              <a:t>Frequently</a:t>
            </a:r>
            <a:r>
              <a:rPr sz="2600" spc="-235" dirty="0">
                <a:solidFill>
                  <a:srgbClr val="FFFFFF"/>
                </a:solidFill>
                <a:latin typeface="Trebuchet MS"/>
                <a:cs typeface="Trebuchet MS"/>
              </a:rPr>
              <a:t> </a:t>
            </a:r>
            <a:r>
              <a:rPr sz="2600" spc="-80" dirty="0">
                <a:solidFill>
                  <a:srgbClr val="FFFFFF"/>
                </a:solidFill>
                <a:latin typeface="Trebuchet MS"/>
                <a:cs typeface="Trebuchet MS"/>
              </a:rPr>
              <a:t>used</a:t>
            </a:r>
            <a:r>
              <a:rPr sz="2600" spc="-215" dirty="0">
                <a:solidFill>
                  <a:srgbClr val="FFFFFF"/>
                </a:solidFill>
                <a:latin typeface="Trebuchet MS"/>
                <a:cs typeface="Trebuchet MS"/>
              </a:rPr>
              <a:t> </a:t>
            </a:r>
            <a:r>
              <a:rPr sz="2600" spc="-95" dirty="0">
                <a:solidFill>
                  <a:srgbClr val="FFFFFF"/>
                </a:solidFill>
                <a:latin typeface="Trebuchet MS"/>
                <a:cs typeface="Trebuchet MS"/>
              </a:rPr>
              <a:t>scans</a:t>
            </a:r>
            <a:r>
              <a:rPr sz="2600" spc="-220" dirty="0">
                <a:solidFill>
                  <a:srgbClr val="FFFFFF"/>
                </a:solidFill>
                <a:latin typeface="Trebuchet MS"/>
                <a:cs typeface="Trebuchet MS"/>
              </a:rPr>
              <a:t> </a:t>
            </a:r>
            <a:r>
              <a:rPr sz="2600" spc="-130" dirty="0">
                <a:solidFill>
                  <a:srgbClr val="FFFFFF"/>
                </a:solidFill>
                <a:latin typeface="Trebuchet MS"/>
                <a:cs typeface="Trebuchet MS"/>
              </a:rPr>
              <a:t>can</a:t>
            </a:r>
            <a:r>
              <a:rPr sz="2600" spc="-190" dirty="0">
                <a:solidFill>
                  <a:srgbClr val="FFFFFF"/>
                </a:solidFill>
                <a:latin typeface="Trebuchet MS"/>
                <a:cs typeface="Trebuchet MS"/>
              </a:rPr>
              <a:t> </a:t>
            </a:r>
            <a:r>
              <a:rPr sz="2600" spc="-105" dirty="0">
                <a:solidFill>
                  <a:srgbClr val="FFFFFF"/>
                </a:solidFill>
                <a:latin typeface="Trebuchet MS"/>
                <a:cs typeface="Trebuchet MS"/>
              </a:rPr>
              <a:t>be</a:t>
            </a:r>
            <a:r>
              <a:rPr sz="2600" spc="-204" dirty="0">
                <a:solidFill>
                  <a:srgbClr val="FFFFFF"/>
                </a:solidFill>
                <a:latin typeface="Trebuchet MS"/>
                <a:cs typeface="Trebuchet MS"/>
              </a:rPr>
              <a:t> </a:t>
            </a:r>
            <a:r>
              <a:rPr sz="2600" spc="-110" dirty="0">
                <a:solidFill>
                  <a:srgbClr val="FFFFFF"/>
                </a:solidFill>
                <a:latin typeface="Trebuchet MS"/>
                <a:cs typeface="Trebuchet MS"/>
              </a:rPr>
              <a:t>saved</a:t>
            </a:r>
            <a:r>
              <a:rPr sz="2600" spc="-220" dirty="0">
                <a:solidFill>
                  <a:srgbClr val="FFFFFF"/>
                </a:solidFill>
                <a:latin typeface="Trebuchet MS"/>
                <a:cs typeface="Trebuchet MS"/>
              </a:rPr>
              <a:t> </a:t>
            </a:r>
            <a:r>
              <a:rPr sz="2600" spc="-80" dirty="0">
                <a:solidFill>
                  <a:srgbClr val="FFFFFF"/>
                </a:solidFill>
                <a:latin typeface="Trebuchet MS"/>
                <a:cs typeface="Trebuchet MS"/>
              </a:rPr>
              <a:t>as</a:t>
            </a:r>
            <a:r>
              <a:rPr sz="2600" spc="-190" dirty="0">
                <a:solidFill>
                  <a:srgbClr val="FFFFFF"/>
                </a:solidFill>
                <a:latin typeface="Trebuchet MS"/>
                <a:cs typeface="Trebuchet MS"/>
              </a:rPr>
              <a:t> </a:t>
            </a:r>
            <a:r>
              <a:rPr sz="2600" spc="-114" dirty="0">
                <a:solidFill>
                  <a:srgbClr val="FFFFFF"/>
                </a:solidFill>
                <a:latin typeface="Trebuchet MS"/>
                <a:cs typeface="Trebuchet MS"/>
              </a:rPr>
              <a:t>profiles</a:t>
            </a:r>
            <a:r>
              <a:rPr sz="2600" spc="-240" dirty="0">
                <a:solidFill>
                  <a:srgbClr val="FFFFFF"/>
                </a:solidFill>
                <a:latin typeface="Trebuchet MS"/>
                <a:cs typeface="Trebuchet MS"/>
              </a:rPr>
              <a:t> </a:t>
            </a:r>
            <a:r>
              <a:rPr sz="2600" spc="-105" dirty="0">
                <a:solidFill>
                  <a:srgbClr val="FFFFFF"/>
                </a:solidFill>
                <a:latin typeface="Trebuchet MS"/>
                <a:cs typeface="Trebuchet MS"/>
              </a:rPr>
              <a:t>to</a:t>
            </a:r>
            <a:r>
              <a:rPr sz="2600" spc="-195" dirty="0">
                <a:solidFill>
                  <a:srgbClr val="FFFFFF"/>
                </a:solidFill>
                <a:latin typeface="Trebuchet MS"/>
                <a:cs typeface="Trebuchet MS"/>
              </a:rPr>
              <a:t> </a:t>
            </a:r>
            <a:r>
              <a:rPr sz="2600" spc="-135" dirty="0">
                <a:solidFill>
                  <a:srgbClr val="FFFFFF"/>
                </a:solidFill>
                <a:latin typeface="Trebuchet MS"/>
                <a:cs typeface="Trebuchet MS"/>
              </a:rPr>
              <a:t>make</a:t>
            </a:r>
            <a:r>
              <a:rPr sz="2600" spc="-204" dirty="0">
                <a:solidFill>
                  <a:srgbClr val="FFFFFF"/>
                </a:solidFill>
                <a:latin typeface="Trebuchet MS"/>
                <a:cs typeface="Trebuchet MS"/>
              </a:rPr>
              <a:t> </a:t>
            </a:r>
            <a:r>
              <a:rPr sz="2600" spc="-105" dirty="0">
                <a:solidFill>
                  <a:srgbClr val="FFFFFF"/>
                </a:solidFill>
                <a:latin typeface="Trebuchet MS"/>
                <a:cs typeface="Trebuchet MS"/>
              </a:rPr>
              <a:t>them</a:t>
            </a:r>
            <a:r>
              <a:rPr sz="2600" spc="-210" dirty="0">
                <a:solidFill>
                  <a:srgbClr val="FFFFFF"/>
                </a:solidFill>
                <a:latin typeface="Trebuchet MS"/>
                <a:cs typeface="Trebuchet MS"/>
              </a:rPr>
              <a:t> </a:t>
            </a:r>
            <a:r>
              <a:rPr sz="2600" spc="-110" dirty="0">
                <a:solidFill>
                  <a:srgbClr val="FFFFFF"/>
                </a:solidFill>
                <a:latin typeface="Trebuchet MS"/>
                <a:cs typeface="Trebuchet MS"/>
              </a:rPr>
              <a:t>easy</a:t>
            </a:r>
            <a:r>
              <a:rPr sz="2600" spc="-204" dirty="0">
                <a:solidFill>
                  <a:srgbClr val="FFFFFF"/>
                </a:solidFill>
                <a:latin typeface="Trebuchet MS"/>
                <a:cs typeface="Trebuchet MS"/>
              </a:rPr>
              <a:t> </a:t>
            </a:r>
            <a:r>
              <a:rPr sz="2600" spc="-105" dirty="0">
                <a:solidFill>
                  <a:srgbClr val="FFFFFF"/>
                </a:solidFill>
                <a:latin typeface="Trebuchet MS"/>
                <a:cs typeface="Trebuchet MS"/>
              </a:rPr>
              <a:t>to</a:t>
            </a:r>
            <a:r>
              <a:rPr sz="2600" spc="-200" dirty="0">
                <a:solidFill>
                  <a:srgbClr val="FFFFFF"/>
                </a:solidFill>
                <a:latin typeface="Trebuchet MS"/>
                <a:cs typeface="Trebuchet MS"/>
              </a:rPr>
              <a:t> </a:t>
            </a:r>
            <a:r>
              <a:rPr sz="2600" spc="-70" dirty="0">
                <a:solidFill>
                  <a:srgbClr val="FFFFFF"/>
                </a:solidFill>
                <a:latin typeface="Trebuchet MS"/>
                <a:cs typeface="Trebuchet MS"/>
              </a:rPr>
              <a:t>run  </a:t>
            </a:r>
            <a:r>
              <a:rPr sz="2600" spc="-160" dirty="0">
                <a:solidFill>
                  <a:srgbClr val="FFFFFF"/>
                </a:solidFill>
                <a:latin typeface="Trebuchet MS"/>
                <a:cs typeface="Trebuchet MS"/>
              </a:rPr>
              <a:t>repeatedly.</a:t>
            </a:r>
            <a:endParaRPr sz="2600" dirty="0">
              <a:latin typeface="Trebuchet MS"/>
              <a:cs typeface="Trebuchet MS"/>
            </a:endParaRPr>
          </a:p>
          <a:p>
            <a:pPr marL="241300" marR="454659" indent="-229235">
              <a:lnSpc>
                <a:spcPct val="70000"/>
              </a:lnSpc>
              <a:spcBef>
                <a:spcPts val="1010"/>
              </a:spcBef>
              <a:buClr>
                <a:srgbClr val="FFFFFF"/>
              </a:buClr>
              <a:buFont typeface="Arial"/>
              <a:buChar char="•"/>
              <a:tabLst>
                <a:tab pos="315595" algn="l"/>
                <a:tab pos="316865" algn="l"/>
              </a:tabLst>
            </a:pPr>
            <a:r>
              <a:rPr lang="en-US" dirty="0"/>
              <a:t>	</a:t>
            </a:r>
            <a:r>
              <a:rPr lang="en-US" sz="2600" spc="-114" dirty="0">
                <a:solidFill>
                  <a:srgbClr val="FFFFFF"/>
                </a:solidFill>
                <a:latin typeface="Trebuchet MS"/>
                <a:cs typeface="Trebuchet MS"/>
              </a:rPr>
              <a:t>Saved</a:t>
            </a:r>
            <a:r>
              <a:rPr lang="en-US" sz="2600" spc="-210" dirty="0">
                <a:solidFill>
                  <a:srgbClr val="FFFFFF"/>
                </a:solidFill>
                <a:latin typeface="Trebuchet MS"/>
                <a:cs typeface="Trebuchet MS"/>
              </a:rPr>
              <a:t> </a:t>
            </a:r>
            <a:r>
              <a:rPr lang="en-US" sz="2600" spc="-110" dirty="0">
                <a:solidFill>
                  <a:srgbClr val="FFFFFF"/>
                </a:solidFill>
                <a:latin typeface="Trebuchet MS"/>
                <a:cs typeface="Trebuchet MS"/>
              </a:rPr>
              <a:t>scan</a:t>
            </a:r>
            <a:r>
              <a:rPr lang="en-US" sz="2600" spc="-204" dirty="0">
                <a:solidFill>
                  <a:srgbClr val="FFFFFF"/>
                </a:solidFill>
                <a:latin typeface="Trebuchet MS"/>
                <a:cs typeface="Trebuchet MS"/>
              </a:rPr>
              <a:t> </a:t>
            </a:r>
            <a:r>
              <a:rPr lang="en-US" sz="2600" spc="-105" dirty="0">
                <a:solidFill>
                  <a:srgbClr val="FFFFFF"/>
                </a:solidFill>
                <a:latin typeface="Trebuchet MS"/>
                <a:cs typeface="Trebuchet MS"/>
              </a:rPr>
              <a:t>results</a:t>
            </a:r>
            <a:r>
              <a:rPr lang="en-US" sz="2600" spc="-215" dirty="0">
                <a:solidFill>
                  <a:srgbClr val="FFFFFF"/>
                </a:solidFill>
                <a:latin typeface="Trebuchet MS"/>
                <a:cs typeface="Trebuchet MS"/>
              </a:rPr>
              <a:t> </a:t>
            </a:r>
            <a:r>
              <a:rPr lang="en-US" sz="2600" spc="-130" dirty="0">
                <a:solidFill>
                  <a:srgbClr val="FFFFFF"/>
                </a:solidFill>
                <a:latin typeface="Trebuchet MS"/>
                <a:cs typeface="Trebuchet MS"/>
              </a:rPr>
              <a:t>can</a:t>
            </a:r>
            <a:r>
              <a:rPr lang="en-US" sz="2600" spc="-204" dirty="0">
                <a:solidFill>
                  <a:srgbClr val="FFFFFF"/>
                </a:solidFill>
                <a:latin typeface="Trebuchet MS"/>
                <a:cs typeface="Trebuchet MS"/>
              </a:rPr>
              <a:t> </a:t>
            </a:r>
            <a:r>
              <a:rPr lang="en-US" sz="2600" spc="-105" dirty="0">
                <a:solidFill>
                  <a:srgbClr val="FFFFFF"/>
                </a:solidFill>
                <a:latin typeface="Trebuchet MS"/>
                <a:cs typeface="Trebuchet MS"/>
              </a:rPr>
              <a:t>be</a:t>
            </a:r>
            <a:r>
              <a:rPr lang="en-US" sz="2600" spc="-210" dirty="0">
                <a:solidFill>
                  <a:srgbClr val="FFFFFF"/>
                </a:solidFill>
                <a:latin typeface="Trebuchet MS"/>
                <a:cs typeface="Trebuchet MS"/>
              </a:rPr>
              <a:t> </a:t>
            </a:r>
            <a:r>
              <a:rPr lang="en-US" sz="2600" spc="-110" dirty="0">
                <a:solidFill>
                  <a:srgbClr val="FFFFFF"/>
                </a:solidFill>
                <a:latin typeface="Trebuchet MS"/>
                <a:cs typeface="Trebuchet MS"/>
              </a:rPr>
              <a:t>compared</a:t>
            </a:r>
            <a:r>
              <a:rPr lang="en-US" sz="2600" spc="-204" dirty="0">
                <a:solidFill>
                  <a:srgbClr val="FFFFFF"/>
                </a:solidFill>
                <a:latin typeface="Trebuchet MS"/>
                <a:cs typeface="Trebuchet MS"/>
              </a:rPr>
              <a:t> </a:t>
            </a:r>
            <a:r>
              <a:rPr lang="en-US" sz="2600" spc="-110" dirty="0">
                <a:solidFill>
                  <a:srgbClr val="FFFFFF"/>
                </a:solidFill>
                <a:latin typeface="Trebuchet MS"/>
                <a:cs typeface="Trebuchet MS"/>
              </a:rPr>
              <a:t>with</a:t>
            </a:r>
            <a:r>
              <a:rPr lang="en-US" sz="2600" spc="-195" dirty="0">
                <a:solidFill>
                  <a:srgbClr val="FFFFFF"/>
                </a:solidFill>
                <a:latin typeface="Trebuchet MS"/>
                <a:cs typeface="Trebuchet MS"/>
              </a:rPr>
              <a:t> </a:t>
            </a:r>
            <a:r>
              <a:rPr lang="en-US" sz="2600" spc="-70" dirty="0">
                <a:solidFill>
                  <a:srgbClr val="FFFFFF"/>
                </a:solidFill>
                <a:latin typeface="Trebuchet MS"/>
                <a:cs typeface="Trebuchet MS"/>
              </a:rPr>
              <a:t>one</a:t>
            </a:r>
            <a:r>
              <a:rPr lang="en-US" sz="2600" spc="-204" dirty="0">
                <a:solidFill>
                  <a:srgbClr val="FFFFFF"/>
                </a:solidFill>
                <a:latin typeface="Trebuchet MS"/>
                <a:cs typeface="Trebuchet MS"/>
              </a:rPr>
              <a:t> </a:t>
            </a:r>
            <a:r>
              <a:rPr lang="en-US" sz="2600" spc="-90" dirty="0">
                <a:solidFill>
                  <a:srgbClr val="FFFFFF"/>
                </a:solidFill>
                <a:latin typeface="Trebuchet MS"/>
                <a:cs typeface="Trebuchet MS"/>
              </a:rPr>
              <a:t>another</a:t>
            </a:r>
            <a:r>
              <a:rPr lang="en-US" sz="2600" spc="-204" dirty="0">
                <a:solidFill>
                  <a:srgbClr val="FFFFFF"/>
                </a:solidFill>
                <a:latin typeface="Trebuchet MS"/>
                <a:cs typeface="Trebuchet MS"/>
              </a:rPr>
              <a:t> </a:t>
            </a:r>
            <a:r>
              <a:rPr lang="en-US" sz="2600" spc="-105" dirty="0">
                <a:solidFill>
                  <a:srgbClr val="FFFFFF"/>
                </a:solidFill>
                <a:latin typeface="Trebuchet MS"/>
                <a:cs typeface="Trebuchet MS"/>
              </a:rPr>
              <a:t>to</a:t>
            </a:r>
            <a:r>
              <a:rPr lang="en-US" sz="2600" spc="-195" dirty="0">
                <a:solidFill>
                  <a:srgbClr val="FFFFFF"/>
                </a:solidFill>
                <a:latin typeface="Trebuchet MS"/>
                <a:cs typeface="Trebuchet MS"/>
              </a:rPr>
              <a:t> </a:t>
            </a:r>
            <a:r>
              <a:rPr lang="en-US" sz="2600" spc="-100" dirty="0">
                <a:solidFill>
                  <a:srgbClr val="FFFFFF"/>
                </a:solidFill>
                <a:latin typeface="Trebuchet MS"/>
                <a:cs typeface="Trebuchet MS"/>
              </a:rPr>
              <a:t>see</a:t>
            </a:r>
            <a:r>
              <a:rPr lang="en-US" sz="2600" spc="-225" dirty="0">
                <a:solidFill>
                  <a:srgbClr val="FFFFFF"/>
                </a:solidFill>
                <a:latin typeface="Trebuchet MS"/>
                <a:cs typeface="Trebuchet MS"/>
              </a:rPr>
              <a:t> </a:t>
            </a:r>
            <a:r>
              <a:rPr lang="en-US" sz="2600" spc="-60" dirty="0">
                <a:solidFill>
                  <a:srgbClr val="FFFFFF"/>
                </a:solidFill>
                <a:latin typeface="Trebuchet MS"/>
                <a:cs typeface="Trebuchet MS"/>
              </a:rPr>
              <a:t>how</a:t>
            </a:r>
            <a:r>
              <a:rPr lang="en-US" sz="2600" spc="-185" dirty="0">
                <a:solidFill>
                  <a:srgbClr val="FFFFFF"/>
                </a:solidFill>
                <a:latin typeface="Trebuchet MS"/>
                <a:cs typeface="Trebuchet MS"/>
              </a:rPr>
              <a:t> </a:t>
            </a:r>
            <a:r>
              <a:rPr lang="en-US" sz="2600" spc="-114" dirty="0">
                <a:solidFill>
                  <a:srgbClr val="FFFFFF"/>
                </a:solidFill>
                <a:latin typeface="Trebuchet MS"/>
                <a:cs typeface="Trebuchet MS"/>
              </a:rPr>
              <a:t>they  </a:t>
            </a:r>
            <a:r>
              <a:rPr lang="en-US" sz="2600" spc="-210" dirty="0">
                <a:solidFill>
                  <a:srgbClr val="FFFFFF"/>
                </a:solidFill>
                <a:latin typeface="Trebuchet MS"/>
                <a:cs typeface="Trebuchet MS"/>
              </a:rPr>
              <a:t>differ.</a:t>
            </a:r>
            <a:endParaRPr lang="en-US" sz="2600" dirty="0">
              <a:latin typeface="Trebuchet MS"/>
              <a:cs typeface="Trebuchet MS"/>
            </a:endParaRPr>
          </a:p>
          <a:p>
            <a:pPr marL="316230" indent="-304165">
              <a:lnSpc>
                <a:spcPct val="100000"/>
              </a:lnSpc>
              <a:spcBef>
                <a:spcPts val="60"/>
              </a:spcBef>
              <a:buFont typeface="Arial"/>
              <a:buChar char="•"/>
              <a:tabLst>
                <a:tab pos="315595" algn="l"/>
                <a:tab pos="316865" algn="l"/>
              </a:tabLst>
            </a:pPr>
            <a:r>
              <a:rPr sz="2600" spc="-145" dirty="0">
                <a:solidFill>
                  <a:srgbClr val="FFFFFF"/>
                </a:solidFill>
                <a:latin typeface="Trebuchet MS"/>
                <a:cs typeface="Trebuchet MS"/>
              </a:rPr>
              <a:t>The</a:t>
            </a:r>
            <a:r>
              <a:rPr sz="2600" spc="-220" dirty="0">
                <a:solidFill>
                  <a:srgbClr val="FFFFFF"/>
                </a:solidFill>
                <a:latin typeface="Trebuchet MS"/>
                <a:cs typeface="Trebuchet MS"/>
              </a:rPr>
              <a:t> </a:t>
            </a:r>
            <a:r>
              <a:rPr sz="2600" spc="-105" dirty="0">
                <a:solidFill>
                  <a:srgbClr val="FFFFFF"/>
                </a:solidFill>
                <a:latin typeface="Trebuchet MS"/>
                <a:cs typeface="Trebuchet MS"/>
              </a:rPr>
              <a:t>results</a:t>
            </a:r>
            <a:r>
              <a:rPr sz="2600" spc="-215" dirty="0">
                <a:solidFill>
                  <a:srgbClr val="FFFFFF"/>
                </a:solidFill>
                <a:latin typeface="Trebuchet MS"/>
                <a:cs typeface="Trebuchet MS"/>
              </a:rPr>
              <a:t> </a:t>
            </a:r>
            <a:r>
              <a:rPr sz="2600" spc="-100" dirty="0">
                <a:solidFill>
                  <a:srgbClr val="FFFFFF"/>
                </a:solidFill>
                <a:latin typeface="Trebuchet MS"/>
                <a:cs typeface="Trebuchet MS"/>
              </a:rPr>
              <a:t>of</a:t>
            </a:r>
            <a:r>
              <a:rPr sz="2600" spc="-195" dirty="0">
                <a:solidFill>
                  <a:srgbClr val="FFFFFF"/>
                </a:solidFill>
                <a:latin typeface="Trebuchet MS"/>
                <a:cs typeface="Trebuchet MS"/>
              </a:rPr>
              <a:t> </a:t>
            </a:r>
            <a:r>
              <a:rPr sz="2600" spc="-135" dirty="0">
                <a:solidFill>
                  <a:srgbClr val="FFFFFF"/>
                </a:solidFill>
                <a:latin typeface="Trebuchet MS"/>
                <a:cs typeface="Trebuchet MS"/>
              </a:rPr>
              <a:t>recent</a:t>
            </a:r>
            <a:r>
              <a:rPr sz="2600" spc="-220" dirty="0">
                <a:solidFill>
                  <a:srgbClr val="FFFFFF"/>
                </a:solidFill>
                <a:latin typeface="Trebuchet MS"/>
                <a:cs typeface="Trebuchet MS"/>
              </a:rPr>
              <a:t> </a:t>
            </a:r>
            <a:r>
              <a:rPr sz="2600" spc="-95" dirty="0">
                <a:solidFill>
                  <a:srgbClr val="FFFFFF"/>
                </a:solidFill>
                <a:latin typeface="Trebuchet MS"/>
                <a:cs typeface="Trebuchet MS"/>
              </a:rPr>
              <a:t>scans</a:t>
            </a:r>
            <a:r>
              <a:rPr sz="2600" spc="-220" dirty="0">
                <a:solidFill>
                  <a:srgbClr val="FFFFFF"/>
                </a:solidFill>
                <a:latin typeface="Trebuchet MS"/>
                <a:cs typeface="Trebuchet MS"/>
              </a:rPr>
              <a:t> </a:t>
            </a:r>
            <a:r>
              <a:rPr sz="2600" spc="-130" dirty="0">
                <a:solidFill>
                  <a:srgbClr val="FFFFFF"/>
                </a:solidFill>
                <a:latin typeface="Trebuchet MS"/>
                <a:cs typeface="Trebuchet MS"/>
              </a:rPr>
              <a:t>are</a:t>
            </a:r>
            <a:r>
              <a:rPr sz="2600" spc="-204" dirty="0">
                <a:solidFill>
                  <a:srgbClr val="FFFFFF"/>
                </a:solidFill>
                <a:latin typeface="Trebuchet MS"/>
                <a:cs typeface="Trebuchet MS"/>
              </a:rPr>
              <a:t> </a:t>
            </a:r>
            <a:r>
              <a:rPr sz="2600" spc="-105" dirty="0">
                <a:solidFill>
                  <a:srgbClr val="FFFFFF"/>
                </a:solidFill>
                <a:latin typeface="Trebuchet MS"/>
                <a:cs typeface="Trebuchet MS"/>
              </a:rPr>
              <a:t>stored</a:t>
            </a:r>
            <a:r>
              <a:rPr sz="2600" spc="-210" dirty="0">
                <a:solidFill>
                  <a:srgbClr val="FFFFFF"/>
                </a:solidFill>
                <a:latin typeface="Trebuchet MS"/>
                <a:cs typeface="Trebuchet MS"/>
              </a:rPr>
              <a:t> </a:t>
            </a:r>
            <a:r>
              <a:rPr sz="2600" spc="-100" dirty="0">
                <a:solidFill>
                  <a:srgbClr val="FFFFFF"/>
                </a:solidFill>
                <a:latin typeface="Trebuchet MS"/>
                <a:cs typeface="Trebuchet MS"/>
              </a:rPr>
              <a:t>in</a:t>
            </a:r>
            <a:r>
              <a:rPr sz="2600" spc="-200" dirty="0">
                <a:solidFill>
                  <a:srgbClr val="FFFFFF"/>
                </a:solidFill>
                <a:latin typeface="Trebuchet MS"/>
                <a:cs typeface="Trebuchet MS"/>
              </a:rPr>
              <a:t> </a:t>
            </a:r>
            <a:r>
              <a:rPr sz="2600" spc="-120" dirty="0">
                <a:solidFill>
                  <a:srgbClr val="FFFFFF"/>
                </a:solidFill>
                <a:latin typeface="Trebuchet MS"/>
                <a:cs typeface="Trebuchet MS"/>
              </a:rPr>
              <a:t>a</a:t>
            </a:r>
            <a:r>
              <a:rPr sz="2600" spc="-195" dirty="0">
                <a:solidFill>
                  <a:srgbClr val="FFFFFF"/>
                </a:solidFill>
                <a:latin typeface="Trebuchet MS"/>
                <a:cs typeface="Trebuchet MS"/>
              </a:rPr>
              <a:t> </a:t>
            </a:r>
            <a:r>
              <a:rPr sz="2600" spc="-120" dirty="0">
                <a:solidFill>
                  <a:srgbClr val="FFFFFF"/>
                </a:solidFill>
                <a:latin typeface="Trebuchet MS"/>
                <a:cs typeface="Trebuchet MS"/>
              </a:rPr>
              <a:t>searchable</a:t>
            </a:r>
            <a:r>
              <a:rPr sz="2600" spc="-229" dirty="0">
                <a:solidFill>
                  <a:srgbClr val="FFFFFF"/>
                </a:solidFill>
                <a:latin typeface="Trebuchet MS"/>
                <a:cs typeface="Trebuchet MS"/>
              </a:rPr>
              <a:t> </a:t>
            </a:r>
            <a:r>
              <a:rPr sz="2600" spc="-135" dirty="0">
                <a:solidFill>
                  <a:srgbClr val="FFFFFF"/>
                </a:solidFill>
                <a:latin typeface="Trebuchet MS"/>
                <a:cs typeface="Trebuchet MS"/>
              </a:rPr>
              <a:t>database.</a:t>
            </a:r>
            <a:endParaRPr sz="2600" dirty="0">
              <a:latin typeface="Trebuchet MS"/>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C850-30E9-4567-913B-B09B7FEFAEE9}"/>
              </a:ext>
            </a:extLst>
          </p:cNvPr>
          <p:cNvSpPr>
            <a:spLocks noGrp="1"/>
          </p:cNvSpPr>
          <p:nvPr>
            <p:ph type="title"/>
          </p:nvPr>
        </p:nvSpPr>
        <p:spPr>
          <a:xfrm>
            <a:off x="228600" y="457200"/>
            <a:ext cx="11353800" cy="1538883"/>
          </a:xfrm>
        </p:spPr>
        <p:txBody>
          <a:bodyPr/>
          <a:lstStyle/>
          <a:p>
            <a:r>
              <a:rPr lang="en-US" sz="3600" b="1" i="1" dirty="0"/>
              <a:t>The Purpose of a Graphical Frontend for Nmap</a:t>
            </a:r>
            <a:br>
              <a:rPr lang="en-US" sz="3600" b="1" i="1" dirty="0"/>
            </a:br>
            <a:r>
              <a:rPr lang="en-US" sz="3200" b="1" i="1" dirty="0"/>
              <a:t/>
            </a:r>
            <a:br>
              <a:rPr lang="en-US" sz="3200" b="1" i="1" dirty="0"/>
            </a:br>
            <a:endParaRPr lang="en-US" sz="3200" i="1" dirty="0"/>
          </a:p>
        </p:txBody>
      </p:sp>
      <p:sp>
        <p:nvSpPr>
          <p:cNvPr id="3" name="Text Placeholder 2">
            <a:extLst>
              <a:ext uri="{FF2B5EF4-FFF2-40B4-BE49-F238E27FC236}">
                <a16:creationId xmlns:a16="http://schemas.microsoft.com/office/drawing/2014/main" id="{F94FD383-37A8-4F04-9C35-49D1D59AD207}"/>
              </a:ext>
            </a:extLst>
          </p:cNvPr>
          <p:cNvSpPr>
            <a:spLocks noGrp="1"/>
          </p:cNvSpPr>
          <p:nvPr>
            <p:ph type="body" idx="1"/>
          </p:nvPr>
        </p:nvSpPr>
        <p:spPr>
          <a:xfrm>
            <a:off x="190500" y="1828800"/>
            <a:ext cx="11811000" cy="3323987"/>
          </a:xfrm>
        </p:spPr>
        <p:txBody>
          <a:bodyPr/>
          <a:lstStyle/>
          <a:p>
            <a:endParaRPr lang="en-US" sz="2400" dirty="0">
              <a:solidFill>
                <a:schemeClr val="bg1"/>
              </a:solidFill>
            </a:endParaRPr>
          </a:p>
          <a:p>
            <a:pPr marL="457200" indent="-457200">
              <a:buFont typeface="Arial" panose="020B0604020202020204" pitchFamily="34" charset="0"/>
              <a:buChar char="•"/>
            </a:pPr>
            <a:r>
              <a:rPr lang="en-US" sz="3200" dirty="0">
                <a:solidFill>
                  <a:schemeClr val="bg1"/>
                </a:solidFill>
              </a:rPr>
              <a:t>The nature of a frontend is that it depends on another tool to do its job. </a:t>
            </a:r>
          </a:p>
          <a:p>
            <a:endParaRPr lang="en-US" sz="3200" dirty="0">
              <a:solidFill>
                <a:schemeClr val="bg1"/>
              </a:solidFill>
            </a:endParaRPr>
          </a:p>
          <a:p>
            <a:pPr marL="457200" indent="-457200">
              <a:buFont typeface="Arial" panose="020B0604020202020204" pitchFamily="34" charset="0"/>
              <a:buChar char="•"/>
            </a:pPr>
            <a:r>
              <a:rPr lang="en-US" sz="3200" dirty="0">
                <a:solidFill>
                  <a:schemeClr val="bg1"/>
                </a:solidFill>
              </a:rPr>
              <a:t>Therefore the purpose of Zen-map is not to replace Nmap, but to make Nmap more useful</a:t>
            </a:r>
          </a:p>
          <a:p>
            <a:pPr marL="457200" indent="-457200">
              <a:buFont typeface="Arial" panose="020B0604020202020204" pitchFamily="34" charset="0"/>
              <a:buChar char="•"/>
            </a:pPr>
            <a:endParaRPr lang="en-US" sz="3200" dirty="0">
              <a:solidFill>
                <a:schemeClr val="bg1"/>
              </a:solidFill>
            </a:endParaRPr>
          </a:p>
        </p:txBody>
      </p:sp>
    </p:spTree>
    <p:extLst>
      <p:ext uri="{BB962C8B-B14F-4D97-AF65-F5344CB8AC3E}">
        <p14:creationId xmlns:p14="http://schemas.microsoft.com/office/powerpoint/2010/main" val="3316212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981"/>
            <a:ext cx="4349115" cy="696595"/>
          </a:xfrm>
          <a:prstGeom prst="rect">
            <a:avLst/>
          </a:prstGeom>
        </p:spPr>
        <p:txBody>
          <a:bodyPr vert="horz" wrap="square" lIns="0" tIns="13335" rIns="0" bIns="0" rtlCol="0">
            <a:spAutoFit/>
          </a:bodyPr>
          <a:lstStyle/>
          <a:p>
            <a:pPr marL="12700">
              <a:lnSpc>
                <a:spcPct val="100000"/>
              </a:lnSpc>
              <a:spcBef>
                <a:spcPts val="105"/>
              </a:spcBef>
            </a:pPr>
            <a:r>
              <a:rPr sz="4400" spc="-250" dirty="0"/>
              <a:t>Feature </a:t>
            </a:r>
            <a:r>
              <a:rPr sz="4400" spc="-200" dirty="0"/>
              <a:t>over</a:t>
            </a:r>
            <a:r>
              <a:rPr sz="4400" spc="-475" dirty="0"/>
              <a:t> </a:t>
            </a:r>
            <a:r>
              <a:rPr sz="4400" spc="-150" dirty="0"/>
              <a:t>Nmap</a:t>
            </a:r>
            <a:endParaRPr sz="4400"/>
          </a:p>
        </p:txBody>
      </p:sp>
      <p:sp>
        <p:nvSpPr>
          <p:cNvPr id="3" name="object 3"/>
          <p:cNvSpPr txBox="1"/>
          <p:nvPr/>
        </p:nvSpPr>
        <p:spPr>
          <a:xfrm>
            <a:off x="916939" y="1737106"/>
            <a:ext cx="10316845" cy="4833183"/>
          </a:xfrm>
          <a:prstGeom prst="rect">
            <a:avLst/>
          </a:prstGeom>
        </p:spPr>
        <p:txBody>
          <a:bodyPr vert="horz" wrap="square" lIns="0" tIns="13335" rIns="0" bIns="0" rtlCol="0">
            <a:spAutoFit/>
          </a:bodyPr>
          <a:lstStyle/>
          <a:p>
            <a:pPr marL="241300" indent="-229235">
              <a:lnSpc>
                <a:spcPts val="2970"/>
              </a:lnSpc>
              <a:spcBef>
                <a:spcPts val="105"/>
              </a:spcBef>
              <a:buFont typeface="Arial"/>
              <a:buChar char="•"/>
              <a:tabLst>
                <a:tab pos="241935" algn="l"/>
              </a:tabLst>
            </a:pPr>
            <a:r>
              <a:rPr sz="2600" spc="-135" dirty="0">
                <a:solidFill>
                  <a:srgbClr val="FFFFFF"/>
                </a:solidFill>
                <a:latin typeface="Trebuchet MS" panose="020B0603020202020204" pitchFamily="34" charset="0"/>
                <a:cs typeface="Trebuchet MS"/>
              </a:rPr>
              <a:t>Interactive </a:t>
            </a:r>
            <a:r>
              <a:rPr sz="2600" spc="-85" dirty="0">
                <a:solidFill>
                  <a:srgbClr val="FFFFFF"/>
                </a:solidFill>
                <a:latin typeface="Trebuchet MS" panose="020B0603020202020204" pitchFamily="34" charset="0"/>
                <a:cs typeface="Trebuchet MS"/>
              </a:rPr>
              <a:t>and </a:t>
            </a:r>
            <a:r>
              <a:rPr sz="2600" spc="-125" dirty="0">
                <a:solidFill>
                  <a:srgbClr val="FFFFFF"/>
                </a:solidFill>
                <a:latin typeface="Trebuchet MS" panose="020B0603020202020204" pitchFamily="34" charset="0"/>
                <a:cs typeface="Trebuchet MS"/>
              </a:rPr>
              <a:t>graphical </a:t>
            </a:r>
            <a:r>
              <a:rPr sz="2600" spc="-105" dirty="0">
                <a:solidFill>
                  <a:srgbClr val="FFFFFF"/>
                </a:solidFill>
                <a:latin typeface="Trebuchet MS" panose="020B0603020202020204" pitchFamily="34" charset="0"/>
                <a:cs typeface="Trebuchet MS"/>
              </a:rPr>
              <a:t>results</a:t>
            </a:r>
            <a:r>
              <a:rPr sz="2600" spc="-540" dirty="0">
                <a:solidFill>
                  <a:srgbClr val="FFFFFF"/>
                </a:solidFill>
                <a:latin typeface="Trebuchet MS" panose="020B0603020202020204" pitchFamily="34" charset="0"/>
                <a:cs typeface="Trebuchet MS"/>
              </a:rPr>
              <a:t> </a:t>
            </a:r>
            <a:r>
              <a:rPr sz="2600" spc="-105" dirty="0">
                <a:solidFill>
                  <a:srgbClr val="FFFFFF"/>
                </a:solidFill>
                <a:latin typeface="Trebuchet MS" panose="020B0603020202020204" pitchFamily="34" charset="0"/>
                <a:cs typeface="Trebuchet MS"/>
              </a:rPr>
              <a:t>viewing</a:t>
            </a:r>
            <a:r>
              <a:rPr lang="en-US" sz="2600" spc="-105" dirty="0">
                <a:solidFill>
                  <a:srgbClr val="FFFFFF"/>
                </a:solidFill>
                <a:latin typeface="Trebuchet MS" panose="020B0603020202020204" pitchFamily="34" charset="0"/>
                <a:cs typeface="Trebuchet MS"/>
              </a:rPr>
              <a:t>:</a:t>
            </a:r>
          </a:p>
          <a:p>
            <a:pPr marL="241300" indent="-229235">
              <a:lnSpc>
                <a:spcPts val="2970"/>
              </a:lnSpc>
              <a:spcBef>
                <a:spcPts val="105"/>
              </a:spcBef>
              <a:buFont typeface="Arial"/>
              <a:buChar char="•"/>
              <a:tabLst>
                <a:tab pos="241935" algn="l"/>
              </a:tabLst>
            </a:pPr>
            <a:endParaRPr lang="en-US" sz="2600" spc="-105" dirty="0">
              <a:solidFill>
                <a:srgbClr val="FFFFFF"/>
              </a:solidFill>
              <a:latin typeface="Trebuchet MS" panose="020B0603020202020204" pitchFamily="34" charset="0"/>
              <a:cs typeface="Trebuchet MS"/>
            </a:endParaRPr>
          </a:p>
          <a:p>
            <a:pPr marL="297815" indent="-285750">
              <a:lnSpc>
                <a:spcPts val="2970"/>
              </a:lnSpc>
              <a:spcBef>
                <a:spcPts val="105"/>
              </a:spcBef>
              <a:buFont typeface="Arial" panose="020B0604020202020204" pitchFamily="34" charset="0"/>
              <a:buChar char="•"/>
              <a:tabLst>
                <a:tab pos="241935" algn="l"/>
              </a:tabLst>
            </a:pPr>
            <a:r>
              <a:rPr lang="en-US" sz="2200" dirty="0">
                <a:solidFill>
                  <a:schemeClr val="bg1"/>
                </a:solidFill>
                <a:latin typeface="Trebuchet MS" panose="020B0603020202020204" pitchFamily="34" charset="0"/>
              </a:rPr>
              <a:t>In  Addition to showing Nmap's normal output, </a:t>
            </a:r>
            <a:r>
              <a:rPr lang="en-US" sz="2200" dirty="0" err="1">
                <a:solidFill>
                  <a:schemeClr val="bg1"/>
                </a:solidFill>
                <a:latin typeface="Trebuchet MS" panose="020B0603020202020204" pitchFamily="34" charset="0"/>
              </a:rPr>
              <a:t>Zenmap</a:t>
            </a:r>
            <a:r>
              <a:rPr lang="en-US" sz="2200" dirty="0">
                <a:solidFill>
                  <a:schemeClr val="bg1"/>
                </a:solidFill>
                <a:latin typeface="Trebuchet MS" panose="020B0603020202020204" pitchFamily="34" charset="0"/>
              </a:rPr>
              <a:t> can arrange its display to show all ports on a host or all hosts running a particular service.</a:t>
            </a:r>
          </a:p>
          <a:p>
            <a:pPr marL="297815" indent="-285750">
              <a:lnSpc>
                <a:spcPts val="2970"/>
              </a:lnSpc>
              <a:spcBef>
                <a:spcPts val="105"/>
              </a:spcBef>
              <a:buFont typeface="Arial" panose="020B0604020202020204" pitchFamily="34" charset="0"/>
              <a:buChar char="•"/>
              <a:tabLst>
                <a:tab pos="241935" algn="l"/>
              </a:tabLst>
            </a:pPr>
            <a:r>
              <a:rPr lang="en-US" sz="2200" spc="-105" dirty="0" err="1">
                <a:solidFill>
                  <a:srgbClr val="FFFFFF"/>
                </a:solidFill>
                <a:latin typeface="Trebuchet MS" panose="020B0603020202020204" pitchFamily="34" charset="0"/>
                <a:cs typeface="Trebuchet MS"/>
              </a:rPr>
              <a:t>Zenmap</a:t>
            </a:r>
            <a:r>
              <a:rPr lang="en-US" sz="2200" spc="-160" dirty="0">
                <a:solidFill>
                  <a:srgbClr val="FFFFFF"/>
                </a:solidFill>
                <a:latin typeface="Trebuchet MS" panose="020B0603020202020204" pitchFamily="34" charset="0"/>
                <a:cs typeface="Trebuchet MS"/>
              </a:rPr>
              <a:t> </a:t>
            </a:r>
            <a:r>
              <a:rPr lang="en-US" sz="2200" spc="-114" dirty="0">
                <a:solidFill>
                  <a:srgbClr val="FFFFFF"/>
                </a:solidFill>
                <a:latin typeface="Trebuchet MS" panose="020B0603020202020204" pitchFamily="34" charset="0"/>
                <a:cs typeface="Trebuchet MS"/>
              </a:rPr>
              <a:t>can</a:t>
            </a:r>
            <a:r>
              <a:rPr lang="en-US" sz="2200" spc="-160" dirty="0">
                <a:solidFill>
                  <a:srgbClr val="FFFFFF"/>
                </a:solidFill>
                <a:latin typeface="Trebuchet MS" panose="020B0603020202020204" pitchFamily="34" charset="0"/>
                <a:cs typeface="Trebuchet MS"/>
              </a:rPr>
              <a:t> </a:t>
            </a:r>
            <a:r>
              <a:rPr lang="en-US" sz="2200" spc="-100" dirty="0">
                <a:solidFill>
                  <a:srgbClr val="FFFFFF"/>
                </a:solidFill>
                <a:latin typeface="Trebuchet MS" panose="020B0603020202020204" pitchFamily="34" charset="0"/>
                <a:cs typeface="Trebuchet MS"/>
              </a:rPr>
              <a:t>draw</a:t>
            </a:r>
            <a:r>
              <a:rPr lang="en-US" sz="2200" spc="-185" dirty="0">
                <a:solidFill>
                  <a:srgbClr val="FFFFFF"/>
                </a:solidFill>
                <a:latin typeface="Trebuchet MS" panose="020B0603020202020204" pitchFamily="34" charset="0"/>
                <a:cs typeface="Trebuchet MS"/>
              </a:rPr>
              <a:t> </a:t>
            </a:r>
            <a:r>
              <a:rPr lang="en-US" sz="2200" spc="-105" dirty="0">
                <a:solidFill>
                  <a:srgbClr val="FFFFFF"/>
                </a:solidFill>
                <a:latin typeface="Trebuchet MS" panose="020B0603020202020204" pitchFamily="34" charset="0"/>
                <a:cs typeface="Trebuchet MS"/>
              </a:rPr>
              <a:t>a</a:t>
            </a:r>
            <a:r>
              <a:rPr lang="en-US" sz="2200" spc="-160" dirty="0">
                <a:solidFill>
                  <a:srgbClr val="FFFFFF"/>
                </a:solidFill>
                <a:latin typeface="Trebuchet MS" panose="020B0603020202020204" pitchFamily="34" charset="0"/>
                <a:cs typeface="Trebuchet MS"/>
              </a:rPr>
              <a:t> </a:t>
            </a:r>
            <a:r>
              <a:rPr lang="en-US" sz="2200" spc="-80" dirty="0">
                <a:solidFill>
                  <a:srgbClr val="FFFFFF"/>
                </a:solidFill>
                <a:latin typeface="Trebuchet MS" panose="020B0603020202020204" pitchFamily="34" charset="0"/>
                <a:cs typeface="Trebuchet MS"/>
              </a:rPr>
              <a:t>topology</a:t>
            </a:r>
            <a:r>
              <a:rPr lang="en-US" sz="2200" spc="-160" dirty="0">
                <a:solidFill>
                  <a:srgbClr val="FFFFFF"/>
                </a:solidFill>
                <a:latin typeface="Trebuchet MS" panose="020B0603020202020204" pitchFamily="34" charset="0"/>
                <a:cs typeface="Trebuchet MS"/>
              </a:rPr>
              <a:t> </a:t>
            </a:r>
            <a:r>
              <a:rPr lang="en-US" sz="2200" spc="-85" dirty="0">
                <a:solidFill>
                  <a:srgbClr val="FFFFFF"/>
                </a:solidFill>
                <a:latin typeface="Trebuchet MS" panose="020B0603020202020204" pitchFamily="34" charset="0"/>
                <a:cs typeface="Trebuchet MS"/>
              </a:rPr>
              <a:t>map</a:t>
            </a:r>
            <a:r>
              <a:rPr lang="en-US" sz="2200" spc="-170" dirty="0">
                <a:solidFill>
                  <a:srgbClr val="FFFFFF"/>
                </a:solidFill>
                <a:latin typeface="Trebuchet MS" panose="020B0603020202020204" pitchFamily="34" charset="0"/>
                <a:cs typeface="Trebuchet MS"/>
              </a:rPr>
              <a:t> </a:t>
            </a:r>
            <a:r>
              <a:rPr lang="en-US" sz="2200" spc="-80" dirty="0">
                <a:solidFill>
                  <a:srgbClr val="FFFFFF"/>
                </a:solidFill>
                <a:latin typeface="Trebuchet MS" panose="020B0603020202020204" pitchFamily="34" charset="0"/>
                <a:cs typeface="Trebuchet MS"/>
              </a:rPr>
              <a:t>of</a:t>
            </a:r>
            <a:r>
              <a:rPr lang="en-US" sz="2200" spc="-170" dirty="0">
                <a:solidFill>
                  <a:srgbClr val="FFFFFF"/>
                </a:solidFill>
                <a:latin typeface="Trebuchet MS" panose="020B0603020202020204" pitchFamily="34" charset="0"/>
                <a:cs typeface="Trebuchet MS"/>
              </a:rPr>
              <a:t> </a:t>
            </a:r>
            <a:r>
              <a:rPr lang="en-US" sz="2200" spc="-100" dirty="0">
                <a:solidFill>
                  <a:srgbClr val="FFFFFF"/>
                </a:solidFill>
                <a:latin typeface="Trebuchet MS" panose="020B0603020202020204" pitchFamily="34" charset="0"/>
                <a:cs typeface="Trebuchet MS"/>
              </a:rPr>
              <a:t>discovered</a:t>
            </a:r>
            <a:r>
              <a:rPr lang="en-US" sz="2200" spc="-165" dirty="0">
                <a:solidFill>
                  <a:srgbClr val="FFFFFF"/>
                </a:solidFill>
                <a:latin typeface="Trebuchet MS" panose="020B0603020202020204" pitchFamily="34" charset="0"/>
                <a:cs typeface="Trebuchet MS"/>
              </a:rPr>
              <a:t> </a:t>
            </a:r>
            <a:r>
              <a:rPr lang="en-US" sz="2200" spc="-110" dirty="0">
                <a:solidFill>
                  <a:srgbClr val="FFFFFF"/>
                </a:solidFill>
                <a:latin typeface="Trebuchet MS" panose="020B0603020202020204" pitchFamily="34" charset="0"/>
                <a:cs typeface="Trebuchet MS"/>
              </a:rPr>
              <a:t>networks.</a:t>
            </a:r>
            <a:endParaRPr lang="en-US" sz="2200" dirty="0">
              <a:latin typeface="Trebuchet MS" panose="020B0603020202020204" pitchFamily="34" charset="0"/>
              <a:cs typeface="Trebuchet MS"/>
            </a:endParaRPr>
          </a:p>
          <a:p>
            <a:pPr marL="297815" indent="-285750">
              <a:lnSpc>
                <a:spcPts val="2970"/>
              </a:lnSpc>
              <a:spcBef>
                <a:spcPts val="105"/>
              </a:spcBef>
              <a:buFont typeface="Arial" panose="020B0604020202020204" pitchFamily="34" charset="0"/>
              <a:buChar char="•"/>
              <a:tabLst>
                <a:tab pos="241935" algn="l"/>
              </a:tabLst>
            </a:pPr>
            <a:r>
              <a:rPr sz="2200" spc="-125" dirty="0">
                <a:solidFill>
                  <a:srgbClr val="FFFFFF"/>
                </a:solidFill>
                <a:latin typeface="Trebuchet MS" panose="020B0603020202020204" pitchFamily="34" charset="0"/>
                <a:cs typeface="Trebuchet MS"/>
              </a:rPr>
              <a:t>The</a:t>
            </a:r>
            <a:r>
              <a:rPr sz="2200" spc="-155"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results</a:t>
            </a:r>
            <a:r>
              <a:rPr sz="2200" spc="-165"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of</a:t>
            </a:r>
            <a:r>
              <a:rPr sz="2200" spc="-155" dirty="0">
                <a:solidFill>
                  <a:srgbClr val="FFFFFF"/>
                </a:solidFill>
                <a:latin typeface="Trebuchet MS" panose="020B0603020202020204" pitchFamily="34" charset="0"/>
                <a:cs typeface="Trebuchet MS"/>
              </a:rPr>
              <a:t> </a:t>
            </a:r>
            <a:r>
              <a:rPr sz="2200" spc="-110" dirty="0">
                <a:solidFill>
                  <a:srgbClr val="FFFFFF"/>
                </a:solidFill>
                <a:latin typeface="Trebuchet MS" panose="020B0603020202020204" pitchFamily="34" charset="0"/>
                <a:cs typeface="Trebuchet MS"/>
              </a:rPr>
              <a:t>several</a:t>
            </a:r>
            <a:r>
              <a:rPr sz="2200" spc="-170" dirty="0">
                <a:solidFill>
                  <a:srgbClr val="FFFFFF"/>
                </a:solidFill>
                <a:latin typeface="Trebuchet MS" panose="020B0603020202020204" pitchFamily="34" charset="0"/>
                <a:cs typeface="Trebuchet MS"/>
              </a:rPr>
              <a:t> </a:t>
            </a:r>
            <a:r>
              <a:rPr sz="2200" spc="-85" dirty="0">
                <a:solidFill>
                  <a:srgbClr val="FFFFFF"/>
                </a:solidFill>
                <a:latin typeface="Trebuchet MS" panose="020B0603020202020204" pitchFamily="34" charset="0"/>
                <a:cs typeface="Trebuchet MS"/>
              </a:rPr>
              <a:t>scans</a:t>
            </a:r>
            <a:r>
              <a:rPr sz="2200" spc="-155" dirty="0">
                <a:solidFill>
                  <a:srgbClr val="FFFFFF"/>
                </a:solidFill>
                <a:latin typeface="Trebuchet MS" panose="020B0603020202020204" pitchFamily="34" charset="0"/>
                <a:cs typeface="Trebuchet MS"/>
              </a:rPr>
              <a:t> </a:t>
            </a:r>
            <a:r>
              <a:rPr sz="2200" spc="-105" dirty="0">
                <a:solidFill>
                  <a:srgbClr val="FFFFFF"/>
                </a:solidFill>
                <a:latin typeface="Trebuchet MS" panose="020B0603020202020204" pitchFamily="34" charset="0"/>
                <a:cs typeface="Trebuchet MS"/>
              </a:rPr>
              <a:t>may</a:t>
            </a:r>
            <a:r>
              <a:rPr sz="2200" spc="-160"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be</a:t>
            </a:r>
            <a:r>
              <a:rPr sz="2200" spc="-155"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combined</a:t>
            </a:r>
            <a:r>
              <a:rPr sz="2200" spc="-165"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together</a:t>
            </a:r>
            <a:r>
              <a:rPr sz="2200" spc="-125" dirty="0">
                <a:solidFill>
                  <a:srgbClr val="FFFFFF"/>
                </a:solidFill>
                <a:latin typeface="Trebuchet MS" panose="020B0603020202020204" pitchFamily="34" charset="0"/>
                <a:cs typeface="Trebuchet MS"/>
              </a:rPr>
              <a:t> </a:t>
            </a:r>
            <a:r>
              <a:rPr sz="2200" spc="-75" dirty="0">
                <a:solidFill>
                  <a:srgbClr val="FFFFFF"/>
                </a:solidFill>
                <a:latin typeface="Trebuchet MS" panose="020B0603020202020204" pitchFamily="34" charset="0"/>
                <a:cs typeface="Trebuchet MS"/>
              </a:rPr>
              <a:t>and</a:t>
            </a:r>
            <a:r>
              <a:rPr sz="2200" spc="-170" dirty="0">
                <a:solidFill>
                  <a:srgbClr val="FFFFFF"/>
                </a:solidFill>
                <a:latin typeface="Trebuchet MS" panose="020B0603020202020204" pitchFamily="34" charset="0"/>
                <a:cs typeface="Trebuchet MS"/>
              </a:rPr>
              <a:t> </a:t>
            </a:r>
            <a:r>
              <a:rPr sz="2200" spc="-105" dirty="0">
                <a:solidFill>
                  <a:srgbClr val="FFFFFF"/>
                </a:solidFill>
                <a:latin typeface="Trebuchet MS" panose="020B0603020202020204" pitchFamily="34" charset="0"/>
                <a:cs typeface="Trebuchet MS"/>
              </a:rPr>
              <a:t>viewed</a:t>
            </a:r>
            <a:r>
              <a:rPr sz="2200" spc="-165" dirty="0">
                <a:solidFill>
                  <a:srgbClr val="FFFFFF"/>
                </a:solidFill>
                <a:latin typeface="Trebuchet MS" panose="020B0603020202020204" pitchFamily="34" charset="0"/>
                <a:cs typeface="Trebuchet MS"/>
              </a:rPr>
              <a:t> </a:t>
            </a:r>
            <a:r>
              <a:rPr sz="2200" spc="-135" dirty="0">
                <a:solidFill>
                  <a:srgbClr val="FFFFFF"/>
                </a:solidFill>
                <a:latin typeface="Trebuchet MS" panose="020B0603020202020204" pitchFamily="34" charset="0"/>
                <a:cs typeface="Trebuchet MS"/>
              </a:rPr>
              <a:t>at</a:t>
            </a:r>
            <a:r>
              <a:rPr sz="2200" spc="-170" dirty="0">
                <a:solidFill>
                  <a:srgbClr val="FFFFFF"/>
                </a:solidFill>
                <a:latin typeface="Trebuchet MS" panose="020B0603020202020204" pitchFamily="34" charset="0"/>
                <a:cs typeface="Trebuchet MS"/>
              </a:rPr>
              <a:t> </a:t>
            </a:r>
            <a:r>
              <a:rPr sz="2200" spc="-125" dirty="0">
                <a:solidFill>
                  <a:srgbClr val="FFFFFF"/>
                </a:solidFill>
                <a:latin typeface="Trebuchet MS" panose="020B0603020202020204" pitchFamily="34" charset="0"/>
                <a:cs typeface="Trebuchet MS"/>
              </a:rPr>
              <a:t>once.</a:t>
            </a:r>
            <a:endParaRPr sz="2200" dirty="0">
              <a:latin typeface="Trebuchet MS" panose="020B0603020202020204" pitchFamily="34" charset="0"/>
              <a:cs typeface="Trebuchet MS"/>
            </a:endParaRPr>
          </a:p>
          <a:p>
            <a:pPr lvl="1">
              <a:lnSpc>
                <a:spcPct val="100000"/>
              </a:lnSpc>
              <a:spcBef>
                <a:spcPts val="45"/>
              </a:spcBef>
              <a:buClr>
                <a:srgbClr val="FFFFFF"/>
              </a:buClr>
              <a:buFont typeface="Arial"/>
              <a:buChar char="•"/>
            </a:pPr>
            <a:endParaRPr sz="2750" dirty="0">
              <a:latin typeface="Trebuchet MS" panose="020B0603020202020204" pitchFamily="34" charset="0"/>
              <a:cs typeface="Trebuchet MS"/>
            </a:endParaRPr>
          </a:p>
          <a:p>
            <a:pPr marL="241300" indent="-229235">
              <a:lnSpc>
                <a:spcPts val="2980"/>
              </a:lnSpc>
              <a:buFont typeface="Arial"/>
              <a:buChar char="•"/>
              <a:tabLst>
                <a:tab pos="241935" algn="l"/>
              </a:tabLst>
            </a:pPr>
            <a:r>
              <a:rPr sz="2600" spc="-90" dirty="0">
                <a:solidFill>
                  <a:srgbClr val="FFFFFF"/>
                </a:solidFill>
                <a:latin typeface="Trebuchet MS" panose="020B0603020202020204" pitchFamily="34" charset="0"/>
                <a:cs typeface="Trebuchet MS"/>
              </a:rPr>
              <a:t>Comparison</a:t>
            </a:r>
            <a:endParaRPr sz="2600" dirty="0">
              <a:latin typeface="Trebuchet MS" panose="020B0603020202020204" pitchFamily="34" charset="0"/>
              <a:cs typeface="Trebuchet MS"/>
            </a:endParaRPr>
          </a:p>
          <a:p>
            <a:pPr marL="698500" lvl="1" indent="-229235">
              <a:lnSpc>
                <a:spcPts val="2355"/>
              </a:lnSpc>
              <a:buFont typeface="Arial"/>
              <a:buChar char="•"/>
              <a:tabLst>
                <a:tab pos="698500" algn="l"/>
                <a:tab pos="699135" algn="l"/>
              </a:tabLst>
            </a:pPr>
            <a:r>
              <a:rPr sz="2200" spc="-105" dirty="0">
                <a:solidFill>
                  <a:srgbClr val="FFFFFF"/>
                </a:solidFill>
                <a:latin typeface="Trebuchet MS" panose="020B0603020202020204" pitchFamily="34" charset="0"/>
                <a:cs typeface="Trebuchet MS"/>
              </a:rPr>
              <a:t>Zenmap</a:t>
            </a:r>
            <a:r>
              <a:rPr sz="2200" spc="-165" dirty="0">
                <a:solidFill>
                  <a:srgbClr val="FFFFFF"/>
                </a:solidFill>
                <a:latin typeface="Trebuchet MS" panose="020B0603020202020204" pitchFamily="34" charset="0"/>
                <a:cs typeface="Trebuchet MS"/>
              </a:rPr>
              <a:t> </a:t>
            </a:r>
            <a:r>
              <a:rPr sz="2200" spc="-65" dirty="0">
                <a:solidFill>
                  <a:srgbClr val="FFFFFF"/>
                </a:solidFill>
                <a:latin typeface="Trebuchet MS" panose="020B0603020202020204" pitchFamily="34" charset="0"/>
                <a:cs typeface="Trebuchet MS"/>
              </a:rPr>
              <a:t>has</a:t>
            </a:r>
            <a:r>
              <a:rPr sz="2200" spc="-170"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the</a:t>
            </a:r>
            <a:r>
              <a:rPr sz="2200" spc="-160" dirty="0">
                <a:solidFill>
                  <a:srgbClr val="FFFFFF"/>
                </a:solidFill>
                <a:latin typeface="Trebuchet MS" panose="020B0603020202020204" pitchFamily="34" charset="0"/>
                <a:cs typeface="Trebuchet MS"/>
              </a:rPr>
              <a:t> </a:t>
            </a:r>
            <a:r>
              <a:rPr sz="2200" spc="-114" dirty="0">
                <a:solidFill>
                  <a:srgbClr val="FFFFFF"/>
                </a:solidFill>
                <a:latin typeface="Trebuchet MS" panose="020B0603020202020204" pitchFamily="34" charset="0"/>
                <a:cs typeface="Trebuchet MS"/>
              </a:rPr>
              <a:t>ability</a:t>
            </a:r>
            <a:r>
              <a:rPr sz="2200" spc="-185"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to</a:t>
            </a:r>
            <a:r>
              <a:rPr sz="2200" spc="-155" dirty="0">
                <a:solidFill>
                  <a:srgbClr val="FFFFFF"/>
                </a:solidFill>
                <a:latin typeface="Trebuchet MS" panose="020B0603020202020204" pitchFamily="34" charset="0"/>
                <a:cs typeface="Trebuchet MS"/>
              </a:rPr>
              <a:t> </a:t>
            </a:r>
            <a:r>
              <a:rPr sz="2200" spc="-45" dirty="0">
                <a:solidFill>
                  <a:srgbClr val="FFFFFF"/>
                </a:solidFill>
                <a:latin typeface="Trebuchet MS" panose="020B0603020202020204" pitchFamily="34" charset="0"/>
                <a:cs typeface="Trebuchet MS"/>
              </a:rPr>
              <a:t>show</a:t>
            </a:r>
            <a:r>
              <a:rPr sz="2200" spc="-180"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the</a:t>
            </a:r>
            <a:r>
              <a:rPr sz="2200" spc="-155" dirty="0">
                <a:solidFill>
                  <a:srgbClr val="FFFFFF"/>
                </a:solidFill>
                <a:latin typeface="Trebuchet MS" panose="020B0603020202020204" pitchFamily="34" charset="0"/>
                <a:cs typeface="Trebuchet MS"/>
              </a:rPr>
              <a:t> </a:t>
            </a:r>
            <a:r>
              <a:rPr sz="2200" spc="-114" dirty="0">
                <a:solidFill>
                  <a:srgbClr val="FFFFFF"/>
                </a:solidFill>
                <a:latin typeface="Trebuchet MS" panose="020B0603020202020204" pitchFamily="34" charset="0"/>
                <a:cs typeface="Trebuchet MS"/>
              </a:rPr>
              <a:t>differences</a:t>
            </a:r>
            <a:r>
              <a:rPr sz="2200" spc="-155"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between</a:t>
            </a:r>
            <a:r>
              <a:rPr sz="2200" spc="-135" dirty="0">
                <a:solidFill>
                  <a:srgbClr val="FFFFFF"/>
                </a:solidFill>
                <a:latin typeface="Trebuchet MS" panose="020B0603020202020204" pitchFamily="34" charset="0"/>
                <a:cs typeface="Trebuchet MS"/>
              </a:rPr>
              <a:t> </a:t>
            </a:r>
            <a:r>
              <a:rPr sz="2200" spc="-85" dirty="0">
                <a:solidFill>
                  <a:srgbClr val="FFFFFF"/>
                </a:solidFill>
                <a:latin typeface="Trebuchet MS" panose="020B0603020202020204" pitchFamily="34" charset="0"/>
                <a:cs typeface="Trebuchet MS"/>
              </a:rPr>
              <a:t>two</a:t>
            </a:r>
            <a:r>
              <a:rPr sz="2200" spc="-160" dirty="0">
                <a:solidFill>
                  <a:srgbClr val="FFFFFF"/>
                </a:solidFill>
                <a:latin typeface="Trebuchet MS" panose="020B0603020202020204" pitchFamily="34" charset="0"/>
                <a:cs typeface="Trebuchet MS"/>
              </a:rPr>
              <a:t> </a:t>
            </a:r>
            <a:r>
              <a:rPr sz="2200" spc="-110" dirty="0">
                <a:solidFill>
                  <a:srgbClr val="FFFFFF"/>
                </a:solidFill>
                <a:latin typeface="Trebuchet MS" panose="020B0603020202020204" pitchFamily="34" charset="0"/>
                <a:cs typeface="Trebuchet MS"/>
              </a:rPr>
              <a:t>scans.</a:t>
            </a:r>
            <a:endParaRPr sz="2200" dirty="0">
              <a:latin typeface="Trebuchet MS" panose="020B0603020202020204" pitchFamily="34" charset="0"/>
              <a:cs typeface="Trebuchet MS"/>
            </a:endParaRPr>
          </a:p>
          <a:p>
            <a:pPr marL="698500" marR="5080" lvl="1" indent="-228600">
              <a:lnSpc>
                <a:spcPct val="70000"/>
              </a:lnSpc>
              <a:spcBef>
                <a:spcPts val="650"/>
              </a:spcBef>
              <a:buFont typeface="Arial"/>
              <a:buChar char="•"/>
              <a:tabLst>
                <a:tab pos="698500" algn="l"/>
                <a:tab pos="699135" algn="l"/>
              </a:tabLst>
            </a:pPr>
            <a:r>
              <a:rPr sz="2200" spc="-145" dirty="0">
                <a:solidFill>
                  <a:srgbClr val="FFFFFF"/>
                </a:solidFill>
                <a:latin typeface="Trebuchet MS" panose="020B0603020202020204" pitchFamily="34" charset="0"/>
                <a:cs typeface="Trebuchet MS"/>
              </a:rPr>
              <a:t>You </a:t>
            </a:r>
            <a:r>
              <a:rPr sz="2200" spc="-114" dirty="0">
                <a:solidFill>
                  <a:srgbClr val="FFFFFF"/>
                </a:solidFill>
                <a:latin typeface="Trebuchet MS" panose="020B0603020202020204" pitchFamily="34" charset="0"/>
                <a:cs typeface="Trebuchet MS"/>
              </a:rPr>
              <a:t>can </a:t>
            </a:r>
            <a:r>
              <a:rPr sz="2200" spc="-90" dirty="0">
                <a:solidFill>
                  <a:srgbClr val="FFFFFF"/>
                </a:solidFill>
                <a:latin typeface="Trebuchet MS" panose="020B0603020202020204" pitchFamily="34" charset="0"/>
                <a:cs typeface="Trebuchet MS"/>
              </a:rPr>
              <a:t>see </a:t>
            </a:r>
            <a:r>
              <a:rPr sz="2200" spc="-95" dirty="0">
                <a:solidFill>
                  <a:srgbClr val="FFFFFF"/>
                </a:solidFill>
                <a:latin typeface="Trebuchet MS" panose="020B0603020202020204" pitchFamily="34" charset="0"/>
                <a:cs typeface="Trebuchet MS"/>
              </a:rPr>
              <a:t>what changed </a:t>
            </a:r>
            <a:r>
              <a:rPr sz="2200" spc="-100" dirty="0">
                <a:solidFill>
                  <a:srgbClr val="FFFFFF"/>
                </a:solidFill>
                <a:latin typeface="Trebuchet MS" panose="020B0603020202020204" pitchFamily="34" charset="0"/>
                <a:cs typeface="Trebuchet MS"/>
              </a:rPr>
              <a:t>between the </a:t>
            </a:r>
            <a:r>
              <a:rPr sz="2200" spc="-80" dirty="0">
                <a:solidFill>
                  <a:srgbClr val="FFFFFF"/>
                </a:solidFill>
                <a:latin typeface="Trebuchet MS" panose="020B0603020202020204" pitchFamily="34" charset="0"/>
                <a:cs typeface="Trebuchet MS"/>
              </a:rPr>
              <a:t>same </a:t>
            </a:r>
            <a:r>
              <a:rPr sz="2200" spc="-95" dirty="0">
                <a:solidFill>
                  <a:srgbClr val="FFFFFF"/>
                </a:solidFill>
                <a:latin typeface="Trebuchet MS" panose="020B0603020202020204" pitchFamily="34" charset="0"/>
                <a:cs typeface="Trebuchet MS"/>
              </a:rPr>
              <a:t>scan </a:t>
            </a:r>
            <a:r>
              <a:rPr sz="2200" spc="-65" dirty="0">
                <a:solidFill>
                  <a:srgbClr val="FFFFFF"/>
                </a:solidFill>
                <a:latin typeface="Trebuchet MS" panose="020B0603020202020204" pitchFamily="34" charset="0"/>
                <a:cs typeface="Trebuchet MS"/>
              </a:rPr>
              <a:t>run </a:t>
            </a:r>
            <a:r>
              <a:rPr sz="2200" spc="-40" dirty="0">
                <a:solidFill>
                  <a:srgbClr val="FFFFFF"/>
                </a:solidFill>
                <a:latin typeface="Trebuchet MS" panose="020B0603020202020204" pitchFamily="34" charset="0"/>
                <a:cs typeface="Trebuchet MS"/>
              </a:rPr>
              <a:t>on </a:t>
            </a:r>
            <a:r>
              <a:rPr sz="2200" spc="-125" dirty="0">
                <a:solidFill>
                  <a:srgbClr val="FFFFFF"/>
                </a:solidFill>
                <a:latin typeface="Trebuchet MS" panose="020B0603020202020204" pitchFamily="34" charset="0"/>
                <a:cs typeface="Trebuchet MS"/>
              </a:rPr>
              <a:t>different </a:t>
            </a:r>
            <a:r>
              <a:rPr sz="2200" spc="-130" dirty="0">
                <a:solidFill>
                  <a:srgbClr val="FFFFFF"/>
                </a:solidFill>
                <a:latin typeface="Trebuchet MS" panose="020B0603020202020204" pitchFamily="34" charset="0"/>
                <a:cs typeface="Trebuchet MS"/>
              </a:rPr>
              <a:t>days, </a:t>
            </a:r>
            <a:r>
              <a:rPr sz="2200" spc="-105" dirty="0">
                <a:solidFill>
                  <a:srgbClr val="FFFFFF"/>
                </a:solidFill>
                <a:latin typeface="Trebuchet MS" panose="020B0603020202020204" pitchFamily="34" charset="0"/>
                <a:cs typeface="Trebuchet MS"/>
              </a:rPr>
              <a:t>between  </a:t>
            </a:r>
            <a:r>
              <a:rPr sz="2200" spc="-85" dirty="0">
                <a:solidFill>
                  <a:srgbClr val="FFFFFF"/>
                </a:solidFill>
                <a:latin typeface="Trebuchet MS" panose="020B0603020202020204" pitchFamily="34" charset="0"/>
                <a:cs typeface="Trebuchet MS"/>
              </a:rPr>
              <a:t>scans</a:t>
            </a:r>
            <a:r>
              <a:rPr sz="2200" spc="-160"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of</a:t>
            </a:r>
            <a:r>
              <a:rPr sz="2200" spc="-155"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two</a:t>
            </a:r>
            <a:r>
              <a:rPr sz="2200" spc="-145" dirty="0">
                <a:solidFill>
                  <a:srgbClr val="FFFFFF"/>
                </a:solidFill>
                <a:latin typeface="Trebuchet MS" panose="020B0603020202020204" pitchFamily="34" charset="0"/>
                <a:cs typeface="Trebuchet MS"/>
              </a:rPr>
              <a:t> </a:t>
            </a:r>
            <a:r>
              <a:rPr sz="2200" spc="-125" dirty="0">
                <a:solidFill>
                  <a:srgbClr val="FFFFFF"/>
                </a:solidFill>
                <a:latin typeface="Trebuchet MS" panose="020B0603020202020204" pitchFamily="34" charset="0"/>
                <a:cs typeface="Trebuchet MS"/>
              </a:rPr>
              <a:t>different</a:t>
            </a:r>
            <a:r>
              <a:rPr sz="2200" spc="-155"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hosts,</a:t>
            </a:r>
            <a:r>
              <a:rPr sz="2200" spc="-165"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between</a:t>
            </a:r>
            <a:r>
              <a:rPr sz="2200" spc="-125" dirty="0">
                <a:solidFill>
                  <a:srgbClr val="FFFFFF"/>
                </a:solidFill>
                <a:latin typeface="Trebuchet MS" panose="020B0603020202020204" pitchFamily="34" charset="0"/>
                <a:cs typeface="Trebuchet MS"/>
              </a:rPr>
              <a:t> </a:t>
            </a:r>
            <a:r>
              <a:rPr sz="2200" spc="-85" dirty="0">
                <a:solidFill>
                  <a:srgbClr val="FFFFFF"/>
                </a:solidFill>
                <a:latin typeface="Trebuchet MS" panose="020B0603020202020204" pitchFamily="34" charset="0"/>
                <a:cs typeface="Trebuchet MS"/>
              </a:rPr>
              <a:t>scans</a:t>
            </a:r>
            <a:r>
              <a:rPr sz="2200" spc="-155"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of</a:t>
            </a:r>
            <a:r>
              <a:rPr sz="2200" spc="-160"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the</a:t>
            </a:r>
            <a:r>
              <a:rPr sz="2200" spc="-165" dirty="0">
                <a:solidFill>
                  <a:srgbClr val="FFFFFF"/>
                </a:solidFill>
                <a:latin typeface="Trebuchet MS" panose="020B0603020202020204" pitchFamily="34" charset="0"/>
                <a:cs typeface="Trebuchet MS"/>
              </a:rPr>
              <a:t> </a:t>
            </a:r>
            <a:r>
              <a:rPr sz="2200" spc="-80" dirty="0">
                <a:solidFill>
                  <a:srgbClr val="FFFFFF"/>
                </a:solidFill>
                <a:latin typeface="Trebuchet MS" panose="020B0603020202020204" pitchFamily="34" charset="0"/>
                <a:cs typeface="Trebuchet MS"/>
              </a:rPr>
              <a:t>same</a:t>
            </a:r>
            <a:r>
              <a:rPr sz="2200" spc="-145" dirty="0">
                <a:solidFill>
                  <a:srgbClr val="FFFFFF"/>
                </a:solidFill>
                <a:latin typeface="Trebuchet MS" panose="020B0603020202020204" pitchFamily="34" charset="0"/>
                <a:cs typeface="Trebuchet MS"/>
              </a:rPr>
              <a:t> </a:t>
            </a:r>
            <a:r>
              <a:rPr sz="2200" spc="-60" dirty="0">
                <a:solidFill>
                  <a:srgbClr val="FFFFFF"/>
                </a:solidFill>
                <a:latin typeface="Trebuchet MS" panose="020B0603020202020204" pitchFamily="34" charset="0"/>
                <a:cs typeface="Trebuchet MS"/>
              </a:rPr>
              <a:t>hosts</a:t>
            </a:r>
            <a:r>
              <a:rPr sz="2200" spc="-160"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with</a:t>
            </a:r>
            <a:r>
              <a:rPr sz="2200" spc="-170" dirty="0">
                <a:solidFill>
                  <a:srgbClr val="FFFFFF"/>
                </a:solidFill>
                <a:latin typeface="Trebuchet MS" panose="020B0603020202020204" pitchFamily="34" charset="0"/>
                <a:cs typeface="Trebuchet MS"/>
              </a:rPr>
              <a:t> </a:t>
            </a:r>
            <a:r>
              <a:rPr sz="2200" spc="-125" dirty="0">
                <a:solidFill>
                  <a:srgbClr val="FFFFFF"/>
                </a:solidFill>
                <a:latin typeface="Trebuchet MS" panose="020B0603020202020204" pitchFamily="34" charset="0"/>
                <a:cs typeface="Trebuchet MS"/>
              </a:rPr>
              <a:t>different</a:t>
            </a:r>
            <a:r>
              <a:rPr sz="2200" spc="-135"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options,  </a:t>
            </a:r>
            <a:r>
              <a:rPr sz="2200" spc="-60" dirty="0">
                <a:solidFill>
                  <a:srgbClr val="FFFFFF"/>
                </a:solidFill>
                <a:latin typeface="Trebuchet MS" panose="020B0603020202020204" pitchFamily="34" charset="0"/>
                <a:cs typeface="Trebuchet MS"/>
              </a:rPr>
              <a:t>or </a:t>
            </a:r>
            <a:r>
              <a:rPr sz="2200" spc="-95" dirty="0">
                <a:solidFill>
                  <a:srgbClr val="FFFFFF"/>
                </a:solidFill>
                <a:latin typeface="Trebuchet MS" panose="020B0603020202020204" pitchFamily="34" charset="0"/>
                <a:cs typeface="Trebuchet MS"/>
              </a:rPr>
              <a:t>any </a:t>
            </a:r>
            <a:r>
              <a:rPr sz="2200" spc="-85" dirty="0">
                <a:solidFill>
                  <a:srgbClr val="FFFFFF"/>
                </a:solidFill>
                <a:latin typeface="Trebuchet MS" panose="020B0603020202020204" pitchFamily="34" charset="0"/>
                <a:cs typeface="Trebuchet MS"/>
              </a:rPr>
              <a:t>other</a:t>
            </a:r>
            <a:r>
              <a:rPr sz="2200" spc="-345" dirty="0">
                <a:solidFill>
                  <a:srgbClr val="FFFFFF"/>
                </a:solidFill>
                <a:latin typeface="Trebuchet MS" panose="020B0603020202020204" pitchFamily="34" charset="0"/>
                <a:cs typeface="Trebuchet MS"/>
              </a:rPr>
              <a:t> </a:t>
            </a:r>
            <a:r>
              <a:rPr sz="2200" spc="-105" dirty="0">
                <a:solidFill>
                  <a:srgbClr val="FFFFFF"/>
                </a:solidFill>
                <a:latin typeface="Trebuchet MS" panose="020B0603020202020204" pitchFamily="34" charset="0"/>
                <a:cs typeface="Trebuchet MS"/>
              </a:rPr>
              <a:t>combination.</a:t>
            </a:r>
            <a:endParaRPr sz="2200" dirty="0">
              <a:latin typeface="Trebuchet MS" panose="020B0603020202020204" pitchFamily="34" charset="0"/>
              <a:cs typeface="Trebuchet MS"/>
            </a:endParaRPr>
          </a:p>
          <a:p>
            <a:pPr marL="698500" marR="336550" lvl="1" indent="-228600">
              <a:lnSpc>
                <a:spcPct val="70000"/>
              </a:lnSpc>
              <a:spcBef>
                <a:spcPts val="490"/>
              </a:spcBef>
              <a:buClr>
                <a:srgbClr val="FFFFFF"/>
              </a:buClr>
              <a:buFont typeface="Arial"/>
              <a:buChar char="•"/>
              <a:tabLst>
                <a:tab pos="762635" algn="l"/>
                <a:tab pos="763270" algn="l"/>
              </a:tabLst>
            </a:pPr>
            <a:r>
              <a:rPr dirty="0">
                <a:latin typeface="Trebuchet MS" panose="020B0603020202020204" pitchFamily="34" charset="0"/>
              </a:rPr>
              <a:t>	</a:t>
            </a:r>
            <a:r>
              <a:rPr sz="2200" spc="-110" dirty="0">
                <a:solidFill>
                  <a:srgbClr val="FFFFFF"/>
                </a:solidFill>
                <a:latin typeface="Trebuchet MS" panose="020B0603020202020204" pitchFamily="34" charset="0"/>
                <a:cs typeface="Trebuchet MS"/>
              </a:rPr>
              <a:t>This</a:t>
            </a:r>
            <a:r>
              <a:rPr sz="2200" spc="-165"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allows</a:t>
            </a:r>
            <a:r>
              <a:rPr sz="2200" spc="-160"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administrators</a:t>
            </a:r>
            <a:r>
              <a:rPr sz="2200" spc="-160"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to</a:t>
            </a:r>
            <a:r>
              <a:rPr sz="2200" spc="-150"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easily</a:t>
            </a:r>
            <a:r>
              <a:rPr sz="2200" spc="-150" dirty="0">
                <a:solidFill>
                  <a:srgbClr val="FFFFFF"/>
                </a:solidFill>
                <a:latin typeface="Trebuchet MS" panose="020B0603020202020204" pitchFamily="34" charset="0"/>
                <a:cs typeface="Trebuchet MS"/>
              </a:rPr>
              <a:t> </a:t>
            </a:r>
            <a:r>
              <a:rPr sz="2200" spc="-135" dirty="0">
                <a:solidFill>
                  <a:srgbClr val="FFFFFF"/>
                </a:solidFill>
                <a:latin typeface="Trebuchet MS" panose="020B0603020202020204" pitchFamily="34" charset="0"/>
                <a:cs typeface="Trebuchet MS"/>
              </a:rPr>
              <a:t>track</a:t>
            </a:r>
            <a:r>
              <a:rPr sz="2200" spc="-165" dirty="0">
                <a:solidFill>
                  <a:srgbClr val="FFFFFF"/>
                </a:solidFill>
                <a:latin typeface="Trebuchet MS" panose="020B0603020202020204" pitchFamily="34" charset="0"/>
                <a:cs typeface="Trebuchet MS"/>
              </a:rPr>
              <a:t> </a:t>
            </a:r>
            <a:r>
              <a:rPr sz="2200" spc="-85" dirty="0">
                <a:solidFill>
                  <a:srgbClr val="FFFFFF"/>
                </a:solidFill>
                <a:latin typeface="Trebuchet MS" panose="020B0603020202020204" pitchFamily="34" charset="0"/>
                <a:cs typeface="Trebuchet MS"/>
              </a:rPr>
              <a:t>new</a:t>
            </a:r>
            <a:r>
              <a:rPr sz="2200" spc="-150" dirty="0">
                <a:solidFill>
                  <a:srgbClr val="FFFFFF"/>
                </a:solidFill>
                <a:latin typeface="Trebuchet MS" panose="020B0603020202020204" pitchFamily="34" charset="0"/>
                <a:cs typeface="Trebuchet MS"/>
              </a:rPr>
              <a:t> </a:t>
            </a:r>
            <a:r>
              <a:rPr sz="2200" spc="-60" dirty="0">
                <a:solidFill>
                  <a:srgbClr val="FFFFFF"/>
                </a:solidFill>
                <a:latin typeface="Trebuchet MS" panose="020B0603020202020204" pitchFamily="34" charset="0"/>
                <a:cs typeface="Trebuchet MS"/>
              </a:rPr>
              <a:t>hosts</a:t>
            </a:r>
            <a:r>
              <a:rPr sz="2200" spc="-150" dirty="0">
                <a:solidFill>
                  <a:srgbClr val="FFFFFF"/>
                </a:solidFill>
                <a:latin typeface="Trebuchet MS" panose="020B0603020202020204" pitchFamily="34" charset="0"/>
                <a:cs typeface="Trebuchet MS"/>
              </a:rPr>
              <a:t> </a:t>
            </a:r>
            <a:r>
              <a:rPr sz="2200" spc="-60" dirty="0">
                <a:solidFill>
                  <a:srgbClr val="FFFFFF"/>
                </a:solidFill>
                <a:latin typeface="Trebuchet MS" panose="020B0603020202020204" pitchFamily="34" charset="0"/>
                <a:cs typeface="Trebuchet MS"/>
              </a:rPr>
              <a:t>or</a:t>
            </a:r>
            <a:r>
              <a:rPr sz="2200" spc="-155" dirty="0">
                <a:solidFill>
                  <a:srgbClr val="FFFFFF"/>
                </a:solidFill>
                <a:latin typeface="Trebuchet MS" panose="020B0603020202020204" pitchFamily="34" charset="0"/>
                <a:cs typeface="Trebuchet MS"/>
              </a:rPr>
              <a:t> </a:t>
            </a:r>
            <a:r>
              <a:rPr sz="2200" spc="-95" dirty="0">
                <a:solidFill>
                  <a:srgbClr val="FFFFFF"/>
                </a:solidFill>
                <a:latin typeface="Trebuchet MS" panose="020B0603020202020204" pitchFamily="34" charset="0"/>
                <a:cs typeface="Trebuchet MS"/>
              </a:rPr>
              <a:t>services</a:t>
            </a:r>
            <a:r>
              <a:rPr sz="2200" spc="-155" dirty="0">
                <a:solidFill>
                  <a:srgbClr val="FFFFFF"/>
                </a:solidFill>
                <a:latin typeface="Trebuchet MS" panose="020B0603020202020204" pitchFamily="34" charset="0"/>
                <a:cs typeface="Trebuchet MS"/>
              </a:rPr>
              <a:t> </a:t>
            </a:r>
            <a:r>
              <a:rPr sz="2200" spc="-90" dirty="0">
                <a:solidFill>
                  <a:srgbClr val="FFFFFF"/>
                </a:solidFill>
                <a:latin typeface="Trebuchet MS" panose="020B0603020202020204" pitchFamily="34" charset="0"/>
                <a:cs typeface="Trebuchet MS"/>
              </a:rPr>
              <a:t>appearing</a:t>
            </a:r>
            <a:r>
              <a:rPr sz="2200" spc="-175" dirty="0">
                <a:solidFill>
                  <a:srgbClr val="FFFFFF"/>
                </a:solidFill>
                <a:latin typeface="Trebuchet MS" panose="020B0603020202020204" pitchFamily="34" charset="0"/>
                <a:cs typeface="Trebuchet MS"/>
              </a:rPr>
              <a:t> </a:t>
            </a:r>
            <a:r>
              <a:rPr sz="2200" spc="-40" dirty="0">
                <a:solidFill>
                  <a:srgbClr val="FFFFFF"/>
                </a:solidFill>
                <a:latin typeface="Trebuchet MS" panose="020B0603020202020204" pitchFamily="34" charset="0"/>
                <a:cs typeface="Trebuchet MS"/>
              </a:rPr>
              <a:t>on</a:t>
            </a:r>
            <a:r>
              <a:rPr sz="2200" spc="-160" dirty="0">
                <a:solidFill>
                  <a:srgbClr val="FFFFFF"/>
                </a:solidFill>
                <a:latin typeface="Trebuchet MS" panose="020B0603020202020204" pitchFamily="34" charset="0"/>
                <a:cs typeface="Trebuchet MS"/>
              </a:rPr>
              <a:t> </a:t>
            </a:r>
            <a:r>
              <a:rPr sz="2200" spc="-105" dirty="0">
                <a:solidFill>
                  <a:srgbClr val="FFFFFF"/>
                </a:solidFill>
                <a:latin typeface="Trebuchet MS" panose="020B0603020202020204" pitchFamily="34" charset="0"/>
                <a:cs typeface="Trebuchet MS"/>
              </a:rPr>
              <a:t>their  </a:t>
            </a:r>
            <a:r>
              <a:rPr sz="2200" spc="-110" dirty="0">
                <a:solidFill>
                  <a:srgbClr val="FFFFFF"/>
                </a:solidFill>
                <a:latin typeface="Trebuchet MS" panose="020B0603020202020204" pitchFamily="34" charset="0"/>
                <a:cs typeface="Trebuchet MS"/>
              </a:rPr>
              <a:t>networks, </a:t>
            </a:r>
            <a:r>
              <a:rPr sz="2200" spc="-60" dirty="0">
                <a:solidFill>
                  <a:srgbClr val="FFFFFF"/>
                </a:solidFill>
                <a:latin typeface="Trebuchet MS" panose="020B0603020202020204" pitchFamily="34" charset="0"/>
                <a:cs typeface="Trebuchet MS"/>
              </a:rPr>
              <a:t>or </a:t>
            </a:r>
            <a:r>
              <a:rPr sz="2200" spc="-110" dirty="0">
                <a:solidFill>
                  <a:srgbClr val="FFFFFF"/>
                </a:solidFill>
                <a:latin typeface="Trebuchet MS" panose="020B0603020202020204" pitchFamily="34" charset="0"/>
                <a:cs typeface="Trebuchet MS"/>
              </a:rPr>
              <a:t>existing </a:t>
            </a:r>
            <a:r>
              <a:rPr sz="2200" spc="-55" dirty="0">
                <a:solidFill>
                  <a:srgbClr val="FFFFFF"/>
                </a:solidFill>
                <a:latin typeface="Trebuchet MS" panose="020B0603020202020204" pitchFamily="34" charset="0"/>
                <a:cs typeface="Trebuchet MS"/>
              </a:rPr>
              <a:t>ones </a:t>
            </a:r>
            <a:r>
              <a:rPr sz="2200" spc="-75" dirty="0">
                <a:solidFill>
                  <a:srgbClr val="FFFFFF"/>
                </a:solidFill>
                <a:latin typeface="Trebuchet MS" panose="020B0603020202020204" pitchFamily="34" charset="0"/>
                <a:cs typeface="Trebuchet MS"/>
              </a:rPr>
              <a:t>going</a:t>
            </a:r>
            <a:r>
              <a:rPr sz="2200" spc="-475" dirty="0">
                <a:solidFill>
                  <a:srgbClr val="FFFFFF"/>
                </a:solidFill>
                <a:latin typeface="Trebuchet MS" panose="020B0603020202020204" pitchFamily="34" charset="0"/>
                <a:cs typeface="Trebuchet MS"/>
              </a:rPr>
              <a:t> </a:t>
            </a:r>
            <a:r>
              <a:rPr sz="2200" spc="-100" dirty="0">
                <a:solidFill>
                  <a:srgbClr val="FFFFFF"/>
                </a:solidFill>
                <a:latin typeface="Trebuchet MS" panose="020B0603020202020204" pitchFamily="34" charset="0"/>
                <a:cs typeface="Trebuchet MS"/>
              </a:rPr>
              <a:t>down.</a:t>
            </a:r>
            <a:endParaRPr sz="2200" dirty="0">
              <a:latin typeface="Trebuchet MS" panose="020B0603020202020204" pitchFamily="34" charset="0"/>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685800"/>
            <a:ext cx="4565650" cy="696595"/>
          </a:xfrm>
          <a:prstGeom prst="rect">
            <a:avLst/>
          </a:prstGeom>
        </p:spPr>
        <p:txBody>
          <a:bodyPr vert="horz" wrap="square" lIns="0" tIns="13335" rIns="0" bIns="0" rtlCol="0">
            <a:spAutoFit/>
          </a:bodyPr>
          <a:lstStyle/>
          <a:p>
            <a:pPr marL="12700">
              <a:lnSpc>
                <a:spcPct val="100000"/>
              </a:lnSpc>
              <a:spcBef>
                <a:spcPts val="105"/>
              </a:spcBef>
            </a:pPr>
            <a:r>
              <a:rPr sz="4400" spc="-229" dirty="0"/>
              <a:t>Features </a:t>
            </a:r>
            <a:r>
              <a:rPr sz="4400" spc="-200" dirty="0"/>
              <a:t>over</a:t>
            </a:r>
            <a:r>
              <a:rPr sz="4400" spc="-484" dirty="0"/>
              <a:t> </a:t>
            </a:r>
            <a:r>
              <a:rPr sz="4400" spc="-150" dirty="0"/>
              <a:t>Nmap</a:t>
            </a:r>
            <a:endParaRPr sz="4400"/>
          </a:p>
        </p:txBody>
      </p:sp>
      <p:sp>
        <p:nvSpPr>
          <p:cNvPr id="3" name="object 3"/>
          <p:cNvSpPr txBox="1"/>
          <p:nvPr/>
        </p:nvSpPr>
        <p:spPr>
          <a:xfrm>
            <a:off x="916939" y="2128773"/>
            <a:ext cx="10060940" cy="3800977"/>
          </a:xfrm>
          <a:prstGeom prst="rect">
            <a:avLst/>
          </a:prstGeom>
        </p:spPr>
        <p:txBody>
          <a:bodyPr vert="horz" wrap="square" lIns="0" tIns="12700" rIns="0" bIns="0" rtlCol="0">
            <a:spAutoFit/>
          </a:bodyPr>
          <a:lstStyle/>
          <a:p>
            <a:pPr marL="241300" indent="-229235">
              <a:lnSpc>
                <a:spcPts val="2775"/>
              </a:lnSpc>
              <a:spcBef>
                <a:spcPts val="100"/>
              </a:spcBef>
              <a:buFont typeface="Arial"/>
              <a:buChar char="•"/>
              <a:tabLst>
                <a:tab pos="241935" algn="l"/>
              </a:tabLst>
            </a:pPr>
            <a:r>
              <a:rPr sz="2400" spc="-110" dirty="0">
                <a:solidFill>
                  <a:srgbClr val="FFFFFF"/>
                </a:solidFill>
                <a:latin typeface="Trebuchet MS"/>
                <a:cs typeface="Trebuchet MS"/>
              </a:rPr>
              <a:t>Convenience</a:t>
            </a:r>
            <a:endParaRPr sz="2400" dirty="0">
              <a:latin typeface="Trebuchet MS"/>
              <a:cs typeface="Trebuchet MS"/>
            </a:endParaRPr>
          </a:p>
          <a:p>
            <a:pPr marL="698500" marR="5080" lvl="1" indent="-228600">
              <a:lnSpc>
                <a:spcPct val="70100"/>
              </a:lnSpc>
              <a:spcBef>
                <a:spcPts val="610"/>
              </a:spcBef>
              <a:buFont typeface="Arial"/>
              <a:buChar char="•"/>
              <a:tabLst>
                <a:tab pos="698500" algn="l"/>
                <a:tab pos="699135" algn="l"/>
              </a:tabLst>
            </a:pPr>
            <a:r>
              <a:rPr sz="2000" spc="-95" dirty="0">
                <a:solidFill>
                  <a:srgbClr val="FFFFFF"/>
                </a:solidFill>
                <a:latin typeface="Trebuchet MS"/>
                <a:cs typeface="Trebuchet MS"/>
              </a:rPr>
              <a:t>Zenmap</a:t>
            </a:r>
            <a:r>
              <a:rPr sz="2000" spc="-150" dirty="0">
                <a:solidFill>
                  <a:srgbClr val="FFFFFF"/>
                </a:solidFill>
                <a:latin typeface="Trebuchet MS"/>
                <a:cs typeface="Trebuchet MS"/>
              </a:rPr>
              <a:t> </a:t>
            </a:r>
            <a:r>
              <a:rPr sz="2000" spc="-90" dirty="0">
                <a:solidFill>
                  <a:srgbClr val="FFFFFF"/>
                </a:solidFill>
                <a:latin typeface="Trebuchet MS"/>
                <a:cs typeface="Trebuchet MS"/>
              </a:rPr>
              <a:t>keeps</a:t>
            </a:r>
            <a:r>
              <a:rPr sz="2000" spc="-150" dirty="0">
                <a:solidFill>
                  <a:srgbClr val="FFFFFF"/>
                </a:solidFill>
                <a:latin typeface="Trebuchet MS"/>
                <a:cs typeface="Trebuchet MS"/>
              </a:rPr>
              <a:t> </a:t>
            </a:r>
            <a:r>
              <a:rPr sz="2000" spc="-114" dirty="0">
                <a:solidFill>
                  <a:srgbClr val="FFFFFF"/>
                </a:solidFill>
                <a:latin typeface="Trebuchet MS"/>
                <a:cs typeface="Trebuchet MS"/>
              </a:rPr>
              <a:t>track</a:t>
            </a:r>
            <a:r>
              <a:rPr sz="2000" spc="-145" dirty="0">
                <a:solidFill>
                  <a:srgbClr val="FFFFFF"/>
                </a:solidFill>
                <a:latin typeface="Trebuchet MS"/>
                <a:cs typeface="Trebuchet MS"/>
              </a:rPr>
              <a:t> </a:t>
            </a:r>
            <a:r>
              <a:rPr sz="2000" spc="-75" dirty="0">
                <a:solidFill>
                  <a:srgbClr val="FFFFFF"/>
                </a:solidFill>
                <a:latin typeface="Trebuchet MS"/>
                <a:cs typeface="Trebuchet MS"/>
              </a:rPr>
              <a:t>of</a:t>
            </a:r>
            <a:r>
              <a:rPr sz="2000" spc="300" dirty="0">
                <a:solidFill>
                  <a:srgbClr val="FFFFFF"/>
                </a:solidFill>
                <a:latin typeface="Trebuchet MS"/>
                <a:cs typeface="Trebuchet MS"/>
              </a:rPr>
              <a:t> </a:t>
            </a:r>
            <a:r>
              <a:rPr sz="2000" spc="-70" dirty="0">
                <a:solidFill>
                  <a:srgbClr val="FFFFFF"/>
                </a:solidFill>
                <a:latin typeface="Trebuchet MS"/>
                <a:cs typeface="Trebuchet MS"/>
              </a:rPr>
              <a:t>scans</a:t>
            </a:r>
            <a:r>
              <a:rPr sz="2000" spc="-160" dirty="0">
                <a:solidFill>
                  <a:srgbClr val="FFFFFF"/>
                </a:solidFill>
                <a:latin typeface="Trebuchet MS"/>
                <a:cs typeface="Trebuchet MS"/>
              </a:rPr>
              <a:t> </a:t>
            </a:r>
            <a:r>
              <a:rPr sz="2000" spc="-95" dirty="0">
                <a:solidFill>
                  <a:srgbClr val="FFFFFF"/>
                </a:solidFill>
                <a:latin typeface="Trebuchet MS"/>
                <a:cs typeface="Trebuchet MS"/>
              </a:rPr>
              <a:t>until</a:t>
            </a:r>
            <a:r>
              <a:rPr sz="2000" spc="-145" dirty="0">
                <a:solidFill>
                  <a:srgbClr val="FFFFFF"/>
                </a:solidFill>
                <a:latin typeface="Trebuchet MS"/>
                <a:cs typeface="Trebuchet MS"/>
              </a:rPr>
              <a:t> </a:t>
            </a:r>
            <a:r>
              <a:rPr sz="2000" spc="-120" dirty="0">
                <a:solidFill>
                  <a:srgbClr val="FFFFFF"/>
                </a:solidFill>
                <a:latin typeface="Trebuchet MS"/>
                <a:cs typeface="Trebuchet MS"/>
              </a:rPr>
              <a:t>deleted.</a:t>
            </a:r>
            <a:r>
              <a:rPr sz="2000" spc="-145" dirty="0">
                <a:solidFill>
                  <a:srgbClr val="FFFFFF"/>
                </a:solidFill>
                <a:latin typeface="Trebuchet MS"/>
                <a:cs typeface="Trebuchet MS"/>
              </a:rPr>
              <a:t> </a:t>
            </a:r>
            <a:r>
              <a:rPr sz="2000" spc="-120" dirty="0">
                <a:solidFill>
                  <a:srgbClr val="FFFFFF"/>
                </a:solidFill>
                <a:latin typeface="Trebuchet MS"/>
                <a:cs typeface="Trebuchet MS"/>
              </a:rPr>
              <a:t>That</a:t>
            </a:r>
            <a:r>
              <a:rPr sz="2000" spc="-150" dirty="0">
                <a:solidFill>
                  <a:srgbClr val="FFFFFF"/>
                </a:solidFill>
                <a:latin typeface="Trebuchet MS"/>
                <a:cs typeface="Trebuchet MS"/>
              </a:rPr>
              <a:t> </a:t>
            </a:r>
            <a:r>
              <a:rPr sz="2000" spc="-65" dirty="0">
                <a:solidFill>
                  <a:srgbClr val="FFFFFF"/>
                </a:solidFill>
                <a:latin typeface="Trebuchet MS"/>
                <a:cs typeface="Trebuchet MS"/>
              </a:rPr>
              <a:t>means</a:t>
            </a:r>
            <a:r>
              <a:rPr sz="2000" spc="-135" dirty="0">
                <a:solidFill>
                  <a:srgbClr val="FFFFFF"/>
                </a:solidFill>
                <a:latin typeface="Trebuchet MS"/>
                <a:cs typeface="Trebuchet MS"/>
              </a:rPr>
              <a:t> </a:t>
            </a:r>
            <a:r>
              <a:rPr sz="2000" spc="-55" dirty="0">
                <a:solidFill>
                  <a:srgbClr val="FFFFFF"/>
                </a:solidFill>
                <a:latin typeface="Trebuchet MS"/>
                <a:cs typeface="Trebuchet MS"/>
              </a:rPr>
              <a:t>you</a:t>
            </a:r>
            <a:r>
              <a:rPr sz="2000" spc="-180" dirty="0">
                <a:solidFill>
                  <a:srgbClr val="FFFFFF"/>
                </a:solidFill>
                <a:latin typeface="Trebuchet MS"/>
                <a:cs typeface="Trebuchet MS"/>
              </a:rPr>
              <a:t> </a:t>
            </a:r>
            <a:r>
              <a:rPr sz="2000" spc="-95" dirty="0">
                <a:solidFill>
                  <a:srgbClr val="FFFFFF"/>
                </a:solidFill>
                <a:latin typeface="Trebuchet MS"/>
                <a:cs typeface="Trebuchet MS"/>
              </a:rPr>
              <a:t>can</a:t>
            </a:r>
            <a:r>
              <a:rPr sz="2000" spc="-150" dirty="0">
                <a:solidFill>
                  <a:srgbClr val="FFFFFF"/>
                </a:solidFill>
                <a:latin typeface="Trebuchet MS"/>
                <a:cs typeface="Trebuchet MS"/>
              </a:rPr>
              <a:t> </a:t>
            </a:r>
            <a:r>
              <a:rPr sz="2000" spc="-60" dirty="0">
                <a:solidFill>
                  <a:srgbClr val="FFFFFF"/>
                </a:solidFill>
                <a:latin typeface="Trebuchet MS"/>
                <a:cs typeface="Trebuchet MS"/>
              </a:rPr>
              <a:t>run</a:t>
            </a:r>
            <a:r>
              <a:rPr sz="2000" spc="-150" dirty="0">
                <a:solidFill>
                  <a:srgbClr val="FFFFFF"/>
                </a:solidFill>
                <a:latin typeface="Trebuchet MS"/>
                <a:cs typeface="Trebuchet MS"/>
              </a:rPr>
              <a:t> </a:t>
            </a:r>
            <a:r>
              <a:rPr sz="2000" spc="-95" dirty="0">
                <a:solidFill>
                  <a:srgbClr val="FFFFFF"/>
                </a:solidFill>
                <a:latin typeface="Trebuchet MS"/>
                <a:cs typeface="Trebuchet MS"/>
              </a:rPr>
              <a:t>a</a:t>
            </a:r>
            <a:r>
              <a:rPr sz="2000" spc="-155" dirty="0">
                <a:solidFill>
                  <a:srgbClr val="FFFFFF"/>
                </a:solidFill>
                <a:latin typeface="Trebuchet MS"/>
                <a:cs typeface="Trebuchet MS"/>
              </a:rPr>
              <a:t> </a:t>
            </a:r>
            <a:r>
              <a:rPr sz="2000" spc="-114" dirty="0">
                <a:solidFill>
                  <a:srgbClr val="FFFFFF"/>
                </a:solidFill>
                <a:latin typeface="Trebuchet MS"/>
                <a:cs typeface="Trebuchet MS"/>
              </a:rPr>
              <a:t>scan,</a:t>
            </a:r>
            <a:r>
              <a:rPr sz="2000" spc="-155" dirty="0">
                <a:solidFill>
                  <a:srgbClr val="FFFFFF"/>
                </a:solidFill>
                <a:latin typeface="Trebuchet MS"/>
                <a:cs typeface="Trebuchet MS"/>
              </a:rPr>
              <a:t> </a:t>
            </a:r>
            <a:r>
              <a:rPr sz="2000" spc="-75" dirty="0">
                <a:solidFill>
                  <a:srgbClr val="FFFFFF"/>
                </a:solidFill>
                <a:latin typeface="Trebuchet MS"/>
                <a:cs typeface="Trebuchet MS"/>
              </a:rPr>
              <a:t>see</a:t>
            </a:r>
            <a:r>
              <a:rPr sz="2000" spc="-140" dirty="0">
                <a:solidFill>
                  <a:srgbClr val="FFFFFF"/>
                </a:solidFill>
                <a:latin typeface="Trebuchet MS"/>
                <a:cs typeface="Trebuchet MS"/>
              </a:rPr>
              <a:t> </a:t>
            </a:r>
            <a:r>
              <a:rPr sz="2000" spc="-90" dirty="0">
                <a:solidFill>
                  <a:srgbClr val="FFFFFF"/>
                </a:solidFill>
                <a:latin typeface="Trebuchet MS"/>
                <a:cs typeface="Trebuchet MS"/>
              </a:rPr>
              <a:t>the</a:t>
            </a:r>
            <a:r>
              <a:rPr sz="2000" spc="-145" dirty="0">
                <a:solidFill>
                  <a:srgbClr val="FFFFFF"/>
                </a:solidFill>
                <a:latin typeface="Trebuchet MS"/>
                <a:cs typeface="Trebuchet MS"/>
              </a:rPr>
              <a:t> </a:t>
            </a:r>
            <a:r>
              <a:rPr sz="2000" spc="-100" dirty="0">
                <a:solidFill>
                  <a:srgbClr val="FFFFFF"/>
                </a:solidFill>
                <a:latin typeface="Trebuchet MS"/>
                <a:cs typeface="Trebuchet MS"/>
              </a:rPr>
              <a:t>results,  </a:t>
            </a:r>
            <a:r>
              <a:rPr sz="2000" spc="-65" dirty="0">
                <a:solidFill>
                  <a:srgbClr val="FFFFFF"/>
                </a:solidFill>
                <a:latin typeface="Trebuchet MS"/>
                <a:cs typeface="Trebuchet MS"/>
              </a:rPr>
              <a:t>and</a:t>
            </a:r>
            <a:r>
              <a:rPr sz="2000" spc="-160" dirty="0">
                <a:solidFill>
                  <a:srgbClr val="FFFFFF"/>
                </a:solidFill>
                <a:latin typeface="Trebuchet MS"/>
                <a:cs typeface="Trebuchet MS"/>
              </a:rPr>
              <a:t> </a:t>
            </a:r>
            <a:r>
              <a:rPr sz="2000" spc="-75" dirty="0">
                <a:solidFill>
                  <a:srgbClr val="FFFFFF"/>
                </a:solidFill>
                <a:latin typeface="Trebuchet MS"/>
                <a:cs typeface="Trebuchet MS"/>
              </a:rPr>
              <a:t>then</a:t>
            </a:r>
            <a:r>
              <a:rPr sz="2000" spc="-155" dirty="0">
                <a:solidFill>
                  <a:srgbClr val="FFFFFF"/>
                </a:solidFill>
                <a:latin typeface="Trebuchet MS"/>
                <a:cs typeface="Trebuchet MS"/>
              </a:rPr>
              <a:t> </a:t>
            </a:r>
            <a:r>
              <a:rPr sz="2000" spc="-100" dirty="0">
                <a:solidFill>
                  <a:srgbClr val="FFFFFF"/>
                </a:solidFill>
                <a:latin typeface="Trebuchet MS"/>
                <a:cs typeface="Trebuchet MS"/>
              </a:rPr>
              <a:t>decide</a:t>
            </a:r>
            <a:r>
              <a:rPr sz="2000" spc="-160" dirty="0">
                <a:solidFill>
                  <a:srgbClr val="FFFFFF"/>
                </a:solidFill>
                <a:latin typeface="Trebuchet MS"/>
                <a:cs typeface="Trebuchet MS"/>
              </a:rPr>
              <a:t> </a:t>
            </a:r>
            <a:r>
              <a:rPr sz="2000" spc="-80" dirty="0">
                <a:solidFill>
                  <a:srgbClr val="FFFFFF"/>
                </a:solidFill>
                <a:latin typeface="Trebuchet MS"/>
                <a:cs typeface="Trebuchet MS"/>
              </a:rPr>
              <a:t>whether</a:t>
            </a:r>
            <a:r>
              <a:rPr sz="2000" spc="-150" dirty="0">
                <a:solidFill>
                  <a:srgbClr val="FFFFFF"/>
                </a:solidFill>
                <a:latin typeface="Trebuchet MS"/>
                <a:cs typeface="Trebuchet MS"/>
              </a:rPr>
              <a:t> </a:t>
            </a:r>
            <a:r>
              <a:rPr sz="2000" spc="-85" dirty="0">
                <a:solidFill>
                  <a:srgbClr val="FFFFFF"/>
                </a:solidFill>
                <a:latin typeface="Trebuchet MS"/>
                <a:cs typeface="Trebuchet MS"/>
              </a:rPr>
              <a:t>to</a:t>
            </a:r>
            <a:r>
              <a:rPr sz="2000" spc="-155" dirty="0">
                <a:solidFill>
                  <a:srgbClr val="FFFFFF"/>
                </a:solidFill>
                <a:latin typeface="Trebuchet MS"/>
                <a:cs typeface="Trebuchet MS"/>
              </a:rPr>
              <a:t> </a:t>
            </a:r>
            <a:r>
              <a:rPr sz="2000" spc="-90" dirty="0">
                <a:solidFill>
                  <a:srgbClr val="FFFFFF"/>
                </a:solidFill>
                <a:latin typeface="Trebuchet MS"/>
                <a:cs typeface="Trebuchet MS"/>
              </a:rPr>
              <a:t>save</a:t>
            </a:r>
            <a:r>
              <a:rPr sz="2000" spc="-140" dirty="0">
                <a:solidFill>
                  <a:srgbClr val="FFFFFF"/>
                </a:solidFill>
                <a:latin typeface="Trebuchet MS"/>
                <a:cs typeface="Trebuchet MS"/>
              </a:rPr>
              <a:t> </a:t>
            </a:r>
            <a:r>
              <a:rPr sz="2000" spc="-80" dirty="0">
                <a:solidFill>
                  <a:srgbClr val="FFFFFF"/>
                </a:solidFill>
                <a:latin typeface="Trebuchet MS"/>
                <a:cs typeface="Trebuchet MS"/>
              </a:rPr>
              <a:t>them</a:t>
            </a:r>
            <a:r>
              <a:rPr sz="2000" spc="-150" dirty="0">
                <a:solidFill>
                  <a:srgbClr val="FFFFFF"/>
                </a:solidFill>
                <a:latin typeface="Trebuchet MS"/>
                <a:cs typeface="Trebuchet MS"/>
              </a:rPr>
              <a:t> </a:t>
            </a:r>
            <a:r>
              <a:rPr sz="2000" spc="-85" dirty="0">
                <a:solidFill>
                  <a:srgbClr val="FFFFFF"/>
                </a:solidFill>
                <a:latin typeface="Trebuchet MS"/>
                <a:cs typeface="Trebuchet MS"/>
              </a:rPr>
              <a:t>to</a:t>
            </a:r>
            <a:r>
              <a:rPr sz="2000" spc="-160" dirty="0">
                <a:solidFill>
                  <a:srgbClr val="FFFFFF"/>
                </a:solidFill>
                <a:latin typeface="Trebuchet MS"/>
                <a:cs typeface="Trebuchet MS"/>
              </a:rPr>
              <a:t> </a:t>
            </a:r>
            <a:r>
              <a:rPr sz="2000" spc="-95" dirty="0">
                <a:solidFill>
                  <a:srgbClr val="FFFFFF"/>
                </a:solidFill>
                <a:latin typeface="Trebuchet MS"/>
                <a:cs typeface="Trebuchet MS"/>
              </a:rPr>
              <a:t>a</a:t>
            </a:r>
            <a:r>
              <a:rPr sz="2000" spc="-150" dirty="0">
                <a:solidFill>
                  <a:srgbClr val="FFFFFF"/>
                </a:solidFill>
                <a:latin typeface="Trebuchet MS"/>
                <a:cs typeface="Trebuchet MS"/>
              </a:rPr>
              <a:t> </a:t>
            </a:r>
            <a:r>
              <a:rPr sz="2000" spc="-145" dirty="0">
                <a:solidFill>
                  <a:srgbClr val="FFFFFF"/>
                </a:solidFill>
                <a:latin typeface="Trebuchet MS"/>
                <a:cs typeface="Trebuchet MS"/>
              </a:rPr>
              <a:t>file</a:t>
            </a:r>
            <a:r>
              <a:rPr lang="en-US" sz="2000" spc="-145" dirty="0">
                <a:solidFill>
                  <a:srgbClr val="FFFFFF"/>
                </a:solidFill>
                <a:latin typeface="Trebuchet MS"/>
                <a:cs typeface="Trebuchet MS"/>
              </a:rPr>
              <a:t> or delete.</a:t>
            </a:r>
            <a:endParaRPr sz="2000" dirty="0">
              <a:latin typeface="Trebuchet MS"/>
              <a:cs typeface="Trebuchet MS"/>
            </a:endParaRPr>
          </a:p>
          <a:p>
            <a:pPr lvl="1">
              <a:lnSpc>
                <a:spcPct val="100000"/>
              </a:lnSpc>
              <a:spcBef>
                <a:spcPts val="15"/>
              </a:spcBef>
              <a:buClr>
                <a:srgbClr val="FFFFFF"/>
              </a:buClr>
              <a:buFont typeface="Arial"/>
              <a:buChar char="•"/>
            </a:pPr>
            <a:endParaRPr sz="2700" dirty="0">
              <a:latin typeface="Trebuchet MS"/>
              <a:cs typeface="Trebuchet MS"/>
            </a:endParaRPr>
          </a:p>
          <a:p>
            <a:pPr marL="241300" indent="-229235">
              <a:lnSpc>
                <a:spcPts val="2770"/>
              </a:lnSpc>
              <a:buFont typeface="Arial"/>
              <a:buChar char="•"/>
              <a:tabLst>
                <a:tab pos="241935" algn="l"/>
              </a:tabLst>
            </a:pPr>
            <a:r>
              <a:rPr sz="2400" spc="-125" dirty="0">
                <a:solidFill>
                  <a:srgbClr val="FFFFFF"/>
                </a:solidFill>
                <a:latin typeface="Trebuchet MS"/>
                <a:cs typeface="Trebuchet MS"/>
              </a:rPr>
              <a:t>Repeatability</a:t>
            </a:r>
            <a:endParaRPr sz="2400" dirty="0">
              <a:latin typeface="Trebuchet MS"/>
              <a:cs typeface="Trebuchet MS"/>
            </a:endParaRPr>
          </a:p>
          <a:p>
            <a:pPr marL="698500" lvl="1" indent="-229235">
              <a:lnSpc>
                <a:spcPts val="2180"/>
              </a:lnSpc>
              <a:buFont typeface="Arial"/>
              <a:buChar char="•"/>
              <a:tabLst>
                <a:tab pos="698500" algn="l"/>
                <a:tab pos="699135" algn="l"/>
              </a:tabLst>
            </a:pPr>
            <a:r>
              <a:rPr sz="2000" spc="-60" dirty="0">
                <a:solidFill>
                  <a:srgbClr val="FFFFFF"/>
                </a:solidFill>
                <a:latin typeface="Trebuchet MS"/>
                <a:cs typeface="Trebuchet MS"/>
              </a:rPr>
              <a:t>Zenmap's</a:t>
            </a:r>
            <a:r>
              <a:rPr sz="2000" spc="-155" dirty="0">
                <a:solidFill>
                  <a:srgbClr val="FFFFFF"/>
                </a:solidFill>
                <a:latin typeface="Trebuchet MS"/>
                <a:cs typeface="Trebuchet MS"/>
              </a:rPr>
              <a:t> </a:t>
            </a:r>
            <a:r>
              <a:rPr sz="2000" spc="-75" dirty="0">
                <a:solidFill>
                  <a:srgbClr val="FFFFFF"/>
                </a:solidFill>
                <a:latin typeface="Trebuchet MS"/>
                <a:cs typeface="Trebuchet MS"/>
              </a:rPr>
              <a:t>command</a:t>
            </a:r>
            <a:r>
              <a:rPr sz="2000" spc="-160" dirty="0">
                <a:solidFill>
                  <a:srgbClr val="FFFFFF"/>
                </a:solidFill>
                <a:latin typeface="Trebuchet MS"/>
                <a:cs typeface="Trebuchet MS"/>
              </a:rPr>
              <a:t> </a:t>
            </a:r>
            <a:r>
              <a:rPr sz="2000" spc="-90" dirty="0">
                <a:solidFill>
                  <a:srgbClr val="FFFFFF"/>
                </a:solidFill>
                <a:latin typeface="Trebuchet MS"/>
                <a:cs typeface="Trebuchet MS"/>
              </a:rPr>
              <a:t>profiles</a:t>
            </a:r>
            <a:r>
              <a:rPr sz="2000" spc="-130" dirty="0">
                <a:solidFill>
                  <a:srgbClr val="FFFFFF"/>
                </a:solidFill>
                <a:latin typeface="Trebuchet MS"/>
                <a:cs typeface="Trebuchet MS"/>
              </a:rPr>
              <a:t> </a:t>
            </a:r>
            <a:r>
              <a:rPr sz="2000" spc="-105" dirty="0">
                <a:solidFill>
                  <a:srgbClr val="FFFFFF"/>
                </a:solidFill>
                <a:latin typeface="Trebuchet MS"/>
                <a:cs typeface="Trebuchet MS"/>
              </a:rPr>
              <a:t>make</a:t>
            </a:r>
            <a:r>
              <a:rPr sz="2000" spc="-145" dirty="0">
                <a:solidFill>
                  <a:srgbClr val="FFFFFF"/>
                </a:solidFill>
                <a:latin typeface="Trebuchet MS"/>
                <a:cs typeface="Trebuchet MS"/>
              </a:rPr>
              <a:t> </a:t>
            </a:r>
            <a:r>
              <a:rPr sz="2000" spc="-120" dirty="0">
                <a:solidFill>
                  <a:srgbClr val="FFFFFF"/>
                </a:solidFill>
                <a:latin typeface="Trebuchet MS"/>
                <a:cs typeface="Trebuchet MS"/>
              </a:rPr>
              <a:t>it</a:t>
            </a:r>
            <a:r>
              <a:rPr sz="2000" spc="-150" dirty="0">
                <a:solidFill>
                  <a:srgbClr val="FFFFFF"/>
                </a:solidFill>
                <a:latin typeface="Trebuchet MS"/>
                <a:cs typeface="Trebuchet MS"/>
              </a:rPr>
              <a:t> </a:t>
            </a:r>
            <a:r>
              <a:rPr sz="2000" spc="-85" dirty="0">
                <a:solidFill>
                  <a:srgbClr val="FFFFFF"/>
                </a:solidFill>
                <a:latin typeface="Trebuchet MS"/>
                <a:cs typeface="Trebuchet MS"/>
              </a:rPr>
              <a:t>easy</a:t>
            </a:r>
            <a:r>
              <a:rPr sz="2000" spc="-140" dirty="0">
                <a:solidFill>
                  <a:srgbClr val="FFFFFF"/>
                </a:solidFill>
                <a:latin typeface="Trebuchet MS"/>
                <a:cs typeface="Trebuchet MS"/>
              </a:rPr>
              <a:t> </a:t>
            </a:r>
            <a:r>
              <a:rPr sz="2000" spc="-85" dirty="0">
                <a:solidFill>
                  <a:srgbClr val="FFFFFF"/>
                </a:solidFill>
                <a:latin typeface="Trebuchet MS"/>
                <a:cs typeface="Trebuchet MS"/>
              </a:rPr>
              <a:t>to</a:t>
            </a:r>
            <a:r>
              <a:rPr sz="2000" spc="-160" dirty="0">
                <a:solidFill>
                  <a:srgbClr val="FFFFFF"/>
                </a:solidFill>
                <a:latin typeface="Trebuchet MS"/>
                <a:cs typeface="Trebuchet MS"/>
              </a:rPr>
              <a:t> </a:t>
            </a:r>
            <a:r>
              <a:rPr sz="2000" spc="-55" dirty="0">
                <a:solidFill>
                  <a:srgbClr val="FFFFFF"/>
                </a:solidFill>
                <a:latin typeface="Trebuchet MS"/>
                <a:cs typeface="Trebuchet MS"/>
              </a:rPr>
              <a:t>run</a:t>
            </a:r>
            <a:r>
              <a:rPr sz="2000" spc="-145" dirty="0">
                <a:solidFill>
                  <a:srgbClr val="FFFFFF"/>
                </a:solidFill>
                <a:latin typeface="Trebuchet MS"/>
                <a:cs typeface="Trebuchet MS"/>
              </a:rPr>
              <a:t> </a:t>
            </a:r>
            <a:r>
              <a:rPr sz="2000" spc="-90" dirty="0">
                <a:solidFill>
                  <a:srgbClr val="FFFFFF"/>
                </a:solidFill>
                <a:latin typeface="Trebuchet MS"/>
                <a:cs typeface="Trebuchet MS"/>
              </a:rPr>
              <a:t>the</a:t>
            </a:r>
            <a:r>
              <a:rPr sz="2000" spc="-150" dirty="0">
                <a:solidFill>
                  <a:srgbClr val="FFFFFF"/>
                </a:solidFill>
                <a:latin typeface="Trebuchet MS"/>
                <a:cs typeface="Trebuchet MS"/>
              </a:rPr>
              <a:t> </a:t>
            </a:r>
            <a:r>
              <a:rPr sz="2000" spc="-135" dirty="0">
                <a:solidFill>
                  <a:srgbClr val="FFFFFF"/>
                </a:solidFill>
                <a:latin typeface="Trebuchet MS"/>
                <a:cs typeface="Trebuchet MS"/>
              </a:rPr>
              <a:t>exact</a:t>
            </a:r>
            <a:r>
              <a:rPr sz="2000" spc="-140" dirty="0">
                <a:solidFill>
                  <a:srgbClr val="FFFFFF"/>
                </a:solidFill>
                <a:latin typeface="Trebuchet MS"/>
                <a:cs typeface="Trebuchet MS"/>
              </a:rPr>
              <a:t> </a:t>
            </a:r>
            <a:r>
              <a:rPr sz="2000" spc="-75" dirty="0">
                <a:solidFill>
                  <a:srgbClr val="FFFFFF"/>
                </a:solidFill>
                <a:latin typeface="Trebuchet MS"/>
                <a:cs typeface="Trebuchet MS"/>
              </a:rPr>
              <a:t>same</a:t>
            </a:r>
            <a:r>
              <a:rPr sz="2000" spc="-140" dirty="0">
                <a:solidFill>
                  <a:srgbClr val="FFFFFF"/>
                </a:solidFill>
                <a:latin typeface="Trebuchet MS"/>
                <a:cs typeface="Trebuchet MS"/>
              </a:rPr>
              <a:t> </a:t>
            </a:r>
            <a:r>
              <a:rPr sz="2000" spc="-80" dirty="0">
                <a:solidFill>
                  <a:srgbClr val="FFFFFF"/>
                </a:solidFill>
                <a:latin typeface="Trebuchet MS"/>
                <a:cs typeface="Trebuchet MS"/>
              </a:rPr>
              <a:t>scan</a:t>
            </a:r>
            <a:r>
              <a:rPr sz="2000" spc="-145" dirty="0">
                <a:solidFill>
                  <a:srgbClr val="FFFFFF"/>
                </a:solidFill>
                <a:latin typeface="Trebuchet MS"/>
                <a:cs typeface="Trebuchet MS"/>
              </a:rPr>
              <a:t> </a:t>
            </a:r>
            <a:r>
              <a:rPr sz="2000" spc="-75" dirty="0">
                <a:solidFill>
                  <a:srgbClr val="FFFFFF"/>
                </a:solidFill>
                <a:latin typeface="Trebuchet MS"/>
                <a:cs typeface="Trebuchet MS"/>
              </a:rPr>
              <a:t>more</a:t>
            </a:r>
            <a:r>
              <a:rPr sz="2000" spc="-150" dirty="0">
                <a:solidFill>
                  <a:srgbClr val="FFFFFF"/>
                </a:solidFill>
                <a:latin typeface="Trebuchet MS"/>
                <a:cs typeface="Trebuchet MS"/>
              </a:rPr>
              <a:t> </a:t>
            </a:r>
            <a:r>
              <a:rPr sz="2000" spc="-75" dirty="0">
                <a:solidFill>
                  <a:srgbClr val="FFFFFF"/>
                </a:solidFill>
                <a:latin typeface="Trebuchet MS"/>
                <a:cs typeface="Trebuchet MS"/>
              </a:rPr>
              <a:t>than</a:t>
            </a:r>
            <a:r>
              <a:rPr sz="2000" spc="-145" dirty="0">
                <a:solidFill>
                  <a:srgbClr val="FFFFFF"/>
                </a:solidFill>
                <a:latin typeface="Trebuchet MS"/>
                <a:cs typeface="Trebuchet MS"/>
              </a:rPr>
              <a:t> </a:t>
            </a:r>
            <a:r>
              <a:rPr sz="2000" spc="-110" dirty="0">
                <a:solidFill>
                  <a:srgbClr val="FFFFFF"/>
                </a:solidFill>
                <a:latin typeface="Trebuchet MS"/>
                <a:cs typeface="Trebuchet MS"/>
              </a:rPr>
              <a:t>once.</a:t>
            </a:r>
            <a:endParaRPr sz="2000" dirty="0">
              <a:latin typeface="Trebuchet MS"/>
              <a:cs typeface="Trebuchet MS"/>
            </a:endParaRPr>
          </a:p>
          <a:p>
            <a:pPr marL="698500" lvl="1" indent="-229235">
              <a:lnSpc>
                <a:spcPts val="2290"/>
              </a:lnSpc>
              <a:buFont typeface="Arial"/>
              <a:buChar char="•"/>
              <a:tabLst>
                <a:tab pos="698500" algn="l"/>
                <a:tab pos="699135" algn="l"/>
              </a:tabLst>
            </a:pPr>
            <a:r>
              <a:rPr sz="2000" spc="-65" dirty="0">
                <a:solidFill>
                  <a:srgbClr val="FFFFFF"/>
                </a:solidFill>
                <a:latin typeface="Trebuchet MS"/>
                <a:cs typeface="Trebuchet MS"/>
              </a:rPr>
              <a:t>There's</a:t>
            </a:r>
            <a:r>
              <a:rPr sz="2000" spc="-150" dirty="0">
                <a:solidFill>
                  <a:srgbClr val="FFFFFF"/>
                </a:solidFill>
                <a:latin typeface="Trebuchet MS"/>
                <a:cs typeface="Trebuchet MS"/>
              </a:rPr>
              <a:t> </a:t>
            </a:r>
            <a:r>
              <a:rPr sz="2000" spc="-35" dirty="0">
                <a:solidFill>
                  <a:srgbClr val="FFFFFF"/>
                </a:solidFill>
                <a:latin typeface="Trebuchet MS"/>
                <a:cs typeface="Trebuchet MS"/>
              </a:rPr>
              <a:t>no</a:t>
            </a:r>
            <a:r>
              <a:rPr sz="2000" spc="-160" dirty="0">
                <a:solidFill>
                  <a:srgbClr val="FFFFFF"/>
                </a:solidFill>
                <a:latin typeface="Trebuchet MS"/>
                <a:cs typeface="Trebuchet MS"/>
              </a:rPr>
              <a:t> </a:t>
            </a:r>
            <a:r>
              <a:rPr sz="2000" spc="-80" dirty="0">
                <a:solidFill>
                  <a:srgbClr val="FFFFFF"/>
                </a:solidFill>
                <a:latin typeface="Trebuchet MS"/>
                <a:cs typeface="Trebuchet MS"/>
              </a:rPr>
              <a:t>need</a:t>
            </a:r>
            <a:r>
              <a:rPr sz="2000" spc="-155" dirty="0">
                <a:solidFill>
                  <a:srgbClr val="FFFFFF"/>
                </a:solidFill>
                <a:latin typeface="Trebuchet MS"/>
                <a:cs typeface="Trebuchet MS"/>
              </a:rPr>
              <a:t> </a:t>
            </a:r>
            <a:r>
              <a:rPr sz="2000" spc="-85" dirty="0">
                <a:solidFill>
                  <a:srgbClr val="FFFFFF"/>
                </a:solidFill>
                <a:latin typeface="Trebuchet MS"/>
                <a:cs typeface="Trebuchet MS"/>
              </a:rPr>
              <a:t>to</a:t>
            </a:r>
            <a:r>
              <a:rPr sz="2000" spc="-160" dirty="0">
                <a:solidFill>
                  <a:srgbClr val="FFFFFF"/>
                </a:solidFill>
                <a:latin typeface="Trebuchet MS"/>
                <a:cs typeface="Trebuchet MS"/>
              </a:rPr>
              <a:t> </a:t>
            </a:r>
            <a:r>
              <a:rPr sz="2000" spc="-90" dirty="0">
                <a:solidFill>
                  <a:srgbClr val="FFFFFF"/>
                </a:solidFill>
                <a:latin typeface="Trebuchet MS"/>
                <a:cs typeface="Trebuchet MS"/>
              </a:rPr>
              <a:t>set</a:t>
            </a:r>
            <a:r>
              <a:rPr sz="2000" spc="-140" dirty="0">
                <a:solidFill>
                  <a:srgbClr val="FFFFFF"/>
                </a:solidFill>
                <a:latin typeface="Trebuchet MS"/>
                <a:cs typeface="Trebuchet MS"/>
              </a:rPr>
              <a:t> </a:t>
            </a:r>
            <a:r>
              <a:rPr sz="2000" spc="-55" dirty="0">
                <a:solidFill>
                  <a:srgbClr val="FFFFFF"/>
                </a:solidFill>
                <a:latin typeface="Trebuchet MS"/>
                <a:cs typeface="Trebuchet MS"/>
              </a:rPr>
              <a:t>up</a:t>
            </a:r>
            <a:r>
              <a:rPr sz="2000" spc="-155" dirty="0">
                <a:solidFill>
                  <a:srgbClr val="FFFFFF"/>
                </a:solidFill>
                <a:latin typeface="Trebuchet MS"/>
                <a:cs typeface="Trebuchet MS"/>
              </a:rPr>
              <a:t> </a:t>
            </a:r>
            <a:r>
              <a:rPr sz="2000" spc="-95" dirty="0">
                <a:solidFill>
                  <a:srgbClr val="FFFFFF"/>
                </a:solidFill>
                <a:latin typeface="Trebuchet MS"/>
                <a:cs typeface="Trebuchet MS"/>
              </a:rPr>
              <a:t>a</a:t>
            </a:r>
            <a:r>
              <a:rPr sz="2000" spc="-160" dirty="0">
                <a:solidFill>
                  <a:srgbClr val="FFFFFF"/>
                </a:solidFill>
                <a:latin typeface="Trebuchet MS"/>
                <a:cs typeface="Trebuchet MS"/>
              </a:rPr>
              <a:t> </a:t>
            </a:r>
            <a:r>
              <a:rPr sz="2000" spc="-90" dirty="0">
                <a:solidFill>
                  <a:srgbClr val="FFFFFF"/>
                </a:solidFill>
                <a:latin typeface="Trebuchet MS"/>
                <a:cs typeface="Trebuchet MS"/>
              </a:rPr>
              <a:t>shell</a:t>
            </a:r>
            <a:r>
              <a:rPr sz="2000" spc="-130" dirty="0">
                <a:solidFill>
                  <a:srgbClr val="FFFFFF"/>
                </a:solidFill>
                <a:latin typeface="Trebuchet MS"/>
                <a:cs typeface="Trebuchet MS"/>
              </a:rPr>
              <a:t> </a:t>
            </a:r>
            <a:r>
              <a:rPr sz="2000" spc="-100" dirty="0">
                <a:solidFill>
                  <a:srgbClr val="FFFFFF"/>
                </a:solidFill>
                <a:latin typeface="Trebuchet MS"/>
                <a:cs typeface="Trebuchet MS"/>
              </a:rPr>
              <a:t>script</a:t>
            </a:r>
            <a:r>
              <a:rPr sz="2000" spc="-150" dirty="0">
                <a:solidFill>
                  <a:srgbClr val="FFFFFF"/>
                </a:solidFill>
                <a:latin typeface="Trebuchet MS"/>
                <a:cs typeface="Trebuchet MS"/>
              </a:rPr>
              <a:t> </a:t>
            </a:r>
            <a:r>
              <a:rPr sz="2000" spc="-80" dirty="0">
                <a:solidFill>
                  <a:srgbClr val="FFFFFF"/>
                </a:solidFill>
                <a:latin typeface="Trebuchet MS"/>
                <a:cs typeface="Trebuchet MS"/>
              </a:rPr>
              <a:t>to</a:t>
            </a:r>
            <a:r>
              <a:rPr sz="2000" spc="-155" dirty="0">
                <a:solidFill>
                  <a:srgbClr val="FFFFFF"/>
                </a:solidFill>
                <a:latin typeface="Trebuchet MS"/>
                <a:cs typeface="Trebuchet MS"/>
              </a:rPr>
              <a:t> </a:t>
            </a:r>
            <a:r>
              <a:rPr sz="2000" spc="-40" dirty="0">
                <a:solidFill>
                  <a:srgbClr val="FFFFFF"/>
                </a:solidFill>
                <a:latin typeface="Trebuchet MS"/>
                <a:cs typeface="Trebuchet MS"/>
              </a:rPr>
              <a:t>do</a:t>
            </a:r>
            <a:r>
              <a:rPr sz="2000" spc="-175" dirty="0">
                <a:solidFill>
                  <a:srgbClr val="FFFFFF"/>
                </a:solidFill>
                <a:latin typeface="Trebuchet MS"/>
                <a:cs typeface="Trebuchet MS"/>
              </a:rPr>
              <a:t> </a:t>
            </a:r>
            <a:r>
              <a:rPr sz="2000" spc="-95" dirty="0">
                <a:solidFill>
                  <a:srgbClr val="FFFFFF"/>
                </a:solidFill>
                <a:latin typeface="Trebuchet MS"/>
                <a:cs typeface="Trebuchet MS"/>
              </a:rPr>
              <a:t>a</a:t>
            </a:r>
            <a:r>
              <a:rPr sz="2000" spc="-150" dirty="0">
                <a:solidFill>
                  <a:srgbClr val="FFFFFF"/>
                </a:solidFill>
                <a:latin typeface="Trebuchet MS"/>
                <a:cs typeface="Trebuchet MS"/>
              </a:rPr>
              <a:t> </a:t>
            </a:r>
            <a:r>
              <a:rPr sz="2000" spc="-60" dirty="0">
                <a:solidFill>
                  <a:srgbClr val="FFFFFF"/>
                </a:solidFill>
                <a:latin typeface="Trebuchet MS"/>
                <a:cs typeface="Trebuchet MS"/>
              </a:rPr>
              <a:t>common</a:t>
            </a:r>
            <a:r>
              <a:rPr sz="2000" spc="-175" dirty="0">
                <a:solidFill>
                  <a:srgbClr val="FFFFFF"/>
                </a:solidFill>
                <a:latin typeface="Trebuchet MS"/>
                <a:cs typeface="Trebuchet MS"/>
              </a:rPr>
              <a:t> </a:t>
            </a:r>
            <a:r>
              <a:rPr sz="2000" spc="-110" dirty="0">
                <a:solidFill>
                  <a:srgbClr val="FFFFFF"/>
                </a:solidFill>
                <a:latin typeface="Trebuchet MS"/>
                <a:cs typeface="Trebuchet MS"/>
              </a:rPr>
              <a:t>scan.</a:t>
            </a:r>
            <a:endParaRPr sz="2000" dirty="0">
              <a:latin typeface="Trebuchet MS"/>
              <a:cs typeface="Trebuchet MS"/>
            </a:endParaRPr>
          </a:p>
          <a:p>
            <a:pPr lvl="1">
              <a:lnSpc>
                <a:spcPct val="100000"/>
              </a:lnSpc>
              <a:spcBef>
                <a:spcPts val="20"/>
              </a:spcBef>
              <a:buClr>
                <a:srgbClr val="FFFFFF"/>
              </a:buClr>
              <a:buFont typeface="Arial"/>
              <a:buChar char="•"/>
            </a:pPr>
            <a:endParaRPr sz="2700" dirty="0">
              <a:latin typeface="Trebuchet MS"/>
              <a:cs typeface="Trebuchet MS"/>
            </a:endParaRPr>
          </a:p>
          <a:p>
            <a:pPr marL="241300" indent="-229235">
              <a:lnSpc>
                <a:spcPts val="2770"/>
              </a:lnSpc>
              <a:buFont typeface="Arial"/>
              <a:buChar char="•"/>
              <a:tabLst>
                <a:tab pos="241935" algn="l"/>
              </a:tabLst>
            </a:pPr>
            <a:r>
              <a:rPr sz="2400" spc="-110" dirty="0">
                <a:solidFill>
                  <a:srgbClr val="FFFFFF"/>
                </a:solidFill>
                <a:latin typeface="Trebuchet MS"/>
                <a:cs typeface="Trebuchet MS"/>
              </a:rPr>
              <a:t>Discoverability</a:t>
            </a:r>
            <a:endParaRPr sz="2400" dirty="0">
              <a:latin typeface="Trebuchet MS"/>
              <a:cs typeface="Trebuchet MS"/>
            </a:endParaRPr>
          </a:p>
          <a:p>
            <a:pPr marL="698500" lvl="1" indent="-229235">
              <a:lnSpc>
                <a:spcPts val="2180"/>
              </a:lnSpc>
              <a:buFont typeface="Arial"/>
              <a:buChar char="•"/>
              <a:tabLst>
                <a:tab pos="698500" algn="l"/>
                <a:tab pos="699135" algn="l"/>
              </a:tabLst>
            </a:pPr>
            <a:r>
              <a:rPr sz="2000" spc="-50" dirty="0">
                <a:solidFill>
                  <a:srgbClr val="FFFFFF"/>
                </a:solidFill>
                <a:latin typeface="Trebuchet MS"/>
                <a:cs typeface="Trebuchet MS"/>
              </a:rPr>
              <a:t>Nmap</a:t>
            </a:r>
            <a:r>
              <a:rPr sz="2000" spc="-165" dirty="0">
                <a:solidFill>
                  <a:srgbClr val="FFFFFF"/>
                </a:solidFill>
                <a:latin typeface="Trebuchet MS"/>
                <a:cs typeface="Trebuchet MS"/>
              </a:rPr>
              <a:t> </a:t>
            </a:r>
            <a:r>
              <a:rPr sz="2000" spc="-60" dirty="0">
                <a:solidFill>
                  <a:srgbClr val="FFFFFF"/>
                </a:solidFill>
                <a:latin typeface="Trebuchet MS"/>
                <a:cs typeface="Trebuchet MS"/>
              </a:rPr>
              <a:t>has</a:t>
            </a:r>
            <a:r>
              <a:rPr sz="2000" spc="-155" dirty="0">
                <a:solidFill>
                  <a:srgbClr val="FFFFFF"/>
                </a:solidFill>
                <a:latin typeface="Trebuchet MS"/>
                <a:cs typeface="Trebuchet MS"/>
              </a:rPr>
              <a:t> </a:t>
            </a:r>
            <a:r>
              <a:rPr sz="2000" spc="-120" dirty="0">
                <a:solidFill>
                  <a:srgbClr val="FFFFFF"/>
                </a:solidFill>
                <a:latin typeface="Trebuchet MS"/>
                <a:cs typeface="Trebuchet MS"/>
              </a:rPr>
              <a:t>literally</a:t>
            </a:r>
            <a:r>
              <a:rPr sz="2000" spc="-135" dirty="0">
                <a:solidFill>
                  <a:srgbClr val="FFFFFF"/>
                </a:solidFill>
                <a:latin typeface="Trebuchet MS"/>
                <a:cs typeface="Trebuchet MS"/>
              </a:rPr>
              <a:t> </a:t>
            </a:r>
            <a:r>
              <a:rPr sz="2000" spc="-60" dirty="0">
                <a:solidFill>
                  <a:srgbClr val="FFFFFF"/>
                </a:solidFill>
                <a:latin typeface="Trebuchet MS"/>
                <a:cs typeface="Trebuchet MS"/>
              </a:rPr>
              <a:t>hundreds</a:t>
            </a:r>
            <a:r>
              <a:rPr sz="2000" spc="-170" dirty="0">
                <a:solidFill>
                  <a:srgbClr val="FFFFFF"/>
                </a:solidFill>
                <a:latin typeface="Trebuchet MS"/>
                <a:cs typeface="Trebuchet MS"/>
              </a:rPr>
              <a:t> </a:t>
            </a:r>
            <a:r>
              <a:rPr sz="2000" spc="-75" dirty="0">
                <a:solidFill>
                  <a:srgbClr val="FFFFFF"/>
                </a:solidFill>
                <a:latin typeface="Trebuchet MS"/>
                <a:cs typeface="Trebuchet MS"/>
              </a:rPr>
              <a:t>of</a:t>
            </a:r>
            <a:r>
              <a:rPr sz="2000" spc="-155" dirty="0">
                <a:solidFill>
                  <a:srgbClr val="FFFFFF"/>
                </a:solidFill>
                <a:latin typeface="Trebuchet MS"/>
                <a:cs typeface="Trebuchet MS"/>
              </a:rPr>
              <a:t> </a:t>
            </a:r>
            <a:r>
              <a:rPr sz="2000" spc="-85" dirty="0">
                <a:solidFill>
                  <a:srgbClr val="FFFFFF"/>
                </a:solidFill>
                <a:latin typeface="Trebuchet MS"/>
                <a:cs typeface="Trebuchet MS"/>
              </a:rPr>
              <a:t>options,</a:t>
            </a:r>
            <a:r>
              <a:rPr sz="2000" spc="-160" dirty="0">
                <a:solidFill>
                  <a:srgbClr val="FFFFFF"/>
                </a:solidFill>
                <a:latin typeface="Trebuchet MS"/>
                <a:cs typeface="Trebuchet MS"/>
              </a:rPr>
              <a:t> </a:t>
            </a:r>
            <a:r>
              <a:rPr sz="2000" spc="-80" dirty="0">
                <a:solidFill>
                  <a:srgbClr val="FFFFFF"/>
                </a:solidFill>
                <a:latin typeface="Trebuchet MS"/>
                <a:cs typeface="Trebuchet MS"/>
              </a:rPr>
              <a:t>which</a:t>
            </a:r>
            <a:r>
              <a:rPr sz="2000" spc="-155" dirty="0">
                <a:solidFill>
                  <a:srgbClr val="FFFFFF"/>
                </a:solidFill>
                <a:latin typeface="Trebuchet MS"/>
                <a:cs typeface="Trebuchet MS"/>
              </a:rPr>
              <a:t> </a:t>
            </a:r>
            <a:r>
              <a:rPr sz="2000" spc="-95" dirty="0">
                <a:solidFill>
                  <a:srgbClr val="FFFFFF"/>
                </a:solidFill>
                <a:latin typeface="Trebuchet MS"/>
                <a:cs typeface="Trebuchet MS"/>
              </a:rPr>
              <a:t>can</a:t>
            </a:r>
            <a:r>
              <a:rPr sz="2000" spc="-150" dirty="0">
                <a:solidFill>
                  <a:srgbClr val="FFFFFF"/>
                </a:solidFill>
                <a:latin typeface="Trebuchet MS"/>
                <a:cs typeface="Trebuchet MS"/>
              </a:rPr>
              <a:t> </a:t>
            </a:r>
            <a:r>
              <a:rPr sz="2000" spc="-80" dirty="0">
                <a:solidFill>
                  <a:srgbClr val="FFFFFF"/>
                </a:solidFill>
                <a:latin typeface="Trebuchet MS"/>
                <a:cs typeface="Trebuchet MS"/>
              </a:rPr>
              <a:t>be</a:t>
            </a:r>
            <a:r>
              <a:rPr sz="2000" spc="-160" dirty="0">
                <a:solidFill>
                  <a:srgbClr val="FFFFFF"/>
                </a:solidFill>
                <a:latin typeface="Trebuchet MS"/>
                <a:cs typeface="Trebuchet MS"/>
              </a:rPr>
              <a:t> </a:t>
            </a:r>
            <a:r>
              <a:rPr sz="2000" spc="-75" dirty="0">
                <a:solidFill>
                  <a:srgbClr val="FFFFFF"/>
                </a:solidFill>
                <a:latin typeface="Trebuchet MS"/>
                <a:cs typeface="Trebuchet MS"/>
              </a:rPr>
              <a:t>confusing</a:t>
            </a:r>
            <a:r>
              <a:rPr sz="2000" spc="-180" dirty="0">
                <a:solidFill>
                  <a:srgbClr val="FFFFFF"/>
                </a:solidFill>
                <a:latin typeface="Trebuchet MS"/>
                <a:cs typeface="Trebuchet MS"/>
              </a:rPr>
              <a:t> </a:t>
            </a:r>
            <a:r>
              <a:rPr sz="2000" spc="-90" dirty="0">
                <a:solidFill>
                  <a:srgbClr val="FFFFFF"/>
                </a:solidFill>
                <a:latin typeface="Trebuchet MS"/>
                <a:cs typeface="Trebuchet MS"/>
              </a:rPr>
              <a:t>for</a:t>
            </a:r>
            <a:r>
              <a:rPr sz="2000" spc="-165" dirty="0">
                <a:solidFill>
                  <a:srgbClr val="FFFFFF"/>
                </a:solidFill>
                <a:latin typeface="Trebuchet MS"/>
                <a:cs typeface="Trebuchet MS"/>
              </a:rPr>
              <a:t> </a:t>
            </a:r>
            <a:r>
              <a:rPr sz="2000" spc="-90" dirty="0">
                <a:solidFill>
                  <a:srgbClr val="FFFFFF"/>
                </a:solidFill>
                <a:latin typeface="Trebuchet MS"/>
                <a:cs typeface="Trebuchet MS"/>
              </a:rPr>
              <a:t>beginners.</a:t>
            </a:r>
            <a:endParaRPr sz="2000" dirty="0">
              <a:latin typeface="Trebuchet MS"/>
              <a:cs typeface="Trebuchet MS"/>
            </a:endParaRPr>
          </a:p>
          <a:p>
            <a:pPr marL="698500" marR="240665" lvl="1" indent="-228600">
              <a:lnSpc>
                <a:spcPct val="70000"/>
              </a:lnSpc>
              <a:spcBef>
                <a:spcPts val="615"/>
              </a:spcBef>
              <a:buFont typeface="Arial"/>
              <a:buChar char="•"/>
              <a:tabLst>
                <a:tab pos="698500" algn="l"/>
                <a:tab pos="699135" algn="l"/>
              </a:tabLst>
            </a:pPr>
            <a:r>
              <a:rPr sz="2000" spc="-60" dirty="0">
                <a:solidFill>
                  <a:srgbClr val="FFFFFF"/>
                </a:solidFill>
                <a:latin typeface="Trebuchet MS"/>
                <a:cs typeface="Trebuchet MS"/>
              </a:rPr>
              <a:t>Zenmap's</a:t>
            </a:r>
            <a:r>
              <a:rPr sz="2000" spc="-155" dirty="0">
                <a:solidFill>
                  <a:srgbClr val="FFFFFF"/>
                </a:solidFill>
                <a:latin typeface="Trebuchet MS"/>
                <a:cs typeface="Trebuchet MS"/>
              </a:rPr>
              <a:t> </a:t>
            </a:r>
            <a:r>
              <a:rPr sz="2000" spc="-110" dirty="0">
                <a:solidFill>
                  <a:srgbClr val="FFFFFF"/>
                </a:solidFill>
                <a:latin typeface="Trebuchet MS"/>
                <a:cs typeface="Trebuchet MS"/>
              </a:rPr>
              <a:t>interface</a:t>
            </a:r>
            <a:r>
              <a:rPr sz="2000" spc="-130" dirty="0">
                <a:solidFill>
                  <a:srgbClr val="FFFFFF"/>
                </a:solidFill>
                <a:latin typeface="Trebuchet MS"/>
                <a:cs typeface="Trebuchet MS"/>
              </a:rPr>
              <a:t> </a:t>
            </a:r>
            <a:r>
              <a:rPr sz="2000" spc="-70" dirty="0">
                <a:solidFill>
                  <a:srgbClr val="FFFFFF"/>
                </a:solidFill>
                <a:latin typeface="Trebuchet MS"/>
                <a:cs typeface="Trebuchet MS"/>
              </a:rPr>
              <a:t>is</a:t>
            </a:r>
            <a:r>
              <a:rPr sz="2000" spc="-140" dirty="0">
                <a:solidFill>
                  <a:srgbClr val="FFFFFF"/>
                </a:solidFill>
                <a:latin typeface="Trebuchet MS"/>
                <a:cs typeface="Trebuchet MS"/>
              </a:rPr>
              <a:t> </a:t>
            </a:r>
            <a:r>
              <a:rPr sz="2000" spc="-75" dirty="0">
                <a:solidFill>
                  <a:srgbClr val="FFFFFF"/>
                </a:solidFill>
                <a:latin typeface="Trebuchet MS"/>
                <a:cs typeface="Trebuchet MS"/>
              </a:rPr>
              <a:t>designed</a:t>
            </a:r>
            <a:r>
              <a:rPr sz="2000" spc="-150" dirty="0">
                <a:solidFill>
                  <a:srgbClr val="FFFFFF"/>
                </a:solidFill>
                <a:latin typeface="Trebuchet MS"/>
                <a:cs typeface="Trebuchet MS"/>
              </a:rPr>
              <a:t> </a:t>
            </a:r>
            <a:r>
              <a:rPr sz="2000" spc="-85" dirty="0">
                <a:solidFill>
                  <a:srgbClr val="FFFFFF"/>
                </a:solidFill>
                <a:latin typeface="Trebuchet MS"/>
                <a:cs typeface="Trebuchet MS"/>
              </a:rPr>
              <a:t>to</a:t>
            </a:r>
            <a:r>
              <a:rPr sz="2000" spc="-150" dirty="0">
                <a:solidFill>
                  <a:srgbClr val="FFFFFF"/>
                </a:solidFill>
                <a:latin typeface="Trebuchet MS"/>
                <a:cs typeface="Trebuchet MS"/>
              </a:rPr>
              <a:t> </a:t>
            </a:r>
            <a:r>
              <a:rPr sz="2000" spc="-95" dirty="0">
                <a:solidFill>
                  <a:srgbClr val="FFFFFF"/>
                </a:solidFill>
                <a:latin typeface="Trebuchet MS"/>
                <a:cs typeface="Trebuchet MS"/>
              </a:rPr>
              <a:t>always</a:t>
            </a:r>
            <a:r>
              <a:rPr sz="2000" spc="-150" dirty="0">
                <a:solidFill>
                  <a:srgbClr val="FFFFFF"/>
                </a:solidFill>
                <a:latin typeface="Trebuchet MS"/>
                <a:cs typeface="Trebuchet MS"/>
              </a:rPr>
              <a:t> </a:t>
            </a:r>
            <a:r>
              <a:rPr sz="2000" spc="-45" dirty="0">
                <a:solidFill>
                  <a:srgbClr val="FFFFFF"/>
                </a:solidFill>
                <a:latin typeface="Trebuchet MS"/>
                <a:cs typeface="Trebuchet MS"/>
              </a:rPr>
              <a:t>show</a:t>
            </a:r>
            <a:r>
              <a:rPr sz="2000" spc="-160" dirty="0">
                <a:solidFill>
                  <a:srgbClr val="FFFFFF"/>
                </a:solidFill>
                <a:latin typeface="Trebuchet MS"/>
                <a:cs typeface="Trebuchet MS"/>
              </a:rPr>
              <a:t> </a:t>
            </a:r>
            <a:r>
              <a:rPr sz="2000" spc="-90" dirty="0">
                <a:solidFill>
                  <a:srgbClr val="FFFFFF"/>
                </a:solidFill>
                <a:latin typeface="Trebuchet MS"/>
                <a:cs typeface="Trebuchet MS"/>
              </a:rPr>
              <a:t>the</a:t>
            </a:r>
            <a:r>
              <a:rPr sz="2000" spc="-145" dirty="0">
                <a:solidFill>
                  <a:srgbClr val="FFFFFF"/>
                </a:solidFill>
                <a:latin typeface="Trebuchet MS"/>
                <a:cs typeface="Trebuchet MS"/>
              </a:rPr>
              <a:t> </a:t>
            </a:r>
            <a:r>
              <a:rPr sz="2000" spc="-70" dirty="0">
                <a:solidFill>
                  <a:srgbClr val="FFFFFF"/>
                </a:solidFill>
                <a:latin typeface="Trebuchet MS"/>
                <a:cs typeface="Trebuchet MS"/>
              </a:rPr>
              <a:t>command</a:t>
            </a:r>
            <a:r>
              <a:rPr sz="2000" spc="-165" dirty="0">
                <a:solidFill>
                  <a:srgbClr val="FFFFFF"/>
                </a:solidFill>
                <a:latin typeface="Trebuchet MS"/>
                <a:cs typeface="Trebuchet MS"/>
              </a:rPr>
              <a:t> </a:t>
            </a:r>
            <a:r>
              <a:rPr sz="2000" spc="-100" dirty="0">
                <a:solidFill>
                  <a:srgbClr val="FFFFFF"/>
                </a:solidFill>
                <a:latin typeface="Trebuchet MS"/>
                <a:cs typeface="Trebuchet MS"/>
              </a:rPr>
              <a:t>that</a:t>
            </a:r>
            <a:r>
              <a:rPr sz="2000" spc="-145" dirty="0">
                <a:solidFill>
                  <a:srgbClr val="FFFFFF"/>
                </a:solidFill>
                <a:latin typeface="Trebuchet MS"/>
                <a:cs typeface="Trebuchet MS"/>
              </a:rPr>
              <a:t> </a:t>
            </a:r>
            <a:r>
              <a:rPr sz="2000" spc="-110" dirty="0">
                <a:solidFill>
                  <a:srgbClr val="FFFFFF"/>
                </a:solidFill>
                <a:latin typeface="Trebuchet MS"/>
                <a:cs typeface="Trebuchet MS"/>
              </a:rPr>
              <a:t>will</a:t>
            </a:r>
            <a:r>
              <a:rPr sz="2000" spc="-140" dirty="0">
                <a:solidFill>
                  <a:srgbClr val="FFFFFF"/>
                </a:solidFill>
                <a:latin typeface="Trebuchet MS"/>
                <a:cs typeface="Trebuchet MS"/>
              </a:rPr>
              <a:t> </a:t>
            </a:r>
            <a:r>
              <a:rPr sz="2000" spc="-80" dirty="0">
                <a:solidFill>
                  <a:srgbClr val="FFFFFF"/>
                </a:solidFill>
                <a:latin typeface="Trebuchet MS"/>
                <a:cs typeface="Trebuchet MS"/>
              </a:rPr>
              <a:t>be</a:t>
            </a:r>
            <a:r>
              <a:rPr sz="2000" spc="-160" dirty="0">
                <a:solidFill>
                  <a:srgbClr val="FFFFFF"/>
                </a:solidFill>
                <a:latin typeface="Trebuchet MS"/>
                <a:cs typeface="Trebuchet MS"/>
              </a:rPr>
              <a:t> </a:t>
            </a:r>
            <a:r>
              <a:rPr sz="2000" spc="-100" dirty="0">
                <a:solidFill>
                  <a:srgbClr val="FFFFFF"/>
                </a:solidFill>
                <a:latin typeface="Trebuchet MS"/>
                <a:cs typeface="Trebuchet MS"/>
              </a:rPr>
              <a:t>run,</a:t>
            </a:r>
            <a:r>
              <a:rPr sz="2000" spc="-150" dirty="0">
                <a:solidFill>
                  <a:srgbClr val="FFFFFF"/>
                </a:solidFill>
                <a:latin typeface="Trebuchet MS"/>
                <a:cs typeface="Trebuchet MS"/>
              </a:rPr>
              <a:t> </a:t>
            </a:r>
            <a:r>
              <a:rPr sz="2000" spc="-80" dirty="0">
                <a:solidFill>
                  <a:srgbClr val="FFFFFF"/>
                </a:solidFill>
                <a:latin typeface="Trebuchet MS"/>
                <a:cs typeface="Trebuchet MS"/>
              </a:rPr>
              <a:t>whether</a:t>
            </a:r>
            <a:r>
              <a:rPr sz="2000" spc="-145" dirty="0">
                <a:solidFill>
                  <a:srgbClr val="FFFFFF"/>
                </a:solidFill>
                <a:latin typeface="Trebuchet MS"/>
                <a:cs typeface="Trebuchet MS"/>
              </a:rPr>
              <a:t> </a:t>
            </a:r>
            <a:r>
              <a:rPr sz="2000" spc="-120" dirty="0">
                <a:solidFill>
                  <a:srgbClr val="FFFFFF"/>
                </a:solidFill>
                <a:latin typeface="Trebuchet MS"/>
                <a:cs typeface="Trebuchet MS"/>
              </a:rPr>
              <a:t>it  </a:t>
            </a:r>
            <a:r>
              <a:rPr sz="2000" spc="-75" dirty="0">
                <a:solidFill>
                  <a:srgbClr val="FFFFFF"/>
                </a:solidFill>
                <a:latin typeface="Trebuchet MS"/>
                <a:cs typeface="Trebuchet MS"/>
              </a:rPr>
              <a:t>comes</a:t>
            </a:r>
            <a:r>
              <a:rPr sz="2000" spc="-160" dirty="0">
                <a:solidFill>
                  <a:srgbClr val="FFFFFF"/>
                </a:solidFill>
                <a:latin typeface="Trebuchet MS"/>
                <a:cs typeface="Trebuchet MS"/>
              </a:rPr>
              <a:t> </a:t>
            </a:r>
            <a:r>
              <a:rPr sz="2000" spc="-85" dirty="0">
                <a:solidFill>
                  <a:srgbClr val="FFFFFF"/>
                </a:solidFill>
                <a:latin typeface="Trebuchet MS"/>
                <a:cs typeface="Trebuchet MS"/>
              </a:rPr>
              <a:t>from</a:t>
            </a:r>
            <a:r>
              <a:rPr sz="2000" spc="-155" dirty="0">
                <a:solidFill>
                  <a:srgbClr val="FFFFFF"/>
                </a:solidFill>
                <a:latin typeface="Trebuchet MS"/>
                <a:cs typeface="Trebuchet MS"/>
              </a:rPr>
              <a:t> </a:t>
            </a:r>
            <a:r>
              <a:rPr sz="2000" spc="-95" dirty="0">
                <a:solidFill>
                  <a:srgbClr val="FFFFFF"/>
                </a:solidFill>
                <a:latin typeface="Trebuchet MS"/>
                <a:cs typeface="Trebuchet MS"/>
              </a:rPr>
              <a:t>a</a:t>
            </a:r>
            <a:r>
              <a:rPr sz="2000" spc="-165" dirty="0">
                <a:solidFill>
                  <a:srgbClr val="FFFFFF"/>
                </a:solidFill>
                <a:latin typeface="Trebuchet MS"/>
                <a:cs typeface="Trebuchet MS"/>
              </a:rPr>
              <a:t> </a:t>
            </a:r>
            <a:r>
              <a:rPr sz="2000" spc="-100" dirty="0">
                <a:solidFill>
                  <a:srgbClr val="FFFFFF"/>
                </a:solidFill>
                <a:latin typeface="Trebuchet MS"/>
                <a:cs typeface="Trebuchet MS"/>
              </a:rPr>
              <a:t>profile</a:t>
            </a:r>
            <a:r>
              <a:rPr sz="2000" spc="-140" dirty="0">
                <a:solidFill>
                  <a:srgbClr val="FFFFFF"/>
                </a:solidFill>
                <a:latin typeface="Trebuchet MS"/>
                <a:cs typeface="Trebuchet MS"/>
              </a:rPr>
              <a:t> </a:t>
            </a:r>
            <a:r>
              <a:rPr sz="2000" spc="-55" dirty="0">
                <a:solidFill>
                  <a:srgbClr val="FFFFFF"/>
                </a:solidFill>
                <a:latin typeface="Trebuchet MS"/>
                <a:cs typeface="Trebuchet MS"/>
              </a:rPr>
              <a:t>or</a:t>
            </a:r>
            <a:r>
              <a:rPr sz="2000" spc="-165" dirty="0">
                <a:solidFill>
                  <a:srgbClr val="FFFFFF"/>
                </a:solidFill>
                <a:latin typeface="Trebuchet MS"/>
                <a:cs typeface="Trebuchet MS"/>
              </a:rPr>
              <a:t> </a:t>
            </a:r>
            <a:r>
              <a:rPr sz="2000" spc="-70" dirty="0">
                <a:solidFill>
                  <a:srgbClr val="FFFFFF"/>
                </a:solidFill>
                <a:latin typeface="Trebuchet MS"/>
                <a:cs typeface="Trebuchet MS"/>
              </a:rPr>
              <a:t>was</a:t>
            </a:r>
            <a:r>
              <a:rPr sz="2000" spc="-140" dirty="0">
                <a:solidFill>
                  <a:srgbClr val="FFFFFF"/>
                </a:solidFill>
                <a:latin typeface="Trebuchet MS"/>
                <a:cs typeface="Trebuchet MS"/>
              </a:rPr>
              <a:t> </a:t>
            </a:r>
            <a:r>
              <a:rPr sz="2000" spc="-95" dirty="0">
                <a:solidFill>
                  <a:srgbClr val="FFFFFF"/>
                </a:solidFill>
                <a:latin typeface="Trebuchet MS"/>
                <a:cs typeface="Trebuchet MS"/>
              </a:rPr>
              <a:t>built</a:t>
            </a:r>
            <a:r>
              <a:rPr sz="2000" spc="-150" dirty="0">
                <a:solidFill>
                  <a:srgbClr val="FFFFFF"/>
                </a:solidFill>
                <a:latin typeface="Trebuchet MS"/>
                <a:cs typeface="Trebuchet MS"/>
              </a:rPr>
              <a:t> </a:t>
            </a:r>
            <a:r>
              <a:rPr sz="2000" spc="-50" dirty="0">
                <a:solidFill>
                  <a:srgbClr val="FFFFFF"/>
                </a:solidFill>
                <a:latin typeface="Trebuchet MS"/>
                <a:cs typeface="Trebuchet MS"/>
              </a:rPr>
              <a:t>up</a:t>
            </a:r>
            <a:r>
              <a:rPr sz="2000" spc="-170" dirty="0">
                <a:solidFill>
                  <a:srgbClr val="FFFFFF"/>
                </a:solidFill>
                <a:latin typeface="Trebuchet MS"/>
                <a:cs typeface="Trebuchet MS"/>
              </a:rPr>
              <a:t> </a:t>
            </a:r>
            <a:r>
              <a:rPr sz="2000" spc="-80" dirty="0">
                <a:solidFill>
                  <a:srgbClr val="FFFFFF"/>
                </a:solidFill>
                <a:latin typeface="Trebuchet MS"/>
                <a:cs typeface="Trebuchet MS"/>
              </a:rPr>
              <a:t>by</a:t>
            </a:r>
            <a:r>
              <a:rPr sz="2000" spc="-165" dirty="0">
                <a:solidFill>
                  <a:srgbClr val="FFFFFF"/>
                </a:solidFill>
                <a:latin typeface="Trebuchet MS"/>
                <a:cs typeface="Trebuchet MS"/>
              </a:rPr>
              <a:t> </a:t>
            </a:r>
            <a:r>
              <a:rPr sz="2000" spc="-60" dirty="0">
                <a:solidFill>
                  <a:srgbClr val="FFFFFF"/>
                </a:solidFill>
                <a:latin typeface="Trebuchet MS"/>
                <a:cs typeface="Trebuchet MS"/>
              </a:rPr>
              <a:t>choosing</a:t>
            </a:r>
            <a:r>
              <a:rPr sz="2000" spc="-165" dirty="0">
                <a:solidFill>
                  <a:srgbClr val="FFFFFF"/>
                </a:solidFill>
                <a:latin typeface="Trebuchet MS"/>
                <a:cs typeface="Trebuchet MS"/>
              </a:rPr>
              <a:t> </a:t>
            </a:r>
            <a:r>
              <a:rPr sz="2000" spc="-60" dirty="0">
                <a:solidFill>
                  <a:srgbClr val="FFFFFF"/>
                </a:solidFill>
                <a:latin typeface="Trebuchet MS"/>
                <a:cs typeface="Trebuchet MS"/>
              </a:rPr>
              <a:t>options</a:t>
            </a:r>
            <a:r>
              <a:rPr sz="2000" spc="-165" dirty="0">
                <a:solidFill>
                  <a:srgbClr val="FFFFFF"/>
                </a:solidFill>
                <a:latin typeface="Trebuchet MS"/>
                <a:cs typeface="Trebuchet MS"/>
              </a:rPr>
              <a:t> </a:t>
            </a:r>
            <a:r>
              <a:rPr sz="2000" spc="-85" dirty="0">
                <a:solidFill>
                  <a:srgbClr val="FFFFFF"/>
                </a:solidFill>
                <a:latin typeface="Trebuchet MS"/>
                <a:cs typeface="Trebuchet MS"/>
              </a:rPr>
              <a:t>from</a:t>
            </a:r>
            <a:r>
              <a:rPr sz="2000" spc="-155" dirty="0">
                <a:solidFill>
                  <a:srgbClr val="FFFFFF"/>
                </a:solidFill>
                <a:latin typeface="Trebuchet MS"/>
                <a:cs typeface="Trebuchet MS"/>
              </a:rPr>
              <a:t> </a:t>
            </a:r>
            <a:r>
              <a:rPr sz="2000" spc="-95" dirty="0">
                <a:solidFill>
                  <a:srgbClr val="FFFFFF"/>
                </a:solidFill>
                <a:latin typeface="Trebuchet MS"/>
                <a:cs typeface="Trebuchet MS"/>
              </a:rPr>
              <a:t>a</a:t>
            </a:r>
            <a:r>
              <a:rPr sz="2000" spc="-150" dirty="0">
                <a:solidFill>
                  <a:srgbClr val="FFFFFF"/>
                </a:solidFill>
                <a:latin typeface="Trebuchet MS"/>
                <a:cs typeface="Trebuchet MS"/>
              </a:rPr>
              <a:t> </a:t>
            </a:r>
            <a:r>
              <a:rPr sz="2000" spc="-95" dirty="0">
                <a:solidFill>
                  <a:srgbClr val="FFFFFF"/>
                </a:solidFill>
                <a:latin typeface="Trebuchet MS"/>
                <a:cs typeface="Trebuchet MS"/>
              </a:rPr>
              <a:t>menu.</a:t>
            </a:r>
            <a:endParaRPr sz="2000" dirty="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908BD-1998-4F54-829E-18F2D6F8AAD6}"/>
              </a:ext>
            </a:extLst>
          </p:cNvPr>
          <p:cNvSpPr>
            <a:spLocks noGrp="1"/>
          </p:cNvSpPr>
          <p:nvPr>
            <p:ph type="title"/>
          </p:nvPr>
        </p:nvSpPr>
        <p:spPr>
          <a:xfrm>
            <a:off x="228600" y="228600"/>
            <a:ext cx="11963399" cy="923330"/>
          </a:xfrm>
        </p:spPr>
        <p:txBody>
          <a:bodyPr/>
          <a:lstStyle/>
          <a:p>
            <a:r>
              <a:rPr lang="en-US" sz="6000" dirty="0"/>
              <a:t>SCANNING</a:t>
            </a:r>
          </a:p>
        </p:txBody>
      </p:sp>
      <p:sp>
        <p:nvSpPr>
          <p:cNvPr id="3" name="Text Placeholder 2">
            <a:extLst>
              <a:ext uri="{FF2B5EF4-FFF2-40B4-BE49-F238E27FC236}">
                <a16:creationId xmlns:a16="http://schemas.microsoft.com/office/drawing/2014/main" id="{4B72DAF8-1356-433E-8A1B-F2490397811B}"/>
              </a:ext>
            </a:extLst>
          </p:cNvPr>
          <p:cNvSpPr>
            <a:spLocks noGrp="1"/>
          </p:cNvSpPr>
          <p:nvPr>
            <p:ph type="body" idx="1"/>
          </p:nvPr>
        </p:nvSpPr>
        <p:spPr>
          <a:xfrm>
            <a:off x="76200" y="1671041"/>
            <a:ext cx="8153400" cy="3539430"/>
          </a:xfrm>
        </p:spPr>
        <p:txBody>
          <a:bodyPr/>
          <a:lstStyle/>
          <a:p>
            <a:pPr marL="285750" indent="-285750">
              <a:buFont typeface="Arial" panose="020B0604020202020204" pitchFamily="34" charset="0"/>
              <a:buChar char="•"/>
            </a:pPr>
            <a:r>
              <a:rPr lang="en-US" dirty="0">
                <a:solidFill>
                  <a:schemeClr val="bg1"/>
                </a:solidFill>
              </a:rPr>
              <a:t> Clicking the Zen-map icon in the desktop environment. The main window,</a:t>
            </a:r>
          </a:p>
          <a:p>
            <a:r>
              <a:rPr lang="en-US" dirty="0">
                <a:solidFill>
                  <a:schemeClr val="bg1"/>
                </a:solidFill>
              </a:rPr>
              <a:t> as shown in </a:t>
            </a:r>
          </a:p>
          <a:p>
            <a:pPr marL="285750" indent="-285750">
              <a:buFont typeface="Arial" panose="020B0604020202020204" pitchFamily="34" charset="0"/>
              <a:buChar char="•"/>
            </a:pPr>
            <a:r>
              <a:rPr lang="en-US" dirty="0">
                <a:solidFill>
                  <a:schemeClr val="bg1"/>
                </a:solidFill>
              </a:rPr>
              <a:t>One of Zen map's goals is to make security scanning easy for beginners</a:t>
            </a:r>
          </a:p>
          <a:p>
            <a:r>
              <a:rPr lang="en-US" dirty="0">
                <a:solidFill>
                  <a:schemeClr val="bg1"/>
                </a:solidFill>
              </a:rPr>
              <a:t> and for experts</a:t>
            </a:r>
          </a:p>
          <a:p>
            <a:endParaRPr lang="en-US" dirty="0">
              <a:solidFill>
                <a:schemeClr val="bg1"/>
              </a:solidFill>
            </a:endParaRPr>
          </a:p>
          <a:p>
            <a:pPr marL="457200" indent="-457200">
              <a:buFont typeface="Arial" panose="020B0604020202020204" pitchFamily="34" charset="0"/>
              <a:buChar char="•"/>
            </a:pPr>
            <a:r>
              <a:rPr lang="en-US" sz="2800" b="1" dirty="0">
                <a:solidFill>
                  <a:schemeClr val="bg1"/>
                </a:solidFill>
              </a:rPr>
              <a:t>Scan Aggregation</a:t>
            </a:r>
          </a:p>
          <a:p>
            <a:endParaRPr lang="en-US" sz="2800" b="1" dirty="0">
              <a:solidFill>
                <a:schemeClr val="bg1"/>
              </a:solidFill>
            </a:endParaRPr>
          </a:p>
          <a:p>
            <a:pPr marL="457200" indent="-457200">
              <a:buFont typeface="Arial" panose="020B0604020202020204" pitchFamily="34" charset="0"/>
              <a:buChar char="•"/>
            </a:pPr>
            <a:r>
              <a:rPr lang="en-US" sz="2400" dirty="0" err="1">
                <a:solidFill>
                  <a:schemeClr val="bg1"/>
                </a:solidFill>
              </a:rPr>
              <a:t>Zenmap</a:t>
            </a:r>
            <a:r>
              <a:rPr lang="en-US" sz="2400" dirty="0">
                <a:solidFill>
                  <a:schemeClr val="bg1"/>
                </a:solidFill>
              </a:rPr>
              <a:t> has the ability to combine the results of many Nmap scans into one view, a feature known as </a:t>
            </a:r>
            <a:r>
              <a:rPr lang="en-US" sz="2400" i="1" dirty="0">
                <a:solidFill>
                  <a:schemeClr val="bg1"/>
                </a:solidFill>
              </a:rPr>
              <a:t>scan aggregation</a:t>
            </a:r>
            <a:endParaRPr lang="en-US" sz="2400" b="1" dirty="0">
              <a:solidFill>
                <a:schemeClr val="bg1"/>
              </a:solidFill>
            </a:endParaRPr>
          </a:p>
          <a:p>
            <a:endParaRPr lang="en-US" dirty="0">
              <a:solidFill>
                <a:schemeClr val="bg1"/>
              </a:solidFill>
            </a:endParaRPr>
          </a:p>
          <a:p>
            <a:endParaRPr lang="en-US" dirty="0">
              <a:solidFill>
                <a:schemeClr val="bg1"/>
              </a:solidFill>
            </a:endParaRPr>
          </a:p>
        </p:txBody>
      </p:sp>
      <p:pic>
        <p:nvPicPr>
          <p:cNvPr id="1026" name="Picture 2" descr="Zenmap's main window">
            <a:extLst>
              <a:ext uri="{FF2B5EF4-FFF2-40B4-BE49-F238E27FC236}">
                <a16:creationId xmlns:a16="http://schemas.microsoft.com/office/drawing/2014/main" id="{3578C9AA-47C9-4DE3-BDCD-9131BBD4E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99" y="0"/>
            <a:ext cx="4571999"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357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41DF2-F642-4839-97E9-FB33115D3A2F}"/>
              </a:ext>
            </a:extLst>
          </p:cNvPr>
          <p:cNvSpPr>
            <a:spLocks noGrp="1"/>
          </p:cNvSpPr>
          <p:nvPr>
            <p:ph type="title"/>
          </p:nvPr>
        </p:nvSpPr>
        <p:spPr>
          <a:xfrm>
            <a:off x="533401" y="274030"/>
            <a:ext cx="10741658" cy="677108"/>
          </a:xfrm>
        </p:spPr>
        <p:txBody>
          <a:bodyPr/>
          <a:lstStyle/>
          <a:p>
            <a:r>
              <a:rPr lang="en-US" sz="4400" dirty="0"/>
              <a:t>Network Inventory:</a:t>
            </a:r>
          </a:p>
        </p:txBody>
      </p:sp>
      <p:sp>
        <p:nvSpPr>
          <p:cNvPr id="4" name="Text Placeholder 3">
            <a:extLst>
              <a:ext uri="{FF2B5EF4-FFF2-40B4-BE49-F238E27FC236}">
                <a16:creationId xmlns:a16="http://schemas.microsoft.com/office/drawing/2014/main" id="{4935180E-C3D5-4AF1-80F8-23EA0311310C}"/>
              </a:ext>
            </a:extLst>
          </p:cNvPr>
          <p:cNvSpPr>
            <a:spLocks noGrp="1"/>
          </p:cNvSpPr>
          <p:nvPr>
            <p:ph type="body" idx="1"/>
          </p:nvPr>
        </p:nvSpPr>
        <p:spPr>
          <a:xfrm>
            <a:off x="304800" y="1092362"/>
            <a:ext cx="12020550" cy="6299038"/>
          </a:xfrm>
        </p:spPr>
        <p:txBody>
          <a:bodyPr/>
          <a:lstStyle/>
          <a:p>
            <a:endParaRPr lang="en-US" dirty="0"/>
          </a:p>
        </p:txBody>
      </p:sp>
      <p:sp>
        <p:nvSpPr>
          <p:cNvPr id="6" name="Text Placeholder 2">
            <a:extLst>
              <a:ext uri="{FF2B5EF4-FFF2-40B4-BE49-F238E27FC236}">
                <a16:creationId xmlns:a16="http://schemas.microsoft.com/office/drawing/2014/main" id="{77A35467-7056-428B-8B2D-DDED9AEA8871}"/>
              </a:ext>
            </a:extLst>
          </p:cNvPr>
          <p:cNvSpPr txBox="1">
            <a:spLocks/>
          </p:cNvSpPr>
          <p:nvPr/>
        </p:nvSpPr>
        <p:spPr>
          <a:xfrm>
            <a:off x="381000" y="1600200"/>
            <a:ext cx="8550027" cy="2954655"/>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sz="2400" kern="0" dirty="0">
                <a:solidFill>
                  <a:schemeClr val="bg1"/>
                </a:solidFill>
              </a:rPr>
              <a:t>When one scan is finished, you may start another in the same window. When the second scan is finished, its results are merged with those from the first. The collection of scans that make up an aggregated view is called a </a:t>
            </a:r>
            <a:r>
              <a:rPr lang="en-US" sz="2400" i="1" kern="0" dirty="0">
                <a:solidFill>
                  <a:schemeClr val="bg1"/>
                </a:solidFill>
              </a:rPr>
              <a:t>network inventory</a:t>
            </a:r>
            <a:r>
              <a:rPr lang="en-US" sz="2400" kern="0" dirty="0">
                <a:solidFill>
                  <a:schemeClr val="bg1"/>
                </a:solidFill>
              </a:rPr>
              <a:t>.</a:t>
            </a:r>
          </a:p>
          <a:p>
            <a:pPr marL="342900" indent="-342900">
              <a:buFont typeface="Arial" panose="020B0604020202020204" pitchFamily="34" charset="0"/>
              <a:buChar char="•"/>
            </a:pPr>
            <a:endParaRPr lang="en-US" sz="2400" kern="0" dirty="0">
              <a:solidFill>
                <a:schemeClr val="bg1"/>
              </a:solidFill>
            </a:endParaRPr>
          </a:p>
          <a:p>
            <a:pPr marL="342900" indent="-342900">
              <a:buFont typeface="Arial" panose="020B0604020202020204" pitchFamily="34" charset="0"/>
              <a:buChar char="•"/>
            </a:pPr>
            <a:endParaRPr lang="en-US" sz="2400" kern="0" dirty="0">
              <a:solidFill>
                <a:schemeClr val="bg1"/>
              </a:solidFill>
            </a:endParaRPr>
          </a:p>
          <a:p>
            <a:pPr marL="342900" indent="-342900">
              <a:buFont typeface="Arial" panose="020B0604020202020204" pitchFamily="34" charset="0"/>
              <a:buChar char="•"/>
            </a:pPr>
            <a:endParaRPr lang="en-US" sz="2400" kern="0" dirty="0">
              <a:solidFill>
                <a:schemeClr val="bg1"/>
              </a:solidFill>
            </a:endParaRPr>
          </a:p>
          <a:p>
            <a:pPr marL="342900" indent="-342900">
              <a:buFont typeface="Arial" panose="020B0604020202020204" pitchFamily="34" charset="0"/>
              <a:buChar char="•"/>
            </a:pPr>
            <a:endParaRPr lang="en-US" sz="2400" kern="0" dirty="0">
              <a:solidFill>
                <a:schemeClr val="bg1"/>
              </a:solidFill>
            </a:endParaRPr>
          </a:p>
        </p:txBody>
      </p:sp>
      <p:pic>
        <p:nvPicPr>
          <p:cNvPr id="7" name="Picture 2">
            <a:extLst>
              <a:ext uri="{FF2B5EF4-FFF2-40B4-BE49-F238E27FC236}">
                <a16:creationId xmlns:a16="http://schemas.microsoft.com/office/drawing/2014/main" id="{216DE72B-CDF9-4151-8942-5D0D131BF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2481" y="1219200"/>
            <a:ext cx="3239519" cy="1903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466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6806-C1D8-452A-B9AD-1F413E915EFE}"/>
              </a:ext>
            </a:extLst>
          </p:cNvPr>
          <p:cNvSpPr>
            <a:spLocks noGrp="1"/>
          </p:cNvSpPr>
          <p:nvPr>
            <p:ph type="title"/>
          </p:nvPr>
        </p:nvSpPr>
        <p:spPr>
          <a:xfrm>
            <a:off x="381000" y="152401"/>
            <a:ext cx="7539989" cy="1107996"/>
          </a:xfrm>
        </p:spPr>
        <p:txBody>
          <a:bodyPr/>
          <a:lstStyle/>
          <a:p>
            <a:r>
              <a:rPr lang="en-US" sz="3600" b="1" dirty="0"/>
              <a:t>Interpreting Scan Results</a:t>
            </a:r>
            <a:br>
              <a:rPr lang="en-US" sz="3600" b="1" dirty="0"/>
            </a:br>
            <a:endParaRPr lang="en-US" sz="3600" dirty="0"/>
          </a:p>
        </p:txBody>
      </p:sp>
      <p:sp>
        <p:nvSpPr>
          <p:cNvPr id="3" name="Text Placeholder 2">
            <a:extLst>
              <a:ext uri="{FF2B5EF4-FFF2-40B4-BE49-F238E27FC236}">
                <a16:creationId xmlns:a16="http://schemas.microsoft.com/office/drawing/2014/main" id="{B3DCEA08-1E1B-4587-A1F8-7AD77CF63B3E}"/>
              </a:ext>
            </a:extLst>
          </p:cNvPr>
          <p:cNvSpPr>
            <a:spLocks noGrp="1"/>
          </p:cNvSpPr>
          <p:nvPr>
            <p:ph type="body" idx="1"/>
          </p:nvPr>
        </p:nvSpPr>
        <p:spPr>
          <a:xfrm>
            <a:off x="381000" y="762000"/>
            <a:ext cx="11201400" cy="5170646"/>
          </a:xfrm>
        </p:spPr>
        <p:txBody>
          <a:bodyPr/>
          <a:lstStyle/>
          <a:p>
            <a:r>
              <a:rPr lang="en-US" sz="2800" b="1" dirty="0">
                <a:solidFill>
                  <a:schemeClr val="bg1"/>
                </a:solidFill>
              </a:rPr>
              <a:t>Scan Results Tabs:</a:t>
            </a:r>
          </a:p>
          <a:p>
            <a:endParaRPr lang="en-US" sz="2800" b="1" dirty="0">
              <a:solidFill>
                <a:schemeClr val="bg1"/>
              </a:solidFill>
            </a:endParaRPr>
          </a:p>
          <a:p>
            <a:r>
              <a:rPr lang="en-US" sz="2800" dirty="0">
                <a:solidFill>
                  <a:schemeClr val="bg1"/>
                </a:solidFill>
              </a:rPr>
              <a:t>Each scan window contains five tabs which each display different aspects of the scan results. They are: “Nmap Output”, “Ports / Hosts”, “Topology”, “Host Details”, and “Scans”.</a:t>
            </a:r>
          </a:p>
          <a:p>
            <a:endParaRPr lang="en-US" sz="2800" dirty="0">
              <a:solidFill>
                <a:schemeClr val="bg1"/>
              </a:solidFill>
            </a:endParaRPr>
          </a:p>
          <a:p>
            <a:r>
              <a:rPr lang="en-US" sz="2800" b="1" dirty="0">
                <a:solidFill>
                  <a:schemeClr val="bg1"/>
                </a:solidFill>
              </a:rPr>
              <a:t>The “Nmap Output” tab</a:t>
            </a:r>
          </a:p>
          <a:p>
            <a:r>
              <a:rPr lang="en-US" sz="2800" dirty="0">
                <a:solidFill>
                  <a:schemeClr val="bg1"/>
                </a:solidFill>
              </a:rPr>
              <a:t>The “Nmap Output” tab is displayed by default when a scan is run. It shows the familiar Nmap terminal output</a:t>
            </a:r>
            <a:r>
              <a:rPr lang="en-US" sz="2800" b="1" dirty="0">
                <a:solidFill>
                  <a:schemeClr val="bg1"/>
                </a:solidFill>
              </a:rPr>
              <a:t> .                 </a:t>
            </a:r>
          </a:p>
          <a:p>
            <a:endParaRPr lang="en-US" sz="2800" b="1" dirty="0">
              <a:solidFill>
                <a:schemeClr val="bg1"/>
              </a:solidFill>
            </a:endParaRPr>
          </a:p>
          <a:p>
            <a:endParaRPr lang="en-US" sz="2800" b="1" dirty="0">
              <a:solidFill>
                <a:schemeClr val="bg1"/>
              </a:solidFill>
            </a:endParaRPr>
          </a:p>
          <a:p>
            <a:endParaRPr lang="en-US" sz="2800" dirty="0">
              <a:solidFill>
                <a:schemeClr val="bg1"/>
              </a:solidFill>
            </a:endParaRPr>
          </a:p>
        </p:txBody>
      </p:sp>
      <p:pic>
        <p:nvPicPr>
          <p:cNvPr id="5" name="Picture 2">
            <a:extLst>
              <a:ext uri="{FF2B5EF4-FFF2-40B4-BE49-F238E27FC236}">
                <a16:creationId xmlns:a16="http://schemas.microsoft.com/office/drawing/2014/main" id="{99DCF88A-B0C2-4169-B397-B5B0F99E1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114800"/>
            <a:ext cx="5221606"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823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21418-FD7B-4898-81A3-4BF95DFAA2AD}"/>
              </a:ext>
            </a:extLst>
          </p:cNvPr>
          <p:cNvSpPr>
            <a:spLocks noGrp="1"/>
          </p:cNvSpPr>
          <p:nvPr>
            <p:ph type="title"/>
          </p:nvPr>
        </p:nvSpPr>
        <p:spPr>
          <a:xfrm>
            <a:off x="76200" y="76200"/>
            <a:ext cx="11887200" cy="1354217"/>
          </a:xfrm>
        </p:spPr>
        <p:txBody>
          <a:bodyPr/>
          <a:lstStyle/>
          <a:p>
            <a:r>
              <a:rPr lang="en-US" sz="4400" b="1" dirty="0"/>
              <a:t>The “Ports / Hosts” tab</a:t>
            </a:r>
            <a:br>
              <a:rPr lang="en-US" sz="4400" b="1" dirty="0"/>
            </a:br>
            <a:endParaRPr lang="en-US" sz="4400" dirty="0"/>
          </a:p>
        </p:txBody>
      </p:sp>
      <p:sp>
        <p:nvSpPr>
          <p:cNvPr id="3" name="Text Placeholder 2">
            <a:extLst>
              <a:ext uri="{FF2B5EF4-FFF2-40B4-BE49-F238E27FC236}">
                <a16:creationId xmlns:a16="http://schemas.microsoft.com/office/drawing/2014/main" id="{A424F41B-230A-48DC-B86E-CFB634CAECAA}"/>
              </a:ext>
            </a:extLst>
          </p:cNvPr>
          <p:cNvSpPr>
            <a:spLocks noGrp="1"/>
          </p:cNvSpPr>
          <p:nvPr>
            <p:ph type="body" idx="1"/>
          </p:nvPr>
        </p:nvSpPr>
        <p:spPr>
          <a:xfrm>
            <a:off x="199008" y="1434116"/>
            <a:ext cx="11734800" cy="2425353"/>
          </a:xfrm>
        </p:spPr>
        <p:txBody>
          <a:bodyPr/>
          <a:lstStyle/>
          <a:p>
            <a:r>
              <a:rPr lang="en-US" dirty="0">
                <a:solidFill>
                  <a:schemeClr val="bg1"/>
                </a:solidFill>
              </a:rPr>
              <a:t>The “Ports / Hosts” tab's display a host or a service is currently selected. When a host is selected, it shows all the interesting ports on that host, along with version information when available.</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4098" name="Picture 2">
            <a:extLst>
              <a:ext uri="{FF2B5EF4-FFF2-40B4-BE49-F238E27FC236}">
                <a16:creationId xmlns:a16="http://schemas.microsoft.com/office/drawing/2014/main" id="{9EFD6D7D-BD19-4F68-9112-E0934B6CC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857896"/>
            <a:ext cx="5181600" cy="40031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36E32F85-E876-4B14-A179-A7AEA2331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404" y="2209800"/>
            <a:ext cx="60960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461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556F9-6E74-48E9-9E59-5CBDC1500D22}"/>
              </a:ext>
            </a:extLst>
          </p:cNvPr>
          <p:cNvSpPr>
            <a:spLocks noGrp="1"/>
          </p:cNvSpPr>
          <p:nvPr>
            <p:ph type="title"/>
          </p:nvPr>
        </p:nvSpPr>
        <p:spPr>
          <a:xfrm>
            <a:off x="533400" y="228600"/>
            <a:ext cx="10896600" cy="1354217"/>
          </a:xfrm>
        </p:spPr>
        <p:txBody>
          <a:bodyPr/>
          <a:lstStyle/>
          <a:p>
            <a:r>
              <a:rPr lang="en-US" sz="4400" b="1" dirty="0"/>
              <a:t>The “Topology” tab</a:t>
            </a:r>
            <a:br>
              <a:rPr lang="en-US" sz="4400" b="1" dirty="0"/>
            </a:br>
            <a:endParaRPr lang="en-US" sz="4400" dirty="0"/>
          </a:p>
        </p:txBody>
      </p:sp>
      <p:sp>
        <p:nvSpPr>
          <p:cNvPr id="3" name="Text Placeholder 2">
            <a:extLst>
              <a:ext uri="{FF2B5EF4-FFF2-40B4-BE49-F238E27FC236}">
                <a16:creationId xmlns:a16="http://schemas.microsoft.com/office/drawing/2014/main" id="{C21B370A-C5D9-4D6D-B733-32996968E27F}"/>
              </a:ext>
            </a:extLst>
          </p:cNvPr>
          <p:cNvSpPr>
            <a:spLocks noGrp="1"/>
          </p:cNvSpPr>
          <p:nvPr>
            <p:ph type="body" idx="1"/>
          </p:nvPr>
        </p:nvSpPr>
        <p:spPr>
          <a:xfrm>
            <a:off x="842962" y="1758130"/>
            <a:ext cx="11046459" cy="756469"/>
          </a:xfrm>
        </p:spPr>
        <p:txBody>
          <a:bodyPr/>
          <a:lstStyle/>
          <a:p>
            <a:r>
              <a:rPr lang="en-US" sz="2000" dirty="0">
                <a:solidFill>
                  <a:schemeClr val="bg1"/>
                </a:solidFill>
              </a:rPr>
              <a:t>The “Topology” tab is an interactive view of the connections between hosts in a network.</a:t>
            </a:r>
          </a:p>
          <a:p>
            <a:endParaRPr lang="en-US" sz="2000" dirty="0">
              <a:solidFill>
                <a:schemeClr val="bg1"/>
              </a:solidFill>
            </a:endParaRPr>
          </a:p>
        </p:txBody>
      </p:sp>
      <p:pic>
        <p:nvPicPr>
          <p:cNvPr id="5122" name="Picture 2">
            <a:extLst>
              <a:ext uri="{FF2B5EF4-FFF2-40B4-BE49-F238E27FC236}">
                <a16:creationId xmlns:a16="http://schemas.microsoft.com/office/drawing/2014/main" id="{932F66F8-1BAE-4A61-843F-15E2F9AEB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6191" y="2123584"/>
            <a:ext cx="5648325" cy="4429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8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6D238-F840-43A7-A7CE-5A43C8D6C88C}"/>
              </a:ext>
            </a:extLst>
          </p:cNvPr>
          <p:cNvSpPr>
            <a:spLocks noGrp="1"/>
          </p:cNvSpPr>
          <p:nvPr>
            <p:ph type="title"/>
          </p:nvPr>
        </p:nvSpPr>
        <p:spPr>
          <a:xfrm>
            <a:off x="152401" y="30437"/>
            <a:ext cx="11122658" cy="1246495"/>
          </a:xfrm>
        </p:spPr>
        <p:txBody>
          <a:bodyPr/>
          <a:lstStyle/>
          <a:p>
            <a:r>
              <a:rPr lang="en-US" sz="3600" b="1" dirty="0"/>
              <a:t>The “Host Details” tab</a:t>
            </a:r>
            <a:br>
              <a:rPr lang="en-US" sz="3600" b="1" dirty="0"/>
            </a:br>
            <a:endParaRPr lang="en-US" sz="800" dirty="0"/>
          </a:p>
        </p:txBody>
      </p:sp>
      <p:sp>
        <p:nvSpPr>
          <p:cNvPr id="3" name="Text Placeholder 2">
            <a:extLst>
              <a:ext uri="{FF2B5EF4-FFF2-40B4-BE49-F238E27FC236}">
                <a16:creationId xmlns:a16="http://schemas.microsoft.com/office/drawing/2014/main" id="{7B716582-1E1A-454F-80DF-A13FA0407A6E}"/>
              </a:ext>
            </a:extLst>
          </p:cNvPr>
          <p:cNvSpPr>
            <a:spLocks noGrp="1"/>
          </p:cNvSpPr>
          <p:nvPr>
            <p:ph type="body" idx="1"/>
          </p:nvPr>
        </p:nvSpPr>
        <p:spPr>
          <a:xfrm>
            <a:off x="152401" y="1793493"/>
            <a:ext cx="11122658" cy="644908"/>
          </a:xfrm>
        </p:spPr>
        <p:txBody>
          <a:bodyPr/>
          <a:lstStyle/>
          <a:p>
            <a:r>
              <a:rPr lang="en-US" dirty="0">
                <a:solidFill>
                  <a:schemeClr val="bg1"/>
                </a:solidFill>
              </a:rPr>
              <a:t>The “Host Details” tab breaks all the information about a single host into a hierarchical display. Shown are the host's names and addresses, its state (up or down), and the number and status of scanned ports</a:t>
            </a:r>
          </a:p>
        </p:txBody>
      </p:sp>
      <p:pic>
        <p:nvPicPr>
          <p:cNvPr id="6156" name="Picture 12">
            <a:extLst>
              <a:ext uri="{FF2B5EF4-FFF2-40B4-BE49-F238E27FC236}">
                <a16:creationId xmlns:a16="http://schemas.microsoft.com/office/drawing/2014/main" id="{FEBB0846-B70B-4001-A3AE-FD0494593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486117"/>
            <a:ext cx="6096000" cy="3866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218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9D57-1C59-4AB2-A6D5-351FD562E6A4}"/>
              </a:ext>
            </a:extLst>
          </p:cNvPr>
          <p:cNvSpPr>
            <a:spLocks noGrp="1"/>
          </p:cNvSpPr>
          <p:nvPr>
            <p:ph type="title"/>
          </p:nvPr>
        </p:nvSpPr>
        <p:spPr>
          <a:xfrm>
            <a:off x="381000" y="152400"/>
            <a:ext cx="11582400" cy="2708434"/>
          </a:xfrm>
        </p:spPr>
        <p:txBody>
          <a:bodyPr/>
          <a:lstStyle/>
          <a:p>
            <a:r>
              <a:rPr lang="en-US" b="1" dirty="0"/>
              <a:t>The “Scans” tab</a:t>
            </a:r>
            <a:br>
              <a:rPr lang="en-US" b="1" dirty="0"/>
            </a:br>
            <a:endParaRPr lang="en-US" dirty="0"/>
          </a:p>
        </p:txBody>
      </p:sp>
      <p:sp>
        <p:nvSpPr>
          <p:cNvPr id="3" name="Text Placeholder 2">
            <a:extLst>
              <a:ext uri="{FF2B5EF4-FFF2-40B4-BE49-F238E27FC236}">
                <a16:creationId xmlns:a16="http://schemas.microsoft.com/office/drawing/2014/main" id="{D1864ACB-7F99-45CE-BCF7-12B12BEFD842}"/>
              </a:ext>
            </a:extLst>
          </p:cNvPr>
          <p:cNvSpPr>
            <a:spLocks noGrp="1"/>
          </p:cNvSpPr>
          <p:nvPr>
            <p:ph type="body" idx="1"/>
          </p:nvPr>
        </p:nvSpPr>
        <p:spPr>
          <a:xfrm>
            <a:off x="228600" y="1793493"/>
            <a:ext cx="11046459" cy="1254507"/>
          </a:xfrm>
        </p:spPr>
        <p:txBody>
          <a:bodyPr/>
          <a:lstStyle/>
          <a:p>
            <a:r>
              <a:rPr lang="en-US" dirty="0">
                <a:solidFill>
                  <a:schemeClr val="bg1"/>
                </a:solidFill>
              </a:rPr>
              <a:t>The “Scans” tab shows all the scans that are aggregated to make up the network inventory. From this tab you can add scans (from a file or directory) and remove scans.</a:t>
            </a:r>
          </a:p>
          <a:p>
            <a:r>
              <a:rPr lang="en-US" dirty="0">
                <a:solidFill>
                  <a:schemeClr val="bg1"/>
                </a:solidFill>
              </a:rPr>
              <a:t>While a scan is executing and not yet complete, its status is “Running”. You may cancel a running scan by clicking the “Cancel Scan” button.</a:t>
            </a:r>
          </a:p>
          <a:p>
            <a:endParaRPr lang="en-US" dirty="0">
              <a:solidFill>
                <a:schemeClr val="bg1"/>
              </a:solidFill>
            </a:endParaRPr>
          </a:p>
        </p:txBody>
      </p:sp>
      <p:pic>
        <p:nvPicPr>
          <p:cNvPr id="7172" name="Picture 4">
            <a:extLst>
              <a:ext uri="{FF2B5EF4-FFF2-40B4-BE49-F238E27FC236}">
                <a16:creationId xmlns:a16="http://schemas.microsoft.com/office/drawing/2014/main" id="{5E523FEE-4AB5-41C9-8DB8-FA0505D5C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2667000"/>
            <a:ext cx="7086600" cy="3505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971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9C1ACA-0653-4AEB-ADF1-7467A146D7FB}"/>
              </a:ext>
            </a:extLst>
          </p:cNvPr>
          <p:cNvSpPr>
            <a:spLocks noGrp="1"/>
          </p:cNvSpPr>
          <p:nvPr>
            <p:ph type="body" idx="1"/>
          </p:nvPr>
        </p:nvSpPr>
        <p:spPr>
          <a:xfrm>
            <a:off x="916939" y="533400"/>
            <a:ext cx="10358120" cy="5727850"/>
          </a:xfrm>
        </p:spPr>
        <p:txBody>
          <a:bodyPr/>
          <a:lstStyle/>
          <a:p>
            <a:pPr>
              <a:lnSpc>
                <a:spcPct val="150000"/>
              </a:lnSpc>
            </a:pPr>
            <a:r>
              <a:rPr lang="en-US" sz="2400" b="1" i="1" u="sng">
                <a:solidFill>
                  <a:schemeClr val="bg1"/>
                </a:solidFill>
              </a:rPr>
              <a:t>Intense scan:</a:t>
            </a:r>
            <a:endParaRPr lang="en-US" sz="2400" b="1" i="1" u="sng" dirty="0">
              <a:solidFill>
                <a:schemeClr val="bg1"/>
              </a:solidFill>
            </a:endParaRPr>
          </a:p>
          <a:p>
            <a:pPr>
              <a:lnSpc>
                <a:spcPct val="150000"/>
              </a:lnSpc>
            </a:pPr>
            <a:r>
              <a:rPr lang="en-US" b="1" dirty="0">
                <a:solidFill>
                  <a:schemeClr val="bg1"/>
                </a:solidFill>
              </a:rPr>
              <a:t>Command: </a:t>
            </a:r>
            <a:r>
              <a:rPr lang="en-US" b="1" dirty="0" err="1">
                <a:solidFill>
                  <a:schemeClr val="bg1"/>
                </a:solidFill>
              </a:rPr>
              <a:t>nmap</a:t>
            </a:r>
            <a:r>
              <a:rPr lang="en-US" b="1" dirty="0">
                <a:solidFill>
                  <a:schemeClr val="bg1"/>
                </a:solidFill>
              </a:rPr>
              <a:t> -T4 -A -v &lt;target&gt;</a:t>
            </a:r>
            <a:endParaRPr lang="en-US" dirty="0">
              <a:solidFill>
                <a:schemeClr val="bg1"/>
              </a:solidFill>
            </a:endParaRPr>
          </a:p>
          <a:p>
            <a:pPr>
              <a:lnSpc>
                <a:spcPct val="150000"/>
              </a:lnSpc>
            </a:pPr>
            <a:r>
              <a:rPr lang="en-US" dirty="0">
                <a:solidFill>
                  <a:schemeClr val="bg1"/>
                </a:solidFill>
              </a:rPr>
              <a:t>Should be reasonable quick, scan the most common TCP ports. It will make an effort in determining the OS type and what services and their versions are running.</a:t>
            </a:r>
          </a:p>
          <a:p>
            <a:pPr>
              <a:lnSpc>
                <a:spcPct val="150000"/>
              </a:lnSpc>
            </a:pPr>
            <a:r>
              <a:rPr lang="en-US" dirty="0">
                <a:solidFill>
                  <a:schemeClr val="bg1"/>
                </a:solidFill>
              </a:rPr>
              <a:t>This comes from having a pretty fast timing template (-T4) and for using the -A option which will try determine services, versions and OS. With the verbose output (-v) it will also give us a lot of feedback as Nmap makes progress in the scan.</a:t>
            </a:r>
          </a:p>
          <a:p>
            <a:pPr>
              <a:lnSpc>
                <a:spcPct val="150000"/>
              </a:lnSpc>
            </a:pPr>
            <a:endParaRPr lang="en-US" dirty="0">
              <a:solidFill>
                <a:schemeClr val="bg1"/>
              </a:solidFill>
            </a:endParaRPr>
          </a:p>
          <a:p>
            <a:pPr>
              <a:lnSpc>
                <a:spcPct val="150000"/>
              </a:lnSpc>
            </a:pPr>
            <a:r>
              <a:rPr lang="en-US" sz="2800" b="1" i="1" u="sng" dirty="0">
                <a:solidFill>
                  <a:schemeClr val="bg1"/>
                </a:solidFill>
              </a:rPr>
              <a:t>Intense scan plus UDP:</a:t>
            </a:r>
          </a:p>
          <a:p>
            <a:pPr>
              <a:lnSpc>
                <a:spcPct val="150000"/>
              </a:lnSpc>
            </a:pPr>
            <a:r>
              <a:rPr lang="en-US" b="1" dirty="0">
                <a:solidFill>
                  <a:schemeClr val="bg1"/>
                </a:solidFill>
              </a:rPr>
              <a:t>Command: </a:t>
            </a:r>
            <a:r>
              <a:rPr lang="en-US" b="1" dirty="0" err="1">
                <a:solidFill>
                  <a:schemeClr val="bg1"/>
                </a:solidFill>
              </a:rPr>
              <a:t>nmap</a:t>
            </a:r>
            <a:r>
              <a:rPr lang="en-US" b="1" dirty="0">
                <a:solidFill>
                  <a:schemeClr val="bg1"/>
                </a:solidFill>
              </a:rPr>
              <a:t> -</a:t>
            </a:r>
            <a:r>
              <a:rPr lang="en-US" b="1" dirty="0" err="1">
                <a:solidFill>
                  <a:schemeClr val="bg1"/>
                </a:solidFill>
              </a:rPr>
              <a:t>sS</a:t>
            </a:r>
            <a:r>
              <a:rPr lang="en-US" b="1" dirty="0">
                <a:solidFill>
                  <a:schemeClr val="bg1"/>
                </a:solidFill>
              </a:rPr>
              <a:t> -</a:t>
            </a:r>
            <a:r>
              <a:rPr lang="en-US" b="1" dirty="0" err="1">
                <a:solidFill>
                  <a:schemeClr val="bg1"/>
                </a:solidFill>
              </a:rPr>
              <a:t>sU</a:t>
            </a:r>
            <a:r>
              <a:rPr lang="en-US" b="1" dirty="0">
                <a:solidFill>
                  <a:schemeClr val="bg1"/>
                </a:solidFill>
              </a:rPr>
              <a:t> -T4 -A -v &lt;target&gt;</a:t>
            </a:r>
            <a:endParaRPr lang="en-US" dirty="0">
              <a:solidFill>
                <a:schemeClr val="bg1"/>
              </a:solidFill>
            </a:endParaRPr>
          </a:p>
          <a:p>
            <a:pPr>
              <a:lnSpc>
                <a:spcPct val="150000"/>
              </a:lnSpc>
            </a:pPr>
            <a:r>
              <a:rPr lang="en-US" dirty="0">
                <a:solidFill>
                  <a:schemeClr val="bg1"/>
                </a:solidFill>
              </a:rPr>
              <a:t>Same as the regular Intense scan, just that we will also scan UDP ports (-</a:t>
            </a:r>
            <a:r>
              <a:rPr lang="en-US" dirty="0" err="1">
                <a:solidFill>
                  <a:schemeClr val="bg1"/>
                </a:solidFill>
              </a:rPr>
              <a:t>sU</a:t>
            </a:r>
            <a:r>
              <a:rPr lang="en-US" dirty="0">
                <a:solidFill>
                  <a:schemeClr val="bg1"/>
                </a:solidFill>
              </a:rPr>
              <a:t>).</a:t>
            </a:r>
          </a:p>
          <a:p>
            <a:pPr>
              <a:lnSpc>
                <a:spcPct val="150000"/>
              </a:lnSpc>
            </a:pPr>
            <a:r>
              <a:rPr lang="en-US" dirty="0">
                <a:solidFill>
                  <a:schemeClr val="bg1"/>
                </a:solidFill>
              </a:rPr>
              <a:t>The -</a:t>
            </a:r>
            <a:r>
              <a:rPr lang="en-US" dirty="0" err="1">
                <a:solidFill>
                  <a:schemeClr val="bg1"/>
                </a:solidFill>
              </a:rPr>
              <a:t>sS</a:t>
            </a:r>
            <a:r>
              <a:rPr lang="en-US" dirty="0">
                <a:solidFill>
                  <a:schemeClr val="bg1"/>
                </a:solidFill>
              </a:rPr>
              <a:t> option is telling Nmap that it should also scan TCP ports using SYN packets. Because this scan includes UDP ports this explicit definition of -</a:t>
            </a:r>
            <a:r>
              <a:rPr lang="en-US" dirty="0" err="1">
                <a:solidFill>
                  <a:schemeClr val="bg1"/>
                </a:solidFill>
              </a:rPr>
              <a:t>sS</a:t>
            </a:r>
            <a:r>
              <a:rPr lang="en-US" dirty="0">
                <a:solidFill>
                  <a:schemeClr val="bg1"/>
                </a:solidFill>
              </a:rPr>
              <a:t> is necessary.</a:t>
            </a:r>
          </a:p>
        </p:txBody>
      </p:sp>
    </p:spTree>
    <p:extLst>
      <p:ext uri="{BB962C8B-B14F-4D97-AF65-F5344CB8AC3E}">
        <p14:creationId xmlns:p14="http://schemas.microsoft.com/office/powerpoint/2010/main" val="870653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CE411BF-D16B-49AB-A226-2715325A3C8D}"/>
              </a:ext>
            </a:extLst>
          </p:cNvPr>
          <p:cNvSpPr>
            <a:spLocks noGrp="1"/>
          </p:cNvSpPr>
          <p:nvPr>
            <p:ph type="body" idx="1"/>
          </p:nvPr>
        </p:nvSpPr>
        <p:spPr>
          <a:xfrm>
            <a:off x="457200" y="228600"/>
            <a:ext cx="10358120" cy="2057400"/>
          </a:xfrm>
        </p:spPr>
        <p:txBody>
          <a:bodyPr/>
          <a:lstStyle/>
          <a:p>
            <a:r>
              <a:rPr lang="en-US" sz="2400" b="1" i="1" u="sng" dirty="0">
                <a:solidFill>
                  <a:schemeClr val="bg1"/>
                </a:solidFill>
              </a:rPr>
              <a:t>Intense scan, all TCP ports:</a:t>
            </a:r>
          </a:p>
          <a:p>
            <a:endParaRPr lang="en-US" sz="2400" b="1" i="1" u="sng" dirty="0">
              <a:solidFill>
                <a:schemeClr val="bg1"/>
              </a:solidFill>
            </a:endParaRPr>
          </a:p>
          <a:p>
            <a:r>
              <a:rPr lang="en-US" b="1" dirty="0">
                <a:solidFill>
                  <a:schemeClr val="bg1"/>
                </a:solidFill>
              </a:rPr>
              <a:t>Command: </a:t>
            </a:r>
            <a:r>
              <a:rPr lang="en-US" b="1" dirty="0" err="1">
                <a:solidFill>
                  <a:schemeClr val="bg1"/>
                </a:solidFill>
              </a:rPr>
              <a:t>nmap</a:t>
            </a:r>
            <a:r>
              <a:rPr lang="en-US" b="1" dirty="0">
                <a:solidFill>
                  <a:schemeClr val="bg1"/>
                </a:solidFill>
              </a:rPr>
              <a:t> -p 1-65535 -T4 -A -v &lt;target&gt;</a:t>
            </a:r>
            <a:endParaRPr lang="en-US" dirty="0">
              <a:solidFill>
                <a:schemeClr val="bg1"/>
              </a:solidFill>
            </a:endParaRPr>
          </a:p>
          <a:p>
            <a:r>
              <a:rPr lang="en-US" dirty="0">
                <a:solidFill>
                  <a:schemeClr val="bg1"/>
                </a:solidFill>
              </a:rPr>
              <a:t>Leave no TCP ports unchecked.</a:t>
            </a:r>
          </a:p>
          <a:p>
            <a:r>
              <a:rPr lang="en-US" dirty="0">
                <a:solidFill>
                  <a:schemeClr val="bg1"/>
                </a:solidFill>
              </a:rPr>
              <a:t>Normally Nmap scans a list of 1000 most common protocols, but instead we will in this example scan everything from port 1 to 65535 (max). The 1000 most common protocols listing can be found in the file called </a:t>
            </a:r>
            <a:r>
              <a:rPr lang="en-US" dirty="0" err="1">
                <a:solidFill>
                  <a:schemeClr val="bg1"/>
                </a:solidFill>
              </a:rPr>
              <a:t>nmap</a:t>
            </a:r>
            <a:r>
              <a:rPr lang="en-US" dirty="0">
                <a:solidFill>
                  <a:schemeClr val="bg1"/>
                </a:solidFill>
              </a:rPr>
              <a:t>-services.</a:t>
            </a:r>
          </a:p>
          <a:p>
            <a:r>
              <a:rPr lang="en-US" dirty="0">
                <a:solidFill>
                  <a:schemeClr val="bg1"/>
                </a:solidFill>
              </a:rPr>
              <a:t>Intense scan, no ping</a:t>
            </a:r>
          </a:p>
          <a:p>
            <a:r>
              <a:rPr lang="en-US" b="1" dirty="0">
                <a:solidFill>
                  <a:schemeClr val="bg1"/>
                </a:solidFill>
              </a:rPr>
              <a:t>Command: </a:t>
            </a:r>
            <a:r>
              <a:rPr lang="en-US" b="1" dirty="0" err="1">
                <a:solidFill>
                  <a:schemeClr val="bg1"/>
                </a:solidFill>
              </a:rPr>
              <a:t>nmap</a:t>
            </a:r>
            <a:r>
              <a:rPr lang="en-US" b="1" dirty="0">
                <a:solidFill>
                  <a:schemeClr val="bg1"/>
                </a:solidFill>
              </a:rPr>
              <a:t> -T4 -A -v -</a:t>
            </a:r>
            <a:r>
              <a:rPr lang="en-US" b="1" dirty="0" err="1">
                <a:solidFill>
                  <a:schemeClr val="bg1"/>
                </a:solidFill>
              </a:rPr>
              <a:t>Pn</a:t>
            </a:r>
            <a:r>
              <a:rPr lang="en-US" b="1" dirty="0">
                <a:solidFill>
                  <a:schemeClr val="bg1"/>
                </a:solidFill>
              </a:rPr>
              <a:t> &lt;target&gt;</a:t>
            </a:r>
            <a:endParaRPr lang="en-US" dirty="0">
              <a:solidFill>
                <a:schemeClr val="bg1"/>
              </a:solidFill>
            </a:endParaRPr>
          </a:p>
          <a:p>
            <a:r>
              <a:rPr lang="en-US" dirty="0">
                <a:solidFill>
                  <a:schemeClr val="bg1"/>
                </a:solidFill>
              </a:rPr>
              <a:t>Just like the other intense scans, however this will assume the host is up. </a:t>
            </a:r>
            <a:r>
              <a:rPr lang="en-US" dirty="0" err="1">
                <a:solidFill>
                  <a:schemeClr val="bg1"/>
                </a:solidFill>
              </a:rPr>
              <a:t>Usefull</a:t>
            </a:r>
            <a:r>
              <a:rPr lang="en-US" dirty="0">
                <a:solidFill>
                  <a:schemeClr val="bg1"/>
                </a:solidFill>
              </a:rPr>
              <a:t> if the target is blocking ping request and you already know the target is up.</a:t>
            </a:r>
          </a:p>
          <a:p>
            <a:r>
              <a:rPr lang="en-US" sz="2800" b="1" i="1" u="sng" dirty="0">
                <a:solidFill>
                  <a:schemeClr val="bg1"/>
                </a:solidFill>
              </a:rPr>
              <a:t>Ping scan;</a:t>
            </a:r>
          </a:p>
          <a:p>
            <a:endParaRPr lang="en-US" sz="2800" b="1" i="1" u="sng" dirty="0">
              <a:solidFill>
                <a:schemeClr val="bg1"/>
              </a:solidFill>
            </a:endParaRPr>
          </a:p>
          <a:p>
            <a:r>
              <a:rPr lang="en-US" b="1" dirty="0">
                <a:solidFill>
                  <a:schemeClr val="bg1"/>
                </a:solidFill>
              </a:rPr>
              <a:t>Command: </a:t>
            </a:r>
            <a:r>
              <a:rPr lang="en-US" b="1" dirty="0" err="1">
                <a:solidFill>
                  <a:schemeClr val="bg1"/>
                </a:solidFill>
              </a:rPr>
              <a:t>nmap</a:t>
            </a:r>
            <a:r>
              <a:rPr lang="en-US" b="1" dirty="0">
                <a:solidFill>
                  <a:schemeClr val="bg1"/>
                </a:solidFill>
              </a:rPr>
              <a:t> -</a:t>
            </a:r>
            <a:r>
              <a:rPr lang="en-US" b="1" dirty="0" err="1">
                <a:solidFill>
                  <a:schemeClr val="bg1"/>
                </a:solidFill>
              </a:rPr>
              <a:t>sn</a:t>
            </a:r>
            <a:r>
              <a:rPr lang="en-US" b="1" dirty="0">
                <a:solidFill>
                  <a:schemeClr val="bg1"/>
                </a:solidFill>
              </a:rPr>
              <a:t> &lt;target&gt;</a:t>
            </a:r>
            <a:endParaRPr lang="en-US" dirty="0">
              <a:solidFill>
                <a:schemeClr val="bg1"/>
              </a:solidFill>
            </a:endParaRPr>
          </a:p>
          <a:p>
            <a:r>
              <a:rPr lang="en-US" dirty="0">
                <a:solidFill>
                  <a:schemeClr val="bg1"/>
                </a:solidFill>
              </a:rPr>
              <a:t>Do only a ping only on the target, no port scan.</a:t>
            </a:r>
          </a:p>
          <a:p>
            <a:r>
              <a:rPr lang="en-US" sz="2800" b="1" i="1" u="sng" dirty="0">
                <a:solidFill>
                  <a:schemeClr val="bg1"/>
                </a:solidFill>
              </a:rPr>
              <a:t>Quick scan:</a:t>
            </a:r>
          </a:p>
          <a:p>
            <a:endParaRPr lang="en-US" sz="2800" b="1" i="1" u="sng" dirty="0">
              <a:solidFill>
                <a:schemeClr val="bg1"/>
              </a:solidFill>
            </a:endParaRPr>
          </a:p>
          <a:p>
            <a:r>
              <a:rPr lang="en-US" b="1" dirty="0">
                <a:solidFill>
                  <a:schemeClr val="bg1"/>
                </a:solidFill>
              </a:rPr>
              <a:t>Command: </a:t>
            </a:r>
            <a:r>
              <a:rPr lang="en-US" b="1" dirty="0" err="1">
                <a:solidFill>
                  <a:schemeClr val="bg1"/>
                </a:solidFill>
              </a:rPr>
              <a:t>nmap</a:t>
            </a:r>
            <a:r>
              <a:rPr lang="en-US" b="1" dirty="0">
                <a:solidFill>
                  <a:schemeClr val="bg1"/>
                </a:solidFill>
              </a:rPr>
              <a:t> -T4 -F &lt;target&gt;</a:t>
            </a:r>
            <a:endParaRPr lang="en-US" dirty="0">
              <a:solidFill>
                <a:schemeClr val="bg1"/>
              </a:solidFill>
            </a:endParaRPr>
          </a:p>
          <a:p>
            <a:r>
              <a:rPr lang="en-US" dirty="0">
                <a:solidFill>
                  <a:schemeClr val="bg1"/>
                </a:solidFill>
              </a:rPr>
              <a:t>Scan faster than the intense scan by limiting the number of TCP ports scanned to only the top 100 most common TCP ports</a:t>
            </a:r>
          </a:p>
          <a:p>
            <a:endParaRPr lang="en-US" dirty="0">
              <a:solidFill>
                <a:schemeClr val="bg1"/>
              </a:solidFill>
            </a:endParaRPr>
          </a:p>
        </p:txBody>
      </p:sp>
    </p:spTree>
    <p:extLst>
      <p:ext uri="{BB962C8B-B14F-4D97-AF65-F5344CB8AC3E}">
        <p14:creationId xmlns:p14="http://schemas.microsoft.com/office/powerpoint/2010/main" val="1555276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5F3ACD-E32D-46C9-B82A-A5F11B58B6F8}"/>
              </a:ext>
            </a:extLst>
          </p:cNvPr>
          <p:cNvSpPr>
            <a:spLocks noGrp="1"/>
          </p:cNvSpPr>
          <p:nvPr>
            <p:ph type="body" idx="1"/>
          </p:nvPr>
        </p:nvSpPr>
        <p:spPr>
          <a:xfrm>
            <a:off x="228600" y="304800"/>
            <a:ext cx="11582400" cy="4955203"/>
          </a:xfrm>
        </p:spPr>
        <p:txBody>
          <a:bodyPr/>
          <a:lstStyle/>
          <a:p>
            <a:r>
              <a:rPr lang="en-US" sz="2800" b="1" i="1" u="sng" dirty="0">
                <a:solidFill>
                  <a:schemeClr val="bg1"/>
                </a:solidFill>
              </a:rPr>
              <a:t>Quick scan plus:</a:t>
            </a:r>
          </a:p>
          <a:p>
            <a:endParaRPr lang="en-US" sz="2800" b="1" i="1" u="sng" dirty="0">
              <a:solidFill>
                <a:schemeClr val="bg1"/>
              </a:solidFill>
            </a:endParaRPr>
          </a:p>
          <a:p>
            <a:r>
              <a:rPr lang="en-US" b="1" dirty="0">
                <a:solidFill>
                  <a:schemeClr val="bg1"/>
                </a:solidFill>
              </a:rPr>
              <a:t>Command: </a:t>
            </a:r>
            <a:r>
              <a:rPr lang="en-US" b="1" dirty="0" err="1">
                <a:solidFill>
                  <a:schemeClr val="bg1"/>
                </a:solidFill>
              </a:rPr>
              <a:t>nmap</a:t>
            </a:r>
            <a:r>
              <a:rPr lang="en-US" b="1" dirty="0">
                <a:solidFill>
                  <a:schemeClr val="bg1"/>
                </a:solidFill>
              </a:rPr>
              <a:t> -</a:t>
            </a:r>
            <a:r>
              <a:rPr lang="en-US" b="1" dirty="0" err="1">
                <a:solidFill>
                  <a:schemeClr val="bg1"/>
                </a:solidFill>
              </a:rPr>
              <a:t>sV</a:t>
            </a:r>
            <a:r>
              <a:rPr lang="en-US" b="1" dirty="0">
                <a:solidFill>
                  <a:schemeClr val="bg1"/>
                </a:solidFill>
              </a:rPr>
              <a:t> -T4 -O -F –version-light &lt;target&gt;</a:t>
            </a:r>
            <a:endParaRPr lang="en-US" dirty="0">
              <a:solidFill>
                <a:schemeClr val="bg1"/>
              </a:solidFill>
            </a:endParaRPr>
          </a:p>
          <a:p>
            <a:r>
              <a:rPr lang="en-US" dirty="0">
                <a:solidFill>
                  <a:schemeClr val="bg1"/>
                </a:solidFill>
              </a:rPr>
              <a:t>Add a little bit of version and OS detection and you got the Quick scan plus.</a:t>
            </a:r>
          </a:p>
          <a:p>
            <a:r>
              <a:rPr lang="en-US" sz="2400" b="1" i="1" u="sng" dirty="0">
                <a:solidFill>
                  <a:schemeClr val="bg1"/>
                </a:solidFill>
              </a:rPr>
              <a:t>Quick traceroute:</a:t>
            </a:r>
          </a:p>
          <a:p>
            <a:endParaRPr lang="en-US" sz="2400" b="1" i="1" u="sng" dirty="0">
              <a:solidFill>
                <a:schemeClr val="bg1"/>
              </a:solidFill>
            </a:endParaRPr>
          </a:p>
          <a:p>
            <a:r>
              <a:rPr lang="en-US" b="1" dirty="0">
                <a:solidFill>
                  <a:schemeClr val="bg1"/>
                </a:solidFill>
              </a:rPr>
              <a:t>Command: </a:t>
            </a:r>
            <a:r>
              <a:rPr lang="en-US" b="1" dirty="0" err="1">
                <a:solidFill>
                  <a:schemeClr val="bg1"/>
                </a:solidFill>
              </a:rPr>
              <a:t>nmap</a:t>
            </a:r>
            <a:r>
              <a:rPr lang="en-US" b="1" dirty="0">
                <a:solidFill>
                  <a:schemeClr val="bg1"/>
                </a:solidFill>
              </a:rPr>
              <a:t> -</a:t>
            </a:r>
            <a:r>
              <a:rPr lang="en-US" b="1" dirty="0" err="1">
                <a:solidFill>
                  <a:schemeClr val="bg1"/>
                </a:solidFill>
              </a:rPr>
              <a:t>sn</a:t>
            </a:r>
            <a:r>
              <a:rPr lang="en-US" b="1" dirty="0">
                <a:solidFill>
                  <a:schemeClr val="bg1"/>
                </a:solidFill>
              </a:rPr>
              <a:t> –traceroute &lt;target&gt;</a:t>
            </a:r>
            <a:endParaRPr lang="en-US" dirty="0">
              <a:solidFill>
                <a:schemeClr val="bg1"/>
              </a:solidFill>
            </a:endParaRPr>
          </a:p>
          <a:p>
            <a:r>
              <a:rPr lang="en-US" dirty="0">
                <a:solidFill>
                  <a:schemeClr val="bg1"/>
                </a:solidFill>
              </a:rPr>
              <a:t>Use this option when you need to determine hosts and routers in a network scan. It will traceroute and ping all hosts defined in the target.</a:t>
            </a:r>
          </a:p>
          <a:p>
            <a:r>
              <a:rPr lang="en-US" sz="2800" b="1" i="1" u="sng" dirty="0">
                <a:solidFill>
                  <a:schemeClr val="bg1"/>
                </a:solidFill>
              </a:rPr>
              <a:t>Regular scan:</a:t>
            </a:r>
          </a:p>
          <a:p>
            <a:endParaRPr lang="en-US" sz="2800" b="1" i="1" u="sng" dirty="0">
              <a:solidFill>
                <a:schemeClr val="bg1"/>
              </a:solidFill>
            </a:endParaRPr>
          </a:p>
          <a:p>
            <a:r>
              <a:rPr lang="en-US" b="1" dirty="0">
                <a:solidFill>
                  <a:schemeClr val="bg1"/>
                </a:solidFill>
              </a:rPr>
              <a:t>Command: </a:t>
            </a:r>
            <a:r>
              <a:rPr lang="en-US" b="1" dirty="0" err="1">
                <a:solidFill>
                  <a:schemeClr val="bg1"/>
                </a:solidFill>
              </a:rPr>
              <a:t>nmap</a:t>
            </a:r>
            <a:r>
              <a:rPr lang="en-US" b="1" dirty="0">
                <a:solidFill>
                  <a:schemeClr val="bg1"/>
                </a:solidFill>
              </a:rPr>
              <a:t> &lt;target&gt;</a:t>
            </a:r>
            <a:endParaRPr lang="en-US" dirty="0">
              <a:solidFill>
                <a:schemeClr val="bg1"/>
              </a:solidFill>
            </a:endParaRPr>
          </a:p>
          <a:p>
            <a:r>
              <a:rPr lang="en-US" dirty="0">
                <a:solidFill>
                  <a:schemeClr val="bg1"/>
                </a:solidFill>
              </a:rPr>
              <a:t>Default everything. This means it will issue a TCP SYN scan for the most common 1000 TCP ports, using ICMP Echo request (ping) for host detection.</a:t>
            </a:r>
          </a:p>
          <a:p>
            <a:endParaRPr lang="en-US" dirty="0">
              <a:solidFill>
                <a:schemeClr val="bg1"/>
              </a:solidFill>
            </a:endParaRPr>
          </a:p>
        </p:txBody>
      </p:sp>
    </p:spTree>
    <p:extLst>
      <p:ext uri="{BB962C8B-B14F-4D97-AF65-F5344CB8AC3E}">
        <p14:creationId xmlns:p14="http://schemas.microsoft.com/office/powerpoint/2010/main" val="4154181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F333906-9A85-460B-8391-C0115306CA5E}"/>
              </a:ext>
            </a:extLst>
          </p:cNvPr>
          <p:cNvSpPr>
            <a:spLocks noGrp="1"/>
          </p:cNvSpPr>
          <p:nvPr>
            <p:ph type="body" idx="1"/>
          </p:nvPr>
        </p:nvSpPr>
        <p:spPr>
          <a:xfrm>
            <a:off x="228600" y="381000"/>
            <a:ext cx="11045825" cy="6247864"/>
          </a:xfrm>
        </p:spPr>
        <p:txBody>
          <a:bodyPr/>
          <a:lstStyle/>
          <a:p>
            <a:r>
              <a:rPr lang="en-US" sz="2800" b="1" dirty="0">
                <a:solidFill>
                  <a:schemeClr val="bg1"/>
                </a:solidFill>
              </a:rPr>
              <a:t>The options:</a:t>
            </a:r>
          </a:p>
          <a:p>
            <a:r>
              <a:rPr lang="en-US" b="1" dirty="0">
                <a:solidFill>
                  <a:schemeClr val="bg1"/>
                </a:solidFill>
              </a:rPr>
              <a:t>-T4    </a:t>
            </a:r>
            <a:r>
              <a:rPr lang="en-US" dirty="0">
                <a:solidFill>
                  <a:schemeClr val="bg1"/>
                </a:solidFill>
              </a:rPr>
              <a:t>This is an option for timing template. Numbers range from 0-5 where 5 is the fastest and 0 is the slowest.</a:t>
            </a:r>
          </a:p>
          <a:p>
            <a:endParaRPr lang="en-US" dirty="0">
              <a:solidFill>
                <a:schemeClr val="bg1"/>
              </a:solidFill>
            </a:endParaRPr>
          </a:p>
          <a:p>
            <a:r>
              <a:rPr lang="en-US" b="1" dirty="0">
                <a:solidFill>
                  <a:schemeClr val="bg1"/>
                </a:solidFill>
              </a:rPr>
              <a:t>-A    </a:t>
            </a:r>
            <a:r>
              <a:rPr lang="en-US" dirty="0">
                <a:solidFill>
                  <a:schemeClr val="bg1"/>
                </a:solidFill>
              </a:rPr>
              <a:t>This options makes Nmap make an effort in identifying the target OS, services and the versions. It also does traceroute and applies NSE scripts to detect additional information.</a:t>
            </a:r>
          </a:p>
          <a:p>
            <a:endParaRPr lang="en-US" dirty="0">
              <a:solidFill>
                <a:schemeClr val="bg1"/>
              </a:solidFill>
            </a:endParaRPr>
          </a:p>
          <a:p>
            <a:r>
              <a:rPr lang="en-US" b="1" dirty="0">
                <a:solidFill>
                  <a:schemeClr val="bg1"/>
                </a:solidFill>
              </a:rPr>
              <a:t>-v    </a:t>
            </a:r>
            <a:r>
              <a:rPr lang="en-US" dirty="0">
                <a:solidFill>
                  <a:schemeClr val="bg1"/>
                </a:solidFill>
              </a:rPr>
              <a:t>Increased verbosity. This will give your extra information in the data outputted by Nmap.</a:t>
            </a:r>
          </a:p>
          <a:p>
            <a:r>
              <a:rPr lang="en-US" b="1" dirty="0">
                <a:solidFill>
                  <a:schemeClr val="bg1"/>
                </a:solidFill>
              </a:rPr>
              <a:t>-</a:t>
            </a:r>
            <a:r>
              <a:rPr lang="en-US" b="1" dirty="0" err="1">
                <a:solidFill>
                  <a:schemeClr val="bg1"/>
                </a:solidFill>
              </a:rPr>
              <a:t>sS</a:t>
            </a:r>
            <a:r>
              <a:rPr lang="en-US" b="1" dirty="0">
                <a:solidFill>
                  <a:schemeClr val="bg1"/>
                </a:solidFill>
              </a:rPr>
              <a:t>    </a:t>
            </a:r>
            <a:r>
              <a:rPr lang="en-US" dirty="0">
                <a:solidFill>
                  <a:schemeClr val="bg1"/>
                </a:solidFill>
              </a:rPr>
              <a:t>Perform a TCP SYN connect scan. This just means that Nmap will send a TCP SYN packet just like any normal application would do.</a:t>
            </a:r>
          </a:p>
          <a:p>
            <a:endParaRPr lang="en-US" dirty="0">
              <a:solidFill>
                <a:schemeClr val="bg1"/>
              </a:solidFill>
            </a:endParaRPr>
          </a:p>
          <a:p>
            <a:r>
              <a:rPr lang="en-US" b="1" dirty="0">
                <a:solidFill>
                  <a:schemeClr val="bg1"/>
                </a:solidFill>
              </a:rPr>
              <a:t>-</a:t>
            </a:r>
            <a:r>
              <a:rPr lang="en-US" b="1" dirty="0" err="1">
                <a:solidFill>
                  <a:schemeClr val="bg1"/>
                </a:solidFill>
              </a:rPr>
              <a:t>sU</a:t>
            </a:r>
            <a:r>
              <a:rPr lang="en-US" b="1" dirty="0">
                <a:solidFill>
                  <a:schemeClr val="bg1"/>
                </a:solidFill>
              </a:rPr>
              <a:t>    </a:t>
            </a:r>
            <a:r>
              <a:rPr lang="en-US" dirty="0">
                <a:solidFill>
                  <a:schemeClr val="bg1"/>
                </a:solidFill>
              </a:rPr>
              <a:t>Perform an UDP scan. Because UDP is unreliable it is not as easy to determine if ports are open as it is with TCP. The UDP scan sends an UDP packet with an empty header to the target port. If the port is closed the OS should reply with an ICMP port unreachable error, however if the port is open it does not necessarily mean that the service will reply with anything.</a:t>
            </a:r>
          </a:p>
          <a:p>
            <a:endParaRPr lang="en-US" dirty="0">
              <a:solidFill>
                <a:schemeClr val="bg1"/>
              </a:solidFill>
            </a:endParaRPr>
          </a:p>
          <a:p>
            <a:r>
              <a:rPr lang="en-US" b="1" dirty="0">
                <a:solidFill>
                  <a:schemeClr val="bg1"/>
                </a:solidFill>
              </a:rPr>
              <a:t>-</a:t>
            </a:r>
            <a:r>
              <a:rPr lang="en-US" b="1" dirty="0" err="1">
                <a:solidFill>
                  <a:schemeClr val="bg1"/>
                </a:solidFill>
              </a:rPr>
              <a:t>sN</a:t>
            </a:r>
            <a:r>
              <a:rPr lang="en-US" b="1" dirty="0">
                <a:solidFill>
                  <a:schemeClr val="bg1"/>
                </a:solidFill>
              </a:rPr>
              <a:t>   </a:t>
            </a:r>
            <a:r>
              <a:rPr lang="en-US" dirty="0">
                <a:solidFill>
                  <a:schemeClr val="bg1"/>
                </a:solidFill>
              </a:rPr>
              <a:t>TCP Null scan. This option sends TCP packets with none of the TCP flags set in the packet. If the scan is returned a RST packet it means the port is closed, however if nothing is returned it is either filtered or open</a:t>
            </a:r>
          </a:p>
          <a:p>
            <a:endParaRPr lang="en-US" dirty="0">
              <a:solidFill>
                <a:schemeClr val="bg1"/>
              </a:solidFill>
            </a:endParaRPr>
          </a:p>
          <a:p>
            <a:r>
              <a:rPr lang="en-US" b="1" dirty="0">
                <a:solidFill>
                  <a:schemeClr val="bg1"/>
                </a:solidFill>
              </a:rPr>
              <a:t>-</a:t>
            </a:r>
            <a:r>
              <a:rPr lang="en-US" b="1" dirty="0" err="1">
                <a:solidFill>
                  <a:schemeClr val="bg1"/>
                </a:solidFill>
              </a:rPr>
              <a:t>sV</a:t>
            </a:r>
            <a:r>
              <a:rPr lang="en-US" b="1" dirty="0">
                <a:solidFill>
                  <a:schemeClr val="bg1"/>
                </a:solidFill>
              </a:rPr>
              <a:t>    </a:t>
            </a:r>
            <a:r>
              <a:rPr lang="en-US" dirty="0">
                <a:solidFill>
                  <a:schemeClr val="bg1"/>
                </a:solidFill>
              </a:rPr>
              <a:t>Actively probe open ports to try determine what service and version they are running. When running this scan against my webserver it resulted in 14 packets being transmitted between client and server, in contrast to just 2 packets as with a regular SYN scan.</a:t>
            </a:r>
          </a:p>
          <a:p>
            <a:endParaRPr lang="en-US" dirty="0">
              <a:solidFill>
                <a:schemeClr val="bg1"/>
              </a:solidFill>
            </a:endParaRPr>
          </a:p>
        </p:txBody>
      </p:sp>
    </p:spTree>
    <p:extLst>
      <p:ext uri="{BB962C8B-B14F-4D97-AF65-F5344CB8AC3E}">
        <p14:creationId xmlns:p14="http://schemas.microsoft.com/office/powerpoint/2010/main" val="2201008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813C48-FBFA-4005-B466-0B6ADB425192}"/>
              </a:ext>
            </a:extLst>
          </p:cNvPr>
          <p:cNvSpPr>
            <a:spLocks noGrp="1"/>
          </p:cNvSpPr>
          <p:nvPr>
            <p:ph type="body" idx="1"/>
          </p:nvPr>
        </p:nvSpPr>
        <p:spPr>
          <a:xfrm>
            <a:off x="916939" y="304800"/>
            <a:ext cx="10358120" cy="4248664"/>
          </a:xfrm>
        </p:spPr>
        <p:txBody>
          <a:bodyPr/>
          <a:lstStyle/>
          <a:p>
            <a:pPr>
              <a:lnSpc>
                <a:spcPct val="150000"/>
              </a:lnSpc>
            </a:pPr>
            <a:r>
              <a:rPr lang="en-US" sz="2400" b="1" i="1" u="sng" dirty="0">
                <a:solidFill>
                  <a:schemeClr val="bg1"/>
                </a:solidFill>
              </a:rPr>
              <a:t>The options:</a:t>
            </a:r>
          </a:p>
          <a:p>
            <a:pPr>
              <a:lnSpc>
                <a:spcPct val="150000"/>
              </a:lnSpc>
            </a:pPr>
            <a:endParaRPr lang="en-US" b="1" dirty="0">
              <a:solidFill>
                <a:schemeClr val="bg1"/>
              </a:solidFill>
            </a:endParaRPr>
          </a:p>
          <a:p>
            <a:pPr>
              <a:lnSpc>
                <a:spcPct val="150000"/>
              </a:lnSpc>
            </a:pPr>
            <a:r>
              <a:rPr lang="en-US" b="1" dirty="0">
                <a:solidFill>
                  <a:schemeClr val="bg1"/>
                </a:solidFill>
              </a:rPr>
              <a:t>-</a:t>
            </a:r>
            <a:r>
              <a:rPr lang="en-US" b="1" dirty="0" err="1">
                <a:solidFill>
                  <a:schemeClr val="bg1"/>
                </a:solidFill>
              </a:rPr>
              <a:t>Pn</a:t>
            </a:r>
            <a:r>
              <a:rPr lang="en-US" b="1" dirty="0">
                <a:solidFill>
                  <a:schemeClr val="bg1"/>
                </a:solidFill>
              </a:rPr>
              <a:t>    </a:t>
            </a:r>
            <a:r>
              <a:rPr lang="en-US" dirty="0">
                <a:solidFill>
                  <a:schemeClr val="bg1"/>
                </a:solidFill>
              </a:rPr>
              <a:t>Assume the host is up thus skipping the host discovery phase.</a:t>
            </a:r>
          </a:p>
          <a:p>
            <a:pPr>
              <a:lnSpc>
                <a:spcPct val="150000"/>
              </a:lnSpc>
            </a:pPr>
            <a:r>
              <a:rPr lang="en-US" b="1" dirty="0">
                <a:solidFill>
                  <a:schemeClr val="bg1"/>
                </a:solidFill>
              </a:rPr>
              <a:t>-</a:t>
            </a:r>
            <a:r>
              <a:rPr lang="en-US" b="1" dirty="0" err="1">
                <a:solidFill>
                  <a:schemeClr val="bg1"/>
                </a:solidFill>
              </a:rPr>
              <a:t>sn</a:t>
            </a:r>
            <a:r>
              <a:rPr lang="en-US" b="1" dirty="0">
                <a:solidFill>
                  <a:schemeClr val="bg1"/>
                </a:solidFill>
              </a:rPr>
              <a:t>    </a:t>
            </a:r>
            <a:r>
              <a:rPr lang="en-US" dirty="0">
                <a:solidFill>
                  <a:schemeClr val="bg1"/>
                </a:solidFill>
              </a:rPr>
              <a:t>Only send ping packet to the target, no port scanning. This is </a:t>
            </a:r>
            <a:r>
              <a:rPr lang="en-US" dirty="0" err="1">
                <a:solidFill>
                  <a:schemeClr val="bg1"/>
                </a:solidFill>
              </a:rPr>
              <a:t>usefull</a:t>
            </a:r>
            <a:r>
              <a:rPr lang="en-US" dirty="0">
                <a:solidFill>
                  <a:schemeClr val="bg1"/>
                </a:solidFill>
              </a:rPr>
              <a:t> if you need to determine what hosts are in the vicinity, but do not want to scan them yet. Do not mistake this for the TCP Null scan (-</a:t>
            </a:r>
            <a:r>
              <a:rPr lang="en-US" dirty="0" err="1">
                <a:solidFill>
                  <a:schemeClr val="bg1"/>
                </a:solidFill>
              </a:rPr>
              <a:t>sN</a:t>
            </a:r>
            <a:r>
              <a:rPr lang="en-US" dirty="0">
                <a:solidFill>
                  <a:schemeClr val="bg1"/>
                </a:solidFill>
              </a:rPr>
              <a:t>);  Nmap is case sensitive.</a:t>
            </a:r>
          </a:p>
          <a:p>
            <a:pPr>
              <a:lnSpc>
                <a:spcPct val="150000"/>
              </a:lnSpc>
            </a:pPr>
            <a:r>
              <a:rPr lang="en-US" b="1" dirty="0">
                <a:solidFill>
                  <a:schemeClr val="bg1"/>
                </a:solidFill>
              </a:rPr>
              <a:t>-PY    </a:t>
            </a:r>
            <a:r>
              <a:rPr lang="en-US" dirty="0">
                <a:solidFill>
                  <a:schemeClr val="bg1"/>
                </a:solidFill>
              </a:rPr>
              <a:t>Very much like a TCP SYN scan, this just utilizes the SCTP (</a:t>
            </a:r>
            <a:r>
              <a:rPr lang="en-US" dirty="0">
                <a:solidFill>
                  <a:schemeClr val="bg1"/>
                </a:solidFill>
                <a:hlinkClick r:id="rId2" tooltip="Stream Control Transmission Protocol">
                  <a:extLst>
                    <a:ext uri="{A12FA001-AC4F-418D-AE19-62706E023703}">
                      <ahyp:hlinkClr xmlns:ahyp="http://schemas.microsoft.com/office/drawing/2018/hyperlinkcolor" xmlns="" val="tx"/>
                    </a:ext>
                  </a:extLst>
                </a:hlinkClick>
              </a:rPr>
              <a:t>Stream Control Transmission Protocol</a:t>
            </a:r>
            <a:r>
              <a:rPr lang="en-US" dirty="0">
                <a:solidFill>
                  <a:schemeClr val="bg1"/>
                </a:solidFill>
              </a:rPr>
              <a:t>) instead.</a:t>
            </a:r>
          </a:p>
          <a:p>
            <a:pPr>
              <a:lnSpc>
                <a:spcPct val="150000"/>
              </a:lnSpc>
            </a:pPr>
            <a:endParaRPr lang="en-US" dirty="0">
              <a:solidFill>
                <a:schemeClr val="bg1"/>
              </a:solidFill>
            </a:endParaRPr>
          </a:p>
          <a:p>
            <a:pPr>
              <a:lnSpc>
                <a:spcPct val="150000"/>
              </a:lnSpc>
            </a:pPr>
            <a:r>
              <a:rPr lang="en-US" b="1" dirty="0">
                <a:solidFill>
                  <a:schemeClr val="bg1"/>
                </a:solidFill>
              </a:rPr>
              <a:t>-PS    </a:t>
            </a:r>
            <a:r>
              <a:rPr lang="en-US" dirty="0">
                <a:solidFill>
                  <a:schemeClr val="bg1"/>
                </a:solidFill>
              </a:rPr>
              <a:t>Also used for host discovery. This option simply relies on a port (default 80) to reply to an empty SYN packet, as is with default TCP </a:t>
            </a:r>
            <a:r>
              <a:rPr lang="en-US" dirty="0" err="1">
                <a:solidFill>
                  <a:schemeClr val="bg1"/>
                </a:solidFill>
              </a:rPr>
              <a:t>behaviour</a:t>
            </a:r>
            <a:r>
              <a:rPr lang="en-US" dirty="0">
                <a:solidFill>
                  <a:schemeClr val="bg1"/>
                </a:solidFill>
              </a:rPr>
              <a:t>. Simple is often good.</a:t>
            </a:r>
          </a:p>
        </p:txBody>
      </p:sp>
    </p:spTree>
    <p:extLst>
      <p:ext uri="{BB962C8B-B14F-4D97-AF65-F5344CB8AC3E}">
        <p14:creationId xmlns:p14="http://schemas.microsoft.com/office/powerpoint/2010/main" val="3679678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7FF17-148C-4411-8F4F-22C0535C42ED}"/>
              </a:ext>
            </a:extLst>
          </p:cNvPr>
          <p:cNvSpPr>
            <a:spLocks noGrp="1"/>
          </p:cNvSpPr>
          <p:nvPr>
            <p:ph type="body" idx="1"/>
          </p:nvPr>
        </p:nvSpPr>
        <p:spPr>
          <a:xfrm>
            <a:off x="152400" y="152400"/>
            <a:ext cx="11122659" cy="6934200"/>
          </a:xfrm>
        </p:spPr>
        <p:txBody>
          <a:bodyPr/>
          <a:lstStyle/>
          <a:p>
            <a:r>
              <a:rPr lang="en-US" dirty="0">
                <a:solidFill>
                  <a:schemeClr val="bg1"/>
                </a:solidFill>
              </a:rPr>
              <a:t>1. </a:t>
            </a:r>
          </a:p>
          <a:p>
            <a:r>
              <a:rPr lang="en-US" dirty="0">
                <a:solidFill>
                  <a:schemeClr val="bg1"/>
                </a:solidFill>
              </a:rPr>
              <a:t>Basic Nmap Scan against IP or host</a:t>
            </a:r>
          </a:p>
          <a:p>
            <a:r>
              <a:rPr lang="en-US" dirty="0" err="1">
                <a:solidFill>
                  <a:schemeClr val="bg1"/>
                </a:solidFill>
              </a:rPr>
              <a:t>nmap</a:t>
            </a:r>
            <a:r>
              <a:rPr lang="en-US" dirty="0">
                <a:solidFill>
                  <a:schemeClr val="bg1"/>
                </a:solidFill>
              </a:rPr>
              <a:t> 1.1.1.1</a:t>
            </a:r>
          </a:p>
          <a:p>
            <a:endParaRPr lang="en-US" dirty="0">
              <a:solidFill>
                <a:schemeClr val="bg1"/>
              </a:solidFill>
            </a:endParaRPr>
          </a:p>
          <a:p>
            <a:r>
              <a:rPr lang="en-US" dirty="0">
                <a:solidFill>
                  <a:schemeClr val="bg1"/>
                </a:solidFill>
              </a:rPr>
              <a:t>Now, if you want to scan a hostname, simply replace the IP for the host, as you see below:</a:t>
            </a:r>
          </a:p>
          <a:p>
            <a:endParaRPr lang="en-US" dirty="0">
              <a:solidFill>
                <a:schemeClr val="bg1"/>
              </a:solidFill>
            </a:endParaRPr>
          </a:p>
          <a:p>
            <a:r>
              <a:rPr lang="en-US" dirty="0" err="1">
                <a:solidFill>
                  <a:schemeClr val="bg1"/>
                </a:solidFill>
              </a:rPr>
              <a:t>nmap</a:t>
            </a:r>
            <a:r>
              <a:rPr lang="en-US" dirty="0">
                <a:solidFill>
                  <a:schemeClr val="bg1"/>
                </a:solidFill>
              </a:rPr>
              <a:t> cloudflare.com</a:t>
            </a:r>
          </a:p>
          <a:p>
            <a:endParaRPr lang="en-US" dirty="0">
              <a:solidFill>
                <a:schemeClr val="bg1"/>
              </a:solidFill>
            </a:endParaRPr>
          </a:p>
          <a:p>
            <a:r>
              <a:rPr lang="en-US" dirty="0">
                <a:solidFill>
                  <a:schemeClr val="bg1"/>
                </a:solidFill>
              </a:rPr>
              <a:t>These kinds of basic scans are perfect for your first steps when starting with Nmap.</a:t>
            </a:r>
          </a:p>
          <a:p>
            <a:endParaRPr lang="en-US" dirty="0">
              <a:solidFill>
                <a:schemeClr val="bg1"/>
              </a:solidFill>
            </a:endParaRPr>
          </a:p>
          <a:p>
            <a:r>
              <a:rPr lang="en-US" dirty="0">
                <a:solidFill>
                  <a:schemeClr val="bg1"/>
                </a:solidFill>
              </a:rPr>
              <a:t>2.</a:t>
            </a:r>
          </a:p>
          <a:p>
            <a:r>
              <a:rPr lang="en-US" dirty="0">
                <a:solidFill>
                  <a:schemeClr val="bg1"/>
                </a:solidFill>
              </a:rPr>
              <a:t> Scan specific ports or scan entire port ranges on a local or remote server</a:t>
            </a:r>
          </a:p>
          <a:p>
            <a:r>
              <a:rPr lang="en-US" dirty="0" err="1">
                <a:solidFill>
                  <a:schemeClr val="bg1"/>
                </a:solidFill>
              </a:rPr>
              <a:t>nmap</a:t>
            </a:r>
            <a:r>
              <a:rPr lang="en-US" dirty="0">
                <a:solidFill>
                  <a:schemeClr val="bg1"/>
                </a:solidFill>
              </a:rPr>
              <a:t> -p 1-65535 localhost</a:t>
            </a:r>
          </a:p>
          <a:p>
            <a:endParaRPr lang="en-US" dirty="0">
              <a:solidFill>
                <a:schemeClr val="bg1"/>
              </a:solidFill>
            </a:endParaRPr>
          </a:p>
          <a:p>
            <a:r>
              <a:rPr lang="en-US" dirty="0">
                <a:solidFill>
                  <a:schemeClr val="bg1"/>
                </a:solidFill>
              </a:rPr>
              <a:t>In this example, we scanned all 65535 ports for our localhost computer.</a:t>
            </a:r>
          </a:p>
        </p:txBody>
      </p:sp>
    </p:spTree>
    <p:extLst>
      <p:ext uri="{BB962C8B-B14F-4D97-AF65-F5344CB8AC3E}">
        <p14:creationId xmlns:p14="http://schemas.microsoft.com/office/powerpoint/2010/main" val="2273685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0C95279-B4C6-48A2-9706-0E8424D6C270}"/>
              </a:ext>
            </a:extLst>
          </p:cNvPr>
          <p:cNvSpPr>
            <a:spLocks noGrp="1"/>
          </p:cNvSpPr>
          <p:nvPr>
            <p:ph type="body" idx="1"/>
          </p:nvPr>
        </p:nvSpPr>
        <p:spPr>
          <a:xfrm>
            <a:off x="228600" y="228600"/>
            <a:ext cx="11887199" cy="553998"/>
          </a:xfrm>
        </p:spPr>
        <p:txBody>
          <a:bodyPr/>
          <a:lstStyle/>
          <a:p>
            <a:r>
              <a:rPr lang="en-US" dirty="0">
                <a:solidFill>
                  <a:schemeClr val="bg1"/>
                </a:solidFill>
              </a:rPr>
              <a:t> Useful command-line based scans that can be performed using Nmap.</a:t>
            </a:r>
          </a:p>
          <a:p>
            <a:endParaRPr lang="en-US" dirty="0">
              <a:solidFill>
                <a:schemeClr val="bg1"/>
              </a:solidFill>
            </a:endParaRPr>
          </a:p>
        </p:txBody>
      </p:sp>
      <p:pic>
        <p:nvPicPr>
          <p:cNvPr id="5" name="Picture 4">
            <a:extLst>
              <a:ext uri="{FF2B5EF4-FFF2-40B4-BE49-F238E27FC236}">
                <a16:creationId xmlns:a16="http://schemas.microsoft.com/office/drawing/2014/main" id="{961B620E-6774-4F7D-88D2-7E4A97020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685800"/>
            <a:ext cx="8120849" cy="5867400"/>
          </a:xfrm>
          <a:prstGeom prst="rect">
            <a:avLst/>
          </a:prstGeom>
        </p:spPr>
      </p:pic>
    </p:spTree>
    <p:extLst>
      <p:ext uri="{BB962C8B-B14F-4D97-AF65-F5344CB8AC3E}">
        <p14:creationId xmlns:p14="http://schemas.microsoft.com/office/powerpoint/2010/main" val="1597618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06228-B6D6-4F29-8F38-DA55A0196E8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07DDF0C-1592-446D-AF89-17D7636F7EF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D12E1664-3419-461E-85B5-5B5040A2E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04800"/>
            <a:ext cx="9448800" cy="6033724"/>
          </a:xfrm>
          <a:prstGeom prst="rect">
            <a:avLst/>
          </a:prstGeom>
        </p:spPr>
      </p:pic>
    </p:spTree>
    <p:extLst>
      <p:ext uri="{BB962C8B-B14F-4D97-AF65-F5344CB8AC3E}">
        <p14:creationId xmlns:p14="http://schemas.microsoft.com/office/powerpoint/2010/main" val="2819210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4967-DF10-44F4-B1C4-6DE6A476A7E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43E5463-2207-4828-87D6-2C70CABD8035}"/>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629B8A4C-7C40-414B-B582-63E435E8D5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28600"/>
            <a:ext cx="10058400" cy="6629400"/>
          </a:xfrm>
          <a:prstGeom prst="rect">
            <a:avLst/>
          </a:prstGeom>
        </p:spPr>
      </p:pic>
    </p:spTree>
    <p:extLst>
      <p:ext uri="{BB962C8B-B14F-4D97-AF65-F5344CB8AC3E}">
        <p14:creationId xmlns:p14="http://schemas.microsoft.com/office/powerpoint/2010/main" val="31378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D705A2-B474-49D5-8CF0-A48E8A941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152010"/>
            <a:ext cx="9144000" cy="6400800"/>
          </a:xfrm>
          <a:prstGeom prst="rect">
            <a:avLst/>
          </a:prstGeom>
        </p:spPr>
      </p:pic>
    </p:spTree>
    <p:extLst>
      <p:ext uri="{BB962C8B-B14F-4D97-AF65-F5344CB8AC3E}">
        <p14:creationId xmlns:p14="http://schemas.microsoft.com/office/powerpoint/2010/main" val="1301082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2527935" cy="1300480"/>
          </a:xfrm>
          <a:prstGeom prst="rect">
            <a:avLst/>
          </a:prstGeom>
        </p:spPr>
        <p:txBody>
          <a:bodyPr vert="horz" wrap="square" lIns="0" tIns="88900" rIns="0" bIns="0" rtlCol="0">
            <a:spAutoFit/>
          </a:bodyPr>
          <a:lstStyle/>
          <a:p>
            <a:pPr marL="12700" marR="5080">
              <a:lnSpc>
                <a:spcPts val="4750"/>
              </a:lnSpc>
              <a:spcBef>
                <a:spcPts val="700"/>
              </a:spcBef>
            </a:pPr>
            <a:r>
              <a:rPr sz="4400" spc="-225" dirty="0"/>
              <a:t>Sc</a:t>
            </a:r>
            <a:r>
              <a:rPr sz="4400" spc="-240" dirty="0"/>
              <a:t>r</a:t>
            </a:r>
            <a:r>
              <a:rPr sz="4400" spc="-155" dirty="0"/>
              <a:t>eenshot  </a:t>
            </a:r>
            <a:r>
              <a:rPr sz="4400" spc="-250" dirty="0"/>
              <a:t>Interface</a:t>
            </a:r>
            <a:endParaRPr sz="4400"/>
          </a:p>
        </p:txBody>
      </p:sp>
      <p:sp>
        <p:nvSpPr>
          <p:cNvPr id="3" name="object 3"/>
          <p:cNvSpPr/>
          <p:nvPr/>
        </p:nvSpPr>
        <p:spPr>
          <a:xfrm>
            <a:off x="362711" y="1836420"/>
            <a:ext cx="11466576" cy="453999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2744470" cy="1300480"/>
          </a:xfrm>
          <a:prstGeom prst="rect">
            <a:avLst/>
          </a:prstGeom>
        </p:spPr>
        <p:txBody>
          <a:bodyPr vert="horz" wrap="square" lIns="0" tIns="88900" rIns="0" bIns="0" rtlCol="0">
            <a:spAutoFit/>
          </a:bodyPr>
          <a:lstStyle/>
          <a:p>
            <a:pPr marL="12700" marR="5080">
              <a:lnSpc>
                <a:spcPts val="4750"/>
              </a:lnSpc>
              <a:spcBef>
                <a:spcPts val="700"/>
              </a:spcBef>
            </a:pPr>
            <a:r>
              <a:rPr sz="4400" spc="-225" dirty="0"/>
              <a:t>Sc</a:t>
            </a:r>
            <a:r>
              <a:rPr sz="4400" spc="-240" dirty="0"/>
              <a:t>r</a:t>
            </a:r>
            <a:r>
              <a:rPr sz="4400" spc="-145" dirty="0"/>
              <a:t>eenshots  </a:t>
            </a:r>
            <a:r>
              <a:rPr sz="4400" spc="-210" dirty="0"/>
              <a:t>Results</a:t>
            </a:r>
            <a:endParaRPr sz="4400"/>
          </a:p>
        </p:txBody>
      </p:sp>
      <p:sp>
        <p:nvSpPr>
          <p:cNvPr id="3" name="object 3"/>
          <p:cNvSpPr/>
          <p:nvPr/>
        </p:nvSpPr>
        <p:spPr>
          <a:xfrm>
            <a:off x="3758184" y="41146"/>
            <a:ext cx="8433815" cy="68168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2744470" cy="1300480"/>
          </a:xfrm>
          <a:prstGeom prst="rect">
            <a:avLst/>
          </a:prstGeom>
        </p:spPr>
        <p:txBody>
          <a:bodyPr vert="horz" wrap="square" lIns="0" tIns="88900" rIns="0" bIns="0" rtlCol="0">
            <a:spAutoFit/>
          </a:bodyPr>
          <a:lstStyle/>
          <a:p>
            <a:pPr marL="12700" marR="5080">
              <a:lnSpc>
                <a:spcPts val="4750"/>
              </a:lnSpc>
              <a:spcBef>
                <a:spcPts val="700"/>
              </a:spcBef>
            </a:pPr>
            <a:r>
              <a:rPr sz="4400" spc="-225" dirty="0"/>
              <a:t>Sc</a:t>
            </a:r>
            <a:r>
              <a:rPr sz="4400" spc="-240" dirty="0"/>
              <a:t>r</a:t>
            </a:r>
            <a:r>
              <a:rPr sz="4400" spc="-145" dirty="0"/>
              <a:t>eenshots  </a:t>
            </a:r>
            <a:r>
              <a:rPr sz="4400" spc="-210" dirty="0"/>
              <a:t>Results</a:t>
            </a:r>
            <a:endParaRPr sz="4400"/>
          </a:p>
        </p:txBody>
      </p:sp>
      <p:sp>
        <p:nvSpPr>
          <p:cNvPr id="3" name="object 3"/>
          <p:cNvSpPr/>
          <p:nvPr/>
        </p:nvSpPr>
        <p:spPr>
          <a:xfrm>
            <a:off x="3663696" y="0"/>
            <a:ext cx="8528304" cy="68579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2744470" cy="1300480"/>
          </a:xfrm>
          <a:prstGeom prst="rect">
            <a:avLst/>
          </a:prstGeom>
        </p:spPr>
        <p:txBody>
          <a:bodyPr vert="horz" wrap="square" lIns="0" tIns="88900" rIns="0" bIns="0" rtlCol="0">
            <a:spAutoFit/>
          </a:bodyPr>
          <a:lstStyle/>
          <a:p>
            <a:pPr marL="12700" marR="5080">
              <a:lnSpc>
                <a:spcPts val="4750"/>
              </a:lnSpc>
              <a:spcBef>
                <a:spcPts val="700"/>
              </a:spcBef>
            </a:pPr>
            <a:r>
              <a:rPr sz="4400" spc="-225" dirty="0"/>
              <a:t>Sc</a:t>
            </a:r>
            <a:r>
              <a:rPr sz="4400" spc="-240" dirty="0"/>
              <a:t>r</a:t>
            </a:r>
            <a:r>
              <a:rPr sz="4400" spc="-145" dirty="0"/>
              <a:t>eenshots  </a:t>
            </a:r>
            <a:r>
              <a:rPr sz="4400" spc="-210" dirty="0"/>
              <a:t>Results</a:t>
            </a:r>
            <a:endParaRPr sz="4400"/>
          </a:p>
        </p:txBody>
      </p:sp>
      <p:sp>
        <p:nvSpPr>
          <p:cNvPr id="3" name="object 3"/>
          <p:cNvSpPr/>
          <p:nvPr/>
        </p:nvSpPr>
        <p:spPr>
          <a:xfrm>
            <a:off x="464819" y="2046732"/>
            <a:ext cx="2019300" cy="1894332"/>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374904" y="9141"/>
            <a:ext cx="11817350" cy="6849109"/>
            <a:chOff x="374904" y="9141"/>
            <a:chExt cx="11817350" cy="6849109"/>
          </a:xfrm>
        </p:grpSpPr>
        <p:sp>
          <p:nvSpPr>
            <p:cNvPr id="5" name="object 5"/>
            <p:cNvSpPr/>
            <p:nvPr/>
          </p:nvSpPr>
          <p:spPr>
            <a:xfrm>
              <a:off x="4131563" y="9141"/>
              <a:ext cx="8060436" cy="684885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4904" y="4988051"/>
              <a:ext cx="5497068" cy="1869945"/>
            </a:xfrm>
            <a:prstGeom prst="rect">
              <a:avLst/>
            </a:prstGeom>
            <a:blipFill>
              <a:blip r:embed="rId4" cstate="print"/>
              <a:stretch>
                <a:fillRect/>
              </a:stretch>
            </a:blipFill>
          </p:spPr>
          <p:txBody>
            <a:bodyPr wrap="square" lIns="0" tIns="0" rIns="0" bIns="0" rtlCol="0"/>
            <a:lstStyle/>
            <a:p>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2744470" cy="1300480"/>
          </a:xfrm>
          <a:prstGeom prst="rect">
            <a:avLst/>
          </a:prstGeom>
        </p:spPr>
        <p:txBody>
          <a:bodyPr vert="horz" wrap="square" lIns="0" tIns="88900" rIns="0" bIns="0" rtlCol="0">
            <a:spAutoFit/>
          </a:bodyPr>
          <a:lstStyle/>
          <a:p>
            <a:pPr marL="12700" marR="5080">
              <a:lnSpc>
                <a:spcPts val="4750"/>
              </a:lnSpc>
              <a:spcBef>
                <a:spcPts val="700"/>
              </a:spcBef>
            </a:pPr>
            <a:r>
              <a:rPr sz="4400" spc="-225" dirty="0"/>
              <a:t>Sc</a:t>
            </a:r>
            <a:r>
              <a:rPr sz="4400" spc="-240" dirty="0"/>
              <a:t>r</a:t>
            </a:r>
            <a:r>
              <a:rPr sz="4400" spc="-145" dirty="0"/>
              <a:t>eenshots  </a:t>
            </a:r>
            <a:r>
              <a:rPr sz="4400" spc="-210" dirty="0"/>
              <a:t>Results</a:t>
            </a:r>
            <a:endParaRPr sz="4400"/>
          </a:p>
        </p:txBody>
      </p:sp>
      <p:sp>
        <p:nvSpPr>
          <p:cNvPr id="3" name="object 3"/>
          <p:cNvSpPr/>
          <p:nvPr/>
        </p:nvSpPr>
        <p:spPr>
          <a:xfrm>
            <a:off x="3715511" y="9142"/>
            <a:ext cx="8476488" cy="684885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981"/>
            <a:ext cx="2480310" cy="696595"/>
          </a:xfrm>
          <a:prstGeom prst="rect">
            <a:avLst/>
          </a:prstGeom>
        </p:spPr>
        <p:txBody>
          <a:bodyPr vert="horz" wrap="square" lIns="0" tIns="13335" rIns="0" bIns="0" rtlCol="0">
            <a:spAutoFit/>
          </a:bodyPr>
          <a:lstStyle/>
          <a:p>
            <a:pPr marL="12700">
              <a:lnSpc>
                <a:spcPct val="100000"/>
              </a:lnSpc>
              <a:spcBef>
                <a:spcPts val="105"/>
              </a:spcBef>
            </a:pPr>
            <a:r>
              <a:rPr sz="4400" spc="-180" dirty="0"/>
              <a:t>Conclusion</a:t>
            </a:r>
            <a:endParaRPr sz="4400"/>
          </a:p>
        </p:txBody>
      </p:sp>
      <p:sp>
        <p:nvSpPr>
          <p:cNvPr id="3" name="object 3"/>
          <p:cNvSpPr txBox="1"/>
          <p:nvPr/>
        </p:nvSpPr>
        <p:spPr>
          <a:xfrm>
            <a:off x="916939" y="1793493"/>
            <a:ext cx="10116820" cy="3521710"/>
          </a:xfrm>
          <a:prstGeom prst="rect">
            <a:avLst/>
          </a:prstGeom>
        </p:spPr>
        <p:txBody>
          <a:bodyPr vert="horz" wrap="square" lIns="0" tIns="60960" rIns="0" bIns="0" rtlCol="0">
            <a:spAutoFit/>
          </a:bodyPr>
          <a:lstStyle/>
          <a:p>
            <a:pPr marL="241300" marR="5080" indent="-229235">
              <a:lnSpc>
                <a:spcPts val="3020"/>
              </a:lnSpc>
              <a:spcBef>
                <a:spcPts val="480"/>
              </a:spcBef>
              <a:buFont typeface="Arial"/>
              <a:buChar char="•"/>
              <a:tabLst>
                <a:tab pos="241935" algn="l"/>
              </a:tabLst>
            </a:pPr>
            <a:r>
              <a:rPr sz="2800" spc="-105" dirty="0">
                <a:solidFill>
                  <a:srgbClr val="FFFFFF"/>
                </a:solidFill>
                <a:latin typeface="Trebuchet MS"/>
                <a:cs typeface="Trebuchet MS"/>
              </a:rPr>
              <a:t>Network</a:t>
            </a:r>
            <a:r>
              <a:rPr sz="2800" spc="-204" dirty="0">
                <a:solidFill>
                  <a:srgbClr val="FFFFFF"/>
                </a:solidFill>
                <a:latin typeface="Trebuchet MS"/>
                <a:cs typeface="Trebuchet MS"/>
              </a:rPr>
              <a:t> </a:t>
            </a:r>
            <a:r>
              <a:rPr sz="2800" spc="-105" dirty="0">
                <a:solidFill>
                  <a:srgbClr val="FFFFFF"/>
                </a:solidFill>
                <a:latin typeface="Trebuchet MS"/>
                <a:cs typeface="Trebuchet MS"/>
              </a:rPr>
              <a:t>monitoring</a:t>
            </a:r>
            <a:r>
              <a:rPr sz="2800" spc="-180" dirty="0">
                <a:solidFill>
                  <a:srgbClr val="FFFFFF"/>
                </a:solidFill>
                <a:latin typeface="Trebuchet MS"/>
                <a:cs typeface="Trebuchet MS"/>
              </a:rPr>
              <a:t> </a:t>
            </a:r>
            <a:r>
              <a:rPr sz="2800" spc="-100" dirty="0">
                <a:solidFill>
                  <a:srgbClr val="FFFFFF"/>
                </a:solidFill>
                <a:latin typeface="Trebuchet MS"/>
                <a:cs typeface="Trebuchet MS"/>
              </a:rPr>
              <a:t>is</a:t>
            </a:r>
            <a:r>
              <a:rPr sz="2800" spc="-210" dirty="0">
                <a:solidFill>
                  <a:srgbClr val="FFFFFF"/>
                </a:solidFill>
                <a:latin typeface="Trebuchet MS"/>
                <a:cs typeface="Trebuchet MS"/>
              </a:rPr>
              <a:t> </a:t>
            </a:r>
            <a:r>
              <a:rPr sz="2800" spc="-135" dirty="0">
                <a:solidFill>
                  <a:srgbClr val="FFFFFF"/>
                </a:solidFill>
                <a:latin typeface="Trebuchet MS"/>
                <a:cs typeface="Trebuchet MS"/>
              </a:rPr>
              <a:t>a</a:t>
            </a:r>
            <a:r>
              <a:rPr sz="2800" spc="-210" dirty="0">
                <a:solidFill>
                  <a:srgbClr val="FFFFFF"/>
                </a:solidFill>
                <a:latin typeface="Trebuchet MS"/>
                <a:cs typeface="Trebuchet MS"/>
              </a:rPr>
              <a:t> </a:t>
            </a:r>
            <a:r>
              <a:rPr sz="2800" spc="-155" dirty="0">
                <a:solidFill>
                  <a:srgbClr val="FFFFFF"/>
                </a:solidFill>
                <a:latin typeface="Trebuchet MS"/>
                <a:cs typeface="Trebuchet MS"/>
              </a:rPr>
              <a:t>crucial</a:t>
            </a:r>
            <a:r>
              <a:rPr sz="2800" spc="-200" dirty="0">
                <a:solidFill>
                  <a:srgbClr val="FFFFFF"/>
                </a:solidFill>
                <a:latin typeface="Trebuchet MS"/>
                <a:cs typeface="Trebuchet MS"/>
              </a:rPr>
              <a:t> </a:t>
            </a:r>
            <a:r>
              <a:rPr sz="2800" spc="-155" dirty="0">
                <a:solidFill>
                  <a:srgbClr val="FFFFFF"/>
                </a:solidFill>
                <a:latin typeface="Trebuchet MS"/>
                <a:cs typeface="Trebuchet MS"/>
              </a:rPr>
              <a:t>activity</a:t>
            </a:r>
            <a:r>
              <a:rPr sz="2800" spc="-225" dirty="0">
                <a:solidFill>
                  <a:srgbClr val="FFFFFF"/>
                </a:solidFill>
                <a:latin typeface="Trebuchet MS"/>
                <a:cs typeface="Trebuchet MS"/>
              </a:rPr>
              <a:t> </a:t>
            </a:r>
            <a:r>
              <a:rPr sz="2800" spc="-114" dirty="0">
                <a:solidFill>
                  <a:srgbClr val="FFFFFF"/>
                </a:solidFill>
                <a:latin typeface="Trebuchet MS"/>
                <a:cs typeface="Trebuchet MS"/>
              </a:rPr>
              <a:t>to</a:t>
            </a:r>
            <a:r>
              <a:rPr sz="2800" spc="-210" dirty="0">
                <a:solidFill>
                  <a:srgbClr val="FFFFFF"/>
                </a:solidFill>
                <a:latin typeface="Trebuchet MS"/>
                <a:cs typeface="Trebuchet MS"/>
              </a:rPr>
              <a:t> </a:t>
            </a:r>
            <a:r>
              <a:rPr sz="2800" spc="-135" dirty="0">
                <a:solidFill>
                  <a:srgbClr val="FFFFFF"/>
                </a:solidFill>
                <a:latin typeface="Trebuchet MS"/>
                <a:cs typeface="Trebuchet MS"/>
              </a:rPr>
              <a:t>prevent</a:t>
            </a:r>
            <a:r>
              <a:rPr sz="2800" spc="-200" dirty="0">
                <a:solidFill>
                  <a:srgbClr val="FFFFFF"/>
                </a:solidFill>
                <a:latin typeface="Trebuchet MS"/>
                <a:cs typeface="Trebuchet MS"/>
              </a:rPr>
              <a:t> </a:t>
            </a:r>
            <a:r>
              <a:rPr sz="2800" spc="-120" dirty="0">
                <a:solidFill>
                  <a:srgbClr val="FFFFFF"/>
                </a:solidFill>
                <a:latin typeface="Trebuchet MS"/>
                <a:cs typeface="Trebuchet MS"/>
              </a:rPr>
              <a:t>any</a:t>
            </a:r>
            <a:r>
              <a:rPr sz="2800" spc="-200" dirty="0">
                <a:solidFill>
                  <a:srgbClr val="FFFFFF"/>
                </a:solidFill>
                <a:latin typeface="Trebuchet MS"/>
                <a:cs typeface="Trebuchet MS"/>
              </a:rPr>
              <a:t> </a:t>
            </a:r>
            <a:r>
              <a:rPr sz="2800" spc="-114" dirty="0">
                <a:solidFill>
                  <a:srgbClr val="FFFFFF"/>
                </a:solidFill>
                <a:latin typeface="Trebuchet MS"/>
                <a:cs typeface="Trebuchet MS"/>
              </a:rPr>
              <a:t>network</a:t>
            </a:r>
            <a:r>
              <a:rPr sz="2800" spc="-210" dirty="0">
                <a:solidFill>
                  <a:srgbClr val="FFFFFF"/>
                </a:solidFill>
                <a:latin typeface="Trebuchet MS"/>
                <a:cs typeface="Trebuchet MS"/>
              </a:rPr>
              <a:t> </a:t>
            </a:r>
            <a:r>
              <a:rPr sz="2800" spc="-125" dirty="0">
                <a:solidFill>
                  <a:srgbClr val="FFFFFF"/>
                </a:solidFill>
                <a:latin typeface="Trebuchet MS"/>
                <a:cs typeface="Trebuchet MS"/>
              </a:rPr>
              <a:t>from  </a:t>
            </a:r>
            <a:r>
              <a:rPr sz="2800" spc="-120" dirty="0">
                <a:solidFill>
                  <a:srgbClr val="FFFFFF"/>
                </a:solidFill>
                <a:latin typeface="Trebuchet MS"/>
                <a:cs typeface="Trebuchet MS"/>
              </a:rPr>
              <a:t>intrusions.</a:t>
            </a:r>
            <a:endParaRPr sz="2800">
              <a:latin typeface="Trebuchet MS"/>
              <a:cs typeface="Trebuchet MS"/>
            </a:endParaRPr>
          </a:p>
          <a:p>
            <a:pPr marL="241300" marR="234315" indent="-229235">
              <a:lnSpc>
                <a:spcPts val="3020"/>
              </a:lnSpc>
              <a:spcBef>
                <a:spcPts val="1015"/>
              </a:spcBef>
              <a:buFont typeface="Arial"/>
              <a:buChar char="•"/>
              <a:tabLst>
                <a:tab pos="241935" algn="l"/>
              </a:tabLst>
            </a:pPr>
            <a:r>
              <a:rPr sz="2800" spc="-110" dirty="0">
                <a:solidFill>
                  <a:srgbClr val="FFFFFF"/>
                </a:solidFill>
                <a:latin typeface="Trebuchet MS"/>
                <a:cs typeface="Trebuchet MS"/>
              </a:rPr>
              <a:t>Scanning of </a:t>
            </a:r>
            <a:r>
              <a:rPr sz="2800" spc="-114" dirty="0">
                <a:solidFill>
                  <a:srgbClr val="FFFFFF"/>
                </a:solidFill>
                <a:latin typeface="Trebuchet MS"/>
                <a:cs typeface="Trebuchet MS"/>
              </a:rPr>
              <a:t>network </a:t>
            </a:r>
            <a:r>
              <a:rPr sz="2800" spc="-85" dirty="0">
                <a:solidFill>
                  <a:srgbClr val="FFFFFF"/>
                </a:solidFill>
                <a:latin typeface="Trebuchet MS"/>
                <a:cs typeface="Trebuchet MS"/>
              </a:rPr>
              <a:t>issues </a:t>
            </a:r>
            <a:r>
              <a:rPr sz="2800" spc="-155" dirty="0">
                <a:solidFill>
                  <a:srgbClr val="FFFFFF"/>
                </a:solidFill>
                <a:latin typeface="Trebuchet MS"/>
                <a:cs typeface="Trebuchet MS"/>
              </a:rPr>
              <a:t>will </a:t>
            </a:r>
            <a:r>
              <a:rPr sz="2800" spc="-145" dirty="0">
                <a:solidFill>
                  <a:srgbClr val="FFFFFF"/>
                </a:solidFill>
                <a:latin typeface="Trebuchet MS"/>
                <a:cs typeface="Trebuchet MS"/>
              </a:rPr>
              <a:t>make </a:t>
            </a:r>
            <a:r>
              <a:rPr sz="2800" spc="-55" dirty="0">
                <a:solidFill>
                  <a:srgbClr val="FFFFFF"/>
                </a:solidFill>
                <a:latin typeface="Trebuchet MS"/>
                <a:cs typeface="Trebuchet MS"/>
              </a:rPr>
              <a:t>us </a:t>
            </a:r>
            <a:r>
              <a:rPr sz="2800" spc="-140" dirty="0">
                <a:solidFill>
                  <a:srgbClr val="FFFFFF"/>
                </a:solidFill>
                <a:latin typeface="Trebuchet MS"/>
                <a:cs typeface="Trebuchet MS"/>
              </a:rPr>
              <a:t>aware </a:t>
            </a:r>
            <a:r>
              <a:rPr sz="2800" spc="-110" dirty="0">
                <a:solidFill>
                  <a:srgbClr val="FFFFFF"/>
                </a:solidFill>
                <a:latin typeface="Trebuchet MS"/>
                <a:cs typeface="Trebuchet MS"/>
              </a:rPr>
              <a:t>of </a:t>
            </a:r>
            <a:r>
              <a:rPr sz="2800" spc="-125" dirty="0">
                <a:solidFill>
                  <a:srgbClr val="FFFFFF"/>
                </a:solidFill>
                <a:latin typeface="Trebuchet MS"/>
                <a:cs typeface="Trebuchet MS"/>
              </a:rPr>
              <a:t>the </a:t>
            </a:r>
            <a:r>
              <a:rPr sz="2800" spc="-135" dirty="0">
                <a:solidFill>
                  <a:srgbClr val="FFFFFF"/>
                </a:solidFill>
                <a:latin typeface="Trebuchet MS"/>
                <a:cs typeface="Trebuchet MS"/>
              </a:rPr>
              <a:t>potential  </a:t>
            </a:r>
            <a:r>
              <a:rPr sz="2800" spc="-114" dirty="0">
                <a:solidFill>
                  <a:srgbClr val="FFFFFF"/>
                </a:solidFill>
                <a:latin typeface="Trebuchet MS"/>
                <a:cs typeface="Trebuchet MS"/>
              </a:rPr>
              <a:t>network</a:t>
            </a:r>
            <a:r>
              <a:rPr sz="2800" spc="-215" dirty="0">
                <a:solidFill>
                  <a:srgbClr val="FFFFFF"/>
                </a:solidFill>
                <a:latin typeface="Trebuchet MS"/>
                <a:cs typeface="Trebuchet MS"/>
              </a:rPr>
              <a:t> </a:t>
            </a:r>
            <a:r>
              <a:rPr sz="2800" spc="-160" dirty="0">
                <a:solidFill>
                  <a:srgbClr val="FFFFFF"/>
                </a:solidFill>
                <a:latin typeface="Trebuchet MS"/>
                <a:cs typeface="Trebuchet MS"/>
              </a:rPr>
              <a:t>attacks</a:t>
            </a:r>
            <a:r>
              <a:rPr sz="2800" spc="-215" dirty="0">
                <a:solidFill>
                  <a:srgbClr val="FFFFFF"/>
                </a:solidFill>
                <a:latin typeface="Trebuchet MS"/>
                <a:cs typeface="Trebuchet MS"/>
              </a:rPr>
              <a:t> </a:t>
            </a:r>
            <a:r>
              <a:rPr sz="2800" spc="-95" dirty="0">
                <a:solidFill>
                  <a:srgbClr val="FFFFFF"/>
                </a:solidFill>
                <a:latin typeface="Trebuchet MS"/>
                <a:cs typeface="Trebuchet MS"/>
              </a:rPr>
              <a:t>and</a:t>
            </a:r>
            <a:r>
              <a:rPr sz="2800" spc="-190" dirty="0">
                <a:solidFill>
                  <a:srgbClr val="FFFFFF"/>
                </a:solidFill>
                <a:latin typeface="Trebuchet MS"/>
                <a:cs typeface="Trebuchet MS"/>
              </a:rPr>
              <a:t> </a:t>
            </a:r>
            <a:r>
              <a:rPr sz="2800" spc="-114" dirty="0">
                <a:solidFill>
                  <a:srgbClr val="FFFFFF"/>
                </a:solidFill>
                <a:latin typeface="Trebuchet MS"/>
                <a:cs typeface="Trebuchet MS"/>
              </a:rPr>
              <a:t>helps</a:t>
            </a:r>
            <a:r>
              <a:rPr sz="2800" spc="-190" dirty="0">
                <a:solidFill>
                  <a:srgbClr val="FFFFFF"/>
                </a:solidFill>
                <a:latin typeface="Trebuchet MS"/>
                <a:cs typeface="Trebuchet MS"/>
              </a:rPr>
              <a:t> </a:t>
            </a:r>
            <a:r>
              <a:rPr sz="2800" spc="-55" dirty="0">
                <a:solidFill>
                  <a:srgbClr val="FFFFFF"/>
                </a:solidFill>
                <a:latin typeface="Trebuchet MS"/>
                <a:cs typeface="Trebuchet MS"/>
              </a:rPr>
              <a:t>us</a:t>
            </a:r>
            <a:r>
              <a:rPr sz="2800" spc="-190" dirty="0">
                <a:solidFill>
                  <a:srgbClr val="FFFFFF"/>
                </a:solidFill>
                <a:latin typeface="Trebuchet MS"/>
                <a:cs typeface="Trebuchet MS"/>
              </a:rPr>
              <a:t> </a:t>
            </a:r>
            <a:r>
              <a:rPr sz="2800" spc="-120" dirty="0">
                <a:solidFill>
                  <a:srgbClr val="FFFFFF"/>
                </a:solidFill>
                <a:latin typeface="Trebuchet MS"/>
                <a:cs typeface="Trebuchet MS"/>
              </a:rPr>
              <a:t>to</a:t>
            </a:r>
            <a:r>
              <a:rPr sz="2800" spc="-215" dirty="0">
                <a:solidFill>
                  <a:srgbClr val="FFFFFF"/>
                </a:solidFill>
                <a:latin typeface="Trebuchet MS"/>
                <a:cs typeface="Trebuchet MS"/>
              </a:rPr>
              <a:t> </a:t>
            </a:r>
            <a:r>
              <a:rPr sz="2800" spc="-130" dirty="0">
                <a:solidFill>
                  <a:srgbClr val="FFFFFF"/>
                </a:solidFill>
                <a:latin typeface="Trebuchet MS"/>
                <a:cs typeface="Trebuchet MS"/>
              </a:rPr>
              <a:t>prepare</a:t>
            </a:r>
            <a:r>
              <a:rPr sz="2800" spc="-200" dirty="0">
                <a:solidFill>
                  <a:srgbClr val="FFFFFF"/>
                </a:solidFill>
                <a:latin typeface="Trebuchet MS"/>
                <a:cs typeface="Trebuchet MS"/>
              </a:rPr>
              <a:t> </a:t>
            </a:r>
            <a:r>
              <a:rPr sz="2800" spc="-135" dirty="0">
                <a:solidFill>
                  <a:srgbClr val="FFFFFF"/>
                </a:solidFill>
                <a:latin typeface="Trebuchet MS"/>
                <a:cs typeface="Trebuchet MS"/>
              </a:rPr>
              <a:t>a</a:t>
            </a:r>
            <a:r>
              <a:rPr sz="2800" spc="-210" dirty="0">
                <a:solidFill>
                  <a:srgbClr val="FFFFFF"/>
                </a:solidFill>
                <a:latin typeface="Trebuchet MS"/>
                <a:cs typeface="Trebuchet MS"/>
              </a:rPr>
              <a:t> </a:t>
            </a:r>
            <a:r>
              <a:rPr sz="2800" spc="-120" dirty="0">
                <a:solidFill>
                  <a:srgbClr val="FFFFFF"/>
                </a:solidFill>
                <a:latin typeface="Trebuchet MS"/>
                <a:cs typeface="Trebuchet MS"/>
              </a:rPr>
              <a:t>prevention</a:t>
            </a:r>
            <a:r>
              <a:rPr sz="2800" spc="-190" dirty="0">
                <a:solidFill>
                  <a:srgbClr val="FFFFFF"/>
                </a:solidFill>
                <a:latin typeface="Trebuchet MS"/>
                <a:cs typeface="Trebuchet MS"/>
              </a:rPr>
              <a:t> </a:t>
            </a:r>
            <a:r>
              <a:rPr sz="2800" spc="-125" dirty="0">
                <a:solidFill>
                  <a:srgbClr val="FFFFFF"/>
                </a:solidFill>
                <a:latin typeface="Trebuchet MS"/>
                <a:cs typeface="Trebuchet MS"/>
              </a:rPr>
              <a:t>plan</a:t>
            </a:r>
            <a:r>
              <a:rPr sz="2800" spc="-190" dirty="0">
                <a:solidFill>
                  <a:srgbClr val="FFFFFF"/>
                </a:solidFill>
                <a:latin typeface="Trebuchet MS"/>
                <a:cs typeface="Trebuchet MS"/>
              </a:rPr>
              <a:t> </a:t>
            </a:r>
            <a:r>
              <a:rPr sz="2800" spc="-120" dirty="0">
                <a:solidFill>
                  <a:srgbClr val="FFFFFF"/>
                </a:solidFill>
                <a:latin typeface="Trebuchet MS"/>
                <a:cs typeface="Trebuchet MS"/>
              </a:rPr>
              <a:t>to</a:t>
            </a:r>
            <a:r>
              <a:rPr sz="2800" spc="-215" dirty="0">
                <a:solidFill>
                  <a:srgbClr val="FFFFFF"/>
                </a:solidFill>
                <a:latin typeface="Trebuchet MS"/>
                <a:cs typeface="Trebuchet MS"/>
              </a:rPr>
              <a:t> </a:t>
            </a:r>
            <a:r>
              <a:rPr sz="2800" spc="-125" dirty="0">
                <a:solidFill>
                  <a:srgbClr val="FFFFFF"/>
                </a:solidFill>
                <a:latin typeface="Trebuchet MS"/>
                <a:cs typeface="Trebuchet MS"/>
              </a:rPr>
              <a:t>avoid  </a:t>
            </a:r>
            <a:r>
              <a:rPr sz="2800" spc="-160" dirty="0">
                <a:solidFill>
                  <a:srgbClr val="FFFFFF"/>
                </a:solidFill>
                <a:latin typeface="Trebuchet MS"/>
                <a:cs typeface="Trebuchet MS"/>
              </a:rPr>
              <a:t>them.</a:t>
            </a:r>
            <a:endParaRPr sz="2800">
              <a:latin typeface="Trebuchet MS"/>
              <a:cs typeface="Trebuchet MS"/>
            </a:endParaRPr>
          </a:p>
          <a:p>
            <a:pPr marL="241300" indent="-229235">
              <a:lnSpc>
                <a:spcPct val="100000"/>
              </a:lnSpc>
              <a:spcBef>
                <a:spcPts val="625"/>
              </a:spcBef>
              <a:buFont typeface="Arial"/>
              <a:buChar char="•"/>
              <a:tabLst>
                <a:tab pos="241935" algn="l"/>
              </a:tabLst>
            </a:pPr>
            <a:r>
              <a:rPr sz="2800" spc="-135" dirty="0">
                <a:solidFill>
                  <a:srgbClr val="FFFFFF"/>
                </a:solidFill>
                <a:latin typeface="Trebuchet MS"/>
                <a:cs typeface="Trebuchet MS"/>
              </a:rPr>
              <a:t>Zenmap</a:t>
            </a:r>
            <a:r>
              <a:rPr sz="2800" spc="-190" dirty="0">
                <a:solidFill>
                  <a:srgbClr val="FFFFFF"/>
                </a:solidFill>
                <a:latin typeface="Trebuchet MS"/>
                <a:cs typeface="Trebuchet MS"/>
              </a:rPr>
              <a:t> </a:t>
            </a:r>
            <a:r>
              <a:rPr sz="2800" spc="-110" dirty="0">
                <a:solidFill>
                  <a:srgbClr val="FFFFFF"/>
                </a:solidFill>
                <a:latin typeface="Trebuchet MS"/>
                <a:cs typeface="Trebuchet MS"/>
              </a:rPr>
              <a:t>provides</a:t>
            </a:r>
            <a:r>
              <a:rPr sz="2800" spc="-185" dirty="0">
                <a:solidFill>
                  <a:srgbClr val="FFFFFF"/>
                </a:solidFill>
                <a:latin typeface="Trebuchet MS"/>
                <a:cs typeface="Trebuchet MS"/>
              </a:rPr>
              <a:t> </a:t>
            </a:r>
            <a:r>
              <a:rPr sz="2800" spc="-135" dirty="0">
                <a:solidFill>
                  <a:srgbClr val="FFFFFF"/>
                </a:solidFill>
                <a:latin typeface="Trebuchet MS"/>
                <a:cs typeface="Trebuchet MS"/>
              </a:rPr>
              <a:t>a</a:t>
            </a:r>
            <a:r>
              <a:rPr sz="2800" spc="-210" dirty="0">
                <a:solidFill>
                  <a:srgbClr val="FFFFFF"/>
                </a:solidFill>
                <a:latin typeface="Trebuchet MS"/>
                <a:cs typeface="Trebuchet MS"/>
              </a:rPr>
              <a:t> </a:t>
            </a:r>
            <a:r>
              <a:rPr sz="2800" spc="-125" dirty="0">
                <a:solidFill>
                  <a:srgbClr val="FFFFFF"/>
                </a:solidFill>
                <a:latin typeface="Trebuchet MS"/>
                <a:cs typeface="Trebuchet MS"/>
              </a:rPr>
              <a:t>simple</a:t>
            </a:r>
            <a:r>
              <a:rPr sz="2800" spc="-195" dirty="0">
                <a:solidFill>
                  <a:srgbClr val="FFFFFF"/>
                </a:solidFill>
                <a:latin typeface="Trebuchet MS"/>
                <a:cs typeface="Trebuchet MS"/>
              </a:rPr>
              <a:t> </a:t>
            </a:r>
            <a:r>
              <a:rPr sz="2800" spc="-95" dirty="0">
                <a:solidFill>
                  <a:srgbClr val="FFFFFF"/>
                </a:solidFill>
                <a:latin typeface="Trebuchet MS"/>
                <a:cs typeface="Trebuchet MS"/>
              </a:rPr>
              <a:t>and</a:t>
            </a:r>
            <a:r>
              <a:rPr sz="2800" spc="-204" dirty="0">
                <a:solidFill>
                  <a:srgbClr val="FFFFFF"/>
                </a:solidFill>
                <a:latin typeface="Trebuchet MS"/>
                <a:cs typeface="Trebuchet MS"/>
              </a:rPr>
              <a:t> </a:t>
            </a:r>
            <a:r>
              <a:rPr sz="2800" spc="-120" dirty="0">
                <a:solidFill>
                  <a:srgbClr val="FFFFFF"/>
                </a:solidFill>
                <a:latin typeface="Trebuchet MS"/>
                <a:cs typeface="Trebuchet MS"/>
              </a:rPr>
              <a:t>easy</a:t>
            </a:r>
            <a:r>
              <a:rPr sz="2800" spc="-210" dirty="0">
                <a:solidFill>
                  <a:srgbClr val="FFFFFF"/>
                </a:solidFill>
                <a:latin typeface="Trebuchet MS"/>
                <a:cs typeface="Trebuchet MS"/>
              </a:rPr>
              <a:t> </a:t>
            </a:r>
            <a:r>
              <a:rPr sz="2800" spc="-160" dirty="0">
                <a:solidFill>
                  <a:srgbClr val="FFFFFF"/>
                </a:solidFill>
                <a:latin typeface="Trebuchet MS"/>
                <a:cs typeface="Trebuchet MS"/>
              </a:rPr>
              <a:t>interface</a:t>
            </a:r>
            <a:r>
              <a:rPr sz="2800" spc="-200" dirty="0">
                <a:solidFill>
                  <a:srgbClr val="FFFFFF"/>
                </a:solidFill>
                <a:latin typeface="Trebuchet MS"/>
                <a:cs typeface="Trebuchet MS"/>
              </a:rPr>
              <a:t> </a:t>
            </a:r>
            <a:r>
              <a:rPr sz="2800" spc="-135" dirty="0">
                <a:solidFill>
                  <a:srgbClr val="FFFFFF"/>
                </a:solidFill>
                <a:latin typeface="Trebuchet MS"/>
                <a:cs typeface="Trebuchet MS"/>
              </a:rPr>
              <a:t>for</a:t>
            </a:r>
            <a:r>
              <a:rPr sz="2800" spc="-215" dirty="0">
                <a:solidFill>
                  <a:srgbClr val="FFFFFF"/>
                </a:solidFill>
                <a:latin typeface="Trebuchet MS"/>
                <a:cs typeface="Trebuchet MS"/>
              </a:rPr>
              <a:t> </a:t>
            </a:r>
            <a:r>
              <a:rPr sz="2800" spc="-125" dirty="0">
                <a:solidFill>
                  <a:srgbClr val="FFFFFF"/>
                </a:solidFill>
                <a:latin typeface="Trebuchet MS"/>
                <a:cs typeface="Trebuchet MS"/>
              </a:rPr>
              <a:t>novice</a:t>
            </a:r>
            <a:r>
              <a:rPr sz="2800" spc="-190" dirty="0">
                <a:solidFill>
                  <a:srgbClr val="FFFFFF"/>
                </a:solidFill>
                <a:latin typeface="Trebuchet MS"/>
                <a:cs typeface="Trebuchet MS"/>
              </a:rPr>
              <a:t> </a:t>
            </a:r>
            <a:r>
              <a:rPr sz="2800" spc="-135" dirty="0">
                <a:solidFill>
                  <a:srgbClr val="FFFFFF"/>
                </a:solidFill>
                <a:latin typeface="Trebuchet MS"/>
                <a:cs typeface="Trebuchet MS"/>
              </a:rPr>
              <a:t>users.</a:t>
            </a:r>
            <a:endParaRPr sz="2800">
              <a:latin typeface="Trebuchet MS"/>
              <a:cs typeface="Trebuchet MS"/>
            </a:endParaRPr>
          </a:p>
          <a:p>
            <a:pPr marL="241300" marR="134620" indent="-229235">
              <a:lnSpc>
                <a:spcPts val="3020"/>
              </a:lnSpc>
              <a:spcBef>
                <a:spcPts val="1050"/>
              </a:spcBef>
              <a:buFont typeface="Arial"/>
              <a:buChar char="•"/>
              <a:tabLst>
                <a:tab pos="241935" algn="l"/>
              </a:tabLst>
            </a:pPr>
            <a:r>
              <a:rPr sz="2800" spc="-135" dirty="0">
                <a:solidFill>
                  <a:srgbClr val="FFFFFF"/>
                </a:solidFill>
                <a:latin typeface="Trebuchet MS"/>
                <a:cs typeface="Trebuchet MS"/>
              </a:rPr>
              <a:t>Zenmap</a:t>
            </a:r>
            <a:r>
              <a:rPr sz="2800" spc="-195" dirty="0">
                <a:solidFill>
                  <a:srgbClr val="FFFFFF"/>
                </a:solidFill>
                <a:latin typeface="Trebuchet MS"/>
                <a:cs typeface="Trebuchet MS"/>
              </a:rPr>
              <a:t> </a:t>
            </a:r>
            <a:r>
              <a:rPr sz="2800" spc="-100" dirty="0">
                <a:solidFill>
                  <a:srgbClr val="FFFFFF"/>
                </a:solidFill>
                <a:latin typeface="Trebuchet MS"/>
                <a:cs typeface="Trebuchet MS"/>
              </a:rPr>
              <a:t>also</a:t>
            </a:r>
            <a:r>
              <a:rPr sz="2800" spc="-200" dirty="0">
                <a:solidFill>
                  <a:srgbClr val="FFFFFF"/>
                </a:solidFill>
                <a:latin typeface="Trebuchet MS"/>
                <a:cs typeface="Trebuchet MS"/>
              </a:rPr>
              <a:t> </a:t>
            </a:r>
            <a:r>
              <a:rPr sz="2800" spc="-110" dirty="0">
                <a:solidFill>
                  <a:srgbClr val="FFFFFF"/>
                </a:solidFill>
                <a:latin typeface="Trebuchet MS"/>
                <a:cs typeface="Trebuchet MS"/>
              </a:rPr>
              <a:t>provides</a:t>
            </a:r>
            <a:r>
              <a:rPr sz="2800" spc="-180" dirty="0">
                <a:solidFill>
                  <a:srgbClr val="FFFFFF"/>
                </a:solidFill>
                <a:latin typeface="Trebuchet MS"/>
                <a:cs typeface="Trebuchet MS"/>
              </a:rPr>
              <a:t> </a:t>
            </a:r>
            <a:r>
              <a:rPr sz="2800" spc="-150" dirty="0">
                <a:solidFill>
                  <a:srgbClr val="FFFFFF"/>
                </a:solidFill>
                <a:latin typeface="Trebuchet MS"/>
                <a:cs typeface="Trebuchet MS"/>
              </a:rPr>
              <a:t>interfaces</a:t>
            </a:r>
            <a:r>
              <a:rPr sz="2800" spc="-204" dirty="0">
                <a:solidFill>
                  <a:srgbClr val="FFFFFF"/>
                </a:solidFill>
                <a:latin typeface="Trebuchet MS"/>
                <a:cs typeface="Trebuchet MS"/>
              </a:rPr>
              <a:t> </a:t>
            </a:r>
            <a:r>
              <a:rPr sz="2800" spc="-130" dirty="0">
                <a:solidFill>
                  <a:srgbClr val="FFFFFF"/>
                </a:solidFill>
                <a:latin typeface="Trebuchet MS"/>
                <a:cs typeface="Trebuchet MS"/>
              </a:rPr>
              <a:t>for</a:t>
            </a:r>
            <a:r>
              <a:rPr sz="2800" spc="-204" dirty="0">
                <a:solidFill>
                  <a:srgbClr val="FFFFFF"/>
                </a:solidFill>
                <a:latin typeface="Trebuchet MS"/>
                <a:cs typeface="Trebuchet MS"/>
              </a:rPr>
              <a:t> </a:t>
            </a:r>
            <a:r>
              <a:rPr sz="2800" spc="-120" dirty="0">
                <a:solidFill>
                  <a:srgbClr val="FFFFFF"/>
                </a:solidFill>
                <a:latin typeface="Trebuchet MS"/>
                <a:cs typeface="Trebuchet MS"/>
              </a:rPr>
              <a:t>viewing</a:t>
            </a:r>
            <a:r>
              <a:rPr sz="2800" spc="-210" dirty="0">
                <a:solidFill>
                  <a:srgbClr val="FFFFFF"/>
                </a:solidFill>
                <a:latin typeface="Trebuchet MS"/>
                <a:cs typeface="Trebuchet MS"/>
              </a:rPr>
              <a:t> </a:t>
            </a:r>
            <a:r>
              <a:rPr sz="2800" spc="-140" dirty="0">
                <a:solidFill>
                  <a:srgbClr val="FFFFFF"/>
                </a:solidFill>
                <a:latin typeface="Trebuchet MS"/>
                <a:cs typeface="Trebuchet MS"/>
              </a:rPr>
              <a:t>multiple</a:t>
            </a:r>
            <a:r>
              <a:rPr sz="2800" spc="-175" dirty="0">
                <a:solidFill>
                  <a:srgbClr val="FFFFFF"/>
                </a:solidFill>
                <a:latin typeface="Trebuchet MS"/>
                <a:cs typeface="Trebuchet MS"/>
              </a:rPr>
              <a:t> </a:t>
            </a:r>
            <a:r>
              <a:rPr sz="2800" spc="-120" dirty="0">
                <a:solidFill>
                  <a:srgbClr val="FFFFFF"/>
                </a:solidFill>
                <a:latin typeface="Trebuchet MS"/>
                <a:cs typeface="Trebuchet MS"/>
              </a:rPr>
              <a:t>scan</a:t>
            </a:r>
            <a:r>
              <a:rPr sz="2800" spc="-195" dirty="0">
                <a:solidFill>
                  <a:srgbClr val="FFFFFF"/>
                </a:solidFill>
                <a:latin typeface="Trebuchet MS"/>
                <a:cs typeface="Trebuchet MS"/>
              </a:rPr>
              <a:t> </a:t>
            </a:r>
            <a:r>
              <a:rPr sz="2800" spc="-114" dirty="0">
                <a:solidFill>
                  <a:srgbClr val="FFFFFF"/>
                </a:solidFill>
                <a:latin typeface="Trebuchet MS"/>
                <a:cs typeface="Trebuchet MS"/>
              </a:rPr>
              <a:t>results</a:t>
            </a:r>
            <a:r>
              <a:rPr sz="2800" spc="-170" dirty="0">
                <a:solidFill>
                  <a:srgbClr val="FFFFFF"/>
                </a:solidFill>
                <a:latin typeface="Trebuchet MS"/>
                <a:cs typeface="Trebuchet MS"/>
              </a:rPr>
              <a:t> </a:t>
            </a:r>
            <a:r>
              <a:rPr sz="2800" spc="-165" dirty="0">
                <a:solidFill>
                  <a:srgbClr val="FFFFFF"/>
                </a:solidFill>
                <a:latin typeface="Trebuchet MS"/>
                <a:cs typeface="Trebuchet MS"/>
              </a:rPr>
              <a:t>at  </a:t>
            </a:r>
            <a:r>
              <a:rPr sz="2800" spc="-160" dirty="0">
                <a:solidFill>
                  <a:srgbClr val="FFFFFF"/>
                </a:solidFill>
                <a:latin typeface="Trebuchet MS"/>
                <a:cs typeface="Trebuchet MS"/>
              </a:rPr>
              <a:t>once.</a:t>
            </a:r>
            <a:endParaRPr sz="2800">
              <a:latin typeface="Trebuchet MS"/>
              <a:cs typeface="Trebuchet M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0204" y="2658567"/>
            <a:ext cx="4634230" cy="1366520"/>
          </a:xfrm>
          <a:prstGeom prst="rect">
            <a:avLst/>
          </a:prstGeom>
        </p:spPr>
        <p:txBody>
          <a:bodyPr vert="horz" wrap="square" lIns="0" tIns="12065" rIns="0" bIns="0" rtlCol="0">
            <a:spAutoFit/>
          </a:bodyPr>
          <a:lstStyle/>
          <a:p>
            <a:pPr marL="12700">
              <a:lnSpc>
                <a:spcPct val="100000"/>
              </a:lnSpc>
              <a:spcBef>
                <a:spcPts val="95"/>
              </a:spcBef>
            </a:pPr>
            <a:r>
              <a:rPr spc="-484" dirty="0"/>
              <a:t>Thank</a:t>
            </a:r>
            <a:r>
              <a:rPr spc="-750" dirty="0"/>
              <a:t> </a:t>
            </a:r>
            <a:r>
              <a:rPr spc="-32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309</TotalTime>
  <Words>974</Words>
  <Application>Microsoft Office PowerPoint</Application>
  <PresentationFormat>Widescreen</PresentationFormat>
  <Paragraphs>163</Paragraphs>
  <Slides>31</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Trebuchet MS</vt:lpstr>
      <vt:lpstr>Office Theme</vt:lpstr>
      <vt:lpstr>Zenmap</vt:lpstr>
      <vt:lpstr>Agenda</vt:lpstr>
      <vt:lpstr>History:   An Nmap GUI created during the Google-sponsored Nmap Summer of Code in 2005 and 2006. The primary author of Umit was Adriano Monteiro Marques. When Umit was modified and integrated into Nmap in 2007, it was renamed Zenmap.    </vt:lpstr>
      <vt:lpstr>Introduction</vt:lpstr>
      <vt:lpstr>The Purpose of a Graphical Frontend for Nmap  </vt:lpstr>
      <vt:lpstr>Feature over Nmap</vt:lpstr>
      <vt:lpstr>Features over Nmap</vt:lpstr>
      <vt:lpstr>SCANNING</vt:lpstr>
      <vt:lpstr>Network Inventory:</vt:lpstr>
      <vt:lpstr>Interpreting Scan Results </vt:lpstr>
      <vt:lpstr>The “Ports / Hosts” tab </vt:lpstr>
      <vt:lpstr>The “Topology” tab </vt:lpstr>
      <vt:lpstr>The “Host Details” tab </vt:lpstr>
      <vt:lpstr>The “Scans” tab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Screenshot  Interface</vt:lpstr>
      <vt:lpstr>Screenshots  Results</vt:lpstr>
      <vt:lpstr>Screenshots  Results</vt:lpstr>
      <vt:lpstr>Screenshots  Results</vt:lpstr>
      <vt:lpstr>Screenshots  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Zenmap Sreekanth N</dc:title>
  <dc:creator>pradeepkumar bhale</dc:creator>
  <cp:lastModifiedBy>Bhale</cp:lastModifiedBy>
  <cp:revision>27</cp:revision>
  <dcterms:created xsi:type="dcterms:W3CDTF">2019-12-11T10:39:17Z</dcterms:created>
  <dcterms:modified xsi:type="dcterms:W3CDTF">2025-09-16T17:06:09Z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2019-05-16T00:00:00Z</vt:filetime>
  </property>
  <property fmtid="{D5CDD505-2E9C-101B-9397-08002B2CF9AE}" pid="3" name="Creator">
    <vt:lpwstr>Microsoft® PowerPoint® 2013</vt:lpwstr>
  </property>
  <property fmtid="{D5CDD505-2E9C-101B-9397-08002B2CF9AE}" pid="4" name="LastSaved">
    <vt:filetime>2019-12-11T00:00:00Z</vt:filetime>
  </property>
</Properties>
</file>