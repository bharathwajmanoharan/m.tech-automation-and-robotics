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3" r:id="rId1"/>
    <p:sldMasterId id="2147483724" r:id="rId2"/>
    <p:sldMasterId id="2147483750" r:id="rId3"/>
  </p:sldMasterIdLst>
  <p:notesMasterIdLst>
    <p:notesMasterId r:id="rId102"/>
  </p:notesMasterIdLst>
  <p:sldIdLst>
    <p:sldId id="256" r:id="rId4"/>
    <p:sldId id="387" r:id="rId5"/>
    <p:sldId id="601" r:id="rId6"/>
    <p:sldId id="604" r:id="rId7"/>
    <p:sldId id="603" r:id="rId8"/>
    <p:sldId id="617" r:id="rId9"/>
    <p:sldId id="618" r:id="rId10"/>
    <p:sldId id="619" r:id="rId11"/>
    <p:sldId id="620" r:id="rId12"/>
    <p:sldId id="638" r:id="rId13"/>
    <p:sldId id="621" r:id="rId14"/>
    <p:sldId id="622" r:id="rId15"/>
    <p:sldId id="624" r:id="rId16"/>
    <p:sldId id="623" r:id="rId17"/>
    <p:sldId id="629" r:id="rId18"/>
    <p:sldId id="630" r:id="rId19"/>
    <p:sldId id="631" r:id="rId20"/>
    <p:sldId id="651" r:id="rId21"/>
    <p:sldId id="633" r:id="rId22"/>
    <p:sldId id="639" r:id="rId23"/>
    <p:sldId id="634" r:id="rId24"/>
    <p:sldId id="643" r:id="rId25"/>
    <p:sldId id="642" r:id="rId26"/>
    <p:sldId id="635" r:id="rId27"/>
    <p:sldId id="648" r:id="rId28"/>
    <p:sldId id="641" r:id="rId29"/>
    <p:sldId id="640" r:id="rId30"/>
    <p:sldId id="644" r:id="rId31"/>
    <p:sldId id="645" r:id="rId32"/>
    <p:sldId id="646" r:id="rId33"/>
    <p:sldId id="647" r:id="rId34"/>
    <p:sldId id="637" r:id="rId35"/>
    <p:sldId id="628" r:id="rId36"/>
    <p:sldId id="625" r:id="rId37"/>
    <p:sldId id="626" r:id="rId38"/>
    <p:sldId id="627" r:id="rId39"/>
    <p:sldId id="653" r:id="rId40"/>
    <p:sldId id="654" r:id="rId41"/>
    <p:sldId id="657" r:id="rId42"/>
    <p:sldId id="655" r:id="rId43"/>
    <p:sldId id="656" r:id="rId44"/>
    <p:sldId id="658" r:id="rId45"/>
    <p:sldId id="660" r:id="rId46"/>
    <p:sldId id="661" r:id="rId47"/>
    <p:sldId id="662" r:id="rId48"/>
    <p:sldId id="663" r:id="rId49"/>
    <p:sldId id="664" r:id="rId50"/>
    <p:sldId id="665" r:id="rId51"/>
    <p:sldId id="666" r:id="rId52"/>
    <p:sldId id="667" r:id="rId53"/>
    <p:sldId id="668" r:id="rId54"/>
    <p:sldId id="669" r:id="rId55"/>
    <p:sldId id="670" r:id="rId56"/>
    <p:sldId id="762" r:id="rId57"/>
    <p:sldId id="701" r:id="rId58"/>
    <p:sldId id="702" r:id="rId59"/>
    <p:sldId id="703" r:id="rId60"/>
    <p:sldId id="704" r:id="rId61"/>
    <p:sldId id="705" r:id="rId62"/>
    <p:sldId id="706" r:id="rId63"/>
    <p:sldId id="707" r:id="rId64"/>
    <p:sldId id="708" r:id="rId65"/>
    <p:sldId id="709" r:id="rId66"/>
    <p:sldId id="710" r:id="rId67"/>
    <p:sldId id="711" r:id="rId68"/>
    <p:sldId id="712" r:id="rId69"/>
    <p:sldId id="713" r:id="rId70"/>
    <p:sldId id="714" r:id="rId71"/>
    <p:sldId id="715" r:id="rId72"/>
    <p:sldId id="716" r:id="rId73"/>
    <p:sldId id="717" r:id="rId74"/>
    <p:sldId id="718" r:id="rId75"/>
    <p:sldId id="719" r:id="rId76"/>
    <p:sldId id="720" r:id="rId77"/>
    <p:sldId id="721" r:id="rId78"/>
    <p:sldId id="722" r:id="rId79"/>
    <p:sldId id="723" r:id="rId80"/>
    <p:sldId id="724" r:id="rId81"/>
    <p:sldId id="725" r:id="rId82"/>
    <p:sldId id="726" r:id="rId83"/>
    <p:sldId id="763" r:id="rId84"/>
    <p:sldId id="727" r:id="rId85"/>
    <p:sldId id="728" r:id="rId86"/>
    <p:sldId id="729" r:id="rId87"/>
    <p:sldId id="730" r:id="rId88"/>
    <p:sldId id="731" r:id="rId89"/>
    <p:sldId id="732" r:id="rId90"/>
    <p:sldId id="733" r:id="rId91"/>
    <p:sldId id="734" r:id="rId92"/>
    <p:sldId id="735" r:id="rId93"/>
    <p:sldId id="736" r:id="rId94"/>
    <p:sldId id="737" r:id="rId95"/>
    <p:sldId id="738" r:id="rId96"/>
    <p:sldId id="739" r:id="rId97"/>
    <p:sldId id="740" r:id="rId98"/>
    <p:sldId id="741" r:id="rId99"/>
    <p:sldId id="760" r:id="rId100"/>
    <p:sldId id="761" r:id="rId10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B015"/>
    <a:srgbClr val="FFFFFF"/>
    <a:srgbClr val="D2BCC6"/>
    <a:srgbClr val="E6E2E0"/>
    <a:srgbClr val="F1F2D4"/>
    <a:srgbClr val="EDEFD7"/>
    <a:srgbClr val="F5E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2F2BF-D145-20F5-72F0-CABCA1B6E923}" v="3" dt="2023-06-18T12:08:51.816"/>
    <p1510:client id="{051B472E-D5ED-A3C5-3B6D-85D5F06F062B}" v="170" dt="2023-06-16T12:13:56.335"/>
    <p1510:client id="{082DDCF2-B2B7-AE51-B240-A423323CE964}" v="345" dt="2023-06-19T20:04:15.999"/>
    <p1510:client id="{122BD1C0-6479-1F48-BEAE-17FB0B602984}" v="368" dt="2023-06-18T10:50:08.645"/>
    <p1510:client id="{157A1B55-449F-E862-0033-3297B763A2C7}" v="2" dt="2023-06-30T18:44:07.760"/>
    <p1510:client id="{27D795BC-3095-6938-BA8E-E1AE03FB44BE}" v="57" dt="2022-12-12T19:10:29.121"/>
    <p1510:client id="{2D335AF3-3568-059C-12D6-CEBE47720FD5}" v="188" dt="2023-06-20T11:23:33.299"/>
    <p1510:client id="{2F2BF3F8-EC9D-1570-B2C8-238FE5B3E35B}" v="1" dt="2023-06-15T09:16:23.841"/>
    <p1510:client id="{354A8E03-47C0-D873-5C74-DD604464F0DB}" v="58" dt="2023-06-20T05:49:55.899"/>
    <p1510:client id="{392BDF6E-C188-C5F8-E1AD-6669064893DF}" v="398" dt="2022-12-08T07:58:57.157"/>
    <p1510:client id="{3B18DF83-5C56-177E-6FD1-AECE2BB35CF5}" v="54" dt="2023-06-30T14:02:48.837"/>
    <p1510:client id="{484C0C36-4462-3FA2-C162-2FA8EFF692BA}" v="358" dt="2022-12-12T08:50:35.945"/>
    <p1510:client id="{4957A541-6B07-296C-1418-D04D65E17C21}" v="112" dt="2023-06-20T07:33:38.782"/>
    <p1510:client id="{49A90D35-9F90-5D9C-0510-0E1B15D714FF}" v="2" dt="2022-12-10T07:07:55.031"/>
    <p1510:client id="{4BD85F14-D659-2244-B0A2-8EAC77DD7ADE}" v="145" dt="2023-06-24T12:33:52.174"/>
    <p1510:client id="{4C5156AC-D295-8582-CF01-8CFF6CF648FB}" v="99" dt="2023-06-16T11:22:04.370"/>
    <p1510:client id="{4C67AFAD-97ED-BB40-ACA6-53FDCF0AE2EE}" v="4" dt="2022-12-11T07:54:43.070"/>
    <p1510:client id="{5EBB4A00-7C47-8FCF-1735-FB0E94F21B2C}" v="20" dt="2023-06-17T06:13:56.243"/>
    <p1510:client id="{62DBB174-1CED-2520-A62E-52053C5B1F5F}" v="248" dt="2023-06-24T09:19:25.628"/>
    <p1510:client id="{69931C9D-4A3B-34DC-087C-4964246E8F1B}" v="9" dt="2022-12-11T11:09:59.417"/>
    <p1510:client id="{6FCFC0C9-B2D8-E43E-8C98-D67B0ADF75C4}" v="421" dt="2023-06-15T09:37:17.402"/>
    <p1510:client id="{71333256-D275-83D7-4EF4-C4E69EF6F42B}" v="285" dt="2023-06-26T11:05:48.733"/>
    <p1510:client id="{8126A007-22B1-4844-9326-69391077FC2C}" v="26" dt="2022-12-07T06:24:07.614"/>
    <p1510:client id="{8A426832-08E5-A241-5CE4-205AF1B2C8D1}" v="92" dt="2022-06-08T17:13:38.952"/>
    <p1510:client id="{8E360737-5775-DA96-F1B8-B165B9966B29}" v="97" dt="2023-06-22T07:32:14.531"/>
    <p1510:client id="{98F8A594-41A4-84E3-2B76-58D5704F00EA}" v="2605" dt="2023-06-28T06:15:24.677"/>
    <p1510:client id="{9F6D1AC2-6094-B293-7E9C-189C02E55078}" v="317" dt="2023-06-28T12:24:17.040"/>
    <p1510:client id="{A84E67A7-3DBD-9CBF-6164-498EA403A530}" v="1363" dt="2022-12-12T13:02:08.237"/>
    <p1510:client id="{A991854E-255F-C998-1FD7-7ADCA0269A99}" v="1854" dt="2023-06-30T10:50:32.627"/>
    <p1510:client id="{B834C0E6-1D5F-8C7A-1C74-7EA598CB1B7F}" v="181" dt="2022-06-08T18:07:08.866"/>
    <p1510:client id="{BB0FE33F-1F03-D430-0E89-6495D9A9202B}" v="595" dt="2023-07-22T10:15:49.194"/>
    <p1510:client id="{C35F2A7B-FAA2-4ABF-8046-46DD4588E73D}" v="617" dt="2023-06-22T07:25:12.707"/>
    <p1510:client id="{C51F4CDD-DA6E-C5E5-8F6F-C8B30DA76EA4}" v="104" dt="2022-12-11T11:05:39.874"/>
    <p1510:client id="{CBA63068-A734-C9E4-D5CB-F5AF1C3266C1}" v="2" dt="2023-07-22T04:13:42.081"/>
    <p1510:client id="{CD543F1F-5EC1-61DF-7CC6-7BD2B220B4EB}" v="101" dt="2023-06-16T10:09:46.831"/>
    <p1510:client id="{DD501D11-C1A5-2141-9F0E-2F146C3D569A}" v="500" dt="2023-06-23T08:59:23.948"/>
    <p1510:client id="{DD7D4955-730F-B93E-165C-C954E9311D5B}" v="36" dt="2022-12-11T15:03:13.526"/>
    <p1510:client id="{EC77248A-A92B-A5DE-4BD5-112977B1148C}" v="221" dt="2023-06-17T12:01:09.346"/>
    <p1510:client id="{EE3AAA02-0B26-7041-4BFB-233D03C04026}" v="153" dt="2023-06-07T14:22:23.828"/>
    <p1510:client id="{F2DE13DE-2EAF-241C-83A5-E117BCECC25A}" v="356" dt="2022-12-07T08:36:34.078"/>
    <p1510:client id="{F37791D7-18CE-B83C-E44E-094DFA3E7DC9}" v="168" dt="2023-07-22T04:25:19.852"/>
    <p1510:client id="{F452471D-B4D1-302E-6E64-EC76FE08F7AC}" v="947" dt="2022-12-10T12:03:15.470"/>
    <p1510:client id="{F694EC24-1298-E73A-23E0-EE89BA07CE23}" v="7" dt="2022-12-10T07:04:18.296"/>
    <p1510:client id="{F8AB8431-EFE0-2B6A-6D8C-25D6FA3AB72D}" v="579" dt="2023-06-17T10:48:33.061"/>
    <p1510:client id="{FA16075C-D845-FCAE-BC79-3CE0F021D1AD}" v="137" dt="2023-07-22T13:42:12.371"/>
    <p1510:client id="{FD62D603-FBF8-C1FB-A2E4-E5785287F676}" v="55" dt="2023-06-28T12:47:44.502"/>
    <p1510:client id="{FFBE8D04-FA8D-21C4-6F01-9C019D08DA2A}" v="9" dt="2022-12-11T11:07:47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6" autoAdjust="0"/>
    <p:restoredTop sz="94660"/>
  </p:normalViewPr>
  <p:slideViewPr>
    <p:cSldViewPr snapToGrid="0">
      <p:cViewPr varScale="1">
        <p:scale>
          <a:sx n="98" d="100"/>
          <a:sy n="98" d="100"/>
        </p:scale>
        <p:origin x="39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57" Type="http://schemas.microsoft.com/office/2015/10/relationships/revisionInfo" Target="revisionInfo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52DB2-A0FF-4EE0-BD01-53E8B7D2A50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AFCC6-7319-4762-B865-E0E512920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Gud</a:t>
            </a:r>
            <a:r>
              <a:rPr lang="en-US" dirty="0"/>
              <a:t> evening one and all, today I am presenting my annual progress seminar</a:t>
            </a:r>
            <a:r>
              <a:rPr lang="en-US" baseline="0" dirty="0"/>
              <a:t>, under the supervision of Prof Sukumar Nandi and dr. Santosh Biswas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2AFCC6-7319-4762-B865-E0E512920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0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1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6171028" y="6625886"/>
            <a:ext cx="6020972" cy="205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entagon 17"/>
          <p:cNvSpPr/>
          <p:nvPr userDrawn="1"/>
        </p:nvSpPr>
        <p:spPr>
          <a:xfrm>
            <a:off x="0" y="6427078"/>
            <a:ext cx="6879098" cy="404794"/>
          </a:xfrm>
          <a:prstGeom prst="homePlate">
            <a:avLst>
              <a:gd name="adj" fmla="val 50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entagon 13"/>
          <p:cNvSpPr/>
          <p:nvPr userDrawn="1"/>
        </p:nvSpPr>
        <p:spPr>
          <a:xfrm>
            <a:off x="0" y="6483350"/>
            <a:ext cx="6850966" cy="404794"/>
          </a:xfrm>
          <a:prstGeom prst="homePlate">
            <a:avLst>
              <a:gd name="adj" fmla="val 5063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6171028" y="6682154"/>
            <a:ext cx="6020972" cy="20599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75" y="6477219"/>
            <a:ext cx="5393798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j-lt"/>
                <a:cs typeface="Microsoft Uighur" panose="02000000000000000000" pitchFamily="2" charset="-78"/>
              </a:defRPr>
            </a:lvl1pPr>
          </a:lstStyle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3745" y="6682154"/>
            <a:ext cx="1028700" cy="1803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AFB949-428C-4290-8A69-E88B5757503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7" y="6507732"/>
            <a:ext cx="300930" cy="30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454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86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93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49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59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65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51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32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332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321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54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77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752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54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8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915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302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46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274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4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741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143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614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280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327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461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9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516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532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967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627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053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25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433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031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323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629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287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526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77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016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9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IN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0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FB949-428C-4290-8A69-E88B57575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2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3" r:id="rId12"/>
    <p:sldLayoutId id="2147483682" r:id="rId13"/>
    <p:sldLayoutId id="2147483681" r:id="rId14"/>
    <p:sldLayoutId id="2147483680" r:id="rId15"/>
    <p:sldLayoutId id="2147483679" r:id="rId16"/>
    <p:sldLayoutId id="2147483678" r:id="rId17"/>
    <p:sldLayoutId id="2147483715" r:id="rId18"/>
    <p:sldLayoutId id="2147483714" r:id="rId19"/>
    <p:sldLayoutId id="2147483713" r:id="rId20"/>
    <p:sldLayoutId id="2147483712" r:id="rId21"/>
    <p:sldLayoutId id="2147483711" r:id="rId22"/>
    <p:sldLayoutId id="214748373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360B3-FEFD-4740-A53B-3947826AA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4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wmf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5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svg"/><Relationship Id="rId5" Type="http://schemas.openxmlformats.org/officeDocument/2006/relationships/image" Target="../media/image51.png"/><Relationship Id="rId4" Type="http://schemas.openxmlformats.org/officeDocument/2006/relationships/image" Target="../media/image31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5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1.png"/><Relationship Id="rId5" Type="http://schemas.openxmlformats.org/officeDocument/2006/relationships/image" Target="../media/image31.wmf"/><Relationship Id="rId4" Type="http://schemas.openxmlformats.org/officeDocument/2006/relationships/image" Target="../media/image3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www.indusface.com/resources/research-reports/the-state-of-application-security-q1-2023/?utm_source=gbhackers-sponsored-article&amp;utm_medium=referral&amp;utm_campaign=gbhackers-insurance-sector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6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1.png"/><Relationship Id="rId4" Type="http://schemas.openxmlformats.org/officeDocument/2006/relationships/image" Target="../media/image8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1.png"/><Relationship Id="rId4" Type="http://schemas.openxmlformats.org/officeDocument/2006/relationships/image" Target="../media/image5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5.svg"/><Relationship Id="rId7" Type="http://schemas.openxmlformats.org/officeDocument/2006/relationships/image" Target="../media/image8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5.svg"/><Relationship Id="rId7" Type="http://schemas.openxmlformats.org/officeDocument/2006/relationships/image" Target="../media/image9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Line 3"/>
          <p:cNvSpPr/>
          <p:nvPr/>
        </p:nvSpPr>
        <p:spPr>
          <a:xfrm>
            <a:off x="233929" y="1826245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4"/>
          <p:cNvSpPr/>
          <p:nvPr/>
        </p:nvSpPr>
        <p:spPr>
          <a:xfrm>
            <a:off x="233929" y="915979"/>
            <a:ext cx="11741914" cy="7945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/>
            <a:r>
              <a:rPr lang="en-US" sz="3000" b="1" spc="-1" dirty="0" smtClean="0">
                <a:solidFill>
                  <a:srgbClr val="C00000"/>
                </a:solidFill>
                <a:latin typeface="Times New Roman"/>
                <a:ea typeface="+mn-lt"/>
                <a:cs typeface="+mn-lt"/>
              </a:rPr>
              <a:t>Generative AI and Cybersecurity @ SRMIST Kattankulathur, Chennai</a:t>
            </a:r>
            <a:endParaRPr lang="en-US" b="1" dirty="0">
              <a:solidFill>
                <a:srgbClr val="C00000"/>
              </a:solidFill>
              <a:latin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4" y="540102"/>
            <a:ext cx="11741914" cy="12193"/>
          </a:xfrm>
          <a:prstGeom prst="rect">
            <a:avLst/>
          </a:prstGeom>
        </p:spPr>
      </p:pic>
      <p:sp>
        <p:nvSpPr>
          <p:cNvPr id="7" name="CustomShape 6">
            <a:extLst>
              <a:ext uri="{FF2B5EF4-FFF2-40B4-BE49-F238E27FC236}">
                <a16:creationId xmlns:a16="http://schemas.microsoft.com/office/drawing/2014/main" id="{9FD8390A-5A5B-4BCF-A2E5-DC94F026DCFB}"/>
              </a:ext>
            </a:extLst>
          </p:cNvPr>
          <p:cNvSpPr/>
          <p:nvPr/>
        </p:nvSpPr>
        <p:spPr>
          <a:xfrm>
            <a:off x="3749783" y="4342429"/>
            <a:ext cx="4861367" cy="9925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algn="ctr">
              <a:lnSpc>
                <a:spcPct val="100000"/>
              </a:lnSpc>
            </a:pPr>
            <a:r>
              <a:rPr lang="en-IN" sz="2400" b="1" strike="noStrike" spc="-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400" b="1" strike="noStrike" spc="-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Bhale </a:t>
            </a:r>
            <a:r>
              <a:rPr lang="en-IN" sz="2400" b="1" strike="noStrike" spc="-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Pradeepkumar</a:t>
            </a:r>
            <a:r>
              <a:rPr lang="en-IN" sz="2400" b="1" strike="noStrike" spc="-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Gajendra </a:t>
            </a:r>
            <a:endParaRPr lang="en-IN" sz="2400" b="1" strike="noStrike" spc="-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2613" y="4954812"/>
            <a:ext cx="9935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Information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Technology, Design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Manufacturing,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Kancheepuram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496" y="2315344"/>
            <a:ext cx="1829943" cy="1824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53941" y="191292"/>
            <a:ext cx="4986841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Qualification</a:t>
            </a:r>
            <a:endParaRPr lang="en-IN" sz="3200" b="1" strike="noStrike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775561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45897" y="1080972"/>
            <a:ext cx="101278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PhD in Computer Science and </a:t>
            </a:r>
            <a:r>
              <a:rPr lang="en-US" sz="2000" b="1" dirty="0" smtClean="0"/>
              <a:t>Engineering (CSE)  </a:t>
            </a:r>
            <a:endParaRPr lang="en-US" sz="2000" b="1" dirty="0">
              <a:solidFill>
                <a:srgbClr val="00B050"/>
              </a:solidFill>
            </a:endParaRPr>
          </a:p>
          <a:p>
            <a:r>
              <a:rPr lang="en-US" dirty="0" smtClean="0">
                <a:solidFill>
                  <a:srgbClr val="00B0F0"/>
                </a:solidFill>
              </a:rPr>
              <a:t>     </a:t>
            </a:r>
            <a:r>
              <a:rPr lang="en-US" sz="2000" dirty="0" smtClean="0">
                <a:solidFill>
                  <a:srgbClr val="00B0F0"/>
                </a:solidFill>
              </a:rPr>
              <a:t>Indian </a:t>
            </a:r>
            <a:r>
              <a:rPr lang="en-US" sz="2000" dirty="0">
                <a:solidFill>
                  <a:srgbClr val="00B0F0"/>
                </a:solidFill>
              </a:rPr>
              <a:t>Institute of Technology </a:t>
            </a:r>
            <a:r>
              <a:rPr lang="en-US" sz="2000" dirty="0" smtClean="0">
                <a:solidFill>
                  <a:srgbClr val="00B0F0"/>
                </a:solidFill>
              </a:rPr>
              <a:t>Guwahati, Assam India   (July </a:t>
            </a:r>
            <a:r>
              <a:rPr lang="en-US" sz="2000" dirty="0">
                <a:solidFill>
                  <a:srgbClr val="00B0F0"/>
                </a:solidFill>
              </a:rPr>
              <a:t>2016 - </a:t>
            </a:r>
            <a:r>
              <a:rPr lang="en-US" sz="2000" dirty="0" smtClean="0">
                <a:solidFill>
                  <a:srgbClr val="00B0F0"/>
                </a:solidFill>
              </a:rPr>
              <a:t>April 2024)</a:t>
            </a:r>
          </a:p>
          <a:p>
            <a:r>
              <a:rPr lang="en-US" dirty="0" smtClean="0"/>
              <a:t>     </a:t>
            </a:r>
            <a:r>
              <a:rPr lang="en-US" dirty="0">
                <a:solidFill>
                  <a:srgbClr val="C00000"/>
                </a:solidFill>
              </a:rPr>
              <a:t>Advisors: </a:t>
            </a:r>
            <a:r>
              <a:rPr lang="en-US" dirty="0"/>
              <a:t>Prof. Sukumar Nandi (IIT Guwahati) </a:t>
            </a:r>
            <a:r>
              <a:rPr lang="en-US" dirty="0" smtClean="0"/>
              <a:t>and Prof</a:t>
            </a:r>
            <a:r>
              <a:rPr lang="en-US" dirty="0"/>
              <a:t>. Santosh Biswas (IIT Bhilai)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897" y="2166267"/>
            <a:ext cx="10127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/>
              <a:t>M.Tech </a:t>
            </a:r>
            <a:r>
              <a:rPr lang="en-US" sz="2000" b="1" dirty="0"/>
              <a:t>in </a:t>
            </a:r>
            <a:r>
              <a:rPr lang="en-US" sz="2000" b="1" dirty="0" smtClean="0"/>
              <a:t>CSE (Specialization: Information Security) </a:t>
            </a:r>
            <a:endParaRPr lang="en-US" sz="2000" b="1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   </a:t>
            </a:r>
            <a:r>
              <a:rPr lang="en-US" dirty="0" smtClean="0">
                <a:solidFill>
                  <a:srgbClr val="FF0000"/>
                </a:solidFill>
              </a:rPr>
              <a:t>ABV-Indian </a:t>
            </a:r>
            <a:r>
              <a:rPr lang="en-US" dirty="0">
                <a:solidFill>
                  <a:srgbClr val="FF0000"/>
                </a:solidFill>
              </a:rPr>
              <a:t>Institute of Information Technology and Management, Gwalior   </a:t>
            </a:r>
            <a:r>
              <a:rPr lang="en-US" dirty="0" smtClean="0">
                <a:solidFill>
                  <a:srgbClr val="FF0000"/>
                </a:solidFill>
              </a:rPr>
              <a:t>(2012 </a:t>
            </a:r>
            <a:r>
              <a:rPr lang="en-US" dirty="0">
                <a:solidFill>
                  <a:srgbClr val="FF0000"/>
                </a:solidFill>
              </a:rPr>
              <a:t>- </a:t>
            </a:r>
            <a:r>
              <a:rPr lang="en-US" dirty="0" smtClean="0">
                <a:solidFill>
                  <a:srgbClr val="FF0000"/>
                </a:solidFill>
              </a:rPr>
              <a:t>2014)</a:t>
            </a:r>
          </a:p>
          <a:p>
            <a:r>
              <a:rPr lang="en-US" dirty="0" smtClean="0"/>
              <a:t>     </a:t>
            </a:r>
            <a:r>
              <a:rPr lang="en-US" dirty="0">
                <a:solidFill>
                  <a:srgbClr val="C00000"/>
                </a:solidFill>
              </a:rPr>
              <a:t>Advisors: </a:t>
            </a:r>
            <a:r>
              <a:rPr lang="en-US" dirty="0"/>
              <a:t>Prof. Shashikala Tapaswi              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897" y="3264206"/>
            <a:ext cx="10127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/>
              <a:t>BE </a:t>
            </a:r>
            <a:r>
              <a:rPr lang="en-US" sz="2000" b="1" dirty="0"/>
              <a:t>in </a:t>
            </a:r>
            <a:r>
              <a:rPr lang="en-US" sz="2000" b="1" dirty="0" smtClean="0"/>
              <a:t>CSE </a:t>
            </a:r>
            <a:endParaRPr lang="en-US" sz="2000" b="1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     Government College of Engineering, </a:t>
            </a:r>
            <a:r>
              <a:rPr lang="en-US" dirty="0" smtClean="0">
                <a:solidFill>
                  <a:srgbClr val="7030A0"/>
                </a:solidFill>
              </a:rPr>
              <a:t>Aurangabad,  Maharashtra   (2006 </a:t>
            </a:r>
            <a:r>
              <a:rPr lang="en-US" dirty="0">
                <a:solidFill>
                  <a:srgbClr val="7030A0"/>
                </a:solidFill>
              </a:rPr>
              <a:t>- </a:t>
            </a:r>
            <a:r>
              <a:rPr lang="en-US" dirty="0" smtClean="0">
                <a:solidFill>
                  <a:srgbClr val="7030A0"/>
                </a:solidFill>
              </a:rPr>
              <a:t>2010)</a:t>
            </a:r>
          </a:p>
          <a:p>
            <a:r>
              <a:rPr lang="en-US" dirty="0" smtClean="0"/>
              <a:t>     </a:t>
            </a:r>
            <a:r>
              <a:rPr lang="en-US" dirty="0">
                <a:solidFill>
                  <a:srgbClr val="C00000"/>
                </a:solidFill>
              </a:rPr>
              <a:t>Advisors: </a:t>
            </a:r>
            <a:r>
              <a:rPr lang="en-US" dirty="0"/>
              <a:t>Prof. Praveen Revankar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958" y="4407212"/>
            <a:ext cx="479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Teaching and </a:t>
            </a:r>
            <a:r>
              <a:rPr lang="en-US" sz="2400" b="1" dirty="0" smtClean="0"/>
              <a:t>Industry </a:t>
            </a:r>
            <a:r>
              <a:rPr lang="en-US" sz="2400" b="1" dirty="0"/>
              <a:t>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3182" y="5000064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Assistant Professor </a:t>
            </a:r>
            <a:r>
              <a:rPr lang="en-US" dirty="0" smtClean="0"/>
              <a:t>, </a:t>
            </a:r>
            <a:r>
              <a:rPr lang="en-US" dirty="0">
                <a:solidFill>
                  <a:srgbClr val="00B050"/>
                </a:solidFill>
              </a:rPr>
              <a:t>IIIT </a:t>
            </a:r>
            <a:r>
              <a:rPr lang="en-US" dirty="0" smtClean="0">
                <a:solidFill>
                  <a:srgbClr val="00B050"/>
                </a:solidFill>
              </a:rPr>
              <a:t>Pune             (Sept </a:t>
            </a:r>
            <a:r>
              <a:rPr lang="en-US" dirty="0">
                <a:solidFill>
                  <a:srgbClr val="00B050"/>
                </a:solidFill>
              </a:rPr>
              <a:t>2023 – </a:t>
            </a:r>
            <a:r>
              <a:rPr lang="en-US" dirty="0" smtClean="0">
                <a:solidFill>
                  <a:srgbClr val="00B050"/>
                </a:solidFill>
              </a:rPr>
              <a:t>December 2025)</a:t>
            </a: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Assistant </a:t>
            </a:r>
            <a:r>
              <a:rPr lang="en-US" dirty="0"/>
              <a:t>Professor </a:t>
            </a:r>
            <a:r>
              <a:rPr lang="en-US" dirty="0" smtClean="0"/>
              <a:t>, </a:t>
            </a:r>
            <a:r>
              <a:rPr lang="en-US" dirty="0">
                <a:solidFill>
                  <a:srgbClr val="FF0000"/>
                </a:solidFill>
              </a:rPr>
              <a:t>NIT </a:t>
            </a:r>
            <a:r>
              <a:rPr lang="en-US" dirty="0" smtClean="0">
                <a:solidFill>
                  <a:srgbClr val="FF0000"/>
                </a:solidFill>
              </a:rPr>
              <a:t>Jalandhar    (Aug </a:t>
            </a:r>
            <a:r>
              <a:rPr lang="en-US" dirty="0">
                <a:solidFill>
                  <a:srgbClr val="FF0000"/>
                </a:solidFill>
              </a:rPr>
              <a:t>2014 – June 2016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 Associate, </a:t>
            </a:r>
            <a:r>
              <a:rPr lang="en-US" dirty="0">
                <a:solidFill>
                  <a:srgbClr val="0000FF"/>
                </a:solidFill>
              </a:rPr>
              <a:t>Tech Mahindra, </a:t>
            </a:r>
            <a:r>
              <a:rPr lang="en-US" dirty="0" smtClean="0">
                <a:solidFill>
                  <a:srgbClr val="0000FF"/>
                </a:solidFill>
              </a:rPr>
              <a:t>Pune        (July </a:t>
            </a:r>
            <a:r>
              <a:rPr lang="en-US" dirty="0">
                <a:solidFill>
                  <a:srgbClr val="0000FF"/>
                </a:solidFill>
              </a:rPr>
              <a:t>2010 – May 2012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737" y="958442"/>
            <a:ext cx="839710" cy="8425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178" y="2064424"/>
            <a:ext cx="633643" cy="88422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764" y="3250474"/>
            <a:ext cx="834469" cy="83446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86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53942" y="191292"/>
            <a:ext cx="3465304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Work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775561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40788" y="951958"/>
            <a:ext cx="10551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Major </a:t>
            </a:r>
            <a:r>
              <a:rPr lang="en-US" sz="2000" b="1" dirty="0"/>
              <a:t>Areas of </a:t>
            </a:r>
            <a:r>
              <a:rPr lang="en-US" sz="2000" b="1" dirty="0" smtClean="0"/>
              <a:t>Research</a:t>
            </a:r>
            <a:r>
              <a:rPr lang="en-US" sz="2000" dirty="0" smtClean="0"/>
              <a:t>: </a:t>
            </a:r>
            <a:r>
              <a:rPr lang="en-US" sz="2000" dirty="0" smtClean="0">
                <a:solidFill>
                  <a:srgbClr val="00B050"/>
                </a:solidFill>
              </a:rPr>
              <a:t>Computer Networks</a:t>
            </a:r>
            <a:r>
              <a:rPr lang="en-US" sz="2000" dirty="0" smtClean="0"/>
              <a:t>, </a:t>
            </a:r>
            <a:r>
              <a:rPr lang="en-US" sz="2000" dirty="0" smtClean="0">
                <a:solidFill>
                  <a:srgbClr val="FF0000"/>
                </a:solidFill>
              </a:rPr>
              <a:t>Internet </a:t>
            </a:r>
            <a:r>
              <a:rPr lang="en-US" sz="2000" dirty="0">
                <a:solidFill>
                  <a:srgbClr val="FF0000"/>
                </a:solidFill>
              </a:rPr>
              <a:t>of Things (</a:t>
            </a:r>
            <a:r>
              <a:rPr lang="en-US" sz="2000" dirty="0" smtClean="0">
                <a:solidFill>
                  <a:srgbClr val="FF0000"/>
                </a:solidFill>
              </a:rPr>
              <a:t>IoT), </a:t>
            </a:r>
            <a:r>
              <a:rPr lang="en-US" sz="2000" dirty="0" smtClean="0">
                <a:solidFill>
                  <a:schemeClr val="accent1"/>
                </a:solidFill>
              </a:rPr>
              <a:t>and Security</a:t>
            </a:r>
            <a:endParaRPr lang="en-US" sz="20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0788" y="1419445"/>
            <a:ext cx="11018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Thesis Title</a:t>
            </a:r>
            <a:r>
              <a:rPr lang="en-US" sz="2000" b="1" dirty="0"/>
              <a:t>: </a:t>
            </a:r>
            <a:r>
              <a:rPr lang="en-US" sz="2000" dirty="0"/>
              <a:t>Attack Detection and Mitigation for IoT Ecosystems: Adaptive, Scalable, and </a:t>
            </a:r>
            <a:r>
              <a:rPr lang="en-US" sz="2000" dirty="0" smtClean="0"/>
              <a:t>Lightweight 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               Approaches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22575" y="2127331"/>
            <a:ext cx="109067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   Thesis Contributions: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dirty="0" err="1" smtClean="0">
                <a:solidFill>
                  <a:srgbClr val="C00000"/>
                </a:solidFill>
              </a:rPr>
              <a:t>i</a:t>
            </a:r>
            <a:r>
              <a:rPr lang="en-US" b="1" dirty="0" smtClean="0">
                <a:solidFill>
                  <a:srgbClr val="C00000"/>
                </a:solidFill>
              </a:rPr>
              <a:t>) Edge-based </a:t>
            </a:r>
            <a:r>
              <a:rPr lang="en-US" b="1" dirty="0">
                <a:solidFill>
                  <a:srgbClr val="C00000"/>
                </a:solidFill>
              </a:rPr>
              <a:t>ML Intrusion Detection System (</a:t>
            </a:r>
            <a:r>
              <a:rPr lang="en-US" b="1" dirty="0" smtClean="0">
                <a:solidFill>
                  <a:srgbClr val="C00000"/>
                </a:solidFill>
              </a:rPr>
              <a:t>IDS)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  	ii) </a:t>
            </a:r>
            <a:r>
              <a:rPr lang="en-US" b="1" dirty="0" smtClean="0">
                <a:solidFill>
                  <a:srgbClr val="00B050"/>
                </a:solidFill>
              </a:rPr>
              <a:t>Distributed </a:t>
            </a:r>
            <a:r>
              <a:rPr lang="en-US" b="1" dirty="0">
                <a:solidFill>
                  <a:srgbClr val="00B050"/>
                </a:solidFill>
              </a:rPr>
              <a:t>Packet Inspection Agent (PIA)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b="1" dirty="0" smtClean="0">
                <a:solidFill>
                  <a:srgbClr val="00B0F0"/>
                </a:solidFill>
              </a:rPr>
              <a:t>	iii) Mixed-Rate </a:t>
            </a:r>
            <a:r>
              <a:rPr lang="en-US" b="1" dirty="0">
                <a:solidFill>
                  <a:srgbClr val="00B0F0"/>
                </a:solidFill>
              </a:rPr>
              <a:t>DDoS (MRDDoS) Detection </a:t>
            </a:r>
            <a:r>
              <a:rPr lang="en-US" b="1" dirty="0" smtClean="0">
                <a:solidFill>
                  <a:srgbClr val="00B0F0"/>
                </a:solidFill>
              </a:rPr>
              <a:t>System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00B0F0"/>
                </a:solidFill>
              </a:rPr>
              <a:t>    	 iv) </a:t>
            </a:r>
            <a:r>
              <a:rPr lang="en-US" b="1" dirty="0" smtClean="0">
                <a:solidFill>
                  <a:srgbClr val="7030A0"/>
                </a:solidFill>
              </a:rPr>
              <a:t>Roaming </a:t>
            </a:r>
            <a:r>
              <a:rPr lang="en-US" b="1" dirty="0">
                <a:solidFill>
                  <a:srgbClr val="7030A0"/>
                </a:solidFill>
              </a:rPr>
              <a:t>IDS for Mixed Attack </a:t>
            </a:r>
            <a:r>
              <a:rPr lang="en-US" b="1" dirty="0" smtClean="0">
                <a:solidFill>
                  <a:srgbClr val="7030A0"/>
                </a:solidFill>
              </a:rPr>
              <a:t>Detection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079" y="3529502"/>
            <a:ext cx="105791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sz="1600" dirty="0"/>
              <a:t>OPTIMIST: Lightweight and Transparent IDS with Optimum Placement Strategy to Mitigate Mixed-rate DDoS Attacks in IoT Networks </a:t>
            </a:r>
            <a:r>
              <a:rPr lang="en-US" sz="1600" b="1" i="1" dirty="0"/>
              <a:t>IEEE IoT Journal </a:t>
            </a:r>
            <a:r>
              <a:rPr lang="en-US" sz="1600" b="1" dirty="0" smtClean="0"/>
              <a:t>.</a:t>
            </a:r>
            <a:endParaRPr lang="en-US" sz="1600" b="1" dirty="0"/>
          </a:p>
          <a:p>
            <a:pPr marL="342900" indent="-342900" fontAlgn="base">
              <a:buFont typeface="+mj-lt"/>
              <a:buAutoNum type="arabicPeriod"/>
            </a:pPr>
            <a:r>
              <a:rPr lang="en-US" sz="1600" dirty="0" smtClean="0"/>
              <a:t>A </a:t>
            </a:r>
            <a:r>
              <a:rPr lang="en-US" sz="1600" dirty="0"/>
              <a:t>Hybrid IDS for Detection and Mitigation of Sinkhole Attack in 6LoWPAN Networks</a:t>
            </a:r>
            <a:r>
              <a:rPr lang="en-US" sz="1600" b="1" dirty="0"/>
              <a:t>, </a:t>
            </a:r>
            <a:r>
              <a:rPr lang="en-US" sz="1600" dirty="0"/>
              <a:t>in </a:t>
            </a:r>
            <a:r>
              <a:rPr lang="en-US" sz="1600" b="1" i="1" dirty="0"/>
              <a:t>Springer International Journal of Information </a:t>
            </a:r>
            <a:r>
              <a:rPr lang="en-US" sz="1600" b="1" i="1" dirty="0" smtClean="0"/>
              <a:t>Security</a:t>
            </a:r>
            <a:r>
              <a:rPr lang="en-US" sz="1600" b="1" dirty="0" smtClean="0"/>
              <a:t>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600" dirty="0" smtClean="0"/>
              <a:t>Effective </a:t>
            </a:r>
            <a:r>
              <a:rPr lang="en-US" sz="1600" dirty="0"/>
              <a:t>injection of adversarial botnet attacks in IoT ecosystem using evolutionary computing. </a:t>
            </a:r>
            <a:r>
              <a:rPr lang="en-US" sz="1600" b="1" i="1" dirty="0"/>
              <a:t>Internet Technology Letters: e433. </a:t>
            </a:r>
            <a:endParaRPr lang="en-US" sz="1600" b="1" dirty="0" smtClean="0"/>
          </a:p>
          <a:p>
            <a:pPr marL="342900" indent="-342900" fontAlgn="base">
              <a:buFont typeface="+mj-lt"/>
              <a:buAutoNum type="arabicPeriod"/>
            </a:pPr>
            <a:r>
              <a:rPr lang="en-US" sz="1600" dirty="0" smtClean="0"/>
              <a:t>A </a:t>
            </a:r>
            <a:r>
              <a:rPr lang="en-US" sz="1600" dirty="0"/>
              <a:t>Novel Energy-efficient Scheme For RPL Attacker Identification In IoT Networks Using Discrete Event </a:t>
            </a:r>
            <a:r>
              <a:rPr lang="en-US" sz="1600" dirty="0" smtClean="0"/>
              <a:t>Modeling, </a:t>
            </a:r>
            <a:r>
              <a:rPr lang="en-US" sz="1600" b="1" dirty="0" smtClean="0"/>
              <a:t>IEEE Access</a:t>
            </a:r>
            <a:r>
              <a:rPr lang="en-US" sz="1600" dirty="0" smtClean="0"/>
              <a:t>​</a:t>
            </a:r>
            <a:endParaRPr lang="en-US" sz="1600" dirty="0"/>
          </a:p>
          <a:p>
            <a:pPr marL="342900" indent="-342900" fontAlgn="base">
              <a:buFont typeface="+mj-lt"/>
              <a:buAutoNum type="arabicPeriod"/>
            </a:pPr>
            <a:r>
              <a:rPr lang="en-US" sz="1600" dirty="0" smtClean="0"/>
              <a:t>EDAS-6N</a:t>
            </a:r>
            <a:r>
              <a:rPr lang="en-US" sz="1600" dirty="0"/>
              <a:t>: An Energy Aware Edge Assisted Mixed Rate DDoS Attack Detection and Mitigation in 6TiSCH Network, ” in </a:t>
            </a:r>
            <a:r>
              <a:rPr lang="en-US" sz="1600" b="1" i="1" dirty="0"/>
              <a:t>ACM Transactions on Internet of Things (TIOT</a:t>
            </a:r>
            <a:r>
              <a:rPr lang="en-US" sz="1600" b="1" i="1" dirty="0" smtClean="0"/>
              <a:t>)</a:t>
            </a:r>
            <a:endParaRPr lang="en-US" sz="1600" b="1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9819" y="3127141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1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53941" y="191292"/>
            <a:ext cx="6208503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Publications, Awards and Grants</a:t>
            </a:r>
            <a:endParaRPr lang="en-IN" sz="48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775561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067" y="880938"/>
            <a:ext cx="6385428" cy="24973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3941" y="3802343"/>
            <a:ext cx="2828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C00000"/>
                </a:solidFill>
              </a:rPr>
              <a:t>Young Scientist Award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793" y="4203035"/>
            <a:ext cx="55336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i="1" dirty="0"/>
              <a:t>Energy Efficient Detection of Sinkhole Attack using Roving IDS in 6LoWPAN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Presented </a:t>
            </a:r>
            <a:r>
              <a:rPr lang="en-US" sz="2000" dirty="0"/>
              <a:t>in the 20th International Conference on Innovations for Community Services (I4CS 2020), January 12-15, 2020, </a:t>
            </a:r>
            <a:r>
              <a:rPr lang="en-US" sz="2000" dirty="0">
                <a:solidFill>
                  <a:srgbClr val="C00000"/>
                </a:solidFill>
              </a:rPr>
              <a:t>a top-tier international conference.</a:t>
            </a:r>
            <a:endParaRPr lang="en-US" altLang="en-US" sz="2000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6269" y="3846362"/>
            <a:ext cx="51083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B050"/>
                </a:solidFill>
              </a:rPr>
              <a:t>Research Excellence Award (PhD - National)</a:t>
            </a:r>
            <a:endParaRPr lang="en-US" altLang="en-US" sz="2000" dirty="0">
              <a:solidFill>
                <a:srgbClr val="00B05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66694" y="4260839"/>
            <a:ext cx="5479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i="1" dirty="0"/>
              <a:t>IEI-FCRIT Excellence Award</a:t>
            </a:r>
            <a:r>
              <a:rPr lang="en-US" altLang="en-US" sz="2000" dirty="0"/>
              <a:t> (Special Recognition)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709369"/>
              </p:ext>
            </p:extLst>
          </p:nvPr>
        </p:nvGraphicFramePr>
        <p:xfrm>
          <a:off x="445793" y="1044678"/>
          <a:ext cx="51125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176">
                  <a:extLst>
                    <a:ext uri="{9D8B030D-6E8A-4147-A177-3AD203B41FA5}">
                      <a16:colId xmlns:a16="http://schemas.microsoft.com/office/drawing/2014/main" val="3594819809"/>
                    </a:ext>
                  </a:extLst>
                </a:gridCol>
                <a:gridCol w="946350">
                  <a:extLst>
                    <a:ext uri="{9D8B030D-6E8A-4147-A177-3AD203B41FA5}">
                      <a16:colId xmlns:a16="http://schemas.microsoft.com/office/drawing/2014/main" val="1879465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Academic and Research Summary: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48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Indexed Journals (Published)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552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Indexed Journals (Under Review)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45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Conferences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46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244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Book chapter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88197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855399" y="3327634"/>
            <a:ext cx="4074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Citations: </a:t>
            </a:r>
            <a:r>
              <a:rPr lang="en-US" dirty="0" smtClean="0">
                <a:solidFill>
                  <a:srgbClr val="00B050"/>
                </a:solidFill>
              </a:rPr>
              <a:t>582</a:t>
            </a:r>
            <a:r>
              <a:rPr lang="en-US" dirty="0" smtClean="0">
                <a:solidFill>
                  <a:srgbClr val="00B050"/>
                </a:solidFill>
              </a:rPr>
              <a:t>+, </a:t>
            </a:r>
            <a:r>
              <a:rPr lang="en-US" dirty="0">
                <a:solidFill>
                  <a:srgbClr val="C00000"/>
                </a:solidFill>
              </a:rPr>
              <a:t>h-index: </a:t>
            </a:r>
            <a:r>
              <a:rPr lang="en-US" dirty="0" smtClean="0">
                <a:solidFill>
                  <a:srgbClr val="C00000"/>
                </a:solidFill>
              </a:rPr>
              <a:t>10</a:t>
            </a:r>
            <a:r>
              <a:rPr lang="en-US" dirty="0" smtClean="0"/>
              <a:t>, </a:t>
            </a:r>
            <a:r>
              <a:rPr lang="en-US" dirty="0">
                <a:solidFill>
                  <a:srgbClr val="0000FF"/>
                </a:solidFill>
              </a:rPr>
              <a:t>i10-index: </a:t>
            </a:r>
            <a:r>
              <a:rPr lang="en-US" dirty="0" smtClean="0">
                <a:solidFill>
                  <a:srgbClr val="0000FF"/>
                </a:solidFill>
              </a:rPr>
              <a:t>10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0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166392" y="152381"/>
            <a:ext cx="5971761" cy="8592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</a:t>
            </a:r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Concepts</a:t>
            </a:r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996057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587890" y="185837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Security </a:t>
            </a:r>
            <a:r>
              <a:rPr dirty="0"/>
              <a:t>domains aim to protect systems, networks, and information from unauthorized access, damage, and disruptions.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 smtClean="0"/>
              <a:t>They </a:t>
            </a:r>
            <a:r>
              <a:rPr dirty="0"/>
              <a:t>include:</a:t>
            </a:r>
          </a:p>
          <a:p>
            <a:r>
              <a:rPr dirty="0"/>
              <a:t>- Computer Security</a:t>
            </a:r>
          </a:p>
          <a:p>
            <a:r>
              <a:rPr dirty="0"/>
              <a:t>- Network Security</a:t>
            </a:r>
          </a:p>
          <a:p>
            <a:r>
              <a:rPr dirty="0"/>
              <a:t>- Cybersecurity</a:t>
            </a:r>
          </a:p>
          <a:p>
            <a:r>
              <a:rPr dirty="0"/>
              <a:t>- Information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971" y="1143782"/>
            <a:ext cx="51750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Introduction to Security Concepts</a:t>
            </a:r>
          </a:p>
        </p:txBody>
      </p:sp>
    </p:spTree>
    <p:extLst>
      <p:ext uri="{BB962C8B-B14F-4D97-AF65-F5344CB8AC3E}">
        <p14:creationId xmlns:p14="http://schemas.microsoft.com/office/powerpoint/2010/main" val="43016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53942" y="191292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927961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65145" y="1439788"/>
            <a:ext cx="10664493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Definition: </a:t>
            </a:r>
            <a:r>
              <a:rPr lang="en-US" dirty="0" smtClean="0"/>
              <a:t>Protecting individual computer systems from unauthorized access, damage, or disruptions.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Key Objectives:</a:t>
            </a:r>
          </a:p>
          <a:p>
            <a:r>
              <a:rPr lang="en-US" dirty="0" smtClean="0"/>
              <a:t>- Confidentiality: Prevent unauthorized access to data.</a:t>
            </a:r>
          </a:p>
          <a:p>
            <a:r>
              <a:rPr lang="en-US" dirty="0" smtClean="0"/>
              <a:t>- Integrity: Ensure data/software remain unaltered.</a:t>
            </a:r>
          </a:p>
          <a:p>
            <a:r>
              <a:rPr lang="en-US" dirty="0" smtClean="0"/>
              <a:t>- Availability: Keep systems operational.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Examples:</a:t>
            </a:r>
          </a:p>
          <a:p>
            <a:r>
              <a:rPr lang="en-US" dirty="0" smtClean="0"/>
              <a:t>- Antivirus software</a:t>
            </a:r>
          </a:p>
          <a:p>
            <a:r>
              <a:rPr lang="en-US" dirty="0" smtClean="0"/>
              <a:t>- Disk encryption</a:t>
            </a:r>
          </a:p>
          <a:p>
            <a:r>
              <a:rPr lang="en-US" dirty="0" smtClean="0"/>
              <a:t>- Secure boot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3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24107" y="1302931"/>
            <a:ext cx="11378338" cy="4998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Definition: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dirty="0" smtClean="0"/>
              <a:t>Securing </a:t>
            </a:r>
            <a:r>
              <a:rPr dirty="0"/>
              <a:t>infrastructure to ensure data integrity and confidentiality during transmission.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Key Objectives:</a:t>
            </a:r>
          </a:p>
          <a:p>
            <a:r>
              <a:rPr dirty="0"/>
              <a:t>- Confidentiality: Prevent eavesdropping.</a:t>
            </a:r>
          </a:p>
          <a:p>
            <a:r>
              <a:rPr dirty="0"/>
              <a:t>- Integrity: Protect data from alteration.</a:t>
            </a:r>
          </a:p>
          <a:p>
            <a:r>
              <a:rPr dirty="0"/>
              <a:t>- Availability: Maintain network accessibility.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Examples:</a:t>
            </a:r>
          </a:p>
          <a:p>
            <a:r>
              <a:rPr dirty="0"/>
              <a:t>- Firewalls</a:t>
            </a:r>
          </a:p>
          <a:p>
            <a:r>
              <a:rPr dirty="0"/>
              <a:t>- Intrusion Detection/Prevention Systems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37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13677" y="1422894"/>
            <a:ext cx="10716323" cy="48784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Definition: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dirty="0" smtClean="0"/>
              <a:t>Protecting </a:t>
            </a:r>
            <a:r>
              <a:rPr dirty="0"/>
              <a:t>internet-connected systems and data from cyber threats.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Key Objectives:</a:t>
            </a:r>
          </a:p>
          <a:p>
            <a:r>
              <a:rPr dirty="0"/>
              <a:t>- Prevent Unauthorized Access: Mitigate attacks like phishing, ransomware.</a:t>
            </a:r>
          </a:p>
          <a:p>
            <a:r>
              <a:rPr dirty="0"/>
              <a:t>- Ensure Resilience: Recover from incidents quickly.</a:t>
            </a:r>
          </a:p>
          <a:p>
            <a:r>
              <a:rPr dirty="0"/>
              <a:t>- Threat Intelligence: Respond to evolving threats.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Examples</a:t>
            </a:r>
            <a:r>
              <a:rPr dirty="0" smtClean="0">
                <a:solidFill>
                  <a:srgbClr val="FF0000"/>
                </a:solidFill>
              </a:rPr>
              <a:t>:</a:t>
            </a:r>
            <a:endParaRPr dirty="0"/>
          </a:p>
          <a:p>
            <a:r>
              <a:rPr dirty="0"/>
              <a:t>- Endpoint Detection/Response</a:t>
            </a:r>
          </a:p>
          <a:p>
            <a:r>
              <a:rPr dirty="0"/>
              <a:t>- Cybersecurity awareness training</a:t>
            </a:r>
          </a:p>
        </p:txBody>
      </p:sp>
    </p:spTree>
    <p:extLst>
      <p:ext uri="{BB962C8B-B14F-4D97-AF65-F5344CB8AC3E}">
        <p14:creationId xmlns:p14="http://schemas.microsoft.com/office/powerpoint/2010/main" val="26533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22575" y="1449660"/>
            <a:ext cx="11579869" cy="48516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Definition: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dirty="0" smtClean="0"/>
              <a:t>Protecting </a:t>
            </a:r>
            <a:r>
              <a:rPr dirty="0"/>
              <a:t>information (digital and physical) by ensuring its confidentiality, integrity, and availability.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Key Objectives:</a:t>
            </a:r>
          </a:p>
          <a:p>
            <a:r>
              <a:rPr dirty="0"/>
              <a:t>- Confidentiality: Protect sensitive information.</a:t>
            </a:r>
          </a:p>
          <a:p>
            <a:r>
              <a:rPr dirty="0"/>
              <a:t>- Integrity: Ensure data accuracy.</a:t>
            </a:r>
          </a:p>
          <a:p>
            <a:r>
              <a:rPr dirty="0"/>
              <a:t>- Availability: Ensure access to information.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Examples:</a:t>
            </a:r>
          </a:p>
          <a:p>
            <a:r>
              <a:rPr dirty="0"/>
              <a:t>- Data encryption</a:t>
            </a:r>
          </a:p>
          <a:p>
            <a:r>
              <a:rPr dirty="0"/>
              <a:t>- Access control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641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8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73" y="454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461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49" y="1269728"/>
            <a:ext cx="4743450" cy="41624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844" y="1091958"/>
            <a:ext cx="5720092" cy="494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1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295" y="1413070"/>
            <a:ext cx="4384637" cy="41547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27" y="1398621"/>
            <a:ext cx="5572812" cy="4510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61764" y="5823824"/>
            <a:ext cx="2657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CIA Triad and its opposites</a:t>
            </a:r>
          </a:p>
        </p:txBody>
      </p:sp>
    </p:spTree>
    <p:extLst>
      <p:ext uri="{BB962C8B-B14F-4D97-AF65-F5344CB8AC3E}">
        <p14:creationId xmlns:p14="http://schemas.microsoft.com/office/powerpoint/2010/main" val="83196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740"/>
            <a:ext cx="7001361" cy="2636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938" y="3833547"/>
            <a:ext cx="6664944" cy="24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3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08100" y="1065878"/>
            <a:ext cx="10416545" cy="1371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Military Example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8100" y="2437478"/>
            <a:ext cx="1041654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 smtClean="0"/>
              <a:t>Confidentiality</a:t>
            </a:r>
            <a:r>
              <a:rPr lang="en-US" altLang="en-US" dirty="0" smtClean="0"/>
              <a:t>: target coordinates of a missile should not be improperly disclosed</a:t>
            </a:r>
          </a:p>
          <a:p>
            <a:r>
              <a:rPr lang="en-US" altLang="en-US" b="1" dirty="0" smtClean="0"/>
              <a:t>Integrity</a:t>
            </a:r>
            <a:r>
              <a:rPr lang="en-US" altLang="en-US" dirty="0" smtClean="0"/>
              <a:t>: target coordinates of missile should be correct</a:t>
            </a:r>
          </a:p>
          <a:p>
            <a:r>
              <a:rPr lang="en-US" altLang="en-US" b="1" dirty="0" smtClean="0"/>
              <a:t>Availability</a:t>
            </a:r>
            <a:r>
              <a:rPr lang="en-US" altLang="en-US" dirty="0" smtClean="0"/>
              <a:t>: missile should fire when proper command is issued</a:t>
            </a:r>
          </a:p>
        </p:txBody>
      </p:sp>
    </p:spTree>
    <p:extLst>
      <p:ext uri="{BB962C8B-B14F-4D97-AF65-F5344CB8AC3E}">
        <p14:creationId xmlns:p14="http://schemas.microsoft.com/office/powerpoint/2010/main" val="298471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501804" y="1181911"/>
            <a:ext cx="10615961" cy="1371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Commercial Example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501804" y="2705911"/>
            <a:ext cx="10615961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 smtClean="0"/>
              <a:t>Confidentiality</a:t>
            </a:r>
            <a:r>
              <a:rPr lang="en-US" altLang="en-US" dirty="0" smtClean="0"/>
              <a:t>: patient’s medical information should not be improperly disclosed</a:t>
            </a:r>
          </a:p>
          <a:p>
            <a:r>
              <a:rPr lang="en-US" altLang="en-US" b="1" dirty="0" smtClean="0"/>
              <a:t>Integrity</a:t>
            </a:r>
            <a:r>
              <a:rPr lang="en-US" altLang="en-US" dirty="0" smtClean="0"/>
              <a:t>: patient’s medical information should be correct</a:t>
            </a:r>
          </a:p>
          <a:p>
            <a:r>
              <a:rPr lang="en-US" altLang="en-US" b="1" dirty="0" smtClean="0"/>
              <a:t>Availability</a:t>
            </a:r>
            <a:r>
              <a:rPr lang="en-US" altLang="en-US" dirty="0" smtClean="0"/>
              <a:t>: patient’s medical information can be accessed when needed for treatment </a:t>
            </a:r>
          </a:p>
        </p:txBody>
      </p:sp>
    </p:spTree>
    <p:extLst>
      <p:ext uri="{BB962C8B-B14F-4D97-AF65-F5344CB8AC3E}">
        <p14:creationId xmlns:p14="http://schemas.microsoft.com/office/powerpoint/2010/main" val="391706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itle 6"/>
          <p:cNvSpPr>
            <a:spLocks noGrp="1" noChangeArrowheads="1"/>
          </p:cNvSpPr>
          <p:nvPr>
            <p:ph type="title"/>
          </p:nvPr>
        </p:nvSpPr>
        <p:spPr>
          <a:xfrm>
            <a:off x="751691" y="2370201"/>
            <a:ext cx="10477588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 smtClean="0">
                <a:solidFill>
                  <a:srgbClr val="7030A0"/>
                </a:solidFill>
              </a:rPr>
              <a:t>Question 1:  What is the trade off between the security objectives? </a:t>
            </a:r>
            <a:r>
              <a:rPr lang="en-US" altLang="en-US" dirty="0" smtClean="0">
                <a:solidFill>
                  <a:srgbClr val="7030A0"/>
                </a:solidFill>
              </a:rPr>
              <a:t/>
            </a:r>
            <a:br>
              <a:rPr lang="en-US" altLang="en-US" dirty="0" smtClean="0">
                <a:solidFill>
                  <a:srgbClr val="7030A0"/>
                </a:solidFill>
              </a:rPr>
            </a:br>
            <a:endParaRPr lang="en-US" altLang="en-US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66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4" y="351243"/>
            <a:ext cx="2744296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Trade-Offs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2574" y="1173263"/>
            <a:ext cx="6130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Confidentiality </a:t>
            </a:r>
            <a:r>
              <a:rPr lang="en-US" sz="2800" b="1" dirty="0"/>
              <a:t>vs. Availability</a:t>
            </a:r>
            <a:r>
              <a:rPr lang="en-US" sz="2800" dirty="0"/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615" y="1650003"/>
            <a:ext cx="11010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Strengthening confidentiality (e.g., through encryption) can impact availability by increasing processing overhead and reducing system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574" y="2432542"/>
            <a:ext cx="3778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Integrity vs. Availability</a:t>
            </a:r>
            <a:r>
              <a:rPr lang="en-US" sz="2800" dirty="0"/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615" y="2943796"/>
            <a:ext cx="113364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Measures to ensure data integrity (e.g., checksums, audits) can consume system resources and reduce availability.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851" y="3731924"/>
            <a:ext cx="4320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Confidentiality vs. Integrity</a:t>
            </a:r>
            <a:r>
              <a:rPr lang="en-US" sz="2800" dirty="0"/>
              <a:t>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615" y="4255144"/>
            <a:ext cx="10812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Protecting confidentiality may involve obscuring data, which can make it harder to verify its integrity.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574" y="5031306"/>
            <a:ext cx="3405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Resource Constraints</a:t>
            </a:r>
            <a:r>
              <a:rPr lang="en-US" sz="2800" dirty="0"/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561" y="5496541"/>
            <a:ext cx="114265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Achieving all three objectives simultaneously may not always be feasible in resource-constrained environments</a:t>
            </a:r>
          </a:p>
        </p:txBody>
      </p:sp>
    </p:spTree>
    <p:extLst>
      <p:ext uri="{BB962C8B-B14F-4D97-AF65-F5344CB8AC3E}">
        <p14:creationId xmlns:p14="http://schemas.microsoft.com/office/powerpoint/2010/main" val="76279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11" grpId="0"/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79" y="1563842"/>
            <a:ext cx="7696200" cy="4733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1735" y="535258"/>
            <a:ext cx="6155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Attack VS Technical Knowledge Required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4280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Definition: A threat is any potential </a:t>
            </a:r>
            <a:r>
              <a:rPr dirty="0" smtClean="0"/>
              <a:t>event </a:t>
            </a:r>
            <a:r>
              <a:rPr dirty="0"/>
              <a:t>or action that can cause harm by exploiting a vulnerability.</a:t>
            </a:r>
          </a:p>
          <a:p>
            <a:pPr marL="0" indent="0">
              <a:buNone/>
            </a:pPr>
            <a:r>
              <a:rPr dirty="0"/>
              <a:t>• Characteristics: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- Includes both intentional (e.g., hacking) and unintentional (e.g., natural disasters) events.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- Threats can disrupt confidentiality, integrity, and availability of systems</a:t>
            </a:r>
            <a:r>
              <a:rPr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709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467" y="929740"/>
            <a:ext cx="6797795" cy="539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4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89" y="136381"/>
            <a:ext cx="10515600" cy="1325563"/>
          </a:xfrm>
        </p:spPr>
        <p:txBody>
          <a:bodyPr/>
          <a:lstStyle/>
          <a:p>
            <a:r>
              <a:rPr dirty="0"/>
              <a:t>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89" y="12738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Definition</a:t>
            </a:r>
            <a:r>
              <a:rPr dirty="0"/>
              <a:t>: Risk refers to the potential for loss or damage when a threat exploits a vulnerability.</a:t>
            </a:r>
          </a:p>
          <a:p>
            <a:pPr marL="0" indent="0">
              <a:buNone/>
            </a:pPr>
            <a:r>
              <a:rPr dirty="0"/>
              <a:t>• Key Elements: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- Probability: Likelihood of a threat exploiting a vulnerability.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- Impact: Consequences or severity of the exploitation</a:t>
            </a:r>
            <a:r>
              <a:rPr dirty="0" smtClean="0"/>
              <a:t>.</a:t>
            </a:r>
          </a:p>
          <a:p>
            <a:pPr marL="0" indent="0">
              <a:buNone/>
            </a:pPr>
            <a:r>
              <a:rPr dirty="0" smtClean="0"/>
              <a:t>• Risk Management:</a:t>
            </a:r>
          </a:p>
          <a:p>
            <a:pPr marL="0" indent="0">
              <a:buNone/>
            </a:pPr>
            <a:r>
              <a:rPr dirty="0" smtClean="0"/>
              <a:t>- </a:t>
            </a:r>
            <a:r>
              <a:rPr dirty="0"/>
              <a:t>Involves identifying, analyzing, and mitigating risks to reduce potential harm.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2796" y="4859382"/>
            <a:ext cx="6487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Risk = Threat × Vulnerability × Impact: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889" y="5611178"/>
            <a:ext cx="11641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likelihood of a threat is </a:t>
            </a:r>
            <a:r>
              <a:rPr lang="en-US" dirty="0" smtClean="0"/>
              <a:t>40%, </a:t>
            </a:r>
            <a:r>
              <a:rPr lang="en-US" dirty="0"/>
              <a:t>the system's vulnerability is </a:t>
            </a:r>
            <a:r>
              <a:rPr lang="en-US" dirty="0" smtClean="0"/>
              <a:t>50%, </a:t>
            </a:r>
            <a:r>
              <a:rPr lang="en-US" dirty="0"/>
              <a:t>and the impact is </a:t>
            </a:r>
            <a:r>
              <a:rPr lang="en-US" dirty="0" smtClean="0"/>
              <a:t>$ 50,000</a:t>
            </a:r>
            <a:r>
              <a:rPr lang="en-US" dirty="0"/>
              <a:t>, calculate the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0096" y="6255317"/>
            <a:ext cx="3602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00B050"/>
                </a:solidFill>
              </a:rPr>
              <a:t>Risk = 0.4 × 0.5 × $50,000 = $10,000.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23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2" y="596357"/>
            <a:ext cx="4535967" cy="27378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118" y="1499025"/>
            <a:ext cx="6522287" cy="455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0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59" y="959005"/>
            <a:ext cx="9702917" cy="495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0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Definition: An attack is a deliberate action taken to exploit vulnerabilities in a system.</a:t>
            </a:r>
          </a:p>
          <a:p>
            <a:pPr marL="0" indent="0">
              <a:buNone/>
            </a:pPr>
            <a:r>
              <a:rPr dirty="0"/>
              <a:t>• Characteristics:</a:t>
            </a:r>
          </a:p>
          <a:p>
            <a:pPr marL="0" indent="0">
              <a:buNone/>
            </a:pPr>
            <a:r>
              <a:rPr dirty="0" smtClean="0"/>
              <a:t>- </a:t>
            </a:r>
            <a:r>
              <a:rPr dirty="0"/>
              <a:t>Can be active (e.g., data modification) or passive (e.g., data interception).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- Targets confidentiality, integrity, or availability of systems or data</a:t>
            </a:r>
            <a:r>
              <a:rPr dirty="0" smtClean="0"/>
              <a:t>.</a:t>
            </a:r>
          </a:p>
          <a:p>
            <a:pPr marL="0" indent="0">
              <a:buNone/>
            </a:pPr>
            <a:r>
              <a:rPr dirty="0" smtClean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9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5" y="308793"/>
            <a:ext cx="7508528" cy="602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0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687" y="1095375"/>
            <a:ext cx="88106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1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477" y="1037180"/>
            <a:ext cx="9328373" cy="493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89" y="836689"/>
            <a:ext cx="10000721" cy="520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0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476" y="1182145"/>
            <a:ext cx="9606781" cy="472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4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30" y="909754"/>
            <a:ext cx="9990279" cy="498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7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919" y="927061"/>
            <a:ext cx="10142102" cy="533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1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Relationships Between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Flow:</a:t>
            </a:r>
          </a:p>
          <a:p>
            <a:pPr marL="0" indent="0">
              <a:buNone/>
            </a:pPr>
            <a:r>
              <a:rPr dirty="0" smtClean="0"/>
              <a:t>Vulnerability </a:t>
            </a:r>
            <a:r>
              <a:rPr dirty="0"/>
              <a:t>→ Exploited by Threat → Leads to Risk → Results in Attack</a:t>
            </a:r>
          </a:p>
          <a:p>
            <a:pPr marL="0" indent="0">
              <a:buNone/>
            </a:pPr>
            <a:r>
              <a:rPr dirty="0"/>
              <a:t>• Example:</a:t>
            </a:r>
          </a:p>
          <a:p>
            <a:pPr marL="0" indent="0">
              <a:buNone/>
            </a:pPr>
            <a:r>
              <a:rPr dirty="0" smtClean="0"/>
              <a:t>- </a:t>
            </a:r>
            <a:r>
              <a:rPr dirty="0"/>
              <a:t>Unpatched server → Hacker (threat) → Risk of data theft → Attack occurs.</a:t>
            </a:r>
          </a:p>
        </p:txBody>
      </p:sp>
    </p:spTree>
    <p:extLst>
      <p:ext uri="{BB962C8B-B14F-4D97-AF65-F5344CB8AC3E}">
        <p14:creationId xmlns:p14="http://schemas.microsoft.com/office/powerpoint/2010/main" val="369065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73" y="1255074"/>
            <a:ext cx="8585858" cy="486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0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surfaces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57922" y="1476075"/>
            <a:ext cx="8686800" cy="44196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dirty="0" smtClean="0"/>
              <a:t>Attack surface: the reachable and exploitable vulnerabilities in a system</a:t>
            </a:r>
          </a:p>
          <a:p>
            <a:pPr lvl="1" eaLnBrk="1" hangingPunct="1">
              <a:defRPr/>
            </a:pPr>
            <a:r>
              <a:rPr lang="en-US" dirty="0" smtClean="0"/>
              <a:t>Open ports</a:t>
            </a:r>
          </a:p>
          <a:p>
            <a:pPr lvl="1" eaLnBrk="1" hangingPunct="1">
              <a:defRPr/>
            </a:pPr>
            <a:r>
              <a:rPr lang="en-US" dirty="0" smtClean="0"/>
              <a:t>Services outside a firewall</a:t>
            </a:r>
          </a:p>
          <a:p>
            <a:pPr lvl="1" eaLnBrk="1" hangingPunct="1">
              <a:defRPr/>
            </a:pPr>
            <a:r>
              <a:rPr lang="en-US" dirty="0" smtClean="0"/>
              <a:t>An employee with access to sensitive info</a:t>
            </a:r>
          </a:p>
          <a:p>
            <a:pPr lvl="1" eaLnBrk="1" hangingPunct="1">
              <a:defRPr/>
            </a:pPr>
            <a:r>
              <a:rPr lang="en-US" dirty="0" smtClean="0"/>
              <a:t>…</a:t>
            </a:r>
          </a:p>
          <a:p>
            <a:pPr eaLnBrk="1" hangingPunct="1">
              <a:defRPr/>
            </a:pPr>
            <a:r>
              <a:rPr lang="en-US" dirty="0" smtClean="0"/>
              <a:t>Three categories</a:t>
            </a:r>
          </a:p>
          <a:p>
            <a:pPr lvl="1" eaLnBrk="1" hangingPunct="1">
              <a:defRPr/>
            </a:pPr>
            <a:r>
              <a:rPr lang="en-US" b="1" dirty="0" smtClean="0"/>
              <a:t>Network attack surface </a:t>
            </a:r>
            <a:r>
              <a:rPr lang="en-US" dirty="0" smtClean="0"/>
              <a:t>(i.e., network vulnerability)</a:t>
            </a:r>
          </a:p>
          <a:p>
            <a:pPr lvl="1" eaLnBrk="1" hangingPunct="1">
              <a:defRPr/>
            </a:pPr>
            <a:r>
              <a:rPr lang="en-US" b="1" dirty="0" smtClean="0"/>
              <a:t>Software attack surface </a:t>
            </a:r>
            <a:r>
              <a:rPr lang="en-US" dirty="0" smtClean="0"/>
              <a:t>(i.e., software vulnerabilities) </a:t>
            </a:r>
          </a:p>
          <a:p>
            <a:pPr lvl="1" eaLnBrk="1" hangingPunct="1">
              <a:defRPr/>
            </a:pPr>
            <a:r>
              <a:rPr lang="en-US" b="1" dirty="0" smtClean="0"/>
              <a:t>Human attack surface </a:t>
            </a:r>
            <a:r>
              <a:rPr lang="en-US" dirty="0" smtClean="0"/>
              <a:t>(e.g., social engineering)</a:t>
            </a:r>
          </a:p>
          <a:p>
            <a:pPr eaLnBrk="1" hangingPunct="1">
              <a:defRPr/>
            </a:pPr>
            <a:r>
              <a:rPr lang="en-US" dirty="0" smtClean="0"/>
              <a:t>Attack analysis: assessing the scale and severity of threats</a:t>
            </a:r>
          </a:p>
        </p:txBody>
      </p:sp>
    </p:spTree>
    <p:extLst>
      <p:ext uri="{BB962C8B-B14F-4D97-AF65-F5344CB8AC3E}">
        <p14:creationId xmlns:p14="http://schemas.microsoft.com/office/powerpoint/2010/main" val="53153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trees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281376" y="1634468"/>
            <a:ext cx="9327742" cy="4419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branching, hierarchical data structure that represents a set of potential vulnerabilities </a:t>
            </a:r>
          </a:p>
          <a:p>
            <a:pPr eaLnBrk="1" hangingPunct="1"/>
            <a:r>
              <a:rPr lang="en-US" altLang="en-US" dirty="0" smtClean="0"/>
              <a:t>Objective: to effectively exploit the info available on attack patterns</a:t>
            </a:r>
          </a:p>
          <a:p>
            <a:pPr lvl="1" eaLnBrk="1" hangingPunct="1"/>
            <a:r>
              <a:rPr lang="en-US" altLang="en-US" dirty="0" smtClean="0"/>
              <a:t>Security analysts can use the tree to guide design and strengthen counters measures </a:t>
            </a:r>
          </a:p>
        </p:txBody>
      </p:sp>
    </p:spTree>
    <p:extLst>
      <p:ext uri="{BB962C8B-B14F-4D97-AF65-F5344CB8AC3E}">
        <p14:creationId xmlns:p14="http://schemas.microsoft.com/office/powerpoint/2010/main" val="307389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trees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183" y="351243"/>
            <a:ext cx="6668296" cy="58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869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03" y="1966000"/>
            <a:ext cx="4624004" cy="40576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108" y="1538834"/>
            <a:ext cx="4384637" cy="415477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4389" y="352076"/>
            <a:ext cx="414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 of the Last Lecture</a:t>
            </a:r>
          </a:p>
        </p:txBody>
      </p:sp>
    </p:spTree>
    <p:extLst>
      <p:ext uri="{BB962C8B-B14F-4D97-AF65-F5344CB8AC3E}">
        <p14:creationId xmlns:p14="http://schemas.microsoft.com/office/powerpoint/2010/main" val="421810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7113" y="363217"/>
            <a:ext cx="414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 of the Last Lecture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75" y="1599214"/>
            <a:ext cx="5683801" cy="2082614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070" y="1289710"/>
            <a:ext cx="5410029" cy="4736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16" y="3888078"/>
            <a:ext cx="4208317" cy="238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8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3897573" y="290013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Attack on CPS</a:t>
            </a:r>
            <a:endParaRPr lang="en-IN" sz="32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3685695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27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DDoS </a:t>
            </a: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attack in </a:t>
            </a:r>
            <a:r>
              <a:rPr lang="en-US" sz="3200" b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CPS</a:t>
            </a:r>
            <a:endParaRPr lang="en-US" sz="32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C4DB2-1C72-CE7B-5F51-8EAD3FF07A93}"/>
              </a:ext>
            </a:extLst>
          </p:cNvPr>
          <p:cNvSpPr txBox="1"/>
          <p:nvPr/>
        </p:nvSpPr>
        <p:spPr>
          <a:xfrm>
            <a:off x="236121" y="1404194"/>
            <a:ext cx="5559007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DoS</a:t>
            </a:r>
            <a:r>
              <a:rPr lang="en-US" sz="22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and DDoS </a:t>
            </a:r>
            <a:r>
              <a:rPr lang="en-US" sz="2200" dirty="0">
                <a:latin typeface="Times New Roman"/>
                <a:cs typeface="Times New Roman"/>
              </a:rPr>
              <a:t>attacks are very harmful to IoT systems as these attacks disrupt </a:t>
            </a:r>
            <a:r>
              <a:rPr lang="en-US" sz="2200" dirty="0">
                <a:solidFill>
                  <a:srgbClr val="7030A0"/>
                </a:solidFill>
                <a:latin typeface="Times New Roman"/>
                <a:cs typeface="Times New Roman"/>
              </a:rPr>
              <a:t>the availability of systems.</a:t>
            </a: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IN" sz="2200" dirty="0" err="1">
                <a:solidFill>
                  <a:srgbClr val="000000"/>
                </a:solidFill>
                <a:latin typeface="Times New Roman"/>
                <a:cs typeface="Times New Roman"/>
              </a:rPr>
              <a:t>DDoS</a:t>
            </a:r>
            <a:r>
              <a:rPr lang="en-IN" sz="2200" dirty="0">
                <a:solidFill>
                  <a:srgbClr val="000000"/>
                </a:solidFill>
                <a:latin typeface="Times New Roman"/>
                <a:cs typeface="Times New Roman"/>
              </a:rPr>
              <a:t> attacks, which can be broadly classified into following categories, as given below</a:t>
            </a:r>
            <a:endParaRPr lang="en-US" sz="22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7AB72A-169A-2869-FCBB-5BE813E7196F}"/>
              </a:ext>
            </a:extLst>
          </p:cNvPr>
          <p:cNvSpPr/>
          <p:nvPr/>
        </p:nvSpPr>
        <p:spPr>
          <a:xfrm>
            <a:off x="639717" y="4052523"/>
            <a:ext cx="4751814" cy="138499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buFont typeface="+mj-lt"/>
              <a:buAutoNum type="romanUcPeriod"/>
            </a:pPr>
            <a:r>
              <a:rPr lang="en-US" sz="2200" dirty="0">
                <a:solidFill>
                  <a:srgbClr val="FF0000"/>
                </a:solidFill>
                <a:latin typeface="Calibri"/>
              </a:rPr>
              <a:t>High-rate DDoS </a:t>
            </a:r>
            <a:r>
              <a:rPr lang="en-US" sz="2200" dirty="0">
                <a:latin typeface="Calibri"/>
              </a:rPr>
              <a:t>attack (</a:t>
            </a:r>
            <a:r>
              <a:rPr lang="en-US" sz="2200" dirty="0" err="1">
                <a:latin typeface="Calibri"/>
              </a:rPr>
              <a:t>HrDDoS</a:t>
            </a:r>
            <a:r>
              <a:rPr lang="en-US" sz="2200" dirty="0">
                <a:latin typeface="Calibri"/>
              </a:rPr>
              <a:t>):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200" i="1" dirty="0">
                <a:solidFill>
                  <a:srgbClr val="00B050"/>
                </a:solidFill>
                <a:latin typeface="Calibri"/>
              </a:rPr>
              <a:t>Low-rate DDoS </a:t>
            </a:r>
            <a:r>
              <a:rPr lang="en-US" sz="2200" i="1" dirty="0">
                <a:latin typeface="Calibri"/>
              </a:rPr>
              <a:t>Attacks (</a:t>
            </a:r>
            <a:r>
              <a:rPr lang="en-US" sz="2200" i="1" dirty="0" err="1">
                <a:latin typeface="Calibri"/>
              </a:rPr>
              <a:t>LrDDoS</a:t>
            </a:r>
            <a:r>
              <a:rPr lang="en-US" sz="2200" i="1" dirty="0">
                <a:latin typeface="Calibri"/>
              </a:rPr>
              <a:t>):</a:t>
            </a:r>
            <a:r>
              <a:rPr lang="en-US" sz="2200" dirty="0">
                <a:latin typeface="Calibri"/>
              </a:rPr>
              <a:t> </a:t>
            </a:r>
            <a:endParaRPr lang="en-US" sz="2200" dirty="0">
              <a:latin typeface="Calibri" panose="020F0502020204030204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2200" i="1" dirty="0">
                <a:solidFill>
                  <a:srgbClr val="0000FF"/>
                </a:solidFill>
                <a:latin typeface="Calibri"/>
              </a:rPr>
              <a:t>Mixed-rate DDoS </a:t>
            </a:r>
            <a:r>
              <a:rPr lang="en-US" sz="2200" i="1" dirty="0">
                <a:latin typeface="Calibri"/>
              </a:rPr>
              <a:t>Attacks (</a:t>
            </a:r>
            <a:r>
              <a:rPr lang="en-US" sz="2200" i="1" dirty="0" err="1">
                <a:latin typeface="Calibri"/>
              </a:rPr>
              <a:t>MrDDoS</a:t>
            </a:r>
            <a:r>
              <a:rPr lang="en-US" sz="2200" i="1" dirty="0">
                <a:latin typeface="Calibri"/>
              </a:rPr>
              <a:t>):</a:t>
            </a:r>
            <a:r>
              <a:rPr lang="en-US" sz="2200" dirty="0">
                <a:latin typeface="Calibri"/>
              </a:rPr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Line 29"/>
          <p:cNvSpPr>
            <a:spLocks noChangeShapeType="1"/>
          </p:cNvSpPr>
          <p:nvPr/>
        </p:nvSpPr>
        <p:spPr bwMode="auto">
          <a:xfrm>
            <a:off x="8851828" y="2130758"/>
            <a:ext cx="58561" cy="40345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30"/>
          <p:cNvSpPr>
            <a:spLocks noChangeShapeType="1"/>
          </p:cNvSpPr>
          <p:nvPr/>
        </p:nvSpPr>
        <p:spPr bwMode="auto">
          <a:xfrm flipH="1">
            <a:off x="9080428" y="2202118"/>
            <a:ext cx="230475" cy="3203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31"/>
          <p:cNvSpPr>
            <a:spLocks noChangeShapeType="1"/>
          </p:cNvSpPr>
          <p:nvPr/>
        </p:nvSpPr>
        <p:spPr bwMode="auto">
          <a:xfrm flipH="1" flipV="1">
            <a:off x="8986589" y="2686616"/>
            <a:ext cx="609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32"/>
          <p:cNvSpPr>
            <a:spLocks noChangeShapeType="1"/>
          </p:cNvSpPr>
          <p:nvPr/>
        </p:nvSpPr>
        <p:spPr bwMode="auto">
          <a:xfrm>
            <a:off x="8910388" y="2702492"/>
            <a:ext cx="1" cy="4413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36"/>
          <p:cNvSpPr>
            <a:spLocks noChangeShapeType="1"/>
          </p:cNvSpPr>
          <p:nvPr/>
        </p:nvSpPr>
        <p:spPr bwMode="auto">
          <a:xfrm>
            <a:off x="6775416" y="2278629"/>
            <a:ext cx="182562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37"/>
          <p:cNvSpPr>
            <a:spLocks noChangeShapeType="1"/>
          </p:cNvSpPr>
          <p:nvPr/>
        </p:nvSpPr>
        <p:spPr bwMode="auto">
          <a:xfrm>
            <a:off x="6507694" y="2492147"/>
            <a:ext cx="297884" cy="2436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8"/>
          <p:cNvSpPr>
            <a:spLocks noChangeShapeType="1"/>
          </p:cNvSpPr>
          <p:nvPr/>
        </p:nvSpPr>
        <p:spPr bwMode="auto">
          <a:xfrm>
            <a:off x="6119778" y="2659629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9"/>
          <p:cNvSpPr>
            <a:spLocks noChangeShapeType="1"/>
          </p:cNvSpPr>
          <p:nvPr/>
        </p:nvSpPr>
        <p:spPr bwMode="auto">
          <a:xfrm flipV="1">
            <a:off x="6272178" y="2888229"/>
            <a:ext cx="457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0"/>
          <p:cNvSpPr>
            <a:spLocks noChangeShapeType="1"/>
          </p:cNvSpPr>
          <p:nvPr/>
        </p:nvSpPr>
        <p:spPr bwMode="auto">
          <a:xfrm flipV="1">
            <a:off x="6268509" y="3426389"/>
            <a:ext cx="555925" cy="32702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1"/>
          <p:cNvSpPr>
            <a:spLocks noChangeShapeType="1"/>
          </p:cNvSpPr>
          <p:nvPr/>
        </p:nvSpPr>
        <p:spPr bwMode="auto">
          <a:xfrm flipV="1">
            <a:off x="6815180" y="3524815"/>
            <a:ext cx="131771" cy="331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42"/>
          <p:cNvSpPr>
            <a:spLocks noChangeShapeType="1"/>
          </p:cNvSpPr>
          <p:nvPr/>
        </p:nvSpPr>
        <p:spPr bwMode="auto">
          <a:xfrm>
            <a:off x="7062287" y="2839016"/>
            <a:ext cx="435827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 flipV="1">
            <a:off x="6918677" y="3372416"/>
            <a:ext cx="503237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59"/>
          <p:cNvSpPr>
            <a:spLocks noChangeShapeType="1"/>
          </p:cNvSpPr>
          <p:nvPr/>
        </p:nvSpPr>
        <p:spPr bwMode="auto">
          <a:xfrm flipV="1">
            <a:off x="7251751" y="4264589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 flipH="1" flipV="1">
            <a:off x="7480351" y="4340789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61"/>
          <p:cNvSpPr>
            <a:spLocks noChangeShapeType="1"/>
          </p:cNvSpPr>
          <p:nvPr/>
        </p:nvSpPr>
        <p:spPr bwMode="auto">
          <a:xfrm flipH="1" flipV="1">
            <a:off x="9039557" y="4356663"/>
            <a:ext cx="173773" cy="26224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62"/>
          <p:cNvSpPr>
            <a:spLocks noChangeShapeType="1"/>
          </p:cNvSpPr>
          <p:nvPr/>
        </p:nvSpPr>
        <p:spPr bwMode="auto">
          <a:xfrm flipH="1">
            <a:off x="9443789" y="4134416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63"/>
          <p:cNvSpPr>
            <a:spLocks noChangeShapeType="1"/>
          </p:cNvSpPr>
          <p:nvPr/>
        </p:nvSpPr>
        <p:spPr bwMode="auto">
          <a:xfrm flipH="1">
            <a:off x="9519989" y="4363016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64"/>
          <p:cNvSpPr>
            <a:spLocks noChangeShapeType="1"/>
          </p:cNvSpPr>
          <p:nvPr/>
        </p:nvSpPr>
        <p:spPr bwMode="auto">
          <a:xfrm flipH="1" flipV="1">
            <a:off x="9672389" y="4667816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65"/>
          <p:cNvSpPr>
            <a:spLocks noChangeShapeType="1"/>
          </p:cNvSpPr>
          <p:nvPr/>
        </p:nvSpPr>
        <p:spPr bwMode="auto">
          <a:xfrm flipH="1" flipV="1">
            <a:off x="9596189" y="4744016"/>
            <a:ext cx="381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66"/>
          <p:cNvSpPr>
            <a:spLocks noChangeShapeType="1"/>
          </p:cNvSpPr>
          <p:nvPr/>
        </p:nvSpPr>
        <p:spPr bwMode="auto">
          <a:xfrm flipV="1">
            <a:off x="9443789" y="4744016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67"/>
          <p:cNvSpPr>
            <a:spLocks noChangeShapeType="1"/>
          </p:cNvSpPr>
          <p:nvPr/>
        </p:nvSpPr>
        <p:spPr bwMode="auto">
          <a:xfrm flipH="1">
            <a:off x="9824789" y="3220016"/>
            <a:ext cx="1905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68"/>
          <p:cNvSpPr>
            <a:spLocks noChangeShapeType="1"/>
          </p:cNvSpPr>
          <p:nvPr/>
        </p:nvSpPr>
        <p:spPr bwMode="auto">
          <a:xfrm flipH="1">
            <a:off x="10208594" y="2818379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69"/>
          <p:cNvSpPr>
            <a:spLocks noChangeShapeType="1"/>
          </p:cNvSpPr>
          <p:nvPr/>
        </p:nvSpPr>
        <p:spPr bwMode="auto">
          <a:xfrm flipH="1">
            <a:off x="10360994" y="3123179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70"/>
          <p:cNvSpPr>
            <a:spLocks noChangeShapeType="1"/>
          </p:cNvSpPr>
          <p:nvPr/>
        </p:nvSpPr>
        <p:spPr bwMode="auto">
          <a:xfrm flipV="1">
            <a:off x="7480351" y="3426389"/>
            <a:ext cx="152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7" name="Picture 7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9150" y="3411658"/>
            <a:ext cx="3508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8" name="Picture 7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489" y="3589110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9" name="Line 75"/>
          <p:cNvSpPr>
            <a:spLocks noChangeShapeType="1"/>
          </p:cNvSpPr>
          <p:nvPr/>
        </p:nvSpPr>
        <p:spPr bwMode="auto">
          <a:xfrm>
            <a:off x="8945915" y="3235890"/>
            <a:ext cx="650274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77"/>
          <p:cNvSpPr>
            <a:spLocks noChangeShapeType="1"/>
          </p:cNvSpPr>
          <p:nvPr/>
        </p:nvSpPr>
        <p:spPr bwMode="auto">
          <a:xfrm flipH="1">
            <a:off x="8986589" y="3753416"/>
            <a:ext cx="533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79"/>
          <p:cNvSpPr>
            <a:spLocks noChangeShapeType="1"/>
          </p:cNvSpPr>
          <p:nvPr/>
        </p:nvSpPr>
        <p:spPr bwMode="auto">
          <a:xfrm flipH="1" flipV="1">
            <a:off x="8453189" y="3753416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80"/>
          <p:cNvSpPr>
            <a:spLocks noChangeShapeType="1"/>
          </p:cNvSpPr>
          <p:nvPr/>
        </p:nvSpPr>
        <p:spPr bwMode="auto">
          <a:xfrm flipH="1">
            <a:off x="8300789" y="3215254"/>
            <a:ext cx="492726" cy="309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91"/>
          <p:cNvSpPr>
            <a:spLocks noChangeShapeType="1"/>
          </p:cNvSpPr>
          <p:nvPr/>
        </p:nvSpPr>
        <p:spPr bwMode="auto">
          <a:xfrm flipH="1" flipV="1">
            <a:off x="7726715" y="3143816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09"/>
          <p:cNvSpPr>
            <a:spLocks noChangeShapeType="1"/>
          </p:cNvSpPr>
          <p:nvPr/>
        </p:nvSpPr>
        <p:spPr bwMode="auto">
          <a:xfrm flipH="1">
            <a:off x="9900989" y="3673248"/>
            <a:ext cx="609600" cy="3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10"/>
          <p:cNvSpPr>
            <a:spLocks noChangeShapeType="1"/>
          </p:cNvSpPr>
          <p:nvPr/>
        </p:nvSpPr>
        <p:spPr bwMode="auto">
          <a:xfrm>
            <a:off x="11005889" y="3665310"/>
            <a:ext cx="533400" cy="7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6" name="Picture 1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989" y="459161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7" name="Picture 1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51" y="4188389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8" name="Picture 1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110" y="341051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9" name="Picture 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978" y="2735829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0" name="Picture 1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789" y="253421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1" name="Picture 1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794" y="3046979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2" name="Line 152"/>
          <p:cNvSpPr>
            <a:spLocks noChangeShapeType="1"/>
          </p:cNvSpPr>
          <p:nvPr/>
        </p:nvSpPr>
        <p:spPr bwMode="auto">
          <a:xfrm>
            <a:off x="6957978" y="2354829"/>
            <a:ext cx="762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153"/>
          <p:cNvSpPr>
            <a:spLocks noChangeShapeType="1"/>
          </p:cNvSpPr>
          <p:nvPr/>
        </p:nvSpPr>
        <p:spPr bwMode="auto">
          <a:xfrm>
            <a:off x="7160791" y="2732653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Line 154"/>
          <p:cNvSpPr>
            <a:spLocks noChangeShapeType="1"/>
          </p:cNvSpPr>
          <p:nvPr/>
        </p:nvSpPr>
        <p:spPr bwMode="auto">
          <a:xfrm>
            <a:off x="7879115" y="3143816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156"/>
          <p:cNvSpPr>
            <a:spLocks noChangeShapeType="1"/>
          </p:cNvSpPr>
          <p:nvPr/>
        </p:nvSpPr>
        <p:spPr bwMode="auto">
          <a:xfrm>
            <a:off x="8605589" y="3677216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157"/>
          <p:cNvSpPr>
            <a:spLocks noChangeShapeType="1"/>
          </p:cNvSpPr>
          <p:nvPr/>
        </p:nvSpPr>
        <p:spPr bwMode="auto">
          <a:xfrm flipV="1">
            <a:off x="9062789" y="3677216"/>
            <a:ext cx="3810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158"/>
          <p:cNvSpPr>
            <a:spLocks noChangeShapeType="1"/>
          </p:cNvSpPr>
          <p:nvPr/>
        </p:nvSpPr>
        <p:spPr bwMode="auto">
          <a:xfrm>
            <a:off x="10066399" y="3574996"/>
            <a:ext cx="348475" cy="379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159"/>
          <p:cNvSpPr>
            <a:spLocks noChangeShapeType="1"/>
          </p:cNvSpPr>
          <p:nvPr/>
        </p:nvSpPr>
        <p:spPr bwMode="auto">
          <a:xfrm flipV="1">
            <a:off x="11082089" y="351291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Oval 173"/>
          <p:cNvSpPr>
            <a:spLocks noChangeArrowheads="1"/>
          </p:cNvSpPr>
          <p:nvPr/>
        </p:nvSpPr>
        <p:spPr bwMode="auto">
          <a:xfrm>
            <a:off x="6653178" y="205002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0" name="Oval 174"/>
          <p:cNvSpPr>
            <a:spLocks noChangeArrowheads="1"/>
          </p:cNvSpPr>
          <p:nvPr/>
        </p:nvSpPr>
        <p:spPr bwMode="auto">
          <a:xfrm>
            <a:off x="6325146" y="2348664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1" name="Oval 175"/>
          <p:cNvSpPr>
            <a:spLocks noChangeArrowheads="1"/>
          </p:cNvSpPr>
          <p:nvPr/>
        </p:nvSpPr>
        <p:spPr bwMode="auto">
          <a:xfrm>
            <a:off x="6037784" y="252244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2" name="Oval 176"/>
          <p:cNvSpPr>
            <a:spLocks noChangeArrowheads="1"/>
          </p:cNvSpPr>
          <p:nvPr/>
        </p:nvSpPr>
        <p:spPr bwMode="auto">
          <a:xfrm>
            <a:off x="6268509" y="29707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3" name="Oval 177"/>
          <p:cNvSpPr>
            <a:spLocks noChangeArrowheads="1"/>
          </p:cNvSpPr>
          <p:nvPr/>
        </p:nvSpPr>
        <p:spPr bwMode="auto">
          <a:xfrm>
            <a:off x="6202713" y="3614508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4" name="Oval 178"/>
          <p:cNvSpPr>
            <a:spLocks noChangeArrowheads="1"/>
          </p:cNvSpPr>
          <p:nvPr/>
        </p:nvSpPr>
        <p:spPr bwMode="auto">
          <a:xfrm>
            <a:off x="6650447" y="377563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5" name="Oval 189"/>
          <p:cNvSpPr>
            <a:spLocks noChangeArrowheads="1"/>
          </p:cNvSpPr>
          <p:nvPr/>
        </p:nvSpPr>
        <p:spPr bwMode="auto">
          <a:xfrm>
            <a:off x="7165223" y="451642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6" name="Oval 190"/>
          <p:cNvSpPr>
            <a:spLocks noChangeArrowheads="1"/>
          </p:cNvSpPr>
          <p:nvPr/>
        </p:nvSpPr>
        <p:spPr bwMode="auto">
          <a:xfrm>
            <a:off x="7566879" y="455351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7" name="Oval 191"/>
          <p:cNvSpPr>
            <a:spLocks noChangeArrowheads="1"/>
          </p:cNvSpPr>
          <p:nvPr/>
        </p:nvSpPr>
        <p:spPr bwMode="auto">
          <a:xfrm>
            <a:off x="9310903" y="497261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8" name="Oval 192"/>
          <p:cNvSpPr>
            <a:spLocks noChangeArrowheads="1"/>
          </p:cNvSpPr>
          <p:nvPr/>
        </p:nvSpPr>
        <p:spPr bwMode="auto">
          <a:xfrm>
            <a:off x="9786689" y="493451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69" name="Oval 193"/>
          <p:cNvSpPr>
            <a:spLocks noChangeArrowheads="1"/>
          </p:cNvSpPr>
          <p:nvPr/>
        </p:nvSpPr>
        <p:spPr bwMode="auto">
          <a:xfrm>
            <a:off x="10052012" y="463072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70" name="Oval 194"/>
          <p:cNvSpPr>
            <a:spLocks noChangeArrowheads="1"/>
          </p:cNvSpPr>
          <p:nvPr/>
        </p:nvSpPr>
        <p:spPr bwMode="auto">
          <a:xfrm>
            <a:off x="9920039" y="425547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71" name="Oval 195"/>
          <p:cNvSpPr>
            <a:spLocks noChangeArrowheads="1"/>
          </p:cNvSpPr>
          <p:nvPr/>
        </p:nvSpPr>
        <p:spPr bwMode="auto">
          <a:xfrm>
            <a:off x="9480030" y="40839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72" name="Oval 196"/>
          <p:cNvSpPr>
            <a:spLocks noChangeArrowheads="1"/>
          </p:cNvSpPr>
          <p:nvPr/>
        </p:nvSpPr>
        <p:spPr bwMode="auto">
          <a:xfrm>
            <a:off x="10284794" y="26405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73" name="Oval 197"/>
          <p:cNvSpPr>
            <a:spLocks noChangeArrowheads="1"/>
          </p:cNvSpPr>
          <p:nvPr/>
        </p:nvSpPr>
        <p:spPr bwMode="auto">
          <a:xfrm>
            <a:off x="10589594" y="29707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74" name="Oval 198"/>
          <p:cNvSpPr>
            <a:spLocks noChangeArrowheads="1"/>
          </p:cNvSpPr>
          <p:nvPr/>
        </p:nvSpPr>
        <p:spPr bwMode="auto">
          <a:xfrm>
            <a:off x="9438443" y="2675504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75" name="Oval 199"/>
          <p:cNvSpPr>
            <a:spLocks noChangeArrowheads="1"/>
          </p:cNvSpPr>
          <p:nvPr/>
        </p:nvSpPr>
        <p:spPr bwMode="auto">
          <a:xfrm>
            <a:off x="9225411" y="200875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76" name="Oval 200"/>
          <p:cNvSpPr>
            <a:spLocks noChangeArrowheads="1"/>
          </p:cNvSpPr>
          <p:nvPr/>
        </p:nvSpPr>
        <p:spPr bwMode="auto">
          <a:xfrm>
            <a:off x="8699428" y="1902158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pic>
        <p:nvPicPr>
          <p:cNvPr id="77" name="Picture 1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715" y="30676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Picture 1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328" y="30271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1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789" y="35248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1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989" y="35248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Picture 1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730" y="4085513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81"/>
          <p:cNvSpPr txBox="1"/>
          <p:nvPr/>
        </p:nvSpPr>
        <p:spPr>
          <a:xfrm>
            <a:off x="8442816" y="5752752"/>
            <a:ext cx="1805174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Fig. 1</a:t>
            </a:r>
            <a:r>
              <a:rPr lang="en-US" sz="1600" dirty="0" smtClean="0">
                <a:latin typeface="Times New Roman"/>
                <a:cs typeface="Times New Roman"/>
              </a:rPr>
              <a:t>: </a:t>
            </a:r>
            <a:r>
              <a:rPr lang="en-US" sz="1600" dirty="0" err="1">
                <a:latin typeface="Times New Roman"/>
                <a:cs typeface="Times New Roman"/>
              </a:rPr>
              <a:t>DoS</a:t>
            </a:r>
            <a:r>
              <a:rPr lang="en-US" sz="1600" dirty="0">
                <a:latin typeface="Times New Roman"/>
                <a:cs typeface="Times New Roman"/>
              </a:rPr>
              <a:t> Attacks</a:t>
            </a:r>
          </a:p>
        </p:txBody>
      </p:sp>
    </p:spTree>
    <p:extLst>
      <p:ext uri="{BB962C8B-B14F-4D97-AF65-F5344CB8AC3E}">
        <p14:creationId xmlns:p14="http://schemas.microsoft.com/office/powerpoint/2010/main" val="232722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 DDoS attack in IoT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2" descr="Diagram&#10;&#10;Description automatically generated">
            <a:extLst>
              <a:ext uri="{FF2B5EF4-FFF2-40B4-BE49-F238E27FC236}">
                <a16:creationId xmlns:a16="http://schemas.microsoft.com/office/drawing/2014/main" id="{1A030F6C-EBDC-6DF8-04E5-538D29052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828" y="1972403"/>
            <a:ext cx="4557788" cy="3700894"/>
          </a:xfrm>
          <a:prstGeom prst="rect">
            <a:avLst/>
          </a:prstGeom>
        </p:spPr>
      </p:pic>
      <p:sp>
        <p:nvSpPr>
          <p:cNvPr id="8" name="CustomShape 1">
            <a:extLst>
              <a:ext uri="{FF2B5EF4-FFF2-40B4-BE49-F238E27FC236}">
                <a16:creationId xmlns:a16="http://schemas.microsoft.com/office/drawing/2014/main" id="{BC0073BA-7119-901A-FE7F-4BB7B683658E}"/>
              </a:ext>
            </a:extLst>
          </p:cNvPr>
          <p:cNvSpPr/>
          <p:nvPr/>
        </p:nvSpPr>
        <p:spPr>
          <a:xfrm>
            <a:off x="2079223" y="5829705"/>
            <a:ext cx="2119300" cy="390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1600" spc="-1" dirty="0">
                <a:latin typeface="Times New Roman"/>
                <a:cs typeface="Times New Roman"/>
              </a:rPr>
              <a:t>Fig. </a:t>
            </a:r>
            <a:r>
              <a:rPr lang="en-IN" sz="1600" spc="-1" dirty="0" smtClean="0">
                <a:latin typeface="Times New Roman"/>
                <a:cs typeface="Times New Roman"/>
              </a:rPr>
              <a:t>2: </a:t>
            </a:r>
            <a:r>
              <a:rPr lang="en-IN" sz="1600" spc="-1" dirty="0">
                <a:latin typeface="Times New Roman"/>
                <a:cs typeface="Times New Roman"/>
              </a:rPr>
              <a:t>DDoS Attack</a:t>
            </a:r>
            <a:endParaRPr lang="en-IN" sz="1600" b="0" strike="noStrike" spc="-1" dirty="0">
              <a:latin typeface="Times New Roman"/>
              <a:cs typeface="Times New Roman"/>
            </a:endParaRPr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1423927" y="1694160"/>
            <a:ext cx="3964361" cy="3456780"/>
            <a:chOff x="2544" y="2064"/>
            <a:chExt cx="1095" cy="816"/>
          </a:xfrm>
        </p:grpSpPr>
        <p:grpSp>
          <p:nvGrpSpPr>
            <p:cNvPr id="11" name="Group 6"/>
            <p:cNvGrpSpPr>
              <a:grpSpLocks/>
            </p:cNvGrpSpPr>
            <p:nvPr/>
          </p:nvGrpSpPr>
          <p:grpSpPr bwMode="auto">
            <a:xfrm>
              <a:off x="2544" y="2064"/>
              <a:ext cx="1095" cy="816"/>
              <a:chOff x="960" y="240"/>
              <a:chExt cx="1095" cy="816"/>
            </a:xfrm>
          </p:grpSpPr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 rot="-1779725">
                <a:off x="1530" y="869"/>
                <a:ext cx="164" cy="187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 rot="-1779725">
                <a:off x="1203" y="243"/>
                <a:ext cx="164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 rot="-1779725">
                <a:off x="1004" y="426"/>
                <a:ext cx="97" cy="11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 rot="-1779725">
                <a:off x="1152" y="858"/>
                <a:ext cx="98" cy="11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7" name="Oval 11"/>
              <p:cNvSpPr>
                <a:spLocks noChangeArrowheads="1"/>
              </p:cNvSpPr>
              <p:nvPr/>
            </p:nvSpPr>
            <p:spPr bwMode="auto">
              <a:xfrm rot="-1779725">
                <a:off x="1021" y="706"/>
                <a:ext cx="164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0" name="Oval 12"/>
              <p:cNvSpPr>
                <a:spLocks noChangeArrowheads="1"/>
              </p:cNvSpPr>
              <p:nvPr/>
            </p:nvSpPr>
            <p:spPr bwMode="auto">
              <a:xfrm rot="-1779725">
                <a:off x="1087" y="316"/>
                <a:ext cx="164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1" name="Oval 13"/>
              <p:cNvSpPr>
                <a:spLocks noChangeArrowheads="1"/>
              </p:cNvSpPr>
              <p:nvPr/>
            </p:nvSpPr>
            <p:spPr bwMode="auto">
              <a:xfrm rot="-1779725">
                <a:off x="1891" y="601"/>
                <a:ext cx="164" cy="187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3" name="Oval 14"/>
              <p:cNvSpPr>
                <a:spLocks noChangeArrowheads="1"/>
              </p:cNvSpPr>
              <p:nvPr/>
            </p:nvSpPr>
            <p:spPr bwMode="auto">
              <a:xfrm rot="-1779725">
                <a:off x="1791" y="707"/>
                <a:ext cx="165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4" name="Oval 15"/>
              <p:cNvSpPr>
                <a:spLocks noChangeArrowheads="1"/>
              </p:cNvSpPr>
              <p:nvPr/>
            </p:nvSpPr>
            <p:spPr bwMode="auto">
              <a:xfrm rot="-1779725">
                <a:off x="960" y="495"/>
                <a:ext cx="298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5" name="Oval 16"/>
              <p:cNvSpPr>
                <a:spLocks noChangeArrowheads="1"/>
              </p:cNvSpPr>
              <p:nvPr/>
            </p:nvSpPr>
            <p:spPr bwMode="auto">
              <a:xfrm rot="-1779725">
                <a:off x="1133" y="414"/>
                <a:ext cx="566" cy="64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 rot="-1779725">
                <a:off x="1073" y="642"/>
                <a:ext cx="117" cy="171"/>
              </a:xfrm>
              <a:custGeom>
                <a:avLst/>
                <a:gdLst>
                  <a:gd name="T0" fmla="*/ 5 w 248"/>
                  <a:gd name="T1" fmla="*/ 0 h 320"/>
                  <a:gd name="T2" fmla="*/ 0 w 248"/>
                  <a:gd name="T3" fmla="*/ 12 h 320"/>
                  <a:gd name="T4" fmla="*/ 2 w 248"/>
                  <a:gd name="T5" fmla="*/ 14 h 320"/>
                  <a:gd name="T6" fmla="*/ 6 w 248"/>
                  <a:gd name="T7" fmla="*/ 1 h 320"/>
                  <a:gd name="T8" fmla="*/ 5 w 248"/>
                  <a:gd name="T9" fmla="*/ 0 h 3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8"/>
                  <a:gd name="T16" fmla="*/ 0 h 320"/>
                  <a:gd name="T17" fmla="*/ 248 w 248"/>
                  <a:gd name="T18" fmla="*/ 320 h 3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8" h="320">
                    <a:moveTo>
                      <a:pt x="212" y="0"/>
                    </a:moveTo>
                    <a:lnTo>
                      <a:pt x="0" y="280"/>
                    </a:lnTo>
                    <a:lnTo>
                      <a:pt x="105" y="320"/>
                    </a:lnTo>
                    <a:lnTo>
                      <a:pt x="248" y="28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7" name="Oval 18"/>
              <p:cNvSpPr>
                <a:spLocks noChangeArrowheads="1"/>
              </p:cNvSpPr>
              <p:nvPr/>
            </p:nvSpPr>
            <p:spPr bwMode="auto">
              <a:xfrm rot="-1779725">
                <a:off x="1342" y="372"/>
                <a:ext cx="566" cy="641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8" name="Oval 19"/>
              <p:cNvSpPr>
                <a:spLocks noChangeArrowheads="1"/>
              </p:cNvSpPr>
              <p:nvPr/>
            </p:nvSpPr>
            <p:spPr bwMode="auto">
              <a:xfrm rot="-1779725">
                <a:off x="1759" y="326"/>
                <a:ext cx="198" cy="22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9" name="Oval 20"/>
              <p:cNvSpPr>
                <a:spLocks noChangeArrowheads="1"/>
              </p:cNvSpPr>
              <p:nvPr/>
            </p:nvSpPr>
            <p:spPr bwMode="auto">
              <a:xfrm rot="-1779725">
                <a:off x="1843" y="682"/>
                <a:ext cx="131" cy="149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0" name="Oval 21"/>
              <p:cNvSpPr>
                <a:spLocks noChangeArrowheads="1"/>
              </p:cNvSpPr>
              <p:nvPr/>
            </p:nvSpPr>
            <p:spPr bwMode="auto">
              <a:xfrm rot="-1779725">
                <a:off x="1654" y="319"/>
                <a:ext cx="131" cy="149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1" name="Oval 22"/>
              <p:cNvSpPr>
                <a:spLocks noChangeArrowheads="1"/>
              </p:cNvSpPr>
              <p:nvPr/>
            </p:nvSpPr>
            <p:spPr bwMode="auto">
              <a:xfrm rot="-1779725">
                <a:off x="1799" y="476"/>
                <a:ext cx="198" cy="22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2" name="Oval 23"/>
              <p:cNvSpPr>
                <a:spLocks noChangeArrowheads="1"/>
              </p:cNvSpPr>
              <p:nvPr/>
            </p:nvSpPr>
            <p:spPr bwMode="auto">
              <a:xfrm rot="-1779725">
                <a:off x="1071" y="338"/>
                <a:ext cx="299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3" name="Oval 24"/>
              <p:cNvSpPr>
                <a:spLocks noChangeArrowheads="1"/>
              </p:cNvSpPr>
              <p:nvPr/>
            </p:nvSpPr>
            <p:spPr bwMode="auto">
              <a:xfrm rot="-1779725">
                <a:off x="1367" y="241"/>
                <a:ext cx="299" cy="339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4" name="Oval 25"/>
              <p:cNvSpPr>
                <a:spLocks noChangeArrowheads="1"/>
              </p:cNvSpPr>
              <p:nvPr/>
            </p:nvSpPr>
            <p:spPr bwMode="auto">
              <a:xfrm rot="-1779725">
                <a:off x="1216" y="248"/>
                <a:ext cx="299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5" name="Oval 26"/>
              <p:cNvSpPr>
                <a:spLocks noChangeArrowheads="1"/>
              </p:cNvSpPr>
              <p:nvPr/>
            </p:nvSpPr>
            <p:spPr bwMode="auto">
              <a:xfrm rot="-1779725">
                <a:off x="1318" y="665"/>
                <a:ext cx="299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6" name="Freeform 27"/>
              <p:cNvSpPr>
                <a:spLocks/>
              </p:cNvSpPr>
              <p:nvPr/>
            </p:nvSpPr>
            <p:spPr bwMode="auto">
              <a:xfrm rot="-1779725">
                <a:off x="1160" y="240"/>
                <a:ext cx="746" cy="727"/>
              </a:xfrm>
              <a:custGeom>
                <a:avLst/>
                <a:gdLst>
                  <a:gd name="T0" fmla="*/ 8 w 1582"/>
                  <a:gd name="T1" fmla="*/ 0 h 1363"/>
                  <a:gd name="T2" fmla="*/ 16 w 1582"/>
                  <a:gd name="T3" fmla="*/ 7 h 1363"/>
                  <a:gd name="T4" fmla="*/ 24 w 1582"/>
                  <a:gd name="T5" fmla="*/ 5 h 1363"/>
                  <a:gd name="T6" fmla="*/ 29 w 1582"/>
                  <a:gd name="T7" fmla="*/ 20 h 1363"/>
                  <a:gd name="T8" fmla="*/ 30 w 1582"/>
                  <a:gd name="T9" fmla="*/ 21 h 1363"/>
                  <a:gd name="T10" fmla="*/ 33 w 1582"/>
                  <a:gd name="T11" fmla="*/ 25 h 1363"/>
                  <a:gd name="T12" fmla="*/ 34 w 1582"/>
                  <a:gd name="T13" fmla="*/ 29 h 1363"/>
                  <a:gd name="T14" fmla="*/ 37 w 1582"/>
                  <a:gd name="T15" fmla="*/ 35 h 1363"/>
                  <a:gd name="T16" fmla="*/ 36 w 1582"/>
                  <a:gd name="T17" fmla="*/ 37 h 1363"/>
                  <a:gd name="T18" fmla="*/ 31 w 1582"/>
                  <a:gd name="T19" fmla="*/ 57 h 1363"/>
                  <a:gd name="T20" fmla="*/ 27 w 1582"/>
                  <a:gd name="T21" fmla="*/ 59 h 1363"/>
                  <a:gd name="T22" fmla="*/ 14 w 1582"/>
                  <a:gd name="T23" fmla="*/ 57 h 1363"/>
                  <a:gd name="T24" fmla="*/ 13 w 1582"/>
                  <a:gd name="T25" fmla="*/ 54 h 1363"/>
                  <a:gd name="T26" fmla="*/ 5 w 1582"/>
                  <a:gd name="T27" fmla="*/ 50 h 1363"/>
                  <a:gd name="T28" fmla="*/ 3 w 1582"/>
                  <a:gd name="T29" fmla="*/ 52 h 1363"/>
                  <a:gd name="T30" fmla="*/ 0 w 1582"/>
                  <a:gd name="T31" fmla="*/ 20 h 1363"/>
                  <a:gd name="T32" fmla="*/ 8 w 1582"/>
                  <a:gd name="T33" fmla="*/ 0 h 13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582"/>
                  <a:gd name="T52" fmla="*/ 0 h 1363"/>
                  <a:gd name="T53" fmla="*/ 1582 w 1582"/>
                  <a:gd name="T54" fmla="*/ 1363 h 136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582" h="1363">
                    <a:moveTo>
                      <a:pt x="373" y="0"/>
                    </a:moveTo>
                    <a:lnTo>
                      <a:pt x="660" y="169"/>
                    </a:lnTo>
                    <a:lnTo>
                      <a:pt x="1006" y="125"/>
                    </a:lnTo>
                    <a:lnTo>
                      <a:pt x="1227" y="453"/>
                    </a:lnTo>
                    <a:lnTo>
                      <a:pt x="1285" y="479"/>
                    </a:lnTo>
                    <a:lnTo>
                      <a:pt x="1440" y="582"/>
                    </a:lnTo>
                    <a:lnTo>
                      <a:pt x="1480" y="666"/>
                    </a:lnTo>
                    <a:lnTo>
                      <a:pt x="1582" y="817"/>
                    </a:lnTo>
                    <a:lnTo>
                      <a:pt x="1565" y="866"/>
                    </a:lnTo>
                    <a:lnTo>
                      <a:pt x="1325" y="1310"/>
                    </a:lnTo>
                    <a:lnTo>
                      <a:pt x="1157" y="1363"/>
                    </a:lnTo>
                    <a:lnTo>
                      <a:pt x="607" y="1314"/>
                    </a:lnTo>
                    <a:lnTo>
                      <a:pt x="567" y="1243"/>
                    </a:lnTo>
                    <a:lnTo>
                      <a:pt x="204" y="1163"/>
                    </a:lnTo>
                    <a:lnTo>
                      <a:pt x="137" y="1194"/>
                    </a:lnTo>
                    <a:lnTo>
                      <a:pt x="0" y="461"/>
                    </a:lnTo>
                    <a:lnTo>
                      <a:pt x="3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sp>
          <p:nvSpPr>
            <p:cNvPr id="12" name="Text Box 28"/>
            <p:cNvSpPr txBox="1">
              <a:spLocks noChangeArrowheads="1"/>
            </p:cNvSpPr>
            <p:nvPr/>
          </p:nvSpPr>
          <p:spPr bwMode="auto">
            <a:xfrm>
              <a:off x="2687" y="2313"/>
              <a:ext cx="3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37" name="Line 29"/>
          <p:cNvSpPr>
            <a:spLocks noChangeShapeType="1"/>
          </p:cNvSpPr>
          <p:nvPr/>
        </p:nvSpPr>
        <p:spPr bwMode="auto">
          <a:xfrm>
            <a:off x="3727584" y="1843512"/>
            <a:ext cx="159788" cy="1203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30"/>
          <p:cNvSpPr>
            <a:spLocks noChangeShapeType="1"/>
          </p:cNvSpPr>
          <p:nvPr/>
        </p:nvSpPr>
        <p:spPr bwMode="auto">
          <a:xfrm flipH="1">
            <a:off x="4103479" y="1458914"/>
            <a:ext cx="79609" cy="51724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31"/>
          <p:cNvSpPr>
            <a:spLocks noChangeShapeType="1"/>
          </p:cNvSpPr>
          <p:nvPr/>
        </p:nvSpPr>
        <p:spPr bwMode="auto">
          <a:xfrm flipH="1">
            <a:off x="4216061" y="1720943"/>
            <a:ext cx="404693" cy="2711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32"/>
          <p:cNvSpPr>
            <a:spLocks noChangeShapeType="1"/>
          </p:cNvSpPr>
          <p:nvPr/>
        </p:nvSpPr>
        <p:spPr bwMode="auto">
          <a:xfrm>
            <a:off x="4042588" y="2014807"/>
            <a:ext cx="140500" cy="69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615175" y="1930096"/>
            <a:ext cx="457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615175" y="2234896"/>
            <a:ext cx="228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1090393" y="2254998"/>
            <a:ext cx="781050" cy="14743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793220" y="3329885"/>
            <a:ext cx="1029731" cy="826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45"/>
          <p:cNvSpPr>
            <a:spLocks noChangeShapeType="1"/>
          </p:cNvSpPr>
          <p:nvPr/>
        </p:nvSpPr>
        <p:spPr bwMode="auto">
          <a:xfrm>
            <a:off x="608623" y="3081606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6"/>
          <p:cNvSpPr>
            <a:spLocks noChangeShapeType="1"/>
          </p:cNvSpPr>
          <p:nvPr/>
        </p:nvSpPr>
        <p:spPr bwMode="auto">
          <a:xfrm flipV="1">
            <a:off x="184283" y="3372593"/>
            <a:ext cx="692645" cy="8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 flipV="1">
            <a:off x="607727" y="3475521"/>
            <a:ext cx="313710" cy="2881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 flipV="1">
            <a:off x="1107063" y="3939485"/>
            <a:ext cx="219558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 flipV="1">
            <a:off x="1195327" y="3974737"/>
            <a:ext cx="348630" cy="6505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0"/>
          <p:cNvSpPr>
            <a:spLocks noChangeShapeType="1"/>
          </p:cNvSpPr>
          <p:nvPr/>
        </p:nvSpPr>
        <p:spPr bwMode="auto">
          <a:xfrm flipH="1" flipV="1">
            <a:off x="1682503" y="4037886"/>
            <a:ext cx="52206" cy="43499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1"/>
          <p:cNvSpPr>
            <a:spLocks noChangeShapeType="1"/>
          </p:cNvSpPr>
          <p:nvPr/>
        </p:nvSpPr>
        <p:spPr bwMode="auto">
          <a:xfrm flipV="1">
            <a:off x="1616939" y="3537030"/>
            <a:ext cx="369836" cy="41550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56"/>
          <p:cNvSpPr>
            <a:spLocks noChangeShapeType="1"/>
          </p:cNvSpPr>
          <p:nvPr/>
        </p:nvSpPr>
        <p:spPr bwMode="auto">
          <a:xfrm flipV="1">
            <a:off x="3211523" y="4758006"/>
            <a:ext cx="146852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57"/>
          <p:cNvSpPr>
            <a:spLocks noChangeShapeType="1"/>
          </p:cNvSpPr>
          <p:nvPr/>
        </p:nvSpPr>
        <p:spPr bwMode="auto">
          <a:xfrm flipV="1">
            <a:off x="2877665" y="5216097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Line 58"/>
          <p:cNvSpPr>
            <a:spLocks noChangeShapeType="1"/>
          </p:cNvSpPr>
          <p:nvPr/>
        </p:nvSpPr>
        <p:spPr bwMode="auto">
          <a:xfrm flipH="1" flipV="1">
            <a:off x="3106265" y="5216097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61"/>
          <p:cNvSpPr>
            <a:spLocks noChangeShapeType="1"/>
          </p:cNvSpPr>
          <p:nvPr/>
        </p:nvSpPr>
        <p:spPr bwMode="auto">
          <a:xfrm flipH="1" flipV="1">
            <a:off x="5110975" y="4529406"/>
            <a:ext cx="533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62"/>
          <p:cNvSpPr>
            <a:spLocks noChangeShapeType="1"/>
          </p:cNvSpPr>
          <p:nvPr/>
        </p:nvSpPr>
        <p:spPr bwMode="auto">
          <a:xfrm flipH="1">
            <a:off x="5796775" y="4529406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63"/>
          <p:cNvSpPr>
            <a:spLocks noChangeShapeType="1"/>
          </p:cNvSpPr>
          <p:nvPr/>
        </p:nvSpPr>
        <p:spPr bwMode="auto">
          <a:xfrm flipH="1">
            <a:off x="5872975" y="4758006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64"/>
          <p:cNvSpPr>
            <a:spLocks noChangeShapeType="1"/>
          </p:cNvSpPr>
          <p:nvPr/>
        </p:nvSpPr>
        <p:spPr bwMode="auto">
          <a:xfrm flipH="1" flipV="1">
            <a:off x="6025375" y="5062806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65"/>
          <p:cNvSpPr>
            <a:spLocks noChangeShapeType="1"/>
          </p:cNvSpPr>
          <p:nvPr/>
        </p:nvSpPr>
        <p:spPr bwMode="auto">
          <a:xfrm flipH="1" flipV="1">
            <a:off x="5949175" y="5139006"/>
            <a:ext cx="381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66"/>
          <p:cNvSpPr>
            <a:spLocks noChangeShapeType="1"/>
          </p:cNvSpPr>
          <p:nvPr/>
        </p:nvSpPr>
        <p:spPr bwMode="auto">
          <a:xfrm flipV="1">
            <a:off x="5796775" y="5139006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67"/>
          <p:cNvSpPr>
            <a:spLocks noChangeShapeType="1"/>
          </p:cNvSpPr>
          <p:nvPr/>
        </p:nvSpPr>
        <p:spPr bwMode="auto">
          <a:xfrm flipH="1">
            <a:off x="5110975" y="2929206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68"/>
          <p:cNvSpPr>
            <a:spLocks noChangeShapeType="1"/>
          </p:cNvSpPr>
          <p:nvPr/>
        </p:nvSpPr>
        <p:spPr bwMode="auto">
          <a:xfrm flipH="1">
            <a:off x="6253975" y="2548206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69"/>
          <p:cNvSpPr>
            <a:spLocks noChangeShapeType="1"/>
          </p:cNvSpPr>
          <p:nvPr/>
        </p:nvSpPr>
        <p:spPr bwMode="auto">
          <a:xfrm flipH="1">
            <a:off x="6406375" y="2853006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4" name="Picture 7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539" y="3211383"/>
            <a:ext cx="3508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5" name="Line 75"/>
          <p:cNvSpPr>
            <a:spLocks noChangeShapeType="1"/>
          </p:cNvSpPr>
          <p:nvPr/>
        </p:nvSpPr>
        <p:spPr bwMode="auto">
          <a:xfrm>
            <a:off x="4272775" y="2929206"/>
            <a:ext cx="609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76"/>
          <p:cNvSpPr>
            <a:spLocks noChangeShapeType="1"/>
          </p:cNvSpPr>
          <p:nvPr/>
        </p:nvSpPr>
        <p:spPr bwMode="auto">
          <a:xfrm>
            <a:off x="4958575" y="3615006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77"/>
          <p:cNvSpPr>
            <a:spLocks noChangeShapeType="1"/>
          </p:cNvSpPr>
          <p:nvPr/>
        </p:nvSpPr>
        <p:spPr bwMode="auto">
          <a:xfrm flipH="1">
            <a:off x="4272775" y="3538806"/>
            <a:ext cx="533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78"/>
          <p:cNvSpPr>
            <a:spLocks noChangeShapeType="1"/>
          </p:cNvSpPr>
          <p:nvPr/>
        </p:nvSpPr>
        <p:spPr bwMode="auto">
          <a:xfrm flipH="1" flipV="1">
            <a:off x="4348975" y="4224606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79"/>
          <p:cNvSpPr>
            <a:spLocks noChangeShapeType="1"/>
          </p:cNvSpPr>
          <p:nvPr/>
        </p:nvSpPr>
        <p:spPr bwMode="auto">
          <a:xfrm flipH="1" flipV="1">
            <a:off x="3739375" y="3538806"/>
            <a:ext cx="457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80"/>
          <p:cNvSpPr>
            <a:spLocks noChangeShapeType="1"/>
          </p:cNvSpPr>
          <p:nvPr/>
        </p:nvSpPr>
        <p:spPr bwMode="auto">
          <a:xfrm flipH="1">
            <a:off x="3586975" y="2853006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82"/>
          <p:cNvSpPr>
            <a:spLocks noChangeShapeType="1"/>
          </p:cNvSpPr>
          <p:nvPr/>
        </p:nvSpPr>
        <p:spPr bwMode="auto">
          <a:xfrm flipH="1">
            <a:off x="3358375" y="3615006"/>
            <a:ext cx="304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Line 83"/>
          <p:cNvSpPr>
            <a:spLocks noChangeShapeType="1"/>
          </p:cNvSpPr>
          <p:nvPr/>
        </p:nvSpPr>
        <p:spPr bwMode="auto">
          <a:xfrm flipH="1" flipV="1">
            <a:off x="2901175" y="2776806"/>
            <a:ext cx="533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85"/>
          <p:cNvSpPr>
            <a:spLocks noChangeShapeType="1"/>
          </p:cNvSpPr>
          <p:nvPr/>
        </p:nvSpPr>
        <p:spPr bwMode="auto">
          <a:xfrm flipV="1">
            <a:off x="2596375" y="3005406"/>
            <a:ext cx="152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87"/>
          <p:cNvSpPr>
            <a:spLocks noChangeShapeType="1"/>
          </p:cNvSpPr>
          <p:nvPr/>
        </p:nvSpPr>
        <p:spPr bwMode="auto">
          <a:xfrm>
            <a:off x="2748775" y="4072206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88"/>
          <p:cNvSpPr>
            <a:spLocks noChangeShapeType="1"/>
          </p:cNvSpPr>
          <p:nvPr/>
        </p:nvSpPr>
        <p:spPr bwMode="auto">
          <a:xfrm flipV="1">
            <a:off x="2748775" y="3615006"/>
            <a:ext cx="685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89"/>
          <p:cNvSpPr>
            <a:spLocks noChangeShapeType="1"/>
          </p:cNvSpPr>
          <p:nvPr/>
        </p:nvSpPr>
        <p:spPr bwMode="auto">
          <a:xfrm flipV="1">
            <a:off x="2062975" y="2776806"/>
            <a:ext cx="533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90"/>
          <p:cNvSpPr>
            <a:spLocks noChangeShapeType="1"/>
          </p:cNvSpPr>
          <p:nvPr/>
        </p:nvSpPr>
        <p:spPr bwMode="auto">
          <a:xfrm>
            <a:off x="2824975" y="3919806"/>
            <a:ext cx="1143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Line 91"/>
          <p:cNvSpPr>
            <a:spLocks noChangeShapeType="1"/>
          </p:cNvSpPr>
          <p:nvPr/>
        </p:nvSpPr>
        <p:spPr bwMode="auto">
          <a:xfrm flipH="1" flipV="1">
            <a:off x="2215375" y="2243406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Line 93"/>
          <p:cNvSpPr>
            <a:spLocks noChangeShapeType="1"/>
          </p:cNvSpPr>
          <p:nvPr/>
        </p:nvSpPr>
        <p:spPr bwMode="auto">
          <a:xfrm>
            <a:off x="2062975" y="3538806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Line 109"/>
          <p:cNvSpPr>
            <a:spLocks noChangeShapeType="1"/>
          </p:cNvSpPr>
          <p:nvPr/>
        </p:nvSpPr>
        <p:spPr bwMode="auto">
          <a:xfrm flipH="1">
            <a:off x="5187175" y="3462606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1" name="Picture 1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975" y="498660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2" name="Picture 1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65" y="5063697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3" name="Picture 1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07" y="3267498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4" name="Picture 1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441" y="3880932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5" name="Picture 11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75" y="215869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6" name="Picture 1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979" y="1930668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7" name="Picture 14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175" y="277680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8" name="Line 159"/>
          <p:cNvSpPr>
            <a:spLocks noChangeShapeType="1"/>
          </p:cNvSpPr>
          <p:nvPr/>
        </p:nvSpPr>
        <p:spPr bwMode="auto">
          <a:xfrm>
            <a:off x="691375" y="1853896"/>
            <a:ext cx="3810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Line 160"/>
          <p:cNvSpPr>
            <a:spLocks noChangeShapeType="1"/>
          </p:cNvSpPr>
          <p:nvPr/>
        </p:nvSpPr>
        <p:spPr bwMode="auto">
          <a:xfrm flipV="1">
            <a:off x="807743" y="3551721"/>
            <a:ext cx="189893" cy="21839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Line 161"/>
          <p:cNvSpPr>
            <a:spLocks noChangeShapeType="1"/>
          </p:cNvSpPr>
          <p:nvPr/>
        </p:nvSpPr>
        <p:spPr bwMode="auto">
          <a:xfrm flipV="1">
            <a:off x="1216815" y="4140206"/>
            <a:ext cx="141401" cy="26779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Line 162"/>
          <p:cNvSpPr>
            <a:spLocks noChangeShapeType="1"/>
          </p:cNvSpPr>
          <p:nvPr/>
        </p:nvSpPr>
        <p:spPr bwMode="auto">
          <a:xfrm flipH="1" flipV="1">
            <a:off x="3334865" y="5216097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163"/>
          <p:cNvSpPr>
            <a:spLocks noChangeShapeType="1"/>
          </p:cNvSpPr>
          <p:nvPr/>
        </p:nvSpPr>
        <p:spPr bwMode="auto">
          <a:xfrm flipH="1" flipV="1">
            <a:off x="6025375" y="5139006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164"/>
          <p:cNvSpPr>
            <a:spLocks noChangeShapeType="1"/>
          </p:cNvSpPr>
          <p:nvPr/>
        </p:nvSpPr>
        <p:spPr bwMode="auto">
          <a:xfrm flipH="1">
            <a:off x="6025375" y="4834206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Line 165"/>
          <p:cNvSpPr>
            <a:spLocks noChangeShapeType="1"/>
          </p:cNvSpPr>
          <p:nvPr/>
        </p:nvSpPr>
        <p:spPr bwMode="auto">
          <a:xfrm flipH="1">
            <a:off x="6025375" y="2472006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Line 166"/>
          <p:cNvSpPr>
            <a:spLocks noChangeShapeType="1"/>
          </p:cNvSpPr>
          <p:nvPr/>
        </p:nvSpPr>
        <p:spPr bwMode="auto">
          <a:xfrm flipH="1">
            <a:off x="4015157" y="1618726"/>
            <a:ext cx="42827" cy="266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Line 167"/>
          <p:cNvSpPr>
            <a:spLocks noChangeShapeType="1"/>
          </p:cNvSpPr>
          <p:nvPr/>
        </p:nvSpPr>
        <p:spPr bwMode="auto">
          <a:xfrm>
            <a:off x="1447025" y="2248422"/>
            <a:ext cx="387349" cy="71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Line 168"/>
          <p:cNvSpPr>
            <a:spLocks noChangeShapeType="1"/>
          </p:cNvSpPr>
          <p:nvPr/>
        </p:nvSpPr>
        <p:spPr bwMode="auto">
          <a:xfrm>
            <a:off x="1424935" y="3275886"/>
            <a:ext cx="305171" cy="409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169"/>
          <p:cNvSpPr>
            <a:spLocks noChangeShapeType="1"/>
          </p:cNvSpPr>
          <p:nvPr/>
        </p:nvSpPr>
        <p:spPr bwMode="auto">
          <a:xfrm flipV="1">
            <a:off x="1601162" y="3581490"/>
            <a:ext cx="181071" cy="20400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170"/>
          <p:cNvSpPr>
            <a:spLocks noChangeShapeType="1"/>
          </p:cNvSpPr>
          <p:nvPr/>
        </p:nvSpPr>
        <p:spPr bwMode="auto">
          <a:xfrm flipV="1">
            <a:off x="3121855" y="4781202"/>
            <a:ext cx="97868" cy="2555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171"/>
          <p:cNvSpPr>
            <a:spLocks noChangeShapeType="1"/>
          </p:cNvSpPr>
          <p:nvPr/>
        </p:nvSpPr>
        <p:spPr bwMode="auto">
          <a:xfrm flipH="1" flipV="1">
            <a:off x="5110975" y="4681806"/>
            <a:ext cx="381000" cy="381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Line 172"/>
          <p:cNvSpPr>
            <a:spLocks noChangeShapeType="1"/>
          </p:cNvSpPr>
          <p:nvPr/>
        </p:nvSpPr>
        <p:spPr bwMode="auto">
          <a:xfrm flipH="1">
            <a:off x="5263375" y="2853006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Line 173"/>
          <p:cNvSpPr>
            <a:spLocks noChangeShapeType="1"/>
          </p:cNvSpPr>
          <p:nvPr/>
        </p:nvSpPr>
        <p:spPr bwMode="auto">
          <a:xfrm>
            <a:off x="3956832" y="2207671"/>
            <a:ext cx="103164" cy="3405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Line 174"/>
          <p:cNvSpPr>
            <a:spLocks noChangeShapeType="1"/>
          </p:cNvSpPr>
          <p:nvPr/>
        </p:nvSpPr>
        <p:spPr bwMode="auto">
          <a:xfrm>
            <a:off x="2367775" y="2243406"/>
            <a:ext cx="2286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Line 176"/>
          <p:cNvSpPr>
            <a:spLocks noChangeShapeType="1"/>
          </p:cNvSpPr>
          <p:nvPr/>
        </p:nvSpPr>
        <p:spPr bwMode="auto">
          <a:xfrm flipV="1">
            <a:off x="3510775" y="3767406"/>
            <a:ext cx="2286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Line 177"/>
          <p:cNvSpPr>
            <a:spLocks noChangeShapeType="1"/>
          </p:cNvSpPr>
          <p:nvPr/>
        </p:nvSpPr>
        <p:spPr bwMode="auto">
          <a:xfrm flipV="1">
            <a:off x="2329940" y="2967306"/>
            <a:ext cx="220927" cy="24254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Line 178"/>
          <p:cNvSpPr>
            <a:spLocks noChangeShapeType="1"/>
          </p:cNvSpPr>
          <p:nvPr/>
        </p:nvSpPr>
        <p:spPr bwMode="auto">
          <a:xfrm>
            <a:off x="2977375" y="2624406"/>
            <a:ext cx="533400" cy="533400"/>
          </a:xfrm>
          <a:prstGeom prst="line">
            <a:avLst/>
          </a:prstGeom>
          <a:noFill/>
          <a:ln w="1143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Line 179"/>
          <p:cNvSpPr>
            <a:spLocks noChangeShapeType="1"/>
          </p:cNvSpPr>
          <p:nvPr/>
        </p:nvSpPr>
        <p:spPr bwMode="auto">
          <a:xfrm>
            <a:off x="3891775" y="3462606"/>
            <a:ext cx="533400" cy="533400"/>
          </a:xfrm>
          <a:prstGeom prst="line">
            <a:avLst/>
          </a:prstGeom>
          <a:noFill/>
          <a:ln w="152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80"/>
          <p:cNvSpPr>
            <a:spLocks noChangeShapeType="1"/>
          </p:cNvSpPr>
          <p:nvPr/>
        </p:nvSpPr>
        <p:spPr bwMode="auto">
          <a:xfrm flipV="1">
            <a:off x="4348975" y="3386406"/>
            <a:ext cx="457200" cy="457200"/>
          </a:xfrm>
          <a:prstGeom prst="line">
            <a:avLst/>
          </a:prstGeom>
          <a:noFill/>
          <a:ln w="152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81"/>
          <p:cNvSpPr>
            <a:spLocks noChangeShapeType="1"/>
          </p:cNvSpPr>
          <p:nvPr/>
        </p:nvSpPr>
        <p:spPr bwMode="auto">
          <a:xfrm flipH="1" flipV="1">
            <a:off x="4806175" y="3615006"/>
            <a:ext cx="0" cy="457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82"/>
          <p:cNvSpPr>
            <a:spLocks noChangeShapeType="1"/>
          </p:cNvSpPr>
          <p:nvPr/>
        </p:nvSpPr>
        <p:spPr bwMode="auto">
          <a:xfrm>
            <a:off x="4310910" y="3058630"/>
            <a:ext cx="297439" cy="2272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83"/>
          <p:cNvSpPr>
            <a:spLocks noChangeShapeType="1"/>
          </p:cNvSpPr>
          <p:nvPr/>
        </p:nvSpPr>
        <p:spPr bwMode="auto">
          <a:xfrm>
            <a:off x="5285785" y="3470543"/>
            <a:ext cx="1508143" cy="1"/>
          </a:xfrm>
          <a:prstGeom prst="line">
            <a:avLst/>
          </a:prstGeom>
          <a:noFill/>
          <a:ln w="3048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Oval 189"/>
          <p:cNvSpPr>
            <a:spLocks noChangeArrowheads="1"/>
          </p:cNvSpPr>
          <p:nvPr/>
        </p:nvSpPr>
        <p:spPr bwMode="auto">
          <a:xfrm>
            <a:off x="386575" y="177769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3" name="Oval 190"/>
          <p:cNvSpPr>
            <a:spLocks noChangeArrowheads="1"/>
          </p:cNvSpPr>
          <p:nvPr/>
        </p:nvSpPr>
        <p:spPr bwMode="auto">
          <a:xfrm>
            <a:off x="386575" y="223489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4" name="Oval 191"/>
          <p:cNvSpPr>
            <a:spLocks noChangeArrowheads="1"/>
          </p:cNvSpPr>
          <p:nvPr/>
        </p:nvSpPr>
        <p:spPr bwMode="auto">
          <a:xfrm>
            <a:off x="380023" y="29292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5" name="Oval 192"/>
          <p:cNvSpPr>
            <a:spLocks noChangeArrowheads="1"/>
          </p:cNvSpPr>
          <p:nvPr/>
        </p:nvSpPr>
        <p:spPr bwMode="auto">
          <a:xfrm>
            <a:off x="491515" y="3654364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6" name="Oval 193"/>
          <p:cNvSpPr>
            <a:spLocks noChangeArrowheads="1"/>
          </p:cNvSpPr>
          <p:nvPr/>
        </p:nvSpPr>
        <p:spPr bwMode="auto">
          <a:xfrm>
            <a:off x="177643" y="334669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7" name="Oval 194"/>
          <p:cNvSpPr>
            <a:spLocks noChangeArrowheads="1"/>
          </p:cNvSpPr>
          <p:nvPr/>
        </p:nvSpPr>
        <p:spPr bwMode="auto">
          <a:xfrm>
            <a:off x="878463" y="393948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8" name="Oval 195"/>
          <p:cNvSpPr>
            <a:spLocks noChangeArrowheads="1"/>
          </p:cNvSpPr>
          <p:nvPr/>
        </p:nvSpPr>
        <p:spPr bwMode="auto">
          <a:xfrm>
            <a:off x="1098021" y="4472885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9" name="Oval 196"/>
          <p:cNvSpPr>
            <a:spLocks noChangeArrowheads="1"/>
          </p:cNvSpPr>
          <p:nvPr/>
        </p:nvSpPr>
        <p:spPr bwMode="auto">
          <a:xfrm>
            <a:off x="1630926" y="43179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0" name="Oval 199"/>
          <p:cNvSpPr>
            <a:spLocks noChangeArrowheads="1"/>
          </p:cNvSpPr>
          <p:nvPr/>
        </p:nvSpPr>
        <p:spPr bwMode="auto">
          <a:xfrm>
            <a:off x="2725265" y="5444697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1" name="Oval 200"/>
          <p:cNvSpPr>
            <a:spLocks noChangeArrowheads="1"/>
          </p:cNvSpPr>
          <p:nvPr/>
        </p:nvSpPr>
        <p:spPr bwMode="auto">
          <a:xfrm>
            <a:off x="3334865" y="5444697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2" name="Oval 203"/>
          <p:cNvSpPr>
            <a:spLocks noChangeArrowheads="1"/>
          </p:cNvSpPr>
          <p:nvPr/>
        </p:nvSpPr>
        <p:spPr bwMode="auto">
          <a:xfrm>
            <a:off x="5720575" y="55962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3" name="Oval 204"/>
          <p:cNvSpPr>
            <a:spLocks noChangeArrowheads="1"/>
          </p:cNvSpPr>
          <p:nvPr/>
        </p:nvSpPr>
        <p:spPr bwMode="auto">
          <a:xfrm>
            <a:off x="6253975" y="529140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4" name="Oval 205"/>
          <p:cNvSpPr>
            <a:spLocks noChangeArrowheads="1"/>
          </p:cNvSpPr>
          <p:nvPr/>
        </p:nvSpPr>
        <p:spPr bwMode="auto">
          <a:xfrm>
            <a:off x="6482575" y="51390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5" name="Oval 206"/>
          <p:cNvSpPr>
            <a:spLocks noChangeArrowheads="1"/>
          </p:cNvSpPr>
          <p:nvPr/>
        </p:nvSpPr>
        <p:spPr bwMode="auto">
          <a:xfrm>
            <a:off x="6406375" y="460560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6" name="Oval 207"/>
          <p:cNvSpPr>
            <a:spLocks noChangeArrowheads="1"/>
          </p:cNvSpPr>
          <p:nvPr/>
        </p:nvSpPr>
        <p:spPr bwMode="auto">
          <a:xfrm>
            <a:off x="5872975" y="43008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7" name="Oval 208"/>
          <p:cNvSpPr>
            <a:spLocks noChangeArrowheads="1"/>
          </p:cNvSpPr>
          <p:nvPr/>
        </p:nvSpPr>
        <p:spPr bwMode="auto">
          <a:xfrm>
            <a:off x="6330175" y="237040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8" name="Oval 209"/>
          <p:cNvSpPr>
            <a:spLocks noChangeArrowheads="1"/>
          </p:cNvSpPr>
          <p:nvPr/>
        </p:nvSpPr>
        <p:spPr bwMode="auto">
          <a:xfrm>
            <a:off x="6634975" y="27006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9" name="Oval 210"/>
          <p:cNvSpPr>
            <a:spLocks noChangeArrowheads="1"/>
          </p:cNvSpPr>
          <p:nvPr/>
        </p:nvSpPr>
        <p:spPr bwMode="auto">
          <a:xfrm>
            <a:off x="4442166" y="158854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30" name="Oval 211"/>
          <p:cNvSpPr>
            <a:spLocks noChangeArrowheads="1"/>
          </p:cNvSpPr>
          <p:nvPr/>
        </p:nvSpPr>
        <p:spPr bwMode="auto">
          <a:xfrm>
            <a:off x="4083799" y="1388461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31" name="Oval 212"/>
          <p:cNvSpPr>
            <a:spLocks noChangeArrowheads="1"/>
          </p:cNvSpPr>
          <p:nvPr/>
        </p:nvSpPr>
        <p:spPr bwMode="auto">
          <a:xfrm>
            <a:off x="3551593" y="167010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pic>
        <p:nvPicPr>
          <p:cNvPr id="132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375" y="2167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975" y="26244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75" y="26244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975" y="3310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175" y="3310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575" y="3691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87" y="3221011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9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75" y="43770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0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75" y="39960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975" y="42246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" name="TextBox 176"/>
          <p:cNvSpPr txBox="1">
            <a:spLocks noChangeArrowheads="1"/>
          </p:cNvSpPr>
          <p:nvPr/>
        </p:nvSpPr>
        <p:spPr bwMode="auto">
          <a:xfrm>
            <a:off x="6087341" y="3810462"/>
            <a:ext cx="1362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dirty="0"/>
              <a:t>Collateral </a:t>
            </a:r>
            <a:br>
              <a:rPr lang="en-US" altLang="en-US" sz="1400" dirty="0"/>
            </a:br>
            <a:r>
              <a:rPr lang="en-US" altLang="en-US" sz="1400" dirty="0"/>
              <a:t>damage points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680581" y="5858365"/>
            <a:ext cx="1906677" cy="33855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IN" sz="1600" spc="-1" dirty="0">
                <a:latin typeface="Times New Roman"/>
                <a:cs typeface="Times New Roman"/>
              </a:rPr>
              <a:t>Fig. </a:t>
            </a:r>
            <a:r>
              <a:rPr lang="en-IN" sz="1600" spc="-1" dirty="0" smtClean="0">
                <a:latin typeface="Times New Roman"/>
                <a:cs typeface="Times New Roman"/>
              </a:rPr>
              <a:t>3: </a:t>
            </a:r>
            <a:r>
              <a:rPr lang="en-IN" sz="1600" spc="-1" dirty="0">
                <a:latin typeface="Times New Roman"/>
                <a:cs typeface="Times New Roman"/>
              </a:rPr>
              <a:t>Botnet Attack</a:t>
            </a:r>
          </a:p>
        </p:txBody>
      </p:sp>
    </p:spTree>
    <p:extLst>
      <p:ext uri="{BB962C8B-B14F-4D97-AF65-F5344CB8AC3E}">
        <p14:creationId xmlns:p14="http://schemas.microsoft.com/office/powerpoint/2010/main" val="165677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536072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Reservation Attack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96" y="1739494"/>
            <a:ext cx="8877665" cy="356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0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Smurf Attack</a:t>
            </a:r>
            <a:endParaRPr lang="en-IN" sz="32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70" y="1431144"/>
            <a:ext cx="8371943" cy="462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8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Smurf Attack</a:t>
            </a:r>
            <a:endParaRPr lang="en-IN" sz="32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16" y="1491043"/>
            <a:ext cx="10395037" cy="45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2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Fraggle</a:t>
            </a:r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</a:t>
            </a:r>
            <a:endParaRPr lang="en-IN" sz="32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8" y="1327140"/>
            <a:ext cx="10556754" cy="462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6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flood attacks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9" y="1412855"/>
            <a:ext cx="4457143" cy="43047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881" y="1181911"/>
            <a:ext cx="6879564" cy="471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0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94924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Live Cyber Threat Map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3515" y="1249022"/>
            <a:ext cx="7864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https://threatmap.checkpoint.com/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19" y="2551323"/>
            <a:ext cx="11097126" cy="375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6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330332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</a:t>
            </a:r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Attack</a:t>
            </a:r>
            <a:endParaRPr lang="en-IN" sz="32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286" y="2201227"/>
            <a:ext cx="3448050" cy="2295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355" y="2201227"/>
            <a:ext cx="1617931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5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Day Attack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19" y="1523978"/>
            <a:ext cx="6188000" cy="27089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154" y="4232888"/>
            <a:ext cx="5416038" cy="19316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46" y="4003335"/>
            <a:ext cx="775335" cy="21612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484" y="1523978"/>
            <a:ext cx="2963261" cy="46405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4350" y="1040502"/>
            <a:ext cx="391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Common Vulnerabilities and Exposures</a:t>
            </a:r>
          </a:p>
        </p:txBody>
      </p:sp>
    </p:spTree>
    <p:extLst>
      <p:ext uri="{BB962C8B-B14F-4D97-AF65-F5344CB8AC3E}">
        <p14:creationId xmlns:p14="http://schemas.microsoft.com/office/powerpoint/2010/main" val="19538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3360363" y="291156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Approaches</a:t>
            </a:r>
            <a:endParaRPr lang="en-IN" sz="3200" b="1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3644702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66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11" y="1723778"/>
            <a:ext cx="5052024" cy="348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981" y="1624786"/>
            <a:ext cx="7701110" cy="3513134"/>
          </a:xfrm>
          <a:prstGeom prst="rect">
            <a:avLst/>
          </a:prstGeom>
        </p:spPr>
      </p:pic>
      <p:sp>
        <p:nvSpPr>
          <p:cNvPr id="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51243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</p:txBody>
      </p:sp>
    </p:spTree>
    <p:extLst>
      <p:ext uri="{BB962C8B-B14F-4D97-AF65-F5344CB8AC3E}">
        <p14:creationId xmlns:p14="http://schemas.microsoft.com/office/powerpoint/2010/main" val="160284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886" y="1504677"/>
            <a:ext cx="8667394" cy="3210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1440006"/>
            <a:ext cx="9677400" cy="590550"/>
          </a:xfrm>
          <a:prstGeom prst="rect">
            <a:avLst/>
          </a:prstGeom>
        </p:spPr>
      </p:pic>
      <p:sp>
        <p:nvSpPr>
          <p:cNvPr id="10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-358314" y="384269"/>
            <a:ext cx="412848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</p:txBody>
      </p:sp>
    </p:spTree>
    <p:extLst>
      <p:ext uri="{BB962C8B-B14F-4D97-AF65-F5344CB8AC3E}">
        <p14:creationId xmlns:p14="http://schemas.microsoft.com/office/powerpoint/2010/main" val="364030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322575" y="100602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408" y="6541256"/>
            <a:ext cx="405411" cy="3010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611" y="1221009"/>
            <a:ext cx="5939861" cy="5041583"/>
          </a:xfrm>
          <a:prstGeom prst="rect">
            <a:avLst/>
          </a:prstGeom>
        </p:spPr>
      </p:pic>
      <p:sp>
        <p:nvSpPr>
          <p:cNvPr id="10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217113" y="389343"/>
            <a:ext cx="3463347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Defense-in-depth</a:t>
            </a:r>
          </a:p>
        </p:txBody>
      </p:sp>
    </p:spTree>
    <p:extLst>
      <p:ext uri="{BB962C8B-B14F-4D97-AF65-F5344CB8AC3E}">
        <p14:creationId xmlns:p14="http://schemas.microsoft.com/office/powerpoint/2010/main" val="164341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>
            <a:extLst>
              <a:ext uri="{FF2B5EF4-FFF2-40B4-BE49-F238E27FC236}">
                <a16:creationId xmlns:a16="http://schemas.microsoft.com/office/drawing/2014/main" id="{5E3F0EC2-587A-4BEC-5B12-23ED34DF42B4}"/>
              </a:ext>
            </a:extLst>
          </p:cNvPr>
          <p:cNvSpPr/>
          <p:nvPr/>
        </p:nvSpPr>
        <p:spPr>
          <a:xfrm>
            <a:off x="395388" y="228911"/>
            <a:ext cx="3559482" cy="479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4000" spc="-1">
                <a:latin typeface="Times New Roman"/>
                <a:cs typeface="Times New Roman"/>
              </a:rPr>
              <a:t> </a:t>
            </a:r>
            <a:r>
              <a:rPr lang="en-IN" sz="3200" spc="-1">
                <a:solidFill>
                  <a:srgbClr val="C00000"/>
                </a:solidFill>
                <a:latin typeface="Times New Roman"/>
                <a:cs typeface="Times New Roman"/>
              </a:rPr>
              <a:t>Presentation Outline</a:t>
            </a:r>
            <a:endParaRPr lang="en-IN" sz="3200" b="0" strike="noStrike" spc="-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ustomShape 2">
            <a:extLst>
              <a:ext uri="{FF2B5EF4-FFF2-40B4-BE49-F238E27FC236}">
                <a16:creationId xmlns:a16="http://schemas.microsoft.com/office/drawing/2014/main" id="{728AA745-3727-2DDC-BAAE-5F0CDA026E61}"/>
              </a:ext>
            </a:extLst>
          </p:cNvPr>
          <p:cNvSpPr/>
          <p:nvPr/>
        </p:nvSpPr>
        <p:spPr>
          <a:xfrm>
            <a:off x="737432" y="1307879"/>
            <a:ext cx="10480695" cy="46132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spc="-1" dirty="0">
                <a:solidFill>
                  <a:srgbClr val="00B015"/>
                </a:solidFill>
                <a:latin typeface="Times New Roman"/>
                <a:cs typeface="Times New Roman"/>
              </a:rPr>
              <a:t>Introduction and Motivation</a:t>
            </a: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FF0000"/>
                </a:solidFill>
                <a:latin typeface="Times New Roman"/>
                <a:cs typeface="Times New Roman"/>
              </a:rPr>
              <a:t>Research Contributions</a:t>
            </a:r>
            <a:endParaRPr lang="en-US" sz="2400" spc="-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spc="-1" dirty="0">
              <a:latin typeface="Times New Roman"/>
              <a:cs typeface="Times New Roman"/>
            </a:endParaRP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spc="-1" dirty="0">
              <a:latin typeface="Times New Roman"/>
              <a:cs typeface="Times New Roman"/>
            </a:endParaRP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spc="-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spc="-1" dirty="0">
                <a:solidFill>
                  <a:srgbClr val="0000FF"/>
                </a:solidFill>
                <a:latin typeface="Times New Roman"/>
                <a:cs typeface="Times New Roman"/>
              </a:rPr>
              <a:t>Conclusion and Future work</a:t>
            </a:r>
            <a:endParaRPr lang="en-IN" sz="2400" b="0" strike="noStrike" spc="-1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spc="-1" dirty="0">
                <a:solidFill>
                  <a:srgbClr val="C00000"/>
                </a:solidFill>
                <a:latin typeface="Times New Roman"/>
                <a:cs typeface="Times New Roman"/>
              </a:rPr>
              <a:t>Publication of thesis</a:t>
            </a: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 dirty="0">
                <a:solidFill>
                  <a:srgbClr val="00B015"/>
                </a:solidFill>
                <a:latin typeface="Times New Roman"/>
                <a:cs typeface="Times New Roman"/>
              </a:rPr>
              <a:t>References</a:t>
            </a:r>
            <a:r>
              <a:rPr lang="en-IN" sz="2400" spc="-1" dirty="0">
                <a:solidFill>
                  <a:srgbClr val="00B015"/>
                </a:solidFill>
                <a:latin typeface="Times New Roman"/>
                <a:cs typeface="Times New Roman"/>
              </a:rPr>
              <a:t> </a:t>
            </a:r>
            <a:endParaRPr lang="en-IN" sz="2400" b="0" strike="noStrike" spc="-1" dirty="0">
              <a:solidFill>
                <a:srgbClr val="00B0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206684" y="92031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EAA52-AEB9-D19E-FBBD-C5751F40037B}"/>
              </a:ext>
            </a:extLst>
          </p:cNvPr>
          <p:cNvSpPr txBox="1"/>
          <p:nvPr/>
        </p:nvSpPr>
        <p:spPr>
          <a:xfrm>
            <a:off x="1311571" y="2396256"/>
            <a:ext cx="990446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200" dirty="0" err="1">
                <a:solidFill>
                  <a:srgbClr val="000000"/>
                </a:solidFill>
                <a:latin typeface="Times New Roman"/>
              </a:rPr>
              <a:t>DDoS</a:t>
            </a:r>
            <a:r>
              <a:rPr lang="en-US" sz="2200" dirty="0">
                <a:solidFill>
                  <a:srgbClr val="000000"/>
                </a:solidFill>
                <a:latin typeface="Times New Roman"/>
              </a:rPr>
              <a:t> attacks including Botnet attacks detection and mitigation in IoT ecosystem </a:t>
            </a:r>
            <a:endParaRPr lang="en-US" sz="22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200" dirty="0" err="1">
                <a:latin typeface="Times New Roman"/>
              </a:rPr>
              <a:t>LRDDoS</a:t>
            </a:r>
            <a:r>
              <a:rPr lang="en-US" sz="2200" dirty="0">
                <a:latin typeface="Times New Roman"/>
              </a:rPr>
              <a:t> attacks detection and mitigation 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/>
              </a:rPr>
              <a:t>Mixed Rate </a:t>
            </a:r>
            <a:r>
              <a:rPr lang="en-US" sz="2200" dirty="0" err="1">
                <a:latin typeface="Times New Roman"/>
              </a:rPr>
              <a:t>DDoS</a:t>
            </a:r>
            <a:r>
              <a:rPr lang="en-US" sz="2200" dirty="0">
                <a:latin typeface="Times New Roman"/>
              </a:rPr>
              <a:t> attack detection (</a:t>
            </a:r>
            <a:r>
              <a:rPr lang="en-US" sz="2200" dirty="0" err="1">
                <a:latin typeface="Times New Roman"/>
              </a:rPr>
              <a:t>HRDDoS</a:t>
            </a:r>
            <a:r>
              <a:rPr lang="en-US" sz="2200" dirty="0">
                <a:latin typeface="Times New Roman"/>
              </a:rPr>
              <a:t> and </a:t>
            </a:r>
            <a:r>
              <a:rPr lang="en-US" sz="2200" dirty="0" err="1">
                <a:latin typeface="Times New Roman"/>
              </a:rPr>
              <a:t>LRDDoS</a:t>
            </a:r>
            <a:r>
              <a:rPr lang="en-US" sz="2200" dirty="0">
                <a:latin typeface="Times New Roman"/>
              </a:rPr>
              <a:t> attacks)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/>
              </a:rPr>
              <a:t>Multiple Mix attack detection </a:t>
            </a:r>
            <a:endParaRPr lang="en-US" sz="2200" dirty="0">
              <a:latin typeface="Times New Roman"/>
              <a:cs typeface="Times New Roman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1561" y="265034"/>
            <a:ext cx="2240043" cy="5426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21634-B80E-294A-F18B-C7D3E56D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313EA-89F7-86B3-0242-3C84C2D0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33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206684" y="92031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">
            <a:extLst>
              <a:ext uri="{FF2B5EF4-FFF2-40B4-BE49-F238E27FC236}">
                <a16:creationId xmlns:a16="http://schemas.microsoft.com/office/drawing/2014/main" id="{9AC6AECF-5EA9-96CA-847A-B3818EDFFE05}"/>
              </a:ext>
            </a:extLst>
          </p:cNvPr>
          <p:cNvSpPr/>
          <p:nvPr/>
        </p:nvSpPr>
        <p:spPr>
          <a:xfrm>
            <a:off x="326855" y="313250"/>
            <a:ext cx="4594588" cy="4540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trike="noStrike" spc="-1">
                <a:solidFill>
                  <a:srgbClr val="C00000"/>
                </a:solidFill>
                <a:latin typeface="Times New Roman"/>
                <a:cs typeface="Times New Roman"/>
              </a:rPr>
              <a:t>Introduction</a:t>
            </a:r>
            <a:r>
              <a:rPr lang="en-IN" sz="2800" b="1" spc="-1">
                <a:solidFill>
                  <a:srgbClr val="C00000"/>
                </a:solidFill>
                <a:latin typeface="Times New Roman"/>
                <a:cs typeface="Times New Roman"/>
              </a:rPr>
              <a:t> and Motivation</a:t>
            </a:r>
            <a:endParaRPr lang="en-IN" sz="2800" b="1" strike="noStrike" spc="-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stomShape 2">
            <a:extLst>
              <a:ext uri="{FF2B5EF4-FFF2-40B4-BE49-F238E27FC236}">
                <a16:creationId xmlns:a16="http://schemas.microsoft.com/office/drawing/2014/main" id="{4FE25C1F-A981-D6E5-9CB4-CAA330548E48}"/>
              </a:ext>
            </a:extLst>
          </p:cNvPr>
          <p:cNvSpPr/>
          <p:nvPr/>
        </p:nvSpPr>
        <p:spPr>
          <a:xfrm>
            <a:off x="426825" y="1323927"/>
            <a:ext cx="11055839" cy="8702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N" sz="2200" spc="-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Internet of Things (IoT)</a:t>
            </a:r>
            <a:r>
              <a:rPr lang="en-IN" sz="2200" spc="-1">
                <a:solidFill>
                  <a:srgbClr val="0070C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IN" sz="2200" spc="-1">
                <a:latin typeface="Times New Roman"/>
                <a:ea typeface="+mn-lt"/>
                <a:cs typeface="Times New Roman"/>
              </a:rPr>
              <a:t>is a network of sensors, </a:t>
            </a:r>
            <a:r>
              <a:rPr lang="en-IN" sz="2200" spc="-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actuators</a:t>
            </a:r>
            <a:r>
              <a:rPr lang="en-IN" sz="2200" spc="-1">
                <a:latin typeface="Times New Roman"/>
                <a:ea typeface="+mn-lt"/>
                <a:cs typeface="Times New Roman"/>
              </a:rPr>
              <a:t>, embedded and </a:t>
            </a:r>
            <a:r>
              <a:rPr lang="en-IN" sz="2200" spc="-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wearable devices</a:t>
            </a:r>
            <a:r>
              <a:rPr lang="en-IN" sz="2200" spc="-1">
                <a:latin typeface="Times New Roman"/>
                <a:ea typeface="+mn-lt"/>
                <a:cs typeface="Times New Roman"/>
              </a:rPr>
              <a:t> that can connect to the </a:t>
            </a:r>
            <a:r>
              <a:rPr lang="en-IN" sz="2200" spc="-1">
                <a:solidFill>
                  <a:srgbClr val="00B015"/>
                </a:solidFill>
                <a:latin typeface="Times New Roman"/>
                <a:ea typeface="+mn-lt"/>
                <a:cs typeface="Times New Roman"/>
              </a:rPr>
              <a:t>Internet.</a:t>
            </a:r>
            <a:endParaRPr lang="en-US" sz="2200" spc="-1">
              <a:solidFill>
                <a:srgbClr val="00B015"/>
              </a:solidFill>
              <a:latin typeface="Times New Roman"/>
              <a:ea typeface="+mn-lt"/>
              <a:cs typeface="Times New Roman"/>
            </a:endParaRPr>
          </a:p>
        </p:txBody>
      </p:sp>
      <p:pic>
        <p:nvPicPr>
          <p:cNvPr id="23" name="Picture 3" descr="Diagram&#10;&#10;Description automatically generated">
            <a:extLst>
              <a:ext uri="{FF2B5EF4-FFF2-40B4-BE49-F238E27FC236}">
                <a16:creationId xmlns:a16="http://schemas.microsoft.com/office/drawing/2014/main" id="{9EE0BAAC-1832-B21B-4A5F-3CDBF5F4E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819" y="2723672"/>
            <a:ext cx="7376650" cy="303838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261B672-D49A-3AB8-256C-21AB8D471346}"/>
              </a:ext>
            </a:extLst>
          </p:cNvPr>
          <p:cNvSpPr txBox="1"/>
          <p:nvPr/>
        </p:nvSpPr>
        <p:spPr>
          <a:xfrm>
            <a:off x="4926227" y="5934970"/>
            <a:ext cx="3091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Fig. 1: Evolution of IoT [1]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A7C28-A749-9194-5C08-73091F8D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50B98-5C9F-911E-CAC8-9D75D44D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10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34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206684" y="92031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">
            <a:extLst>
              <a:ext uri="{FF2B5EF4-FFF2-40B4-BE49-F238E27FC236}">
                <a16:creationId xmlns:a16="http://schemas.microsoft.com/office/drawing/2014/main" id="{9AC6AECF-5EA9-96CA-847A-B3818EDFFE05}"/>
              </a:ext>
            </a:extLst>
          </p:cNvPr>
          <p:cNvSpPr/>
          <p:nvPr/>
        </p:nvSpPr>
        <p:spPr>
          <a:xfrm>
            <a:off x="326855" y="128523"/>
            <a:ext cx="5079497" cy="673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trike="noStrike" spc="-1">
                <a:solidFill>
                  <a:srgbClr val="C00000"/>
                </a:solidFill>
                <a:latin typeface="Times New Roman"/>
                <a:cs typeface="Times New Roman"/>
              </a:rPr>
              <a:t>Introduction</a:t>
            </a:r>
            <a:r>
              <a:rPr lang="en-IN" sz="2800" b="1" spc="-1">
                <a:solidFill>
                  <a:srgbClr val="C00000"/>
                </a:solidFill>
                <a:latin typeface="Times New Roman"/>
                <a:cs typeface="Times New Roman"/>
              </a:rPr>
              <a:t> and Motivation</a:t>
            </a:r>
            <a:endParaRPr lang="en-IN" sz="2800" b="1" strike="noStrike" spc="-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8309A301-6FAC-9831-18E4-E4F2C31BB71B}"/>
              </a:ext>
            </a:extLst>
          </p:cNvPr>
          <p:cNvSpPr/>
          <p:nvPr/>
        </p:nvSpPr>
        <p:spPr>
          <a:xfrm>
            <a:off x="447291" y="1332452"/>
            <a:ext cx="10666523" cy="9193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spc="-1">
                <a:latin typeface="Times New Roman"/>
                <a:ea typeface="+mn-lt"/>
                <a:cs typeface="+mn-lt"/>
              </a:rPr>
              <a:t>Use of IoT  is rising across a lot of sectors, including </a:t>
            </a:r>
            <a:r>
              <a:rPr lang="en-IN" sz="2200" spc="-1">
                <a:solidFill>
                  <a:srgbClr val="C00000"/>
                </a:solidFill>
                <a:latin typeface="Times New Roman"/>
                <a:ea typeface="+mn-lt"/>
                <a:cs typeface="+mn-lt"/>
              </a:rPr>
              <a:t>smart homes</a:t>
            </a:r>
            <a:r>
              <a:rPr lang="en-IN" sz="2200" spc="-1">
                <a:latin typeface="Times New Roman"/>
                <a:ea typeface="+mn-lt"/>
                <a:cs typeface="+mn-lt"/>
              </a:rPr>
              <a:t>, </a:t>
            </a:r>
            <a:r>
              <a:rPr lang="en-IN" sz="2200" spc="-1">
                <a:solidFill>
                  <a:srgbClr val="00B0F0"/>
                </a:solidFill>
                <a:latin typeface="Times New Roman"/>
                <a:ea typeface="+mn-lt"/>
                <a:cs typeface="+mn-lt"/>
              </a:rPr>
              <a:t>smart vehicles</a:t>
            </a:r>
            <a:r>
              <a:rPr lang="en-IN" sz="2200" spc="-1">
                <a:latin typeface="Times New Roman"/>
                <a:ea typeface="+mn-lt"/>
                <a:cs typeface="+mn-lt"/>
              </a:rPr>
              <a:t>, and </a:t>
            </a:r>
            <a:r>
              <a:rPr lang="en-IN" sz="2200" spc="-1">
                <a:solidFill>
                  <a:srgbClr val="0000FF"/>
                </a:solidFill>
                <a:latin typeface="Times New Roman"/>
                <a:ea typeface="+mn-lt"/>
                <a:cs typeface="+mn-lt"/>
              </a:rPr>
              <a:t>smart health monitoring devices</a:t>
            </a:r>
            <a:r>
              <a:rPr lang="en-IN" sz="2200" spc="-1">
                <a:latin typeface="Times New Roman"/>
                <a:ea typeface="+mn-lt"/>
                <a:cs typeface="+mn-lt"/>
              </a:rPr>
              <a:t> [1].</a:t>
            </a:r>
          </a:p>
        </p:txBody>
      </p:sp>
      <p:pic>
        <p:nvPicPr>
          <p:cNvPr id="6" name="Picture 3" descr="Diagram&#10;&#10;Description automatically generated">
            <a:extLst>
              <a:ext uri="{FF2B5EF4-FFF2-40B4-BE49-F238E27FC236}">
                <a16:creationId xmlns:a16="http://schemas.microsoft.com/office/drawing/2014/main" id="{07708329-8D76-8903-C039-949970777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70" y="2249624"/>
            <a:ext cx="4149780" cy="3426687"/>
          </a:xfrm>
          <a:prstGeom prst="rect">
            <a:avLst/>
          </a:prstGeom>
        </p:spPr>
      </p:pic>
      <p:pic>
        <p:nvPicPr>
          <p:cNvPr id="7" name="Picture 7" descr="Chart&#10;&#10;Description automatically generated">
            <a:extLst>
              <a:ext uri="{FF2B5EF4-FFF2-40B4-BE49-F238E27FC236}">
                <a16:creationId xmlns:a16="http://schemas.microsoft.com/office/drawing/2014/main" id="{C1AE332A-67C1-D844-36E5-A8F9375DB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01" y="2496824"/>
            <a:ext cx="4082845" cy="28464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5EC5DC-A9EB-53F0-5B7A-DFD4E06085A7}"/>
              </a:ext>
            </a:extLst>
          </p:cNvPr>
          <p:cNvSpPr txBox="1"/>
          <p:nvPr/>
        </p:nvSpPr>
        <p:spPr>
          <a:xfrm>
            <a:off x="6624862" y="5735421"/>
            <a:ext cx="502816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Arial"/>
              </a:rPr>
              <a:t>Fig. 3: Data source: IoT analytics database of project [11]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D9535-23C8-9BF5-A26A-90444ADA52C6}"/>
              </a:ext>
            </a:extLst>
          </p:cNvPr>
          <p:cNvSpPr txBox="1"/>
          <p:nvPr/>
        </p:nvSpPr>
        <p:spPr>
          <a:xfrm>
            <a:off x="1652954" y="5734855"/>
            <a:ext cx="279236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Arial"/>
              </a:rPr>
              <a:t>Fig. 2: Various Sector of IoT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6676A-AC16-16C3-DEE1-E0192DA2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1ACB7-ACDD-0C33-01FC-DAA6E2AB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12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853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206684" y="92031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">
            <a:extLst>
              <a:ext uri="{FF2B5EF4-FFF2-40B4-BE49-F238E27FC236}">
                <a16:creationId xmlns:a16="http://schemas.microsoft.com/office/drawing/2014/main" id="{9AC6AECF-5EA9-96CA-847A-B3818EDFFE05}"/>
              </a:ext>
            </a:extLst>
          </p:cNvPr>
          <p:cNvSpPr/>
          <p:nvPr/>
        </p:nvSpPr>
        <p:spPr>
          <a:xfrm>
            <a:off x="326855" y="128523"/>
            <a:ext cx="5079497" cy="673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trike="noStrike" spc="-1">
                <a:solidFill>
                  <a:srgbClr val="C00000"/>
                </a:solidFill>
                <a:latin typeface="Times New Roman"/>
                <a:cs typeface="Times New Roman"/>
              </a:rPr>
              <a:t>Introduction</a:t>
            </a:r>
            <a:r>
              <a:rPr lang="en-IN" sz="3200" b="1" spc="-1">
                <a:solidFill>
                  <a:srgbClr val="C00000"/>
                </a:solidFill>
                <a:latin typeface="Times New Roman"/>
                <a:cs typeface="Times New Roman"/>
              </a:rPr>
              <a:t> and Motivation</a:t>
            </a:r>
            <a:endParaRPr lang="en-IN" sz="3200" b="1" strike="noStrike" spc="-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8309A301-6FAC-9831-18E4-E4F2C31BB71B}"/>
              </a:ext>
            </a:extLst>
          </p:cNvPr>
          <p:cNvSpPr/>
          <p:nvPr/>
        </p:nvSpPr>
        <p:spPr>
          <a:xfrm>
            <a:off x="614560" y="1299036"/>
            <a:ext cx="10815440" cy="9193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global IoT market was valued at approximately </a:t>
            </a:r>
            <a:r>
              <a:rPr lang="en-IN" sz="22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$157.05 billion </a:t>
            </a:r>
            <a:r>
              <a:rPr lang="en-IN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2016.</a:t>
            </a:r>
            <a:r>
              <a:rPr lang="en-US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200">
                <a:solidFill>
                  <a:srgbClr val="000000"/>
                </a:solidFill>
                <a:latin typeface="Times New Roman"/>
                <a:cs typeface="Times New Roman"/>
              </a:rPr>
              <a:t>The global IoT market is projected to surpass </a:t>
            </a:r>
            <a:r>
              <a:rPr lang="en-IN" sz="2200">
                <a:solidFill>
                  <a:srgbClr val="FF0000"/>
                </a:solidFill>
                <a:latin typeface="Times New Roman"/>
                <a:cs typeface="Times New Roman"/>
              </a:rPr>
              <a:t>$1.5 trillion by 2023</a:t>
            </a:r>
            <a:r>
              <a:rPr lang="en-IN" sz="2200">
                <a:solidFill>
                  <a:srgbClr val="000000"/>
                </a:solidFill>
                <a:latin typeface="Times New Roman"/>
                <a:cs typeface="Times New Roman"/>
              </a:rPr>
              <a:t>, demonstrating continued strong growth.</a:t>
            </a:r>
            <a:endParaRPr lang="en-US" sz="2200" b="0" i="0">
              <a:effectLst/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EC5DC-A9EB-53F0-5B7A-DFD4E06085A7}"/>
              </a:ext>
            </a:extLst>
          </p:cNvPr>
          <p:cNvSpPr txBox="1"/>
          <p:nvPr/>
        </p:nvSpPr>
        <p:spPr>
          <a:xfrm>
            <a:off x="7120548" y="6031594"/>
            <a:ext cx="407823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Arial"/>
              </a:rPr>
              <a:t>Fig. 5 : Global IoT Market Share by Sub-Sector</a:t>
            </a:r>
            <a:endParaRPr lang="en-US" sz="1600">
              <a:latin typeface="Times New Roman"/>
              <a:ea typeface="Calibri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D9535-23C8-9BF5-A26A-90444ADA52C6}"/>
              </a:ext>
            </a:extLst>
          </p:cNvPr>
          <p:cNvSpPr txBox="1"/>
          <p:nvPr/>
        </p:nvSpPr>
        <p:spPr>
          <a:xfrm>
            <a:off x="1090246" y="6016209"/>
            <a:ext cx="372689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Arial"/>
              </a:rPr>
              <a:t>Fig. 4: Global IoT Market Size year wise</a:t>
            </a:r>
            <a:endParaRPr lang="en-US" sz="1600" err="1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6676A-AC16-16C3-DEE1-E0192DA2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1ACB7-ACDD-0C33-01FC-DAA6E2AB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2" name="Picture 7" descr="A picture containing text, font, diagram, line&#10;&#10;Description automatically generated">
            <a:extLst>
              <a:ext uri="{FF2B5EF4-FFF2-40B4-BE49-F238E27FC236}">
                <a16:creationId xmlns:a16="http://schemas.microsoft.com/office/drawing/2014/main" id="{D28A4696-F8E5-C62D-E129-6A5F405C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88" y="3105225"/>
            <a:ext cx="5877464" cy="2758810"/>
          </a:xfrm>
          <a:prstGeom prst="rect">
            <a:avLst/>
          </a:prstGeom>
        </p:spPr>
      </p:pic>
      <p:pic>
        <p:nvPicPr>
          <p:cNvPr id="8" name="Picture 9" descr="A picture containing text, screenshot, diagram, circle&#10;&#10;Description automatically generated">
            <a:extLst>
              <a:ext uri="{FF2B5EF4-FFF2-40B4-BE49-F238E27FC236}">
                <a16:creationId xmlns:a16="http://schemas.microsoft.com/office/drawing/2014/main" id="{108F3507-8364-F61F-273F-6BFA76412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072" y="3144524"/>
            <a:ext cx="5863086" cy="2757408"/>
          </a:xfrm>
          <a:prstGeom prst="rect">
            <a:avLst/>
          </a:prstGeom>
        </p:spPr>
      </p:pic>
      <p:pic>
        <p:nvPicPr>
          <p:cNvPr id="12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821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206684" y="92031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">
            <a:extLst>
              <a:ext uri="{FF2B5EF4-FFF2-40B4-BE49-F238E27FC236}">
                <a16:creationId xmlns:a16="http://schemas.microsoft.com/office/drawing/2014/main" id="{9AC6AECF-5EA9-96CA-847A-B3818EDFFE05}"/>
              </a:ext>
            </a:extLst>
          </p:cNvPr>
          <p:cNvSpPr/>
          <p:nvPr/>
        </p:nvSpPr>
        <p:spPr>
          <a:xfrm>
            <a:off x="326855" y="128523"/>
            <a:ext cx="5079497" cy="673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trike="noStrike" spc="-1">
                <a:solidFill>
                  <a:srgbClr val="C00000"/>
                </a:solidFill>
                <a:latin typeface="Times New Roman"/>
                <a:cs typeface="Times New Roman"/>
              </a:rPr>
              <a:t>Introduction</a:t>
            </a:r>
            <a:r>
              <a:rPr lang="en-IN" sz="3200" b="1" spc="-1">
                <a:solidFill>
                  <a:srgbClr val="C00000"/>
                </a:solidFill>
                <a:latin typeface="Times New Roman"/>
                <a:cs typeface="Times New Roman"/>
              </a:rPr>
              <a:t> and Motivation</a:t>
            </a:r>
            <a:endParaRPr lang="en-IN" sz="3200" b="1" strike="noStrike" spc="-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8309A301-6FAC-9831-18E4-E4F2C31BB71B}"/>
              </a:ext>
            </a:extLst>
          </p:cNvPr>
          <p:cNvSpPr/>
          <p:nvPr/>
        </p:nvSpPr>
        <p:spPr>
          <a:xfrm>
            <a:off x="150511" y="1055624"/>
            <a:ext cx="11158135" cy="1399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 charset="2"/>
              <a:buChar char="•"/>
            </a:pPr>
            <a:r>
              <a:rPr lang="en-IN" sz="2200" spc="-1">
                <a:latin typeface="Times New Roman"/>
                <a:ea typeface="+mn-lt"/>
                <a:cs typeface="Times New Roman"/>
              </a:rPr>
              <a:t>With IoT system benefits, It is </a:t>
            </a:r>
            <a:r>
              <a:rPr lang="en-IN" sz="22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vulnerable to many attacks. </a:t>
            </a:r>
            <a:endParaRPr lang="en-IN" sz="2200" spc="-1">
              <a:solidFill>
                <a:srgbClr val="C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 charset="2"/>
              <a:buChar char="•"/>
            </a:pPr>
            <a:r>
              <a:rPr lang="en-IN" sz="2200" spc="-1">
                <a:latin typeface="Times New Roman"/>
                <a:ea typeface="+mn-lt"/>
                <a:cs typeface="Times New Roman"/>
              </a:rPr>
              <a:t>Attack objective to violate </a:t>
            </a:r>
            <a:r>
              <a:rPr lang="en-US" sz="2200" spc="-1">
                <a:solidFill>
                  <a:srgbClr val="00B050"/>
                </a:solidFill>
                <a:latin typeface="Times New Roman"/>
                <a:ea typeface="+mn-lt"/>
                <a:cs typeface="Times New Roman"/>
              </a:rPr>
              <a:t>authenticity</a:t>
            </a:r>
            <a:r>
              <a:rPr lang="en-US" sz="2200" spc="-1">
                <a:latin typeface="Times New Roman"/>
                <a:ea typeface="+mn-lt"/>
                <a:cs typeface="Times New Roman"/>
              </a:rPr>
              <a:t>, </a:t>
            </a:r>
            <a:r>
              <a:rPr lang="en-US" sz="2200" spc="-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integrity</a:t>
            </a:r>
            <a:r>
              <a:rPr lang="en-US" sz="2200" spc="-1">
                <a:latin typeface="Times New Roman"/>
                <a:ea typeface="+mn-lt"/>
                <a:cs typeface="Times New Roman"/>
              </a:rPr>
              <a:t>, </a:t>
            </a:r>
            <a:r>
              <a:rPr lang="en-US" sz="2200" spc="-1">
                <a:solidFill>
                  <a:srgbClr val="0070C0"/>
                </a:solidFill>
                <a:latin typeface="Times New Roman"/>
                <a:ea typeface="+mn-lt"/>
                <a:cs typeface="Times New Roman"/>
              </a:rPr>
              <a:t>confidentiality</a:t>
            </a:r>
            <a:r>
              <a:rPr lang="en-US" sz="2200" spc="-1">
                <a:latin typeface="Times New Roman"/>
                <a:ea typeface="+mn-lt"/>
                <a:cs typeface="Times New Roman"/>
              </a:rPr>
              <a:t>, and availability.</a:t>
            </a:r>
          </a:p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 charset="2"/>
              <a:buChar char="•"/>
            </a:pPr>
            <a:r>
              <a:rPr lang="en-US" sz="2200">
                <a:latin typeface="Times New Roman"/>
                <a:cs typeface="Times New Roman"/>
              </a:rPr>
              <a:t>The violation of any of them may incur serious consequences. </a:t>
            </a:r>
            <a:r>
              <a:rPr lang="en-US" sz="2400">
                <a:latin typeface="Times New Roman"/>
              </a:rPr>
              <a:t/>
            </a:r>
            <a:br>
              <a:rPr lang="en-US" sz="2400">
                <a:latin typeface="Times New Roman"/>
              </a:rPr>
            </a:br>
            <a:endParaRPr lang="en-IN" sz="2400" spc="-1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pic>
        <p:nvPicPr>
          <p:cNvPr id="2" name="Picture 4" descr="Chart, diagram&#10;&#10;Description automatically generated">
            <a:extLst>
              <a:ext uri="{FF2B5EF4-FFF2-40B4-BE49-F238E27FC236}">
                <a16:creationId xmlns:a16="http://schemas.microsoft.com/office/drawing/2014/main" id="{116EA96E-B114-8572-16C9-22D2CD6F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17" y="2584478"/>
            <a:ext cx="4795682" cy="32744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099C9-E913-EC08-D47D-46EB0987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837F1-D85A-D409-B1BF-E5739FFC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7" name="Picture 2" descr="Chart, sunburst chart&#10;&#10;Description automatically generated">
            <a:extLst>
              <a:ext uri="{FF2B5EF4-FFF2-40B4-BE49-F238E27FC236}">
                <a16:creationId xmlns:a16="http://schemas.microsoft.com/office/drawing/2014/main" id="{70DF840B-6405-1B96-0978-2D76330D3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003" y="2679955"/>
            <a:ext cx="4538911" cy="3321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9B482F-7806-7ACB-07EB-783162CB568D}"/>
              </a:ext>
            </a:extLst>
          </p:cNvPr>
          <p:cNvSpPr txBox="1"/>
          <p:nvPr/>
        </p:nvSpPr>
        <p:spPr>
          <a:xfrm>
            <a:off x="1356851" y="6002593"/>
            <a:ext cx="375425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Fig. 6: Breakdown of top IoT threats​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359D9-D74B-6F82-D826-B298CBBD091D}"/>
              </a:ext>
            </a:extLst>
          </p:cNvPr>
          <p:cNvSpPr txBox="1"/>
          <p:nvPr/>
        </p:nvSpPr>
        <p:spPr>
          <a:xfrm>
            <a:off x="6003449" y="6001550"/>
            <a:ext cx="589899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Fig. 7: Breakdown of IoT devices in smart home with vulnerability​</a:t>
            </a:r>
          </a:p>
        </p:txBody>
      </p:sp>
      <p:pic>
        <p:nvPicPr>
          <p:cNvPr id="12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9386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 3">
            <a:extLst>
              <a:ext uri="{FF2B5EF4-FFF2-40B4-BE49-F238E27FC236}">
                <a16:creationId xmlns:a16="http://schemas.microsoft.com/office/drawing/2014/main" id="{AA11700B-C2EE-2017-E234-9E0EFC0E8256}"/>
              </a:ext>
            </a:extLst>
          </p:cNvPr>
          <p:cNvSpPr/>
          <p:nvPr/>
        </p:nvSpPr>
        <p:spPr>
          <a:xfrm>
            <a:off x="206684" y="920313"/>
            <a:ext cx="11734920" cy="36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">
            <a:extLst>
              <a:ext uri="{FF2B5EF4-FFF2-40B4-BE49-F238E27FC236}">
                <a16:creationId xmlns:a16="http://schemas.microsoft.com/office/drawing/2014/main" id="{9AC6AECF-5EA9-96CA-847A-B3818EDFFE05}"/>
              </a:ext>
            </a:extLst>
          </p:cNvPr>
          <p:cNvSpPr/>
          <p:nvPr/>
        </p:nvSpPr>
        <p:spPr>
          <a:xfrm>
            <a:off x="203952" y="263717"/>
            <a:ext cx="6013561" cy="5382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>
                <a:solidFill>
                  <a:srgbClr val="C00000"/>
                </a:solidFill>
                <a:latin typeface="Times New Roman"/>
                <a:cs typeface="Times New Roman"/>
              </a:rPr>
              <a:t>Attacks Considered for Research</a:t>
            </a:r>
            <a:endParaRPr lang="en-IN" sz="3200" b="1" strike="noStrike" spc="-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stomShape 2">
            <a:extLst>
              <a:ext uri="{FF2B5EF4-FFF2-40B4-BE49-F238E27FC236}">
                <a16:creationId xmlns:a16="http://schemas.microsoft.com/office/drawing/2014/main" id="{4FE25C1F-A981-D6E5-9CB4-CAA330548E48}"/>
              </a:ext>
            </a:extLst>
          </p:cNvPr>
          <p:cNvSpPr/>
          <p:nvPr/>
        </p:nvSpPr>
        <p:spPr>
          <a:xfrm>
            <a:off x="473007" y="1150745"/>
            <a:ext cx="11461419" cy="10791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endParaRPr lang="en-IN" sz="2400" spc="-1">
              <a:solidFill>
                <a:srgbClr val="000000"/>
              </a:solidFill>
              <a:latin typeface="Calibri"/>
              <a:cs typeface="Calibri"/>
            </a:endParaRPr>
          </a:p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endParaRPr lang="en-IN" sz="2400" spc="-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endParaRPr lang="en-IN" sz="2400" spc="-1">
              <a:ea typeface="+mn-lt"/>
              <a:cs typeface="+mn-lt"/>
            </a:endParaRPr>
          </a:p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endParaRPr lang="en-IN" sz="2400" spc="-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AEBED-4C07-8EA1-31E3-2700ACC4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31B60-F745-5FFC-1D1E-359BC0C9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0305B0-CCEE-784A-7D74-4424276FCF84}"/>
              </a:ext>
            </a:extLst>
          </p:cNvPr>
          <p:cNvSpPr txBox="1"/>
          <p:nvPr/>
        </p:nvSpPr>
        <p:spPr>
          <a:xfrm>
            <a:off x="6203716" y="1379210"/>
            <a:ext cx="5619134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FF0000"/>
                </a:solidFill>
                <a:latin typeface="Times New Roman"/>
                <a:cs typeface="Times New Roman"/>
              </a:rPr>
              <a:t>Exploits:</a:t>
            </a:r>
            <a:r>
              <a:rPr lang="en-IN" sz="2400">
                <a:latin typeface="Times New Roman"/>
                <a:cs typeface="Times New Roman"/>
              </a:rPr>
              <a:t> </a:t>
            </a:r>
            <a:r>
              <a:rPr lang="en-IN" sz="2800">
                <a:latin typeface="Times New Roman"/>
                <a:cs typeface="Times New Roman"/>
              </a:rPr>
              <a:t> 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Denial-of-Service (DoS) </a:t>
            </a:r>
            <a:endParaRPr lang="en-US" sz="220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Distributed Denial-of-Service (DDoS)</a:t>
            </a: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Low-rate DDoS attacks (</a:t>
            </a:r>
            <a:r>
              <a:rPr lang="en-IN" sz="2200" err="1">
                <a:latin typeface="Times New Roman"/>
                <a:cs typeface="Calibri"/>
              </a:rPr>
              <a:t>LRDDoS</a:t>
            </a:r>
            <a:r>
              <a:rPr lang="en-IN" sz="2200">
                <a:latin typeface="Times New Roman"/>
                <a:cs typeface="Calibri"/>
              </a:rPr>
              <a:t>)</a:t>
            </a: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Rank attacks</a:t>
            </a: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Sinkhole attacks</a:t>
            </a: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Wormhole attacks</a:t>
            </a: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Buffer reservation attacks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39195-320F-B550-1FA7-20E05B0C02C5}"/>
              </a:ext>
            </a:extLst>
          </p:cNvPr>
          <p:cNvSpPr txBox="1"/>
          <p:nvPr/>
        </p:nvSpPr>
        <p:spPr>
          <a:xfrm>
            <a:off x="6203716" y="4242558"/>
            <a:ext cx="4340941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0000FF"/>
                </a:solidFill>
                <a:latin typeface="Times New Roman"/>
                <a:cs typeface="Times New Roman"/>
              </a:rPr>
              <a:t>Malware attack:</a:t>
            </a:r>
            <a:r>
              <a:rPr lang="en-IN" sz="2800">
                <a:latin typeface="Times New Roman"/>
                <a:cs typeface="Times New Roman"/>
              </a:rPr>
              <a:t> 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IN" sz="2200">
                <a:latin typeface="Times New Roman"/>
                <a:cs typeface="Calibri"/>
              </a:rPr>
              <a:t>Botnets</a:t>
            </a:r>
            <a:endParaRPr lang="en-US" sz="2200">
              <a:latin typeface="Times New Roman"/>
              <a:cs typeface="Times New Roman"/>
            </a:endParaRPr>
          </a:p>
        </p:txBody>
      </p:sp>
      <p:pic>
        <p:nvPicPr>
          <p:cNvPr id="7" name="Picture 4" descr="Chart, diagram&#10;&#10;Description automatically generated">
            <a:extLst>
              <a:ext uri="{FF2B5EF4-FFF2-40B4-BE49-F238E27FC236}">
                <a16:creationId xmlns:a16="http://schemas.microsoft.com/office/drawing/2014/main" id="{9BCC32D2-01FE-7F38-BA36-452280940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3" y="1552848"/>
            <a:ext cx="5205989" cy="3555847"/>
          </a:xfrm>
          <a:prstGeom prst="rect">
            <a:avLst/>
          </a:prstGeom>
        </p:spPr>
      </p:pic>
      <p:pic>
        <p:nvPicPr>
          <p:cNvPr id="11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222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>
            <a:extLst>
              <a:ext uri="{FF2B5EF4-FFF2-40B4-BE49-F238E27FC236}">
                <a16:creationId xmlns:a16="http://schemas.microsoft.com/office/drawing/2014/main" id="{B3171D7D-BA47-CA49-72CF-1B2FA83101F3}"/>
              </a:ext>
            </a:extLst>
          </p:cNvPr>
          <p:cNvSpPr/>
          <p:nvPr/>
        </p:nvSpPr>
        <p:spPr>
          <a:xfrm>
            <a:off x="4474178" y="1662167"/>
            <a:ext cx="3469465" cy="673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>
                <a:solidFill>
                  <a:srgbClr val="FF0000"/>
                </a:solidFill>
                <a:latin typeface="Times New Roman"/>
                <a:cs typeface="Times New Roman"/>
              </a:rPr>
              <a:t>First Contribution</a:t>
            </a:r>
            <a:endParaRPr lang="en-IN" sz="3200" b="1" strike="noStrike" spc="-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464886" y="2518962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D0F5D-F604-7D49-C8B5-163138865C7A}"/>
              </a:ext>
            </a:extLst>
          </p:cNvPr>
          <p:cNvSpPr txBox="1"/>
          <p:nvPr/>
        </p:nvSpPr>
        <p:spPr>
          <a:xfrm>
            <a:off x="1515949" y="2970892"/>
            <a:ext cx="103033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00FF"/>
                </a:solidFill>
                <a:latin typeface="Times New Roman"/>
                <a:cs typeface="Times New Roman"/>
              </a:rPr>
              <a:t>DDoS attacks including Botnet attacks detection and mitigation in IoT ecosystem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CD57C-6629-4FBB-EC5B-F2F320D06664}"/>
              </a:ext>
            </a:extLst>
          </p:cNvPr>
          <p:cNvSpPr txBox="1"/>
          <p:nvPr/>
        </p:nvSpPr>
        <p:spPr>
          <a:xfrm>
            <a:off x="1319710" y="3914534"/>
            <a:ext cx="104273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000">
                <a:solidFill>
                  <a:srgbClr val="00B015"/>
                </a:solidFill>
                <a:latin typeface="Times New Roman"/>
                <a:ea typeface="+mn-lt"/>
                <a:cs typeface="+mn-lt"/>
              </a:rPr>
              <a:t>ML for IEEE 802.15. 4e/TSCH: Energy Efficient Approach to Detect </a:t>
            </a:r>
            <a:r>
              <a:rPr lang="en-US" sz="2000" err="1">
                <a:solidFill>
                  <a:srgbClr val="00B015"/>
                </a:solidFill>
                <a:latin typeface="Times New Roman"/>
                <a:ea typeface="+mn-lt"/>
                <a:cs typeface="+mn-lt"/>
              </a:rPr>
              <a:t>DDoS</a:t>
            </a:r>
            <a:r>
              <a:rPr lang="en-US" sz="2000">
                <a:solidFill>
                  <a:srgbClr val="00B015"/>
                </a:solidFill>
                <a:latin typeface="Times New Roman"/>
                <a:ea typeface="+mn-lt"/>
                <a:cs typeface="+mn-lt"/>
              </a:rPr>
              <a:t> Attack Using Machine Learning</a:t>
            </a:r>
          </a:p>
          <a:p>
            <a:pPr marL="342900" indent="-342900">
              <a:buAutoNum type="arabicPeriod"/>
            </a:pPr>
            <a:endParaRPr lang="en-US" sz="2000">
              <a:latin typeface="Times New Roman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2000" err="1">
                <a:latin typeface="Times New Roman"/>
                <a:cs typeface="Arial"/>
              </a:rPr>
              <a:t>BlooM</a:t>
            </a:r>
            <a:r>
              <a:rPr lang="en-US" sz="2000">
                <a:latin typeface="Times New Roman"/>
                <a:cs typeface="Arial"/>
              </a:rPr>
              <a:t>: </a:t>
            </a:r>
            <a:r>
              <a:rPr lang="en-US" sz="2000" err="1">
                <a:latin typeface="Times New Roman"/>
                <a:cs typeface="Arial"/>
              </a:rPr>
              <a:t>Bashlite</a:t>
            </a:r>
            <a:r>
              <a:rPr lang="en-US" sz="2000">
                <a:latin typeface="Times New Roman"/>
                <a:cs typeface="Arial"/>
              </a:rPr>
              <a:t> and </a:t>
            </a:r>
            <a:r>
              <a:rPr lang="en-US" sz="2000" err="1">
                <a:latin typeface="Times New Roman"/>
                <a:cs typeface="Arial"/>
              </a:rPr>
              <a:t>Mirai</a:t>
            </a:r>
            <a:r>
              <a:rPr lang="en-US" sz="2000">
                <a:latin typeface="Times New Roman"/>
                <a:cs typeface="Arial"/>
              </a:rPr>
              <a:t> Botnet Detection using Machine Learning Algorithms in 6LoWPAN Network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950C716-DF63-B282-C970-B93E79102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63" y="2564628"/>
            <a:ext cx="1079607" cy="105350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F4C55-741F-2B1F-0DFA-636287134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AFCDA-738C-9696-97A9-5F6C98BC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dirty="0" smtClean="0"/>
              <a:pPr/>
              <a:t>61</a:t>
            </a:fld>
            <a:endParaRPr lang="en-US"/>
          </a:p>
        </p:txBody>
      </p:sp>
      <p:pic>
        <p:nvPicPr>
          <p:cNvPr id="11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5083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3">
            <a:extLst>
              <a:ext uri="{FF2B5EF4-FFF2-40B4-BE49-F238E27FC236}">
                <a16:creationId xmlns:a16="http://schemas.microsoft.com/office/drawing/2014/main" id="{0DD49778-4833-8E33-1AE4-AD67F8415D25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2C4DB2-1C72-CE7B-5F51-8EAD3FF07A93}"/>
              </a:ext>
            </a:extLst>
          </p:cNvPr>
          <p:cNvSpPr txBox="1"/>
          <p:nvPr/>
        </p:nvSpPr>
        <p:spPr>
          <a:xfrm>
            <a:off x="236122" y="1913154"/>
            <a:ext cx="5559007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00B050"/>
                </a:solidFill>
                <a:latin typeface="Times New Roman"/>
                <a:cs typeface="Times New Roman"/>
              </a:rPr>
              <a:t>DDoS</a:t>
            </a:r>
            <a:r>
              <a:rPr lang="en-US" sz="2200">
                <a:latin typeface="Times New Roman"/>
                <a:cs typeface="Times New Roman"/>
              </a:rPr>
              <a:t> attacks are very harmful to IoT systems as these attacks disrupt </a:t>
            </a:r>
            <a:r>
              <a:rPr lang="en-US" sz="2200">
                <a:solidFill>
                  <a:srgbClr val="7030A0"/>
                </a:solidFill>
                <a:latin typeface="Times New Roman"/>
                <a:cs typeface="Times New Roman"/>
              </a:rPr>
              <a:t>the availability of systems.</a:t>
            </a:r>
          </a:p>
          <a:p>
            <a:pPr marL="342900" indent="-342900">
              <a:buFont typeface="Arial"/>
              <a:buChar char="•"/>
            </a:pPr>
            <a:endParaRPr lang="en-US" sz="220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IN" sz="2200">
                <a:solidFill>
                  <a:srgbClr val="000000"/>
                </a:solidFill>
                <a:latin typeface="Times New Roman"/>
                <a:cs typeface="Times New Roman"/>
              </a:rPr>
              <a:t>DDoS attacks, which can be broadly classified into following categories, as given below</a:t>
            </a:r>
            <a:endParaRPr lang="en-US" sz="220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7AB72A-169A-2869-FCBB-5BE813E7196F}"/>
              </a:ext>
            </a:extLst>
          </p:cNvPr>
          <p:cNvSpPr/>
          <p:nvPr/>
        </p:nvSpPr>
        <p:spPr>
          <a:xfrm>
            <a:off x="686808" y="4743188"/>
            <a:ext cx="4751814" cy="138499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buFont typeface="+mj-lt"/>
              <a:buAutoNum type="romanUcPeriod"/>
            </a:pPr>
            <a:r>
              <a:rPr lang="en-US" sz="2200">
                <a:solidFill>
                  <a:srgbClr val="FF0000"/>
                </a:solidFill>
                <a:latin typeface="Calibri"/>
              </a:rPr>
              <a:t>High-rate </a:t>
            </a:r>
            <a:r>
              <a:rPr lang="en-US" sz="2200" err="1">
                <a:solidFill>
                  <a:srgbClr val="FF0000"/>
                </a:solidFill>
                <a:latin typeface="Calibri"/>
              </a:rPr>
              <a:t>DDoS</a:t>
            </a:r>
            <a:r>
              <a:rPr lang="en-US" sz="2200">
                <a:solidFill>
                  <a:srgbClr val="FF0000"/>
                </a:solidFill>
                <a:latin typeface="Calibri"/>
              </a:rPr>
              <a:t> </a:t>
            </a:r>
            <a:r>
              <a:rPr lang="en-US" sz="2200">
                <a:latin typeface="Calibri"/>
              </a:rPr>
              <a:t>attack (</a:t>
            </a:r>
            <a:r>
              <a:rPr lang="en-US" sz="2200" err="1">
                <a:latin typeface="Calibri"/>
              </a:rPr>
              <a:t>HrDDoS</a:t>
            </a:r>
            <a:r>
              <a:rPr lang="en-US" sz="2200">
                <a:latin typeface="Calibri"/>
              </a:rPr>
              <a:t>):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200" i="1">
                <a:solidFill>
                  <a:srgbClr val="00B050"/>
                </a:solidFill>
                <a:latin typeface="Calibri"/>
              </a:rPr>
              <a:t>Low-rate </a:t>
            </a:r>
            <a:r>
              <a:rPr lang="en-US" sz="2200" i="1" err="1">
                <a:solidFill>
                  <a:srgbClr val="00B050"/>
                </a:solidFill>
                <a:latin typeface="Calibri"/>
              </a:rPr>
              <a:t>DDoS</a:t>
            </a:r>
            <a:r>
              <a:rPr lang="en-US" sz="2200" i="1">
                <a:solidFill>
                  <a:srgbClr val="00B050"/>
                </a:solidFill>
                <a:latin typeface="Calibri"/>
              </a:rPr>
              <a:t> </a:t>
            </a:r>
            <a:r>
              <a:rPr lang="en-US" sz="2200" i="1">
                <a:latin typeface="Calibri"/>
              </a:rPr>
              <a:t>Attacks (</a:t>
            </a:r>
            <a:r>
              <a:rPr lang="en-US" sz="2200" i="1" err="1">
                <a:latin typeface="Calibri"/>
              </a:rPr>
              <a:t>LrDDoS</a:t>
            </a:r>
            <a:r>
              <a:rPr lang="en-US" sz="2200" i="1">
                <a:latin typeface="Calibri"/>
              </a:rPr>
              <a:t>):</a:t>
            </a:r>
            <a:r>
              <a:rPr lang="en-US" sz="2200">
                <a:latin typeface="Calibri"/>
              </a:rPr>
              <a:t> </a:t>
            </a:r>
            <a:endParaRPr lang="en-US" sz="2200">
              <a:latin typeface="Calibri" panose="020F0502020204030204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2200" i="1">
                <a:solidFill>
                  <a:srgbClr val="0000FF"/>
                </a:solidFill>
                <a:latin typeface="Calibri"/>
              </a:rPr>
              <a:t>Mixed-rate </a:t>
            </a:r>
            <a:r>
              <a:rPr lang="en-US" sz="2200" i="1" err="1">
                <a:solidFill>
                  <a:srgbClr val="0000FF"/>
                </a:solidFill>
                <a:latin typeface="Calibri"/>
              </a:rPr>
              <a:t>DDoS</a:t>
            </a:r>
            <a:r>
              <a:rPr lang="en-US" sz="2200" i="1">
                <a:solidFill>
                  <a:srgbClr val="0000FF"/>
                </a:solidFill>
                <a:latin typeface="Calibri"/>
              </a:rPr>
              <a:t> </a:t>
            </a:r>
            <a:r>
              <a:rPr lang="en-US" sz="2200" i="1">
                <a:latin typeface="Calibri"/>
              </a:rPr>
              <a:t>Attacks (</a:t>
            </a:r>
            <a:r>
              <a:rPr lang="en-US" sz="2200" i="1" err="1">
                <a:latin typeface="Calibri"/>
              </a:rPr>
              <a:t>MrDDoS</a:t>
            </a:r>
            <a:r>
              <a:rPr lang="en-US" sz="2200" i="1">
                <a:latin typeface="Calibri"/>
              </a:rPr>
              <a:t>):</a:t>
            </a:r>
            <a:r>
              <a:rPr lang="en-US" sz="2200">
                <a:latin typeface="Calibri"/>
              </a:rPr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34705D33-081D-CD5B-726A-B485FBFD5FC0}"/>
              </a:ext>
            </a:extLst>
          </p:cNvPr>
          <p:cNvSpPr/>
          <p:nvPr/>
        </p:nvSpPr>
        <p:spPr>
          <a:xfrm>
            <a:off x="387792" y="1229771"/>
            <a:ext cx="3823472" cy="3293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Attack: DDoS, Botnet Attack</a:t>
            </a:r>
            <a:endParaRPr lang="en-IN" sz="2400" b="1" strike="noStrike" spc="-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EC676-9DA7-13D5-77D6-E13479822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38CCB-2BF5-09A5-050B-ECB95786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146" name="Line 29"/>
          <p:cNvSpPr>
            <a:spLocks noChangeShapeType="1"/>
          </p:cNvSpPr>
          <p:nvPr/>
        </p:nvSpPr>
        <p:spPr bwMode="auto">
          <a:xfrm>
            <a:off x="8851828" y="2130758"/>
            <a:ext cx="58561" cy="40345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Line 30"/>
          <p:cNvSpPr>
            <a:spLocks noChangeShapeType="1"/>
          </p:cNvSpPr>
          <p:nvPr/>
        </p:nvSpPr>
        <p:spPr bwMode="auto">
          <a:xfrm flipH="1">
            <a:off x="9080428" y="2202118"/>
            <a:ext cx="230475" cy="3203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Line 31"/>
          <p:cNvSpPr>
            <a:spLocks noChangeShapeType="1"/>
          </p:cNvSpPr>
          <p:nvPr/>
        </p:nvSpPr>
        <p:spPr bwMode="auto">
          <a:xfrm flipH="1" flipV="1">
            <a:off x="8986589" y="2686616"/>
            <a:ext cx="609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Line 32"/>
          <p:cNvSpPr>
            <a:spLocks noChangeShapeType="1"/>
          </p:cNvSpPr>
          <p:nvPr/>
        </p:nvSpPr>
        <p:spPr bwMode="auto">
          <a:xfrm>
            <a:off x="8910388" y="2702492"/>
            <a:ext cx="1" cy="4413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Line 36"/>
          <p:cNvSpPr>
            <a:spLocks noChangeShapeType="1"/>
          </p:cNvSpPr>
          <p:nvPr/>
        </p:nvSpPr>
        <p:spPr bwMode="auto">
          <a:xfrm>
            <a:off x="6775416" y="2278629"/>
            <a:ext cx="182562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Line 37"/>
          <p:cNvSpPr>
            <a:spLocks noChangeShapeType="1"/>
          </p:cNvSpPr>
          <p:nvPr/>
        </p:nvSpPr>
        <p:spPr bwMode="auto">
          <a:xfrm>
            <a:off x="6507694" y="2492147"/>
            <a:ext cx="297884" cy="2436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Line 38"/>
          <p:cNvSpPr>
            <a:spLocks noChangeShapeType="1"/>
          </p:cNvSpPr>
          <p:nvPr/>
        </p:nvSpPr>
        <p:spPr bwMode="auto">
          <a:xfrm>
            <a:off x="6119778" y="2659629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Line 39"/>
          <p:cNvSpPr>
            <a:spLocks noChangeShapeType="1"/>
          </p:cNvSpPr>
          <p:nvPr/>
        </p:nvSpPr>
        <p:spPr bwMode="auto">
          <a:xfrm flipV="1">
            <a:off x="6272178" y="2888229"/>
            <a:ext cx="457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Line 40"/>
          <p:cNvSpPr>
            <a:spLocks noChangeShapeType="1"/>
          </p:cNvSpPr>
          <p:nvPr/>
        </p:nvSpPr>
        <p:spPr bwMode="auto">
          <a:xfrm flipV="1">
            <a:off x="6268509" y="3426389"/>
            <a:ext cx="555925" cy="32702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Line 41"/>
          <p:cNvSpPr>
            <a:spLocks noChangeShapeType="1"/>
          </p:cNvSpPr>
          <p:nvPr/>
        </p:nvSpPr>
        <p:spPr bwMode="auto">
          <a:xfrm flipV="1">
            <a:off x="6815180" y="3524815"/>
            <a:ext cx="131771" cy="3317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Line 42"/>
          <p:cNvSpPr>
            <a:spLocks noChangeShapeType="1"/>
          </p:cNvSpPr>
          <p:nvPr/>
        </p:nvSpPr>
        <p:spPr bwMode="auto">
          <a:xfrm>
            <a:off x="7062287" y="2839016"/>
            <a:ext cx="435827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Line 43"/>
          <p:cNvSpPr>
            <a:spLocks noChangeShapeType="1"/>
          </p:cNvSpPr>
          <p:nvPr/>
        </p:nvSpPr>
        <p:spPr bwMode="auto">
          <a:xfrm flipV="1">
            <a:off x="6918677" y="3372416"/>
            <a:ext cx="503237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Line 59"/>
          <p:cNvSpPr>
            <a:spLocks noChangeShapeType="1"/>
          </p:cNvSpPr>
          <p:nvPr/>
        </p:nvSpPr>
        <p:spPr bwMode="auto">
          <a:xfrm flipV="1">
            <a:off x="7251751" y="4264589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Line 60"/>
          <p:cNvSpPr>
            <a:spLocks noChangeShapeType="1"/>
          </p:cNvSpPr>
          <p:nvPr/>
        </p:nvSpPr>
        <p:spPr bwMode="auto">
          <a:xfrm flipH="1" flipV="1">
            <a:off x="7480351" y="4340789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Line 61"/>
          <p:cNvSpPr>
            <a:spLocks noChangeShapeType="1"/>
          </p:cNvSpPr>
          <p:nvPr/>
        </p:nvSpPr>
        <p:spPr bwMode="auto">
          <a:xfrm flipH="1" flipV="1">
            <a:off x="9039557" y="4356663"/>
            <a:ext cx="173773" cy="26224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Line 62"/>
          <p:cNvSpPr>
            <a:spLocks noChangeShapeType="1"/>
          </p:cNvSpPr>
          <p:nvPr/>
        </p:nvSpPr>
        <p:spPr bwMode="auto">
          <a:xfrm flipH="1">
            <a:off x="9443789" y="4134416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Line 63"/>
          <p:cNvSpPr>
            <a:spLocks noChangeShapeType="1"/>
          </p:cNvSpPr>
          <p:nvPr/>
        </p:nvSpPr>
        <p:spPr bwMode="auto">
          <a:xfrm flipH="1">
            <a:off x="9519989" y="4363016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Line 64"/>
          <p:cNvSpPr>
            <a:spLocks noChangeShapeType="1"/>
          </p:cNvSpPr>
          <p:nvPr/>
        </p:nvSpPr>
        <p:spPr bwMode="auto">
          <a:xfrm flipH="1" flipV="1">
            <a:off x="9672389" y="4667816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Line 65"/>
          <p:cNvSpPr>
            <a:spLocks noChangeShapeType="1"/>
          </p:cNvSpPr>
          <p:nvPr/>
        </p:nvSpPr>
        <p:spPr bwMode="auto">
          <a:xfrm flipH="1" flipV="1">
            <a:off x="9596189" y="4744016"/>
            <a:ext cx="381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Line 66"/>
          <p:cNvSpPr>
            <a:spLocks noChangeShapeType="1"/>
          </p:cNvSpPr>
          <p:nvPr/>
        </p:nvSpPr>
        <p:spPr bwMode="auto">
          <a:xfrm flipV="1">
            <a:off x="9443789" y="4744016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Line 67"/>
          <p:cNvSpPr>
            <a:spLocks noChangeShapeType="1"/>
          </p:cNvSpPr>
          <p:nvPr/>
        </p:nvSpPr>
        <p:spPr bwMode="auto">
          <a:xfrm flipH="1">
            <a:off x="9824789" y="3220016"/>
            <a:ext cx="1905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Line 68"/>
          <p:cNvSpPr>
            <a:spLocks noChangeShapeType="1"/>
          </p:cNvSpPr>
          <p:nvPr/>
        </p:nvSpPr>
        <p:spPr bwMode="auto">
          <a:xfrm flipH="1">
            <a:off x="10208594" y="2818379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Line 69"/>
          <p:cNvSpPr>
            <a:spLocks noChangeShapeType="1"/>
          </p:cNvSpPr>
          <p:nvPr/>
        </p:nvSpPr>
        <p:spPr bwMode="auto">
          <a:xfrm flipH="1">
            <a:off x="10360994" y="3123179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Line 70"/>
          <p:cNvSpPr>
            <a:spLocks noChangeShapeType="1"/>
          </p:cNvSpPr>
          <p:nvPr/>
        </p:nvSpPr>
        <p:spPr bwMode="auto">
          <a:xfrm flipV="1">
            <a:off x="7480351" y="3426389"/>
            <a:ext cx="152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70" name="Picture 7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9150" y="3411658"/>
            <a:ext cx="3508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71" name="Picture 7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489" y="3589110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72" name="Line 75"/>
          <p:cNvSpPr>
            <a:spLocks noChangeShapeType="1"/>
          </p:cNvSpPr>
          <p:nvPr/>
        </p:nvSpPr>
        <p:spPr bwMode="auto">
          <a:xfrm>
            <a:off x="8945915" y="3235890"/>
            <a:ext cx="650274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Line 77"/>
          <p:cNvSpPr>
            <a:spLocks noChangeShapeType="1"/>
          </p:cNvSpPr>
          <p:nvPr/>
        </p:nvSpPr>
        <p:spPr bwMode="auto">
          <a:xfrm flipH="1">
            <a:off x="8986589" y="3753416"/>
            <a:ext cx="533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Line 79"/>
          <p:cNvSpPr>
            <a:spLocks noChangeShapeType="1"/>
          </p:cNvSpPr>
          <p:nvPr/>
        </p:nvSpPr>
        <p:spPr bwMode="auto">
          <a:xfrm flipH="1" flipV="1">
            <a:off x="8453189" y="3753416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Line 80"/>
          <p:cNvSpPr>
            <a:spLocks noChangeShapeType="1"/>
          </p:cNvSpPr>
          <p:nvPr/>
        </p:nvSpPr>
        <p:spPr bwMode="auto">
          <a:xfrm flipH="1">
            <a:off x="8300789" y="3215254"/>
            <a:ext cx="492726" cy="309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Line 91"/>
          <p:cNvSpPr>
            <a:spLocks noChangeShapeType="1"/>
          </p:cNvSpPr>
          <p:nvPr/>
        </p:nvSpPr>
        <p:spPr bwMode="auto">
          <a:xfrm flipH="1" flipV="1">
            <a:off x="7726715" y="3143816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Line 109"/>
          <p:cNvSpPr>
            <a:spLocks noChangeShapeType="1"/>
          </p:cNvSpPr>
          <p:nvPr/>
        </p:nvSpPr>
        <p:spPr bwMode="auto">
          <a:xfrm flipH="1">
            <a:off x="9900989" y="3673248"/>
            <a:ext cx="609600" cy="3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Line 110"/>
          <p:cNvSpPr>
            <a:spLocks noChangeShapeType="1"/>
          </p:cNvSpPr>
          <p:nvPr/>
        </p:nvSpPr>
        <p:spPr bwMode="auto">
          <a:xfrm>
            <a:off x="11005889" y="3665310"/>
            <a:ext cx="533400" cy="7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79" name="Picture 1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989" y="459161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0" name="Picture 1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51" y="4188389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1" name="Picture 1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110" y="341051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2" name="Picture 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978" y="2735829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3" name="Picture 1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789" y="253421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4" name="Picture 1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794" y="3046979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85" name="Line 152"/>
          <p:cNvSpPr>
            <a:spLocks noChangeShapeType="1"/>
          </p:cNvSpPr>
          <p:nvPr/>
        </p:nvSpPr>
        <p:spPr bwMode="auto">
          <a:xfrm>
            <a:off x="6957978" y="2354829"/>
            <a:ext cx="762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" name="Line 153"/>
          <p:cNvSpPr>
            <a:spLocks noChangeShapeType="1"/>
          </p:cNvSpPr>
          <p:nvPr/>
        </p:nvSpPr>
        <p:spPr bwMode="auto">
          <a:xfrm>
            <a:off x="7160791" y="2732653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7" name="Line 154"/>
          <p:cNvSpPr>
            <a:spLocks noChangeShapeType="1"/>
          </p:cNvSpPr>
          <p:nvPr/>
        </p:nvSpPr>
        <p:spPr bwMode="auto">
          <a:xfrm>
            <a:off x="7879115" y="3143816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8" name="Line 156"/>
          <p:cNvSpPr>
            <a:spLocks noChangeShapeType="1"/>
          </p:cNvSpPr>
          <p:nvPr/>
        </p:nvSpPr>
        <p:spPr bwMode="auto">
          <a:xfrm>
            <a:off x="8605589" y="3677216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9" name="Line 157"/>
          <p:cNvSpPr>
            <a:spLocks noChangeShapeType="1"/>
          </p:cNvSpPr>
          <p:nvPr/>
        </p:nvSpPr>
        <p:spPr bwMode="auto">
          <a:xfrm flipV="1">
            <a:off x="9062789" y="3677216"/>
            <a:ext cx="3810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Line 158"/>
          <p:cNvSpPr>
            <a:spLocks noChangeShapeType="1"/>
          </p:cNvSpPr>
          <p:nvPr/>
        </p:nvSpPr>
        <p:spPr bwMode="auto">
          <a:xfrm>
            <a:off x="10066399" y="3574996"/>
            <a:ext cx="348475" cy="379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Line 159"/>
          <p:cNvSpPr>
            <a:spLocks noChangeShapeType="1"/>
          </p:cNvSpPr>
          <p:nvPr/>
        </p:nvSpPr>
        <p:spPr bwMode="auto">
          <a:xfrm flipV="1">
            <a:off x="11082089" y="351291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2" name="Oval 173"/>
          <p:cNvSpPr>
            <a:spLocks noChangeArrowheads="1"/>
          </p:cNvSpPr>
          <p:nvPr/>
        </p:nvSpPr>
        <p:spPr bwMode="auto">
          <a:xfrm>
            <a:off x="6653178" y="205002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93" name="Oval 174"/>
          <p:cNvSpPr>
            <a:spLocks noChangeArrowheads="1"/>
          </p:cNvSpPr>
          <p:nvPr/>
        </p:nvSpPr>
        <p:spPr bwMode="auto">
          <a:xfrm>
            <a:off x="6325146" y="2348664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94" name="Oval 175"/>
          <p:cNvSpPr>
            <a:spLocks noChangeArrowheads="1"/>
          </p:cNvSpPr>
          <p:nvPr/>
        </p:nvSpPr>
        <p:spPr bwMode="auto">
          <a:xfrm>
            <a:off x="6037784" y="252244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95" name="Oval 176"/>
          <p:cNvSpPr>
            <a:spLocks noChangeArrowheads="1"/>
          </p:cNvSpPr>
          <p:nvPr/>
        </p:nvSpPr>
        <p:spPr bwMode="auto">
          <a:xfrm>
            <a:off x="6268509" y="29707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96" name="Oval 177"/>
          <p:cNvSpPr>
            <a:spLocks noChangeArrowheads="1"/>
          </p:cNvSpPr>
          <p:nvPr/>
        </p:nvSpPr>
        <p:spPr bwMode="auto">
          <a:xfrm>
            <a:off x="6202713" y="3614508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97" name="Oval 178"/>
          <p:cNvSpPr>
            <a:spLocks noChangeArrowheads="1"/>
          </p:cNvSpPr>
          <p:nvPr/>
        </p:nvSpPr>
        <p:spPr bwMode="auto">
          <a:xfrm>
            <a:off x="6650447" y="377563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98" name="Oval 189"/>
          <p:cNvSpPr>
            <a:spLocks noChangeArrowheads="1"/>
          </p:cNvSpPr>
          <p:nvPr/>
        </p:nvSpPr>
        <p:spPr bwMode="auto">
          <a:xfrm>
            <a:off x="7165223" y="451642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99" name="Oval 190"/>
          <p:cNvSpPr>
            <a:spLocks noChangeArrowheads="1"/>
          </p:cNvSpPr>
          <p:nvPr/>
        </p:nvSpPr>
        <p:spPr bwMode="auto">
          <a:xfrm>
            <a:off x="7566879" y="455351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0" name="Oval 191"/>
          <p:cNvSpPr>
            <a:spLocks noChangeArrowheads="1"/>
          </p:cNvSpPr>
          <p:nvPr/>
        </p:nvSpPr>
        <p:spPr bwMode="auto">
          <a:xfrm>
            <a:off x="9310903" y="497261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1" name="Oval 192"/>
          <p:cNvSpPr>
            <a:spLocks noChangeArrowheads="1"/>
          </p:cNvSpPr>
          <p:nvPr/>
        </p:nvSpPr>
        <p:spPr bwMode="auto">
          <a:xfrm>
            <a:off x="9786689" y="493451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2" name="Oval 193"/>
          <p:cNvSpPr>
            <a:spLocks noChangeArrowheads="1"/>
          </p:cNvSpPr>
          <p:nvPr/>
        </p:nvSpPr>
        <p:spPr bwMode="auto">
          <a:xfrm>
            <a:off x="10052012" y="463072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3" name="Oval 194"/>
          <p:cNvSpPr>
            <a:spLocks noChangeArrowheads="1"/>
          </p:cNvSpPr>
          <p:nvPr/>
        </p:nvSpPr>
        <p:spPr bwMode="auto">
          <a:xfrm>
            <a:off x="9920039" y="425547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4" name="Oval 195"/>
          <p:cNvSpPr>
            <a:spLocks noChangeArrowheads="1"/>
          </p:cNvSpPr>
          <p:nvPr/>
        </p:nvSpPr>
        <p:spPr bwMode="auto">
          <a:xfrm>
            <a:off x="9480030" y="408392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5" name="Oval 196"/>
          <p:cNvSpPr>
            <a:spLocks noChangeArrowheads="1"/>
          </p:cNvSpPr>
          <p:nvPr/>
        </p:nvSpPr>
        <p:spPr bwMode="auto">
          <a:xfrm>
            <a:off x="10284794" y="26405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6" name="Oval 197"/>
          <p:cNvSpPr>
            <a:spLocks noChangeArrowheads="1"/>
          </p:cNvSpPr>
          <p:nvPr/>
        </p:nvSpPr>
        <p:spPr bwMode="auto">
          <a:xfrm>
            <a:off x="10589594" y="29707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7" name="Oval 198"/>
          <p:cNvSpPr>
            <a:spLocks noChangeArrowheads="1"/>
          </p:cNvSpPr>
          <p:nvPr/>
        </p:nvSpPr>
        <p:spPr bwMode="auto">
          <a:xfrm>
            <a:off x="9438443" y="2675504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8" name="Oval 199"/>
          <p:cNvSpPr>
            <a:spLocks noChangeArrowheads="1"/>
          </p:cNvSpPr>
          <p:nvPr/>
        </p:nvSpPr>
        <p:spPr bwMode="auto">
          <a:xfrm>
            <a:off x="9225411" y="200875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09" name="Oval 200"/>
          <p:cNvSpPr>
            <a:spLocks noChangeArrowheads="1"/>
          </p:cNvSpPr>
          <p:nvPr/>
        </p:nvSpPr>
        <p:spPr bwMode="auto">
          <a:xfrm>
            <a:off x="8699428" y="1902158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pic>
        <p:nvPicPr>
          <p:cNvPr id="210" name="Picture 1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715" y="30676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" name="Picture 1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328" y="30271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" name="Picture 1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789" y="35248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3" name="Picture 1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989" y="352481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" name="Picture 1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730" y="4085513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42816" y="5752752"/>
            <a:ext cx="1805174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Fig. 7: DoS Attacks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0915" y="345225"/>
            <a:ext cx="7061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Times New Roman"/>
                <a:cs typeface="Times New Roman"/>
              </a:rPr>
              <a:t>Mitigating </a:t>
            </a:r>
            <a:r>
              <a:rPr lang="en-US" sz="2800" b="1" err="1">
                <a:solidFill>
                  <a:srgbClr val="C00000"/>
                </a:solidFill>
                <a:latin typeface="Times New Roman"/>
                <a:cs typeface="Times New Roman"/>
              </a:rPr>
              <a:t>DDoS</a:t>
            </a:r>
            <a:r>
              <a:rPr lang="en-US" sz="2800" b="1">
                <a:solidFill>
                  <a:srgbClr val="C00000"/>
                </a:solidFill>
                <a:latin typeface="Times New Roman"/>
                <a:cs typeface="Times New Roman"/>
              </a:rPr>
              <a:t> and Botnet attacks in IoT</a:t>
            </a:r>
          </a:p>
        </p:txBody>
      </p:sp>
    </p:spTree>
    <p:extLst>
      <p:ext uri="{BB962C8B-B14F-4D97-AF65-F5344CB8AC3E}">
        <p14:creationId xmlns:p14="http://schemas.microsoft.com/office/powerpoint/2010/main" val="176905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3">
            <a:extLst>
              <a:ext uri="{FF2B5EF4-FFF2-40B4-BE49-F238E27FC236}">
                <a16:creationId xmlns:a16="http://schemas.microsoft.com/office/drawing/2014/main" id="{0DD49778-4833-8E33-1AE4-AD67F8415D25}"/>
              </a:ext>
            </a:extLst>
          </p:cNvPr>
          <p:cNvSpPr/>
          <p:nvPr/>
        </p:nvSpPr>
        <p:spPr>
          <a:xfrm>
            <a:off x="509124" y="1035440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" name="Picture 2" descr="Diagram&#10;&#10;Description automatically generated">
            <a:extLst>
              <a:ext uri="{FF2B5EF4-FFF2-40B4-BE49-F238E27FC236}">
                <a16:creationId xmlns:a16="http://schemas.microsoft.com/office/drawing/2014/main" id="{1A030F6C-EBDC-6DF8-04E5-538D29052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828" y="1972403"/>
            <a:ext cx="4557788" cy="3700894"/>
          </a:xfrm>
          <a:prstGeom prst="rect">
            <a:avLst/>
          </a:prstGeom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BC0073BA-7119-901A-FE7F-4BB7B683658E}"/>
              </a:ext>
            </a:extLst>
          </p:cNvPr>
          <p:cNvSpPr/>
          <p:nvPr/>
        </p:nvSpPr>
        <p:spPr>
          <a:xfrm>
            <a:off x="2079223" y="5829705"/>
            <a:ext cx="2119300" cy="390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1600" spc="-1">
                <a:latin typeface="Times New Roman"/>
                <a:cs typeface="Times New Roman"/>
              </a:rPr>
              <a:t>Fig. 8: DDoS Attack</a:t>
            </a:r>
            <a:endParaRPr lang="en-IN" sz="1600" b="0" strike="noStrike" spc="-1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63</a:t>
            </a:fld>
            <a:endParaRPr lang="en-US"/>
          </a:p>
        </p:txBody>
      </p:sp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1423927" y="1694160"/>
            <a:ext cx="3964361" cy="3456780"/>
            <a:chOff x="2544" y="2064"/>
            <a:chExt cx="1095" cy="816"/>
          </a:xfrm>
        </p:grpSpPr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2544" y="2064"/>
              <a:ext cx="1095" cy="816"/>
              <a:chOff x="960" y="240"/>
              <a:chExt cx="1095" cy="816"/>
            </a:xfrm>
          </p:grpSpPr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 rot="-1779725">
                <a:off x="1530" y="869"/>
                <a:ext cx="164" cy="187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 rot="-1779725">
                <a:off x="1203" y="243"/>
                <a:ext cx="164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 rot="-1779725">
                <a:off x="1004" y="426"/>
                <a:ext cx="97" cy="11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 rot="-1779725">
                <a:off x="1152" y="858"/>
                <a:ext cx="98" cy="11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7" name="Oval 11"/>
              <p:cNvSpPr>
                <a:spLocks noChangeArrowheads="1"/>
              </p:cNvSpPr>
              <p:nvPr/>
            </p:nvSpPr>
            <p:spPr bwMode="auto">
              <a:xfrm rot="-1779725">
                <a:off x="1021" y="706"/>
                <a:ext cx="164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8" name="Oval 12"/>
              <p:cNvSpPr>
                <a:spLocks noChangeArrowheads="1"/>
              </p:cNvSpPr>
              <p:nvPr/>
            </p:nvSpPr>
            <p:spPr bwMode="auto">
              <a:xfrm rot="-1779725">
                <a:off x="1087" y="316"/>
                <a:ext cx="164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19" name="Oval 13"/>
              <p:cNvSpPr>
                <a:spLocks noChangeArrowheads="1"/>
              </p:cNvSpPr>
              <p:nvPr/>
            </p:nvSpPr>
            <p:spPr bwMode="auto">
              <a:xfrm rot="-1779725">
                <a:off x="1891" y="601"/>
                <a:ext cx="164" cy="187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auto">
              <a:xfrm rot="-1779725">
                <a:off x="1791" y="707"/>
                <a:ext cx="165" cy="18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1" name="Oval 15"/>
              <p:cNvSpPr>
                <a:spLocks noChangeArrowheads="1"/>
              </p:cNvSpPr>
              <p:nvPr/>
            </p:nvSpPr>
            <p:spPr bwMode="auto">
              <a:xfrm rot="-1779725">
                <a:off x="960" y="495"/>
                <a:ext cx="298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2" name="Oval 16"/>
              <p:cNvSpPr>
                <a:spLocks noChangeArrowheads="1"/>
              </p:cNvSpPr>
              <p:nvPr/>
            </p:nvSpPr>
            <p:spPr bwMode="auto">
              <a:xfrm rot="-1779725">
                <a:off x="1133" y="414"/>
                <a:ext cx="566" cy="64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3" name="Freeform 17"/>
              <p:cNvSpPr>
                <a:spLocks/>
              </p:cNvSpPr>
              <p:nvPr/>
            </p:nvSpPr>
            <p:spPr bwMode="auto">
              <a:xfrm rot="-1779725">
                <a:off x="1073" y="642"/>
                <a:ext cx="117" cy="171"/>
              </a:xfrm>
              <a:custGeom>
                <a:avLst/>
                <a:gdLst>
                  <a:gd name="T0" fmla="*/ 5 w 248"/>
                  <a:gd name="T1" fmla="*/ 0 h 320"/>
                  <a:gd name="T2" fmla="*/ 0 w 248"/>
                  <a:gd name="T3" fmla="*/ 12 h 320"/>
                  <a:gd name="T4" fmla="*/ 2 w 248"/>
                  <a:gd name="T5" fmla="*/ 14 h 320"/>
                  <a:gd name="T6" fmla="*/ 6 w 248"/>
                  <a:gd name="T7" fmla="*/ 1 h 320"/>
                  <a:gd name="T8" fmla="*/ 5 w 248"/>
                  <a:gd name="T9" fmla="*/ 0 h 3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8"/>
                  <a:gd name="T16" fmla="*/ 0 h 320"/>
                  <a:gd name="T17" fmla="*/ 248 w 248"/>
                  <a:gd name="T18" fmla="*/ 320 h 3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8" h="320">
                    <a:moveTo>
                      <a:pt x="212" y="0"/>
                    </a:moveTo>
                    <a:lnTo>
                      <a:pt x="0" y="280"/>
                    </a:lnTo>
                    <a:lnTo>
                      <a:pt x="105" y="320"/>
                    </a:lnTo>
                    <a:lnTo>
                      <a:pt x="248" y="28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 rot="-1779725">
                <a:off x="1342" y="372"/>
                <a:ext cx="566" cy="641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 rot="-1779725">
                <a:off x="1759" y="326"/>
                <a:ext cx="198" cy="22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7" name="Oval 20"/>
              <p:cNvSpPr>
                <a:spLocks noChangeArrowheads="1"/>
              </p:cNvSpPr>
              <p:nvPr/>
            </p:nvSpPr>
            <p:spPr bwMode="auto">
              <a:xfrm rot="-1779725">
                <a:off x="1843" y="682"/>
                <a:ext cx="131" cy="149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8" name="Oval 21"/>
              <p:cNvSpPr>
                <a:spLocks noChangeArrowheads="1"/>
              </p:cNvSpPr>
              <p:nvPr/>
            </p:nvSpPr>
            <p:spPr bwMode="auto">
              <a:xfrm rot="-1779725">
                <a:off x="1654" y="319"/>
                <a:ext cx="131" cy="149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29" name="Oval 22"/>
              <p:cNvSpPr>
                <a:spLocks noChangeArrowheads="1"/>
              </p:cNvSpPr>
              <p:nvPr/>
            </p:nvSpPr>
            <p:spPr bwMode="auto">
              <a:xfrm rot="-1779725">
                <a:off x="1799" y="476"/>
                <a:ext cx="198" cy="22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0" name="Oval 23"/>
              <p:cNvSpPr>
                <a:spLocks noChangeArrowheads="1"/>
              </p:cNvSpPr>
              <p:nvPr/>
            </p:nvSpPr>
            <p:spPr bwMode="auto">
              <a:xfrm rot="-1779725">
                <a:off x="1071" y="338"/>
                <a:ext cx="299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1" name="Oval 24"/>
              <p:cNvSpPr>
                <a:spLocks noChangeArrowheads="1"/>
              </p:cNvSpPr>
              <p:nvPr/>
            </p:nvSpPr>
            <p:spPr bwMode="auto">
              <a:xfrm rot="-1779725">
                <a:off x="1367" y="241"/>
                <a:ext cx="299" cy="339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2" name="Oval 25"/>
              <p:cNvSpPr>
                <a:spLocks noChangeArrowheads="1"/>
              </p:cNvSpPr>
              <p:nvPr/>
            </p:nvSpPr>
            <p:spPr bwMode="auto">
              <a:xfrm rot="-1779725">
                <a:off x="1216" y="248"/>
                <a:ext cx="299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3" name="Oval 26"/>
              <p:cNvSpPr>
                <a:spLocks noChangeArrowheads="1"/>
              </p:cNvSpPr>
              <p:nvPr/>
            </p:nvSpPr>
            <p:spPr bwMode="auto">
              <a:xfrm rot="-1779725">
                <a:off x="1318" y="665"/>
                <a:ext cx="299" cy="3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800"/>
              </a:p>
            </p:txBody>
          </p:sp>
          <p:sp>
            <p:nvSpPr>
              <p:cNvPr id="34" name="Freeform 27"/>
              <p:cNvSpPr>
                <a:spLocks/>
              </p:cNvSpPr>
              <p:nvPr/>
            </p:nvSpPr>
            <p:spPr bwMode="auto">
              <a:xfrm rot="-1779725">
                <a:off x="1160" y="240"/>
                <a:ext cx="746" cy="727"/>
              </a:xfrm>
              <a:custGeom>
                <a:avLst/>
                <a:gdLst>
                  <a:gd name="T0" fmla="*/ 8 w 1582"/>
                  <a:gd name="T1" fmla="*/ 0 h 1363"/>
                  <a:gd name="T2" fmla="*/ 16 w 1582"/>
                  <a:gd name="T3" fmla="*/ 7 h 1363"/>
                  <a:gd name="T4" fmla="*/ 24 w 1582"/>
                  <a:gd name="T5" fmla="*/ 5 h 1363"/>
                  <a:gd name="T6" fmla="*/ 29 w 1582"/>
                  <a:gd name="T7" fmla="*/ 20 h 1363"/>
                  <a:gd name="T8" fmla="*/ 30 w 1582"/>
                  <a:gd name="T9" fmla="*/ 21 h 1363"/>
                  <a:gd name="T10" fmla="*/ 33 w 1582"/>
                  <a:gd name="T11" fmla="*/ 25 h 1363"/>
                  <a:gd name="T12" fmla="*/ 34 w 1582"/>
                  <a:gd name="T13" fmla="*/ 29 h 1363"/>
                  <a:gd name="T14" fmla="*/ 37 w 1582"/>
                  <a:gd name="T15" fmla="*/ 35 h 1363"/>
                  <a:gd name="T16" fmla="*/ 36 w 1582"/>
                  <a:gd name="T17" fmla="*/ 37 h 1363"/>
                  <a:gd name="T18" fmla="*/ 31 w 1582"/>
                  <a:gd name="T19" fmla="*/ 57 h 1363"/>
                  <a:gd name="T20" fmla="*/ 27 w 1582"/>
                  <a:gd name="T21" fmla="*/ 59 h 1363"/>
                  <a:gd name="T22" fmla="*/ 14 w 1582"/>
                  <a:gd name="T23" fmla="*/ 57 h 1363"/>
                  <a:gd name="T24" fmla="*/ 13 w 1582"/>
                  <a:gd name="T25" fmla="*/ 54 h 1363"/>
                  <a:gd name="T26" fmla="*/ 5 w 1582"/>
                  <a:gd name="T27" fmla="*/ 50 h 1363"/>
                  <a:gd name="T28" fmla="*/ 3 w 1582"/>
                  <a:gd name="T29" fmla="*/ 52 h 1363"/>
                  <a:gd name="T30" fmla="*/ 0 w 1582"/>
                  <a:gd name="T31" fmla="*/ 20 h 1363"/>
                  <a:gd name="T32" fmla="*/ 8 w 1582"/>
                  <a:gd name="T33" fmla="*/ 0 h 13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582"/>
                  <a:gd name="T52" fmla="*/ 0 h 1363"/>
                  <a:gd name="T53" fmla="*/ 1582 w 1582"/>
                  <a:gd name="T54" fmla="*/ 1363 h 136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582" h="1363">
                    <a:moveTo>
                      <a:pt x="373" y="0"/>
                    </a:moveTo>
                    <a:lnTo>
                      <a:pt x="660" y="169"/>
                    </a:lnTo>
                    <a:lnTo>
                      <a:pt x="1006" y="125"/>
                    </a:lnTo>
                    <a:lnTo>
                      <a:pt x="1227" y="453"/>
                    </a:lnTo>
                    <a:lnTo>
                      <a:pt x="1285" y="479"/>
                    </a:lnTo>
                    <a:lnTo>
                      <a:pt x="1440" y="582"/>
                    </a:lnTo>
                    <a:lnTo>
                      <a:pt x="1480" y="666"/>
                    </a:lnTo>
                    <a:lnTo>
                      <a:pt x="1582" y="817"/>
                    </a:lnTo>
                    <a:lnTo>
                      <a:pt x="1565" y="866"/>
                    </a:lnTo>
                    <a:lnTo>
                      <a:pt x="1325" y="1310"/>
                    </a:lnTo>
                    <a:lnTo>
                      <a:pt x="1157" y="1363"/>
                    </a:lnTo>
                    <a:lnTo>
                      <a:pt x="607" y="1314"/>
                    </a:lnTo>
                    <a:lnTo>
                      <a:pt x="567" y="1243"/>
                    </a:lnTo>
                    <a:lnTo>
                      <a:pt x="204" y="1163"/>
                    </a:lnTo>
                    <a:lnTo>
                      <a:pt x="137" y="1194"/>
                    </a:lnTo>
                    <a:lnTo>
                      <a:pt x="0" y="461"/>
                    </a:lnTo>
                    <a:lnTo>
                      <a:pt x="3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sp>
          <p:nvSpPr>
            <p:cNvPr id="11" name="Text Box 28"/>
            <p:cNvSpPr txBox="1">
              <a:spLocks noChangeArrowheads="1"/>
            </p:cNvSpPr>
            <p:nvPr/>
          </p:nvSpPr>
          <p:spPr bwMode="auto">
            <a:xfrm>
              <a:off x="2687" y="2313"/>
              <a:ext cx="3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35" name="Line 29"/>
          <p:cNvSpPr>
            <a:spLocks noChangeShapeType="1"/>
          </p:cNvSpPr>
          <p:nvPr/>
        </p:nvSpPr>
        <p:spPr bwMode="auto">
          <a:xfrm>
            <a:off x="3727584" y="1843512"/>
            <a:ext cx="159788" cy="1203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0"/>
          <p:cNvSpPr>
            <a:spLocks noChangeShapeType="1"/>
          </p:cNvSpPr>
          <p:nvPr/>
        </p:nvSpPr>
        <p:spPr bwMode="auto">
          <a:xfrm flipH="1">
            <a:off x="4103479" y="1458914"/>
            <a:ext cx="79609" cy="51724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1"/>
          <p:cNvSpPr>
            <a:spLocks noChangeShapeType="1"/>
          </p:cNvSpPr>
          <p:nvPr/>
        </p:nvSpPr>
        <p:spPr bwMode="auto">
          <a:xfrm flipH="1">
            <a:off x="4216061" y="1720943"/>
            <a:ext cx="404693" cy="2711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32"/>
          <p:cNvSpPr>
            <a:spLocks noChangeShapeType="1"/>
          </p:cNvSpPr>
          <p:nvPr/>
        </p:nvSpPr>
        <p:spPr bwMode="auto">
          <a:xfrm>
            <a:off x="4042588" y="2014807"/>
            <a:ext cx="140500" cy="69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40"/>
          <p:cNvSpPr>
            <a:spLocks noChangeShapeType="1"/>
          </p:cNvSpPr>
          <p:nvPr/>
        </p:nvSpPr>
        <p:spPr bwMode="auto">
          <a:xfrm>
            <a:off x="615175" y="1930096"/>
            <a:ext cx="457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 flipV="1">
            <a:off x="615175" y="2234896"/>
            <a:ext cx="228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>
            <a:off x="1090393" y="2254998"/>
            <a:ext cx="781050" cy="14743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4"/>
          <p:cNvSpPr>
            <a:spLocks noChangeShapeType="1"/>
          </p:cNvSpPr>
          <p:nvPr/>
        </p:nvSpPr>
        <p:spPr bwMode="auto">
          <a:xfrm>
            <a:off x="793220" y="3329885"/>
            <a:ext cx="1029731" cy="826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45"/>
          <p:cNvSpPr>
            <a:spLocks noChangeShapeType="1"/>
          </p:cNvSpPr>
          <p:nvPr/>
        </p:nvSpPr>
        <p:spPr bwMode="auto">
          <a:xfrm>
            <a:off x="608623" y="3081606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46"/>
          <p:cNvSpPr>
            <a:spLocks noChangeShapeType="1"/>
          </p:cNvSpPr>
          <p:nvPr/>
        </p:nvSpPr>
        <p:spPr bwMode="auto">
          <a:xfrm flipV="1">
            <a:off x="184283" y="3372593"/>
            <a:ext cx="692645" cy="88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47"/>
          <p:cNvSpPr>
            <a:spLocks noChangeShapeType="1"/>
          </p:cNvSpPr>
          <p:nvPr/>
        </p:nvSpPr>
        <p:spPr bwMode="auto">
          <a:xfrm flipV="1">
            <a:off x="607727" y="3475521"/>
            <a:ext cx="313710" cy="2881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8"/>
          <p:cNvSpPr>
            <a:spLocks noChangeShapeType="1"/>
          </p:cNvSpPr>
          <p:nvPr/>
        </p:nvSpPr>
        <p:spPr bwMode="auto">
          <a:xfrm flipV="1">
            <a:off x="1107063" y="3939485"/>
            <a:ext cx="219558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49"/>
          <p:cNvSpPr>
            <a:spLocks noChangeShapeType="1"/>
          </p:cNvSpPr>
          <p:nvPr/>
        </p:nvSpPr>
        <p:spPr bwMode="auto">
          <a:xfrm flipV="1">
            <a:off x="1195327" y="3974737"/>
            <a:ext cx="348630" cy="6505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50"/>
          <p:cNvSpPr>
            <a:spLocks noChangeShapeType="1"/>
          </p:cNvSpPr>
          <p:nvPr/>
        </p:nvSpPr>
        <p:spPr bwMode="auto">
          <a:xfrm flipH="1" flipV="1">
            <a:off x="1682503" y="4037886"/>
            <a:ext cx="52206" cy="43499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51"/>
          <p:cNvSpPr>
            <a:spLocks noChangeShapeType="1"/>
          </p:cNvSpPr>
          <p:nvPr/>
        </p:nvSpPr>
        <p:spPr bwMode="auto">
          <a:xfrm flipV="1">
            <a:off x="1616939" y="3537030"/>
            <a:ext cx="369836" cy="41550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6"/>
          <p:cNvSpPr>
            <a:spLocks noChangeShapeType="1"/>
          </p:cNvSpPr>
          <p:nvPr/>
        </p:nvSpPr>
        <p:spPr bwMode="auto">
          <a:xfrm flipV="1">
            <a:off x="3211523" y="4758006"/>
            <a:ext cx="146852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7"/>
          <p:cNvSpPr>
            <a:spLocks noChangeShapeType="1"/>
          </p:cNvSpPr>
          <p:nvPr/>
        </p:nvSpPr>
        <p:spPr bwMode="auto">
          <a:xfrm flipV="1">
            <a:off x="2877665" y="5216097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58"/>
          <p:cNvSpPr>
            <a:spLocks noChangeShapeType="1"/>
          </p:cNvSpPr>
          <p:nvPr/>
        </p:nvSpPr>
        <p:spPr bwMode="auto">
          <a:xfrm flipH="1" flipV="1">
            <a:off x="3106265" y="5216097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61"/>
          <p:cNvSpPr>
            <a:spLocks noChangeShapeType="1"/>
          </p:cNvSpPr>
          <p:nvPr/>
        </p:nvSpPr>
        <p:spPr bwMode="auto">
          <a:xfrm flipH="1" flipV="1">
            <a:off x="5110975" y="4529406"/>
            <a:ext cx="533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Line 62"/>
          <p:cNvSpPr>
            <a:spLocks noChangeShapeType="1"/>
          </p:cNvSpPr>
          <p:nvPr/>
        </p:nvSpPr>
        <p:spPr bwMode="auto">
          <a:xfrm flipH="1">
            <a:off x="5796775" y="4529406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63"/>
          <p:cNvSpPr>
            <a:spLocks noChangeShapeType="1"/>
          </p:cNvSpPr>
          <p:nvPr/>
        </p:nvSpPr>
        <p:spPr bwMode="auto">
          <a:xfrm flipH="1">
            <a:off x="5872975" y="4758006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64"/>
          <p:cNvSpPr>
            <a:spLocks noChangeShapeType="1"/>
          </p:cNvSpPr>
          <p:nvPr/>
        </p:nvSpPr>
        <p:spPr bwMode="auto">
          <a:xfrm flipH="1" flipV="1">
            <a:off x="6025375" y="5062806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65"/>
          <p:cNvSpPr>
            <a:spLocks noChangeShapeType="1"/>
          </p:cNvSpPr>
          <p:nvPr/>
        </p:nvSpPr>
        <p:spPr bwMode="auto">
          <a:xfrm flipH="1" flipV="1">
            <a:off x="5949175" y="5139006"/>
            <a:ext cx="381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66"/>
          <p:cNvSpPr>
            <a:spLocks noChangeShapeType="1"/>
          </p:cNvSpPr>
          <p:nvPr/>
        </p:nvSpPr>
        <p:spPr bwMode="auto">
          <a:xfrm flipV="1">
            <a:off x="5796775" y="5139006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 flipH="1">
            <a:off x="5110975" y="2929206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68"/>
          <p:cNvSpPr>
            <a:spLocks noChangeShapeType="1"/>
          </p:cNvSpPr>
          <p:nvPr/>
        </p:nvSpPr>
        <p:spPr bwMode="auto">
          <a:xfrm flipH="1">
            <a:off x="6253975" y="2548206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69"/>
          <p:cNvSpPr>
            <a:spLocks noChangeShapeType="1"/>
          </p:cNvSpPr>
          <p:nvPr/>
        </p:nvSpPr>
        <p:spPr bwMode="auto">
          <a:xfrm flipH="1">
            <a:off x="6406375" y="2853006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2" name="Picture 7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539" y="3211383"/>
            <a:ext cx="3508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3" name="Line 75"/>
          <p:cNvSpPr>
            <a:spLocks noChangeShapeType="1"/>
          </p:cNvSpPr>
          <p:nvPr/>
        </p:nvSpPr>
        <p:spPr bwMode="auto">
          <a:xfrm>
            <a:off x="4272775" y="2929206"/>
            <a:ext cx="609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Line 76"/>
          <p:cNvSpPr>
            <a:spLocks noChangeShapeType="1"/>
          </p:cNvSpPr>
          <p:nvPr/>
        </p:nvSpPr>
        <p:spPr bwMode="auto">
          <a:xfrm>
            <a:off x="4958575" y="3615006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77"/>
          <p:cNvSpPr>
            <a:spLocks noChangeShapeType="1"/>
          </p:cNvSpPr>
          <p:nvPr/>
        </p:nvSpPr>
        <p:spPr bwMode="auto">
          <a:xfrm flipH="1">
            <a:off x="4272775" y="3538806"/>
            <a:ext cx="533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78"/>
          <p:cNvSpPr>
            <a:spLocks noChangeShapeType="1"/>
          </p:cNvSpPr>
          <p:nvPr/>
        </p:nvSpPr>
        <p:spPr bwMode="auto">
          <a:xfrm flipH="1" flipV="1">
            <a:off x="4348975" y="4224606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79"/>
          <p:cNvSpPr>
            <a:spLocks noChangeShapeType="1"/>
          </p:cNvSpPr>
          <p:nvPr/>
        </p:nvSpPr>
        <p:spPr bwMode="auto">
          <a:xfrm flipH="1" flipV="1">
            <a:off x="3739375" y="3538806"/>
            <a:ext cx="457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80"/>
          <p:cNvSpPr>
            <a:spLocks noChangeShapeType="1"/>
          </p:cNvSpPr>
          <p:nvPr/>
        </p:nvSpPr>
        <p:spPr bwMode="auto">
          <a:xfrm flipH="1">
            <a:off x="3586975" y="2853006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82"/>
          <p:cNvSpPr>
            <a:spLocks noChangeShapeType="1"/>
          </p:cNvSpPr>
          <p:nvPr/>
        </p:nvSpPr>
        <p:spPr bwMode="auto">
          <a:xfrm flipH="1">
            <a:off x="3358375" y="3615006"/>
            <a:ext cx="304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83"/>
          <p:cNvSpPr>
            <a:spLocks noChangeShapeType="1"/>
          </p:cNvSpPr>
          <p:nvPr/>
        </p:nvSpPr>
        <p:spPr bwMode="auto">
          <a:xfrm flipH="1" flipV="1">
            <a:off x="2901175" y="2776806"/>
            <a:ext cx="533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85"/>
          <p:cNvSpPr>
            <a:spLocks noChangeShapeType="1"/>
          </p:cNvSpPr>
          <p:nvPr/>
        </p:nvSpPr>
        <p:spPr bwMode="auto">
          <a:xfrm flipV="1">
            <a:off x="2596375" y="3005406"/>
            <a:ext cx="152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Line 87"/>
          <p:cNvSpPr>
            <a:spLocks noChangeShapeType="1"/>
          </p:cNvSpPr>
          <p:nvPr/>
        </p:nvSpPr>
        <p:spPr bwMode="auto">
          <a:xfrm>
            <a:off x="2748775" y="4072206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88"/>
          <p:cNvSpPr>
            <a:spLocks noChangeShapeType="1"/>
          </p:cNvSpPr>
          <p:nvPr/>
        </p:nvSpPr>
        <p:spPr bwMode="auto">
          <a:xfrm flipV="1">
            <a:off x="2748775" y="3615006"/>
            <a:ext cx="685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89"/>
          <p:cNvSpPr>
            <a:spLocks noChangeShapeType="1"/>
          </p:cNvSpPr>
          <p:nvPr/>
        </p:nvSpPr>
        <p:spPr bwMode="auto">
          <a:xfrm flipV="1">
            <a:off x="2062975" y="2776806"/>
            <a:ext cx="533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90"/>
          <p:cNvSpPr>
            <a:spLocks noChangeShapeType="1"/>
          </p:cNvSpPr>
          <p:nvPr/>
        </p:nvSpPr>
        <p:spPr bwMode="auto">
          <a:xfrm>
            <a:off x="2824975" y="3919806"/>
            <a:ext cx="1143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91"/>
          <p:cNvSpPr>
            <a:spLocks noChangeShapeType="1"/>
          </p:cNvSpPr>
          <p:nvPr/>
        </p:nvSpPr>
        <p:spPr bwMode="auto">
          <a:xfrm flipH="1" flipV="1">
            <a:off x="2215375" y="2243406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93"/>
          <p:cNvSpPr>
            <a:spLocks noChangeShapeType="1"/>
          </p:cNvSpPr>
          <p:nvPr/>
        </p:nvSpPr>
        <p:spPr bwMode="auto">
          <a:xfrm>
            <a:off x="2062975" y="3538806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Line 109"/>
          <p:cNvSpPr>
            <a:spLocks noChangeShapeType="1"/>
          </p:cNvSpPr>
          <p:nvPr/>
        </p:nvSpPr>
        <p:spPr bwMode="auto">
          <a:xfrm flipH="1">
            <a:off x="5187175" y="3462606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9" name="Picture 1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975" y="498660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0" name="Picture 1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65" y="5063697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1" name="Picture 1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07" y="3267498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2" name="Picture 1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441" y="3880932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3" name="Picture 11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75" y="215869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4" name="Picture 1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979" y="1930668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5" name="Picture 14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175" y="2776806"/>
            <a:ext cx="5334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6" name="Line 159"/>
          <p:cNvSpPr>
            <a:spLocks noChangeShapeType="1"/>
          </p:cNvSpPr>
          <p:nvPr/>
        </p:nvSpPr>
        <p:spPr bwMode="auto">
          <a:xfrm>
            <a:off x="691375" y="1853896"/>
            <a:ext cx="3810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Line 160"/>
          <p:cNvSpPr>
            <a:spLocks noChangeShapeType="1"/>
          </p:cNvSpPr>
          <p:nvPr/>
        </p:nvSpPr>
        <p:spPr bwMode="auto">
          <a:xfrm flipV="1">
            <a:off x="807743" y="3551721"/>
            <a:ext cx="189893" cy="21839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Line 161"/>
          <p:cNvSpPr>
            <a:spLocks noChangeShapeType="1"/>
          </p:cNvSpPr>
          <p:nvPr/>
        </p:nvSpPr>
        <p:spPr bwMode="auto">
          <a:xfrm flipV="1">
            <a:off x="1216815" y="4140206"/>
            <a:ext cx="141401" cy="26779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Line 162"/>
          <p:cNvSpPr>
            <a:spLocks noChangeShapeType="1"/>
          </p:cNvSpPr>
          <p:nvPr/>
        </p:nvSpPr>
        <p:spPr bwMode="auto">
          <a:xfrm flipH="1" flipV="1">
            <a:off x="3334865" y="5216097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Line 163"/>
          <p:cNvSpPr>
            <a:spLocks noChangeShapeType="1"/>
          </p:cNvSpPr>
          <p:nvPr/>
        </p:nvSpPr>
        <p:spPr bwMode="auto">
          <a:xfrm flipH="1" flipV="1">
            <a:off x="6025375" y="5139006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Line 164"/>
          <p:cNvSpPr>
            <a:spLocks noChangeShapeType="1"/>
          </p:cNvSpPr>
          <p:nvPr/>
        </p:nvSpPr>
        <p:spPr bwMode="auto">
          <a:xfrm flipH="1">
            <a:off x="6025375" y="4834206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165"/>
          <p:cNvSpPr>
            <a:spLocks noChangeShapeType="1"/>
          </p:cNvSpPr>
          <p:nvPr/>
        </p:nvSpPr>
        <p:spPr bwMode="auto">
          <a:xfrm flipH="1">
            <a:off x="6025375" y="2472006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166"/>
          <p:cNvSpPr>
            <a:spLocks noChangeShapeType="1"/>
          </p:cNvSpPr>
          <p:nvPr/>
        </p:nvSpPr>
        <p:spPr bwMode="auto">
          <a:xfrm flipH="1">
            <a:off x="4015157" y="1618726"/>
            <a:ext cx="42827" cy="266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Line 167"/>
          <p:cNvSpPr>
            <a:spLocks noChangeShapeType="1"/>
          </p:cNvSpPr>
          <p:nvPr/>
        </p:nvSpPr>
        <p:spPr bwMode="auto">
          <a:xfrm>
            <a:off x="1447025" y="2248422"/>
            <a:ext cx="387349" cy="71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Line 168"/>
          <p:cNvSpPr>
            <a:spLocks noChangeShapeType="1"/>
          </p:cNvSpPr>
          <p:nvPr/>
        </p:nvSpPr>
        <p:spPr bwMode="auto">
          <a:xfrm>
            <a:off x="1424935" y="3275886"/>
            <a:ext cx="305171" cy="409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Line 169"/>
          <p:cNvSpPr>
            <a:spLocks noChangeShapeType="1"/>
          </p:cNvSpPr>
          <p:nvPr/>
        </p:nvSpPr>
        <p:spPr bwMode="auto">
          <a:xfrm flipV="1">
            <a:off x="1601162" y="3581490"/>
            <a:ext cx="181071" cy="20400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Line 170"/>
          <p:cNvSpPr>
            <a:spLocks noChangeShapeType="1"/>
          </p:cNvSpPr>
          <p:nvPr/>
        </p:nvSpPr>
        <p:spPr bwMode="auto">
          <a:xfrm flipV="1">
            <a:off x="3121855" y="4781202"/>
            <a:ext cx="97868" cy="2555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171"/>
          <p:cNvSpPr>
            <a:spLocks noChangeShapeType="1"/>
          </p:cNvSpPr>
          <p:nvPr/>
        </p:nvSpPr>
        <p:spPr bwMode="auto">
          <a:xfrm flipH="1" flipV="1">
            <a:off x="5110975" y="4681806"/>
            <a:ext cx="381000" cy="381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172"/>
          <p:cNvSpPr>
            <a:spLocks noChangeShapeType="1"/>
          </p:cNvSpPr>
          <p:nvPr/>
        </p:nvSpPr>
        <p:spPr bwMode="auto">
          <a:xfrm flipH="1">
            <a:off x="5263375" y="2853006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173"/>
          <p:cNvSpPr>
            <a:spLocks noChangeShapeType="1"/>
          </p:cNvSpPr>
          <p:nvPr/>
        </p:nvSpPr>
        <p:spPr bwMode="auto">
          <a:xfrm>
            <a:off x="3956832" y="2207671"/>
            <a:ext cx="103164" cy="3405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Line 174"/>
          <p:cNvSpPr>
            <a:spLocks noChangeShapeType="1"/>
          </p:cNvSpPr>
          <p:nvPr/>
        </p:nvSpPr>
        <p:spPr bwMode="auto">
          <a:xfrm>
            <a:off x="2367775" y="2243406"/>
            <a:ext cx="2286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Line 176"/>
          <p:cNvSpPr>
            <a:spLocks noChangeShapeType="1"/>
          </p:cNvSpPr>
          <p:nvPr/>
        </p:nvSpPr>
        <p:spPr bwMode="auto">
          <a:xfrm flipV="1">
            <a:off x="3510775" y="3767406"/>
            <a:ext cx="2286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Line 177"/>
          <p:cNvSpPr>
            <a:spLocks noChangeShapeType="1"/>
          </p:cNvSpPr>
          <p:nvPr/>
        </p:nvSpPr>
        <p:spPr bwMode="auto">
          <a:xfrm flipV="1">
            <a:off x="2329940" y="2967306"/>
            <a:ext cx="220927" cy="24254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Line 178"/>
          <p:cNvSpPr>
            <a:spLocks noChangeShapeType="1"/>
          </p:cNvSpPr>
          <p:nvPr/>
        </p:nvSpPr>
        <p:spPr bwMode="auto">
          <a:xfrm>
            <a:off x="2977375" y="2624406"/>
            <a:ext cx="533400" cy="533400"/>
          </a:xfrm>
          <a:prstGeom prst="line">
            <a:avLst/>
          </a:prstGeom>
          <a:noFill/>
          <a:ln w="1143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Line 179"/>
          <p:cNvSpPr>
            <a:spLocks noChangeShapeType="1"/>
          </p:cNvSpPr>
          <p:nvPr/>
        </p:nvSpPr>
        <p:spPr bwMode="auto">
          <a:xfrm>
            <a:off x="3891775" y="3462606"/>
            <a:ext cx="533400" cy="533400"/>
          </a:xfrm>
          <a:prstGeom prst="line">
            <a:avLst/>
          </a:prstGeom>
          <a:noFill/>
          <a:ln w="152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Line 180"/>
          <p:cNvSpPr>
            <a:spLocks noChangeShapeType="1"/>
          </p:cNvSpPr>
          <p:nvPr/>
        </p:nvSpPr>
        <p:spPr bwMode="auto">
          <a:xfrm flipV="1">
            <a:off x="4348975" y="3386406"/>
            <a:ext cx="457200" cy="457200"/>
          </a:xfrm>
          <a:prstGeom prst="line">
            <a:avLst/>
          </a:prstGeom>
          <a:noFill/>
          <a:ln w="152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Line 181"/>
          <p:cNvSpPr>
            <a:spLocks noChangeShapeType="1"/>
          </p:cNvSpPr>
          <p:nvPr/>
        </p:nvSpPr>
        <p:spPr bwMode="auto">
          <a:xfrm flipH="1" flipV="1">
            <a:off x="4806175" y="3615006"/>
            <a:ext cx="0" cy="457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82"/>
          <p:cNvSpPr>
            <a:spLocks noChangeShapeType="1"/>
          </p:cNvSpPr>
          <p:nvPr/>
        </p:nvSpPr>
        <p:spPr bwMode="auto">
          <a:xfrm>
            <a:off x="4310910" y="3058630"/>
            <a:ext cx="297439" cy="2272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83"/>
          <p:cNvSpPr>
            <a:spLocks noChangeShapeType="1"/>
          </p:cNvSpPr>
          <p:nvPr/>
        </p:nvSpPr>
        <p:spPr bwMode="auto">
          <a:xfrm>
            <a:off x="5285785" y="3470543"/>
            <a:ext cx="1508143" cy="1"/>
          </a:xfrm>
          <a:prstGeom prst="line">
            <a:avLst/>
          </a:prstGeom>
          <a:noFill/>
          <a:ln w="3048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Oval 189"/>
          <p:cNvSpPr>
            <a:spLocks noChangeArrowheads="1"/>
          </p:cNvSpPr>
          <p:nvPr/>
        </p:nvSpPr>
        <p:spPr bwMode="auto">
          <a:xfrm>
            <a:off x="386575" y="177769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1" name="Oval 190"/>
          <p:cNvSpPr>
            <a:spLocks noChangeArrowheads="1"/>
          </p:cNvSpPr>
          <p:nvPr/>
        </p:nvSpPr>
        <p:spPr bwMode="auto">
          <a:xfrm>
            <a:off x="386575" y="223489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2" name="Oval 191"/>
          <p:cNvSpPr>
            <a:spLocks noChangeArrowheads="1"/>
          </p:cNvSpPr>
          <p:nvPr/>
        </p:nvSpPr>
        <p:spPr bwMode="auto">
          <a:xfrm>
            <a:off x="380023" y="29292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3" name="Oval 192"/>
          <p:cNvSpPr>
            <a:spLocks noChangeArrowheads="1"/>
          </p:cNvSpPr>
          <p:nvPr/>
        </p:nvSpPr>
        <p:spPr bwMode="auto">
          <a:xfrm>
            <a:off x="491515" y="3654364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4" name="Oval 193"/>
          <p:cNvSpPr>
            <a:spLocks noChangeArrowheads="1"/>
          </p:cNvSpPr>
          <p:nvPr/>
        </p:nvSpPr>
        <p:spPr bwMode="auto">
          <a:xfrm>
            <a:off x="177643" y="334669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5" name="Oval 194"/>
          <p:cNvSpPr>
            <a:spLocks noChangeArrowheads="1"/>
          </p:cNvSpPr>
          <p:nvPr/>
        </p:nvSpPr>
        <p:spPr bwMode="auto">
          <a:xfrm>
            <a:off x="878463" y="393948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6" name="Oval 195"/>
          <p:cNvSpPr>
            <a:spLocks noChangeArrowheads="1"/>
          </p:cNvSpPr>
          <p:nvPr/>
        </p:nvSpPr>
        <p:spPr bwMode="auto">
          <a:xfrm>
            <a:off x="1098021" y="4472885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7" name="Oval 196"/>
          <p:cNvSpPr>
            <a:spLocks noChangeArrowheads="1"/>
          </p:cNvSpPr>
          <p:nvPr/>
        </p:nvSpPr>
        <p:spPr bwMode="auto">
          <a:xfrm>
            <a:off x="1630926" y="431797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8" name="Oval 199"/>
          <p:cNvSpPr>
            <a:spLocks noChangeArrowheads="1"/>
          </p:cNvSpPr>
          <p:nvPr/>
        </p:nvSpPr>
        <p:spPr bwMode="auto">
          <a:xfrm>
            <a:off x="2725265" y="5444697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19" name="Oval 200"/>
          <p:cNvSpPr>
            <a:spLocks noChangeArrowheads="1"/>
          </p:cNvSpPr>
          <p:nvPr/>
        </p:nvSpPr>
        <p:spPr bwMode="auto">
          <a:xfrm>
            <a:off x="3334865" y="5444697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0" name="Oval 203"/>
          <p:cNvSpPr>
            <a:spLocks noChangeArrowheads="1"/>
          </p:cNvSpPr>
          <p:nvPr/>
        </p:nvSpPr>
        <p:spPr bwMode="auto">
          <a:xfrm>
            <a:off x="5720575" y="55962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1" name="Oval 204"/>
          <p:cNvSpPr>
            <a:spLocks noChangeArrowheads="1"/>
          </p:cNvSpPr>
          <p:nvPr/>
        </p:nvSpPr>
        <p:spPr bwMode="auto">
          <a:xfrm>
            <a:off x="6253975" y="529140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2" name="Oval 205"/>
          <p:cNvSpPr>
            <a:spLocks noChangeArrowheads="1"/>
          </p:cNvSpPr>
          <p:nvPr/>
        </p:nvSpPr>
        <p:spPr bwMode="auto">
          <a:xfrm>
            <a:off x="6482575" y="51390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3" name="Oval 206"/>
          <p:cNvSpPr>
            <a:spLocks noChangeArrowheads="1"/>
          </p:cNvSpPr>
          <p:nvPr/>
        </p:nvSpPr>
        <p:spPr bwMode="auto">
          <a:xfrm>
            <a:off x="6406375" y="460560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4" name="Oval 207"/>
          <p:cNvSpPr>
            <a:spLocks noChangeArrowheads="1"/>
          </p:cNvSpPr>
          <p:nvPr/>
        </p:nvSpPr>
        <p:spPr bwMode="auto">
          <a:xfrm>
            <a:off x="5872975" y="43008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5" name="Oval 208"/>
          <p:cNvSpPr>
            <a:spLocks noChangeArrowheads="1"/>
          </p:cNvSpPr>
          <p:nvPr/>
        </p:nvSpPr>
        <p:spPr bwMode="auto">
          <a:xfrm>
            <a:off x="6330175" y="2370406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6" name="Oval 209"/>
          <p:cNvSpPr>
            <a:spLocks noChangeArrowheads="1"/>
          </p:cNvSpPr>
          <p:nvPr/>
        </p:nvSpPr>
        <p:spPr bwMode="auto">
          <a:xfrm>
            <a:off x="6634975" y="2700606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7" name="Oval 210"/>
          <p:cNvSpPr>
            <a:spLocks noChangeArrowheads="1"/>
          </p:cNvSpPr>
          <p:nvPr/>
        </p:nvSpPr>
        <p:spPr bwMode="auto">
          <a:xfrm>
            <a:off x="4442166" y="158854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8" name="Oval 211"/>
          <p:cNvSpPr>
            <a:spLocks noChangeArrowheads="1"/>
          </p:cNvSpPr>
          <p:nvPr/>
        </p:nvSpPr>
        <p:spPr bwMode="auto">
          <a:xfrm>
            <a:off x="4083799" y="1388461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129" name="Oval 212"/>
          <p:cNvSpPr>
            <a:spLocks noChangeArrowheads="1"/>
          </p:cNvSpPr>
          <p:nvPr/>
        </p:nvSpPr>
        <p:spPr bwMode="auto">
          <a:xfrm>
            <a:off x="3551593" y="1670101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pic>
        <p:nvPicPr>
          <p:cNvPr id="130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375" y="2167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975" y="26244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75" y="26244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975" y="3310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175" y="3310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575" y="36912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87" y="3221011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75" y="43770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75" y="39960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9" name="Picture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975" y="4224606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" name="TextBox 176"/>
          <p:cNvSpPr txBox="1">
            <a:spLocks noChangeArrowheads="1"/>
          </p:cNvSpPr>
          <p:nvPr/>
        </p:nvSpPr>
        <p:spPr bwMode="auto">
          <a:xfrm>
            <a:off x="6087341" y="3810462"/>
            <a:ext cx="1362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Collateral </a:t>
            </a:r>
            <a:br>
              <a:rPr lang="en-US" altLang="en-US" sz="1400"/>
            </a:br>
            <a:r>
              <a:rPr lang="en-US" altLang="en-US" sz="1400"/>
              <a:t>damage points</a:t>
            </a:r>
          </a:p>
        </p:txBody>
      </p:sp>
      <p:pic>
        <p:nvPicPr>
          <p:cNvPr id="141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680581" y="5858365"/>
            <a:ext cx="1906677" cy="33855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IN" sz="1600" spc="-1">
                <a:latin typeface="Times New Roman"/>
                <a:cs typeface="Times New Roman"/>
              </a:rPr>
              <a:t>Fig. 9: Botnet Attack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77496" y="289394"/>
            <a:ext cx="7061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Times New Roman"/>
                <a:cs typeface="Times New Roman"/>
              </a:rPr>
              <a:t>Mitigating </a:t>
            </a:r>
            <a:r>
              <a:rPr lang="en-US" sz="2800" b="1" err="1">
                <a:solidFill>
                  <a:srgbClr val="C00000"/>
                </a:solidFill>
                <a:latin typeface="Times New Roman"/>
                <a:cs typeface="Times New Roman"/>
              </a:rPr>
              <a:t>DDoS</a:t>
            </a:r>
            <a:r>
              <a:rPr lang="en-US" sz="2800" b="1">
                <a:solidFill>
                  <a:srgbClr val="C00000"/>
                </a:solidFill>
                <a:latin typeface="Times New Roman"/>
                <a:cs typeface="Times New Roman"/>
              </a:rPr>
              <a:t> and Botnet attacks in IoT</a:t>
            </a:r>
          </a:p>
        </p:txBody>
      </p:sp>
    </p:spTree>
    <p:extLst>
      <p:ext uri="{BB962C8B-B14F-4D97-AF65-F5344CB8AC3E}">
        <p14:creationId xmlns:p14="http://schemas.microsoft.com/office/powerpoint/2010/main" val="2898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8743A9BD-48EE-0C93-FA3B-B5DA310361EA}"/>
              </a:ext>
            </a:extLst>
          </p:cNvPr>
          <p:cNvSpPr/>
          <p:nvPr/>
        </p:nvSpPr>
        <p:spPr>
          <a:xfrm>
            <a:off x="422573" y="1199492"/>
            <a:ext cx="5163825" cy="6268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US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Motivation behind the Contribution 1</a:t>
            </a:r>
            <a:endParaRPr lang="en-IN" sz="2400" b="1" strike="noStrike" spc="-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2789B144-6BA7-A809-3FA9-DF7AC5455CFC}"/>
              </a:ext>
            </a:extLst>
          </p:cNvPr>
          <p:cNvSpPr/>
          <p:nvPr/>
        </p:nvSpPr>
        <p:spPr>
          <a:xfrm>
            <a:off x="567578" y="2077841"/>
            <a:ext cx="10695193" cy="20089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51485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attacks are </a:t>
            </a:r>
            <a:r>
              <a:rPr 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rise.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</a:t>
            </a:r>
            <a:r>
              <a:rPr lang="en-US" sz="22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48% increase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attacks. As per  </a:t>
            </a:r>
            <a:r>
              <a:rPr lang="en-US" sz="2200" i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State of Application Security report Q1, 2023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1485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Disrupting </a:t>
            </a:r>
            <a:r>
              <a:rPr lang="en-US" sz="22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Infrastructure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sz="22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public utilities, to cause </a:t>
            </a:r>
            <a:r>
              <a:rPr lang="en-US" sz="22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widespread disruption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undermine trust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 these systems.</a:t>
            </a:r>
          </a:p>
          <a:p>
            <a:pPr marL="451485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200" spc="-1" err="1">
                <a:latin typeface="Times New Roman"/>
                <a:cs typeface="Times New Roman"/>
              </a:rPr>
              <a:t>DDoS</a:t>
            </a:r>
            <a:r>
              <a:rPr lang="en-US" sz="2200" spc="-1">
                <a:latin typeface="Times New Roman"/>
                <a:cs typeface="Times New Roman"/>
              </a:rPr>
              <a:t> attacks are </a:t>
            </a:r>
            <a:r>
              <a:rPr lang="en-US" sz="2200" spc="-1">
                <a:solidFill>
                  <a:srgbClr val="0000FF"/>
                </a:solidFill>
                <a:latin typeface="Times New Roman"/>
                <a:cs typeface="Times New Roman"/>
              </a:rPr>
              <a:t>high on </a:t>
            </a:r>
            <a:r>
              <a:rPr lang="en-US" sz="2200" spc="-1">
                <a:latin typeface="Times New Roman"/>
                <a:cs typeface="Times New Roman"/>
              </a:rPr>
              <a:t>the list of dangerous </a:t>
            </a:r>
            <a:r>
              <a:rPr lang="en-US" sz="2200" spc="-1">
                <a:solidFill>
                  <a:srgbClr val="FF0000"/>
                </a:solidFill>
                <a:latin typeface="Times New Roman"/>
                <a:cs typeface="Times New Roman"/>
              </a:rPr>
              <a:t>cyber threats.</a:t>
            </a:r>
            <a:endParaRPr lang="en-IN" sz="2200" b="0" strike="noStrike" spc="-1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F2E44-A8A6-9DFD-7CD1-C29D3E32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076CB-6F7D-43A7-A492-5C602415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13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2998" y="233681"/>
            <a:ext cx="7061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Times New Roman"/>
                <a:cs typeface="Times New Roman"/>
              </a:rPr>
              <a:t>Mitigating </a:t>
            </a:r>
            <a:r>
              <a:rPr lang="en-US" sz="2800" b="1" err="1">
                <a:solidFill>
                  <a:srgbClr val="C00000"/>
                </a:solidFill>
                <a:latin typeface="Times New Roman"/>
                <a:cs typeface="Times New Roman"/>
              </a:rPr>
              <a:t>DDoS</a:t>
            </a:r>
            <a:r>
              <a:rPr lang="en-US" sz="2800" b="1">
                <a:solidFill>
                  <a:srgbClr val="C00000"/>
                </a:solidFill>
                <a:latin typeface="Times New Roman"/>
                <a:cs typeface="Times New Roman"/>
              </a:rPr>
              <a:t> and Botnet attacks in IoT</a:t>
            </a:r>
          </a:p>
        </p:txBody>
      </p:sp>
    </p:spTree>
    <p:extLst>
      <p:ext uri="{BB962C8B-B14F-4D97-AF65-F5344CB8AC3E}">
        <p14:creationId xmlns:p14="http://schemas.microsoft.com/office/powerpoint/2010/main" val="39082299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6642644" y="1494600"/>
            <a:ext cx="4783873" cy="9531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529D171E-E8AC-4F01-237E-A3763F96A113}"/>
              </a:ext>
            </a:extLst>
          </p:cNvPr>
          <p:cNvSpPr/>
          <p:nvPr/>
        </p:nvSpPr>
        <p:spPr>
          <a:xfrm>
            <a:off x="206890" y="263695"/>
            <a:ext cx="5893311" cy="4270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DDoS Attack Detection using ML </a:t>
            </a:r>
            <a:r>
              <a:rPr lang="en-IN" sz="28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IN" sz="2800" b="0" strike="noStrike" spc="-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4A6BA5F-BA03-A0BF-24BF-9BC543BC1421}"/>
              </a:ext>
            </a:extLst>
          </p:cNvPr>
          <p:cNvSpPr/>
          <p:nvPr/>
        </p:nvSpPr>
        <p:spPr>
          <a:xfrm>
            <a:off x="161238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6" descr="Diagram&#10;&#10;Description automatically generated">
            <a:extLst>
              <a:ext uri="{FF2B5EF4-FFF2-40B4-BE49-F238E27FC236}">
                <a16:creationId xmlns:a16="http://schemas.microsoft.com/office/drawing/2014/main" id="{1001E051-B5C7-CDE1-1E7E-1BFD5DB39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38" y="1494600"/>
            <a:ext cx="6144543" cy="299949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5CCE7-0191-CEC0-1B24-E117FF99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48DD1-4DFD-E602-04B3-7F956A26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00088" y="4895272"/>
            <a:ext cx="40983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Fig. 11 : Naive Bayes -based IDS methodology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2F196-94A3-894B-42B9-1E4BEEC49E92}"/>
              </a:ext>
            </a:extLst>
          </p:cNvPr>
          <p:cNvSpPr txBox="1"/>
          <p:nvPr/>
        </p:nvSpPr>
        <p:spPr>
          <a:xfrm>
            <a:off x="6692823" y="1471585"/>
            <a:ext cx="23417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IoT N/W Traffic: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6762" y="1790058"/>
            <a:ext cx="4435992" cy="6595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N/W traffic gathered with the help of inhouse experiment and publicly available datasets 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700492" y="2710917"/>
            <a:ext cx="4726025" cy="931256"/>
          </a:xfrm>
          <a:prstGeom prst="roundRect">
            <a:avLst/>
          </a:prstGeom>
          <a:solidFill>
            <a:srgbClr val="E7B9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2F196-94A3-894B-42B9-1E4BEEC49E92}"/>
              </a:ext>
            </a:extLst>
          </p:cNvPr>
          <p:cNvSpPr txBox="1"/>
          <p:nvPr/>
        </p:nvSpPr>
        <p:spPr>
          <a:xfrm>
            <a:off x="6778551" y="2788512"/>
            <a:ext cx="29378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Data Preprocessing</a:t>
            </a:r>
            <a:endParaRPr lang="en-US" b="1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06947" y="3172123"/>
            <a:ext cx="326428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Encoding, Normalization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0492" y="3865520"/>
            <a:ext cx="4726025" cy="854507"/>
          </a:xfrm>
          <a:prstGeom prst="roundRect">
            <a:avLst/>
          </a:prstGeom>
          <a:solidFill>
            <a:srgbClr val="F2FD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C2F196-94A3-894B-42B9-1E4BEEC49E92}"/>
              </a:ext>
            </a:extLst>
          </p:cNvPr>
          <p:cNvSpPr txBox="1"/>
          <p:nvPr/>
        </p:nvSpPr>
        <p:spPr>
          <a:xfrm>
            <a:off x="6700492" y="3834409"/>
            <a:ext cx="17236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ML model: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333" y="4084686"/>
            <a:ext cx="452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Fitting Naive Bayes to the Training data Set: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(generated data and available data set [11])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2584" y="4939193"/>
            <a:ext cx="4726025" cy="871081"/>
          </a:xfrm>
          <a:prstGeom prst="roundRect">
            <a:avLst/>
          </a:prstGeom>
          <a:solidFill>
            <a:srgbClr val="C4B9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C2F196-94A3-894B-42B9-1E4BEEC49E92}"/>
              </a:ext>
            </a:extLst>
          </p:cNvPr>
          <p:cNvSpPr txBox="1"/>
          <p:nvPr/>
        </p:nvSpPr>
        <p:spPr>
          <a:xfrm>
            <a:off x="6700492" y="4939193"/>
            <a:ext cx="16036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1825" y="5279924"/>
            <a:ext cx="4584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Classify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attack traffic and benign traffic.</a:t>
            </a:r>
          </a:p>
        </p:txBody>
      </p:sp>
      <p:pic>
        <p:nvPicPr>
          <p:cNvPr id="23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134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8743A9BD-48EE-0C93-FA3B-B5DA310361EA}"/>
              </a:ext>
            </a:extLst>
          </p:cNvPr>
          <p:cNvSpPr/>
          <p:nvPr/>
        </p:nvSpPr>
        <p:spPr>
          <a:xfrm>
            <a:off x="322575" y="1187741"/>
            <a:ext cx="3694331" cy="6268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Contribution Overview</a:t>
            </a:r>
            <a:endParaRPr lang="en-IN" sz="2400" b="1" strike="noStrike" spc="-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2789B144-6BA7-A809-3FA9-DF7AC5455CFC}"/>
              </a:ext>
            </a:extLst>
          </p:cNvPr>
          <p:cNvSpPr/>
          <p:nvPr/>
        </p:nvSpPr>
        <p:spPr>
          <a:xfrm>
            <a:off x="382998" y="2035639"/>
            <a:ext cx="5058797" cy="2547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51485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IN" sz="2200" b="0" strike="noStrike" spc="-1">
                <a:latin typeface="Times New Roman"/>
                <a:cs typeface="Times New Roman"/>
              </a:rPr>
              <a:t>IoT ecosystem contains </a:t>
            </a:r>
            <a:r>
              <a:rPr lang="en-IN" sz="2200" b="0" strike="noStrike" spc="-1">
                <a:solidFill>
                  <a:srgbClr val="FF0000"/>
                </a:solidFill>
                <a:latin typeface="Times New Roman"/>
                <a:cs typeface="Times New Roman"/>
              </a:rPr>
              <a:t>resource constrained </a:t>
            </a:r>
            <a:r>
              <a:rPr lang="en-IN" sz="2200" b="0" strike="noStrike" spc="-1">
                <a:latin typeface="Times New Roman"/>
                <a:cs typeface="Times New Roman"/>
              </a:rPr>
              <a:t>devices.</a:t>
            </a:r>
            <a:endParaRPr lang="en-IN" sz="2200" spc="-1">
              <a:latin typeface="Times New Roman"/>
              <a:cs typeface="Times New Roman"/>
            </a:endParaRPr>
          </a:p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en-IN" sz="2200" spc="-1">
                <a:latin typeface="Times New Roman"/>
                <a:cs typeface="Times New Roman"/>
              </a:rPr>
              <a:t>It contain 2 type of node: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spc="-1">
                <a:solidFill>
                  <a:srgbClr val="7030A0"/>
                </a:solidFill>
                <a:latin typeface="Times New Roman"/>
                <a:cs typeface="Times New Roman"/>
              </a:rPr>
              <a:t>Legitimate node (NL)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, </a:t>
            </a:r>
            <a:r>
              <a:rPr lang="en-IN" sz="2200" spc="-1">
                <a:latin typeface="Times New Roman"/>
                <a:cs typeface="Times New Roman"/>
              </a:rPr>
              <a:t>and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spc="-1">
                <a:solidFill>
                  <a:srgbClr val="0000FF"/>
                </a:solidFill>
                <a:latin typeface="Times New Roman"/>
                <a:cs typeface="Times New Roman"/>
              </a:rPr>
              <a:t>Spiteful node (NS).</a:t>
            </a:r>
            <a:endParaRPr lang="en-US" sz="2200" spc="-1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451485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en-IN" sz="2200" b="0" strike="noStrike" spc="-1">
                <a:latin typeface="Times New Roman"/>
                <a:cs typeface="Times New Roman"/>
              </a:rPr>
              <a:t>The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ML based IDS </a:t>
            </a:r>
            <a:r>
              <a:rPr lang="en-IN" sz="2200" b="0" strike="noStrike" spc="-1">
                <a:latin typeface="Times New Roman"/>
                <a:cs typeface="Times New Roman"/>
              </a:rPr>
              <a:t>module executes on the </a:t>
            </a:r>
            <a:r>
              <a:rPr lang="en-IN" sz="2200" spc="-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IN" sz="2200" b="0" strike="noStrike" spc="-1">
                <a:solidFill>
                  <a:srgbClr val="0000FF"/>
                </a:solidFill>
                <a:latin typeface="Times New Roman"/>
                <a:cs typeface="Times New Roman"/>
              </a:rPr>
              <a:t>dge device (ED) </a:t>
            </a:r>
            <a:r>
              <a:rPr lang="en-IN" sz="2200" b="0" strike="noStrike" spc="-1">
                <a:latin typeface="Times New Roman"/>
                <a:cs typeface="Times New Roman"/>
              </a:rPr>
              <a:t>of the IoT networks.</a:t>
            </a:r>
          </a:p>
        </p:txBody>
      </p:sp>
      <p:sp>
        <p:nvSpPr>
          <p:cNvPr id="16" name="CustomShape 3">
            <a:extLst>
              <a:ext uri="{FF2B5EF4-FFF2-40B4-BE49-F238E27FC236}">
                <a16:creationId xmlns:a16="http://schemas.microsoft.com/office/drawing/2014/main" id="{51157B91-5A11-2A84-B30D-A1034AF46C9C}"/>
              </a:ext>
            </a:extLst>
          </p:cNvPr>
          <p:cNvSpPr/>
          <p:nvPr/>
        </p:nvSpPr>
        <p:spPr>
          <a:xfrm>
            <a:off x="7352367" y="5910479"/>
            <a:ext cx="3529000" cy="4022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r>
              <a:rPr lang="en-IN" sz="1800" b="0" strike="noStrike" spc="-1">
                <a:latin typeface="Times New Roman"/>
                <a:cs typeface="Times New Roman"/>
              </a:rPr>
              <a:t>Fig.</a:t>
            </a:r>
            <a:r>
              <a:rPr lang="en-IN" spc="-1">
                <a:latin typeface="Times New Roman"/>
                <a:cs typeface="Times New Roman"/>
              </a:rPr>
              <a:t> 10:</a:t>
            </a:r>
            <a:r>
              <a:rPr lang="en-IN" sz="1800" b="0" strike="noStrike" spc="-1">
                <a:latin typeface="Times New Roman"/>
                <a:cs typeface="Times New Roman"/>
              </a:rPr>
              <a:t> </a:t>
            </a:r>
            <a:r>
              <a:rPr lang="en-IN" spc="-1">
                <a:latin typeface="Times New Roman"/>
                <a:cs typeface="Times New Roman"/>
              </a:rPr>
              <a:t>IoT Network Topology </a:t>
            </a:r>
            <a:endParaRPr lang="en-IN" sz="1800" b="0" strike="noStrike" spc="-1">
              <a:latin typeface="Times New Roman"/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F2E44-A8A6-9DFD-7CD1-C29D3E32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076CB-6F7D-43A7-A492-5C602415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BE1358FD-D5E1-854E-8265-E64543170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795" y="1205527"/>
            <a:ext cx="6460650" cy="4540417"/>
          </a:xfrm>
          <a:prstGeom prst="rect">
            <a:avLst/>
          </a:prstGeom>
        </p:spPr>
      </p:pic>
      <p:pic>
        <p:nvPicPr>
          <p:cNvPr id="13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43EB0F3A-3173-3E07-BCDF-388F05E967F1}"/>
              </a:ext>
            </a:extLst>
          </p:cNvPr>
          <p:cNvSpPr/>
          <p:nvPr/>
        </p:nvSpPr>
        <p:spPr>
          <a:xfrm>
            <a:off x="206890" y="263695"/>
            <a:ext cx="5893311" cy="4270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DDoS Attack Detection using ML </a:t>
            </a:r>
            <a:r>
              <a:rPr lang="en-IN" sz="28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IN" sz="2800" b="0" strike="noStrike" spc="-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65010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34A6BA5F-BA03-A0BF-24BF-9BC543BC1421}"/>
              </a:ext>
            </a:extLst>
          </p:cNvPr>
          <p:cNvSpPr/>
          <p:nvPr/>
        </p:nvSpPr>
        <p:spPr>
          <a:xfrm>
            <a:off x="161238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0433673C-0F86-9FF2-F6AE-FC0A6E6CE1E9}"/>
              </a:ext>
            </a:extLst>
          </p:cNvPr>
          <p:cNvSpPr/>
          <p:nvPr/>
        </p:nvSpPr>
        <p:spPr>
          <a:xfrm>
            <a:off x="261123" y="1345871"/>
            <a:ext cx="6894481" cy="3758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Flow chart of DDoS and Botnet attack detection: </a:t>
            </a:r>
            <a:endParaRPr lang="en-IN" sz="2400" b="1" spc="-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8AC82-4EDA-F4D1-FDD5-8BC048DB0C7B}"/>
              </a:ext>
            </a:extLst>
          </p:cNvPr>
          <p:cNvSpPr/>
          <p:nvPr/>
        </p:nvSpPr>
        <p:spPr>
          <a:xfrm>
            <a:off x="6811699" y="6169442"/>
            <a:ext cx="5265072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13. Flow chart of </a:t>
            </a:r>
            <a:r>
              <a:rPr lang="en-US" sz="1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Botnet attack detection system</a:t>
            </a:r>
            <a:r>
              <a:rPr lang="en-US" sz="1400"/>
              <a:t> 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B1F62EFC-E15B-9C98-4A2B-21157AB2B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444" y="894259"/>
            <a:ext cx="3750240" cy="519342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333AA-75D9-363F-7509-5C61537BF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229243-8AA6-FFF4-5BF9-23F73E3C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11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19" y="265035"/>
            <a:ext cx="2268526" cy="549547"/>
          </a:xfrm>
          <a:prstGeom prst="rect">
            <a:avLst/>
          </a:prstGeom>
        </p:spPr>
      </p:pic>
      <p:sp>
        <p:nvSpPr>
          <p:cNvPr id="12" name="CustomShape 1">
            <a:extLst>
              <a:ext uri="{FF2B5EF4-FFF2-40B4-BE49-F238E27FC236}">
                <a16:creationId xmlns:a16="http://schemas.microsoft.com/office/drawing/2014/main" id="{529D171E-E8AC-4F01-237E-A3763F96A113}"/>
              </a:ext>
            </a:extLst>
          </p:cNvPr>
          <p:cNvSpPr/>
          <p:nvPr/>
        </p:nvSpPr>
        <p:spPr>
          <a:xfrm>
            <a:off x="206890" y="263695"/>
            <a:ext cx="7156053" cy="4561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DDoS and Botnet Attack Detection using ML </a:t>
            </a:r>
            <a:r>
              <a:rPr lang="en-IN" sz="28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IN" sz="2800" b="0" strike="noStrike" spc="-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AB5281-73A0-194E-4563-F326A6F84C4A}"/>
              </a:ext>
            </a:extLst>
          </p:cNvPr>
          <p:cNvSpPr txBox="1"/>
          <p:nvPr/>
        </p:nvSpPr>
        <p:spPr>
          <a:xfrm>
            <a:off x="383458" y="2536721"/>
            <a:ext cx="6422921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  <a:cs typeface="Calibri"/>
              </a:rPr>
              <a:t>We used same flow chart for DDoS and Botnet attack detection</a:t>
            </a:r>
          </a:p>
          <a:p>
            <a:pPr marL="342900" indent="-342900">
              <a:buFont typeface="Arial"/>
              <a:buChar char="•"/>
            </a:pPr>
            <a:endParaRPr lang="en-US" sz="2200">
              <a:latin typeface="Times New Roman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+mn-lt"/>
              </a:rPr>
              <a:t>Only difference is ML model and Dataset</a:t>
            </a:r>
          </a:p>
          <a:p>
            <a:pPr marL="342900" indent="-342900">
              <a:buFont typeface="Arial"/>
              <a:buChar char="•"/>
            </a:pPr>
            <a:endParaRPr lang="en-US" sz="220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11698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34A6BA5F-BA03-A0BF-24BF-9BC543BC1421}"/>
              </a:ext>
            </a:extLst>
          </p:cNvPr>
          <p:cNvSpPr/>
          <p:nvPr/>
        </p:nvSpPr>
        <p:spPr>
          <a:xfrm>
            <a:off x="342196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333AA-75D9-363F-7509-5C61537BF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229243-8AA6-FFF4-5BF9-23F73E3C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11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306" y="117551"/>
            <a:ext cx="2760139" cy="783062"/>
          </a:xfrm>
          <a:prstGeom prst="rect">
            <a:avLst/>
          </a:prstGeom>
        </p:spPr>
      </p:pic>
      <p:sp>
        <p:nvSpPr>
          <p:cNvPr id="12" name="CustomShape 1"/>
          <p:cNvSpPr/>
          <p:nvPr/>
        </p:nvSpPr>
        <p:spPr>
          <a:xfrm>
            <a:off x="342196" y="1184629"/>
            <a:ext cx="5555134" cy="4146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IN" sz="2400" b="1" strike="noStrike" spc="-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and Implementation </a:t>
            </a:r>
          </a:p>
        </p:txBody>
      </p:sp>
      <p:sp>
        <p:nvSpPr>
          <p:cNvPr id="13" name="CustomShape 2"/>
          <p:cNvSpPr/>
          <p:nvPr/>
        </p:nvSpPr>
        <p:spPr>
          <a:xfrm>
            <a:off x="557999" y="1747578"/>
            <a:ext cx="5653230" cy="4755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083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200" b="1" spc="-1">
                <a:solidFill>
                  <a:srgbClr val="00B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Exp. 1: </a:t>
            </a:r>
            <a:r>
              <a:rPr lang="en-US" sz="2200" spc="-1">
                <a:latin typeface="Times New Roman" panose="02020603050405020304" pitchFamily="18" charset="0"/>
                <a:cs typeface="Times New Roman" panose="02020603050405020304" pitchFamily="18" charset="0"/>
              </a:rPr>
              <a:t>Non-attack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r>
              <a:rPr lang="en-IN" sz="220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FDF63896-FE7B-5F14-2EFF-30EE5B6FB6CB}"/>
              </a:ext>
            </a:extLst>
          </p:cNvPr>
          <p:cNvSpPr/>
          <p:nvPr/>
        </p:nvSpPr>
        <p:spPr>
          <a:xfrm>
            <a:off x="4516682" y="1737901"/>
            <a:ext cx="5575171" cy="3539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083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200" b="1" spc="-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Exp. 2: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and Botnet attack scenario </a:t>
            </a:r>
            <a:endParaRPr lang="en-IN" sz="220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70CBAA-A8CC-1DEF-13C4-D298D7F29AB7}"/>
              </a:ext>
            </a:extLst>
          </p:cNvPr>
          <p:cNvSpPr/>
          <p:nvPr/>
        </p:nvSpPr>
        <p:spPr>
          <a:xfrm>
            <a:off x="452223" y="2122328"/>
            <a:ext cx="8033854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200" b="1" spc="-1" dirty="0">
                <a:solidFill>
                  <a:srgbClr val="0000FF"/>
                </a:solidFill>
                <a:latin typeface="Times New Roman"/>
                <a:cs typeface="Times New Roman"/>
              </a:rPr>
              <a:t>Exp. 3: </a:t>
            </a:r>
            <a:r>
              <a:rPr lang="en-US" sz="2200" spc="-1" dirty="0">
                <a:latin typeface="Times New Roman"/>
                <a:cs typeface="Times New Roman"/>
              </a:rPr>
              <a:t>I</a:t>
            </a:r>
            <a:r>
              <a:rPr lang="en-US" sz="2200" dirty="0">
                <a:latin typeface="Times New Roman"/>
                <a:cs typeface="Times New Roman"/>
              </a:rPr>
              <a:t>mplement Naive Bayes method with </a:t>
            </a:r>
            <a:r>
              <a:rPr lang="en-US"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Exp. 2</a:t>
            </a:r>
            <a:r>
              <a:rPr lang="en-US" sz="2200" dirty="0">
                <a:solidFill>
                  <a:srgbClr val="0000FF"/>
                </a:solidFill>
                <a:latin typeface="Times New Roman"/>
                <a:cs typeface="Times New Roman"/>
              </a:rPr>
              <a:t> </a:t>
            </a:r>
            <a:endParaRPr lang="en-IN" sz="2200" spc="-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694299" y="5625265"/>
            <a:ext cx="280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Exp. 1: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Non-attack scenario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965" y="3018426"/>
            <a:ext cx="2874837" cy="258230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620" y="2699945"/>
            <a:ext cx="4169562" cy="294731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886270" y="5602963"/>
            <a:ext cx="5205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Exp. 2 and 3: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Attack scenario and attack with RENO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1237" y="5938842"/>
            <a:ext cx="76476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 is conducted using 8,16, 32, 64, and 128 IoT nodes</a:t>
            </a:r>
          </a:p>
        </p:txBody>
      </p:sp>
      <p:sp>
        <p:nvSpPr>
          <p:cNvPr id="24" name="CustomShape 1">
            <a:extLst>
              <a:ext uri="{FF2B5EF4-FFF2-40B4-BE49-F238E27FC236}">
                <a16:creationId xmlns:a16="http://schemas.microsoft.com/office/drawing/2014/main" id="{529D171E-E8AC-4F01-237E-A3763F96A113}"/>
              </a:ext>
            </a:extLst>
          </p:cNvPr>
          <p:cNvSpPr/>
          <p:nvPr/>
        </p:nvSpPr>
        <p:spPr>
          <a:xfrm>
            <a:off x="206890" y="263695"/>
            <a:ext cx="7156053" cy="4561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DDoS and Botnet Attack Detection using ML </a:t>
            </a:r>
            <a:r>
              <a:rPr lang="en-IN" sz="28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IN" sz="2800" b="0" strike="noStrike" spc="-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86E7324E-9ABA-2C58-6250-9109DDCA87D5}"/>
              </a:ext>
            </a:extLst>
          </p:cNvPr>
          <p:cNvSpPr/>
          <p:nvPr/>
        </p:nvSpPr>
        <p:spPr>
          <a:xfrm>
            <a:off x="161238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36833810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3106" y="173910"/>
            <a:ext cx="2268526" cy="549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BBFA49-3062-B395-BAB5-1B91E84FE93F}"/>
              </a:ext>
            </a:extLst>
          </p:cNvPr>
          <p:cNvSpPr txBox="1"/>
          <p:nvPr/>
        </p:nvSpPr>
        <p:spPr>
          <a:xfrm>
            <a:off x="512146" y="1990442"/>
            <a:ext cx="497996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</a:rPr>
              <a:t>Evaluated using:</a:t>
            </a: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latin typeface="Times New Roman"/>
                <a:ea typeface="+mn-lt"/>
                <a:cs typeface="+mn-lt"/>
              </a:rPr>
              <a:t>Simulator : </a:t>
            </a:r>
            <a:r>
              <a:rPr lang="en-US" sz="2200" dirty="0" err="1">
                <a:latin typeface="Times New Roman"/>
                <a:ea typeface="+mn-lt"/>
                <a:cs typeface="+mn-lt"/>
              </a:rPr>
              <a:t>Cooja</a:t>
            </a:r>
            <a:r>
              <a:rPr lang="en-US" sz="2200" dirty="0">
                <a:latin typeface="Times New Roman"/>
                <a:ea typeface="+mn-lt"/>
                <a:cs typeface="+mn-lt"/>
              </a:rPr>
              <a:t> (Contiki-OS)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21868-0E27-DBF5-D7F0-95B03C949BC9}"/>
              </a:ext>
            </a:extLst>
          </p:cNvPr>
          <p:cNvSpPr txBox="1"/>
          <p:nvPr/>
        </p:nvSpPr>
        <p:spPr>
          <a:xfrm>
            <a:off x="512146" y="3135202"/>
            <a:ext cx="34990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+mn-lt"/>
                <a:cs typeface="+mn-lt"/>
              </a:rPr>
              <a:t>Performance metrics :</a:t>
            </a:r>
            <a:endParaRPr lang="en-US" sz="2400" b="1">
              <a:latin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86E573-EAF1-20BE-F263-0C6845F6FF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5" y="3866393"/>
            <a:ext cx="3250418" cy="533098"/>
          </a:xfrm>
          <a:prstGeom prst="rect">
            <a:avLst/>
          </a:prstGeom>
        </p:spPr>
      </p:pic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C5E76C94-D676-8139-72D5-5B84B0C80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4" y="4454286"/>
            <a:ext cx="2205968" cy="5405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A7A73B-A803-801D-B2C4-E0CBED66C1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17" y="5059925"/>
            <a:ext cx="1661700" cy="466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5FD0EA-E167-E5EA-2781-7EA85A1257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5" y="5579378"/>
            <a:ext cx="2984474" cy="5145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C55D1B-56C2-7566-AEA0-53A0A6A838B9}"/>
              </a:ext>
            </a:extLst>
          </p:cNvPr>
          <p:cNvSpPr txBox="1"/>
          <p:nvPr/>
        </p:nvSpPr>
        <p:spPr>
          <a:xfrm>
            <a:off x="5492109" y="1996429"/>
            <a:ext cx="5996571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</a:rPr>
              <a:t>Dataset:</a:t>
            </a: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latin typeface="Times New Roman"/>
                <a:ea typeface="+mn-lt"/>
                <a:cs typeface="+mn-lt"/>
              </a:rPr>
              <a:t>In house generated dataset (using Contiki </a:t>
            </a:r>
            <a:r>
              <a:rPr lang="en-US" sz="2200" dirty="0" err="1">
                <a:latin typeface="Times New Roman"/>
                <a:ea typeface="+mn-lt"/>
                <a:cs typeface="+mn-lt"/>
              </a:rPr>
              <a:t>Cooja</a:t>
            </a:r>
            <a:r>
              <a:rPr lang="en-US" sz="2200" dirty="0">
                <a:latin typeface="Times New Roman"/>
                <a:ea typeface="+mn-lt"/>
                <a:cs typeface="+mn-lt"/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latin typeface="Times New Roman"/>
                <a:cs typeface="Calibri"/>
              </a:rPr>
              <a:t>ISCX [11], Kitsune [22], KDD 99' Cup [33]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7ADC3-FAB3-F608-7DA1-503DB66D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EE323-148B-1D06-6689-E4F0C23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529D171E-E8AC-4F01-237E-A3763F96A113}"/>
              </a:ext>
            </a:extLst>
          </p:cNvPr>
          <p:cNvSpPr/>
          <p:nvPr/>
        </p:nvSpPr>
        <p:spPr>
          <a:xfrm>
            <a:off x="155229" y="367017"/>
            <a:ext cx="7156053" cy="4561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DDoS and Botnet Attack Detection using ML </a:t>
            </a:r>
            <a:r>
              <a:rPr lang="en-IN" sz="28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IN" sz="2800" b="0" strike="noStrike" spc="-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62722070-B6EA-9244-6D04-D69EA25868D0}"/>
              </a:ext>
            </a:extLst>
          </p:cNvPr>
          <p:cNvSpPr/>
          <p:nvPr/>
        </p:nvSpPr>
        <p:spPr>
          <a:xfrm>
            <a:off x="5899133" y="3878807"/>
            <a:ext cx="4976623" cy="24000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r>
              <a:rPr lang="en-IN" spc="-1">
                <a:latin typeface="Times New Roman"/>
                <a:cs typeface="Times New Roman"/>
              </a:rPr>
              <a:t>Where</a:t>
            </a:r>
            <a:r>
              <a:rPr lang="en-IN" b="0" strike="noStrike" spc="-1">
                <a:latin typeface="Times New Roman"/>
                <a:cs typeface="Times New Roman"/>
              </a:rPr>
              <a:t>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strike="noStrike" spc="-1">
                <a:latin typeface="Times New Roman"/>
                <a:cs typeface="Times New Roman"/>
              </a:rPr>
              <a:t>FP = Legitimate activity wrongly classified,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strike="noStrike" spc="-1">
                <a:latin typeface="Times New Roman"/>
                <a:cs typeface="Times New Roman"/>
              </a:rPr>
              <a:t>TN = Legitimate activity recognized accurately,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strike="noStrike" spc="-1">
                <a:latin typeface="Times New Roman"/>
                <a:cs typeface="Times New Roman"/>
              </a:rPr>
              <a:t>FN = Spiteful activity wrongly classified,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b="0" strike="noStrike" spc="-1">
                <a:latin typeface="Times New Roman"/>
                <a:cs typeface="Times New Roman"/>
              </a:rPr>
              <a:t>TP = Spiteful activity recognized accurately</a:t>
            </a: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0728D1D8-893A-646F-5E7C-A6FB9CD0FC62}"/>
              </a:ext>
            </a:extLst>
          </p:cNvPr>
          <p:cNvSpPr/>
          <p:nvPr/>
        </p:nvSpPr>
        <p:spPr>
          <a:xfrm>
            <a:off x="313638" y="10466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6E7E8-30DE-980E-DF14-B640FACD83FF}"/>
              </a:ext>
            </a:extLst>
          </p:cNvPr>
          <p:cNvSpPr txBox="1"/>
          <p:nvPr/>
        </p:nvSpPr>
        <p:spPr>
          <a:xfrm>
            <a:off x="435429" y="1197428"/>
            <a:ext cx="64878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0000FF"/>
                </a:solidFill>
                <a:latin typeface="Times New Roman"/>
              </a:rPr>
              <a:t>Experimental Setup and Implementation </a:t>
            </a:r>
            <a:r>
              <a:rPr lang="en-US" sz="2400">
                <a:latin typeface="Times New Roman"/>
                <a:cs typeface="Times New Roman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939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3106" y="173910"/>
            <a:ext cx="2268526" cy="549547"/>
          </a:xfrm>
          <a:prstGeom prst="rect">
            <a:avLst/>
          </a:prstGeom>
        </p:spPr>
      </p:pic>
      <p:sp>
        <p:nvSpPr>
          <p:cNvPr id="10" name="Line 3">
            <a:extLst>
              <a:ext uri="{FF2B5EF4-FFF2-40B4-BE49-F238E27FC236}">
                <a16:creationId xmlns:a16="http://schemas.microsoft.com/office/drawing/2014/main" id="{34A6BA5F-BA03-A0BF-24BF-9BC543BC1421}"/>
              </a:ext>
            </a:extLst>
          </p:cNvPr>
          <p:cNvSpPr/>
          <p:nvPr/>
        </p:nvSpPr>
        <p:spPr>
          <a:xfrm>
            <a:off x="161238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EE31F782-A3A3-CAB2-6CED-A14AA3E23C9C}"/>
              </a:ext>
            </a:extLst>
          </p:cNvPr>
          <p:cNvSpPr/>
          <p:nvPr/>
        </p:nvSpPr>
        <p:spPr>
          <a:xfrm>
            <a:off x="322574" y="1169536"/>
            <a:ext cx="3502293" cy="6360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Performance Evaluation </a:t>
            </a:r>
            <a:endParaRPr lang="en-IN" sz="2400" b="1" strike="noStrike" spc="-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B401CE54-E4B4-EAA5-E117-C79299D0A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721" y="2388764"/>
            <a:ext cx="7668473" cy="15641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7D7D91-1823-3F8B-3DB8-CB20AFCFF5F8}"/>
              </a:ext>
            </a:extLst>
          </p:cNvPr>
          <p:cNvSpPr/>
          <p:nvPr/>
        </p:nvSpPr>
        <p:spPr>
          <a:xfrm>
            <a:off x="999229" y="1990234"/>
            <a:ext cx="1025755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TABLE I: EVALUATION METRICS FOR GENERATED DATA AND KITSUNI MIRAI DATASET</a:t>
            </a: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5833EEFD-3239-5462-7B7F-B3C56F6E19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88" y="4456274"/>
            <a:ext cx="10752433" cy="196254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2693FDF-CEFE-D511-DF04-C58C7F524E5A}"/>
              </a:ext>
            </a:extLst>
          </p:cNvPr>
          <p:cNvSpPr/>
          <p:nvPr/>
        </p:nvSpPr>
        <p:spPr>
          <a:xfrm>
            <a:off x="999229" y="4086942"/>
            <a:ext cx="1073497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TABLE II: COMPARISON OF THE PROPOSED STRATEGY WITH THE CLOSELY RELATED WORKS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9FB4B-9702-F257-D9BB-7D57D398D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380A6-5EC7-66B0-0758-C0C275EF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12" name="CustomShape 1">
            <a:extLst>
              <a:ext uri="{FF2B5EF4-FFF2-40B4-BE49-F238E27FC236}">
                <a16:creationId xmlns:a16="http://schemas.microsoft.com/office/drawing/2014/main" id="{529D171E-E8AC-4F01-237E-A3763F96A113}"/>
              </a:ext>
            </a:extLst>
          </p:cNvPr>
          <p:cNvSpPr/>
          <p:nvPr/>
        </p:nvSpPr>
        <p:spPr>
          <a:xfrm>
            <a:off x="206890" y="263695"/>
            <a:ext cx="7156053" cy="4561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DDoS and Botnet Attack Detection using ML </a:t>
            </a:r>
            <a:r>
              <a:rPr lang="en-IN" sz="28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IN" sz="2800" b="0" strike="noStrike" spc="-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95890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3106" y="173910"/>
            <a:ext cx="2268526" cy="549547"/>
          </a:xfrm>
          <a:prstGeom prst="rect">
            <a:avLst/>
          </a:prstGeom>
        </p:spPr>
      </p:pic>
      <p:sp>
        <p:nvSpPr>
          <p:cNvPr id="10" name="Line 3">
            <a:extLst>
              <a:ext uri="{FF2B5EF4-FFF2-40B4-BE49-F238E27FC236}">
                <a16:creationId xmlns:a16="http://schemas.microsoft.com/office/drawing/2014/main" id="{34A6BA5F-BA03-A0BF-24BF-9BC543BC1421}"/>
              </a:ext>
            </a:extLst>
          </p:cNvPr>
          <p:cNvSpPr/>
          <p:nvPr/>
        </p:nvSpPr>
        <p:spPr>
          <a:xfrm>
            <a:off x="161238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EE31F782-A3A3-CAB2-6CED-A14AA3E23C9C}"/>
              </a:ext>
            </a:extLst>
          </p:cNvPr>
          <p:cNvSpPr/>
          <p:nvPr/>
        </p:nvSpPr>
        <p:spPr>
          <a:xfrm>
            <a:off x="322575" y="1069279"/>
            <a:ext cx="2074127" cy="4897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0000FF"/>
                </a:solidFill>
                <a:latin typeface="Times New Roman"/>
                <a:cs typeface="Times New Roman"/>
              </a:rPr>
              <a:t>Summary</a:t>
            </a:r>
            <a:r>
              <a:rPr lang="en-IN" sz="3200" spc="-1">
                <a:solidFill>
                  <a:srgbClr val="CE181E"/>
                </a:solidFill>
                <a:latin typeface="Times New Roman"/>
                <a:cs typeface="Times New Roman"/>
              </a:rPr>
              <a:t> </a:t>
            </a:r>
            <a:endParaRPr lang="en-IN" sz="32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53C31-08D6-42C5-A0AF-B732F16F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122E4-F430-428E-4D45-FFBB6406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62276" y="2243238"/>
            <a:ext cx="10968129" cy="21236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cs typeface="Times New Roman"/>
              </a:rPr>
              <a:t>The performance of the proposed approach is assessed on the </a:t>
            </a:r>
            <a:r>
              <a:rPr lang="en-US" sz="2200">
                <a:solidFill>
                  <a:srgbClr val="0000FF"/>
                </a:solidFill>
                <a:latin typeface="Times New Roman"/>
                <a:cs typeface="Times New Roman"/>
              </a:rPr>
              <a:t>Contiki </a:t>
            </a:r>
            <a:r>
              <a:rPr lang="en-US" sz="2200" err="1">
                <a:solidFill>
                  <a:srgbClr val="0000FF"/>
                </a:solidFill>
                <a:latin typeface="Times New Roman"/>
                <a:cs typeface="Times New Roman"/>
              </a:rPr>
              <a:t>cooja</a:t>
            </a:r>
            <a:r>
              <a:rPr lang="en-US" sz="2200">
                <a:solidFill>
                  <a:srgbClr val="0000FF"/>
                </a:solidFill>
                <a:latin typeface="Times New Roman"/>
                <a:cs typeface="Times New Roman"/>
              </a:rPr>
              <a:t> with different data sets.</a:t>
            </a:r>
          </a:p>
          <a:p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Times New Roman"/>
                <a:cs typeface="Times New Roman"/>
              </a:rPr>
              <a:t>The results exhibit that the average accuracy and response time are </a:t>
            </a:r>
            <a:r>
              <a:rPr lang="en-US" sz="2200">
                <a:solidFill>
                  <a:srgbClr val="FF0000"/>
                </a:solidFill>
                <a:latin typeface="Times New Roman"/>
                <a:cs typeface="Times New Roman"/>
              </a:rPr>
              <a:t>98</a:t>
            </a:r>
            <a:r>
              <a:rPr lang="en-US" sz="2200" i="1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lang="en-US" sz="2200">
                <a:solidFill>
                  <a:srgbClr val="FF0000"/>
                </a:solidFill>
                <a:latin typeface="Times New Roman"/>
                <a:cs typeface="Times New Roman"/>
              </a:rPr>
              <a:t>7% and (24</a:t>
            </a:r>
            <a:r>
              <a:rPr lang="en-US" sz="2200" i="1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lang="en-US" sz="2200">
                <a:solidFill>
                  <a:srgbClr val="FF0000"/>
                </a:solidFill>
                <a:latin typeface="Times New Roman"/>
                <a:cs typeface="Times New Roman"/>
              </a:rPr>
              <a:t>2-68</a:t>
            </a:r>
            <a:r>
              <a:rPr lang="en-US" sz="2200" i="1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lang="en-US" sz="2200">
                <a:solidFill>
                  <a:srgbClr val="FF0000"/>
                </a:solidFill>
                <a:latin typeface="Times New Roman"/>
                <a:cs typeface="Times New Roman"/>
              </a:rPr>
              <a:t>9) </a:t>
            </a:r>
            <a:r>
              <a:rPr lang="en-US" sz="2200" i="1">
                <a:solidFill>
                  <a:srgbClr val="FF0000"/>
                </a:solidFill>
                <a:latin typeface="Times New Roman"/>
                <a:cs typeface="Times New Roman"/>
              </a:rPr>
              <a:t>Sec.</a:t>
            </a:r>
            <a:r>
              <a:rPr lang="en-US" sz="2200" i="1">
                <a:latin typeface="Times New Roman"/>
                <a:cs typeface="Times New Roman"/>
              </a:rPr>
              <a:t> </a:t>
            </a:r>
            <a:r>
              <a:rPr lang="en-US" sz="2200">
                <a:latin typeface="Times New Roman"/>
                <a:cs typeface="Times New Roman"/>
              </a:rPr>
              <a:t>respectively, </a:t>
            </a:r>
            <a:r>
              <a:rPr lang="en-US" sz="2200">
                <a:solidFill>
                  <a:srgbClr val="00B015"/>
                </a:solidFill>
                <a:latin typeface="Times New Roman"/>
                <a:cs typeface="Times New Roman"/>
              </a:rPr>
              <a:t>compared with the closely related work. 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529D171E-E8AC-4F01-237E-A3763F96A113}"/>
              </a:ext>
            </a:extLst>
          </p:cNvPr>
          <p:cNvSpPr/>
          <p:nvPr/>
        </p:nvSpPr>
        <p:spPr>
          <a:xfrm>
            <a:off x="206890" y="263695"/>
            <a:ext cx="7156053" cy="4561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DDoS and Botnet Attack Detection using ML </a:t>
            </a:r>
            <a:r>
              <a:rPr lang="en-IN" sz="2800" spc="-1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IN" sz="2800" b="0" strike="noStrike" spc="-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3830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919" y="150750"/>
            <a:ext cx="2268526" cy="549547"/>
          </a:xfrm>
          <a:prstGeom prst="rect">
            <a:avLst/>
          </a:prstGeom>
        </p:spPr>
      </p:pic>
      <p:sp>
        <p:nvSpPr>
          <p:cNvPr id="3" name="CustomShape 1">
            <a:extLst>
              <a:ext uri="{FF2B5EF4-FFF2-40B4-BE49-F238E27FC236}">
                <a16:creationId xmlns:a16="http://schemas.microsoft.com/office/drawing/2014/main" id="{B3171D7D-BA47-CA49-72CF-1B2FA83101F3}"/>
              </a:ext>
            </a:extLst>
          </p:cNvPr>
          <p:cNvSpPr/>
          <p:nvPr/>
        </p:nvSpPr>
        <p:spPr>
          <a:xfrm>
            <a:off x="3812820" y="1331488"/>
            <a:ext cx="4260219" cy="673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b="1" spc="-1">
                <a:solidFill>
                  <a:srgbClr val="FF0000"/>
                </a:solidFill>
                <a:latin typeface="Times New Roman"/>
                <a:cs typeface="Times New Roman"/>
              </a:rPr>
              <a:t>Second Contribution</a:t>
            </a:r>
            <a:endParaRPr lang="en-IN" sz="3200" b="1" strike="noStrike" spc="-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464886" y="2288924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D0F5D-F604-7D49-C8B5-163138865C7A}"/>
              </a:ext>
            </a:extLst>
          </p:cNvPr>
          <p:cNvSpPr txBox="1"/>
          <p:nvPr/>
        </p:nvSpPr>
        <p:spPr>
          <a:xfrm>
            <a:off x="1704872" y="2765575"/>
            <a:ext cx="75171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>
                <a:solidFill>
                  <a:srgbClr val="0000FF"/>
                </a:solidFill>
                <a:latin typeface="Times New Roman"/>
                <a:ea typeface="+mn-lt"/>
                <a:cs typeface="Times New Roman"/>
              </a:rPr>
              <a:t>LRDDoS</a:t>
            </a:r>
            <a:r>
              <a:rPr lang="en-US" sz="2400">
                <a:solidFill>
                  <a:srgbClr val="0000FF"/>
                </a:solidFill>
                <a:latin typeface="Times New Roman"/>
                <a:ea typeface="+mn-lt"/>
                <a:cs typeface="Times New Roman"/>
              </a:rPr>
              <a:t> attacks detection and mitigation in IoT ecosystem</a:t>
            </a:r>
            <a:endParaRPr lang="en-US" sz="2400">
              <a:solidFill>
                <a:srgbClr val="0000FF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CD57C-6629-4FBB-EC5B-F2F320D06664}"/>
              </a:ext>
            </a:extLst>
          </p:cNvPr>
          <p:cNvSpPr txBox="1"/>
          <p:nvPr/>
        </p:nvSpPr>
        <p:spPr>
          <a:xfrm>
            <a:off x="574964" y="3488522"/>
            <a:ext cx="1123711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200">
                <a:latin typeface="Times New Roman"/>
                <a:ea typeface="Calibri"/>
                <a:cs typeface="Times New Roman"/>
              </a:rPr>
              <a:t>LORD: </a:t>
            </a:r>
            <a:r>
              <a:rPr lang="en-US" sz="2200" err="1">
                <a:latin typeface="Times New Roman"/>
                <a:ea typeface="Calibri"/>
                <a:cs typeface="Times New Roman"/>
              </a:rPr>
              <a:t>LOw</a:t>
            </a:r>
            <a:r>
              <a:rPr lang="en-US" sz="2200">
                <a:latin typeface="Times New Roman"/>
                <a:ea typeface="Calibri"/>
                <a:cs typeface="Times New Roman"/>
              </a:rPr>
              <a:t> Rate DDoS Attack Detection and Mitigation Using Lightweight Distributed Packet Inspection Agent in IoT Ecosystem  </a:t>
            </a:r>
            <a:endParaRPr lang="en-US" sz="2200">
              <a:solidFill>
                <a:srgbClr val="0000FF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BE43C-E5E6-4F5A-1C5F-146BB8C5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C7163-6229-27E9-F062-E51A618B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84" y="2593230"/>
            <a:ext cx="806353" cy="8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070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737" y="150463"/>
            <a:ext cx="2268526" cy="549547"/>
          </a:xfrm>
          <a:prstGeom prst="rect">
            <a:avLst/>
          </a:prstGeom>
        </p:spPr>
      </p:pic>
      <p:sp>
        <p:nvSpPr>
          <p:cNvPr id="3" name="CustomShape 1">
            <a:extLst>
              <a:ext uri="{FF2B5EF4-FFF2-40B4-BE49-F238E27FC236}">
                <a16:creationId xmlns:a16="http://schemas.microsoft.com/office/drawing/2014/main" id="{B3171D7D-BA47-CA49-72CF-1B2FA83101F3}"/>
              </a:ext>
            </a:extLst>
          </p:cNvPr>
          <p:cNvSpPr/>
          <p:nvPr/>
        </p:nvSpPr>
        <p:spPr>
          <a:xfrm>
            <a:off x="366962" y="1210829"/>
            <a:ext cx="5916807" cy="3713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Attack: </a:t>
            </a:r>
            <a:r>
              <a:rPr lang="en-US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Low-rate DDoS Attacks (</a:t>
            </a:r>
            <a:r>
              <a:rPr lang="en-US" sz="2400" b="1" spc="-1" err="1">
                <a:solidFill>
                  <a:srgbClr val="0000FF"/>
                </a:solidFill>
                <a:latin typeface="Times New Roman"/>
                <a:cs typeface="Times New Roman"/>
              </a:rPr>
              <a:t>LRDDoS</a:t>
            </a:r>
            <a:r>
              <a:rPr lang="en-US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lang="en-IN" sz="2400" b="1" strike="noStrike" spc="-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83038-A15A-87E5-CA7A-4BBD531BC7EF}"/>
              </a:ext>
            </a:extLst>
          </p:cNvPr>
          <p:cNvSpPr txBox="1"/>
          <p:nvPr/>
        </p:nvSpPr>
        <p:spPr>
          <a:xfrm>
            <a:off x="371736" y="2104605"/>
            <a:ext cx="5849165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err="1">
                <a:latin typeface="Times New Roman"/>
                <a:ea typeface="+mn-lt"/>
                <a:cs typeface="Arial"/>
              </a:rPr>
              <a:t>LRDDoS</a:t>
            </a:r>
            <a:r>
              <a:rPr lang="en-US" sz="2200">
                <a:latin typeface="Times New Roman"/>
                <a:ea typeface="+mn-lt"/>
                <a:cs typeface="Arial"/>
              </a:rPr>
              <a:t> attacks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+mn-lt"/>
                <a:cs typeface="Arial"/>
              </a:rPr>
              <a:t> are </a:t>
            </a:r>
            <a:r>
              <a:rPr lang="en-US" sz="2200">
                <a:solidFill>
                  <a:srgbClr val="C00000"/>
                </a:solidFill>
                <a:latin typeface="Times New Roman"/>
                <a:ea typeface="+mn-lt"/>
                <a:cs typeface="Arial"/>
              </a:rPr>
              <a:t>difficult to detect</a:t>
            </a:r>
            <a:r>
              <a:rPr lang="en-US" sz="2200">
                <a:latin typeface="Times New Roman"/>
                <a:ea typeface="+mn-lt"/>
                <a:cs typeface="Arial"/>
              </a:rPr>
              <a:t> because the traffic they generate looks similar to </a:t>
            </a:r>
            <a:r>
              <a:rPr lang="en-US" sz="2200">
                <a:solidFill>
                  <a:srgbClr val="08C25B"/>
                </a:solidFill>
                <a:latin typeface="Times New Roman"/>
                <a:ea typeface="+mn-lt"/>
                <a:cs typeface="Arial"/>
              </a:rPr>
              <a:t>legitimate</a:t>
            </a:r>
            <a:r>
              <a:rPr lang="en-US" sz="2200">
                <a:solidFill>
                  <a:srgbClr val="00B050"/>
                </a:solidFill>
                <a:latin typeface="Times New Roman"/>
                <a:ea typeface="+mn-lt"/>
                <a:cs typeface="Arial"/>
              </a:rPr>
              <a:t> traffic.</a:t>
            </a:r>
            <a:endParaRPr lang="en-US" sz="2200">
              <a:solidFill>
                <a:srgbClr val="00B050"/>
              </a:solidFill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>
              <a:solidFill>
                <a:srgbClr val="0070C0"/>
              </a:solidFill>
              <a:latin typeface="Times New Roman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  <a:cs typeface="Arial"/>
              </a:rPr>
              <a:t>Attack is launched by </a:t>
            </a:r>
            <a:r>
              <a:rPr lang="en-US" sz="2200">
                <a:solidFill>
                  <a:srgbClr val="0070C0"/>
                </a:solidFill>
                <a:latin typeface="Times New Roman"/>
                <a:cs typeface="Arial"/>
              </a:rPr>
              <a:t>sending a pulse.</a:t>
            </a:r>
            <a:r>
              <a:rPr lang="en-US" sz="2200">
                <a:latin typeface="Times New Roman"/>
                <a:cs typeface="Arial"/>
              </a:rPr>
              <a:t> The average rate of </a:t>
            </a:r>
            <a:r>
              <a:rPr lang="en-US" sz="2200">
                <a:solidFill>
                  <a:srgbClr val="FF0000"/>
                </a:solidFill>
                <a:latin typeface="Times New Roman"/>
                <a:cs typeface="Arial"/>
              </a:rPr>
              <a:t>attack traffic is very low</a:t>
            </a:r>
            <a:r>
              <a:rPr lang="en-US" sz="2200">
                <a:latin typeface="Times New Roman"/>
                <a:cs typeface="Arial"/>
              </a:rPr>
              <a:t>, and the number of </a:t>
            </a:r>
            <a:r>
              <a:rPr lang="en-US" sz="2200">
                <a:solidFill>
                  <a:srgbClr val="0000FF"/>
                </a:solidFill>
                <a:latin typeface="Times New Roman"/>
                <a:cs typeface="Arial"/>
              </a:rPr>
              <a:t>packets sent is very small.</a:t>
            </a:r>
          </a:p>
          <a:p>
            <a:endParaRPr lang="en-US" sz="2400">
              <a:solidFill>
                <a:srgbClr val="0070C0"/>
              </a:solidFill>
              <a:latin typeface="Times New Roman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64B84-3BCC-6B05-708A-576AFB07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50436F-AEF8-3A3B-AC17-AF9961C6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EBB61-4461-893E-0840-2CC5E2496C8B}"/>
              </a:ext>
            </a:extLst>
          </p:cNvPr>
          <p:cNvSpPr txBox="1"/>
          <p:nvPr/>
        </p:nvSpPr>
        <p:spPr>
          <a:xfrm>
            <a:off x="201561" y="152401"/>
            <a:ext cx="91587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pic>
        <p:nvPicPr>
          <p:cNvPr id="9" name="Picture 10" descr="A diagram of a graph&#10;&#10;Description automatically generated">
            <a:extLst>
              <a:ext uri="{FF2B5EF4-FFF2-40B4-BE49-F238E27FC236}">
                <a16:creationId xmlns:a16="http://schemas.microsoft.com/office/drawing/2014/main" id="{B81B06FC-CF0B-C529-8715-56C312294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693" y="1864663"/>
            <a:ext cx="5101086" cy="26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01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7554" y="149136"/>
            <a:ext cx="2268526" cy="549547"/>
          </a:xfrm>
          <a:prstGeom prst="rect">
            <a:avLst/>
          </a:prstGeom>
        </p:spPr>
      </p:pic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8743A9BD-48EE-0C93-FA3B-B5DA310361EA}"/>
              </a:ext>
            </a:extLst>
          </p:cNvPr>
          <p:cNvSpPr/>
          <p:nvPr/>
        </p:nvSpPr>
        <p:spPr>
          <a:xfrm>
            <a:off x="199244" y="999806"/>
            <a:ext cx="3583098" cy="3810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800" b="1" spc="-1">
                <a:solidFill>
                  <a:srgbClr val="0000FF"/>
                </a:solidFill>
                <a:latin typeface="Times New Roman"/>
                <a:cs typeface="Times New Roman"/>
              </a:rPr>
              <a:t>Contribution Overview</a:t>
            </a:r>
            <a:endParaRPr lang="en-IN" sz="2800" b="1" strike="noStrike" spc="-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2789B144-6BA7-A809-3FA9-DF7AC5455CFC}"/>
              </a:ext>
            </a:extLst>
          </p:cNvPr>
          <p:cNvSpPr/>
          <p:nvPr/>
        </p:nvSpPr>
        <p:spPr>
          <a:xfrm>
            <a:off x="324251" y="1583019"/>
            <a:ext cx="11463121" cy="20089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51485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N" sz="2200" b="0" strike="noStrike" spc="-1">
                <a:latin typeface="Times New Roman"/>
                <a:cs typeface="Times New Roman"/>
              </a:rPr>
              <a:t>IoT ecosystem contains 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heterogeneous devices.</a:t>
            </a:r>
            <a:endParaRPr lang="en-IN" sz="2200" spc="-1">
              <a:solidFill>
                <a:srgbClr val="CE181E"/>
              </a:solidFill>
              <a:latin typeface="Times New Roman"/>
              <a:cs typeface="Times New Roman"/>
            </a:endParaRPr>
          </a:p>
          <a:p>
            <a:pPr marL="451485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N" sz="2200" spc="-1">
                <a:latin typeface="Times New Roman"/>
                <a:cs typeface="Times New Roman"/>
              </a:rPr>
              <a:t>IoT network contain 3 type of node: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spc="-1">
                <a:solidFill>
                  <a:srgbClr val="00B050"/>
                </a:solidFill>
                <a:latin typeface="Times New Roman"/>
                <a:cs typeface="Times New Roman"/>
              </a:rPr>
              <a:t>6BR node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, Packet Inspecting Agent (PIA) node, </a:t>
            </a:r>
            <a:r>
              <a:rPr lang="en-IN" sz="2200" spc="-1">
                <a:solidFill>
                  <a:srgbClr val="7030A0"/>
                </a:solidFill>
                <a:latin typeface="Times New Roman"/>
                <a:cs typeface="Times New Roman"/>
              </a:rPr>
              <a:t>Legitimate node (NL)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, </a:t>
            </a:r>
            <a:r>
              <a:rPr lang="en-IN" sz="2200" spc="-1">
                <a:latin typeface="Times New Roman"/>
                <a:cs typeface="Times New Roman"/>
              </a:rPr>
              <a:t>and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spc="-1">
                <a:solidFill>
                  <a:srgbClr val="0000FF"/>
                </a:solidFill>
                <a:latin typeface="Times New Roman"/>
                <a:cs typeface="Times New Roman"/>
              </a:rPr>
              <a:t>Spiteful node (NS).</a:t>
            </a:r>
            <a:endParaRPr lang="en-US" sz="2200" spc="-1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451485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IN" sz="2200" b="0" strike="noStrike" spc="-1">
                <a:latin typeface="Times New Roman"/>
                <a:cs typeface="Times New Roman"/>
              </a:rPr>
              <a:t>The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PIA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b="0" strike="noStrike" spc="-1">
                <a:latin typeface="Times New Roman"/>
                <a:cs typeface="Times New Roman"/>
              </a:rPr>
              <a:t>module executes on the </a:t>
            </a:r>
            <a:r>
              <a:rPr lang="en-IN" sz="2200" b="0" strike="noStrike" spc="-1">
                <a:solidFill>
                  <a:srgbClr val="00B015"/>
                </a:solidFill>
                <a:latin typeface="Times New Roman"/>
                <a:cs typeface="Times New Roman"/>
              </a:rPr>
              <a:t>6BR node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b="0" strike="noStrike" spc="-1">
                <a:latin typeface="Times New Roman"/>
                <a:cs typeface="Times New Roman"/>
              </a:rPr>
              <a:t>and </a:t>
            </a:r>
            <a:r>
              <a:rPr lang="en-IN" sz="2200" b="0" strike="noStrike" spc="-1">
                <a:solidFill>
                  <a:srgbClr val="0000FF"/>
                </a:solidFill>
                <a:latin typeface="Times New Roman"/>
                <a:cs typeface="Times New Roman"/>
              </a:rPr>
              <a:t>intermediate nodes </a:t>
            </a:r>
            <a:r>
              <a:rPr lang="en-IN" sz="2200" b="0" strike="noStrike" spc="-1">
                <a:latin typeface="Times New Roman"/>
                <a:cs typeface="Times New Roman"/>
              </a:rPr>
              <a:t>for packet analysis.</a:t>
            </a:r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10EB74ED-D21A-4468-A67D-B2C68A4720C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373534" y="3588669"/>
            <a:ext cx="7559640" cy="2375640"/>
          </a:xfrm>
          <a:prstGeom prst="rect">
            <a:avLst/>
          </a:prstGeom>
          <a:ln>
            <a:noFill/>
          </a:ln>
        </p:spPr>
      </p:pic>
      <p:sp>
        <p:nvSpPr>
          <p:cNvPr id="16" name="CustomShape 3">
            <a:extLst>
              <a:ext uri="{FF2B5EF4-FFF2-40B4-BE49-F238E27FC236}">
                <a16:creationId xmlns:a16="http://schemas.microsoft.com/office/drawing/2014/main" id="{51157B91-5A11-2A84-B30D-A1034AF46C9C}"/>
              </a:ext>
            </a:extLst>
          </p:cNvPr>
          <p:cNvSpPr/>
          <p:nvPr/>
        </p:nvSpPr>
        <p:spPr>
          <a:xfrm>
            <a:off x="3633656" y="5959608"/>
            <a:ext cx="5934090" cy="1847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>
              <a:lnSpc>
                <a:spcPct val="100000"/>
              </a:lnSpc>
            </a:pPr>
            <a:r>
              <a:rPr lang="en-IN" sz="1800" b="0" strike="noStrike" spc="-1">
                <a:latin typeface="Times New Roman"/>
                <a:cs typeface="Times New Roman"/>
              </a:rPr>
              <a:t>Fig. 14:  Experimental setup adopted for IoT implementation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F2E44-A8A6-9DFD-7CD1-C29D3E32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076CB-6F7D-43A7-A492-5C602415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0189F-36F5-4DAD-33B3-1C289BFB9B86}"/>
              </a:ext>
            </a:extLst>
          </p:cNvPr>
          <p:cNvSpPr txBox="1"/>
          <p:nvPr/>
        </p:nvSpPr>
        <p:spPr>
          <a:xfrm>
            <a:off x="201561" y="152401"/>
            <a:ext cx="91587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96615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7554" y="149136"/>
            <a:ext cx="2268526" cy="549547"/>
          </a:xfrm>
          <a:prstGeom prst="rect">
            <a:avLst/>
          </a:prstGeom>
        </p:spPr>
      </p:pic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33239886-4B53-BB75-BA87-9C5FBBF33225}"/>
              </a:ext>
            </a:extLst>
          </p:cNvPr>
          <p:cNvSpPr/>
          <p:nvPr/>
        </p:nvSpPr>
        <p:spPr>
          <a:xfrm>
            <a:off x="201561" y="1309503"/>
            <a:ext cx="3836435" cy="3158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Contribution Methodology:</a:t>
            </a:r>
            <a:endParaRPr lang="en-IN" sz="2400" b="1" strike="noStrike" spc="-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DECB3E65-7BBF-276B-AE88-4876B584DBE0}"/>
              </a:ext>
            </a:extLst>
          </p:cNvPr>
          <p:cNvSpPr/>
          <p:nvPr/>
        </p:nvSpPr>
        <p:spPr>
          <a:xfrm>
            <a:off x="322575" y="1991209"/>
            <a:ext cx="4647587" cy="23466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431800" indent="-323215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latin typeface="Times New Roman"/>
                <a:cs typeface="Times New Roman"/>
              </a:rPr>
              <a:t>The proposed approach incorporates </a:t>
            </a:r>
            <a:r>
              <a:rPr lang="en-IN" sz="2200" b="0" strike="noStrike" spc="-1">
                <a:solidFill>
                  <a:srgbClr val="C00000"/>
                </a:solidFill>
                <a:latin typeface="Times New Roman"/>
                <a:cs typeface="Times New Roman"/>
              </a:rPr>
              <a:t>three phases </a:t>
            </a:r>
            <a:r>
              <a:rPr lang="en-IN" sz="2200" b="0" strike="noStrike" spc="-1">
                <a:latin typeface="Times New Roman"/>
                <a:cs typeface="Times New Roman"/>
              </a:rPr>
              <a:t>as follows:</a:t>
            </a: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 err="1">
                <a:solidFill>
                  <a:srgbClr val="C00000"/>
                </a:solidFill>
                <a:latin typeface="Times New Roman"/>
                <a:cs typeface="Times New Roman"/>
              </a:rPr>
              <a:t>LRDDoS</a:t>
            </a:r>
            <a:r>
              <a:rPr lang="en-IN" sz="2200" b="0" strike="noStrike" spc="-1">
                <a:solidFill>
                  <a:srgbClr val="C00000"/>
                </a:solidFill>
                <a:latin typeface="Times New Roman"/>
                <a:cs typeface="Times New Roman"/>
              </a:rPr>
              <a:t> detection at 6BR</a:t>
            </a:r>
            <a:r>
              <a:rPr lang="en-IN" sz="2200" spc="-1">
                <a:solidFill>
                  <a:srgbClr val="C00000"/>
                </a:solidFill>
                <a:latin typeface="Times New Roman"/>
                <a:cs typeface="Times New Roman"/>
              </a:rPr>
              <a:t> </a:t>
            </a:r>
            <a:endParaRPr lang="en-IN" sz="2200" b="0" strike="noStrike" spc="-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800" indent="-323215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 err="1">
                <a:solidFill>
                  <a:srgbClr val="00B050"/>
                </a:solidFill>
                <a:latin typeface="Times New Roman"/>
                <a:cs typeface="Times New Roman"/>
              </a:rPr>
              <a:t>LRDDoS</a:t>
            </a:r>
            <a:r>
              <a:rPr lang="en-IN" sz="2200" b="0" strike="noStrike" spc="-1">
                <a:solidFill>
                  <a:srgbClr val="00B050"/>
                </a:solidFill>
                <a:latin typeface="Times New Roman"/>
                <a:cs typeface="Times New Roman"/>
              </a:rPr>
              <a:t> detection at PIA</a:t>
            </a:r>
          </a:p>
          <a:p>
            <a:pPr marL="431800" indent="-323215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solidFill>
                  <a:srgbClr val="FFC000"/>
                </a:solidFill>
                <a:latin typeface="Times New Roman"/>
                <a:cs typeface="Times New Roman"/>
              </a:rPr>
              <a:t>Mitigation of </a:t>
            </a:r>
            <a:r>
              <a:rPr lang="en-IN" sz="2200" spc="-1" err="1">
                <a:solidFill>
                  <a:srgbClr val="FFC000"/>
                </a:solidFill>
                <a:latin typeface="Times New Roman"/>
                <a:cs typeface="Times New Roman"/>
              </a:rPr>
              <a:t>LRDDoS</a:t>
            </a:r>
            <a:r>
              <a:rPr lang="en-IN" sz="2200" b="0" strike="noStrike" spc="-1">
                <a:solidFill>
                  <a:srgbClr val="FFC000"/>
                </a:solidFill>
                <a:latin typeface="Times New Roman"/>
                <a:cs typeface="Times New Roman"/>
              </a:rPr>
              <a:t> attack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C6CBA53B-94D4-5D61-1568-D27EF190C99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127268" y="1251831"/>
            <a:ext cx="6548760" cy="3887640"/>
          </a:xfrm>
          <a:prstGeom prst="rect">
            <a:avLst/>
          </a:prstGeom>
          <a:ln>
            <a:noFill/>
          </a:ln>
        </p:spPr>
      </p:pic>
      <p:sp>
        <p:nvSpPr>
          <p:cNvPr id="13" name="CustomShape 3">
            <a:extLst>
              <a:ext uri="{FF2B5EF4-FFF2-40B4-BE49-F238E27FC236}">
                <a16:creationId xmlns:a16="http://schemas.microsoft.com/office/drawing/2014/main" id="{0ADDE369-95F6-7A33-09AE-716FC70DCD7C}"/>
              </a:ext>
            </a:extLst>
          </p:cNvPr>
          <p:cNvSpPr/>
          <p:nvPr/>
        </p:nvSpPr>
        <p:spPr>
          <a:xfrm>
            <a:off x="5561379" y="5280951"/>
            <a:ext cx="5680537" cy="34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>
              <a:lnSpc>
                <a:spcPct val="100000"/>
              </a:lnSpc>
            </a:pPr>
            <a:r>
              <a:rPr lang="en-IN" sz="1800" b="0" strike="noStrike" spc="-1">
                <a:latin typeface="Times New Roman"/>
                <a:cs typeface="Times New Roman"/>
              </a:rPr>
              <a:t>Fig. 15: Illustrative layout of proposed approach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861CDD-3F42-7615-57F2-6B5F461EA072}"/>
              </a:ext>
            </a:extLst>
          </p:cNvPr>
          <p:cNvSpPr/>
          <p:nvPr/>
        </p:nvSpPr>
        <p:spPr>
          <a:xfrm>
            <a:off x="5344348" y="1109690"/>
            <a:ext cx="6331680" cy="10853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F996AE-8E2C-595D-F29B-68ACB4F23E18}"/>
              </a:ext>
            </a:extLst>
          </p:cNvPr>
          <p:cNvSpPr/>
          <p:nvPr/>
        </p:nvSpPr>
        <p:spPr>
          <a:xfrm>
            <a:off x="5344348" y="2296434"/>
            <a:ext cx="6331680" cy="91340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EC5D1C-0251-F8D3-8429-813CF8A5AF51}"/>
              </a:ext>
            </a:extLst>
          </p:cNvPr>
          <p:cNvSpPr/>
          <p:nvPr/>
        </p:nvSpPr>
        <p:spPr>
          <a:xfrm>
            <a:off x="5344348" y="3351317"/>
            <a:ext cx="6331680" cy="178815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4936D-AEB7-E7FA-2069-5D64DD85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46BB7-9DCC-2CC8-8409-B2E0ABEB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CDF84-6086-1377-0437-175D219DBC8C}"/>
              </a:ext>
            </a:extLst>
          </p:cNvPr>
          <p:cNvSpPr txBox="1"/>
          <p:nvPr/>
        </p:nvSpPr>
        <p:spPr>
          <a:xfrm>
            <a:off x="201561" y="152401"/>
            <a:ext cx="91587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05886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6887" y="149136"/>
            <a:ext cx="2268526" cy="549547"/>
          </a:xfrm>
          <a:prstGeom prst="rect">
            <a:avLst/>
          </a:prstGeom>
        </p:spPr>
      </p:pic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2">
            <a:extLst>
              <a:ext uri="{FF2B5EF4-FFF2-40B4-BE49-F238E27FC236}">
                <a16:creationId xmlns:a16="http://schemas.microsoft.com/office/drawing/2014/main" id="{BF2CFDC0-3114-F38C-4DF2-9C36EDA29F78}"/>
              </a:ext>
            </a:extLst>
          </p:cNvPr>
          <p:cNvSpPr/>
          <p:nvPr/>
        </p:nvSpPr>
        <p:spPr>
          <a:xfrm>
            <a:off x="289817" y="1111228"/>
            <a:ext cx="4125688" cy="3148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pPr marL="108585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IN" sz="2400" b="1" strike="noStrike" spc="-1" err="1">
                <a:solidFill>
                  <a:srgbClr val="0000FF"/>
                </a:solidFill>
                <a:latin typeface="Times New Roman"/>
                <a:cs typeface="Times New Roman"/>
              </a:rPr>
              <a:t>LRDDoS</a:t>
            </a:r>
            <a:r>
              <a:rPr lang="en-IN" sz="2400" b="1" strike="noStrike" spc="-1">
                <a:solidFill>
                  <a:srgbClr val="0000FF"/>
                </a:solidFill>
                <a:latin typeface="Times New Roman"/>
                <a:cs typeface="Times New Roman"/>
              </a:rPr>
              <a:t> detection at 6BR</a:t>
            </a:r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 </a:t>
            </a:r>
            <a:endParaRPr lang="en-IN" sz="2400" b="1" strike="noStrike" spc="-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75E7A-85E3-D49E-1732-1B5B00F7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719F3-C313-3474-E077-9346BDA1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42316-55E2-6428-2B8A-5388C951C45D}"/>
              </a:ext>
            </a:extLst>
          </p:cNvPr>
          <p:cNvSpPr txBox="1"/>
          <p:nvPr/>
        </p:nvSpPr>
        <p:spPr>
          <a:xfrm>
            <a:off x="421464" y="1598309"/>
            <a:ext cx="339969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</a:rPr>
              <a:t>Step 1: Data Collection </a:t>
            </a:r>
            <a:r>
              <a:rPr lang="en-US" sz="2000">
                <a:latin typeface="Times New Roman"/>
              </a:rPr>
              <a:t>​ </a:t>
            </a:r>
            <a:r>
              <a:rPr lang="en-US" sz="2000" err="1">
                <a:latin typeface="Times New Roman"/>
              </a:rPr>
              <a:t>collect_network_traffic_data</a:t>
            </a:r>
            <a:r>
              <a:rPr lang="en-US" sz="2000">
                <a:latin typeface="Times New Roman"/>
              </a:rPr>
              <a:t>()​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5A1436-AB3E-2911-49DF-C603D91BB45D}"/>
              </a:ext>
            </a:extLst>
          </p:cNvPr>
          <p:cNvSpPr txBox="1"/>
          <p:nvPr/>
        </p:nvSpPr>
        <p:spPr>
          <a:xfrm>
            <a:off x="433187" y="2383755"/>
            <a:ext cx="383344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</a:rPr>
              <a:t>Step 2: Preprocessing</a:t>
            </a:r>
            <a:r>
              <a:rPr lang="en-US" sz="2000">
                <a:latin typeface="Times New Roman"/>
              </a:rPr>
              <a:t>​</a:t>
            </a:r>
          </a:p>
          <a:p>
            <a:r>
              <a:rPr lang="en-US" sz="2000">
                <a:latin typeface="Times New Roman"/>
              </a:rPr>
              <a:t>preprocess(</a:t>
            </a:r>
            <a:r>
              <a:rPr lang="en-US" sz="2000" err="1">
                <a:latin typeface="Times New Roman"/>
              </a:rPr>
              <a:t>network_traffic_data</a:t>
            </a:r>
            <a:r>
              <a:rPr lang="en-US" sz="2000">
                <a:latin typeface="Times New Roman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C8125-4077-F6E3-2C0B-D662BBD665F0}"/>
              </a:ext>
            </a:extLst>
          </p:cNvPr>
          <p:cNvSpPr txBox="1"/>
          <p:nvPr/>
        </p:nvSpPr>
        <p:spPr>
          <a:xfrm>
            <a:off x="421464" y="3087140"/>
            <a:ext cx="37279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</a:rPr>
              <a:t>Step 3: Temporal Segmentation</a:t>
            </a:r>
            <a:r>
              <a:rPr lang="en-US" sz="2000">
                <a:latin typeface="Times New Roman"/>
              </a:rPr>
              <a:t>​</a:t>
            </a:r>
            <a:br>
              <a:rPr lang="en-US" sz="2000">
                <a:latin typeface="Times New Roman"/>
              </a:rPr>
            </a:br>
            <a:r>
              <a:rPr lang="en-US" sz="2000" err="1">
                <a:latin typeface="Times New Roman"/>
              </a:rPr>
              <a:t>segment_data</a:t>
            </a:r>
            <a:r>
              <a:rPr lang="en-US" sz="2000">
                <a:latin typeface="Times New Roman"/>
              </a:rPr>
              <a:t>(</a:t>
            </a:r>
            <a:r>
              <a:rPr lang="en-US" sz="2000" err="1">
                <a:latin typeface="Times New Roman"/>
              </a:rPr>
              <a:t>preprocessed_data</a:t>
            </a:r>
            <a:r>
              <a:rPr lang="en-US" sz="2000">
                <a:latin typeface="Times New Roman"/>
              </a:rPr>
              <a:t>)​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3E4BE7-FD62-A9C2-1F2C-7E9FFB39BBC2}"/>
              </a:ext>
            </a:extLst>
          </p:cNvPr>
          <p:cNvSpPr txBox="1"/>
          <p:nvPr/>
        </p:nvSpPr>
        <p:spPr>
          <a:xfrm>
            <a:off x="421465" y="3849140"/>
            <a:ext cx="513470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</a:rPr>
              <a:t>Step 4: GTV Calculation</a:t>
            </a:r>
            <a:r>
              <a:rPr lang="en-US" sz="2000">
                <a:latin typeface="Times New Roman"/>
              </a:rPr>
              <a:t>​</a:t>
            </a:r>
          </a:p>
          <a:p>
            <a:r>
              <a:rPr lang="en-US" sz="2000" err="1"/>
              <a:t>calculate_gtv</a:t>
            </a:r>
            <a:r>
              <a:rPr lang="en-US" sz="2000"/>
              <a:t>(</a:t>
            </a:r>
            <a:r>
              <a:rPr lang="en-US" sz="2000" err="1"/>
              <a:t>segmt_data</a:t>
            </a:r>
            <a:r>
              <a:rPr lang="en-US" sz="2000"/>
              <a:t>[</a:t>
            </a:r>
            <a:r>
              <a:rPr lang="en-US" sz="2000" err="1"/>
              <a:t>i</a:t>
            </a:r>
            <a:r>
              <a:rPr lang="en-US" sz="2000"/>
              <a:t>], </a:t>
            </a:r>
            <a:r>
              <a:rPr lang="en-US" sz="2000" err="1"/>
              <a:t>segmt_data</a:t>
            </a:r>
            <a:r>
              <a:rPr lang="en-US" sz="2000"/>
              <a:t>[</a:t>
            </a:r>
            <a:r>
              <a:rPr lang="en-US" sz="2000" err="1"/>
              <a:t>i</a:t>
            </a:r>
            <a:r>
              <a:rPr lang="en-US" sz="2000"/>
              <a:t> + 1])​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01BE6C-D45E-818E-2E44-49560B250A5A}"/>
              </a:ext>
            </a:extLst>
          </p:cNvPr>
          <p:cNvSpPr txBox="1"/>
          <p:nvPr/>
        </p:nvSpPr>
        <p:spPr>
          <a:xfrm>
            <a:off x="421464" y="4716647"/>
            <a:ext cx="393895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</a:rPr>
              <a:t>Step 5: Thresholding</a:t>
            </a:r>
            <a:r>
              <a:rPr lang="en-US" sz="2000">
                <a:latin typeface="Times New Roman"/>
              </a:rPr>
              <a:t>​</a:t>
            </a:r>
            <a:br>
              <a:rPr lang="en-US" sz="2000">
                <a:latin typeface="Times New Roman"/>
              </a:rPr>
            </a:br>
            <a:r>
              <a:rPr lang="en-US" sz="2000" b="1">
                <a:latin typeface="Times New Roman"/>
              </a:rPr>
              <a:t>   </a:t>
            </a:r>
            <a:r>
              <a:rPr lang="en-US" sz="2000">
                <a:latin typeface="Times New Roman"/>
              </a:rPr>
              <a:t> if gtv_value &gt; threshold:​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E31EEE-AAE9-9CDB-541A-F5CDEC1263D3}"/>
              </a:ext>
            </a:extLst>
          </p:cNvPr>
          <p:cNvSpPr txBox="1"/>
          <p:nvPr/>
        </p:nvSpPr>
        <p:spPr>
          <a:xfrm>
            <a:off x="433188" y="5548986"/>
            <a:ext cx="498230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Step 6: Anomaly Detection</a:t>
            </a:r>
            <a:r>
              <a:rPr lang="en-US"/>
              <a:t> </a:t>
            </a:r>
            <a:r>
              <a:rPr lang="en-US" err="1">
                <a:latin typeface="Times New Roman"/>
                <a:cs typeface="Times New Roman"/>
              </a:rPr>
              <a:t>handle_anomaly_detection</a:t>
            </a:r>
            <a:r>
              <a:rPr lang="en-US">
                <a:latin typeface="Times New Roman"/>
                <a:cs typeface="Times New Roman"/>
              </a:rPr>
              <a:t>(</a:t>
            </a:r>
            <a:r>
              <a:rPr lang="en-US" err="1">
                <a:latin typeface="Times New Roman"/>
                <a:cs typeface="Times New Roman"/>
              </a:rPr>
              <a:t>gtv_value</a:t>
            </a:r>
            <a:r>
              <a:rPr lang="en-US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FCB4F-F359-F335-57A6-90433714CADD}"/>
              </a:ext>
            </a:extLst>
          </p:cNvPr>
          <p:cNvSpPr txBox="1"/>
          <p:nvPr/>
        </p:nvSpPr>
        <p:spPr>
          <a:xfrm>
            <a:off x="201561" y="152401"/>
            <a:ext cx="97514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9C26FC7E-A822-0169-2017-A0121C830D63}"/>
              </a:ext>
            </a:extLst>
          </p:cNvPr>
          <p:cNvSpPr/>
          <p:nvPr/>
        </p:nvSpPr>
        <p:spPr>
          <a:xfrm>
            <a:off x="6063662" y="1113811"/>
            <a:ext cx="4518977" cy="251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IN" sz="2200" b="1" strike="noStrike" spc="-1" err="1">
                <a:solidFill>
                  <a:srgbClr val="0000FF"/>
                </a:solidFill>
                <a:latin typeface="Times New Roman"/>
                <a:cs typeface="Times New Roman"/>
              </a:rPr>
              <a:t>LRDDoS</a:t>
            </a:r>
            <a:r>
              <a:rPr lang="en-IN" sz="2200" b="1" strike="noStrike" spc="-1">
                <a:solidFill>
                  <a:srgbClr val="0000FF"/>
                </a:solidFill>
                <a:latin typeface="Times New Roman"/>
                <a:cs typeface="Times New Roman"/>
              </a:rPr>
              <a:t> detection at </a:t>
            </a:r>
            <a:r>
              <a:rPr lang="en-IN" sz="2200" b="1" spc="-1">
                <a:solidFill>
                  <a:srgbClr val="0000FF"/>
                </a:solidFill>
                <a:latin typeface="Times New Roman"/>
                <a:cs typeface="Times New Roman"/>
              </a:rPr>
              <a:t>PIA</a:t>
            </a:r>
            <a:endParaRPr lang="en-IN" sz="2200" b="1" strike="noStrike" spc="-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E5216-E8A4-7379-19B1-AEAE81EE29F6}"/>
              </a:ext>
            </a:extLst>
          </p:cNvPr>
          <p:cNvSpPr txBox="1"/>
          <p:nvPr/>
        </p:nvSpPr>
        <p:spPr>
          <a:xfrm>
            <a:off x="6299945" y="1526233"/>
            <a:ext cx="3399693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1: Data Collection </a:t>
            </a:r>
            <a:r>
              <a:rPr lang="en-US" sz="2000">
                <a:latin typeface="Times New Roman"/>
              </a:rPr>
              <a:t>​ 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64BA0EE-7894-718F-CFAD-E4C1EA36D7FF}"/>
              </a:ext>
            </a:extLst>
          </p:cNvPr>
          <p:cNvSpPr txBox="1"/>
          <p:nvPr/>
        </p:nvSpPr>
        <p:spPr>
          <a:xfrm>
            <a:off x="6299945" y="1924817"/>
            <a:ext cx="383344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2: Preprocessing</a:t>
            </a:r>
            <a:r>
              <a:rPr lang="en-US" sz="2000">
                <a:latin typeface="Times New Roman"/>
              </a:rPr>
              <a:t>​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15E1089-B278-2063-7A8B-0374B924E01F}"/>
              </a:ext>
            </a:extLst>
          </p:cNvPr>
          <p:cNvSpPr txBox="1"/>
          <p:nvPr/>
        </p:nvSpPr>
        <p:spPr>
          <a:xfrm>
            <a:off x="6299945" y="2417187"/>
            <a:ext cx="372793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3: Temporal Segmentation</a:t>
            </a:r>
            <a:r>
              <a:rPr lang="en-US" sz="2000">
                <a:latin typeface="Times New Roman"/>
              </a:rPr>
              <a:t>​</a:t>
            </a:r>
            <a:br>
              <a:rPr lang="en-US" sz="2000">
                <a:latin typeface="Times New Roman"/>
              </a:rPr>
            </a:b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FBAF2748-6CA0-5F7D-EB3B-37F602DADE23}"/>
              </a:ext>
            </a:extLst>
          </p:cNvPr>
          <p:cNvSpPr txBox="1"/>
          <p:nvPr/>
        </p:nvSpPr>
        <p:spPr>
          <a:xfrm>
            <a:off x="6299946" y="2839218"/>
            <a:ext cx="5134708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4: GTV Calculation</a:t>
            </a:r>
            <a:r>
              <a:rPr lang="en-US" sz="2000">
                <a:latin typeface="Times New Roman"/>
              </a:rPr>
              <a:t>​</a:t>
            </a:r>
          </a:p>
          <a:p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calculate_gtv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segmt_data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segmt_data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+ 1])​</a:t>
            </a:r>
            <a:endParaRPr lang="en-US" sz="20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1493F323-621C-DB44-52C3-8A2692D21D74}"/>
              </a:ext>
            </a:extLst>
          </p:cNvPr>
          <p:cNvSpPr txBox="1"/>
          <p:nvPr/>
        </p:nvSpPr>
        <p:spPr>
          <a:xfrm>
            <a:off x="6299946" y="3589494"/>
            <a:ext cx="5275384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5: Keep track on frequency of IP address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Calibri"/>
              </a:rPr>
              <a:t>Maintain IP address and frequency </a:t>
            </a:r>
            <a:r>
              <a:rPr lang="en-US" sz="2000">
                <a:latin typeface="Times New Roman"/>
                <a:ea typeface="+mn-lt"/>
                <a:cs typeface="+mn-lt"/>
              </a:rPr>
              <a:t>count</a:t>
            </a:r>
            <a:endParaRPr lang="en-US" sz="2000">
              <a:latin typeface="Times New Roman"/>
              <a:cs typeface="Calibri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33DE01C-8DC9-6375-770C-408F3AE7D0D1}"/>
              </a:ext>
            </a:extLst>
          </p:cNvPr>
          <p:cNvSpPr txBox="1"/>
          <p:nvPr/>
        </p:nvSpPr>
        <p:spPr>
          <a:xfrm>
            <a:off x="6325136" y="4372776"/>
            <a:ext cx="5555636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6: Thresholding</a:t>
            </a:r>
            <a:r>
              <a:rPr lang="en-US" sz="2000">
                <a:latin typeface="Times New Roman"/>
              </a:rPr>
              <a:t>​</a:t>
            </a:r>
            <a:br>
              <a:rPr lang="en-US" sz="2000">
                <a:latin typeface="Times New Roman"/>
              </a:rPr>
            </a:br>
            <a:r>
              <a:rPr lang="en-US" sz="2000" b="1">
                <a:latin typeface="Times New Roman"/>
              </a:rPr>
              <a:t>   </a:t>
            </a:r>
            <a:r>
              <a:rPr lang="en-US" sz="2000">
                <a:latin typeface="Times New Roman"/>
              </a:rPr>
              <a:t> if </a:t>
            </a:r>
            <a:r>
              <a:rPr lang="en-US" sz="2000" err="1">
                <a:latin typeface="Times New Roman"/>
              </a:rPr>
              <a:t>gtv_value</a:t>
            </a:r>
            <a:r>
              <a:rPr lang="en-US" sz="2000">
                <a:latin typeface="Times New Roman"/>
              </a:rPr>
              <a:t> &gt; threshold: and </a:t>
            </a:r>
            <a:r>
              <a:rPr lang="en-US" sz="2000" err="1">
                <a:latin typeface="Times New Roman"/>
              </a:rPr>
              <a:t>F_count</a:t>
            </a:r>
            <a:r>
              <a:rPr lang="en-US" sz="2000">
                <a:latin typeface="Times New Roman"/>
              </a:rPr>
              <a:t> &gt; </a:t>
            </a:r>
            <a:r>
              <a:rPr lang="en-US" sz="2000" err="1">
                <a:latin typeface="Times New Roman"/>
              </a:rPr>
              <a:t>T_IPFc</a:t>
            </a:r>
            <a:endParaRPr lang="en-US" sz="2000" err="1">
              <a:latin typeface="Times New Roman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16B587-9385-28A0-ED58-AB72E4627024}"/>
              </a:ext>
            </a:extLst>
          </p:cNvPr>
          <p:cNvSpPr txBox="1"/>
          <p:nvPr/>
        </p:nvSpPr>
        <p:spPr>
          <a:xfrm>
            <a:off x="6308313" y="5210216"/>
            <a:ext cx="498230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Step 7: Anomaly Detection</a:t>
            </a:r>
            <a:r>
              <a:rPr lang="en-US"/>
              <a:t> </a:t>
            </a:r>
            <a:r>
              <a:rPr lang="en-US" sz="2000" err="1">
                <a:latin typeface="Times New Roman"/>
                <a:cs typeface="Times New Roman"/>
              </a:rPr>
              <a:t>handle_anomaly_detection</a:t>
            </a:r>
            <a:r>
              <a:rPr lang="en-US" sz="2000">
                <a:latin typeface="Times New Roman"/>
                <a:cs typeface="Times New Roman"/>
              </a:rPr>
              <a:t>(</a:t>
            </a:r>
            <a:r>
              <a:rPr lang="en-US" sz="2000" err="1">
                <a:latin typeface="Times New Roman"/>
                <a:cs typeface="Times New Roman"/>
              </a:rPr>
              <a:t>gtv_value</a:t>
            </a:r>
            <a:r>
              <a:rPr lang="en-US" sz="2000">
                <a:latin typeface="Times New Roman"/>
                <a:cs typeface="Times New Roman"/>
              </a:rPr>
              <a:t> and initiate mitigation process  )</a:t>
            </a:r>
          </a:p>
        </p:txBody>
      </p:sp>
    </p:spTree>
    <p:extLst>
      <p:ext uri="{BB962C8B-B14F-4D97-AF65-F5344CB8AC3E}">
        <p14:creationId xmlns:p14="http://schemas.microsoft.com/office/powerpoint/2010/main" val="15280508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7554" y="149136"/>
            <a:ext cx="2268526" cy="549547"/>
          </a:xfrm>
          <a:prstGeom prst="rect">
            <a:avLst/>
          </a:prstGeom>
        </p:spPr>
      </p:pic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2">
            <a:extLst>
              <a:ext uri="{FF2B5EF4-FFF2-40B4-BE49-F238E27FC236}">
                <a16:creationId xmlns:a16="http://schemas.microsoft.com/office/drawing/2014/main" id="{B9AEF17B-4112-9833-8899-91F4C20B459D}"/>
              </a:ext>
            </a:extLst>
          </p:cNvPr>
          <p:cNvSpPr/>
          <p:nvPr/>
        </p:nvSpPr>
        <p:spPr>
          <a:xfrm>
            <a:off x="300148" y="1524873"/>
            <a:ext cx="3968169" cy="382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108585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IN" sz="2400" b="1" strike="noStrike" spc="-1">
                <a:solidFill>
                  <a:srgbClr val="0000FF"/>
                </a:solidFill>
                <a:latin typeface="Times New Roman"/>
                <a:cs typeface="Times New Roman"/>
              </a:rPr>
              <a:t>Mitigation of DDoS attack</a:t>
            </a:r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010FC57A-D340-228C-552E-137F6B1FE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249" y="1299147"/>
            <a:ext cx="6446027" cy="39507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7544F56-1BAF-2FA0-7F63-7203819A2929}"/>
              </a:ext>
            </a:extLst>
          </p:cNvPr>
          <p:cNvSpPr/>
          <p:nvPr/>
        </p:nvSpPr>
        <p:spPr>
          <a:xfrm>
            <a:off x="5026870" y="1366740"/>
            <a:ext cx="6175886" cy="3233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hape, rectangle&#10;&#10;Description automatically generated">
            <a:extLst>
              <a:ext uri="{FF2B5EF4-FFF2-40B4-BE49-F238E27FC236}">
                <a16:creationId xmlns:a16="http://schemas.microsoft.com/office/drawing/2014/main" id="{BF741E0F-DC4B-FB0F-32F3-3F693FFC9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483" y="1974969"/>
            <a:ext cx="6213848" cy="92667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9B4EC89-7764-B0BE-06AA-6BA27D173EE0}"/>
              </a:ext>
            </a:extLst>
          </p:cNvPr>
          <p:cNvSpPr/>
          <p:nvPr/>
        </p:nvSpPr>
        <p:spPr>
          <a:xfrm>
            <a:off x="5097206" y="3172176"/>
            <a:ext cx="6175888" cy="39078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Shape, rectangle&#10;&#10;Description automatically generated">
            <a:extLst>
              <a:ext uri="{FF2B5EF4-FFF2-40B4-BE49-F238E27FC236}">
                <a16:creationId xmlns:a16="http://schemas.microsoft.com/office/drawing/2014/main" id="{9F069312-77D2-471C-6516-774C5405C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91" y="3622477"/>
            <a:ext cx="6175887" cy="167469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B1332-E69A-34CB-3E92-D0DC4256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659CE-A006-6A67-AF4B-52DD7128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A8C0C0-63F8-E5E9-F78D-3A31258FC335}"/>
              </a:ext>
            </a:extLst>
          </p:cNvPr>
          <p:cNvSpPr txBox="1"/>
          <p:nvPr/>
        </p:nvSpPr>
        <p:spPr>
          <a:xfrm>
            <a:off x="540378" y="2062332"/>
            <a:ext cx="3727939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1: Identify attacked IP address and protocols</a:t>
            </a:r>
            <a:r>
              <a:rPr lang="en-US" sz="2000">
                <a:latin typeface="Times New Roman"/>
              </a:rPr>
              <a:t>​ based on Algorithm 1 and 2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844F13E-67E8-F35D-B562-F3048670BDC0}"/>
              </a:ext>
            </a:extLst>
          </p:cNvPr>
          <p:cNvSpPr txBox="1"/>
          <p:nvPr/>
        </p:nvSpPr>
        <p:spPr>
          <a:xfrm>
            <a:off x="540378" y="3258086"/>
            <a:ext cx="3915508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2: Attack Identified @6BR</a:t>
            </a:r>
            <a:endParaRPr lang="en-US" sz="2000">
              <a:latin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Block (External traffic)</a:t>
            </a:r>
            <a:endParaRPr lang="en-US" sz="2000">
              <a:latin typeface="Times New Roman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2066CDEA-D015-F00A-5F4E-2DBA77F6DEF4}"/>
              </a:ext>
            </a:extLst>
          </p:cNvPr>
          <p:cNvSpPr txBox="1"/>
          <p:nvPr/>
        </p:nvSpPr>
        <p:spPr>
          <a:xfrm>
            <a:off x="540377" y="3973193"/>
            <a:ext cx="3915508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Times New Roman"/>
              </a:rPr>
              <a:t>Step 3: Attack Identified @PIA</a:t>
            </a:r>
            <a:endParaRPr lang="en-US" sz="2000">
              <a:latin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Block (internal  traffic)</a:t>
            </a:r>
            <a:endParaRPr lang="en-US" sz="2000"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E3766-5601-CB5C-8436-0FCD790D58F1}"/>
              </a:ext>
            </a:extLst>
          </p:cNvPr>
          <p:cNvSpPr txBox="1"/>
          <p:nvPr/>
        </p:nvSpPr>
        <p:spPr>
          <a:xfrm>
            <a:off x="201561" y="152401"/>
            <a:ext cx="95457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02563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792" y="112850"/>
            <a:ext cx="2268526" cy="549547"/>
          </a:xfrm>
          <a:prstGeom prst="rect">
            <a:avLst/>
          </a:prstGeom>
        </p:spPr>
      </p:pic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3B00B90E-759F-230B-9BD6-12DCA209A039}"/>
              </a:ext>
            </a:extLst>
          </p:cNvPr>
          <p:cNvSpPr/>
          <p:nvPr/>
        </p:nvSpPr>
        <p:spPr>
          <a:xfrm>
            <a:off x="646012" y="1676257"/>
            <a:ext cx="10538326" cy="18261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latin typeface="Times New Roman"/>
                <a:cs typeface="Times New Roman"/>
              </a:rPr>
              <a:t>The experimental setup adopted for implementation, in which </a:t>
            </a:r>
            <a:r>
              <a:rPr lang="en-IN" sz="2200" b="0" strike="noStrike" spc="-1">
                <a:solidFill>
                  <a:srgbClr val="00B015"/>
                </a:solidFill>
                <a:latin typeface="Times New Roman"/>
                <a:cs typeface="Times New Roman"/>
              </a:rPr>
              <a:t>Contiki OS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, </a:t>
            </a:r>
            <a:r>
              <a:rPr lang="en-IN" sz="2200" b="0" strike="noStrike" spc="-1" err="1">
                <a:solidFill>
                  <a:srgbClr val="0000FF"/>
                </a:solidFill>
                <a:latin typeface="Times New Roman"/>
                <a:cs typeface="Times New Roman"/>
              </a:rPr>
              <a:t>Cooja</a:t>
            </a:r>
            <a:r>
              <a:rPr lang="en-IN" sz="2200" b="0" strike="noStrike" spc="-1">
                <a:solidFill>
                  <a:srgbClr val="0000FF"/>
                </a:solidFill>
                <a:latin typeface="Times New Roman"/>
                <a:cs typeface="Times New Roman"/>
              </a:rPr>
              <a:t> simulator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,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spc="-1">
                <a:latin typeface="Times New Roman"/>
                <a:cs typeface="Times New Roman"/>
              </a:rPr>
              <a:t>and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Wireshark </a:t>
            </a:r>
            <a:r>
              <a:rPr lang="en-IN" sz="2200" spc="-1">
                <a:latin typeface="Times New Roman"/>
                <a:cs typeface="Times New Roman"/>
              </a:rPr>
              <a:t>are</a:t>
            </a:r>
            <a:r>
              <a:rPr lang="en-IN" sz="2200" b="0" strike="noStrike" spc="-1">
                <a:latin typeface="Times New Roman"/>
                <a:cs typeface="Times New Roman"/>
              </a:rPr>
              <a:t> used.</a:t>
            </a: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latin typeface="Times New Roman"/>
                <a:cs typeface="Times New Roman"/>
              </a:rPr>
              <a:t>The experimental setup and design incorporate two circumstances:</a:t>
            </a:r>
            <a:r>
              <a:rPr lang="en-IN" sz="2200" spc="-1">
                <a:latin typeface="Times New Roman"/>
                <a:cs typeface="Times New Roman"/>
              </a:rPr>
              <a:t> </a:t>
            </a:r>
            <a:endParaRPr lang="en-IN" sz="22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95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    A) Non-attack circumstance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  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B) </a:t>
            </a:r>
            <a:r>
              <a:rPr lang="en-IN" sz="2200" b="0" strike="noStrike" spc="-1" err="1">
                <a:solidFill>
                  <a:srgbClr val="CE181E"/>
                </a:solidFill>
                <a:latin typeface="Times New Roman"/>
                <a:cs typeface="Times New Roman"/>
              </a:rPr>
              <a:t>LRDDoS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attack circumstance.</a:t>
            </a:r>
            <a:endParaRPr lang="en-IN" sz="2200" b="0" strike="noStrike" spc="-1">
              <a:latin typeface="Times New Roman"/>
              <a:cs typeface="Times New Roman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DCE8F1-A1C8-2037-C864-E1A5723C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D2D047-1E1C-55CA-02BB-E18263C4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00F61F68-3897-469C-7621-91A431BA2880}"/>
              </a:ext>
            </a:extLst>
          </p:cNvPr>
          <p:cNvSpPr/>
          <p:nvPr/>
        </p:nvSpPr>
        <p:spPr>
          <a:xfrm>
            <a:off x="324429" y="850799"/>
            <a:ext cx="2750597" cy="6488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Experimental Setup</a:t>
            </a:r>
            <a:endParaRPr lang="en-US" sz="2400" b="1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DF270-469D-934B-3C27-483391AA9EE9}"/>
              </a:ext>
            </a:extLst>
          </p:cNvPr>
          <p:cNvSpPr txBox="1"/>
          <p:nvPr/>
        </p:nvSpPr>
        <p:spPr>
          <a:xfrm>
            <a:off x="561048" y="3830332"/>
            <a:ext cx="394404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</a:rPr>
              <a:t>Evaluated using: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+mn-lt"/>
              </a:rPr>
              <a:t>Simulator : </a:t>
            </a:r>
            <a:r>
              <a:rPr lang="en-US" sz="2000" err="1">
                <a:latin typeface="Times New Roman"/>
                <a:ea typeface="+mn-lt"/>
                <a:cs typeface="+mn-lt"/>
              </a:rPr>
              <a:t>Cooja</a:t>
            </a:r>
            <a:r>
              <a:rPr lang="en-US" sz="2000">
                <a:latin typeface="Times New Roman"/>
                <a:ea typeface="+mn-lt"/>
                <a:cs typeface="+mn-lt"/>
              </a:rPr>
              <a:t> (Contiki-OS)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2B0B7-1E41-E9BA-87D1-0E988BE2BDA8}"/>
              </a:ext>
            </a:extLst>
          </p:cNvPr>
          <p:cNvSpPr txBox="1"/>
          <p:nvPr/>
        </p:nvSpPr>
        <p:spPr>
          <a:xfrm>
            <a:off x="582763" y="4833882"/>
            <a:ext cx="34990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+mn-lt"/>
                <a:cs typeface="+mn-lt"/>
              </a:rPr>
              <a:t>Performance metrics :</a:t>
            </a:r>
            <a:endParaRPr lang="en-US" sz="2400" b="1">
              <a:latin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8C132-7252-A739-483A-16AB00D19C6D}"/>
              </a:ext>
            </a:extLst>
          </p:cNvPr>
          <p:cNvSpPr txBox="1"/>
          <p:nvPr/>
        </p:nvSpPr>
        <p:spPr>
          <a:xfrm>
            <a:off x="6246319" y="3522555"/>
            <a:ext cx="573869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</a:rPr>
              <a:t>Dataset: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+mn-lt"/>
              </a:rPr>
              <a:t>In house generated dataset (using Contiki </a:t>
            </a:r>
            <a:r>
              <a:rPr lang="en-US" sz="2000" err="1">
                <a:latin typeface="Times New Roman"/>
                <a:ea typeface="+mn-lt"/>
                <a:cs typeface="+mn-lt"/>
              </a:rPr>
              <a:t>Cooja</a:t>
            </a:r>
            <a:r>
              <a:rPr lang="en-US" sz="2000">
                <a:latin typeface="Times New Roman"/>
                <a:ea typeface="+mn-lt"/>
                <a:cs typeface="+mn-lt"/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cs typeface="Calibri"/>
              </a:rPr>
              <a:t>CIADIA/MIT [11]</a:t>
            </a:r>
          </a:p>
        </p:txBody>
      </p:sp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4BA8B906-2F78-3090-F2BD-139E1F062AB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84795" y="5304871"/>
            <a:ext cx="4588469" cy="844424"/>
          </a:xfrm>
          <a:prstGeom prst="rect">
            <a:avLst/>
          </a:prstGeom>
          <a:ln>
            <a:noFill/>
          </a:ln>
        </p:spPr>
      </p:pic>
      <p:sp>
        <p:nvSpPr>
          <p:cNvPr id="17" name="CustomShape 3">
            <a:extLst>
              <a:ext uri="{FF2B5EF4-FFF2-40B4-BE49-F238E27FC236}">
                <a16:creationId xmlns:a16="http://schemas.microsoft.com/office/drawing/2014/main" id="{01DDAB09-71FE-A091-C9D6-1484C6F73449}"/>
              </a:ext>
            </a:extLst>
          </p:cNvPr>
          <p:cNvSpPr/>
          <p:nvPr/>
        </p:nvSpPr>
        <p:spPr>
          <a:xfrm>
            <a:off x="6808508" y="4761359"/>
            <a:ext cx="4886216" cy="1754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r>
              <a:rPr lang="en-IN" spc="-1">
                <a:latin typeface="Times New Roman"/>
                <a:cs typeface="Times New Roman"/>
              </a:rPr>
              <a:t>Where</a:t>
            </a:r>
            <a:r>
              <a:rPr lang="en-IN" b="0" strike="noStrike" spc="-1">
                <a:latin typeface="Times New Roman"/>
                <a:cs typeface="Times New Roman"/>
              </a:rPr>
              <a:t>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strike="noStrike" spc="-1">
                <a:latin typeface="Times New Roman"/>
                <a:cs typeface="Times New Roman"/>
              </a:rPr>
              <a:t>FP = Legitimate activity wrongly classified,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strike="noStrike" spc="-1">
                <a:latin typeface="Times New Roman"/>
                <a:cs typeface="Times New Roman"/>
              </a:rPr>
              <a:t>TN = Legitimate activity recognized accurately,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strike="noStrike" spc="-1">
                <a:latin typeface="Times New Roman"/>
                <a:cs typeface="Times New Roman"/>
              </a:rPr>
              <a:t>FN = Spiteful activity wrongly classified,</a:t>
            </a:r>
            <a:r>
              <a:rPr lang="en-IN" spc="-1">
                <a:latin typeface="Times New Roman"/>
                <a:cs typeface="Times New Roman"/>
              </a:rPr>
              <a:t> </a:t>
            </a:r>
            <a:endParaRPr lang="en-IN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b="0" strike="noStrike" spc="-1">
                <a:latin typeface="Times New Roman"/>
                <a:cs typeface="Times New Roman"/>
              </a:rPr>
              <a:t>TP = Spiteful activity recognized accurately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4657E-141C-25A5-412B-934450F4EB04}"/>
              </a:ext>
            </a:extLst>
          </p:cNvPr>
          <p:cNvSpPr txBox="1"/>
          <p:nvPr/>
        </p:nvSpPr>
        <p:spPr>
          <a:xfrm>
            <a:off x="201561" y="152401"/>
            <a:ext cx="95941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476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3106" y="173910"/>
            <a:ext cx="2268526" cy="549547"/>
          </a:xfrm>
          <a:prstGeom prst="rect">
            <a:avLst/>
          </a:prstGeom>
        </p:spPr>
      </p:pic>
      <p:sp>
        <p:nvSpPr>
          <p:cNvPr id="10" name="Line 3">
            <a:extLst>
              <a:ext uri="{FF2B5EF4-FFF2-40B4-BE49-F238E27FC236}">
                <a16:creationId xmlns:a16="http://schemas.microsoft.com/office/drawing/2014/main" id="{34A6BA5F-BA03-A0BF-24BF-9BC543BC1421}"/>
              </a:ext>
            </a:extLst>
          </p:cNvPr>
          <p:cNvSpPr/>
          <p:nvPr/>
        </p:nvSpPr>
        <p:spPr>
          <a:xfrm>
            <a:off x="161238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41C18613-954F-E2C5-FD28-533626380A16}"/>
              </a:ext>
            </a:extLst>
          </p:cNvPr>
          <p:cNvSpPr/>
          <p:nvPr/>
        </p:nvSpPr>
        <p:spPr>
          <a:xfrm>
            <a:off x="403441" y="1804406"/>
            <a:ext cx="10972080" cy="5237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431800" indent="-323215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latin typeface="Times New Roman"/>
                <a:cs typeface="Times New Roman"/>
              </a:rPr>
              <a:t>The Comparative Study of </a:t>
            </a:r>
            <a:r>
              <a:rPr lang="en-IN" sz="2200" spc="-1">
                <a:latin typeface="Times New Roman"/>
                <a:cs typeface="Times New Roman"/>
              </a:rPr>
              <a:t>the</a:t>
            </a:r>
            <a:r>
              <a:rPr lang="en-IN" sz="2200" b="0" strike="noStrike" spc="-1">
                <a:latin typeface="Times New Roman"/>
                <a:cs typeface="Times New Roman"/>
              </a:rPr>
              <a:t> Intended Security Solution with </a:t>
            </a:r>
            <a:r>
              <a:rPr lang="en-IN" sz="2200" spc="-1">
                <a:latin typeface="Times New Roman"/>
                <a:cs typeface="Times New Roman"/>
              </a:rPr>
              <a:t>the</a:t>
            </a:r>
            <a:r>
              <a:rPr lang="en-IN" sz="2200" b="0" strike="noStrike" spc="-1">
                <a:latin typeface="Times New Roman"/>
                <a:cs typeface="Times New Roman"/>
              </a:rPr>
              <a:t> </a:t>
            </a:r>
            <a:r>
              <a:rPr lang="en-IN" sz="2200" spc="-1">
                <a:latin typeface="Times New Roman"/>
                <a:cs typeface="Times New Roman"/>
              </a:rPr>
              <a:t>existing</a:t>
            </a:r>
            <a:r>
              <a:rPr lang="en-IN" sz="2200" b="0" strike="noStrike" spc="-1">
                <a:latin typeface="Times New Roman"/>
                <a:cs typeface="Times New Roman"/>
              </a:rPr>
              <a:t> </a:t>
            </a:r>
            <a:r>
              <a:rPr lang="en-IN" sz="2200" spc="-1">
                <a:latin typeface="Times New Roman"/>
                <a:cs typeface="Times New Roman"/>
              </a:rPr>
              <a:t>security</a:t>
            </a:r>
            <a:r>
              <a:rPr lang="en-IN" sz="2200" b="0" strike="noStrike" spc="-1">
                <a:latin typeface="Times New Roman"/>
                <a:cs typeface="Times New Roman"/>
              </a:rPr>
              <a:t> </a:t>
            </a:r>
            <a:r>
              <a:rPr lang="en-IN" sz="2200" spc="-1">
                <a:latin typeface="Times New Roman"/>
                <a:cs typeface="Times New Roman"/>
              </a:rPr>
              <a:t>methods</a:t>
            </a:r>
            <a:endParaRPr lang="en-US" sz="2200">
              <a:latin typeface="Times New Roman"/>
              <a:cs typeface="Times New Roman"/>
            </a:endParaRPr>
          </a:p>
        </p:txBody>
      </p:sp>
      <p:pic>
        <p:nvPicPr>
          <p:cNvPr id="15" name="Picture 14" descr="A picture containing text, crossword puzzle, receipt&#10;&#10;Description automatically generated">
            <a:extLst>
              <a:ext uri="{FF2B5EF4-FFF2-40B4-BE49-F238E27FC236}">
                <a16:creationId xmlns:a16="http://schemas.microsoft.com/office/drawing/2014/main" id="{DF75AAF4-5580-DC44-867E-9DCFB33D87F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75284" y="2627817"/>
            <a:ext cx="10269000" cy="2108520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4DBF14-C6EE-57ED-15F0-4EC6C61E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F63F70-8B67-A19D-7F81-62546598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CDD92416-292B-9C9E-09B1-F7F960CBEAF2}"/>
              </a:ext>
            </a:extLst>
          </p:cNvPr>
          <p:cNvSpPr/>
          <p:nvPr/>
        </p:nvSpPr>
        <p:spPr>
          <a:xfrm>
            <a:off x="250687" y="1059734"/>
            <a:ext cx="3561758" cy="6488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Results and Discussion: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9B1F4-C803-F318-8039-D1303F5F737B}"/>
              </a:ext>
            </a:extLst>
          </p:cNvPr>
          <p:cNvSpPr txBox="1"/>
          <p:nvPr/>
        </p:nvSpPr>
        <p:spPr>
          <a:xfrm>
            <a:off x="201561" y="176591"/>
            <a:ext cx="98602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403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3868" y="210196"/>
            <a:ext cx="2268526" cy="549547"/>
          </a:xfrm>
          <a:prstGeom prst="rect">
            <a:avLst/>
          </a:prstGeom>
        </p:spPr>
      </p:pic>
      <p:sp>
        <p:nvSpPr>
          <p:cNvPr id="10" name="Line 3">
            <a:extLst>
              <a:ext uri="{FF2B5EF4-FFF2-40B4-BE49-F238E27FC236}">
                <a16:creationId xmlns:a16="http://schemas.microsoft.com/office/drawing/2014/main" id="{34A6BA5F-BA03-A0BF-24BF-9BC543BC1421}"/>
              </a:ext>
            </a:extLst>
          </p:cNvPr>
          <p:cNvSpPr/>
          <p:nvPr/>
        </p:nvSpPr>
        <p:spPr>
          <a:xfrm>
            <a:off x="161238" y="894259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1FA37BA9-C354-706E-9C81-DBE69C6C58E6}"/>
              </a:ext>
            </a:extLst>
          </p:cNvPr>
          <p:cNvSpPr/>
          <p:nvPr/>
        </p:nvSpPr>
        <p:spPr>
          <a:xfrm>
            <a:off x="849153" y="1711798"/>
            <a:ext cx="10673996" cy="267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215900" indent="-215265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latin typeface="Times New Roman"/>
                <a:cs typeface="Times New Roman"/>
              </a:rPr>
              <a:t>The overall 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FNR and FPR </a:t>
            </a:r>
            <a:r>
              <a:rPr lang="en-IN" sz="2200" b="0" strike="noStrike" spc="-1">
                <a:latin typeface="Times New Roman"/>
                <a:cs typeface="Times New Roman"/>
              </a:rPr>
              <a:t>obtained by the proposed defence method are 5.15%, and 5.41% respectively.</a:t>
            </a:r>
            <a:r>
              <a:rPr lang="en-IN" sz="2200" spc="-1">
                <a:latin typeface="Times New Roman"/>
                <a:cs typeface="Times New Roman"/>
              </a:rPr>
              <a:t> </a:t>
            </a:r>
            <a:endParaRPr lang="en-US" sz="2200">
              <a:latin typeface="Times New Roman"/>
              <a:cs typeface="Times New Roman"/>
            </a:endParaRPr>
          </a:p>
          <a:p>
            <a:pPr marL="635">
              <a:lnSpc>
                <a:spcPct val="100000"/>
              </a:lnSpc>
              <a:buClr>
                <a:srgbClr val="000000"/>
              </a:buClr>
              <a:buSzPct val="45000"/>
            </a:pPr>
            <a:endParaRPr lang="en-IN" sz="22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indent="-215265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latin typeface="Times New Roman"/>
                <a:cs typeface="Times New Roman"/>
              </a:rPr>
              <a:t>It also identifies the </a:t>
            </a:r>
            <a:r>
              <a:rPr lang="en-IN" sz="2200" b="0" strike="noStrike" spc="-1" err="1">
                <a:latin typeface="Times New Roman"/>
                <a:cs typeface="Times New Roman"/>
              </a:rPr>
              <a:t>LRDDoS</a:t>
            </a:r>
            <a:r>
              <a:rPr lang="en-IN" sz="2200" b="0" strike="noStrike" spc="-1">
                <a:latin typeface="Times New Roman"/>
                <a:cs typeface="Times New Roman"/>
              </a:rPr>
              <a:t> attack traffic in</a:t>
            </a:r>
            <a:r>
              <a:rPr lang="en-IN" sz="2200" b="0" strike="noStrike" spc="-1">
                <a:solidFill>
                  <a:srgbClr val="CE181E"/>
                </a:solidFill>
                <a:latin typeface="Times New Roman"/>
                <a:cs typeface="Times New Roman"/>
              </a:rPr>
              <a:t> (1-3.47) seconds.</a:t>
            </a:r>
            <a:r>
              <a:rPr lang="en-IN" sz="2200" spc="-1">
                <a:solidFill>
                  <a:srgbClr val="CE181E"/>
                </a:solidFill>
                <a:latin typeface="Times New Roman"/>
                <a:cs typeface="Times New Roman"/>
              </a:rPr>
              <a:t> </a:t>
            </a:r>
            <a:endParaRPr lang="en-IN" sz="2200" spc="-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635">
              <a:lnSpc>
                <a:spcPct val="100000"/>
              </a:lnSpc>
              <a:buClr>
                <a:srgbClr val="000000"/>
              </a:buClr>
              <a:buSzPct val="45000"/>
            </a:pPr>
            <a:endParaRPr lang="en-IN" sz="2200" b="0" strike="noStrike" spc="-1">
              <a:solidFill>
                <a:srgbClr val="CE18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indent="-215265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00" b="0" strike="noStrike" spc="-1">
                <a:latin typeface="Times New Roman"/>
                <a:cs typeface="Times New Roman"/>
              </a:rPr>
              <a:t>It is concluded that the intended method </a:t>
            </a:r>
            <a:r>
              <a:rPr lang="en-IN" sz="2200" b="0" strike="noStrike" spc="-1">
                <a:solidFill>
                  <a:srgbClr val="FF0000"/>
                </a:solidFill>
                <a:latin typeface="Times New Roman"/>
                <a:cs typeface="Times New Roman"/>
              </a:rPr>
              <a:t>identifies internal and external </a:t>
            </a:r>
            <a:r>
              <a:rPr lang="en-IN" sz="2200" b="0" strike="noStrike" spc="-1" err="1">
                <a:solidFill>
                  <a:srgbClr val="FF0000"/>
                </a:solidFill>
                <a:latin typeface="Times New Roman"/>
                <a:cs typeface="Times New Roman"/>
              </a:rPr>
              <a:t>LRDDoS</a:t>
            </a:r>
            <a:r>
              <a:rPr lang="en-IN" sz="2200" b="0" strike="noStrike" spc="-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2200" b="0" strike="noStrike" spc="-1">
                <a:latin typeface="Times New Roman"/>
                <a:cs typeface="Times New Roman"/>
              </a:rPr>
              <a:t>attack by improved FNR, FPR, </a:t>
            </a:r>
            <a:r>
              <a:rPr lang="en-IN" sz="2200" spc="-1">
                <a:latin typeface="Times New Roman"/>
                <a:cs typeface="Times New Roman"/>
              </a:rPr>
              <a:t>AD</a:t>
            </a:r>
            <a:r>
              <a:rPr lang="en-IN" sz="2200" b="0" strike="noStrike" spc="-1">
                <a:latin typeface="Times New Roman"/>
                <a:cs typeface="Times New Roman"/>
              </a:rPr>
              <a:t>, and enhanced RT.</a:t>
            </a:r>
          </a:p>
          <a:p>
            <a:pPr>
              <a:lnSpc>
                <a:spcPct val="100000"/>
              </a:lnSpc>
            </a:pPr>
            <a:endParaRPr lang="en-IN" sz="2600" b="0" strike="noStrike" spc="-1">
              <a:latin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D4D2E0-B337-8D9C-D2A3-E2DB8CF2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A24C4-8B72-6984-9621-C85B5F1A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5D463F54-CA3D-DE51-9E8B-7BCA124D146A}"/>
              </a:ext>
            </a:extLst>
          </p:cNvPr>
          <p:cNvSpPr/>
          <p:nvPr/>
        </p:nvSpPr>
        <p:spPr>
          <a:xfrm>
            <a:off x="446693" y="1064910"/>
            <a:ext cx="1673455" cy="5361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Summary: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49D365-146E-2B0C-0BC7-9ED8BA646573}"/>
              </a:ext>
            </a:extLst>
          </p:cNvPr>
          <p:cNvSpPr txBox="1"/>
          <p:nvPr/>
        </p:nvSpPr>
        <p:spPr>
          <a:xfrm>
            <a:off x="201561" y="176591"/>
            <a:ext cx="95699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rgbClr val="C00000"/>
                </a:solidFill>
                <a:latin typeface="Times New Roman"/>
              </a:rPr>
              <a:t>LRDDoS</a:t>
            </a:r>
            <a:r>
              <a:rPr lang="en-US" sz="2800" b="1">
                <a:solidFill>
                  <a:srgbClr val="C00000"/>
                </a:solidFill>
                <a:latin typeface="Times New Roman"/>
              </a:rPr>
              <a:t> attacks detection and mitigation in IoT ecosystem​</a:t>
            </a:r>
            <a:endParaRPr lang="en-US" sz="2800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398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IIITDM  Kancheepuram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90208" y="2631492"/>
            <a:ext cx="721582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</a:t>
            </a:r>
            <a:r>
              <a:rPr lang="en-US" sz="4400" spc="-2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</a:t>
            </a:r>
            <a:r>
              <a:rPr lang="en-US" sz="4400" spc="-25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</a:t>
            </a:r>
            <a:r>
              <a:rPr lang="en-US" sz="4400" spc="-15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spc="-1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7208002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196" y="321665"/>
            <a:ext cx="2268526" cy="549547"/>
          </a:xfrm>
          <a:prstGeom prst="rect">
            <a:avLst/>
          </a:prstGeom>
        </p:spPr>
      </p:pic>
      <p:sp>
        <p:nvSpPr>
          <p:cNvPr id="3" name="CustomShape 1">
            <a:extLst>
              <a:ext uri="{FF2B5EF4-FFF2-40B4-BE49-F238E27FC236}">
                <a16:creationId xmlns:a16="http://schemas.microsoft.com/office/drawing/2014/main" id="{B3171D7D-BA47-CA49-72CF-1B2FA83101F3}"/>
              </a:ext>
            </a:extLst>
          </p:cNvPr>
          <p:cNvSpPr/>
          <p:nvPr/>
        </p:nvSpPr>
        <p:spPr>
          <a:xfrm>
            <a:off x="4474178" y="1662167"/>
            <a:ext cx="3469465" cy="673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3200" spc="-1">
                <a:solidFill>
                  <a:srgbClr val="FF0000"/>
                </a:solidFill>
                <a:latin typeface="Times New Roman"/>
                <a:cs typeface="Times New Roman"/>
              </a:rPr>
              <a:t>Third Contribution</a:t>
            </a:r>
            <a:endParaRPr lang="en-IN" sz="3200" b="0" strike="noStrike" spc="-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464886" y="2518962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D0F5D-F604-7D49-C8B5-163138865C7A}"/>
              </a:ext>
            </a:extLst>
          </p:cNvPr>
          <p:cNvSpPr txBox="1"/>
          <p:nvPr/>
        </p:nvSpPr>
        <p:spPr>
          <a:xfrm>
            <a:off x="3019474" y="2957319"/>
            <a:ext cx="80232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00FF"/>
                </a:solidFill>
                <a:latin typeface="Times New Roman"/>
                <a:ea typeface="+mn-lt"/>
                <a:cs typeface="Times New Roman"/>
              </a:rPr>
              <a:t>Mixed Rate </a:t>
            </a:r>
            <a:r>
              <a:rPr lang="en-US" sz="2400" err="1">
                <a:solidFill>
                  <a:srgbClr val="0000FF"/>
                </a:solidFill>
                <a:latin typeface="Times New Roman"/>
                <a:ea typeface="+mn-lt"/>
                <a:cs typeface="Times New Roman"/>
              </a:rPr>
              <a:t>DDoS</a:t>
            </a:r>
            <a:r>
              <a:rPr lang="en-US" sz="2400">
                <a:solidFill>
                  <a:srgbClr val="0000FF"/>
                </a:solidFill>
                <a:latin typeface="Times New Roman"/>
                <a:ea typeface="+mn-lt"/>
                <a:cs typeface="Times New Roman"/>
              </a:rPr>
              <a:t> attack detection in IoT network.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CD57C-6629-4FBB-EC5B-F2F320D06664}"/>
              </a:ext>
            </a:extLst>
          </p:cNvPr>
          <p:cNvSpPr txBox="1"/>
          <p:nvPr/>
        </p:nvSpPr>
        <p:spPr>
          <a:xfrm>
            <a:off x="868395" y="3706488"/>
            <a:ext cx="1097832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>
                <a:solidFill>
                  <a:srgbClr val="00B015"/>
                </a:solidFill>
                <a:latin typeface="Times New Roman"/>
                <a:ea typeface="+mn-lt"/>
                <a:cs typeface="Times New Roman"/>
              </a:rPr>
              <a:t>OPTIMIST: Lightweight and Transparent IDS with Optimum Placement Strategy to Mitigate Mixed-rate </a:t>
            </a:r>
            <a:r>
              <a:rPr lang="en-US" sz="2000" err="1">
                <a:solidFill>
                  <a:srgbClr val="00B015"/>
                </a:solidFill>
                <a:latin typeface="Times New Roman"/>
                <a:ea typeface="+mn-lt"/>
                <a:cs typeface="Times New Roman"/>
              </a:rPr>
              <a:t>DDoS</a:t>
            </a:r>
            <a:r>
              <a:rPr lang="en-US" sz="2000">
                <a:solidFill>
                  <a:srgbClr val="00B015"/>
                </a:solidFill>
                <a:latin typeface="Times New Roman"/>
                <a:ea typeface="+mn-lt"/>
                <a:cs typeface="Times New Roman"/>
              </a:rPr>
              <a:t> Attacks in IoT Networks</a:t>
            </a:r>
            <a:endParaRPr lang="en-US" sz="2000">
              <a:solidFill>
                <a:srgbClr val="00B015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457200" indent="-457200">
              <a:buAutoNum type="arabicPeriod"/>
            </a:pP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+mn-lt"/>
                <a:cs typeface="Times New Roman"/>
              </a:rPr>
              <a:t>EDAS-6N: An Energy-Aware Edge Assisted Mixed Rate 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DDoS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Attack Detection and Mitigation in 6TiSCH Network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342900" indent="-342900">
              <a:buAutoNum type="arabicPeriod"/>
            </a:pPr>
            <a:endParaRPr lang="en-US" sz="2000">
              <a:latin typeface="Times New Roman"/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84000-FE7E-F7F2-13D8-45DFE60B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70FFD-D182-4CFB-6038-F5EBB1C4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95" y="2539035"/>
            <a:ext cx="1046565" cy="10465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960" y="2779247"/>
            <a:ext cx="806353" cy="8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9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>
            <a:extLst>
              <a:ext uri="{FF2B5EF4-FFF2-40B4-BE49-F238E27FC236}">
                <a16:creationId xmlns:a16="http://schemas.microsoft.com/office/drawing/2014/main" id="{B3171D7D-BA47-CA49-72CF-1B2FA83101F3}"/>
              </a:ext>
            </a:extLst>
          </p:cNvPr>
          <p:cNvSpPr/>
          <p:nvPr/>
        </p:nvSpPr>
        <p:spPr>
          <a:xfrm>
            <a:off x="370319" y="240549"/>
            <a:ext cx="8498665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Networks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6D134C2F-401B-CEAF-011A-58C7A43719D5}"/>
              </a:ext>
            </a:extLst>
          </p:cNvPr>
          <p:cNvSpPr/>
          <p:nvPr/>
        </p:nvSpPr>
        <p:spPr>
          <a:xfrm>
            <a:off x="371101" y="8542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CEC33-CCC7-937B-AE1F-EC8CD583CB14}"/>
              </a:ext>
            </a:extLst>
          </p:cNvPr>
          <p:cNvSpPr txBox="1"/>
          <p:nvPr/>
        </p:nvSpPr>
        <p:spPr>
          <a:xfrm>
            <a:off x="328246" y="1245554"/>
            <a:ext cx="538812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FF"/>
                </a:solidFill>
                <a:latin typeface="Times New Roman"/>
                <a:cs typeface="Arial"/>
              </a:rPr>
              <a:t>Attack: Mixed-rate DDoS Attack: </a:t>
            </a:r>
            <a:r>
              <a:rPr lang="en-US" sz="2400">
                <a:solidFill>
                  <a:srgbClr val="0000FF"/>
                </a:solidFill>
                <a:latin typeface="Times New Roman"/>
                <a:cs typeface="Arial"/>
              </a:rPr>
              <a:t>​</a:t>
            </a:r>
            <a:endParaRPr lang="en-US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76B65-116A-6762-7AE9-E3A8DF21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A63BE-EA9D-D493-85B1-1751E9B9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8" name="Picture 10" descr="A diagram of a graph&#10;&#10;Description automatically generated">
            <a:extLst>
              <a:ext uri="{FF2B5EF4-FFF2-40B4-BE49-F238E27FC236}">
                <a16:creationId xmlns:a16="http://schemas.microsoft.com/office/drawing/2014/main" id="{274445F3-CC85-B783-00D4-2E350D705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31" y="3119368"/>
            <a:ext cx="5101086" cy="26036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1CC5A3-2013-7607-804D-942DC742F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8196" y="321665"/>
            <a:ext cx="2268526" cy="549547"/>
          </a:xfrm>
          <a:prstGeom prst="rect">
            <a:avLst/>
          </a:prstGeom>
        </p:spPr>
      </p:pic>
      <p:pic>
        <p:nvPicPr>
          <p:cNvPr id="12" name="Picture 7" descr="A diagram of a flood and traffic diagram&#10;&#10;Description automatically generated">
            <a:extLst>
              <a:ext uri="{FF2B5EF4-FFF2-40B4-BE49-F238E27FC236}">
                <a16:creationId xmlns:a16="http://schemas.microsoft.com/office/drawing/2014/main" id="{E7D469A1-837B-E9F9-F11D-9B05A60AC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502" y="2932712"/>
            <a:ext cx="3329796" cy="2974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A6B732-B088-A93C-DBB1-A9846711A61B}"/>
              </a:ext>
            </a:extLst>
          </p:cNvPr>
          <p:cNvSpPr txBox="1"/>
          <p:nvPr/>
        </p:nvSpPr>
        <p:spPr>
          <a:xfrm>
            <a:off x="373627" y="2094271"/>
            <a:ext cx="1050564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It is type of attacks which includes both the </a:t>
            </a:r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HrDDoS</a:t>
            </a:r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and </a:t>
            </a:r>
            <a:r>
              <a:rPr lang="en-US" sz="2200" dirty="0" err="1">
                <a:solidFill>
                  <a:srgbClr val="00B015"/>
                </a:solidFill>
                <a:latin typeface="Times New Roman"/>
                <a:cs typeface="Times New Roman"/>
              </a:rPr>
              <a:t>LrDDoS</a:t>
            </a:r>
            <a:r>
              <a:rPr lang="en-US" sz="2200" dirty="0">
                <a:solidFill>
                  <a:srgbClr val="00B015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type of attacks.</a:t>
            </a:r>
            <a:endParaRPr lang="en-US" sz="2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512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12" name="Line 3">
            <a:extLst>
              <a:ext uri="{FF2B5EF4-FFF2-40B4-BE49-F238E27FC236}">
                <a16:creationId xmlns:a16="http://schemas.microsoft.com/office/drawing/2014/main" id="{0DD49778-4833-8E33-1AE4-AD67F8415D25}"/>
              </a:ext>
            </a:extLst>
          </p:cNvPr>
          <p:cNvSpPr/>
          <p:nvPr/>
        </p:nvSpPr>
        <p:spPr>
          <a:xfrm>
            <a:off x="509124" y="1035440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BC0073BA-7119-901A-FE7F-4BB7B683658E}"/>
              </a:ext>
            </a:extLst>
          </p:cNvPr>
          <p:cNvSpPr/>
          <p:nvPr/>
        </p:nvSpPr>
        <p:spPr>
          <a:xfrm>
            <a:off x="394907" y="1166830"/>
            <a:ext cx="3220437" cy="673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Contribution Overview:</a:t>
            </a:r>
            <a:endParaRPr lang="en-IN" sz="2400" b="1" strike="noStrike" spc="-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CF86E-0E4E-758B-D927-4805B75B04CF}"/>
              </a:ext>
            </a:extLst>
          </p:cNvPr>
          <p:cNvSpPr txBox="1"/>
          <p:nvPr/>
        </p:nvSpPr>
        <p:spPr>
          <a:xfrm>
            <a:off x="703772" y="2045488"/>
            <a:ext cx="1043378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This work provides a solution for </a:t>
            </a:r>
            <a:r>
              <a:rPr lang="en-US" sz="2200" err="1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MrDDoS</a:t>
            </a:r>
            <a:r>
              <a:rPr lang="en-US" sz="2200">
                <a:latin typeface="Times New Roman"/>
                <a:ea typeface="+mn-lt"/>
                <a:cs typeface="Times New Roman"/>
              </a:rPr>
              <a:t> attack detection</a:t>
            </a:r>
            <a:endParaRPr lang="en-US" sz="2200">
              <a:latin typeface="Times New Roman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en-US" sz="22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+mn-lt"/>
              </a:rPr>
              <a:t>A </a:t>
            </a:r>
            <a:r>
              <a:rPr lang="en-US" sz="2200">
                <a:solidFill>
                  <a:srgbClr val="0000FF"/>
                </a:solidFill>
                <a:latin typeface="Times New Roman"/>
                <a:ea typeface="+mn-lt"/>
                <a:cs typeface="+mn-lt"/>
              </a:rPr>
              <a:t>novel training method </a:t>
            </a:r>
            <a:r>
              <a:rPr lang="en-US" sz="2200">
                <a:latin typeface="Times New Roman"/>
                <a:ea typeface="+mn-lt"/>
                <a:cs typeface="+mn-lt"/>
              </a:rPr>
              <a:t>is proposed to build the </a:t>
            </a:r>
            <a:r>
              <a:rPr lang="en-US" sz="2200">
                <a:solidFill>
                  <a:srgbClr val="00B015"/>
                </a:solidFill>
                <a:latin typeface="Times New Roman"/>
                <a:ea typeface="+mn-lt"/>
                <a:cs typeface="+mn-lt"/>
              </a:rPr>
              <a:t>IDS solution.</a:t>
            </a:r>
            <a:endParaRPr lang="en-US" sz="2200">
              <a:solidFill>
                <a:srgbClr val="FF0000"/>
              </a:solidFill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+mn-lt"/>
              </a:rPr>
              <a:t> </a:t>
            </a:r>
            <a:r>
              <a:rPr lang="en-US" sz="2200">
                <a:solidFill>
                  <a:srgbClr val="C00000"/>
                </a:solidFill>
                <a:latin typeface="Times New Roman"/>
                <a:ea typeface="+mn-lt"/>
                <a:cs typeface="+mn-lt"/>
              </a:rPr>
              <a:t>WGAN </a:t>
            </a:r>
            <a:r>
              <a:rPr lang="en-US" sz="2200">
                <a:latin typeface="Times New Roman"/>
                <a:ea typeface="+mn-lt"/>
                <a:cs typeface="+mn-lt"/>
              </a:rPr>
              <a:t>is used to </a:t>
            </a:r>
            <a:r>
              <a:rPr lang="en-US" sz="2200">
                <a:solidFill>
                  <a:srgbClr val="C00000"/>
                </a:solidFill>
                <a:latin typeface="Times New Roman"/>
                <a:ea typeface="+mn-lt"/>
                <a:cs typeface="+mn-lt"/>
              </a:rPr>
              <a:t>generate</a:t>
            </a:r>
            <a:r>
              <a:rPr lang="en-US" sz="2200">
                <a:latin typeface="Times New Roman"/>
                <a:ea typeface="+mn-lt"/>
                <a:cs typeface="+mn-lt"/>
              </a:rPr>
              <a:t> </a:t>
            </a:r>
            <a:r>
              <a:rPr lang="en-US" sz="2200">
                <a:solidFill>
                  <a:srgbClr val="C00000"/>
                </a:solidFill>
                <a:latin typeface="Times New Roman"/>
                <a:ea typeface="+mn-lt"/>
                <a:cs typeface="+mn-lt"/>
              </a:rPr>
              <a:t>artificial flows </a:t>
            </a:r>
            <a:r>
              <a:rPr lang="en-US" sz="2200">
                <a:latin typeface="Times New Roman"/>
                <a:ea typeface="+mn-lt"/>
                <a:cs typeface="+mn-lt"/>
              </a:rPr>
              <a:t>from </a:t>
            </a:r>
            <a:r>
              <a:rPr lang="en-US" sz="2200">
                <a:solidFill>
                  <a:srgbClr val="0000FF"/>
                </a:solidFill>
                <a:latin typeface="Times New Roman"/>
                <a:ea typeface="+mn-lt"/>
                <a:cs typeface="+mn-lt"/>
              </a:rPr>
              <a:t>public data sets</a:t>
            </a:r>
            <a:r>
              <a:rPr lang="en-US" sz="2200">
                <a:latin typeface="Times New Roman"/>
                <a:ea typeface="+mn-lt"/>
                <a:cs typeface="+mn-lt"/>
              </a:rPr>
              <a:t> as well as </a:t>
            </a:r>
            <a:r>
              <a:rPr lang="en-US" sz="2200">
                <a:solidFill>
                  <a:srgbClr val="FF0000"/>
                </a:solidFill>
                <a:latin typeface="Times New Roman"/>
                <a:ea typeface="+mn-lt"/>
                <a:cs typeface="+mn-lt"/>
              </a:rPr>
              <a:t>in-house generated data set </a:t>
            </a:r>
            <a:endParaRPr lang="en-US" sz="2200">
              <a:solidFill>
                <a:srgbClr val="FF0000"/>
              </a:solidFill>
              <a:latin typeface="Times New Roman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en-US" sz="2200">
              <a:latin typeface="Times New Roman"/>
              <a:ea typeface="+mn-lt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+mn-lt"/>
              </a:rPr>
              <a:t>A </a:t>
            </a:r>
            <a:r>
              <a:rPr lang="en-US" sz="2200">
                <a:solidFill>
                  <a:srgbClr val="00B015"/>
                </a:solidFill>
                <a:latin typeface="Times New Roman"/>
                <a:ea typeface="+mn-lt"/>
                <a:cs typeface="+mn-lt"/>
              </a:rPr>
              <a:t>novel hybrid IDS placement</a:t>
            </a:r>
            <a:r>
              <a:rPr lang="en-US" sz="2200">
                <a:latin typeface="Times New Roman"/>
                <a:ea typeface="+mn-lt"/>
                <a:cs typeface="+mn-lt"/>
              </a:rPr>
              <a:t> algorithm is proposed, which </a:t>
            </a:r>
            <a:r>
              <a:rPr lang="en-US" sz="2200">
                <a:solidFill>
                  <a:srgbClr val="0000FF"/>
                </a:solidFill>
                <a:latin typeface="Times New Roman"/>
                <a:ea typeface="+mn-lt"/>
                <a:cs typeface="+mn-lt"/>
              </a:rPr>
              <a:t>runs transparently</a:t>
            </a:r>
            <a:r>
              <a:rPr lang="en-US" sz="2200">
                <a:latin typeface="Times New Roman"/>
                <a:ea typeface="+mn-lt"/>
                <a:cs typeface="+mn-lt"/>
              </a:rPr>
              <a:t> without incurring any network overhead. </a:t>
            </a:r>
            <a:endParaRPr lang="en-US" sz="2200">
              <a:latin typeface="Times New Roman"/>
              <a:cs typeface="Calibri" panose="020F0502020204030204"/>
            </a:endParaRPr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370319" y="240549"/>
            <a:ext cx="8498665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Networks</a:t>
            </a:r>
          </a:p>
        </p:txBody>
      </p:sp>
    </p:spTree>
    <p:extLst>
      <p:ext uri="{BB962C8B-B14F-4D97-AF65-F5344CB8AC3E}">
        <p14:creationId xmlns:p14="http://schemas.microsoft.com/office/powerpoint/2010/main" val="356874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12" name="Line 3">
            <a:extLst>
              <a:ext uri="{FF2B5EF4-FFF2-40B4-BE49-F238E27FC236}">
                <a16:creationId xmlns:a16="http://schemas.microsoft.com/office/drawing/2014/main" id="{0DD49778-4833-8E33-1AE4-AD67F8415D25}"/>
              </a:ext>
            </a:extLst>
          </p:cNvPr>
          <p:cNvSpPr/>
          <p:nvPr/>
        </p:nvSpPr>
        <p:spPr>
          <a:xfrm>
            <a:off x="509124" y="1035440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BC0073BA-7119-901A-FE7F-4BB7B683658E}"/>
              </a:ext>
            </a:extLst>
          </p:cNvPr>
          <p:cNvSpPr/>
          <p:nvPr/>
        </p:nvSpPr>
        <p:spPr>
          <a:xfrm>
            <a:off x="321166" y="1252862"/>
            <a:ext cx="3601437" cy="5136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0000FF"/>
                </a:solidFill>
                <a:latin typeface="Times New Roman"/>
                <a:cs typeface="Times New Roman"/>
              </a:rPr>
              <a:t>Contribution Methodology:</a:t>
            </a:r>
            <a:endParaRPr lang="en-IN" sz="2400" b="1" strike="noStrike" spc="-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370319" y="240549"/>
            <a:ext cx="8498665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Networks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21D8D3-35B2-6A15-BB23-2138D8F0C896}"/>
              </a:ext>
            </a:extLst>
          </p:cNvPr>
          <p:cNvSpPr/>
          <p:nvPr/>
        </p:nvSpPr>
        <p:spPr>
          <a:xfrm>
            <a:off x="377399" y="2483701"/>
            <a:ext cx="5125862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200" b="1">
                <a:solidFill>
                  <a:srgbClr val="C00000"/>
                </a:solidFill>
                <a:latin typeface="Times New Roman"/>
              </a:rPr>
              <a:t>IDS placement problem formulation</a:t>
            </a:r>
            <a:endParaRPr lang="en-US" sz="2200">
              <a:solidFill>
                <a:srgbClr val="C00000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144C01-E650-63B0-1760-06A2971E4B05}"/>
              </a:ext>
            </a:extLst>
          </p:cNvPr>
          <p:cNvSpPr txBox="1"/>
          <p:nvPr/>
        </p:nvSpPr>
        <p:spPr>
          <a:xfrm>
            <a:off x="263014" y="1823885"/>
            <a:ext cx="555768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Times New Roman"/>
                <a:cs typeface="Times New Roman"/>
              </a:rPr>
              <a:t>Proposed approach divided into two parts. 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A6AC7B-C436-F748-3090-C043ED95B876}"/>
              </a:ext>
            </a:extLst>
          </p:cNvPr>
          <p:cNvSpPr/>
          <p:nvPr/>
        </p:nvSpPr>
        <p:spPr>
          <a:xfrm>
            <a:off x="6301336" y="2483701"/>
            <a:ext cx="457279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>
                <a:solidFill>
                  <a:srgbClr val="00B015"/>
                </a:solidFill>
                <a:latin typeface="Times New Roman"/>
              </a:rPr>
              <a:t>2.   LSTM based IDS solution </a:t>
            </a:r>
            <a:endParaRPr lang="en-US" sz="2200" b="1">
              <a:solidFill>
                <a:srgbClr val="00B015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664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12" name="Line 3">
            <a:extLst>
              <a:ext uri="{FF2B5EF4-FFF2-40B4-BE49-F238E27FC236}">
                <a16:creationId xmlns:a16="http://schemas.microsoft.com/office/drawing/2014/main" id="{0DD49778-4833-8E33-1AE4-AD67F8415D25}"/>
              </a:ext>
            </a:extLst>
          </p:cNvPr>
          <p:cNvSpPr/>
          <p:nvPr/>
        </p:nvSpPr>
        <p:spPr>
          <a:xfrm>
            <a:off x="509124" y="1035440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370319" y="240549"/>
            <a:ext cx="8498665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CA74E-EB10-A5AF-501C-E9DAE415A678}"/>
              </a:ext>
            </a:extLst>
          </p:cNvPr>
          <p:cNvSpPr/>
          <p:nvPr/>
        </p:nvSpPr>
        <p:spPr>
          <a:xfrm>
            <a:off x="330961" y="1202894"/>
            <a:ext cx="6823535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00FF"/>
                </a:solidFill>
                <a:latin typeface="Times New Roman"/>
              </a:rPr>
              <a:t>IDS placement problem formulation and Solutions</a:t>
            </a:r>
            <a:endParaRPr lang="en-US" sz="2400" b="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BAEE84-170A-235D-9C91-4CB06FDB4962}"/>
              </a:ext>
            </a:extLst>
          </p:cNvPr>
          <p:cNvSpPr/>
          <p:nvPr/>
        </p:nvSpPr>
        <p:spPr>
          <a:xfrm>
            <a:off x="333410" y="1906026"/>
            <a:ext cx="6813307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</a:rPr>
              <a:t>While </a:t>
            </a:r>
            <a:r>
              <a:rPr lang="en-US" sz="2400">
                <a:solidFill>
                  <a:srgbClr val="FF0000"/>
                </a:solidFill>
                <a:latin typeface="Times New Roman"/>
              </a:rPr>
              <a:t>selecting IDS</a:t>
            </a:r>
            <a:r>
              <a:rPr lang="en-US" sz="2400">
                <a:latin typeface="Times New Roman"/>
              </a:rPr>
              <a:t> nodes, the </a:t>
            </a:r>
            <a:r>
              <a:rPr lang="en-US" sz="2400">
                <a:solidFill>
                  <a:srgbClr val="00B050"/>
                </a:solidFill>
                <a:latin typeface="Times New Roman"/>
              </a:rPr>
              <a:t>residual energy</a:t>
            </a:r>
            <a:r>
              <a:rPr lang="en-US" sz="2400">
                <a:latin typeface="Times New Roman"/>
              </a:rPr>
              <a:t> of the nodes also considers</a:t>
            </a:r>
          </a:p>
          <a:p>
            <a:r>
              <a:rPr lang="en-US" sz="2400">
                <a:latin typeface="Times New Roman"/>
              </a:rPr>
              <a:t>       </a:t>
            </a:r>
            <a:endParaRPr lang="en-US" sz="2400" baseline="-25000" err="1">
              <a:latin typeface="Calibri"/>
            </a:endParaRPr>
          </a:p>
          <a:p>
            <a:r>
              <a:rPr lang="en-US" sz="2400">
                <a:latin typeface="Times New Roman"/>
              </a:rPr>
              <a:t>Residual energy = </a:t>
            </a:r>
            <a:r>
              <a:rPr lang="en-US" sz="2400" err="1">
                <a:latin typeface="Times New Roman"/>
              </a:rPr>
              <a:t>e</a:t>
            </a:r>
            <a:r>
              <a:rPr lang="en-US" sz="2400" baseline="-25000" err="1">
                <a:latin typeface="Times New Roman"/>
              </a:rPr>
              <a:t>i</a:t>
            </a:r>
            <a:r>
              <a:rPr lang="en-US" sz="2400" baseline="-25000">
                <a:latin typeface="Times New Roman"/>
              </a:rPr>
              <a:t>, </a:t>
            </a:r>
            <a:r>
              <a:rPr lang="en-US"/>
              <a:t>  </a:t>
            </a:r>
            <a:r>
              <a:rPr lang="en-US" sz="2400">
                <a:latin typeface="Times New Roman"/>
              </a:rPr>
              <a:t> weight function</a:t>
            </a:r>
            <a:r>
              <a:rPr lang="en-US"/>
              <a:t> (</a:t>
            </a:r>
            <a:r>
              <a:rPr lang="en-US" sz="2400">
                <a:latin typeface="Calibri"/>
              </a:rPr>
              <a:t>W) =1/</a:t>
            </a:r>
            <a:r>
              <a:rPr lang="en-US" sz="2400" err="1">
                <a:latin typeface="Calibri"/>
              </a:rPr>
              <a:t>e</a:t>
            </a:r>
            <a:r>
              <a:rPr lang="en-US" sz="2400" baseline="-25000" err="1">
                <a:latin typeface="Calibri"/>
              </a:rPr>
              <a:t>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82F35-3871-22D1-1180-6A05744D148D}"/>
              </a:ext>
            </a:extLst>
          </p:cNvPr>
          <p:cNvSpPr/>
          <p:nvPr/>
        </p:nvSpPr>
        <p:spPr>
          <a:xfrm>
            <a:off x="282610" y="3820137"/>
            <a:ext cx="7315620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The problem is formulated into a weighted minimum vertex </a:t>
            </a:r>
            <a:r>
              <a:rPr lang="en-US" sz="2400">
                <a:solidFill>
                  <a:srgbClr val="0000FF"/>
                </a:solidFill>
                <a:latin typeface="Times New Roman"/>
              </a:rPr>
              <a:t>cover problem of a </a:t>
            </a:r>
            <a:r>
              <a:rPr lang="en-US" sz="2400" i="1">
                <a:solidFill>
                  <a:srgbClr val="0000FF"/>
                </a:solidFill>
                <a:latin typeface="Times New Roman"/>
              </a:rPr>
              <a:t>K</a:t>
            </a:r>
            <a:r>
              <a:rPr lang="en-US" sz="2400">
                <a:solidFill>
                  <a:srgbClr val="0000FF"/>
                </a:solidFill>
                <a:latin typeface="Times New Roman"/>
              </a:rPr>
              <a:t>-uniform hypergraph </a:t>
            </a:r>
            <a:endParaRPr lang="en-US">
              <a:solidFill>
                <a:srgbClr val="0000FF"/>
              </a:solidFill>
            </a:endParaRPr>
          </a:p>
        </p:txBody>
      </p:sp>
      <p:pic>
        <p:nvPicPr>
          <p:cNvPr id="20" name="Picture 19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F6031C91-8B58-3310-B622-40B65A440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482" y="1487182"/>
            <a:ext cx="3981937" cy="2654624"/>
          </a:xfrm>
          <a:prstGeom prst="rect">
            <a:avLst/>
          </a:prstGeom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43A210DB-69EA-D9C3-4FD3-9FA396FAC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334" y="4724194"/>
            <a:ext cx="203200" cy="2032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70FD0F7-0ED7-5F56-F7F9-E2FF387E24E0}"/>
              </a:ext>
            </a:extLst>
          </p:cNvPr>
          <p:cNvSpPr txBox="1"/>
          <p:nvPr/>
        </p:nvSpPr>
        <p:spPr>
          <a:xfrm>
            <a:off x="7932174" y="4642054"/>
            <a:ext cx="38038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= Edge set of K-uniform hypergraph </a:t>
            </a:r>
          </a:p>
        </p:txBody>
      </p:sp>
      <p:pic>
        <p:nvPicPr>
          <p:cNvPr id="33" name="Picture 7">
            <a:extLst>
              <a:ext uri="{FF2B5EF4-FFF2-40B4-BE49-F238E27FC236}">
                <a16:creationId xmlns:a16="http://schemas.microsoft.com/office/drawing/2014/main" id="{FF81FD18-D38B-70B8-6C47-6E96C9338B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153" y="5140171"/>
            <a:ext cx="200025" cy="20002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A9881C8-D54E-D80F-7273-2A80091B23DD}"/>
              </a:ext>
            </a:extLst>
          </p:cNvPr>
          <p:cNvSpPr txBox="1"/>
          <p:nvPr/>
        </p:nvSpPr>
        <p:spPr>
          <a:xfrm>
            <a:off x="7931764" y="5062382"/>
            <a:ext cx="4381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= Vertex set of K-uniform hypergraph</a:t>
            </a:r>
          </a:p>
        </p:txBody>
      </p:sp>
      <p:pic>
        <p:nvPicPr>
          <p:cNvPr id="41" name="Graphic 13">
            <a:extLst>
              <a:ext uri="{FF2B5EF4-FFF2-40B4-BE49-F238E27FC236}">
                <a16:creationId xmlns:a16="http://schemas.microsoft.com/office/drawing/2014/main" id="{0FB16370-8098-6ECF-55A5-D07182028F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3327" y="5575145"/>
            <a:ext cx="384175" cy="25717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5C5D315-9756-3CE7-25FB-96F229CD307E}"/>
              </a:ext>
            </a:extLst>
          </p:cNvPr>
          <p:cNvSpPr txBox="1"/>
          <p:nvPr/>
        </p:nvSpPr>
        <p:spPr>
          <a:xfrm>
            <a:off x="8118576" y="5517943"/>
            <a:ext cx="4381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= edge of hypergraph contain k node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30D42F-D32B-6FEF-CB56-8C0F83CDC1B3}"/>
              </a:ext>
            </a:extLst>
          </p:cNvPr>
          <p:cNvSpPr/>
          <p:nvPr/>
        </p:nvSpPr>
        <p:spPr>
          <a:xfrm>
            <a:off x="336647" y="5013296"/>
            <a:ext cx="6823728" cy="11079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The solution set </a:t>
            </a:r>
            <a:r>
              <a:rPr lang="en-US" sz="2200" i="1">
                <a:solidFill>
                  <a:srgbClr val="000000"/>
                </a:solidFill>
                <a:latin typeface="Times New Roman"/>
              </a:rPr>
              <a:t>VC </a:t>
            </a:r>
            <a:r>
              <a:rPr lang="en-US" sz="2200">
                <a:solidFill>
                  <a:srgbClr val="000000"/>
                </a:solidFill>
                <a:latin typeface="Times New Roman"/>
              </a:rPr>
              <a:t>is a </a:t>
            </a:r>
            <a:r>
              <a:rPr lang="en-US" sz="2200" i="1">
                <a:solidFill>
                  <a:srgbClr val="000000"/>
                </a:solidFill>
                <a:latin typeface="Times New Roman"/>
              </a:rPr>
              <a:t>K </a:t>
            </a:r>
            <a:r>
              <a:rPr lang="en-US" sz="2200">
                <a:solidFill>
                  <a:srgbClr val="000000"/>
                </a:solidFill>
                <a:latin typeface="Times New Roman"/>
              </a:rPr>
              <a:t>approximation solution for the minimum weighted vertex cover of </a:t>
            </a:r>
            <a:r>
              <a:rPr lang="en-US" sz="2200" i="1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sz="2200">
                <a:solidFill>
                  <a:srgbClr val="000000"/>
                </a:solidFill>
                <a:latin typeface="Times New Roman"/>
              </a:rPr>
              <a:t>-uniform hypergraph H.</a:t>
            </a:r>
            <a:r>
              <a:rPr lang="en-US" sz="2200">
                <a:latin typeface="Times New Roman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370319" y="240549"/>
            <a:ext cx="8498665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Networks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BCBC7E-2D2D-DE2F-6790-E248B7663ABF}"/>
              </a:ext>
            </a:extLst>
          </p:cNvPr>
          <p:cNvSpPr/>
          <p:nvPr/>
        </p:nvSpPr>
        <p:spPr>
          <a:xfrm>
            <a:off x="524995" y="1109811"/>
            <a:ext cx="3935361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0000FF"/>
                </a:solidFill>
                <a:latin typeface="Times New Roman"/>
              </a:rPr>
              <a:t>LSTM based IDS solution 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AF8105-6C22-B2C0-0CDB-F9EF2B310D52}"/>
              </a:ext>
            </a:extLst>
          </p:cNvPr>
          <p:cNvSpPr/>
          <p:nvPr/>
        </p:nvSpPr>
        <p:spPr>
          <a:xfrm>
            <a:off x="666218" y="1518286"/>
            <a:ext cx="2782621" cy="430887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 b="1">
                <a:latin typeface="Times New Roman"/>
              </a:rPr>
              <a:t>Model pre-processing</a:t>
            </a:r>
            <a:endParaRPr lang="en-US" sz="2200" b="1">
              <a:latin typeface="Times New Roman"/>
              <a:cs typeface="Times New Roman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95BB92-4A9A-032A-1CEF-2FCF28B1863E}"/>
              </a:ext>
            </a:extLst>
          </p:cNvPr>
          <p:cNvSpPr/>
          <p:nvPr/>
        </p:nvSpPr>
        <p:spPr>
          <a:xfrm>
            <a:off x="532879" y="1952208"/>
            <a:ext cx="6249235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2200" dirty="0">
                <a:solidFill>
                  <a:srgbClr val="C00000"/>
                </a:solidFill>
                <a:latin typeface="Times New Roman"/>
              </a:rPr>
              <a:t>Data acquisition: </a:t>
            </a:r>
            <a:r>
              <a:rPr lang="en-US" sz="2200" dirty="0">
                <a:latin typeface="Times New Roman"/>
              </a:rPr>
              <a:t>Use publicly available mixed-rate DDoS (</a:t>
            </a:r>
            <a:r>
              <a:rPr lang="en-US" sz="2200" dirty="0" err="1">
                <a:latin typeface="Times New Roman"/>
              </a:rPr>
              <a:t>LrDDoS</a:t>
            </a:r>
            <a:r>
              <a:rPr lang="en-US" sz="2200" dirty="0">
                <a:latin typeface="Times New Roman"/>
              </a:rPr>
              <a:t> and </a:t>
            </a:r>
            <a:r>
              <a:rPr lang="en-US" sz="2200" dirty="0" err="1">
                <a:latin typeface="Times New Roman"/>
              </a:rPr>
              <a:t>HrDDoS</a:t>
            </a:r>
            <a:r>
              <a:rPr lang="en-US" sz="2200" dirty="0">
                <a:latin typeface="Times New Roman"/>
              </a:rPr>
              <a:t>) attack datasets </a:t>
            </a:r>
            <a:endParaRPr lang="en-US" sz="2200" dirty="0">
              <a:latin typeface="Times New Roman"/>
              <a:cs typeface="Times New Roman"/>
            </a:endParaRPr>
          </a:p>
          <a:p>
            <a:pPr marL="400050" indent="-400050">
              <a:buAutoNum type="romanUcPeriod"/>
            </a:pPr>
            <a:r>
              <a:rPr lang="en-US" sz="2200" dirty="0">
                <a:solidFill>
                  <a:srgbClr val="00B050"/>
                </a:solidFill>
                <a:latin typeface="Times New Roman"/>
              </a:rPr>
              <a:t>Feature normalization:</a:t>
            </a:r>
            <a:r>
              <a:rPr lang="en-US" sz="2200" dirty="0">
                <a:latin typeface="Times New Roman"/>
              </a:rPr>
              <a:t> Irregular central tendencies. Therefore, we normalize all data attributes using the min-max normalization</a:t>
            </a:r>
            <a:endParaRPr lang="en-US" sz="2200" dirty="0">
              <a:latin typeface="Times New Roman"/>
              <a:cs typeface="Times New Roman"/>
            </a:endParaRPr>
          </a:p>
          <a:p>
            <a:pPr marL="400050" indent="-400050">
              <a:buAutoNum type="romanUcPeriod"/>
            </a:pPr>
            <a:r>
              <a:rPr lang="en-US" sz="2200" dirty="0">
                <a:solidFill>
                  <a:srgbClr val="0070C0"/>
                </a:solidFill>
                <a:latin typeface="Times New Roman"/>
              </a:rPr>
              <a:t>Feature selection (FS):</a:t>
            </a:r>
            <a:r>
              <a:rPr lang="en-US" sz="2200" dirty="0">
                <a:latin typeface="Times New Roman"/>
              </a:rPr>
              <a:t> Used SHAP (</a:t>
            </a:r>
            <a:r>
              <a:rPr lang="en-US" sz="2200" dirty="0" err="1">
                <a:latin typeface="Times New Roman"/>
              </a:rPr>
              <a:t>SHapley</a:t>
            </a:r>
            <a:r>
              <a:rPr lang="en-US" sz="2200" dirty="0">
                <a:latin typeface="Times New Roman"/>
              </a:rPr>
              <a:t> Additive </a:t>
            </a:r>
            <a:r>
              <a:rPr lang="en-US" sz="2200" dirty="0" err="1">
                <a:latin typeface="Times New Roman"/>
              </a:rPr>
              <a:t>exPlanations</a:t>
            </a:r>
            <a:r>
              <a:rPr lang="en-US" sz="2200" dirty="0">
                <a:latin typeface="Times New Roman"/>
              </a:rPr>
              <a:t>) method </a:t>
            </a:r>
            <a:endParaRPr lang="en-US" dirty="0"/>
          </a:p>
        </p:txBody>
      </p:sp>
      <p:pic>
        <p:nvPicPr>
          <p:cNvPr id="23" name="Picture 22" descr="A table with text and numbers&#10;&#10;Description automatically generated">
            <a:extLst>
              <a:ext uri="{FF2B5EF4-FFF2-40B4-BE49-F238E27FC236}">
                <a16:creationId xmlns:a16="http://schemas.microsoft.com/office/drawing/2014/main" id="{E0A26B51-5521-F54D-D8E9-4C192C866C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154" y="4936139"/>
            <a:ext cx="9368661" cy="1412149"/>
          </a:xfrm>
          <a:prstGeom prst="rect">
            <a:avLst/>
          </a:prstGeom>
        </p:spPr>
      </p:pic>
      <p:pic>
        <p:nvPicPr>
          <p:cNvPr id="25" name="Picture 2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08DB28B-6F61-281F-C2A1-DEA21AC575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979" y="4243512"/>
            <a:ext cx="2714446" cy="662830"/>
          </a:xfrm>
          <a:prstGeom prst="rect">
            <a:avLst/>
          </a:prstGeom>
        </p:spPr>
      </p:pic>
      <p:pic>
        <p:nvPicPr>
          <p:cNvPr id="28" name="Picture 2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227675B-C1DF-2F24-7BB3-F10B328A43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12" y="1075625"/>
            <a:ext cx="5107157" cy="302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0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AF8105-6C22-B2C0-0CDB-F9EF2B310D52}"/>
              </a:ext>
            </a:extLst>
          </p:cNvPr>
          <p:cNvSpPr/>
          <p:nvPr/>
        </p:nvSpPr>
        <p:spPr>
          <a:xfrm>
            <a:off x="604766" y="1137286"/>
            <a:ext cx="2782621" cy="430887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 b="1">
                <a:solidFill>
                  <a:srgbClr val="0000FF"/>
                </a:solidFill>
                <a:latin typeface="Times New Roman"/>
              </a:rPr>
              <a:t>Model pre-processing</a:t>
            </a:r>
            <a:endParaRPr lang="en-US" sz="2200" b="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5E106-C66E-0DFE-5AF1-192BDB82981E}"/>
              </a:ext>
            </a:extLst>
          </p:cNvPr>
          <p:cNvSpPr/>
          <p:nvPr/>
        </p:nvSpPr>
        <p:spPr>
          <a:xfrm>
            <a:off x="475817" y="1773112"/>
            <a:ext cx="6372051" cy="215443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2200">
                <a:solidFill>
                  <a:srgbClr val="C00000"/>
                </a:solidFill>
                <a:latin typeface="Times New Roman"/>
              </a:rPr>
              <a:t>WGAN model</a:t>
            </a:r>
            <a:r>
              <a:rPr lang="en-US" sz="2200">
                <a:latin typeface="Times New Roman"/>
              </a:rPr>
              <a:t> is trained on the datasets to </a:t>
            </a:r>
            <a:r>
              <a:rPr lang="en-US" sz="2200">
                <a:solidFill>
                  <a:srgbClr val="00B015"/>
                </a:solidFill>
                <a:latin typeface="Times New Roman"/>
              </a:rPr>
              <a:t>generate artificial data points.</a:t>
            </a:r>
          </a:p>
          <a:p>
            <a:pPr marL="400050" indent="-400050">
              <a:buFont typeface="+mj-lt"/>
              <a:buAutoNum type="romanUcPeriod"/>
            </a:pPr>
            <a:endParaRPr lang="en-US" sz="2200">
              <a:latin typeface="Times New Roman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2200">
                <a:solidFill>
                  <a:srgbClr val="0000FF"/>
                </a:solidFill>
                <a:latin typeface="Times New Roman"/>
              </a:rPr>
              <a:t>LSTM model</a:t>
            </a:r>
            <a:r>
              <a:rPr lang="en-US" sz="2200">
                <a:latin typeface="Times New Roman"/>
              </a:rPr>
              <a:t> is trained with the datasets (real and artificial) to classify mixed-rate </a:t>
            </a:r>
            <a:r>
              <a:rPr lang="en-US" sz="2200" err="1">
                <a:latin typeface="Times New Roman"/>
              </a:rPr>
              <a:t>DDoS</a:t>
            </a:r>
            <a:r>
              <a:rPr lang="en-US" sz="2200">
                <a:latin typeface="Times New Roman"/>
              </a:rPr>
              <a:t> attacks. </a:t>
            </a:r>
            <a:r>
              <a:rPr lang="en-US" sz="2400">
                <a:latin typeface="Times New Roman"/>
              </a:rPr>
              <a:t/>
            </a:r>
            <a:br>
              <a:rPr lang="en-US" sz="2400">
                <a:latin typeface="Times New Roman"/>
              </a:rPr>
            </a:br>
            <a:r>
              <a:rPr lang="en-US" sz="2400">
                <a:latin typeface="Times New Roman"/>
              </a:rPr>
              <a:t> </a:t>
            </a:r>
          </a:p>
        </p:txBody>
      </p:sp>
      <p:pic>
        <p:nvPicPr>
          <p:cNvPr id="7" name="Picture 6" descr="A diagram of a discriminator&#10;&#10;Description automatically generated">
            <a:extLst>
              <a:ext uri="{FF2B5EF4-FFF2-40B4-BE49-F238E27FC236}">
                <a16:creationId xmlns:a16="http://schemas.microsoft.com/office/drawing/2014/main" id="{2BEA5D4D-D704-FCEF-BB2B-8483548638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89" y="3927548"/>
            <a:ext cx="6170517" cy="2071808"/>
          </a:xfrm>
          <a:prstGeom prst="rect">
            <a:avLst/>
          </a:prstGeom>
        </p:spPr>
      </p:pic>
      <p:pic>
        <p:nvPicPr>
          <p:cNvPr id="11" name="Picture 10" descr="A diagram of a software system&#10;&#10;Description automatically generated">
            <a:extLst>
              <a:ext uri="{FF2B5EF4-FFF2-40B4-BE49-F238E27FC236}">
                <a16:creationId xmlns:a16="http://schemas.microsoft.com/office/drawing/2014/main" id="{9D31DBF7-6D55-DE91-9917-6E5FF933E6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278" y="229773"/>
            <a:ext cx="4493120" cy="628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7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85BECA-D4F7-E6AE-81DF-301E0D8C753D}"/>
              </a:ext>
            </a:extLst>
          </p:cNvPr>
          <p:cNvSpPr/>
          <p:nvPr/>
        </p:nvSpPr>
        <p:spPr>
          <a:xfrm>
            <a:off x="432470" y="1246919"/>
            <a:ext cx="503439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00FF"/>
                </a:solidFill>
                <a:latin typeface="Times New Roman"/>
                <a:ea typeface="+mn-lt"/>
                <a:cs typeface="+mn-lt"/>
              </a:rPr>
              <a:t>Topological order of OPTIMIST IDS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C81000-0956-15F6-758D-81F40234C4CD}"/>
              </a:ext>
            </a:extLst>
          </p:cNvPr>
          <p:cNvSpPr/>
          <p:nvPr/>
        </p:nvSpPr>
        <p:spPr>
          <a:xfrm>
            <a:off x="526386" y="2103377"/>
            <a:ext cx="6311037" cy="246221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2200">
                <a:latin typeface="Times New Roman"/>
              </a:rPr>
              <a:t>The heavy task of IDS model training for OPTIMIST is done ofﬂine </a:t>
            </a:r>
            <a:br>
              <a:rPr lang="en-US" sz="2200">
                <a:latin typeface="Times New Roman"/>
              </a:rPr>
            </a:br>
            <a:endParaRPr lang="en-US" sz="2200">
              <a:latin typeface="Times New Roman"/>
              <a:cs typeface="Times New Roman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2200">
                <a:latin typeface="Times New Roman"/>
              </a:rPr>
              <a:t>The trained LSTM model is deployed in all IoT nodes. </a:t>
            </a:r>
            <a:endParaRPr lang="en-US" sz="2200">
              <a:latin typeface="Times New Roman"/>
              <a:cs typeface="Times New Roman"/>
            </a:endParaRPr>
          </a:p>
          <a:p>
            <a:pPr marL="400050" indent="-400050">
              <a:buFont typeface="+mj-lt"/>
              <a:buAutoNum type="romanUcPeriod"/>
            </a:pPr>
            <a:endParaRPr lang="en-US" sz="2200">
              <a:latin typeface="Times New Roman"/>
              <a:cs typeface="Times New Roman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2200">
                <a:latin typeface="Times New Roman"/>
              </a:rPr>
              <a:t>Select the IoT nodes to act as IDS nodes. </a:t>
            </a:r>
            <a:endParaRPr lang="en-US" sz="2000"/>
          </a:p>
        </p:txBody>
      </p:sp>
      <p:pic>
        <p:nvPicPr>
          <p:cNvPr id="14" name="Picture 13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52401BD5-8574-C050-66B3-617D237F63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955" y="1062624"/>
            <a:ext cx="4663565" cy="539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8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654A5C-BDD1-69DE-2A8D-C4F62E350E31}"/>
              </a:ext>
            </a:extLst>
          </p:cNvPr>
          <p:cNvSpPr/>
          <p:nvPr/>
        </p:nvSpPr>
        <p:spPr>
          <a:xfrm>
            <a:off x="409976" y="1151842"/>
            <a:ext cx="5156412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00FF"/>
                </a:solidFill>
                <a:latin typeface="Times New Roman"/>
              </a:rPr>
              <a:t> Experiment environments and setups</a:t>
            </a:r>
            <a:endParaRPr lang="en-US" sz="2400" b="1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BDFCA232-BF48-553D-2ED5-F320DEF31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76" y="2356713"/>
            <a:ext cx="5737129" cy="31206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FD95612-FA95-B1F5-19D0-A2C0726B1F69}"/>
              </a:ext>
            </a:extLst>
          </p:cNvPr>
          <p:cNvSpPr/>
          <p:nvPr/>
        </p:nvSpPr>
        <p:spPr>
          <a:xfrm>
            <a:off x="1218311" y="5772849"/>
            <a:ext cx="4547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Fig.17 : IoT network setup for experimentation</a:t>
            </a:r>
          </a:p>
        </p:txBody>
      </p:sp>
      <p:pic>
        <p:nvPicPr>
          <p:cNvPr id="16" name="Picture 15" descr="A table with text and images&#10;&#10;Description automatically generated">
            <a:extLst>
              <a:ext uri="{FF2B5EF4-FFF2-40B4-BE49-F238E27FC236}">
                <a16:creationId xmlns:a16="http://schemas.microsoft.com/office/drawing/2014/main" id="{3849B636-8254-43B5-3E21-2C87AC3070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132" y="2234756"/>
            <a:ext cx="4691429" cy="318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6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75611C-DE22-8CD7-ADCA-167EB70469E9}"/>
              </a:ext>
            </a:extLst>
          </p:cNvPr>
          <p:cNvSpPr/>
          <p:nvPr/>
        </p:nvSpPr>
        <p:spPr>
          <a:xfrm>
            <a:off x="508067" y="1275905"/>
            <a:ext cx="3018775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b="1">
                <a:latin typeface="Times New Roman"/>
              </a:rPr>
              <a:t> Performance metrics</a:t>
            </a:r>
          </a:p>
        </p:txBody>
      </p:sp>
      <p:pic>
        <p:nvPicPr>
          <p:cNvPr id="11" name="Picture 10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6437AAD-9560-8DCF-F9E9-4189636E2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86" y="2047127"/>
            <a:ext cx="3271466" cy="6324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23B29A-AA18-920F-D54A-F4262A8218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18" y="2864971"/>
            <a:ext cx="2122160" cy="513426"/>
          </a:xfrm>
          <a:prstGeom prst="rect">
            <a:avLst/>
          </a:prstGeom>
        </p:spPr>
      </p:pic>
      <p:pic>
        <p:nvPicPr>
          <p:cNvPr id="17" name="Picture 1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805413B-44C0-9D3A-F15A-936B6CD8CF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96" y="3569421"/>
            <a:ext cx="2326070" cy="608357"/>
          </a:xfrm>
          <a:prstGeom prst="rect">
            <a:avLst/>
          </a:prstGeom>
        </p:spPr>
      </p:pic>
      <p:pic>
        <p:nvPicPr>
          <p:cNvPr id="20" name="Picture 1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99AB7E5-725C-A36B-8B04-A9DC863FA4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11" y="4300854"/>
            <a:ext cx="3068084" cy="639678"/>
          </a:xfrm>
          <a:prstGeom prst="rect">
            <a:avLst/>
          </a:prstGeom>
        </p:spPr>
      </p:pic>
      <p:pic>
        <p:nvPicPr>
          <p:cNvPr id="22" name="Picture 21" descr="A close up of a text&#10;&#10;Description automatically generated">
            <a:extLst>
              <a:ext uri="{FF2B5EF4-FFF2-40B4-BE49-F238E27FC236}">
                <a16:creationId xmlns:a16="http://schemas.microsoft.com/office/drawing/2014/main" id="{3F29B782-5792-BA99-9036-E05F931070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11" y="5197980"/>
            <a:ext cx="4014243" cy="66501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B28F79A-22EE-BEF2-ABA4-E78233620F5B}"/>
              </a:ext>
            </a:extLst>
          </p:cNvPr>
          <p:cNvSpPr/>
          <p:nvPr/>
        </p:nvSpPr>
        <p:spPr>
          <a:xfrm>
            <a:off x="5125513" y="2208059"/>
            <a:ext cx="6477000" cy="11079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solidFill>
                  <a:srgbClr val="00B050"/>
                </a:solidFill>
                <a:latin typeface="Times New Roman"/>
              </a:rPr>
              <a:t>Memory Consumption (MEMC):</a:t>
            </a:r>
            <a:r>
              <a:rPr lang="en-US" sz="2200">
                <a:latin typeface="Times New Roman"/>
              </a:rPr>
              <a:t> It shows the percentage of memory utilization of the IoT devices to run OPTIMIST throughout the experimentation.</a:t>
            </a:r>
            <a:endParaRPr lang="en-US" sz="2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A4ED03-ABFF-5A6D-9EC6-8C95C7CB9E1D}"/>
              </a:ext>
            </a:extLst>
          </p:cNvPr>
          <p:cNvSpPr/>
          <p:nvPr/>
        </p:nvSpPr>
        <p:spPr>
          <a:xfrm>
            <a:off x="5130412" y="3787694"/>
            <a:ext cx="6531428" cy="11079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solidFill>
                  <a:srgbClr val="C00000"/>
                </a:solidFill>
                <a:latin typeface="Times New Roman"/>
              </a:rPr>
              <a:t>CPU energy (ENEC): </a:t>
            </a:r>
            <a:r>
              <a:rPr lang="en-US" sz="2200">
                <a:latin typeface="Times New Roman"/>
              </a:rPr>
              <a:t>The metric measures the energy consumed by CPU in IoT devices throughout the experimentation.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11040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DD07DA-35DF-B264-2447-288801DFD2E5}"/>
              </a:ext>
            </a:extLst>
          </p:cNvPr>
          <p:cNvSpPr/>
          <p:nvPr/>
        </p:nvSpPr>
        <p:spPr>
          <a:xfrm>
            <a:off x="415311" y="1711310"/>
            <a:ext cx="4960012" cy="446276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300">
                <a:solidFill>
                  <a:srgbClr val="00B015"/>
                </a:solidFill>
                <a:latin typeface="Times New Roman"/>
              </a:rPr>
              <a:t>Ofﬂine training performance evaluation:</a:t>
            </a:r>
          </a:p>
        </p:txBody>
      </p: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B525DDE9-1408-2D00-09B7-E82D1ABED5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775" y="2046489"/>
            <a:ext cx="5402650" cy="314947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6F4645-46E1-2C01-55C1-267ACE5E8CE1}"/>
              </a:ext>
            </a:extLst>
          </p:cNvPr>
          <p:cNvSpPr/>
          <p:nvPr/>
        </p:nvSpPr>
        <p:spPr>
          <a:xfrm>
            <a:off x="366149" y="2412086"/>
            <a:ext cx="5606143" cy="178510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</a:rPr>
              <a:t>The performances of different ML models like Support Vector Machine (SVM), Gated Recurrent Unit (GRU), Convolution Neural Network (CNN), and Transformer, </a:t>
            </a:r>
            <a:r>
              <a:rPr lang="en-US" sz="2200">
                <a:solidFill>
                  <a:srgbClr val="FF0000"/>
                </a:solidFill>
                <a:latin typeface="Times New Roman"/>
              </a:rPr>
              <a:t>on the IoT-23 and in-house generated datasets.</a:t>
            </a:r>
            <a:endParaRPr lang="en-US" sz="2200">
              <a:solidFill>
                <a:srgbClr val="FF0000"/>
              </a:solidFill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B1DC15-19C3-C5B5-709A-CC08666A2092}"/>
              </a:ext>
            </a:extLst>
          </p:cNvPr>
          <p:cNvSpPr/>
          <p:nvPr/>
        </p:nvSpPr>
        <p:spPr>
          <a:xfrm>
            <a:off x="363344" y="4416262"/>
            <a:ext cx="5776452" cy="76944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</a:rPr>
              <a:t>As LSTM model outperforms other ML models, it is chosen for the OPTIMIST IDS.</a:t>
            </a:r>
            <a:endParaRPr lang="en-US" sz="2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DDC7D-BA38-9B42-518E-E9C400C71CE8}"/>
              </a:ext>
            </a:extLst>
          </p:cNvPr>
          <p:cNvSpPr txBox="1"/>
          <p:nvPr/>
        </p:nvSpPr>
        <p:spPr>
          <a:xfrm>
            <a:off x="523501" y="1140109"/>
            <a:ext cx="34127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0000FF"/>
                </a:solidFill>
                <a:latin typeface="Times New Roman"/>
                <a:cs typeface="Times New Roman"/>
              </a:rPr>
              <a:t>Results and Discussion: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8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DDC7D-BA38-9B42-518E-E9C400C71CE8}"/>
              </a:ext>
            </a:extLst>
          </p:cNvPr>
          <p:cNvSpPr txBox="1"/>
          <p:nvPr/>
        </p:nvSpPr>
        <p:spPr>
          <a:xfrm>
            <a:off x="322036" y="1031729"/>
            <a:ext cx="32962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0000FF"/>
                </a:solidFill>
                <a:latin typeface="Times New Roman"/>
                <a:cs typeface="Times New Roman"/>
              </a:rPr>
              <a:t>Results and Discussion: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E8A43B-C705-E235-4A7C-64FC06E20735}"/>
              </a:ext>
            </a:extLst>
          </p:cNvPr>
          <p:cNvSpPr/>
          <p:nvPr/>
        </p:nvSpPr>
        <p:spPr>
          <a:xfrm>
            <a:off x="269744" y="1573022"/>
            <a:ext cx="5444828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>
                <a:solidFill>
                  <a:srgbClr val="00B015"/>
                </a:solidFill>
                <a:latin typeface="Times New Roman"/>
              </a:rPr>
              <a:t>Ofﬂine training performance evaluation: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11D678-E419-D2A5-5843-A09E5F93EF96}"/>
              </a:ext>
            </a:extLst>
          </p:cNvPr>
          <p:cNvSpPr/>
          <p:nvPr/>
        </p:nvSpPr>
        <p:spPr>
          <a:xfrm>
            <a:off x="220237" y="2108198"/>
            <a:ext cx="11632694" cy="10464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</a:rPr>
              <a:t>The model is tested with artificial data generated from the </a:t>
            </a:r>
            <a:r>
              <a:rPr lang="en-US" sz="2200">
                <a:solidFill>
                  <a:srgbClr val="0000FF"/>
                </a:solidFill>
                <a:latin typeface="Times New Roman"/>
              </a:rPr>
              <a:t>WGAN model, the LSTM performance degraded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22" name="Picture 21" descr="A graph of numbers and a number of adversarial data&#10;&#10;Description automatically generated">
            <a:extLst>
              <a:ext uri="{FF2B5EF4-FFF2-40B4-BE49-F238E27FC236}">
                <a16:creationId xmlns:a16="http://schemas.microsoft.com/office/drawing/2014/main" id="{79F6514E-BEAF-1FC2-BCB6-35584F8E1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82" y="3085104"/>
            <a:ext cx="4946491" cy="3209857"/>
          </a:xfrm>
          <a:prstGeom prst="rect">
            <a:avLst/>
          </a:prstGeom>
        </p:spPr>
      </p:pic>
      <p:pic>
        <p:nvPicPr>
          <p:cNvPr id="24" name="Picture 23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A9012960-868E-4D37-8252-71E67978ED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340" y="2943335"/>
            <a:ext cx="5008745" cy="292739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4D9D131-775A-7F38-15E0-CB0148C935AD}"/>
              </a:ext>
            </a:extLst>
          </p:cNvPr>
          <p:cNvSpPr/>
          <p:nvPr/>
        </p:nvSpPr>
        <p:spPr>
          <a:xfrm>
            <a:off x="8293556" y="5899672"/>
            <a:ext cx="2404376" cy="276999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1200">
                <a:latin typeface="Times New Roman"/>
                <a:cs typeface="Times New Roman"/>
              </a:rPr>
              <a:t>Fig. 11: WGAN-LSTM based result</a:t>
            </a:r>
          </a:p>
        </p:txBody>
      </p:sp>
    </p:spTree>
    <p:extLst>
      <p:ext uri="{BB962C8B-B14F-4D97-AF65-F5344CB8AC3E}">
        <p14:creationId xmlns:p14="http://schemas.microsoft.com/office/powerpoint/2010/main" val="238028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DDC7D-BA38-9B42-518E-E9C400C71CE8}"/>
              </a:ext>
            </a:extLst>
          </p:cNvPr>
          <p:cNvSpPr txBox="1"/>
          <p:nvPr/>
        </p:nvSpPr>
        <p:spPr>
          <a:xfrm>
            <a:off x="224571" y="1009578"/>
            <a:ext cx="32962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0000FF"/>
                </a:solidFill>
                <a:latin typeface="Times New Roman"/>
                <a:cs typeface="Times New Roman"/>
              </a:rPr>
              <a:t>Results and Discussion: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83CCC-D607-D5BE-D506-5A123ED8F7C3}"/>
              </a:ext>
            </a:extLst>
          </p:cNvPr>
          <p:cNvSpPr/>
          <p:nvPr/>
        </p:nvSpPr>
        <p:spPr>
          <a:xfrm>
            <a:off x="225045" y="1410949"/>
            <a:ext cx="4043094" cy="430887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 b="1">
                <a:solidFill>
                  <a:srgbClr val="00B015"/>
                </a:solidFill>
                <a:latin typeface="Times New Roman"/>
              </a:rPr>
              <a:t>Online performance evaluation:</a:t>
            </a:r>
            <a:endParaRPr lang="en-US" sz="2200" b="1">
              <a:solidFill>
                <a:srgbClr val="00B015"/>
              </a:solidFill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EDB4B-D813-69BB-4702-1D36F6B846B7}"/>
              </a:ext>
            </a:extLst>
          </p:cNvPr>
          <p:cNvSpPr/>
          <p:nvPr/>
        </p:nvSpPr>
        <p:spPr>
          <a:xfrm>
            <a:off x="259981" y="1792128"/>
            <a:ext cx="11427946" cy="76944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latin typeface="Times New Roman"/>
              </a:rPr>
              <a:t>The performances of </a:t>
            </a:r>
            <a:r>
              <a:rPr lang="en-US" sz="2200">
                <a:solidFill>
                  <a:srgbClr val="FF0000"/>
                </a:solidFill>
                <a:latin typeface="Times New Roman"/>
              </a:rPr>
              <a:t>system and network level metrics</a:t>
            </a:r>
            <a:r>
              <a:rPr lang="en-US" sz="2200">
                <a:latin typeface="Times New Roman"/>
              </a:rPr>
              <a:t> for the two cases of experiments: </a:t>
            </a:r>
            <a:r>
              <a:rPr lang="en-US" sz="2200">
                <a:solidFill>
                  <a:srgbClr val="0000FF"/>
                </a:solidFill>
                <a:latin typeface="Times New Roman"/>
              </a:rPr>
              <a:t>Without IDS and running IDS </a:t>
            </a:r>
            <a:endParaRPr lang="en-US" sz="2200">
              <a:solidFill>
                <a:srgbClr val="0000FF"/>
              </a:solidFill>
            </a:endParaRPr>
          </a:p>
        </p:txBody>
      </p:sp>
      <p:pic>
        <p:nvPicPr>
          <p:cNvPr id="15" name="Picture 14" descr="A graph of different numbers and symbols&#10;&#10;Description automatically generated">
            <a:extLst>
              <a:ext uri="{FF2B5EF4-FFF2-40B4-BE49-F238E27FC236}">
                <a16:creationId xmlns:a16="http://schemas.microsoft.com/office/drawing/2014/main" id="{5DFFBF52-CCF2-5D26-614C-6F13ACFDD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543" y="2386083"/>
            <a:ext cx="5632236" cy="329664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DBFD955-575D-DCA1-2D9C-ECEDDCA2BE18}"/>
              </a:ext>
            </a:extLst>
          </p:cNvPr>
          <p:cNvSpPr/>
          <p:nvPr/>
        </p:nvSpPr>
        <p:spPr>
          <a:xfrm>
            <a:off x="4686744" y="5722930"/>
            <a:ext cx="3141694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/>
              <a:t> </a:t>
            </a:r>
            <a:r>
              <a:rPr lang="en-US" sz="1400">
                <a:latin typeface="Times New Roman"/>
                <a:cs typeface="Calibri"/>
              </a:rPr>
              <a:t>Fig. 13: </a:t>
            </a:r>
            <a:r>
              <a:rPr lang="en-US" sz="1400">
                <a:latin typeface="Times New Roman"/>
                <a:cs typeface="Times New Roman"/>
              </a:rPr>
              <a:t>Contiki and FIT IoT-LAB result</a:t>
            </a:r>
          </a:p>
        </p:txBody>
      </p:sp>
    </p:spTree>
    <p:extLst>
      <p:ext uri="{BB962C8B-B14F-4D97-AF65-F5344CB8AC3E}">
        <p14:creationId xmlns:p14="http://schemas.microsoft.com/office/powerpoint/2010/main" val="4051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DDC7D-BA38-9B42-518E-E9C400C71CE8}"/>
              </a:ext>
            </a:extLst>
          </p:cNvPr>
          <p:cNvSpPr txBox="1"/>
          <p:nvPr/>
        </p:nvSpPr>
        <p:spPr>
          <a:xfrm>
            <a:off x="324466" y="1074174"/>
            <a:ext cx="32962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0000FF"/>
                </a:solidFill>
                <a:latin typeface="Times New Roman"/>
                <a:cs typeface="Times New Roman"/>
              </a:rPr>
              <a:t>Results and Discussion: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83CCC-D607-D5BE-D506-5A123ED8F7C3}"/>
              </a:ext>
            </a:extLst>
          </p:cNvPr>
          <p:cNvSpPr/>
          <p:nvPr/>
        </p:nvSpPr>
        <p:spPr>
          <a:xfrm>
            <a:off x="376816" y="1539283"/>
            <a:ext cx="4043094" cy="430887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 b="1">
                <a:solidFill>
                  <a:srgbClr val="00B015"/>
                </a:solidFill>
                <a:latin typeface="Times New Roman"/>
              </a:rPr>
              <a:t>Online performance evaluation:</a:t>
            </a:r>
            <a:endParaRPr lang="en-US" sz="2200" b="1">
              <a:solidFill>
                <a:srgbClr val="00B015"/>
              </a:solidFill>
              <a:latin typeface="Times New Roman"/>
              <a:cs typeface="Times New Roman"/>
            </a:endParaRPr>
          </a:p>
        </p:txBody>
      </p:sp>
      <p:pic>
        <p:nvPicPr>
          <p:cNvPr id="17" name="Picture 16" descr="A table with numbers and text&#10;&#10;Description automatically generated">
            <a:extLst>
              <a:ext uri="{FF2B5EF4-FFF2-40B4-BE49-F238E27FC236}">
                <a16:creationId xmlns:a16="http://schemas.microsoft.com/office/drawing/2014/main" id="{D11E9E6F-97C6-5D44-8477-A2D636CBD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04" y="2250082"/>
            <a:ext cx="11645319" cy="282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7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4D9AA185-DDAE-DED5-8BF2-F6F6ABF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2060" y="185633"/>
            <a:ext cx="2268526" cy="5495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AD883-D601-E3BD-F801-D29EE0B5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Engineering, IITG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1903-A743-2867-59E8-E1BB5C97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B949-428C-4290-8A69-E88B57575036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581E5336-C007-8208-1B3F-875A60B97945}"/>
              </a:ext>
            </a:extLst>
          </p:cNvPr>
          <p:cNvSpPr/>
          <p:nvPr/>
        </p:nvSpPr>
        <p:spPr>
          <a:xfrm>
            <a:off x="222835" y="228259"/>
            <a:ext cx="7159020" cy="5210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/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OPTIMIST: IDS to Mitigate </a:t>
            </a:r>
            <a:r>
              <a:rPr lang="en-IN" sz="2400" b="1" spc="-1" err="1">
                <a:solidFill>
                  <a:srgbClr val="FF0000"/>
                </a:solidFill>
                <a:latin typeface="Times New Roman"/>
                <a:cs typeface="Times New Roman"/>
              </a:rPr>
              <a:t>MrDDoS</a:t>
            </a:r>
            <a:r>
              <a:rPr lang="en-IN" sz="2400" b="1" spc="-1">
                <a:solidFill>
                  <a:srgbClr val="FF0000"/>
                </a:solidFill>
                <a:latin typeface="Times New Roman"/>
                <a:cs typeface="Times New Roman"/>
              </a:rPr>
              <a:t> Attacks in IoT 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38E91240-99CC-B727-1D0C-2DF621741484}"/>
              </a:ext>
            </a:extLst>
          </p:cNvPr>
          <p:cNvSpPr/>
          <p:nvPr/>
        </p:nvSpPr>
        <p:spPr>
          <a:xfrm>
            <a:off x="523501" y="1006685"/>
            <a:ext cx="11088149" cy="4218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DDC7D-BA38-9B42-518E-E9C400C71CE8}"/>
              </a:ext>
            </a:extLst>
          </p:cNvPr>
          <p:cNvSpPr txBox="1"/>
          <p:nvPr/>
        </p:nvSpPr>
        <p:spPr>
          <a:xfrm>
            <a:off x="471950" y="1172497"/>
            <a:ext cx="20918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solidFill>
                  <a:srgbClr val="0000FF"/>
                </a:solidFill>
                <a:latin typeface="Times New Roman"/>
                <a:cs typeface="Times New Roman"/>
              </a:rPr>
              <a:t>Summary:</a:t>
            </a:r>
            <a:endParaRPr lang="en-US"/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3AB7AC8-E014-CECD-DBD0-853D7AA55F54}"/>
              </a:ext>
            </a:extLst>
          </p:cNvPr>
          <p:cNvSpPr/>
          <p:nvPr/>
        </p:nvSpPr>
        <p:spPr>
          <a:xfrm>
            <a:off x="480266" y="1861585"/>
            <a:ext cx="11233045" cy="28036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>
                <a:latin typeface="Times New Roman"/>
              </a:rPr>
              <a:t>This work has proposed a </a:t>
            </a:r>
            <a:r>
              <a:rPr lang="en-US" sz="2200">
                <a:solidFill>
                  <a:srgbClr val="FF0000"/>
                </a:solidFill>
                <a:latin typeface="Times New Roman"/>
              </a:rPr>
              <a:t>lightweight distributed IDS solution</a:t>
            </a:r>
            <a:r>
              <a:rPr lang="en-US" sz="2200">
                <a:latin typeface="Times New Roman"/>
              </a:rPr>
              <a:t>, OPTIMIST, for IoT networks with an </a:t>
            </a:r>
            <a:r>
              <a:rPr lang="en-US" sz="2200">
                <a:solidFill>
                  <a:srgbClr val="00B015"/>
                </a:solidFill>
                <a:latin typeface="Times New Roman"/>
              </a:rPr>
              <a:t>optimum placement strategy. </a:t>
            </a:r>
            <a:endParaRPr lang="en-US" sz="2200">
              <a:solidFill>
                <a:srgbClr val="00B015"/>
              </a:solidFill>
              <a:latin typeface="Times New Roman"/>
              <a:cs typeface="Times New Roman"/>
            </a:endParaRP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>
                <a:latin typeface="Times New Roman"/>
              </a:rPr>
              <a:t>The </a:t>
            </a:r>
            <a:r>
              <a:rPr lang="en-US" sz="2200">
                <a:solidFill>
                  <a:srgbClr val="C00000"/>
                </a:solidFill>
                <a:latin typeface="Times New Roman"/>
              </a:rPr>
              <a:t>placement strategy is transparent in nature to reduce network overhead</a:t>
            </a:r>
            <a:r>
              <a:rPr lang="en-US" sz="2200">
                <a:latin typeface="Times New Roman"/>
              </a:rPr>
              <a:t> </a:t>
            </a:r>
            <a:endParaRPr lang="en-US" sz="2200">
              <a:latin typeface="Times New Roman"/>
              <a:cs typeface="Times New Roman"/>
            </a:endParaRP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>
                <a:solidFill>
                  <a:srgbClr val="000000"/>
                </a:solidFill>
                <a:latin typeface="Times New Roman"/>
                <a:cs typeface="Times New Roman"/>
              </a:rPr>
              <a:t>Extensive evaluations are done both on </a:t>
            </a:r>
            <a:r>
              <a:rPr lang="en-US" sz="2200">
                <a:solidFill>
                  <a:srgbClr val="0000FF"/>
                </a:solidFill>
                <a:latin typeface="Times New Roman"/>
                <a:cs typeface="Times New Roman"/>
              </a:rPr>
              <a:t>simulation and testbed platforms. </a:t>
            </a:r>
          </a:p>
          <a:p>
            <a:pPr marL="431800" indent="-323215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>
                <a:latin typeface="Times New Roman"/>
              </a:rPr>
              <a:t>The results show that the </a:t>
            </a:r>
            <a:r>
              <a:rPr lang="en-US" sz="2200">
                <a:solidFill>
                  <a:srgbClr val="00B015"/>
                </a:solidFill>
                <a:latin typeface="Times New Roman"/>
              </a:rPr>
              <a:t>OPTIMIST IDS system</a:t>
            </a:r>
            <a:r>
              <a:rPr lang="en-US" sz="2200">
                <a:latin typeface="Times New Roman"/>
              </a:rPr>
              <a:t> can efficiently detect </a:t>
            </a:r>
            <a:r>
              <a:rPr lang="en-US" sz="2200">
                <a:solidFill>
                  <a:srgbClr val="FF0000"/>
                </a:solidFill>
                <a:latin typeface="Times New Roman"/>
              </a:rPr>
              <a:t>both high-rate and low-rate DDoS traffic ﬂows</a:t>
            </a:r>
            <a:r>
              <a:rPr lang="en-US" sz="2200">
                <a:latin typeface="Times New Roman"/>
              </a:rPr>
              <a:t> while having a comparatively low system overhead</a:t>
            </a:r>
            <a:endParaRPr lang="en-US"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918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3348000" y="2448000"/>
            <a:ext cx="4787640" cy="942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6000" b="0" strike="noStrike" spc="-1">
                <a:latin typeface="Arial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33452275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Content Placeholder 7"/>
          <p:cNvPicPr/>
          <p:nvPr/>
        </p:nvPicPr>
        <p:blipFill>
          <a:blip r:embed="rId2"/>
          <a:stretch/>
        </p:blipFill>
        <p:spPr>
          <a:xfrm>
            <a:off x="2448000" y="1080000"/>
            <a:ext cx="7173000" cy="4309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63478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30380</TotalTime>
  <Words>3529</Words>
  <Application>Microsoft Office PowerPoint</Application>
  <PresentationFormat>Widescreen</PresentationFormat>
  <Paragraphs>646</Paragraphs>
  <Slides>98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98</vt:i4>
      </vt:variant>
    </vt:vector>
  </HeadingPairs>
  <TitlesOfParts>
    <vt:vector size="109" baseType="lpstr">
      <vt:lpstr>Arial</vt:lpstr>
      <vt:lpstr>Calibri</vt:lpstr>
      <vt:lpstr>Calibri Light</vt:lpstr>
      <vt:lpstr>DejaVu Sans</vt:lpstr>
      <vt:lpstr>Microsoft Uighur</vt:lpstr>
      <vt:lpstr>Symbol</vt:lpstr>
      <vt:lpstr>Times New Roman</vt:lpstr>
      <vt:lpstr>Wingdings</vt:lpstr>
      <vt:lpstr>Office Theme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Military Example</vt:lpstr>
      <vt:lpstr>Commercial Example</vt:lpstr>
      <vt:lpstr>Question 1:  What is the trade off between the security objectives?  </vt:lpstr>
      <vt:lpstr>PowerPoint Presentation</vt:lpstr>
      <vt:lpstr>PowerPoint Presentation</vt:lpstr>
      <vt:lpstr>Threat</vt:lpstr>
      <vt:lpstr>PowerPoint Presentation</vt:lpstr>
      <vt:lpstr>Risk</vt:lpstr>
      <vt:lpstr>PowerPoint Presentation</vt:lpstr>
      <vt:lpstr>PowerPoint Presentation</vt:lpstr>
      <vt:lpstr>Attack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Relationships Between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Design-for-Test and Test Optimization Technique for Digital VLSI Circuits</dc:title>
  <dc:subject/>
  <dc:creator>Sisir Jena</dc:creator>
  <dc:description/>
  <cp:lastModifiedBy>Bhale</cp:lastModifiedBy>
  <cp:revision>1180</cp:revision>
  <cp:lastPrinted>2023-07-17T06:54:38Z</cp:lastPrinted>
  <dcterms:created xsi:type="dcterms:W3CDTF">2017-11-29T13:37:39Z</dcterms:created>
  <dcterms:modified xsi:type="dcterms:W3CDTF">2025-09-16T16:42:34Z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32</vt:i4>
  </property>
</Properties>
</file>