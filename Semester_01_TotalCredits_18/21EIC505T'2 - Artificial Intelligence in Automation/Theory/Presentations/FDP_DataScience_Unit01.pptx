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3"/>
  </p:notesMasterIdLst>
  <p:sldIdLst>
    <p:sldId id="256" r:id="rId2"/>
    <p:sldId id="272" r:id="rId3"/>
    <p:sldId id="271" r:id="rId4"/>
    <p:sldId id="257" r:id="rId5"/>
    <p:sldId id="259" r:id="rId6"/>
    <p:sldId id="260" r:id="rId7"/>
    <p:sldId id="261" r:id="rId8"/>
    <p:sldId id="262" r:id="rId9"/>
    <p:sldId id="263" r:id="rId10"/>
    <p:sldId id="264" r:id="rId11"/>
    <p:sldId id="270" r:id="rId12"/>
    <p:sldId id="267" r:id="rId13"/>
    <p:sldId id="268" r:id="rId14"/>
    <p:sldId id="269" r:id="rId15"/>
    <p:sldId id="265" r:id="rId16"/>
    <p:sldId id="273" r:id="rId17"/>
    <p:sldId id="274" r:id="rId18"/>
    <p:sldId id="275" r:id="rId19"/>
    <p:sldId id="276" r:id="rId20"/>
    <p:sldId id="277" r:id="rId21"/>
    <p:sldId id="278" r:id="rId22"/>
    <p:sldId id="279" r:id="rId23"/>
    <p:sldId id="280" r:id="rId24"/>
    <p:sldId id="281" r:id="rId25"/>
    <p:sldId id="282" r:id="rId26"/>
    <p:sldId id="283" r:id="rId27"/>
    <p:sldId id="284" r:id="rId28"/>
    <p:sldId id="285" r:id="rId29"/>
    <p:sldId id="286" r:id="rId30"/>
    <p:sldId id="287" r:id="rId31"/>
    <p:sldId id="288" r:id="rId32"/>
    <p:sldId id="289" r:id="rId33"/>
    <p:sldId id="290" r:id="rId34"/>
    <p:sldId id="291" r:id="rId35"/>
    <p:sldId id="292" r:id="rId36"/>
    <p:sldId id="293" r:id="rId37"/>
    <p:sldId id="294" r:id="rId38"/>
    <p:sldId id="295" r:id="rId39"/>
    <p:sldId id="296" r:id="rId40"/>
    <p:sldId id="297" r:id="rId41"/>
    <p:sldId id="298" r:id="rId42"/>
    <p:sldId id="299" r:id="rId43"/>
    <p:sldId id="300" r:id="rId44"/>
    <p:sldId id="301" r:id="rId45"/>
    <p:sldId id="302" r:id="rId46"/>
    <p:sldId id="303" r:id="rId47"/>
    <p:sldId id="304" r:id="rId48"/>
    <p:sldId id="305" r:id="rId49"/>
    <p:sldId id="306" r:id="rId50"/>
    <p:sldId id="307" r:id="rId51"/>
    <p:sldId id="308" r:id="rId52"/>
    <p:sldId id="309" r:id="rId53"/>
    <p:sldId id="310" r:id="rId54"/>
    <p:sldId id="311" r:id="rId55"/>
    <p:sldId id="312" r:id="rId56"/>
    <p:sldId id="313" r:id="rId57"/>
    <p:sldId id="314" r:id="rId58"/>
    <p:sldId id="315" r:id="rId59"/>
    <p:sldId id="316" r:id="rId60"/>
    <p:sldId id="317" r:id="rId61"/>
    <p:sldId id="318" r:id="rId62"/>
    <p:sldId id="319" r:id="rId63"/>
    <p:sldId id="320" r:id="rId64"/>
    <p:sldId id="321" r:id="rId65"/>
    <p:sldId id="322" r:id="rId66"/>
    <p:sldId id="323" r:id="rId67"/>
    <p:sldId id="324" r:id="rId68"/>
    <p:sldId id="325" r:id="rId69"/>
    <p:sldId id="326" r:id="rId70"/>
    <p:sldId id="327" r:id="rId71"/>
    <p:sldId id="328" r:id="rId72"/>
    <p:sldId id="329" r:id="rId73"/>
    <p:sldId id="330" r:id="rId74"/>
    <p:sldId id="331" r:id="rId75"/>
    <p:sldId id="332" r:id="rId76"/>
    <p:sldId id="333" r:id="rId77"/>
    <p:sldId id="334" r:id="rId78"/>
    <p:sldId id="335" r:id="rId79"/>
    <p:sldId id="336" r:id="rId80"/>
    <p:sldId id="337" r:id="rId81"/>
    <p:sldId id="266" r:id="rId8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432FF"/>
    <a:srgbClr val="FF85FF"/>
    <a:srgbClr val="9437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0"/>
    <p:restoredTop sz="94656"/>
  </p:normalViewPr>
  <p:slideViewPr>
    <p:cSldViewPr snapToGrid="0">
      <p:cViewPr varScale="1">
        <p:scale>
          <a:sx n="77" d="100"/>
          <a:sy n="77" d="100"/>
        </p:scale>
        <p:origin x="806"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presProps" Target="presProp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tableStyles" Target="tableStyles.xml"/><Relationship Id="rId61" Type="http://schemas.openxmlformats.org/officeDocument/2006/relationships/slide" Target="slides/slide60.xml"/><Relationship Id="rId82" Type="http://schemas.openxmlformats.org/officeDocument/2006/relationships/slide" Target="slides/slide8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1EB64CF-DC56-A348-9517-947624F4107E}" type="datetimeFigureOut">
              <a:rPr lang="en-US" smtClean="0"/>
              <a:t>10/14/2024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C1CA64A-D38C-6E4B-A26A-872295F0555B}" type="slidenum">
              <a:rPr lang="en-US" smtClean="0"/>
              <a:t>‹#›</a:t>
            </a:fld>
            <a:endParaRPr lang="en-US"/>
          </a:p>
        </p:txBody>
      </p:sp>
    </p:spTree>
    <p:extLst>
      <p:ext uri="{BB962C8B-B14F-4D97-AF65-F5344CB8AC3E}">
        <p14:creationId xmlns:p14="http://schemas.microsoft.com/office/powerpoint/2010/main" val="38809042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36111A-96D7-AF4F-0350-B04FA159713F}"/>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A745627C-17D6-F33D-91D6-82185EAFFF9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28C62B8F-8A88-2584-BAC9-9FCD7E9CFA9D}"/>
              </a:ext>
            </a:extLst>
          </p:cNvPr>
          <p:cNvSpPr>
            <a:spLocks noGrp="1"/>
          </p:cNvSpPr>
          <p:nvPr>
            <p:ph type="dt" sz="half" idx="10"/>
          </p:nvPr>
        </p:nvSpPr>
        <p:spPr/>
        <p:txBody>
          <a:bodyPr/>
          <a:lstStyle/>
          <a:p>
            <a:fld id="{512BDABB-1608-6044-ACA8-7FBBA5DBE893}" type="datetime1">
              <a:rPr lang="en-IN" smtClean="0"/>
              <a:t>14-10-2024</a:t>
            </a:fld>
            <a:endParaRPr lang="en-US"/>
          </a:p>
        </p:txBody>
      </p:sp>
      <p:sp>
        <p:nvSpPr>
          <p:cNvPr id="5" name="Footer Placeholder 4">
            <a:extLst>
              <a:ext uri="{FF2B5EF4-FFF2-40B4-BE49-F238E27FC236}">
                <a16:creationId xmlns:a16="http://schemas.microsoft.com/office/drawing/2014/main" id="{7E7DFC9C-58C8-D60B-305A-943F7C043B0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F145697-19C3-BCF4-7861-944ACB264660}"/>
              </a:ext>
            </a:extLst>
          </p:cNvPr>
          <p:cNvSpPr>
            <a:spLocks noGrp="1"/>
          </p:cNvSpPr>
          <p:nvPr>
            <p:ph type="sldNum" sz="quarter" idx="12"/>
          </p:nvPr>
        </p:nvSpPr>
        <p:spPr/>
        <p:txBody>
          <a:bodyPr/>
          <a:lstStyle/>
          <a:p>
            <a:fld id="{645DDD17-9A15-AE4D-9CC4-9253E384646F}" type="slidenum">
              <a:rPr lang="en-US" smtClean="0"/>
              <a:t>‹#›</a:t>
            </a:fld>
            <a:endParaRPr lang="en-US"/>
          </a:p>
        </p:txBody>
      </p:sp>
    </p:spTree>
    <p:extLst>
      <p:ext uri="{BB962C8B-B14F-4D97-AF65-F5344CB8AC3E}">
        <p14:creationId xmlns:p14="http://schemas.microsoft.com/office/powerpoint/2010/main" val="28303904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E22C7A-1F17-684F-A567-5458319BE364}"/>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BE2A59E7-2A6A-3D42-A386-40FEEA04D953}"/>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A33B68B5-7400-8699-E5E3-47B6FEF67E8B}"/>
              </a:ext>
            </a:extLst>
          </p:cNvPr>
          <p:cNvSpPr>
            <a:spLocks noGrp="1"/>
          </p:cNvSpPr>
          <p:nvPr>
            <p:ph type="dt" sz="half" idx="10"/>
          </p:nvPr>
        </p:nvSpPr>
        <p:spPr/>
        <p:txBody>
          <a:bodyPr/>
          <a:lstStyle/>
          <a:p>
            <a:fld id="{A9148C48-2640-1D46-AAAE-1E2694619CDB}" type="datetime1">
              <a:rPr lang="en-IN" smtClean="0"/>
              <a:t>14-10-2024</a:t>
            </a:fld>
            <a:endParaRPr lang="en-US"/>
          </a:p>
        </p:txBody>
      </p:sp>
      <p:sp>
        <p:nvSpPr>
          <p:cNvPr id="5" name="Footer Placeholder 4">
            <a:extLst>
              <a:ext uri="{FF2B5EF4-FFF2-40B4-BE49-F238E27FC236}">
                <a16:creationId xmlns:a16="http://schemas.microsoft.com/office/drawing/2014/main" id="{4CF449BC-B809-60C8-B00D-12FB737BB24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502CFAB-4044-5C0E-A281-52B38D2626D4}"/>
              </a:ext>
            </a:extLst>
          </p:cNvPr>
          <p:cNvSpPr>
            <a:spLocks noGrp="1"/>
          </p:cNvSpPr>
          <p:nvPr>
            <p:ph type="sldNum" sz="quarter" idx="12"/>
          </p:nvPr>
        </p:nvSpPr>
        <p:spPr/>
        <p:txBody>
          <a:bodyPr/>
          <a:lstStyle/>
          <a:p>
            <a:fld id="{645DDD17-9A15-AE4D-9CC4-9253E384646F}" type="slidenum">
              <a:rPr lang="en-US" smtClean="0"/>
              <a:t>‹#›</a:t>
            </a:fld>
            <a:endParaRPr lang="en-US"/>
          </a:p>
        </p:txBody>
      </p:sp>
    </p:spTree>
    <p:extLst>
      <p:ext uri="{BB962C8B-B14F-4D97-AF65-F5344CB8AC3E}">
        <p14:creationId xmlns:p14="http://schemas.microsoft.com/office/powerpoint/2010/main" val="762198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C0E1FF-D693-D3EF-BFBC-15C80DA4DC57}"/>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A1CCFFAF-F30E-E4CD-3A10-74C41683A08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48BF7050-A147-F22C-FF97-DBCE95622063}"/>
              </a:ext>
            </a:extLst>
          </p:cNvPr>
          <p:cNvSpPr>
            <a:spLocks noGrp="1"/>
          </p:cNvSpPr>
          <p:nvPr>
            <p:ph type="dt" sz="half" idx="10"/>
          </p:nvPr>
        </p:nvSpPr>
        <p:spPr/>
        <p:txBody>
          <a:bodyPr/>
          <a:lstStyle/>
          <a:p>
            <a:fld id="{A32C7E3D-C1CB-374F-B767-E900F4EB7E16}" type="datetime1">
              <a:rPr lang="en-IN" smtClean="0"/>
              <a:t>14-10-2024</a:t>
            </a:fld>
            <a:endParaRPr lang="en-US"/>
          </a:p>
        </p:txBody>
      </p:sp>
      <p:sp>
        <p:nvSpPr>
          <p:cNvPr id="5" name="Footer Placeholder 4">
            <a:extLst>
              <a:ext uri="{FF2B5EF4-FFF2-40B4-BE49-F238E27FC236}">
                <a16:creationId xmlns:a16="http://schemas.microsoft.com/office/drawing/2014/main" id="{F1C53718-98A8-2777-5A92-816E003535F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A685E70-8F39-8F2C-8EED-6F7A7221E1B6}"/>
              </a:ext>
            </a:extLst>
          </p:cNvPr>
          <p:cNvSpPr>
            <a:spLocks noGrp="1"/>
          </p:cNvSpPr>
          <p:nvPr>
            <p:ph type="sldNum" sz="quarter" idx="12"/>
          </p:nvPr>
        </p:nvSpPr>
        <p:spPr/>
        <p:txBody>
          <a:bodyPr/>
          <a:lstStyle/>
          <a:p>
            <a:fld id="{645DDD17-9A15-AE4D-9CC4-9253E384646F}" type="slidenum">
              <a:rPr lang="en-US" smtClean="0"/>
              <a:t>‹#›</a:t>
            </a:fld>
            <a:endParaRPr lang="en-US"/>
          </a:p>
        </p:txBody>
      </p:sp>
    </p:spTree>
    <p:extLst>
      <p:ext uri="{BB962C8B-B14F-4D97-AF65-F5344CB8AC3E}">
        <p14:creationId xmlns:p14="http://schemas.microsoft.com/office/powerpoint/2010/main" val="2626282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007D4D-81CA-78F1-4174-A65D99D4053F}"/>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57BCEBD8-AC94-6E57-E4A0-FAAD433CBCAB}"/>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6ED6C45D-2CE5-8C81-73A8-4847D94A22C9}"/>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F140C77F-7C88-A124-A1AF-7866C4DF2EDB}"/>
              </a:ext>
            </a:extLst>
          </p:cNvPr>
          <p:cNvSpPr>
            <a:spLocks noGrp="1"/>
          </p:cNvSpPr>
          <p:nvPr>
            <p:ph type="dt" sz="half" idx="10"/>
          </p:nvPr>
        </p:nvSpPr>
        <p:spPr/>
        <p:txBody>
          <a:bodyPr/>
          <a:lstStyle/>
          <a:p>
            <a:fld id="{98B4967A-D4C4-1747-9227-13C7BB3B6539}" type="datetime1">
              <a:rPr lang="en-IN" smtClean="0"/>
              <a:t>14-10-2024</a:t>
            </a:fld>
            <a:endParaRPr lang="en-US"/>
          </a:p>
        </p:txBody>
      </p:sp>
      <p:sp>
        <p:nvSpPr>
          <p:cNvPr id="6" name="Footer Placeholder 5">
            <a:extLst>
              <a:ext uri="{FF2B5EF4-FFF2-40B4-BE49-F238E27FC236}">
                <a16:creationId xmlns:a16="http://schemas.microsoft.com/office/drawing/2014/main" id="{8DDB83C7-C041-0E4F-0C34-70B625092E6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F59C06B-BEA8-4E5D-AF8A-9AC13CF1932A}"/>
              </a:ext>
            </a:extLst>
          </p:cNvPr>
          <p:cNvSpPr>
            <a:spLocks noGrp="1"/>
          </p:cNvSpPr>
          <p:nvPr>
            <p:ph type="sldNum" sz="quarter" idx="12"/>
          </p:nvPr>
        </p:nvSpPr>
        <p:spPr/>
        <p:txBody>
          <a:bodyPr/>
          <a:lstStyle/>
          <a:p>
            <a:fld id="{645DDD17-9A15-AE4D-9CC4-9253E384646F}" type="slidenum">
              <a:rPr lang="en-US" smtClean="0"/>
              <a:t>‹#›</a:t>
            </a:fld>
            <a:endParaRPr lang="en-US"/>
          </a:p>
        </p:txBody>
      </p:sp>
    </p:spTree>
    <p:extLst>
      <p:ext uri="{BB962C8B-B14F-4D97-AF65-F5344CB8AC3E}">
        <p14:creationId xmlns:p14="http://schemas.microsoft.com/office/powerpoint/2010/main" val="32868118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0CF02B-1FC6-83B9-CD58-0D728639418F}"/>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886353AC-5BEA-F2EE-8C65-02D834BAC79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79427A11-F7B1-F560-8983-A51F8DD64539}"/>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2787804F-7483-F2E7-6B90-694A7AE4DAF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935660BC-C312-A56B-DA96-48CFBC9DE7FE}"/>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CFBA3355-6315-F031-C71C-3E549F6FB2F5}"/>
              </a:ext>
            </a:extLst>
          </p:cNvPr>
          <p:cNvSpPr>
            <a:spLocks noGrp="1"/>
          </p:cNvSpPr>
          <p:nvPr>
            <p:ph type="dt" sz="half" idx="10"/>
          </p:nvPr>
        </p:nvSpPr>
        <p:spPr/>
        <p:txBody>
          <a:bodyPr/>
          <a:lstStyle/>
          <a:p>
            <a:fld id="{ACE93595-1A09-EB4A-A225-887473FE6819}" type="datetime1">
              <a:rPr lang="en-IN" smtClean="0"/>
              <a:t>14-10-2024</a:t>
            </a:fld>
            <a:endParaRPr lang="en-US"/>
          </a:p>
        </p:txBody>
      </p:sp>
      <p:sp>
        <p:nvSpPr>
          <p:cNvPr id="8" name="Footer Placeholder 7">
            <a:extLst>
              <a:ext uri="{FF2B5EF4-FFF2-40B4-BE49-F238E27FC236}">
                <a16:creationId xmlns:a16="http://schemas.microsoft.com/office/drawing/2014/main" id="{27574883-9798-9AB4-EAFE-14BFD1715AD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5F63650-F761-8339-2CFB-25FBADBE156D}"/>
              </a:ext>
            </a:extLst>
          </p:cNvPr>
          <p:cNvSpPr>
            <a:spLocks noGrp="1"/>
          </p:cNvSpPr>
          <p:nvPr>
            <p:ph type="sldNum" sz="quarter" idx="12"/>
          </p:nvPr>
        </p:nvSpPr>
        <p:spPr/>
        <p:txBody>
          <a:bodyPr/>
          <a:lstStyle/>
          <a:p>
            <a:fld id="{645DDD17-9A15-AE4D-9CC4-9253E384646F}" type="slidenum">
              <a:rPr lang="en-US" smtClean="0"/>
              <a:t>‹#›</a:t>
            </a:fld>
            <a:endParaRPr lang="en-US"/>
          </a:p>
        </p:txBody>
      </p:sp>
    </p:spTree>
    <p:extLst>
      <p:ext uri="{BB962C8B-B14F-4D97-AF65-F5344CB8AC3E}">
        <p14:creationId xmlns:p14="http://schemas.microsoft.com/office/powerpoint/2010/main" val="29843476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1AF49A-4B0A-E0EE-5360-B8368B534B29}"/>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977CF363-959F-53B5-81DC-E6FDAC34CC52}"/>
              </a:ext>
            </a:extLst>
          </p:cNvPr>
          <p:cNvSpPr>
            <a:spLocks noGrp="1"/>
          </p:cNvSpPr>
          <p:nvPr>
            <p:ph type="dt" sz="half" idx="10"/>
          </p:nvPr>
        </p:nvSpPr>
        <p:spPr/>
        <p:txBody>
          <a:bodyPr/>
          <a:lstStyle/>
          <a:p>
            <a:fld id="{6B0259A4-EF85-B449-9500-6EB39D2A60C3}" type="datetime1">
              <a:rPr lang="en-IN" smtClean="0"/>
              <a:t>14-10-2024</a:t>
            </a:fld>
            <a:endParaRPr lang="en-US"/>
          </a:p>
        </p:txBody>
      </p:sp>
      <p:sp>
        <p:nvSpPr>
          <p:cNvPr id="4" name="Footer Placeholder 3">
            <a:extLst>
              <a:ext uri="{FF2B5EF4-FFF2-40B4-BE49-F238E27FC236}">
                <a16:creationId xmlns:a16="http://schemas.microsoft.com/office/drawing/2014/main" id="{1D0D0F39-D15D-CEE0-FE2F-029A752C339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187ACBE-0137-C26C-7024-9C06A3ABC8F9}"/>
              </a:ext>
            </a:extLst>
          </p:cNvPr>
          <p:cNvSpPr>
            <a:spLocks noGrp="1"/>
          </p:cNvSpPr>
          <p:nvPr>
            <p:ph type="sldNum" sz="quarter" idx="12"/>
          </p:nvPr>
        </p:nvSpPr>
        <p:spPr/>
        <p:txBody>
          <a:bodyPr/>
          <a:lstStyle/>
          <a:p>
            <a:fld id="{645DDD17-9A15-AE4D-9CC4-9253E384646F}" type="slidenum">
              <a:rPr lang="en-US" smtClean="0"/>
              <a:t>‹#›</a:t>
            </a:fld>
            <a:endParaRPr lang="en-US"/>
          </a:p>
        </p:txBody>
      </p:sp>
    </p:spTree>
    <p:extLst>
      <p:ext uri="{BB962C8B-B14F-4D97-AF65-F5344CB8AC3E}">
        <p14:creationId xmlns:p14="http://schemas.microsoft.com/office/powerpoint/2010/main" val="25091336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1946FC1-9072-6E7C-C146-6A2CB4DA66A1}"/>
              </a:ext>
            </a:extLst>
          </p:cNvPr>
          <p:cNvSpPr>
            <a:spLocks noGrp="1"/>
          </p:cNvSpPr>
          <p:nvPr>
            <p:ph type="dt" sz="half" idx="10"/>
          </p:nvPr>
        </p:nvSpPr>
        <p:spPr/>
        <p:txBody>
          <a:bodyPr/>
          <a:lstStyle/>
          <a:p>
            <a:fld id="{4F7DBE19-107C-7948-B4F0-F2B7E29DD5A8}" type="datetime1">
              <a:rPr lang="en-IN" smtClean="0"/>
              <a:t>14-10-2024</a:t>
            </a:fld>
            <a:endParaRPr lang="en-US"/>
          </a:p>
        </p:txBody>
      </p:sp>
      <p:sp>
        <p:nvSpPr>
          <p:cNvPr id="3" name="Footer Placeholder 2">
            <a:extLst>
              <a:ext uri="{FF2B5EF4-FFF2-40B4-BE49-F238E27FC236}">
                <a16:creationId xmlns:a16="http://schemas.microsoft.com/office/drawing/2014/main" id="{5B771D0B-BFD4-554B-BD00-6FF39B4D117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9B36A4A-2F27-5CB8-0764-99338C07111E}"/>
              </a:ext>
            </a:extLst>
          </p:cNvPr>
          <p:cNvSpPr>
            <a:spLocks noGrp="1"/>
          </p:cNvSpPr>
          <p:nvPr>
            <p:ph type="sldNum" sz="quarter" idx="12"/>
          </p:nvPr>
        </p:nvSpPr>
        <p:spPr/>
        <p:txBody>
          <a:bodyPr/>
          <a:lstStyle/>
          <a:p>
            <a:fld id="{645DDD17-9A15-AE4D-9CC4-9253E384646F}" type="slidenum">
              <a:rPr lang="en-US" smtClean="0"/>
              <a:t>‹#›</a:t>
            </a:fld>
            <a:endParaRPr lang="en-US"/>
          </a:p>
        </p:txBody>
      </p:sp>
    </p:spTree>
    <p:extLst>
      <p:ext uri="{BB962C8B-B14F-4D97-AF65-F5344CB8AC3E}">
        <p14:creationId xmlns:p14="http://schemas.microsoft.com/office/powerpoint/2010/main" val="27546311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D7F2CF-AD25-255F-EAB6-C70A9532ED06}"/>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75E34C4C-3DB9-31F3-0F7B-9CB35CCBCD5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979ADA3E-7FF1-8DAD-8CDE-02038CFB0BB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71E4C516-170A-93CA-7672-60AB39B37098}"/>
              </a:ext>
            </a:extLst>
          </p:cNvPr>
          <p:cNvSpPr>
            <a:spLocks noGrp="1"/>
          </p:cNvSpPr>
          <p:nvPr>
            <p:ph type="dt" sz="half" idx="10"/>
          </p:nvPr>
        </p:nvSpPr>
        <p:spPr/>
        <p:txBody>
          <a:bodyPr/>
          <a:lstStyle/>
          <a:p>
            <a:fld id="{B0520936-B6F1-654F-9D2E-1969A804BB3F}" type="datetime1">
              <a:rPr lang="en-IN" smtClean="0"/>
              <a:t>14-10-2024</a:t>
            </a:fld>
            <a:endParaRPr lang="en-US"/>
          </a:p>
        </p:txBody>
      </p:sp>
      <p:sp>
        <p:nvSpPr>
          <p:cNvPr id="6" name="Footer Placeholder 5">
            <a:extLst>
              <a:ext uri="{FF2B5EF4-FFF2-40B4-BE49-F238E27FC236}">
                <a16:creationId xmlns:a16="http://schemas.microsoft.com/office/drawing/2014/main" id="{7FE22CE4-1C10-9CDB-F3DC-7AF92D61007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521B017-AC47-A2EA-3F06-DB7D4EA7D000}"/>
              </a:ext>
            </a:extLst>
          </p:cNvPr>
          <p:cNvSpPr>
            <a:spLocks noGrp="1"/>
          </p:cNvSpPr>
          <p:nvPr>
            <p:ph type="sldNum" sz="quarter" idx="12"/>
          </p:nvPr>
        </p:nvSpPr>
        <p:spPr/>
        <p:txBody>
          <a:bodyPr/>
          <a:lstStyle/>
          <a:p>
            <a:fld id="{645DDD17-9A15-AE4D-9CC4-9253E384646F}" type="slidenum">
              <a:rPr lang="en-US" smtClean="0"/>
              <a:t>‹#›</a:t>
            </a:fld>
            <a:endParaRPr lang="en-US"/>
          </a:p>
        </p:txBody>
      </p:sp>
    </p:spTree>
    <p:extLst>
      <p:ext uri="{BB962C8B-B14F-4D97-AF65-F5344CB8AC3E}">
        <p14:creationId xmlns:p14="http://schemas.microsoft.com/office/powerpoint/2010/main" val="28814731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55EA3E-0D7E-9297-205D-96F3AECC39BB}"/>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8F36429F-ABD9-7670-D510-B33C41D7A2E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CCC3A4E-465E-CF1A-E3CD-D5E4BF5EE44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BC311E22-0485-9DD9-F22B-A8711A116B80}"/>
              </a:ext>
            </a:extLst>
          </p:cNvPr>
          <p:cNvSpPr>
            <a:spLocks noGrp="1"/>
          </p:cNvSpPr>
          <p:nvPr>
            <p:ph type="dt" sz="half" idx="10"/>
          </p:nvPr>
        </p:nvSpPr>
        <p:spPr/>
        <p:txBody>
          <a:bodyPr/>
          <a:lstStyle/>
          <a:p>
            <a:fld id="{51B4211E-0D9F-F04B-AE3F-96E3773FA521}" type="datetime1">
              <a:rPr lang="en-IN" smtClean="0"/>
              <a:t>14-10-2024</a:t>
            </a:fld>
            <a:endParaRPr lang="en-US"/>
          </a:p>
        </p:txBody>
      </p:sp>
      <p:sp>
        <p:nvSpPr>
          <p:cNvPr id="6" name="Footer Placeholder 5">
            <a:extLst>
              <a:ext uri="{FF2B5EF4-FFF2-40B4-BE49-F238E27FC236}">
                <a16:creationId xmlns:a16="http://schemas.microsoft.com/office/drawing/2014/main" id="{9F5D5A1B-40EB-665C-B3B5-68F94772DFB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8525538-A492-3047-67A2-296FA4BC1262}"/>
              </a:ext>
            </a:extLst>
          </p:cNvPr>
          <p:cNvSpPr>
            <a:spLocks noGrp="1"/>
          </p:cNvSpPr>
          <p:nvPr>
            <p:ph type="sldNum" sz="quarter" idx="12"/>
          </p:nvPr>
        </p:nvSpPr>
        <p:spPr/>
        <p:txBody>
          <a:bodyPr/>
          <a:lstStyle/>
          <a:p>
            <a:fld id="{645DDD17-9A15-AE4D-9CC4-9253E384646F}" type="slidenum">
              <a:rPr lang="en-US" smtClean="0"/>
              <a:t>‹#›</a:t>
            </a:fld>
            <a:endParaRPr lang="en-US"/>
          </a:p>
        </p:txBody>
      </p:sp>
    </p:spTree>
    <p:extLst>
      <p:ext uri="{BB962C8B-B14F-4D97-AF65-F5344CB8AC3E}">
        <p14:creationId xmlns:p14="http://schemas.microsoft.com/office/powerpoint/2010/main" val="30135558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F2076C-2832-377A-4DC0-6ADE575D4208}"/>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6EB1F7DC-6BE6-4213-2EE7-3A72722C24F3}"/>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ADA6498D-886C-E31C-371E-BC3CC909C53C}"/>
              </a:ext>
            </a:extLst>
          </p:cNvPr>
          <p:cNvSpPr>
            <a:spLocks noGrp="1"/>
          </p:cNvSpPr>
          <p:nvPr>
            <p:ph type="dt" sz="half" idx="10"/>
          </p:nvPr>
        </p:nvSpPr>
        <p:spPr/>
        <p:txBody>
          <a:bodyPr/>
          <a:lstStyle/>
          <a:p>
            <a:fld id="{0945531C-4005-E340-9943-48BC31015A71}" type="datetime1">
              <a:rPr lang="en-IN" smtClean="0"/>
              <a:t>14-10-2024</a:t>
            </a:fld>
            <a:endParaRPr lang="en-US"/>
          </a:p>
        </p:txBody>
      </p:sp>
      <p:sp>
        <p:nvSpPr>
          <p:cNvPr id="5" name="Footer Placeholder 4">
            <a:extLst>
              <a:ext uri="{FF2B5EF4-FFF2-40B4-BE49-F238E27FC236}">
                <a16:creationId xmlns:a16="http://schemas.microsoft.com/office/drawing/2014/main" id="{E4D81B6A-145B-B4E8-AF5D-358D9213C48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931CF47-6C71-EF08-4126-7A27744CE14F}"/>
              </a:ext>
            </a:extLst>
          </p:cNvPr>
          <p:cNvSpPr>
            <a:spLocks noGrp="1"/>
          </p:cNvSpPr>
          <p:nvPr>
            <p:ph type="sldNum" sz="quarter" idx="12"/>
          </p:nvPr>
        </p:nvSpPr>
        <p:spPr/>
        <p:txBody>
          <a:bodyPr/>
          <a:lstStyle/>
          <a:p>
            <a:fld id="{645DDD17-9A15-AE4D-9CC4-9253E384646F}" type="slidenum">
              <a:rPr lang="en-US" smtClean="0"/>
              <a:t>‹#›</a:t>
            </a:fld>
            <a:endParaRPr lang="en-US"/>
          </a:p>
        </p:txBody>
      </p:sp>
    </p:spTree>
    <p:extLst>
      <p:ext uri="{BB962C8B-B14F-4D97-AF65-F5344CB8AC3E}">
        <p14:creationId xmlns:p14="http://schemas.microsoft.com/office/powerpoint/2010/main" val="33771649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F236BE2-F550-8821-3E55-7ADD65BE2789}"/>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C193331E-C685-CC4D-0684-40992A2868AC}"/>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E0886792-B735-52EB-2E13-6438872AF49F}"/>
              </a:ext>
            </a:extLst>
          </p:cNvPr>
          <p:cNvSpPr>
            <a:spLocks noGrp="1"/>
          </p:cNvSpPr>
          <p:nvPr>
            <p:ph type="dt" sz="half" idx="10"/>
          </p:nvPr>
        </p:nvSpPr>
        <p:spPr/>
        <p:txBody>
          <a:bodyPr/>
          <a:lstStyle/>
          <a:p>
            <a:fld id="{1BFDC6EA-EB7A-2041-8C96-E78D3B94553D}" type="datetime1">
              <a:rPr lang="en-IN" smtClean="0"/>
              <a:t>14-10-2024</a:t>
            </a:fld>
            <a:endParaRPr lang="en-US"/>
          </a:p>
        </p:txBody>
      </p:sp>
      <p:sp>
        <p:nvSpPr>
          <p:cNvPr id="5" name="Footer Placeholder 4">
            <a:extLst>
              <a:ext uri="{FF2B5EF4-FFF2-40B4-BE49-F238E27FC236}">
                <a16:creationId xmlns:a16="http://schemas.microsoft.com/office/drawing/2014/main" id="{2C11D7B6-8600-F369-8EE3-7F7AAD2A444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9703DD9-8AFF-8931-4F8D-C894BEF8674F}"/>
              </a:ext>
            </a:extLst>
          </p:cNvPr>
          <p:cNvSpPr>
            <a:spLocks noGrp="1"/>
          </p:cNvSpPr>
          <p:nvPr>
            <p:ph type="sldNum" sz="quarter" idx="12"/>
          </p:nvPr>
        </p:nvSpPr>
        <p:spPr/>
        <p:txBody>
          <a:bodyPr/>
          <a:lstStyle/>
          <a:p>
            <a:fld id="{645DDD17-9A15-AE4D-9CC4-9253E384646F}" type="slidenum">
              <a:rPr lang="en-US" smtClean="0"/>
              <a:t>‹#›</a:t>
            </a:fld>
            <a:endParaRPr lang="en-US"/>
          </a:p>
        </p:txBody>
      </p:sp>
    </p:spTree>
    <p:extLst>
      <p:ext uri="{BB962C8B-B14F-4D97-AF65-F5344CB8AC3E}">
        <p14:creationId xmlns:p14="http://schemas.microsoft.com/office/powerpoint/2010/main" val="3540596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BF46684-8573-26DB-A8DD-25D5A09EE5F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CD6B7962-74E3-E471-4530-289DAC5357A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AF23D2FE-CF94-6895-88F3-DFFDDD3D7A2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732290F-9FA5-BF43-860B-6D959DBB4F43}" type="datetime1">
              <a:rPr lang="en-IN" smtClean="0"/>
              <a:t>14-10-2024</a:t>
            </a:fld>
            <a:endParaRPr lang="en-US"/>
          </a:p>
        </p:txBody>
      </p:sp>
      <p:sp>
        <p:nvSpPr>
          <p:cNvPr id="5" name="Footer Placeholder 4">
            <a:extLst>
              <a:ext uri="{FF2B5EF4-FFF2-40B4-BE49-F238E27FC236}">
                <a16:creationId xmlns:a16="http://schemas.microsoft.com/office/drawing/2014/main" id="{60CB65B8-4701-9BA4-D961-33737D32BD6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EF5D6ED0-BC9B-70A2-148D-B16370B1DCB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45DDD17-9A15-AE4D-9CC4-9253E384646F}" type="slidenum">
              <a:rPr lang="en-US" smtClean="0"/>
              <a:t>‹#›</a:t>
            </a:fld>
            <a:endParaRPr lang="en-US"/>
          </a:p>
        </p:txBody>
      </p:sp>
    </p:spTree>
    <p:extLst>
      <p:ext uri="{BB962C8B-B14F-4D97-AF65-F5344CB8AC3E}">
        <p14:creationId xmlns:p14="http://schemas.microsoft.com/office/powerpoint/2010/main" val="93580602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34.png"/></Relationships>
</file>

<file path=ppt/slides/_rels/slide53.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40.png"/><Relationship Id="rId5" Type="http://schemas.openxmlformats.org/officeDocument/2006/relationships/image" Target="../media/image39.png"/><Relationship Id="rId4" Type="http://schemas.openxmlformats.org/officeDocument/2006/relationships/image" Target="../media/image38.png"/></Relationships>
</file>

<file path=ppt/slides/_rels/slide54.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44.png"/><Relationship Id="rId5" Type="http://schemas.openxmlformats.org/officeDocument/2006/relationships/image" Target="../media/image43.png"/><Relationship Id="rId4" Type="http://schemas.openxmlformats.org/officeDocument/2006/relationships/image" Target="../media/image42.png"/></Relationships>
</file>

<file path=ppt/slides/_rels/slide5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46.png"/></Relationships>
</file>

<file path=ppt/slides/_rels/slide57.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51.png"/><Relationship Id="rId4" Type="http://schemas.openxmlformats.org/officeDocument/2006/relationships/image" Target="../media/image50.png"/></Relationships>
</file>

<file path=ppt/slides/_rels/slide63.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53.png"/></Relationships>
</file>

<file path=ppt/slides/_rels/slide64.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58.png"/></Relationships>
</file>

<file path=ppt/slides/_rels/slide7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Table 8">
            <a:extLst>
              <a:ext uri="{FF2B5EF4-FFF2-40B4-BE49-F238E27FC236}">
                <a16:creationId xmlns:a16="http://schemas.microsoft.com/office/drawing/2014/main" id="{0B6EC464-4750-5FF3-7A5A-15612BA6E293}"/>
              </a:ext>
            </a:extLst>
          </p:cNvPr>
          <p:cNvGraphicFramePr>
            <a:graphicFrameLocks noGrp="1"/>
          </p:cNvGraphicFramePr>
          <p:nvPr>
            <p:extLst>
              <p:ext uri="{D42A27DB-BD31-4B8C-83A1-F6EECF244321}">
                <p14:modId xmlns:p14="http://schemas.microsoft.com/office/powerpoint/2010/main" val="1962575310"/>
              </p:ext>
            </p:extLst>
          </p:nvPr>
        </p:nvGraphicFramePr>
        <p:xfrm>
          <a:off x="0" y="23812"/>
          <a:ext cx="12192000" cy="465287"/>
        </p:xfrm>
        <a:graphic>
          <a:graphicData uri="http://schemas.openxmlformats.org/drawingml/2006/table">
            <a:tbl>
              <a:tblPr firstRow="1" bandRow="1">
                <a:tableStyleId>{5C22544A-7EE6-4342-B048-85BDC9FD1C3A}</a:tableStyleId>
              </a:tblPr>
              <a:tblGrid>
                <a:gridCol w="6092042">
                  <a:extLst>
                    <a:ext uri="{9D8B030D-6E8A-4147-A177-3AD203B41FA5}">
                      <a16:colId xmlns:a16="http://schemas.microsoft.com/office/drawing/2014/main" val="2179694530"/>
                    </a:ext>
                  </a:extLst>
                </a:gridCol>
                <a:gridCol w="6099958">
                  <a:extLst>
                    <a:ext uri="{9D8B030D-6E8A-4147-A177-3AD203B41FA5}">
                      <a16:colId xmlns:a16="http://schemas.microsoft.com/office/drawing/2014/main" val="2768207918"/>
                    </a:ext>
                  </a:extLst>
                </a:gridCol>
              </a:tblGrid>
              <a:tr h="465287">
                <a:tc>
                  <a:txBody>
                    <a:bodyPr/>
                    <a:lstStyle/>
                    <a:p>
                      <a:endParaRPr lang="en-US" dirty="0"/>
                    </a:p>
                  </a:txBody>
                  <a:tcPr>
                    <a:solidFill>
                      <a:srgbClr val="FF85FF"/>
                    </a:solidFill>
                  </a:tcPr>
                </a:tc>
                <a:tc>
                  <a:txBody>
                    <a:bodyPr/>
                    <a:lstStyle/>
                    <a:p>
                      <a:endParaRPr lang="en-US" dirty="0"/>
                    </a:p>
                  </a:txBody>
                  <a:tcPr>
                    <a:solidFill>
                      <a:srgbClr val="FFFF00"/>
                    </a:solidFill>
                  </a:tcPr>
                </a:tc>
                <a:extLst>
                  <a:ext uri="{0D108BD9-81ED-4DB2-BD59-A6C34878D82A}">
                    <a16:rowId xmlns:a16="http://schemas.microsoft.com/office/drawing/2014/main" val="1996944423"/>
                  </a:ext>
                </a:extLst>
              </a:tr>
            </a:tbl>
          </a:graphicData>
        </a:graphic>
      </p:graphicFrame>
      <p:graphicFrame>
        <p:nvGraphicFramePr>
          <p:cNvPr id="10" name="Table 9">
            <a:extLst>
              <a:ext uri="{FF2B5EF4-FFF2-40B4-BE49-F238E27FC236}">
                <a16:creationId xmlns:a16="http://schemas.microsoft.com/office/drawing/2014/main" id="{494BAFB7-FE1F-E1A9-7A6C-AB4145BD9BA1}"/>
              </a:ext>
            </a:extLst>
          </p:cNvPr>
          <p:cNvGraphicFramePr>
            <a:graphicFrameLocks noGrp="1"/>
          </p:cNvGraphicFramePr>
          <p:nvPr>
            <p:extLst>
              <p:ext uri="{D42A27DB-BD31-4B8C-83A1-F6EECF244321}">
                <p14:modId xmlns:p14="http://schemas.microsoft.com/office/powerpoint/2010/main" val="3077651733"/>
              </p:ext>
            </p:extLst>
          </p:nvPr>
        </p:nvGraphicFramePr>
        <p:xfrm>
          <a:off x="1" y="6478892"/>
          <a:ext cx="12191999" cy="370840"/>
        </p:xfrm>
        <a:graphic>
          <a:graphicData uri="http://schemas.openxmlformats.org/drawingml/2006/table">
            <a:tbl>
              <a:tblPr firstRow="1" bandRow="1">
                <a:tableStyleId>{5C22544A-7EE6-4342-B048-85BDC9FD1C3A}</a:tableStyleId>
              </a:tblPr>
              <a:tblGrid>
                <a:gridCol w="6080165">
                  <a:extLst>
                    <a:ext uri="{9D8B030D-6E8A-4147-A177-3AD203B41FA5}">
                      <a16:colId xmlns:a16="http://schemas.microsoft.com/office/drawing/2014/main" val="2179694530"/>
                    </a:ext>
                  </a:extLst>
                </a:gridCol>
                <a:gridCol w="6111834">
                  <a:extLst>
                    <a:ext uri="{9D8B030D-6E8A-4147-A177-3AD203B41FA5}">
                      <a16:colId xmlns:a16="http://schemas.microsoft.com/office/drawing/2014/main" val="2768207918"/>
                    </a:ext>
                  </a:extLst>
                </a:gridCol>
              </a:tblGrid>
              <a:tr h="370840">
                <a:tc>
                  <a:txBody>
                    <a:bodyPr/>
                    <a:lstStyle/>
                    <a:p>
                      <a:endParaRPr lang="en-US" dirty="0"/>
                    </a:p>
                  </a:txBody>
                  <a:tcPr>
                    <a:solidFill>
                      <a:srgbClr val="FFFF00"/>
                    </a:solidFill>
                  </a:tcPr>
                </a:tc>
                <a:tc>
                  <a:txBody>
                    <a:bodyPr/>
                    <a:lstStyle/>
                    <a:p>
                      <a:pPr algn="r"/>
                      <a:r>
                        <a:rPr lang="en-US" dirty="0">
                          <a:solidFill>
                            <a:schemeClr val="tx1"/>
                          </a:solidFill>
                        </a:rPr>
                        <a:t>1</a:t>
                      </a:r>
                    </a:p>
                  </a:txBody>
                  <a:tcPr>
                    <a:solidFill>
                      <a:srgbClr val="FF85FF"/>
                    </a:solidFill>
                  </a:tcPr>
                </a:tc>
                <a:extLst>
                  <a:ext uri="{0D108BD9-81ED-4DB2-BD59-A6C34878D82A}">
                    <a16:rowId xmlns:a16="http://schemas.microsoft.com/office/drawing/2014/main" val="1996944423"/>
                  </a:ext>
                </a:extLst>
              </a:tr>
            </a:tbl>
          </a:graphicData>
        </a:graphic>
      </p:graphicFrame>
      <p:pic>
        <p:nvPicPr>
          <p:cNvPr id="12" name="Google Shape;187;p25" descr="pngfind.com-kingpin-png-4152286 (1).png">
            <a:extLst>
              <a:ext uri="{FF2B5EF4-FFF2-40B4-BE49-F238E27FC236}">
                <a16:creationId xmlns:a16="http://schemas.microsoft.com/office/drawing/2014/main" id="{2DBF2481-A2DB-F96E-5749-B03DC4F71665}"/>
              </a:ext>
            </a:extLst>
          </p:cNvPr>
          <p:cNvPicPr preferRelativeResize="0"/>
          <p:nvPr/>
        </p:nvPicPr>
        <p:blipFill rotWithShape="1">
          <a:blip r:embed="rId2">
            <a:alphaModFix/>
          </a:blip>
          <a:srcRect/>
          <a:stretch/>
        </p:blipFill>
        <p:spPr>
          <a:xfrm>
            <a:off x="11044052" y="8268"/>
            <a:ext cx="1051261" cy="465287"/>
          </a:xfrm>
          <a:prstGeom prst="rect">
            <a:avLst/>
          </a:prstGeom>
          <a:noFill/>
          <a:ln>
            <a:noFill/>
          </a:ln>
        </p:spPr>
      </p:pic>
      <p:sp>
        <p:nvSpPr>
          <p:cNvPr id="14" name="Rectangle 13">
            <a:extLst>
              <a:ext uri="{FF2B5EF4-FFF2-40B4-BE49-F238E27FC236}">
                <a16:creationId xmlns:a16="http://schemas.microsoft.com/office/drawing/2014/main" id="{6EB9A5F7-B7D7-E008-8229-AD564931BCC6}"/>
              </a:ext>
            </a:extLst>
          </p:cNvPr>
          <p:cNvSpPr/>
          <p:nvPr/>
        </p:nvSpPr>
        <p:spPr>
          <a:xfrm>
            <a:off x="3844491" y="2967335"/>
            <a:ext cx="4503028" cy="707886"/>
          </a:xfrm>
          <a:prstGeom prst="rect">
            <a:avLst/>
          </a:prstGeom>
          <a:noFill/>
        </p:spPr>
        <p:txBody>
          <a:bodyPr wrap="none" lIns="91440" tIns="45720" rIns="91440" bIns="45720">
            <a:spAutoFit/>
          </a:bodyPr>
          <a:lstStyle/>
          <a:p>
            <a:pPr algn="ctr"/>
            <a:r>
              <a:rPr lang="en-US" sz="4000" b="1" dirty="0">
                <a:effectLst/>
                <a:latin typeface="Calibri" panose="020F0502020204030204" pitchFamily="34" charset="0"/>
                <a:ea typeface="Calibri" panose="020F0502020204030204" pitchFamily="34" charset="0"/>
                <a:cs typeface="Calibri" panose="020F0502020204030204" pitchFamily="34" charset="0"/>
              </a:rPr>
              <a:t>FDP on Data Science</a:t>
            </a:r>
            <a:endParaRPr lang="en-GB" sz="9600" b="1" cap="none" spc="0" dirty="0">
              <a:ln w="0"/>
              <a:solidFill>
                <a:schemeClr val="tx1"/>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Calibri" panose="020F0502020204030204" pitchFamily="34" charset="0"/>
            </a:endParaRPr>
          </a:p>
        </p:txBody>
      </p:sp>
      <p:sp>
        <p:nvSpPr>
          <p:cNvPr id="19" name="Rectangle 18">
            <a:extLst>
              <a:ext uri="{FF2B5EF4-FFF2-40B4-BE49-F238E27FC236}">
                <a16:creationId xmlns:a16="http://schemas.microsoft.com/office/drawing/2014/main" id="{A0702E37-2E7E-7262-5E76-F69A817105B3}"/>
              </a:ext>
            </a:extLst>
          </p:cNvPr>
          <p:cNvSpPr/>
          <p:nvPr/>
        </p:nvSpPr>
        <p:spPr>
          <a:xfrm>
            <a:off x="0" y="8268"/>
            <a:ext cx="12192000" cy="6825920"/>
          </a:xfrm>
          <a:prstGeom prst="rect">
            <a:avLst/>
          </a:prstGeom>
          <a:noFill/>
          <a:ln w="38100">
            <a:solidFill>
              <a:srgbClr val="0432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F1A96869-DAAF-E60B-8CD6-31288D9D9971}"/>
              </a:ext>
            </a:extLst>
          </p:cNvPr>
          <p:cNvSpPr txBox="1"/>
          <p:nvPr/>
        </p:nvSpPr>
        <p:spPr>
          <a:xfrm>
            <a:off x="4978803" y="4615391"/>
            <a:ext cx="2234394" cy="923330"/>
          </a:xfrm>
          <a:prstGeom prst="rect">
            <a:avLst/>
          </a:prstGeom>
          <a:noFill/>
        </p:spPr>
        <p:txBody>
          <a:bodyPr wrap="none" rtlCol="0">
            <a:spAutoFit/>
          </a:bodyPr>
          <a:lstStyle/>
          <a:p>
            <a:pPr algn="ctr"/>
            <a:r>
              <a:rPr lang="en-IN" b="1" dirty="0"/>
              <a:t>Dr. V. Vijayalakshmi</a:t>
            </a:r>
          </a:p>
          <a:p>
            <a:pPr algn="ctr"/>
            <a:r>
              <a:rPr lang="en-IN" b="1" dirty="0"/>
              <a:t>DSBS</a:t>
            </a:r>
          </a:p>
          <a:p>
            <a:pPr algn="ctr"/>
            <a:r>
              <a:rPr lang="en-IN" b="1" dirty="0"/>
              <a:t>SRMIST</a:t>
            </a:r>
          </a:p>
        </p:txBody>
      </p:sp>
    </p:spTree>
    <p:extLst>
      <p:ext uri="{BB962C8B-B14F-4D97-AF65-F5344CB8AC3E}">
        <p14:creationId xmlns:p14="http://schemas.microsoft.com/office/powerpoint/2010/main" val="15174136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Table 8">
            <a:extLst>
              <a:ext uri="{FF2B5EF4-FFF2-40B4-BE49-F238E27FC236}">
                <a16:creationId xmlns:a16="http://schemas.microsoft.com/office/drawing/2014/main" id="{0B6EC464-4750-5FF3-7A5A-15612BA6E293}"/>
              </a:ext>
            </a:extLst>
          </p:cNvPr>
          <p:cNvGraphicFramePr>
            <a:graphicFrameLocks noGrp="1"/>
          </p:cNvGraphicFramePr>
          <p:nvPr/>
        </p:nvGraphicFramePr>
        <p:xfrm>
          <a:off x="0" y="23812"/>
          <a:ext cx="12192000" cy="465287"/>
        </p:xfrm>
        <a:graphic>
          <a:graphicData uri="http://schemas.openxmlformats.org/drawingml/2006/table">
            <a:tbl>
              <a:tblPr firstRow="1" bandRow="1">
                <a:tableStyleId>{5C22544A-7EE6-4342-B048-85BDC9FD1C3A}</a:tableStyleId>
              </a:tblPr>
              <a:tblGrid>
                <a:gridCol w="6092042">
                  <a:extLst>
                    <a:ext uri="{9D8B030D-6E8A-4147-A177-3AD203B41FA5}">
                      <a16:colId xmlns:a16="http://schemas.microsoft.com/office/drawing/2014/main" val="2179694530"/>
                    </a:ext>
                  </a:extLst>
                </a:gridCol>
                <a:gridCol w="6099958">
                  <a:extLst>
                    <a:ext uri="{9D8B030D-6E8A-4147-A177-3AD203B41FA5}">
                      <a16:colId xmlns:a16="http://schemas.microsoft.com/office/drawing/2014/main" val="2768207918"/>
                    </a:ext>
                  </a:extLst>
                </a:gridCol>
              </a:tblGrid>
              <a:tr h="465287">
                <a:tc>
                  <a:txBody>
                    <a:bodyPr/>
                    <a:lstStyle/>
                    <a:p>
                      <a:endParaRPr lang="en-US" dirty="0"/>
                    </a:p>
                  </a:txBody>
                  <a:tcPr>
                    <a:solidFill>
                      <a:srgbClr val="FF85FF"/>
                    </a:solidFill>
                  </a:tcPr>
                </a:tc>
                <a:tc>
                  <a:txBody>
                    <a:bodyPr/>
                    <a:lstStyle/>
                    <a:p>
                      <a:endParaRPr lang="en-US" dirty="0"/>
                    </a:p>
                  </a:txBody>
                  <a:tcPr>
                    <a:solidFill>
                      <a:srgbClr val="FFFF00"/>
                    </a:solidFill>
                  </a:tcPr>
                </a:tc>
                <a:extLst>
                  <a:ext uri="{0D108BD9-81ED-4DB2-BD59-A6C34878D82A}">
                    <a16:rowId xmlns:a16="http://schemas.microsoft.com/office/drawing/2014/main" val="1996944423"/>
                  </a:ext>
                </a:extLst>
              </a:tr>
            </a:tbl>
          </a:graphicData>
        </a:graphic>
      </p:graphicFrame>
      <p:graphicFrame>
        <p:nvGraphicFramePr>
          <p:cNvPr id="10" name="Table 9">
            <a:extLst>
              <a:ext uri="{FF2B5EF4-FFF2-40B4-BE49-F238E27FC236}">
                <a16:creationId xmlns:a16="http://schemas.microsoft.com/office/drawing/2014/main" id="{494BAFB7-FE1F-E1A9-7A6C-AB4145BD9BA1}"/>
              </a:ext>
            </a:extLst>
          </p:cNvPr>
          <p:cNvGraphicFramePr>
            <a:graphicFrameLocks noGrp="1"/>
          </p:cNvGraphicFramePr>
          <p:nvPr>
            <p:extLst>
              <p:ext uri="{D42A27DB-BD31-4B8C-83A1-F6EECF244321}">
                <p14:modId xmlns:p14="http://schemas.microsoft.com/office/powerpoint/2010/main" val="151798067"/>
              </p:ext>
            </p:extLst>
          </p:nvPr>
        </p:nvGraphicFramePr>
        <p:xfrm>
          <a:off x="1" y="6478892"/>
          <a:ext cx="12191999" cy="370840"/>
        </p:xfrm>
        <a:graphic>
          <a:graphicData uri="http://schemas.openxmlformats.org/drawingml/2006/table">
            <a:tbl>
              <a:tblPr firstRow="1" bandRow="1">
                <a:tableStyleId>{5C22544A-7EE6-4342-B048-85BDC9FD1C3A}</a:tableStyleId>
              </a:tblPr>
              <a:tblGrid>
                <a:gridCol w="6080165">
                  <a:extLst>
                    <a:ext uri="{9D8B030D-6E8A-4147-A177-3AD203B41FA5}">
                      <a16:colId xmlns:a16="http://schemas.microsoft.com/office/drawing/2014/main" val="2179694530"/>
                    </a:ext>
                  </a:extLst>
                </a:gridCol>
                <a:gridCol w="6111834">
                  <a:extLst>
                    <a:ext uri="{9D8B030D-6E8A-4147-A177-3AD203B41FA5}">
                      <a16:colId xmlns:a16="http://schemas.microsoft.com/office/drawing/2014/main" val="2768207918"/>
                    </a:ext>
                  </a:extLst>
                </a:gridCol>
              </a:tblGrid>
              <a:tr h="370840">
                <a:tc>
                  <a:txBody>
                    <a:bodyPr/>
                    <a:lstStyle/>
                    <a:p>
                      <a:endParaRPr lang="en-US" dirty="0"/>
                    </a:p>
                  </a:txBody>
                  <a:tcPr>
                    <a:solidFill>
                      <a:srgbClr val="FFFF00"/>
                    </a:solidFill>
                  </a:tcPr>
                </a:tc>
                <a:tc>
                  <a:txBody>
                    <a:bodyPr/>
                    <a:lstStyle/>
                    <a:p>
                      <a:pPr algn="r"/>
                      <a:r>
                        <a:rPr lang="en-US" dirty="0">
                          <a:solidFill>
                            <a:schemeClr val="tx1"/>
                          </a:solidFill>
                        </a:rPr>
                        <a:t>2</a:t>
                      </a:r>
                    </a:p>
                  </a:txBody>
                  <a:tcPr>
                    <a:solidFill>
                      <a:srgbClr val="FF85FF"/>
                    </a:solidFill>
                  </a:tcPr>
                </a:tc>
                <a:extLst>
                  <a:ext uri="{0D108BD9-81ED-4DB2-BD59-A6C34878D82A}">
                    <a16:rowId xmlns:a16="http://schemas.microsoft.com/office/drawing/2014/main" val="1996944423"/>
                  </a:ext>
                </a:extLst>
              </a:tr>
            </a:tbl>
          </a:graphicData>
        </a:graphic>
      </p:graphicFrame>
      <p:pic>
        <p:nvPicPr>
          <p:cNvPr id="12" name="Google Shape;187;p25" descr="pngfind.com-kingpin-png-4152286 (1).png">
            <a:extLst>
              <a:ext uri="{FF2B5EF4-FFF2-40B4-BE49-F238E27FC236}">
                <a16:creationId xmlns:a16="http://schemas.microsoft.com/office/drawing/2014/main" id="{2DBF2481-A2DB-F96E-5749-B03DC4F71665}"/>
              </a:ext>
            </a:extLst>
          </p:cNvPr>
          <p:cNvPicPr preferRelativeResize="0"/>
          <p:nvPr/>
        </p:nvPicPr>
        <p:blipFill rotWithShape="1">
          <a:blip r:embed="rId2">
            <a:alphaModFix/>
          </a:blip>
          <a:srcRect/>
          <a:stretch/>
        </p:blipFill>
        <p:spPr>
          <a:xfrm>
            <a:off x="11044052" y="8268"/>
            <a:ext cx="1051261" cy="465287"/>
          </a:xfrm>
          <a:prstGeom prst="rect">
            <a:avLst/>
          </a:prstGeom>
          <a:noFill/>
          <a:ln>
            <a:noFill/>
          </a:ln>
        </p:spPr>
      </p:pic>
      <p:sp>
        <p:nvSpPr>
          <p:cNvPr id="14" name="Rectangle 13">
            <a:extLst>
              <a:ext uri="{FF2B5EF4-FFF2-40B4-BE49-F238E27FC236}">
                <a16:creationId xmlns:a16="http://schemas.microsoft.com/office/drawing/2014/main" id="{6EB9A5F7-B7D7-E008-8229-AD564931BCC6}"/>
              </a:ext>
            </a:extLst>
          </p:cNvPr>
          <p:cNvSpPr/>
          <p:nvPr/>
        </p:nvSpPr>
        <p:spPr>
          <a:xfrm>
            <a:off x="3890585" y="800605"/>
            <a:ext cx="4132543" cy="707886"/>
          </a:xfrm>
          <a:prstGeom prst="rect">
            <a:avLst/>
          </a:prstGeom>
          <a:noFill/>
        </p:spPr>
        <p:txBody>
          <a:bodyPr wrap="none" lIns="91440" tIns="45720" rIns="91440" bIns="45720">
            <a:spAutoFit/>
          </a:bodyPr>
          <a:lstStyle/>
          <a:p>
            <a:pPr algn="ctr"/>
            <a:r>
              <a:rPr lang="en-US" sz="4000" b="1" dirty="0">
                <a:effectLst/>
                <a:latin typeface="Calibri" panose="020F0502020204030204" pitchFamily="34" charset="0"/>
                <a:ea typeface="Calibri" panose="020F0502020204030204" pitchFamily="34" charset="0"/>
                <a:cs typeface="Calibri" panose="020F0502020204030204" pitchFamily="34" charset="0"/>
              </a:rPr>
              <a:t>Data Science to All</a:t>
            </a:r>
            <a:endParaRPr lang="en-GB" sz="9600" b="1" cap="none" spc="0" dirty="0">
              <a:ln w="0"/>
              <a:solidFill>
                <a:schemeClr val="tx1"/>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Calibri" panose="020F0502020204030204" pitchFamily="34" charset="0"/>
            </a:endParaRPr>
          </a:p>
        </p:txBody>
      </p:sp>
      <p:sp>
        <p:nvSpPr>
          <p:cNvPr id="19" name="Rectangle 18">
            <a:extLst>
              <a:ext uri="{FF2B5EF4-FFF2-40B4-BE49-F238E27FC236}">
                <a16:creationId xmlns:a16="http://schemas.microsoft.com/office/drawing/2014/main" id="{A0702E37-2E7E-7262-5E76-F69A817105B3}"/>
              </a:ext>
            </a:extLst>
          </p:cNvPr>
          <p:cNvSpPr/>
          <p:nvPr/>
        </p:nvSpPr>
        <p:spPr>
          <a:xfrm>
            <a:off x="0" y="8268"/>
            <a:ext cx="12192000" cy="6825920"/>
          </a:xfrm>
          <a:prstGeom prst="rect">
            <a:avLst/>
          </a:prstGeom>
          <a:noFill/>
          <a:ln w="38100">
            <a:solidFill>
              <a:srgbClr val="0432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descr="A screenshot of a computer&#10;&#10;Description automatically generated">
            <a:extLst>
              <a:ext uri="{FF2B5EF4-FFF2-40B4-BE49-F238E27FC236}">
                <a16:creationId xmlns:a16="http://schemas.microsoft.com/office/drawing/2014/main" id="{449507A7-967B-8935-96CF-C42F1931FF0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05075" y="1819997"/>
            <a:ext cx="11381849" cy="3457681"/>
          </a:xfrm>
          <a:prstGeom prst="rect">
            <a:avLst/>
          </a:prstGeom>
        </p:spPr>
      </p:pic>
    </p:spTree>
    <p:extLst>
      <p:ext uri="{BB962C8B-B14F-4D97-AF65-F5344CB8AC3E}">
        <p14:creationId xmlns:p14="http://schemas.microsoft.com/office/powerpoint/2010/main" val="30485166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Table 8">
            <a:extLst>
              <a:ext uri="{FF2B5EF4-FFF2-40B4-BE49-F238E27FC236}">
                <a16:creationId xmlns:a16="http://schemas.microsoft.com/office/drawing/2014/main" id="{0B6EC464-4750-5FF3-7A5A-15612BA6E293}"/>
              </a:ext>
            </a:extLst>
          </p:cNvPr>
          <p:cNvGraphicFramePr>
            <a:graphicFrameLocks noGrp="1"/>
          </p:cNvGraphicFramePr>
          <p:nvPr/>
        </p:nvGraphicFramePr>
        <p:xfrm>
          <a:off x="0" y="23812"/>
          <a:ext cx="12192000" cy="465287"/>
        </p:xfrm>
        <a:graphic>
          <a:graphicData uri="http://schemas.openxmlformats.org/drawingml/2006/table">
            <a:tbl>
              <a:tblPr firstRow="1" bandRow="1">
                <a:tableStyleId>{5C22544A-7EE6-4342-B048-85BDC9FD1C3A}</a:tableStyleId>
              </a:tblPr>
              <a:tblGrid>
                <a:gridCol w="6092042">
                  <a:extLst>
                    <a:ext uri="{9D8B030D-6E8A-4147-A177-3AD203B41FA5}">
                      <a16:colId xmlns:a16="http://schemas.microsoft.com/office/drawing/2014/main" val="2179694530"/>
                    </a:ext>
                  </a:extLst>
                </a:gridCol>
                <a:gridCol w="6099958">
                  <a:extLst>
                    <a:ext uri="{9D8B030D-6E8A-4147-A177-3AD203B41FA5}">
                      <a16:colId xmlns:a16="http://schemas.microsoft.com/office/drawing/2014/main" val="2768207918"/>
                    </a:ext>
                  </a:extLst>
                </a:gridCol>
              </a:tblGrid>
              <a:tr h="465287">
                <a:tc>
                  <a:txBody>
                    <a:bodyPr/>
                    <a:lstStyle/>
                    <a:p>
                      <a:endParaRPr lang="en-US" dirty="0"/>
                    </a:p>
                  </a:txBody>
                  <a:tcPr>
                    <a:solidFill>
                      <a:srgbClr val="FF85FF"/>
                    </a:solidFill>
                  </a:tcPr>
                </a:tc>
                <a:tc>
                  <a:txBody>
                    <a:bodyPr/>
                    <a:lstStyle/>
                    <a:p>
                      <a:endParaRPr lang="en-US" dirty="0"/>
                    </a:p>
                  </a:txBody>
                  <a:tcPr>
                    <a:solidFill>
                      <a:srgbClr val="FFFF00"/>
                    </a:solidFill>
                  </a:tcPr>
                </a:tc>
                <a:extLst>
                  <a:ext uri="{0D108BD9-81ED-4DB2-BD59-A6C34878D82A}">
                    <a16:rowId xmlns:a16="http://schemas.microsoft.com/office/drawing/2014/main" val="1996944423"/>
                  </a:ext>
                </a:extLst>
              </a:tr>
            </a:tbl>
          </a:graphicData>
        </a:graphic>
      </p:graphicFrame>
      <p:graphicFrame>
        <p:nvGraphicFramePr>
          <p:cNvPr id="10" name="Table 9">
            <a:extLst>
              <a:ext uri="{FF2B5EF4-FFF2-40B4-BE49-F238E27FC236}">
                <a16:creationId xmlns:a16="http://schemas.microsoft.com/office/drawing/2014/main" id="{494BAFB7-FE1F-E1A9-7A6C-AB4145BD9BA1}"/>
              </a:ext>
            </a:extLst>
          </p:cNvPr>
          <p:cNvGraphicFramePr>
            <a:graphicFrameLocks noGrp="1"/>
          </p:cNvGraphicFramePr>
          <p:nvPr>
            <p:extLst>
              <p:ext uri="{D42A27DB-BD31-4B8C-83A1-F6EECF244321}">
                <p14:modId xmlns:p14="http://schemas.microsoft.com/office/powerpoint/2010/main" val="1949266110"/>
              </p:ext>
            </p:extLst>
          </p:nvPr>
        </p:nvGraphicFramePr>
        <p:xfrm>
          <a:off x="1" y="6478892"/>
          <a:ext cx="12191999" cy="370840"/>
        </p:xfrm>
        <a:graphic>
          <a:graphicData uri="http://schemas.openxmlformats.org/drawingml/2006/table">
            <a:tbl>
              <a:tblPr firstRow="1" bandRow="1">
                <a:tableStyleId>{5C22544A-7EE6-4342-B048-85BDC9FD1C3A}</a:tableStyleId>
              </a:tblPr>
              <a:tblGrid>
                <a:gridCol w="6080165">
                  <a:extLst>
                    <a:ext uri="{9D8B030D-6E8A-4147-A177-3AD203B41FA5}">
                      <a16:colId xmlns:a16="http://schemas.microsoft.com/office/drawing/2014/main" val="2179694530"/>
                    </a:ext>
                  </a:extLst>
                </a:gridCol>
                <a:gridCol w="6111834">
                  <a:extLst>
                    <a:ext uri="{9D8B030D-6E8A-4147-A177-3AD203B41FA5}">
                      <a16:colId xmlns:a16="http://schemas.microsoft.com/office/drawing/2014/main" val="2768207918"/>
                    </a:ext>
                  </a:extLst>
                </a:gridCol>
              </a:tblGrid>
              <a:tr h="370840">
                <a:tc>
                  <a:txBody>
                    <a:bodyPr/>
                    <a:lstStyle/>
                    <a:p>
                      <a:endParaRPr lang="en-US" dirty="0"/>
                    </a:p>
                  </a:txBody>
                  <a:tcPr>
                    <a:solidFill>
                      <a:srgbClr val="FFFF00"/>
                    </a:solidFill>
                  </a:tcPr>
                </a:tc>
                <a:tc>
                  <a:txBody>
                    <a:bodyPr/>
                    <a:lstStyle/>
                    <a:p>
                      <a:pPr algn="r"/>
                      <a:r>
                        <a:rPr lang="en-US" dirty="0">
                          <a:solidFill>
                            <a:schemeClr val="tx1"/>
                          </a:solidFill>
                        </a:rPr>
                        <a:t>3</a:t>
                      </a:r>
                    </a:p>
                  </a:txBody>
                  <a:tcPr>
                    <a:solidFill>
                      <a:srgbClr val="FF85FF"/>
                    </a:solidFill>
                  </a:tcPr>
                </a:tc>
                <a:extLst>
                  <a:ext uri="{0D108BD9-81ED-4DB2-BD59-A6C34878D82A}">
                    <a16:rowId xmlns:a16="http://schemas.microsoft.com/office/drawing/2014/main" val="1996944423"/>
                  </a:ext>
                </a:extLst>
              </a:tr>
            </a:tbl>
          </a:graphicData>
        </a:graphic>
      </p:graphicFrame>
      <p:pic>
        <p:nvPicPr>
          <p:cNvPr id="12" name="Google Shape;187;p25" descr="pngfind.com-kingpin-png-4152286 (1).png">
            <a:extLst>
              <a:ext uri="{FF2B5EF4-FFF2-40B4-BE49-F238E27FC236}">
                <a16:creationId xmlns:a16="http://schemas.microsoft.com/office/drawing/2014/main" id="{2DBF2481-A2DB-F96E-5749-B03DC4F71665}"/>
              </a:ext>
            </a:extLst>
          </p:cNvPr>
          <p:cNvPicPr preferRelativeResize="0"/>
          <p:nvPr/>
        </p:nvPicPr>
        <p:blipFill rotWithShape="1">
          <a:blip r:embed="rId2">
            <a:alphaModFix/>
          </a:blip>
          <a:srcRect/>
          <a:stretch/>
        </p:blipFill>
        <p:spPr>
          <a:xfrm>
            <a:off x="11044052" y="8268"/>
            <a:ext cx="1051261" cy="465287"/>
          </a:xfrm>
          <a:prstGeom prst="rect">
            <a:avLst/>
          </a:prstGeom>
          <a:noFill/>
          <a:ln>
            <a:noFill/>
          </a:ln>
        </p:spPr>
      </p:pic>
      <p:sp>
        <p:nvSpPr>
          <p:cNvPr id="14" name="Rectangle 13">
            <a:extLst>
              <a:ext uri="{FF2B5EF4-FFF2-40B4-BE49-F238E27FC236}">
                <a16:creationId xmlns:a16="http://schemas.microsoft.com/office/drawing/2014/main" id="{6EB9A5F7-B7D7-E008-8229-AD564931BCC6}"/>
              </a:ext>
            </a:extLst>
          </p:cNvPr>
          <p:cNvSpPr/>
          <p:nvPr/>
        </p:nvSpPr>
        <p:spPr>
          <a:xfrm>
            <a:off x="2982074" y="2967335"/>
            <a:ext cx="6227860" cy="707886"/>
          </a:xfrm>
          <a:prstGeom prst="rect">
            <a:avLst/>
          </a:prstGeom>
          <a:noFill/>
        </p:spPr>
        <p:txBody>
          <a:bodyPr wrap="none" lIns="91440" tIns="45720" rIns="91440" bIns="45720">
            <a:spAutoFit/>
          </a:bodyPr>
          <a:lstStyle/>
          <a:p>
            <a:pPr algn="ctr"/>
            <a:r>
              <a:rPr lang="en-US" sz="4000" b="1" dirty="0">
                <a:effectLst/>
                <a:latin typeface="Calibri" panose="020F0502020204030204" pitchFamily="34" charset="0"/>
                <a:ea typeface="Calibri" panose="020F0502020204030204" pitchFamily="34" charset="0"/>
                <a:cs typeface="Calibri" panose="020F0502020204030204" pitchFamily="34" charset="0"/>
              </a:rPr>
              <a:t>Introduction to Data Science</a:t>
            </a:r>
            <a:endParaRPr lang="en-GB" sz="9600" b="1" cap="none" spc="0" dirty="0">
              <a:ln w="0"/>
              <a:solidFill>
                <a:schemeClr val="tx1"/>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Calibri" panose="020F0502020204030204" pitchFamily="34" charset="0"/>
            </a:endParaRPr>
          </a:p>
        </p:txBody>
      </p:sp>
      <p:sp>
        <p:nvSpPr>
          <p:cNvPr id="19" name="Rectangle 18">
            <a:extLst>
              <a:ext uri="{FF2B5EF4-FFF2-40B4-BE49-F238E27FC236}">
                <a16:creationId xmlns:a16="http://schemas.microsoft.com/office/drawing/2014/main" id="{A0702E37-2E7E-7262-5E76-F69A817105B3}"/>
              </a:ext>
            </a:extLst>
          </p:cNvPr>
          <p:cNvSpPr/>
          <p:nvPr/>
        </p:nvSpPr>
        <p:spPr>
          <a:xfrm>
            <a:off x="0" y="8268"/>
            <a:ext cx="12192000" cy="6825920"/>
          </a:xfrm>
          <a:prstGeom prst="rect">
            <a:avLst/>
          </a:prstGeom>
          <a:noFill/>
          <a:ln w="38100">
            <a:solidFill>
              <a:srgbClr val="0432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2062171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Table 8">
            <a:extLst>
              <a:ext uri="{FF2B5EF4-FFF2-40B4-BE49-F238E27FC236}">
                <a16:creationId xmlns:a16="http://schemas.microsoft.com/office/drawing/2014/main" id="{0B6EC464-4750-5FF3-7A5A-15612BA6E293}"/>
              </a:ext>
            </a:extLst>
          </p:cNvPr>
          <p:cNvGraphicFramePr>
            <a:graphicFrameLocks noGrp="1"/>
          </p:cNvGraphicFramePr>
          <p:nvPr/>
        </p:nvGraphicFramePr>
        <p:xfrm>
          <a:off x="0" y="23812"/>
          <a:ext cx="12192000" cy="465287"/>
        </p:xfrm>
        <a:graphic>
          <a:graphicData uri="http://schemas.openxmlformats.org/drawingml/2006/table">
            <a:tbl>
              <a:tblPr firstRow="1" bandRow="1">
                <a:tableStyleId>{5C22544A-7EE6-4342-B048-85BDC9FD1C3A}</a:tableStyleId>
              </a:tblPr>
              <a:tblGrid>
                <a:gridCol w="6092042">
                  <a:extLst>
                    <a:ext uri="{9D8B030D-6E8A-4147-A177-3AD203B41FA5}">
                      <a16:colId xmlns:a16="http://schemas.microsoft.com/office/drawing/2014/main" val="2179694530"/>
                    </a:ext>
                  </a:extLst>
                </a:gridCol>
                <a:gridCol w="6099958">
                  <a:extLst>
                    <a:ext uri="{9D8B030D-6E8A-4147-A177-3AD203B41FA5}">
                      <a16:colId xmlns:a16="http://schemas.microsoft.com/office/drawing/2014/main" val="2768207918"/>
                    </a:ext>
                  </a:extLst>
                </a:gridCol>
              </a:tblGrid>
              <a:tr h="465287">
                <a:tc>
                  <a:txBody>
                    <a:bodyPr/>
                    <a:lstStyle/>
                    <a:p>
                      <a:endParaRPr lang="en-US" dirty="0"/>
                    </a:p>
                  </a:txBody>
                  <a:tcPr>
                    <a:solidFill>
                      <a:srgbClr val="FF85FF"/>
                    </a:solidFill>
                  </a:tcPr>
                </a:tc>
                <a:tc>
                  <a:txBody>
                    <a:bodyPr/>
                    <a:lstStyle/>
                    <a:p>
                      <a:endParaRPr lang="en-US" dirty="0"/>
                    </a:p>
                  </a:txBody>
                  <a:tcPr>
                    <a:solidFill>
                      <a:srgbClr val="FFFF00"/>
                    </a:solidFill>
                  </a:tcPr>
                </a:tc>
                <a:extLst>
                  <a:ext uri="{0D108BD9-81ED-4DB2-BD59-A6C34878D82A}">
                    <a16:rowId xmlns:a16="http://schemas.microsoft.com/office/drawing/2014/main" val="1996944423"/>
                  </a:ext>
                </a:extLst>
              </a:tr>
            </a:tbl>
          </a:graphicData>
        </a:graphic>
      </p:graphicFrame>
      <p:graphicFrame>
        <p:nvGraphicFramePr>
          <p:cNvPr id="10" name="Table 9">
            <a:extLst>
              <a:ext uri="{FF2B5EF4-FFF2-40B4-BE49-F238E27FC236}">
                <a16:creationId xmlns:a16="http://schemas.microsoft.com/office/drawing/2014/main" id="{494BAFB7-FE1F-E1A9-7A6C-AB4145BD9BA1}"/>
              </a:ext>
            </a:extLst>
          </p:cNvPr>
          <p:cNvGraphicFramePr>
            <a:graphicFrameLocks noGrp="1"/>
          </p:cNvGraphicFramePr>
          <p:nvPr>
            <p:extLst>
              <p:ext uri="{D42A27DB-BD31-4B8C-83A1-F6EECF244321}">
                <p14:modId xmlns:p14="http://schemas.microsoft.com/office/powerpoint/2010/main" val="2955735016"/>
              </p:ext>
            </p:extLst>
          </p:nvPr>
        </p:nvGraphicFramePr>
        <p:xfrm>
          <a:off x="1" y="6478892"/>
          <a:ext cx="12191999" cy="370840"/>
        </p:xfrm>
        <a:graphic>
          <a:graphicData uri="http://schemas.openxmlformats.org/drawingml/2006/table">
            <a:tbl>
              <a:tblPr firstRow="1" bandRow="1">
                <a:tableStyleId>{5C22544A-7EE6-4342-B048-85BDC9FD1C3A}</a:tableStyleId>
              </a:tblPr>
              <a:tblGrid>
                <a:gridCol w="6080165">
                  <a:extLst>
                    <a:ext uri="{9D8B030D-6E8A-4147-A177-3AD203B41FA5}">
                      <a16:colId xmlns:a16="http://schemas.microsoft.com/office/drawing/2014/main" val="2179694530"/>
                    </a:ext>
                  </a:extLst>
                </a:gridCol>
                <a:gridCol w="6111834">
                  <a:extLst>
                    <a:ext uri="{9D8B030D-6E8A-4147-A177-3AD203B41FA5}">
                      <a16:colId xmlns:a16="http://schemas.microsoft.com/office/drawing/2014/main" val="2768207918"/>
                    </a:ext>
                  </a:extLst>
                </a:gridCol>
              </a:tblGrid>
              <a:tr h="370840">
                <a:tc>
                  <a:txBody>
                    <a:bodyPr/>
                    <a:lstStyle/>
                    <a:p>
                      <a:endParaRPr lang="en-US" dirty="0"/>
                    </a:p>
                  </a:txBody>
                  <a:tcPr>
                    <a:solidFill>
                      <a:srgbClr val="FFFF00"/>
                    </a:solidFill>
                  </a:tcPr>
                </a:tc>
                <a:tc>
                  <a:txBody>
                    <a:bodyPr/>
                    <a:lstStyle/>
                    <a:p>
                      <a:pPr algn="r"/>
                      <a:r>
                        <a:rPr lang="en-US" dirty="0">
                          <a:solidFill>
                            <a:schemeClr val="tx1"/>
                          </a:solidFill>
                        </a:rPr>
                        <a:t>4</a:t>
                      </a:r>
                    </a:p>
                  </a:txBody>
                  <a:tcPr>
                    <a:solidFill>
                      <a:srgbClr val="FF85FF"/>
                    </a:solidFill>
                  </a:tcPr>
                </a:tc>
                <a:extLst>
                  <a:ext uri="{0D108BD9-81ED-4DB2-BD59-A6C34878D82A}">
                    <a16:rowId xmlns:a16="http://schemas.microsoft.com/office/drawing/2014/main" val="1996944423"/>
                  </a:ext>
                </a:extLst>
              </a:tr>
            </a:tbl>
          </a:graphicData>
        </a:graphic>
      </p:graphicFrame>
      <p:pic>
        <p:nvPicPr>
          <p:cNvPr id="12" name="Google Shape;187;p25" descr="pngfind.com-kingpin-png-4152286 (1).png">
            <a:extLst>
              <a:ext uri="{FF2B5EF4-FFF2-40B4-BE49-F238E27FC236}">
                <a16:creationId xmlns:a16="http://schemas.microsoft.com/office/drawing/2014/main" id="{2DBF2481-A2DB-F96E-5749-B03DC4F71665}"/>
              </a:ext>
            </a:extLst>
          </p:cNvPr>
          <p:cNvPicPr preferRelativeResize="0"/>
          <p:nvPr/>
        </p:nvPicPr>
        <p:blipFill rotWithShape="1">
          <a:blip r:embed="rId2">
            <a:alphaModFix/>
          </a:blip>
          <a:srcRect/>
          <a:stretch/>
        </p:blipFill>
        <p:spPr>
          <a:xfrm>
            <a:off x="11044052" y="8268"/>
            <a:ext cx="1051261" cy="465287"/>
          </a:xfrm>
          <a:prstGeom prst="rect">
            <a:avLst/>
          </a:prstGeom>
          <a:noFill/>
          <a:ln>
            <a:noFill/>
          </a:ln>
        </p:spPr>
      </p:pic>
      <p:sp>
        <p:nvSpPr>
          <p:cNvPr id="19" name="Rectangle 18">
            <a:extLst>
              <a:ext uri="{FF2B5EF4-FFF2-40B4-BE49-F238E27FC236}">
                <a16:creationId xmlns:a16="http://schemas.microsoft.com/office/drawing/2014/main" id="{A0702E37-2E7E-7262-5E76-F69A817105B3}"/>
              </a:ext>
            </a:extLst>
          </p:cNvPr>
          <p:cNvSpPr/>
          <p:nvPr/>
        </p:nvSpPr>
        <p:spPr>
          <a:xfrm>
            <a:off x="0" y="8268"/>
            <a:ext cx="12192000" cy="6825920"/>
          </a:xfrm>
          <a:prstGeom prst="rect">
            <a:avLst/>
          </a:prstGeom>
          <a:noFill/>
          <a:ln w="38100">
            <a:solidFill>
              <a:srgbClr val="0432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DCB2A3F0-9003-5886-09B4-27925BBE4000}"/>
              </a:ext>
            </a:extLst>
          </p:cNvPr>
          <p:cNvSpPr txBox="1"/>
          <p:nvPr/>
        </p:nvSpPr>
        <p:spPr>
          <a:xfrm>
            <a:off x="0" y="873851"/>
            <a:ext cx="12191999" cy="646331"/>
          </a:xfrm>
          <a:prstGeom prst="rect">
            <a:avLst/>
          </a:prstGeom>
          <a:noFill/>
        </p:spPr>
        <p:txBody>
          <a:bodyPr wrap="square">
            <a:spAutoFit/>
          </a:bodyPr>
          <a:lstStyle/>
          <a:p>
            <a:pPr algn="ctr"/>
            <a:r>
              <a:rPr lang="en-US" sz="3600" b="1" dirty="0">
                <a:effectLst/>
                <a:latin typeface="Calibri" panose="020F0502020204030204" pitchFamily="34" charset="0"/>
                <a:ea typeface="Calibri" panose="020F0502020204030204" pitchFamily="34" charset="0"/>
                <a:cs typeface="Calibri" panose="020F0502020204030204" pitchFamily="34" charset="0"/>
              </a:rPr>
              <a:t>Introduction to Data Science</a:t>
            </a:r>
            <a:endParaRPr lang="en-GB" sz="8800" b="1" cap="none" spc="0" dirty="0">
              <a:ln w="0"/>
              <a:solidFill>
                <a:schemeClr val="tx1"/>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Calibri" panose="020F0502020204030204" pitchFamily="34" charset="0"/>
            </a:endParaRPr>
          </a:p>
        </p:txBody>
      </p:sp>
      <p:sp>
        <p:nvSpPr>
          <p:cNvPr id="5" name="TextBox 4">
            <a:extLst>
              <a:ext uri="{FF2B5EF4-FFF2-40B4-BE49-F238E27FC236}">
                <a16:creationId xmlns:a16="http://schemas.microsoft.com/office/drawing/2014/main" id="{57BF3EEF-553A-D37A-6EF6-B514AF07FC3C}"/>
              </a:ext>
            </a:extLst>
          </p:cNvPr>
          <p:cNvSpPr txBox="1"/>
          <p:nvPr/>
        </p:nvSpPr>
        <p:spPr>
          <a:xfrm>
            <a:off x="487016" y="1574931"/>
            <a:ext cx="10972801" cy="1711366"/>
          </a:xfrm>
          <a:prstGeom prst="rect">
            <a:avLst/>
          </a:prstGeom>
          <a:noFill/>
        </p:spPr>
        <p:txBody>
          <a:bodyPr wrap="square">
            <a:spAutoFit/>
          </a:bodyPr>
          <a:lstStyle/>
          <a:p>
            <a:pPr marL="283464" indent="-283464" algn="just" rtl="0" eaLnBrk="1" latinLnBrk="0" hangingPunct="1">
              <a:lnSpc>
                <a:spcPct val="150000"/>
              </a:lnSpc>
              <a:spcBef>
                <a:spcPts val="0"/>
              </a:spcBef>
              <a:spcAft>
                <a:spcPts val="0"/>
              </a:spcAft>
              <a:buClrTx/>
              <a:buSzPts val="1800"/>
              <a:buFont typeface="Arial" panose="020B0604020202020204" pitchFamily="34" charset="0"/>
              <a:buChar char="•"/>
            </a:pPr>
            <a:r>
              <a:rPr lang="en-US" b="1" i="0" dirty="0">
                <a:solidFill>
                  <a:srgbClr val="273239"/>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Data science </a:t>
            </a:r>
            <a:r>
              <a:rPr lang="en-US" b="0" i="0" dirty="0">
                <a:solidFill>
                  <a:srgbClr val="273239"/>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is a multidisciplinary field that uses statistical and computational methods to extract insights and knowledge from data. </a:t>
            </a:r>
          </a:p>
          <a:p>
            <a:pPr marL="283464" indent="-283464" algn="just" rtl="0" eaLnBrk="1" latinLnBrk="0" hangingPunct="1">
              <a:lnSpc>
                <a:spcPct val="150000"/>
              </a:lnSpc>
              <a:spcBef>
                <a:spcPts val="0"/>
              </a:spcBef>
              <a:spcAft>
                <a:spcPts val="0"/>
              </a:spcAft>
              <a:buClrTx/>
              <a:buSzPts val="1800"/>
              <a:buFont typeface="Arial" panose="020B0604020202020204" pitchFamily="34" charset="0"/>
              <a:buChar char="•"/>
            </a:pPr>
            <a:r>
              <a:rPr lang="en-US" b="0" i="0" dirty="0">
                <a:solidFill>
                  <a:srgbClr val="273239"/>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It involves a combination of skills and knowledge from various fields such as statistics, computer science, mathematics, and domain expertise.</a:t>
            </a:r>
            <a:endParaRPr lang="en-IN" sz="1800" dirty="0">
              <a:effectLst/>
              <a:latin typeface="Calibri" panose="020F0502020204030204" pitchFamily="34" charset="0"/>
              <a:ea typeface="Calibri" panose="020F0502020204030204" pitchFamily="34" charset="0"/>
              <a:cs typeface="Calibri" panose="020F0502020204030204" pitchFamily="34" charset="0"/>
            </a:endParaRPr>
          </a:p>
        </p:txBody>
      </p:sp>
      <p:pic>
        <p:nvPicPr>
          <p:cNvPr id="2" name="Picture 1">
            <a:extLst>
              <a:ext uri="{FF2B5EF4-FFF2-40B4-BE49-F238E27FC236}">
                <a16:creationId xmlns:a16="http://schemas.microsoft.com/office/drawing/2014/main" id="{2D117B8E-9491-4CCD-98B6-673D608F19D5}"/>
              </a:ext>
            </a:extLst>
          </p:cNvPr>
          <p:cNvPicPr>
            <a:picLocks noChangeAspect="1"/>
          </p:cNvPicPr>
          <p:nvPr/>
        </p:nvPicPr>
        <p:blipFill>
          <a:blip r:embed="rId3"/>
          <a:stretch>
            <a:fillRect/>
          </a:stretch>
        </p:blipFill>
        <p:spPr>
          <a:xfrm>
            <a:off x="4494840" y="3154749"/>
            <a:ext cx="3462386" cy="3232785"/>
          </a:xfrm>
          <a:prstGeom prst="rect">
            <a:avLst/>
          </a:prstGeom>
        </p:spPr>
      </p:pic>
    </p:spTree>
    <p:extLst>
      <p:ext uri="{BB962C8B-B14F-4D97-AF65-F5344CB8AC3E}">
        <p14:creationId xmlns:p14="http://schemas.microsoft.com/office/powerpoint/2010/main" val="23686580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Table 8">
            <a:extLst>
              <a:ext uri="{FF2B5EF4-FFF2-40B4-BE49-F238E27FC236}">
                <a16:creationId xmlns:a16="http://schemas.microsoft.com/office/drawing/2014/main" id="{0B6EC464-4750-5FF3-7A5A-15612BA6E293}"/>
              </a:ext>
            </a:extLst>
          </p:cNvPr>
          <p:cNvGraphicFramePr>
            <a:graphicFrameLocks noGrp="1"/>
          </p:cNvGraphicFramePr>
          <p:nvPr/>
        </p:nvGraphicFramePr>
        <p:xfrm>
          <a:off x="0" y="23812"/>
          <a:ext cx="12192000" cy="465287"/>
        </p:xfrm>
        <a:graphic>
          <a:graphicData uri="http://schemas.openxmlformats.org/drawingml/2006/table">
            <a:tbl>
              <a:tblPr firstRow="1" bandRow="1">
                <a:tableStyleId>{5C22544A-7EE6-4342-B048-85BDC9FD1C3A}</a:tableStyleId>
              </a:tblPr>
              <a:tblGrid>
                <a:gridCol w="6092042">
                  <a:extLst>
                    <a:ext uri="{9D8B030D-6E8A-4147-A177-3AD203B41FA5}">
                      <a16:colId xmlns:a16="http://schemas.microsoft.com/office/drawing/2014/main" val="2179694530"/>
                    </a:ext>
                  </a:extLst>
                </a:gridCol>
                <a:gridCol w="6099958">
                  <a:extLst>
                    <a:ext uri="{9D8B030D-6E8A-4147-A177-3AD203B41FA5}">
                      <a16:colId xmlns:a16="http://schemas.microsoft.com/office/drawing/2014/main" val="2768207918"/>
                    </a:ext>
                  </a:extLst>
                </a:gridCol>
              </a:tblGrid>
              <a:tr h="465287">
                <a:tc>
                  <a:txBody>
                    <a:bodyPr/>
                    <a:lstStyle/>
                    <a:p>
                      <a:endParaRPr lang="en-US" dirty="0"/>
                    </a:p>
                  </a:txBody>
                  <a:tcPr>
                    <a:solidFill>
                      <a:srgbClr val="FF85FF"/>
                    </a:solidFill>
                  </a:tcPr>
                </a:tc>
                <a:tc>
                  <a:txBody>
                    <a:bodyPr/>
                    <a:lstStyle/>
                    <a:p>
                      <a:endParaRPr lang="en-US" dirty="0"/>
                    </a:p>
                  </a:txBody>
                  <a:tcPr>
                    <a:solidFill>
                      <a:srgbClr val="FFFF00"/>
                    </a:solidFill>
                  </a:tcPr>
                </a:tc>
                <a:extLst>
                  <a:ext uri="{0D108BD9-81ED-4DB2-BD59-A6C34878D82A}">
                    <a16:rowId xmlns:a16="http://schemas.microsoft.com/office/drawing/2014/main" val="1996944423"/>
                  </a:ext>
                </a:extLst>
              </a:tr>
            </a:tbl>
          </a:graphicData>
        </a:graphic>
      </p:graphicFrame>
      <p:graphicFrame>
        <p:nvGraphicFramePr>
          <p:cNvPr id="10" name="Table 9">
            <a:extLst>
              <a:ext uri="{FF2B5EF4-FFF2-40B4-BE49-F238E27FC236}">
                <a16:creationId xmlns:a16="http://schemas.microsoft.com/office/drawing/2014/main" id="{494BAFB7-FE1F-E1A9-7A6C-AB4145BD9BA1}"/>
              </a:ext>
            </a:extLst>
          </p:cNvPr>
          <p:cNvGraphicFramePr>
            <a:graphicFrameLocks noGrp="1"/>
          </p:cNvGraphicFramePr>
          <p:nvPr>
            <p:extLst>
              <p:ext uri="{D42A27DB-BD31-4B8C-83A1-F6EECF244321}">
                <p14:modId xmlns:p14="http://schemas.microsoft.com/office/powerpoint/2010/main" val="2988994366"/>
              </p:ext>
            </p:extLst>
          </p:nvPr>
        </p:nvGraphicFramePr>
        <p:xfrm>
          <a:off x="1" y="6478892"/>
          <a:ext cx="12191999" cy="370840"/>
        </p:xfrm>
        <a:graphic>
          <a:graphicData uri="http://schemas.openxmlformats.org/drawingml/2006/table">
            <a:tbl>
              <a:tblPr firstRow="1" bandRow="1">
                <a:tableStyleId>{5C22544A-7EE6-4342-B048-85BDC9FD1C3A}</a:tableStyleId>
              </a:tblPr>
              <a:tblGrid>
                <a:gridCol w="6080165">
                  <a:extLst>
                    <a:ext uri="{9D8B030D-6E8A-4147-A177-3AD203B41FA5}">
                      <a16:colId xmlns:a16="http://schemas.microsoft.com/office/drawing/2014/main" val="2179694530"/>
                    </a:ext>
                  </a:extLst>
                </a:gridCol>
                <a:gridCol w="6111834">
                  <a:extLst>
                    <a:ext uri="{9D8B030D-6E8A-4147-A177-3AD203B41FA5}">
                      <a16:colId xmlns:a16="http://schemas.microsoft.com/office/drawing/2014/main" val="2768207918"/>
                    </a:ext>
                  </a:extLst>
                </a:gridCol>
              </a:tblGrid>
              <a:tr h="370840">
                <a:tc>
                  <a:txBody>
                    <a:bodyPr/>
                    <a:lstStyle/>
                    <a:p>
                      <a:endParaRPr lang="en-US" dirty="0"/>
                    </a:p>
                  </a:txBody>
                  <a:tcPr>
                    <a:solidFill>
                      <a:srgbClr val="FFFF00"/>
                    </a:solidFill>
                  </a:tcPr>
                </a:tc>
                <a:tc>
                  <a:txBody>
                    <a:bodyPr/>
                    <a:lstStyle/>
                    <a:p>
                      <a:pPr algn="r"/>
                      <a:fld id="{B9254C9E-B4EC-4459-8D61-4F77C0C53589}" type="slidenum">
                        <a:rPr lang="en-US" smtClean="0">
                          <a:solidFill>
                            <a:schemeClr val="tx1"/>
                          </a:solidFill>
                        </a:rPr>
                        <a:t>5</a:t>
                      </a:fld>
                      <a:endParaRPr lang="en-US" dirty="0">
                        <a:solidFill>
                          <a:schemeClr val="tx1"/>
                        </a:solidFill>
                      </a:endParaRPr>
                    </a:p>
                  </a:txBody>
                  <a:tcPr>
                    <a:solidFill>
                      <a:srgbClr val="FF85FF"/>
                    </a:solidFill>
                  </a:tcPr>
                </a:tc>
                <a:extLst>
                  <a:ext uri="{0D108BD9-81ED-4DB2-BD59-A6C34878D82A}">
                    <a16:rowId xmlns:a16="http://schemas.microsoft.com/office/drawing/2014/main" val="1996944423"/>
                  </a:ext>
                </a:extLst>
              </a:tr>
            </a:tbl>
          </a:graphicData>
        </a:graphic>
      </p:graphicFrame>
      <p:pic>
        <p:nvPicPr>
          <p:cNvPr id="12" name="Google Shape;187;p25" descr="pngfind.com-kingpin-png-4152286 (1).png">
            <a:extLst>
              <a:ext uri="{FF2B5EF4-FFF2-40B4-BE49-F238E27FC236}">
                <a16:creationId xmlns:a16="http://schemas.microsoft.com/office/drawing/2014/main" id="{2DBF2481-A2DB-F96E-5749-B03DC4F71665}"/>
              </a:ext>
            </a:extLst>
          </p:cNvPr>
          <p:cNvPicPr preferRelativeResize="0"/>
          <p:nvPr/>
        </p:nvPicPr>
        <p:blipFill rotWithShape="1">
          <a:blip r:embed="rId2">
            <a:alphaModFix/>
          </a:blip>
          <a:srcRect/>
          <a:stretch/>
        </p:blipFill>
        <p:spPr>
          <a:xfrm>
            <a:off x="11044052" y="8268"/>
            <a:ext cx="1051261" cy="465287"/>
          </a:xfrm>
          <a:prstGeom prst="rect">
            <a:avLst/>
          </a:prstGeom>
          <a:noFill/>
          <a:ln>
            <a:noFill/>
          </a:ln>
        </p:spPr>
      </p:pic>
      <p:sp>
        <p:nvSpPr>
          <p:cNvPr id="19" name="Rectangle 18">
            <a:extLst>
              <a:ext uri="{FF2B5EF4-FFF2-40B4-BE49-F238E27FC236}">
                <a16:creationId xmlns:a16="http://schemas.microsoft.com/office/drawing/2014/main" id="{A0702E37-2E7E-7262-5E76-F69A817105B3}"/>
              </a:ext>
            </a:extLst>
          </p:cNvPr>
          <p:cNvSpPr/>
          <p:nvPr/>
        </p:nvSpPr>
        <p:spPr>
          <a:xfrm>
            <a:off x="0" y="8268"/>
            <a:ext cx="12192000" cy="6825920"/>
          </a:xfrm>
          <a:prstGeom prst="rect">
            <a:avLst/>
          </a:prstGeom>
          <a:noFill/>
          <a:ln w="38100">
            <a:solidFill>
              <a:srgbClr val="0432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DCB2A3F0-9003-5886-09B4-27925BBE4000}"/>
              </a:ext>
            </a:extLst>
          </p:cNvPr>
          <p:cNvSpPr txBox="1"/>
          <p:nvPr/>
        </p:nvSpPr>
        <p:spPr>
          <a:xfrm>
            <a:off x="0" y="684857"/>
            <a:ext cx="12191999" cy="646331"/>
          </a:xfrm>
          <a:prstGeom prst="rect">
            <a:avLst/>
          </a:prstGeom>
          <a:noFill/>
        </p:spPr>
        <p:txBody>
          <a:bodyPr wrap="square">
            <a:spAutoFit/>
          </a:bodyPr>
          <a:lstStyle/>
          <a:p>
            <a:pPr algn="ctr"/>
            <a:r>
              <a:rPr lang="en-US" sz="3600" b="1" dirty="0">
                <a:effectLst/>
                <a:latin typeface="Calibri" panose="020F0502020204030204" pitchFamily="34" charset="0"/>
                <a:ea typeface="Calibri" panose="020F0502020204030204" pitchFamily="34" charset="0"/>
                <a:cs typeface="Calibri" panose="020F0502020204030204" pitchFamily="34" charset="0"/>
              </a:rPr>
              <a:t>Introduction to Data Science</a:t>
            </a:r>
            <a:endParaRPr lang="en-GB" sz="8800" b="1" cap="none" spc="0" dirty="0">
              <a:ln w="0"/>
              <a:solidFill>
                <a:schemeClr val="tx1"/>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Calibri" panose="020F0502020204030204" pitchFamily="34" charset="0"/>
            </a:endParaRPr>
          </a:p>
        </p:txBody>
      </p:sp>
      <p:sp>
        <p:nvSpPr>
          <p:cNvPr id="5" name="TextBox 4">
            <a:extLst>
              <a:ext uri="{FF2B5EF4-FFF2-40B4-BE49-F238E27FC236}">
                <a16:creationId xmlns:a16="http://schemas.microsoft.com/office/drawing/2014/main" id="{57BF3EEF-553A-D37A-6EF6-B514AF07FC3C}"/>
              </a:ext>
            </a:extLst>
          </p:cNvPr>
          <p:cNvSpPr txBox="1"/>
          <p:nvPr/>
        </p:nvSpPr>
        <p:spPr>
          <a:xfrm>
            <a:off x="487016" y="1574931"/>
            <a:ext cx="11012558" cy="2542363"/>
          </a:xfrm>
          <a:prstGeom prst="rect">
            <a:avLst/>
          </a:prstGeom>
          <a:noFill/>
        </p:spPr>
        <p:txBody>
          <a:bodyPr wrap="square">
            <a:spAutoFit/>
          </a:bodyPr>
          <a:lstStyle/>
          <a:p>
            <a:pPr marL="283464" indent="-283464" algn="just" rtl="0" eaLnBrk="1" latinLnBrk="0" hangingPunct="1">
              <a:lnSpc>
                <a:spcPct val="150000"/>
              </a:lnSpc>
              <a:spcBef>
                <a:spcPts val="0"/>
              </a:spcBef>
              <a:spcAft>
                <a:spcPts val="0"/>
              </a:spcAft>
              <a:buClrTx/>
              <a:buSzPts val="1800"/>
              <a:buFont typeface="Arial" panose="020B0604020202020204" pitchFamily="34" charset="0"/>
              <a:buChar char="•"/>
            </a:pPr>
            <a:r>
              <a:rPr lang="en-US" b="0" i="0" dirty="0">
                <a:solidFill>
                  <a:srgbClr val="273239"/>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Data Science involves obtaining meaningful information or insights from </a:t>
            </a:r>
            <a:r>
              <a:rPr lang="en-US" b="1" i="0" dirty="0">
                <a:solidFill>
                  <a:srgbClr val="273239"/>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structured or unstructured data </a:t>
            </a:r>
            <a:r>
              <a:rPr lang="en-US" b="0" i="0" dirty="0">
                <a:solidFill>
                  <a:srgbClr val="273239"/>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through a process of analyzing, programming, and business skills.</a:t>
            </a:r>
          </a:p>
          <a:p>
            <a:pPr marL="283464" indent="-283464" algn="just" rtl="0" eaLnBrk="1" latinLnBrk="0" hangingPunct="1">
              <a:lnSpc>
                <a:spcPct val="150000"/>
              </a:lnSpc>
              <a:spcBef>
                <a:spcPts val="0"/>
              </a:spcBef>
              <a:spcAft>
                <a:spcPts val="0"/>
              </a:spcAft>
              <a:buClrTx/>
              <a:buSzPts val="1800"/>
              <a:buFont typeface="Arial" panose="020B0604020202020204" pitchFamily="34" charset="0"/>
              <a:buChar char="•"/>
            </a:pPr>
            <a:r>
              <a:rPr lang="en-US" b="0" i="0" dirty="0">
                <a:solidFill>
                  <a:srgbClr val="273239"/>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Data scientists use a variety of tools and methods, such as </a:t>
            </a:r>
            <a:r>
              <a:rPr lang="en-US" b="1" i="0" dirty="0">
                <a:solidFill>
                  <a:srgbClr val="273239"/>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machine learning, statistical modeling, and data visualization, to analyze and make predictions from data</a:t>
            </a:r>
            <a:r>
              <a:rPr lang="en-US" b="0" i="0" dirty="0">
                <a:solidFill>
                  <a:srgbClr val="273239"/>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 </a:t>
            </a:r>
          </a:p>
          <a:p>
            <a:pPr marL="283464" indent="-283464" algn="just" rtl="0" eaLnBrk="1" latinLnBrk="0" hangingPunct="1">
              <a:lnSpc>
                <a:spcPct val="150000"/>
              </a:lnSpc>
              <a:spcBef>
                <a:spcPts val="0"/>
              </a:spcBef>
              <a:spcAft>
                <a:spcPts val="0"/>
              </a:spcAft>
              <a:buClrTx/>
              <a:buSzPts val="1800"/>
              <a:buFont typeface="Arial" panose="020B0604020202020204" pitchFamily="34" charset="0"/>
              <a:buChar char="•"/>
            </a:pPr>
            <a:r>
              <a:rPr lang="en-US" b="0" i="0" dirty="0">
                <a:solidFill>
                  <a:srgbClr val="273239"/>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They work with both structured and unstructured data, and use the </a:t>
            </a:r>
            <a:r>
              <a:rPr lang="en-US" b="1" i="0" dirty="0">
                <a:solidFill>
                  <a:srgbClr val="273239"/>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insights gained </a:t>
            </a:r>
            <a:r>
              <a:rPr lang="en-US" b="0" i="0" dirty="0">
                <a:solidFill>
                  <a:srgbClr val="273239"/>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to inform </a:t>
            </a:r>
            <a:r>
              <a:rPr lang="en-US" b="1" i="0" dirty="0">
                <a:solidFill>
                  <a:srgbClr val="273239"/>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decision making </a:t>
            </a:r>
            <a:r>
              <a:rPr lang="en-US" b="0" i="0" dirty="0">
                <a:solidFill>
                  <a:srgbClr val="273239"/>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and support business operations.</a:t>
            </a:r>
            <a:endParaRPr lang="en-IN" sz="1800" dirty="0">
              <a:effectLst/>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968799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Table 8">
            <a:extLst>
              <a:ext uri="{FF2B5EF4-FFF2-40B4-BE49-F238E27FC236}">
                <a16:creationId xmlns:a16="http://schemas.microsoft.com/office/drawing/2014/main" id="{0B6EC464-4750-5FF3-7A5A-15612BA6E293}"/>
              </a:ext>
            </a:extLst>
          </p:cNvPr>
          <p:cNvGraphicFramePr>
            <a:graphicFrameLocks noGrp="1"/>
          </p:cNvGraphicFramePr>
          <p:nvPr/>
        </p:nvGraphicFramePr>
        <p:xfrm>
          <a:off x="0" y="23812"/>
          <a:ext cx="12192000" cy="465287"/>
        </p:xfrm>
        <a:graphic>
          <a:graphicData uri="http://schemas.openxmlformats.org/drawingml/2006/table">
            <a:tbl>
              <a:tblPr firstRow="1" bandRow="1">
                <a:tableStyleId>{5C22544A-7EE6-4342-B048-85BDC9FD1C3A}</a:tableStyleId>
              </a:tblPr>
              <a:tblGrid>
                <a:gridCol w="6092042">
                  <a:extLst>
                    <a:ext uri="{9D8B030D-6E8A-4147-A177-3AD203B41FA5}">
                      <a16:colId xmlns:a16="http://schemas.microsoft.com/office/drawing/2014/main" val="2179694530"/>
                    </a:ext>
                  </a:extLst>
                </a:gridCol>
                <a:gridCol w="6099958">
                  <a:extLst>
                    <a:ext uri="{9D8B030D-6E8A-4147-A177-3AD203B41FA5}">
                      <a16:colId xmlns:a16="http://schemas.microsoft.com/office/drawing/2014/main" val="2768207918"/>
                    </a:ext>
                  </a:extLst>
                </a:gridCol>
              </a:tblGrid>
              <a:tr h="465287">
                <a:tc>
                  <a:txBody>
                    <a:bodyPr/>
                    <a:lstStyle/>
                    <a:p>
                      <a:endParaRPr lang="en-US" dirty="0"/>
                    </a:p>
                  </a:txBody>
                  <a:tcPr>
                    <a:solidFill>
                      <a:srgbClr val="FF85FF"/>
                    </a:solidFill>
                  </a:tcPr>
                </a:tc>
                <a:tc>
                  <a:txBody>
                    <a:bodyPr/>
                    <a:lstStyle/>
                    <a:p>
                      <a:endParaRPr lang="en-US" dirty="0"/>
                    </a:p>
                  </a:txBody>
                  <a:tcPr>
                    <a:solidFill>
                      <a:srgbClr val="FFFF00"/>
                    </a:solidFill>
                  </a:tcPr>
                </a:tc>
                <a:extLst>
                  <a:ext uri="{0D108BD9-81ED-4DB2-BD59-A6C34878D82A}">
                    <a16:rowId xmlns:a16="http://schemas.microsoft.com/office/drawing/2014/main" val="1996944423"/>
                  </a:ext>
                </a:extLst>
              </a:tr>
            </a:tbl>
          </a:graphicData>
        </a:graphic>
      </p:graphicFrame>
      <p:graphicFrame>
        <p:nvGraphicFramePr>
          <p:cNvPr id="10" name="Table 9">
            <a:extLst>
              <a:ext uri="{FF2B5EF4-FFF2-40B4-BE49-F238E27FC236}">
                <a16:creationId xmlns:a16="http://schemas.microsoft.com/office/drawing/2014/main" id="{494BAFB7-FE1F-E1A9-7A6C-AB4145BD9BA1}"/>
              </a:ext>
            </a:extLst>
          </p:cNvPr>
          <p:cNvGraphicFramePr>
            <a:graphicFrameLocks noGrp="1"/>
          </p:cNvGraphicFramePr>
          <p:nvPr>
            <p:extLst>
              <p:ext uri="{D42A27DB-BD31-4B8C-83A1-F6EECF244321}">
                <p14:modId xmlns:p14="http://schemas.microsoft.com/office/powerpoint/2010/main" val="2538837028"/>
              </p:ext>
            </p:extLst>
          </p:nvPr>
        </p:nvGraphicFramePr>
        <p:xfrm>
          <a:off x="1" y="6478892"/>
          <a:ext cx="12191999" cy="370840"/>
        </p:xfrm>
        <a:graphic>
          <a:graphicData uri="http://schemas.openxmlformats.org/drawingml/2006/table">
            <a:tbl>
              <a:tblPr firstRow="1" bandRow="1">
                <a:tableStyleId>{5C22544A-7EE6-4342-B048-85BDC9FD1C3A}</a:tableStyleId>
              </a:tblPr>
              <a:tblGrid>
                <a:gridCol w="6080165">
                  <a:extLst>
                    <a:ext uri="{9D8B030D-6E8A-4147-A177-3AD203B41FA5}">
                      <a16:colId xmlns:a16="http://schemas.microsoft.com/office/drawing/2014/main" val="2179694530"/>
                    </a:ext>
                  </a:extLst>
                </a:gridCol>
                <a:gridCol w="6111834">
                  <a:extLst>
                    <a:ext uri="{9D8B030D-6E8A-4147-A177-3AD203B41FA5}">
                      <a16:colId xmlns:a16="http://schemas.microsoft.com/office/drawing/2014/main" val="2768207918"/>
                    </a:ext>
                  </a:extLst>
                </a:gridCol>
              </a:tblGrid>
              <a:tr h="370840">
                <a:tc>
                  <a:txBody>
                    <a:bodyPr/>
                    <a:lstStyle/>
                    <a:p>
                      <a:endParaRPr lang="en-US" dirty="0"/>
                    </a:p>
                  </a:txBody>
                  <a:tcPr>
                    <a:solidFill>
                      <a:srgbClr val="FFFF00"/>
                    </a:solidFill>
                  </a:tcPr>
                </a:tc>
                <a:tc>
                  <a:txBody>
                    <a:bodyPr/>
                    <a:lstStyle/>
                    <a:p>
                      <a:pPr algn="r"/>
                      <a:fld id="{D0B2593F-2BF4-475E-A4EB-53327DDBCFB2}" type="slidenum">
                        <a:rPr lang="en-US" smtClean="0">
                          <a:solidFill>
                            <a:schemeClr val="tx1"/>
                          </a:solidFill>
                        </a:rPr>
                        <a:t>6</a:t>
                      </a:fld>
                      <a:endParaRPr lang="en-US" dirty="0">
                        <a:solidFill>
                          <a:schemeClr val="tx1"/>
                        </a:solidFill>
                      </a:endParaRPr>
                    </a:p>
                  </a:txBody>
                  <a:tcPr>
                    <a:solidFill>
                      <a:srgbClr val="FF85FF"/>
                    </a:solidFill>
                  </a:tcPr>
                </a:tc>
                <a:extLst>
                  <a:ext uri="{0D108BD9-81ED-4DB2-BD59-A6C34878D82A}">
                    <a16:rowId xmlns:a16="http://schemas.microsoft.com/office/drawing/2014/main" val="1996944423"/>
                  </a:ext>
                </a:extLst>
              </a:tr>
            </a:tbl>
          </a:graphicData>
        </a:graphic>
      </p:graphicFrame>
      <p:pic>
        <p:nvPicPr>
          <p:cNvPr id="12" name="Google Shape;187;p25" descr="pngfind.com-kingpin-png-4152286 (1).png">
            <a:extLst>
              <a:ext uri="{FF2B5EF4-FFF2-40B4-BE49-F238E27FC236}">
                <a16:creationId xmlns:a16="http://schemas.microsoft.com/office/drawing/2014/main" id="{2DBF2481-A2DB-F96E-5749-B03DC4F71665}"/>
              </a:ext>
            </a:extLst>
          </p:cNvPr>
          <p:cNvPicPr preferRelativeResize="0"/>
          <p:nvPr/>
        </p:nvPicPr>
        <p:blipFill rotWithShape="1">
          <a:blip r:embed="rId2">
            <a:alphaModFix/>
          </a:blip>
          <a:srcRect/>
          <a:stretch/>
        </p:blipFill>
        <p:spPr>
          <a:xfrm>
            <a:off x="11044052" y="8268"/>
            <a:ext cx="1051261" cy="465287"/>
          </a:xfrm>
          <a:prstGeom prst="rect">
            <a:avLst/>
          </a:prstGeom>
          <a:noFill/>
          <a:ln>
            <a:noFill/>
          </a:ln>
        </p:spPr>
      </p:pic>
      <p:sp>
        <p:nvSpPr>
          <p:cNvPr id="19" name="Rectangle 18">
            <a:extLst>
              <a:ext uri="{FF2B5EF4-FFF2-40B4-BE49-F238E27FC236}">
                <a16:creationId xmlns:a16="http://schemas.microsoft.com/office/drawing/2014/main" id="{A0702E37-2E7E-7262-5E76-F69A817105B3}"/>
              </a:ext>
            </a:extLst>
          </p:cNvPr>
          <p:cNvSpPr/>
          <p:nvPr/>
        </p:nvSpPr>
        <p:spPr>
          <a:xfrm>
            <a:off x="0" y="8268"/>
            <a:ext cx="12192000" cy="6825920"/>
          </a:xfrm>
          <a:prstGeom prst="rect">
            <a:avLst/>
          </a:prstGeom>
          <a:noFill/>
          <a:ln w="38100">
            <a:solidFill>
              <a:srgbClr val="0432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DCB2A3F0-9003-5886-09B4-27925BBE4000}"/>
              </a:ext>
            </a:extLst>
          </p:cNvPr>
          <p:cNvSpPr txBox="1"/>
          <p:nvPr/>
        </p:nvSpPr>
        <p:spPr>
          <a:xfrm>
            <a:off x="-1" y="708849"/>
            <a:ext cx="12191999" cy="646331"/>
          </a:xfrm>
          <a:prstGeom prst="rect">
            <a:avLst/>
          </a:prstGeom>
          <a:noFill/>
        </p:spPr>
        <p:txBody>
          <a:bodyPr wrap="square">
            <a:spAutoFit/>
          </a:bodyPr>
          <a:lstStyle/>
          <a:p>
            <a:pPr algn="ctr"/>
            <a:r>
              <a:rPr lang="en-US" sz="3600" b="1" dirty="0">
                <a:effectLst/>
                <a:latin typeface="Calibri" panose="020F0502020204030204" pitchFamily="34" charset="0"/>
                <a:ea typeface="Calibri" panose="020F0502020204030204" pitchFamily="34" charset="0"/>
                <a:cs typeface="Calibri" panose="020F0502020204030204" pitchFamily="34" charset="0"/>
              </a:rPr>
              <a:t>How Data Science works?</a:t>
            </a:r>
            <a:endParaRPr lang="en-GB" sz="8800" b="1" cap="none" spc="0" dirty="0">
              <a:ln w="0"/>
              <a:solidFill>
                <a:schemeClr val="tx1"/>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Calibri" panose="020F0502020204030204" pitchFamily="34" charset="0"/>
            </a:endParaRPr>
          </a:p>
        </p:txBody>
      </p:sp>
      <p:sp>
        <p:nvSpPr>
          <p:cNvPr id="5" name="TextBox 4">
            <a:extLst>
              <a:ext uri="{FF2B5EF4-FFF2-40B4-BE49-F238E27FC236}">
                <a16:creationId xmlns:a16="http://schemas.microsoft.com/office/drawing/2014/main" id="{57BF3EEF-553A-D37A-6EF6-B514AF07FC3C}"/>
              </a:ext>
            </a:extLst>
          </p:cNvPr>
          <p:cNvSpPr txBox="1"/>
          <p:nvPr/>
        </p:nvSpPr>
        <p:spPr>
          <a:xfrm>
            <a:off x="557124" y="1432025"/>
            <a:ext cx="11012558" cy="1122743"/>
          </a:xfrm>
          <a:prstGeom prst="rect">
            <a:avLst/>
          </a:prstGeom>
          <a:noFill/>
        </p:spPr>
        <p:txBody>
          <a:bodyPr wrap="square">
            <a:spAutoFit/>
          </a:bodyPr>
          <a:lstStyle/>
          <a:p>
            <a:pPr marL="283464" indent="-283464" algn="just" rtl="0" eaLnBrk="1" latinLnBrk="0" hangingPunct="1">
              <a:lnSpc>
                <a:spcPct val="200000"/>
              </a:lnSpc>
              <a:spcBef>
                <a:spcPts val="0"/>
              </a:spcBef>
              <a:spcAft>
                <a:spcPts val="0"/>
              </a:spcAft>
              <a:buClrTx/>
              <a:buSzPts val="1800"/>
              <a:buFont typeface="Arial" panose="020B0604020202020204" pitchFamily="34" charset="0"/>
              <a:buChar char="•"/>
            </a:pPr>
            <a:r>
              <a:rPr lang="en-US" b="0" i="0" dirty="0">
                <a:solidFill>
                  <a:srgbClr val="273239"/>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Data science is not a one-step process such that you will get to learn it in a short time.</a:t>
            </a:r>
          </a:p>
          <a:p>
            <a:pPr marL="283464" indent="-283464" algn="just" rtl="0" eaLnBrk="1" latinLnBrk="0" hangingPunct="1">
              <a:lnSpc>
                <a:spcPct val="200000"/>
              </a:lnSpc>
              <a:spcBef>
                <a:spcPts val="0"/>
              </a:spcBef>
              <a:spcAft>
                <a:spcPts val="0"/>
              </a:spcAft>
              <a:buClrTx/>
              <a:buSzPts val="1800"/>
              <a:buFont typeface="Arial" panose="020B0604020202020204" pitchFamily="34" charset="0"/>
              <a:buChar char="•"/>
            </a:pPr>
            <a:r>
              <a:rPr lang="en-US" b="0" i="0" dirty="0">
                <a:solidFill>
                  <a:srgbClr val="273239"/>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Every step has its value and it counts in your model. </a:t>
            </a:r>
          </a:p>
        </p:txBody>
      </p:sp>
      <p:pic>
        <p:nvPicPr>
          <p:cNvPr id="2" name="Picture 1">
            <a:extLst>
              <a:ext uri="{FF2B5EF4-FFF2-40B4-BE49-F238E27FC236}">
                <a16:creationId xmlns:a16="http://schemas.microsoft.com/office/drawing/2014/main" id="{DEA42BF4-16AD-406E-A01A-CD9180E24FF7}"/>
              </a:ext>
            </a:extLst>
          </p:cNvPr>
          <p:cNvPicPr>
            <a:picLocks noChangeAspect="1"/>
          </p:cNvPicPr>
          <p:nvPr/>
        </p:nvPicPr>
        <p:blipFill>
          <a:blip r:embed="rId3"/>
          <a:stretch>
            <a:fillRect/>
          </a:stretch>
        </p:blipFill>
        <p:spPr>
          <a:xfrm>
            <a:off x="2361984" y="2739505"/>
            <a:ext cx="7468031" cy="3409646"/>
          </a:xfrm>
          <a:prstGeom prst="rect">
            <a:avLst/>
          </a:prstGeom>
        </p:spPr>
      </p:pic>
    </p:spTree>
    <p:extLst>
      <p:ext uri="{BB962C8B-B14F-4D97-AF65-F5344CB8AC3E}">
        <p14:creationId xmlns:p14="http://schemas.microsoft.com/office/powerpoint/2010/main" val="7625157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Table 8">
            <a:extLst>
              <a:ext uri="{FF2B5EF4-FFF2-40B4-BE49-F238E27FC236}">
                <a16:creationId xmlns:a16="http://schemas.microsoft.com/office/drawing/2014/main" id="{0B6EC464-4750-5FF3-7A5A-15612BA6E293}"/>
              </a:ext>
            </a:extLst>
          </p:cNvPr>
          <p:cNvGraphicFramePr>
            <a:graphicFrameLocks noGrp="1"/>
          </p:cNvGraphicFramePr>
          <p:nvPr/>
        </p:nvGraphicFramePr>
        <p:xfrm>
          <a:off x="0" y="23812"/>
          <a:ext cx="12192000" cy="465287"/>
        </p:xfrm>
        <a:graphic>
          <a:graphicData uri="http://schemas.openxmlformats.org/drawingml/2006/table">
            <a:tbl>
              <a:tblPr firstRow="1" bandRow="1">
                <a:tableStyleId>{5C22544A-7EE6-4342-B048-85BDC9FD1C3A}</a:tableStyleId>
              </a:tblPr>
              <a:tblGrid>
                <a:gridCol w="6092042">
                  <a:extLst>
                    <a:ext uri="{9D8B030D-6E8A-4147-A177-3AD203B41FA5}">
                      <a16:colId xmlns:a16="http://schemas.microsoft.com/office/drawing/2014/main" val="2179694530"/>
                    </a:ext>
                  </a:extLst>
                </a:gridCol>
                <a:gridCol w="6099958">
                  <a:extLst>
                    <a:ext uri="{9D8B030D-6E8A-4147-A177-3AD203B41FA5}">
                      <a16:colId xmlns:a16="http://schemas.microsoft.com/office/drawing/2014/main" val="2768207918"/>
                    </a:ext>
                  </a:extLst>
                </a:gridCol>
              </a:tblGrid>
              <a:tr h="465287">
                <a:tc>
                  <a:txBody>
                    <a:bodyPr/>
                    <a:lstStyle/>
                    <a:p>
                      <a:endParaRPr lang="en-US" dirty="0"/>
                    </a:p>
                  </a:txBody>
                  <a:tcPr>
                    <a:solidFill>
                      <a:srgbClr val="FF85FF"/>
                    </a:solidFill>
                  </a:tcPr>
                </a:tc>
                <a:tc>
                  <a:txBody>
                    <a:bodyPr/>
                    <a:lstStyle/>
                    <a:p>
                      <a:endParaRPr lang="en-US" dirty="0"/>
                    </a:p>
                  </a:txBody>
                  <a:tcPr>
                    <a:solidFill>
                      <a:srgbClr val="FFFF00"/>
                    </a:solidFill>
                  </a:tcPr>
                </a:tc>
                <a:extLst>
                  <a:ext uri="{0D108BD9-81ED-4DB2-BD59-A6C34878D82A}">
                    <a16:rowId xmlns:a16="http://schemas.microsoft.com/office/drawing/2014/main" val="1996944423"/>
                  </a:ext>
                </a:extLst>
              </a:tr>
            </a:tbl>
          </a:graphicData>
        </a:graphic>
      </p:graphicFrame>
      <p:graphicFrame>
        <p:nvGraphicFramePr>
          <p:cNvPr id="10" name="Table 9">
            <a:extLst>
              <a:ext uri="{FF2B5EF4-FFF2-40B4-BE49-F238E27FC236}">
                <a16:creationId xmlns:a16="http://schemas.microsoft.com/office/drawing/2014/main" id="{494BAFB7-FE1F-E1A9-7A6C-AB4145BD9BA1}"/>
              </a:ext>
            </a:extLst>
          </p:cNvPr>
          <p:cNvGraphicFramePr>
            <a:graphicFrameLocks noGrp="1"/>
          </p:cNvGraphicFramePr>
          <p:nvPr>
            <p:extLst>
              <p:ext uri="{D42A27DB-BD31-4B8C-83A1-F6EECF244321}">
                <p14:modId xmlns:p14="http://schemas.microsoft.com/office/powerpoint/2010/main" val="575027880"/>
              </p:ext>
            </p:extLst>
          </p:nvPr>
        </p:nvGraphicFramePr>
        <p:xfrm>
          <a:off x="1" y="6478892"/>
          <a:ext cx="12191999" cy="370840"/>
        </p:xfrm>
        <a:graphic>
          <a:graphicData uri="http://schemas.openxmlformats.org/drawingml/2006/table">
            <a:tbl>
              <a:tblPr firstRow="1" bandRow="1">
                <a:tableStyleId>{5C22544A-7EE6-4342-B048-85BDC9FD1C3A}</a:tableStyleId>
              </a:tblPr>
              <a:tblGrid>
                <a:gridCol w="6080165">
                  <a:extLst>
                    <a:ext uri="{9D8B030D-6E8A-4147-A177-3AD203B41FA5}">
                      <a16:colId xmlns:a16="http://schemas.microsoft.com/office/drawing/2014/main" val="2179694530"/>
                    </a:ext>
                  </a:extLst>
                </a:gridCol>
                <a:gridCol w="6111834">
                  <a:extLst>
                    <a:ext uri="{9D8B030D-6E8A-4147-A177-3AD203B41FA5}">
                      <a16:colId xmlns:a16="http://schemas.microsoft.com/office/drawing/2014/main" val="2768207918"/>
                    </a:ext>
                  </a:extLst>
                </a:gridCol>
              </a:tblGrid>
              <a:tr h="370840">
                <a:tc>
                  <a:txBody>
                    <a:bodyPr/>
                    <a:lstStyle/>
                    <a:p>
                      <a:endParaRPr lang="en-US" dirty="0"/>
                    </a:p>
                  </a:txBody>
                  <a:tcPr>
                    <a:solidFill>
                      <a:srgbClr val="FFFF00"/>
                    </a:solidFill>
                  </a:tcPr>
                </a:tc>
                <a:tc>
                  <a:txBody>
                    <a:bodyPr/>
                    <a:lstStyle/>
                    <a:p>
                      <a:pPr algn="r"/>
                      <a:fld id="{0832CCF3-45B2-4C24-B2E3-DF7875A96810}" type="slidenum">
                        <a:rPr lang="en-US" smtClean="0">
                          <a:solidFill>
                            <a:schemeClr val="tx1"/>
                          </a:solidFill>
                        </a:rPr>
                        <a:t>7</a:t>
                      </a:fld>
                      <a:endParaRPr lang="en-US" dirty="0">
                        <a:solidFill>
                          <a:schemeClr val="tx1"/>
                        </a:solidFill>
                      </a:endParaRPr>
                    </a:p>
                  </a:txBody>
                  <a:tcPr>
                    <a:solidFill>
                      <a:srgbClr val="FF85FF"/>
                    </a:solidFill>
                  </a:tcPr>
                </a:tc>
                <a:extLst>
                  <a:ext uri="{0D108BD9-81ED-4DB2-BD59-A6C34878D82A}">
                    <a16:rowId xmlns:a16="http://schemas.microsoft.com/office/drawing/2014/main" val="1996944423"/>
                  </a:ext>
                </a:extLst>
              </a:tr>
            </a:tbl>
          </a:graphicData>
        </a:graphic>
      </p:graphicFrame>
      <p:pic>
        <p:nvPicPr>
          <p:cNvPr id="12" name="Google Shape;187;p25" descr="pngfind.com-kingpin-png-4152286 (1).png">
            <a:extLst>
              <a:ext uri="{FF2B5EF4-FFF2-40B4-BE49-F238E27FC236}">
                <a16:creationId xmlns:a16="http://schemas.microsoft.com/office/drawing/2014/main" id="{2DBF2481-A2DB-F96E-5749-B03DC4F71665}"/>
              </a:ext>
            </a:extLst>
          </p:cNvPr>
          <p:cNvPicPr preferRelativeResize="0"/>
          <p:nvPr/>
        </p:nvPicPr>
        <p:blipFill rotWithShape="1">
          <a:blip r:embed="rId2">
            <a:alphaModFix/>
          </a:blip>
          <a:srcRect/>
          <a:stretch/>
        </p:blipFill>
        <p:spPr>
          <a:xfrm>
            <a:off x="11044052" y="8268"/>
            <a:ext cx="1051261" cy="465287"/>
          </a:xfrm>
          <a:prstGeom prst="rect">
            <a:avLst/>
          </a:prstGeom>
          <a:noFill/>
          <a:ln>
            <a:noFill/>
          </a:ln>
        </p:spPr>
      </p:pic>
      <p:sp>
        <p:nvSpPr>
          <p:cNvPr id="19" name="Rectangle 18">
            <a:extLst>
              <a:ext uri="{FF2B5EF4-FFF2-40B4-BE49-F238E27FC236}">
                <a16:creationId xmlns:a16="http://schemas.microsoft.com/office/drawing/2014/main" id="{A0702E37-2E7E-7262-5E76-F69A817105B3}"/>
              </a:ext>
            </a:extLst>
          </p:cNvPr>
          <p:cNvSpPr/>
          <p:nvPr/>
        </p:nvSpPr>
        <p:spPr>
          <a:xfrm>
            <a:off x="0" y="8268"/>
            <a:ext cx="12192000" cy="6825920"/>
          </a:xfrm>
          <a:prstGeom prst="rect">
            <a:avLst/>
          </a:prstGeom>
          <a:noFill/>
          <a:ln w="38100">
            <a:solidFill>
              <a:srgbClr val="0432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DCB2A3F0-9003-5886-09B4-27925BBE4000}"/>
              </a:ext>
            </a:extLst>
          </p:cNvPr>
          <p:cNvSpPr txBox="1"/>
          <p:nvPr/>
        </p:nvSpPr>
        <p:spPr>
          <a:xfrm>
            <a:off x="1" y="708849"/>
            <a:ext cx="12191999" cy="646331"/>
          </a:xfrm>
          <a:prstGeom prst="rect">
            <a:avLst/>
          </a:prstGeom>
          <a:noFill/>
        </p:spPr>
        <p:txBody>
          <a:bodyPr wrap="square">
            <a:spAutoFit/>
          </a:bodyPr>
          <a:lstStyle/>
          <a:p>
            <a:pPr algn="ctr"/>
            <a:r>
              <a:rPr lang="en-US" sz="3600" b="1" dirty="0">
                <a:effectLst/>
                <a:latin typeface="Calibri" panose="020F0502020204030204" pitchFamily="34" charset="0"/>
                <a:ea typeface="Calibri" panose="020F0502020204030204" pitchFamily="34" charset="0"/>
                <a:cs typeface="Calibri" panose="020F0502020204030204" pitchFamily="34" charset="0"/>
              </a:rPr>
              <a:t>How Data Science works?</a:t>
            </a:r>
            <a:endParaRPr lang="en-GB" sz="8800" b="1" cap="none" spc="0" dirty="0">
              <a:ln w="0"/>
              <a:solidFill>
                <a:schemeClr val="tx1"/>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Calibri" panose="020F0502020204030204" pitchFamily="34" charset="0"/>
            </a:endParaRPr>
          </a:p>
        </p:txBody>
      </p:sp>
      <p:sp>
        <p:nvSpPr>
          <p:cNvPr id="5" name="TextBox 4">
            <a:extLst>
              <a:ext uri="{FF2B5EF4-FFF2-40B4-BE49-F238E27FC236}">
                <a16:creationId xmlns:a16="http://schemas.microsoft.com/office/drawing/2014/main" id="{57BF3EEF-553A-D37A-6EF6-B514AF07FC3C}"/>
              </a:ext>
            </a:extLst>
          </p:cNvPr>
          <p:cNvSpPr txBox="1"/>
          <p:nvPr/>
        </p:nvSpPr>
        <p:spPr>
          <a:xfrm>
            <a:off x="467138" y="1374672"/>
            <a:ext cx="11012558" cy="2542363"/>
          </a:xfrm>
          <a:prstGeom prst="rect">
            <a:avLst/>
          </a:prstGeom>
          <a:noFill/>
        </p:spPr>
        <p:txBody>
          <a:bodyPr wrap="square">
            <a:spAutoFit/>
          </a:bodyPr>
          <a:lstStyle/>
          <a:p>
            <a:pPr marL="342900" indent="-342900" algn="just">
              <a:lnSpc>
                <a:spcPct val="150000"/>
              </a:lnSpc>
              <a:buSzPts val="1800"/>
              <a:buFont typeface="+mj-lt"/>
              <a:buAutoNum type="arabicPeriod"/>
            </a:pPr>
            <a:r>
              <a:rPr lang="en-IN" b="1" i="0" dirty="0">
                <a:solidFill>
                  <a:srgbClr val="273239"/>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Problem Statement: </a:t>
            </a:r>
            <a:r>
              <a:rPr lang="en-US" b="0" i="0" dirty="0">
                <a:solidFill>
                  <a:srgbClr val="273239"/>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It’s really important to declare or formulate your problem statement very clearly and precisely. Many scientist considers this as the main and much important step of Date Science.</a:t>
            </a:r>
          </a:p>
          <a:p>
            <a:pPr marL="342900" indent="-342900" algn="just">
              <a:lnSpc>
                <a:spcPct val="150000"/>
              </a:lnSpc>
              <a:buSzPts val="1800"/>
              <a:buFont typeface="+mj-lt"/>
              <a:buAutoNum type="arabicPeriod"/>
            </a:pPr>
            <a:r>
              <a:rPr lang="en-IN" b="1" i="0" dirty="0">
                <a:solidFill>
                  <a:srgbClr val="273239"/>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Data Collection: </a:t>
            </a:r>
            <a:r>
              <a:rPr lang="en-US" b="0" i="0" dirty="0">
                <a:solidFill>
                  <a:srgbClr val="273239"/>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After defining the problem statement, the next obvious step is to go in search of data that you might require for your model. Data can be in any form </a:t>
            </a:r>
            <a:r>
              <a:rPr lang="en-US" b="0" i="0" dirty="0" err="1">
                <a:solidFill>
                  <a:srgbClr val="273239"/>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i.e</a:t>
            </a:r>
            <a:r>
              <a:rPr lang="en-US" b="0" i="0" dirty="0">
                <a:solidFill>
                  <a:srgbClr val="273239"/>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 unstructured or structured. It might be in various forms like videos, spreadsheets, coded forms, etc. You must collect all these kinds of sources.</a:t>
            </a:r>
          </a:p>
          <a:p>
            <a:pPr marL="283464" indent="-283464" algn="just">
              <a:lnSpc>
                <a:spcPct val="150000"/>
              </a:lnSpc>
              <a:buSzPts val="1800"/>
              <a:buFont typeface="Arial" panose="020B0604020202020204" pitchFamily="34" charset="0"/>
              <a:buChar char="•"/>
            </a:pPr>
            <a:endParaRPr lang="en-US" b="0" i="0" dirty="0">
              <a:solidFill>
                <a:srgbClr val="273239"/>
              </a:solidFill>
              <a:effectLst/>
              <a:highlight>
                <a:srgbClr val="FFFFFF"/>
              </a:highlight>
              <a:latin typeface="Calibri" panose="020F0502020204030204" pitchFamily="34" charset="0"/>
              <a:ea typeface="Calibri" panose="020F0502020204030204" pitchFamily="34" charset="0"/>
              <a:cs typeface="Calibri" panose="020F0502020204030204" pitchFamily="34" charset="0"/>
            </a:endParaRPr>
          </a:p>
        </p:txBody>
      </p:sp>
      <p:pic>
        <p:nvPicPr>
          <p:cNvPr id="1026" name="Picture 2" descr="How do you design a data collection plan that is feasible, cost-effective,  and timely?">
            <a:extLst>
              <a:ext uri="{FF2B5EF4-FFF2-40B4-BE49-F238E27FC236}">
                <a16:creationId xmlns:a16="http://schemas.microsoft.com/office/drawing/2014/main" id="{BF3D3494-9210-79E5-DA6D-6FE95AB2DDCF}"/>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30557" t="27461"/>
          <a:stretch/>
        </p:blipFill>
        <p:spPr bwMode="auto">
          <a:xfrm>
            <a:off x="3744030" y="3637722"/>
            <a:ext cx="5157111" cy="2693503"/>
          </a:xfrm>
          <a:prstGeom prst="rect">
            <a:avLst/>
          </a:prstGeom>
          <a:noFill/>
          <a:ln w="6350">
            <a:solidFill>
              <a:schemeClr val="tx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110898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Table 8">
            <a:extLst>
              <a:ext uri="{FF2B5EF4-FFF2-40B4-BE49-F238E27FC236}">
                <a16:creationId xmlns:a16="http://schemas.microsoft.com/office/drawing/2014/main" id="{0B6EC464-4750-5FF3-7A5A-15612BA6E293}"/>
              </a:ext>
            </a:extLst>
          </p:cNvPr>
          <p:cNvGraphicFramePr>
            <a:graphicFrameLocks noGrp="1"/>
          </p:cNvGraphicFramePr>
          <p:nvPr/>
        </p:nvGraphicFramePr>
        <p:xfrm>
          <a:off x="0" y="23812"/>
          <a:ext cx="12192000" cy="465287"/>
        </p:xfrm>
        <a:graphic>
          <a:graphicData uri="http://schemas.openxmlformats.org/drawingml/2006/table">
            <a:tbl>
              <a:tblPr firstRow="1" bandRow="1">
                <a:tableStyleId>{5C22544A-7EE6-4342-B048-85BDC9FD1C3A}</a:tableStyleId>
              </a:tblPr>
              <a:tblGrid>
                <a:gridCol w="6092042">
                  <a:extLst>
                    <a:ext uri="{9D8B030D-6E8A-4147-A177-3AD203B41FA5}">
                      <a16:colId xmlns:a16="http://schemas.microsoft.com/office/drawing/2014/main" val="2179694530"/>
                    </a:ext>
                  </a:extLst>
                </a:gridCol>
                <a:gridCol w="6099958">
                  <a:extLst>
                    <a:ext uri="{9D8B030D-6E8A-4147-A177-3AD203B41FA5}">
                      <a16:colId xmlns:a16="http://schemas.microsoft.com/office/drawing/2014/main" val="2768207918"/>
                    </a:ext>
                  </a:extLst>
                </a:gridCol>
              </a:tblGrid>
              <a:tr h="465287">
                <a:tc>
                  <a:txBody>
                    <a:bodyPr/>
                    <a:lstStyle/>
                    <a:p>
                      <a:endParaRPr lang="en-US" dirty="0"/>
                    </a:p>
                  </a:txBody>
                  <a:tcPr>
                    <a:solidFill>
                      <a:srgbClr val="FF85FF"/>
                    </a:solidFill>
                  </a:tcPr>
                </a:tc>
                <a:tc>
                  <a:txBody>
                    <a:bodyPr/>
                    <a:lstStyle/>
                    <a:p>
                      <a:endParaRPr lang="en-US" dirty="0"/>
                    </a:p>
                  </a:txBody>
                  <a:tcPr>
                    <a:solidFill>
                      <a:srgbClr val="FFFF00"/>
                    </a:solidFill>
                  </a:tcPr>
                </a:tc>
                <a:extLst>
                  <a:ext uri="{0D108BD9-81ED-4DB2-BD59-A6C34878D82A}">
                    <a16:rowId xmlns:a16="http://schemas.microsoft.com/office/drawing/2014/main" val="1996944423"/>
                  </a:ext>
                </a:extLst>
              </a:tr>
            </a:tbl>
          </a:graphicData>
        </a:graphic>
      </p:graphicFrame>
      <p:graphicFrame>
        <p:nvGraphicFramePr>
          <p:cNvPr id="10" name="Table 9">
            <a:extLst>
              <a:ext uri="{FF2B5EF4-FFF2-40B4-BE49-F238E27FC236}">
                <a16:creationId xmlns:a16="http://schemas.microsoft.com/office/drawing/2014/main" id="{494BAFB7-FE1F-E1A9-7A6C-AB4145BD9BA1}"/>
              </a:ext>
            </a:extLst>
          </p:cNvPr>
          <p:cNvGraphicFramePr>
            <a:graphicFrameLocks noGrp="1"/>
          </p:cNvGraphicFramePr>
          <p:nvPr>
            <p:extLst>
              <p:ext uri="{D42A27DB-BD31-4B8C-83A1-F6EECF244321}">
                <p14:modId xmlns:p14="http://schemas.microsoft.com/office/powerpoint/2010/main" val="4108073213"/>
              </p:ext>
            </p:extLst>
          </p:nvPr>
        </p:nvGraphicFramePr>
        <p:xfrm>
          <a:off x="1" y="6478892"/>
          <a:ext cx="12191999" cy="370840"/>
        </p:xfrm>
        <a:graphic>
          <a:graphicData uri="http://schemas.openxmlformats.org/drawingml/2006/table">
            <a:tbl>
              <a:tblPr firstRow="1" bandRow="1">
                <a:tableStyleId>{5C22544A-7EE6-4342-B048-85BDC9FD1C3A}</a:tableStyleId>
              </a:tblPr>
              <a:tblGrid>
                <a:gridCol w="6080165">
                  <a:extLst>
                    <a:ext uri="{9D8B030D-6E8A-4147-A177-3AD203B41FA5}">
                      <a16:colId xmlns:a16="http://schemas.microsoft.com/office/drawing/2014/main" val="2179694530"/>
                    </a:ext>
                  </a:extLst>
                </a:gridCol>
                <a:gridCol w="6111834">
                  <a:extLst>
                    <a:ext uri="{9D8B030D-6E8A-4147-A177-3AD203B41FA5}">
                      <a16:colId xmlns:a16="http://schemas.microsoft.com/office/drawing/2014/main" val="2768207918"/>
                    </a:ext>
                  </a:extLst>
                </a:gridCol>
              </a:tblGrid>
              <a:tr h="370840">
                <a:tc>
                  <a:txBody>
                    <a:bodyPr/>
                    <a:lstStyle/>
                    <a:p>
                      <a:endParaRPr lang="en-US" dirty="0"/>
                    </a:p>
                  </a:txBody>
                  <a:tcPr>
                    <a:solidFill>
                      <a:srgbClr val="FFFF00"/>
                    </a:solidFill>
                  </a:tcPr>
                </a:tc>
                <a:tc>
                  <a:txBody>
                    <a:bodyPr/>
                    <a:lstStyle/>
                    <a:p>
                      <a:pPr algn="r"/>
                      <a:fld id="{9B936287-C66B-44CA-89FC-354F9580826B}" type="slidenum">
                        <a:rPr lang="en-US" smtClean="0">
                          <a:solidFill>
                            <a:schemeClr val="tx1"/>
                          </a:solidFill>
                        </a:rPr>
                        <a:t>8</a:t>
                      </a:fld>
                      <a:endParaRPr lang="en-US" dirty="0">
                        <a:solidFill>
                          <a:schemeClr val="tx1"/>
                        </a:solidFill>
                      </a:endParaRPr>
                    </a:p>
                  </a:txBody>
                  <a:tcPr>
                    <a:solidFill>
                      <a:srgbClr val="FF85FF"/>
                    </a:solidFill>
                  </a:tcPr>
                </a:tc>
                <a:extLst>
                  <a:ext uri="{0D108BD9-81ED-4DB2-BD59-A6C34878D82A}">
                    <a16:rowId xmlns:a16="http://schemas.microsoft.com/office/drawing/2014/main" val="1996944423"/>
                  </a:ext>
                </a:extLst>
              </a:tr>
            </a:tbl>
          </a:graphicData>
        </a:graphic>
      </p:graphicFrame>
      <p:pic>
        <p:nvPicPr>
          <p:cNvPr id="12" name="Google Shape;187;p25" descr="pngfind.com-kingpin-png-4152286 (1).png">
            <a:extLst>
              <a:ext uri="{FF2B5EF4-FFF2-40B4-BE49-F238E27FC236}">
                <a16:creationId xmlns:a16="http://schemas.microsoft.com/office/drawing/2014/main" id="{2DBF2481-A2DB-F96E-5749-B03DC4F71665}"/>
              </a:ext>
            </a:extLst>
          </p:cNvPr>
          <p:cNvPicPr preferRelativeResize="0"/>
          <p:nvPr/>
        </p:nvPicPr>
        <p:blipFill rotWithShape="1">
          <a:blip r:embed="rId2">
            <a:alphaModFix/>
          </a:blip>
          <a:srcRect/>
          <a:stretch/>
        </p:blipFill>
        <p:spPr>
          <a:xfrm>
            <a:off x="11044052" y="8268"/>
            <a:ext cx="1051261" cy="465287"/>
          </a:xfrm>
          <a:prstGeom prst="rect">
            <a:avLst/>
          </a:prstGeom>
          <a:noFill/>
          <a:ln>
            <a:noFill/>
          </a:ln>
        </p:spPr>
      </p:pic>
      <p:sp>
        <p:nvSpPr>
          <p:cNvPr id="19" name="Rectangle 18">
            <a:extLst>
              <a:ext uri="{FF2B5EF4-FFF2-40B4-BE49-F238E27FC236}">
                <a16:creationId xmlns:a16="http://schemas.microsoft.com/office/drawing/2014/main" id="{A0702E37-2E7E-7262-5E76-F69A817105B3}"/>
              </a:ext>
            </a:extLst>
          </p:cNvPr>
          <p:cNvSpPr/>
          <p:nvPr/>
        </p:nvSpPr>
        <p:spPr>
          <a:xfrm>
            <a:off x="0" y="8268"/>
            <a:ext cx="12192000" cy="6825920"/>
          </a:xfrm>
          <a:prstGeom prst="rect">
            <a:avLst/>
          </a:prstGeom>
          <a:noFill/>
          <a:ln w="38100">
            <a:solidFill>
              <a:srgbClr val="0432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DCB2A3F0-9003-5886-09B4-27925BBE4000}"/>
              </a:ext>
            </a:extLst>
          </p:cNvPr>
          <p:cNvSpPr txBox="1"/>
          <p:nvPr/>
        </p:nvSpPr>
        <p:spPr>
          <a:xfrm>
            <a:off x="-1" y="708849"/>
            <a:ext cx="12191999" cy="646331"/>
          </a:xfrm>
          <a:prstGeom prst="rect">
            <a:avLst/>
          </a:prstGeom>
          <a:noFill/>
        </p:spPr>
        <p:txBody>
          <a:bodyPr wrap="square">
            <a:spAutoFit/>
          </a:bodyPr>
          <a:lstStyle/>
          <a:p>
            <a:pPr algn="ctr"/>
            <a:r>
              <a:rPr lang="en-US" sz="3600" b="1" dirty="0">
                <a:effectLst/>
                <a:latin typeface="Calibri" panose="020F0502020204030204" pitchFamily="34" charset="0"/>
                <a:ea typeface="Calibri" panose="020F0502020204030204" pitchFamily="34" charset="0"/>
                <a:cs typeface="Calibri" panose="020F0502020204030204" pitchFamily="34" charset="0"/>
              </a:rPr>
              <a:t>How Data Science works?</a:t>
            </a:r>
            <a:endParaRPr lang="en-GB" sz="8800" b="1" cap="none" spc="0" dirty="0">
              <a:ln w="0"/>
              <a:solidFill>
                <a:schemeClr val="tx1"/>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Calibri" panose="020F0502020204030204" pitchFamily="34" charset="0"/>
            </a:endParaRPr>
          </a:p>
        </p:txBody>
      </p:sp>
      <p:sp>
        <p:nvSpPr>
          <p:cNvPr id="5" name="TextBox 4">
            <a:extLst>
              <a:ext uri="{FF2B5EF4-FFF2-40B4-BE49-F238E27FC236}">
                <a16:creationId xmlns:a16="http://schemas.microsoft.com/office/drawing/2014/main" id="{57BF3EEF-553A-D37A-6EF6-B514AF07FC3C}"/>
              </a:ext>
            </a:extLst>
          </p:cNvPr>
          <p:cNvSpPr txBox="1"/>
          <p:nvPr/>
        </p:nvSpPr>
        <p:spPr>
          <a:xfrm>
            <a:off x="477076" y="1445723"/>
            <a:ext cx="11012558" cy="2542363"/>
          </a:xfrm>
          <a:prstGeom prst="rect">
            <a:avLst/>
          </a:prstGeom>
          <a:noFill/>
        </p:spPr>
        <p:txBody>
          <a:bodyPr wrap="square">
            <a:spAutoFit/>
          </a:bodyPr>
          <a:lstStyle/>
          <a:p>
            <a:pPr marL="342900" indent="-342900" algn="just" fontAlgn="base">
              <a:lnSpc>
                <a:spcPct val="150000"/>
              </a:lnSpc>
              <a:buFont typeface="+mj-lt"/>
              <a:buAutoNum type="arabicPeriod" startAt="3"/>
            </a:pPr>
            <a:r>
              <a:rPr lang="en-US" b="1" i="0" dirty="0">
                <a:solidFill>
                  <a:srgbClr val="273239"/>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Data Cleaning: </a:t>
            </a:r>
            <a:r>
              <a:rPr lang="en-US" i="0" dirty="0">
                <a:solidFill>
                  <a:srgbClr val="273239"/>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T</a:t>
            </a:r>
            <a:r>
              <a:rPr lang="en-US" b="0" i="0" dirty="0">
                <a:solidFill>
                  <a:srgbClr val="273239"/>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he next step to do is cleaning. Data cleaning is the most favorite thing for data scientists to do. It is all about the removal of missing, redundant, unnecessary and duplicate data from your collection. </a:t>
            </a:r>
          </a:p>
          <a:p>
            <a:pPr marL="342900" indent="-342900" algn="just" fontAlgn="base">
              <a:lnSpc>
                <a:spcPct val="150000"/>
              </a:lnSpc>
              <a:buFont typeface="+mj-lt"/>
              <a:buAutoNum type="arabicPeriod" startAt="3"/>
            </a:pPr>
            <a:r>
              <a:rPr lang="en-US" b="1" i="0" dirty="0">
                <a:solidFill>
                  <a:srgbClr val="273239"/>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Data Analysis and Exploration: </a:t>
            </a:r>
            <a:r>
              <a:rPr lang="en-US" b="0" i="0" dirty="0">
                <a:solidFill>
                  <a:srgbClr val="273239"/>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It’s about analyzing the structure of data, finding hidden patterns in them, studying behaviors, visualizing the effects of one variable over others and then concluding. We can explore the data with the help of various graphs formed with the help of libraries using any programming language. </a:t>
            </a:r>
          </a:p>
          <a:p>
            <a:pPr marL="283464" indent="-283464" algn="just">
              <a:lnSpc>
                <a:spcPct val="150000"/>
              </a:lnSpc>
              <a:buSzPts val="1800"/>
              <a:buFont typeface="Arial" panose="020B0604020202020204" pitchFamily="34" charset="0"/>
              <a:buChar char="•"/>
            </a:pPr>
            <a:endParaRPr lang="en-US" b="0" i="0" dirty="0">
              <a:solidFill>
                <a:srgbClr val="273239"/>
              </a:solidFill>
              <a:effectLst/>
              <a:highlight>
                <a:srgbClr val="FFFFFF"/>
              </a:highlight>
              <a:latin typeface="Calibri" panose="020F0502020204030204" pitchFamily="34" charset="0"/>
              <a:ea typeface="Calibri" panose="020F0502020204030204" pitchFamily="34" charset="0"/>
              <a:cs typeface="Calibri" panose="020F0502020204030204" pitchFamily="34" charset="0"/>
            </a:endParaRPr>
          </a:p>
        </p:txBody>
      </p:sp>
      <p:pic>
        <p:nvPicPr>
          <p:cNvPr id="2050" name="Picture 2" descr="Cleaning Data in Python. While ...">
            <a:extLst>
              <a:ext uri="{FF2B5EF4-FFF2-40B4-BE49-F238E27FC236}">
                <a16:creationId xmlns:a16="http://schemas.microsoft.com/office/drawing/2014/main" id="{6B9DAC8F-782D-FD82-A99F-DADE5541C36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64003" y="3774379"/>
            <a:ext cx="5263993" cy="2542362"/>
          </a:xfrm>
          <a:prstGeom prst="rect">
            <a:avLst/>
          </a:prstGeom>
          <a:noFill/>
          <a:ln w="6350">
            <a:solidFill>
              <a:schemeClr val="tx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743547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Table 8">
            <a:extLst>
              <a:ext uri="{FF2B5EF4-FFF2-40B4-BE49-F238E27FC236}">
                <a16:creationId xmlns:a16="http://schemas.microsoft.com/office/drawing/2014/main" id="{0B6EC464-4750-5FF3-7A5A-15612BA6E293}"/>
              </a:ext>
            </a:extLst>
          </p:cNvPr>
          <p:cNvGraphicFramePr>
            <a:graphicFrameLocks noGrp="1"/>
          </p:cNvGraphicFramePr>
          <p:nvPr/>
        </p:nvGraphicFramePr>
        <p:xfrm>
          <a:off x="0" y="23812"/>
          <a:ext cx="12192000" cy="465287"/>
        </p:xfrm>
        <a:graphic>
          <a:graphicData uri="http://schemas.openxmlformats.org/drawingml/2006/table">
            <a:tbl>
              <a:tblPr firstRow="1" bandRow="1">
                <a:tableStyleId>{5C22544A-7EE6-4342-B048-85BDC9FD1C3A}</a:tableStyleId>
              </a:tblPr>
              <a:tblGrid>
                <a:gridCol w="6092042">
                  <a:extLst>
                    <a:ext uri="{9D8B030D-6E8A-4147-A177-3AD203B41FA5}">
                      <a16:colId xmlns:a16="http://schemas.microsoft.com/office/drawing/2014/main" val="2179694530"/>
                    </a:ext>
                  </a:extLst>
                </a:gridCol>
                <a:gridCol w="6099958">
                  <a:extLst>
                    <a:ext uri="{9D8B030D-6E8A-4147-A177-3AD203B41FA5}">
                      <a16:colId xmlns:a16="http://schemas.microsoft.com/office/drawing/2014/main" val="2768207918"/>
                    </a:ext>
                  </a:extLst>
                </a:gridCol>
              </a:tblGrid>
              <a:tr h="465287">
                <a:tc>
                  <a:txBody>
                    <a:bodyPr/>
                    <a:lstStyle/>
                    <a:p>
                      <a:endParaRPr lang="en-US" dirty="0"/>
                    </a:p>
                  </a:txBody>
                  <a:tcPr>
                    <a:solidFill>
                      <a:srgbClr val="FF85FF"/>
                    </a:solidFill>
                  </a:tcPr>
                </a:tc>
                <a:tc>
                  <a:txBody>
                    <a:bodyPr/>
                    <a:lstStyle/>
                    <a:p>
                      <a:endParaRPr lang="en-US" dirty="0"/>
                    </a:p>
                  </a:txBody>
                  <a:tcPr>
                    <a:solidFill>
                      <a:srgbClr val="FFFF00"/>
                    </a:solidFill>
                  </a:tcPr>
                </a:tc>
                <a:extLst>
                  <a:ext uri="{0D108BD9-81ED-4DB2-BD59-A6C34878D82A}">
                    <a16:rowId xmlns:a16="http://schemas.microsoft.com/office/drawing/2014/main" val="1996944423"/>
                  </a:ext>
                </a:extLst>
              </a:tr>
            </a:tbl>
          </a:graphicData>
        </a:graphic>
      </p:graphicFrame>
      <p:graphicFrame>
        <p:nvGraphicFramePr>
          <p:cNvPr id="10" name="Table 9">
            <a:extLst>
              <a:ext uri="{FF2B5EF4-FFF2-40B4-BE49-F238E27FC236}">
                <a16:creationId xmlns:a16="http://schemas.microsoft.com/office/drawing/2014/main" id="{494BAFB7-FE1F-E1A9-7A6C-AB4145BD9BA1}"/>
              </a:ext>
            </a:extLst>
          </p:cNvPr>
          <p:cNvGraphicFramePr>
            <a:graphicFrameLocks noGrp="1"/>
          </p:cNvGraphicFramePr>
          <p:nvPr>
            <p:extLst>
              <p:ext uri="{D42A27DB-BD31-4B8C-83A1-F6EECF244321}">
                <p14:modId xmlns:p14="http://schemas.microsoft.com/office/powerpoint/2010/main" val="2345466427"/>
              </p:ext>
            </p:extLst>
          </p:nvPr>
        </p:nvGraphicFramePr>
        <p:xfrm>
          <a:off x="1" y="6478892"/>
          <a:ext cx="12191999" cy="370840"/>
        </p:xfrm>
        <a:graphic>
          <a:graphicData uri="http://schemas.openxmlformats.org/drawingml/2006/table">
            <a:tbl>
              <a:tblPr firstRow="1" bandRow="1">
                <a:tableStyleId>{5C22544A-7EE6-4342-B048-85BDC9FD1C3A}</a:tableStyleId>
              </a:tblPr>
              <a:tblGrid>
                <a:gridCol w="6080165">
                  <a:extLst>
                    <a:ext uri="{9D8B030D-6E8A-4147-A177-3AD203B41FA5}">
                      <a16:colId xmlns:a16="http://schemas.microsoft.com/office/drawing/2014/main" val="2179694530"/>
                    </a:ext>
                  </a:extLst>
                </a:gridCol>
                <a:gridCol w="6111834">
                  <a:extLst>
                    <a:ext uri="{9D8B030D-6E8A-4147-A177-3AD203B41FA5}">
                      <a16:colId xmlns:a16="http://schemas.microsoft.com/office/drawing/2014/main" val="2768207918"/>
                    </a:ext>
                  </a:extLst>
                </a:gridCol>
              </a:tblGrid>
              <a:tr h="370840">
                <a:tc>
                  <a:txBody>
                    <a:bodyPr/>
                    <a:lstStyle/>
                    <a:p>
                      <a:endParaRPr lang="en-US" dirty="0"/>
                    </a:p>
                  </a:txBody>
                  <a:tcPr>
                    <a:solidFill>
                      <a:srgbClr val="FFFF00"/>
                    </a:solidFill>
                  </a:tcPr>
                </a:tc>
                <a:tc>
                  <a:txBody>
                    <a:bodyPr/>
                    <a:lstStyle/>
                    <a:p>
                      <a:pPr algn="r"/>
                      <a:fld id="{01C6B4F2-933D-4CCE-B3AC-9CE8DEB82DFC}" type="slidenum">
                        <a:rPr lang="en-US" smtClean="0">
                          <a:solidFill>
                            <a:schemeClr val="tx1"/>
                          </a:solidFill>
                        </a:rPr>
                        <a:t>9</a:t>
                      </a:fld>
                      <a:endParaRPr lang="en-US" dirty="0">
                        <a:solidFill>
                          <a:schemeClr val="tx1"/>
                        </a:solidFill>
                      </a:endParaRPr>
                    </a:p>
                  </a:txBody>
                  <a:tcPr>
                    <a:solidFill>
                      <a:srgbClr val="FF85FF"/>
                    </a:solidFill>
                  </a:tcPr>
                </a:tc>
                <a:extLst>
                  <a:ext uri="{0D108BD9-81ED-4DB2-BD59-A6C34878D82A}">
                    <a16:rowId xmlns:a16="http://schemas.microsoft.com/office/drawing/2014/main" val="1996944423"/>
                  </a:ext>
                </a:extLst>
              </a:tr>
            </a:tbl>
          </a:graphicData>
        </a:graphic>
      </p:graphicFrame>
      <p:pic>
        <p:nvPicPr>
          <p:cNvPr id="12" name="Google Shape;187;p25" descr="pngfind.com-kingpin-png-4152286 (1).png">
            <a:extLst>
              <a:ext uri="{FF2B5EF4-FFF2-40B4-BE49-F238E27FC236}">
                <a16:creationId xmlns:a16="http://schemas.microsoft.com/office/drawing/2014/main" id="{2DBF2481-A2DB-F96E-5749-B03DC4F71665}"/>
              </a:ext>
            </a:extLst>
          </p:cNvPr>
          <p:cNvPicPr preferRelativeResize="0"/>
          <p:nvPr/>
        </p:nvPicPr>
        <p:blipFill rotWithShape="1">
          <a:blip r:embed="rId2">
            <a:alphaModFix/>
          </a:blip>
          <a:srcRect/>
          <a:stretch/>
        </p:blipFill>
        <p:spPr>
          <a:xfrm>
            <a:off x="11044052" y="8268"/>
            <a:ext cx="1051261" cy="465287"/>
          </a:xfrm>
          <a:prstGeom prst="rect">
            <a:avLst/>
          </a:prstGeom>
          <a:noFill/>
          <a:ln>
            <a:noFill/>
          </a:ln>
        </p:spPr>
      </p:pic>
      <p:sp>
        <p:nvSpPr>
          <p:cNvPr id="19" name="Rectangle 18">
            <a:extLst>
              <a:ext uri="{FF2B5EF4-FFF2-40B4-BE49-F238E27FC236}">
                <a16:creationId xmlns:a16="http://schemas.microsoft.com/office/drawing/2014/main" id="{A0702E37-2E7E-7262-5E76-F69A817105B3}"/>
              </a:ext>
            </a:extLst>
          </p:cNvPr>
          <p:cNvSpPr/>
          <p:nvPr/>
        </p:nvSpPr>
        <p:spPr>
          <a:xfrm>
            <a:off x="0" y="8268"/>
            <a:ext cx="12192000" cy="6825920"/>
          </a:xfrm>
          <a:prstGeom prst="rect">
            <a:avLst/>
          </a:prstGeom>
          <a:noFill/>
          <a:ln w="38100">
            <a:solidFill>
              <a:srgbClr val="0432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DCB2A3F0-9003-5886-09B4-27925BBE4000}"/>
              </a:ext>
            </a:extLst>
          </p:cNvPr>
          <p:cNvSpPr txBox="1"/>
          <p:nvPr/>
        </p:nvSpPr>
        <p:spPr>
          <a:xfrm>
            <a:off x="1" y="708849"/>
            <a:ext cx="12191999" cy="646331"/>
          </a:xfrm>
          <a:prstGeom prst="rect">
            <a:avLst/>
          </a:prstGeom>
          <a:noFill/>
        </p:spPr>
        <p:txBody>
          <a:bodyPr wrap="square">
            <a:spAutoFit/>
          </a:bodyPr>
          <a:lstStyle/>
          <a:p>
            <a:pPr algn="ctr"/>
            <a:r>
              <a:rPr lang="en-US" sz="3600" b="1" dirty="0">
                <a:effectLst/>
                <a:latin typeface="Calibri" panose="020F0502020204030204" pitchFamily="34" charset="0"/>
                <a:ea typeface="Calibri" panose="020F0502020204030204" pitchFamily="34" charset="0"/>
                <a:cs typeface="Calibri" panose="020F0502020204030204" pitchFamily="34" charset="0"/>
              </a:rPr>
              <a:t>How Data Science works?</a:t>
            </a:r>
            <a:endParaRPr lang="en-GB" sz="8800" b="1" cap="none" spc="0" dirty="0">
              <a:ln w="0"/>
              <a:solidFill>
                <a:schemeClr val="tx1"/>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Calibri" panose="020F0502020204030204" pitchFamily="34" charset="0"/>
            </a:endParaRPr>
          </a:p>
        </p:txBody>
      </p:sp>
      <p:sp>
        <p:nvSpPr>
          <p:cNvPr id="5" name="TextBox 4">
            <a:extLst>
              <a:ext uri="{FF2B5EF4-FFF2-40B4-BE49-F238E27FC236}">
                <a16:creationId xmlns:a16="http://schemas.microsoft.com/office/drawing/2014/main" id="{57BF3EEF-553A-D37A-6EF6-B514AF07FC3C}"/>
              </a:ext>
            </a:extLst>
          </p:cNvPr>
          <p:cNvSpPr txBox="1"/>
          <p:nvPr/>
        </p:nvSpPr>
        <p:spPr>
          <a:xfrm>
            <a:off x="477077" y="1355180"/>
            <a:ext cx="11012558" cy="2957861"/>
          </a:xfrm>
          <a:prstGeom prst="rect">
            <a:avLst/>
          </a:prstGeom>
          <a:noFill/>
        </p:spPr>
        <p:txBody>
          <a:bodyPr wrap="square">
            <a:spAutoFit/>
          </a:bodyPr>
          <a:lstStyle/>
          <a:p>
            <a:pPr marL="342900" indent="-342900" algn="just" fontAlgn="base">
              <a:lnSpc>
                <a:spcPct val="150000"/>
              </a:lnSpc>
              <a:buFont typeface="+mj-lt"/>
              <a:buAutoNum type="arabicPeriod" startAt="5"/>
            </a:pPr>
            <a:r>
              <a:rPr lang="en-US" b="1" i="0" dirty="0">
                <a:solidFill>
                  <a:srgbClr val="273239"/>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Data Modelling: </a:t>
            </a:r>
            <a:r>
              <a:rPr lang="en-US" b="0" i="0" dirty="0">
                <a:solidFill>
                  <a:srgbClr val="273239"/>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Once you are done with your study that you have formed from data visualization, you must start building a hypothesis model such that it may yield you a good prediction in future. There different kinds of algorithms from regression, classification, Clustering, etc. </a:t>
            </a:r>
          </a:p>
          <a:p>
            <a:pPr marL="342900" indent="-342900" algn="just" fontAlgn="base">
              <a:lnSpc>
                <a:spcPct val="150000"/>
              </a:lnSpc>
              <a:buFont typeface="+mj-lt"/>
              <a:buAutoNum type="arabicPeriod" startAt="5"/>
            </a:pPr>
            <a:r>
              <a:rPr lang="en-US" b="1" i="0" dirty="0">
                <a:solidFill>
                  <a:srgbClr val="273239"/>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Optimization and Deployment:</a:t>
            </a:r>
            <a:r>
              <a:rPr lang="en-US" b="0" i="0" dirty="0">
                <a:solidFill>
                  <a:srgbClr val="273239"/>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 You test your data and find how well it is performing by checking its accuracy. In short, you check the efficiency of the data model and thus try to optimize it for better accurate prediction. Deployment deals with the launch of your model and let the people outside there to benefit from that.</a:t>
            </a:r>
          </a:p>
          <a:p>
            <a:pPr marL="283464" indent="-283464" algn="just">
              <a:lnSpc>
                <a:spcPct val="150000"/>
              </a:lnSpc>
              <a:buSzPts val="1800"/>
              <a:buFont typeface="Arial" panose="020B0604020202020204" pitchFamily="34" charset="0"/>
              <a:buChar char="•"/>
            </a:pPr>
            <a:endParaRPr lang="en-US" b="0" i="0" dirty="0">
              <a:solidFill>
                <a:srgbClr val="273239"/>
              </a:solidFill>
              <a:effectLst/>
              <a:highlight>
                <a:srgbClr val="FFFFFF"/>
              </a:highlight>
              <a:latin typeface="Calibri" panose="020F0502020204030204" pitchFamily="34" charset="0"/>
              <a:ea typeface="Calibri" panose="020F0502020204030204" pitchFamily="34" charset="0"/>
              <a:cs typeface="Calibri" panose="020F0502020204030204" pitchFamily="34" charset="0"/>
            </a:endParaRPr>
          </a:p>
        </p:txBody>
      </p:sp>
      <p:pic>
        <p:nvPicPr>
          <p:cNvPr id="3074" name="Picture 2" descr="11 Best Practices For Data Modelling ...">
            <a:extLst>
              <a:ext uri="{FF2B5EF4-FFF2-40B4-BE49-F238E27FC236}">
                <a16:creationId xmlns:a16="http://schemas.microsoft.com/office/drawing/2014/main" id="{66031383-6B89-2557-95C2-D060A194F42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02826" y="3951243"/>
            <a:ext cx="4326165" cy="242265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361310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Table 8">
            <a:extLst>
              <a:ext uri="{FF2B5EF4-FFF2-40B4-BE49-F238E27FC236}">
                <a16:creationId xmlns:a16="http://schemas.microsoft.com/office/drawing/2014/main" id="{0B6EC464-4750-5FF3-7A5A-15612BA6E293}"/>
              </a:ext>
            </a:extLst>
          </p:cNvPr>
          <p:cNvGraphicFramePr>
            <a:graphicFrameLocks noGrp="1"/>
          </p:cNvGraphicFramePr>
          <p:nvPr/>
        </p:nvGraphicFramePr>
        <p:xfrm>
          <a:off x="0" y="23812"/>
          <a:ext cx="12192000" cy="465287"/>
        </p:xfrm>
        <a:graphic>
          <a:graphicData uri="http://schemas.openxmlformats.org/drawingml/2006/table">
            <a:tbl>
              <a:tblPr firstRow="1" bandRow="1">
                <a:tableStyleId>{5C22544A-7EE6-4342-B048-85BDC9FD1C3A}</a:tableStyleId>
              </a:tblPr>
              <a:tblGrid>
                <a:gridCol w="6092042">
                  <a:extLst>
                    <a:ext uri="{9D8B030D-6E8A-4147-A177-3AD203B41FA5}">
                      <a16:colId xmlns:a16="http://schemas.microsoft.com/office/drawing/2014/main" val="2179694530"/>
                    </a:ext>
                  </a:extLst>
                </a:gridCol>
                <a:gridCol w="6099958">
                  <a:extLst>
                    <a:ext uri="{9D8B030D-6E8A-4147-A177-3AD203B41FA5}">
                      <a16:colId xmlns:a16="http://schemas.microsoft.com/office/drawing/2014/main" val="2768207918"/>
                    </a:ext>
                  </a:extLst>
                </a:gridCol>
              </a:tblGrid>
              <a:tr h="465287">
                <a:tc>
                  <a:txBody>
                    <a:bodyPr/>
                    <a:lstStyle/>
                    <a:p>
                      <a:endParaRPr lang="en-US" dirty="0"/>
                    </a:p>
                  </a:txBody>
                  <a:tcPr>
                    <a:solidFill>
                      <a:srgbClr val="FF85FF"/>
                    </a:solidFill>
                  </a:tcPr>
                </a:tc>
                <a:tc>
                  <a:txBody>
                    <a:bodyPr/>
                    <a:lstStyle/>
                    <a:p>
                      <a:endParaRPr lang="en-US" dirty="0"/>
                    </a:p>
                  </a:txBody>
                  <a:tcPr>
                    <a:solidFill>
                      <a:srgbClr val="FFFF00"/>
                    </a:solidFill>
                  </a:tcPr>
                </a:tc>
                <a:extLst>
                  <a:ext uri="{0D108BD9-81ED-4DB2-BD59-A6C34878D82A}">
                    <a16:rowId xmlns:a16="http://schemas.microsoft.com/office/drawing/2014/main" val="1996944423"/>
                  </a:ext>
                </a:extLst>
              </a:tr>
            </a:tbl>
          </a:graphicData>
        </a:graphic>
      </p:graphicFrame>
      <p:graphicFrame>
        <p:nvGraphicFramePr>
          <p:cNvPr id="10" name="Table 9">
            <a:extLst>
              <a:ext uri="{FF2B5EF4-FFF2-40B4-BE49-F238E27FC236}">
                <a16:creationId xmlns:a16="http://schemas.microsoft.com/office/drawing/2014/main" id="{494BAFB7-FE1F-E1A9-7A6C-AB4145BD9BA1}"/>
              </a:ext>
            </a:extLst>
          </p:cNvPr>
          <p:cNvGraphicFramePr>
            <a:graphicFrameLocks noGrp="1"/>
          </p:cNvGraphicFramePr>
          <p:nvPr>
            <p:extLst>
              <p:ext uri="{D42A27DB-BD31-4B8C-83A1-F6EECF244321}">
                <p14:modId xmlns:p14="http://schemas.microsoft.com/office/powerpoint/2010/main" val="2071708660"/>
              </p:ext>
            </p:extLst>
          </p:nvPr>
        </p:nvGraphicFramePr>
        <p:xfrm>
          <a:off x="1" y="6478892"/>
          <a:ext cx="12191999" cy="370840"/>
        </p:xfrm>
        <a:graphic>
          <a:graphicData uri="http://schemas.openxmlformats.org/drawingml/2006/table">
            <a:tbl>
              <a:tblPr firstRow="1" bandRow="1">
                <a:tableStyleId>{5C22544A-7EE6-4342-B048-85BDC9FD1C3A}</a:tableStyleId>
              </a:tblPr>
              <a:tblGrid>
                <a:gridCol w="6080165">
                  <a:extLst>
                    <a:ext uri="{9D8B030D-6E8A-4147-A177-3AD203B41FA5}">
                      <a16:colId xmlns:a16="http://schemas.microsoft.com/office/drawing/2014/main" val="2179694530"/>
                    </a:ext>
                  </a:extLst>
                </a:gridCol>
                <a:gridCol w="6111834">
                  <a:extLst>
                    <a:ext uri="{9D8B030D-6E8A-4147-A177-3AD203B41FA5}">
                      <a16:colId xmlns:a16="http://schemas.microsoft.com/office/drawing/2014/main" val="2768207918"/>
                    </a:ext>
                  </a:extLst>
                </a:gridCol>
              </a:tblGrid>
              <a:tr h="370840">
                <a:tc>
                  <a:txBody>
                    <a:bodyPr/>
                    <a:lstStyle/>
                    <a:p>
                      <a:endParaRPr lang="en-US" dirty="0"/>
                    </a:p>
                  </a:txBody>
                  <a:tcPr>
                    <a:solidFill>
                      <a:srgbClr val="FFFF00"/>
                    </a:solidFill>
                  </a:tcPr>
                </a:tc>
                <a:tc>
                  <a:txBody>
                    <a:bodyPr/>
                    <a:lstStyle/>
                    <a:p>
                      <a:pPr algn="r"/>
                      <a:fld id="{CFE5E3BE-EE29-401D-B4CD-151EFFA39DA2}" type="slidenum">
                        <a:rPr lang="en-US" smtClean="0">
                          <a:solidFill>
                            <a:schemeClr val="tx1"/>
                          </a:solidFill>
                        </a:rPr>
                        <a:t>10</a:t>
                      </a:fld>
                      <a:endParaRPr lang="en-US" dirty="0">
                        <a:solidFill>
                          <a:schemeClr val="tx1"/>
                        </a:solidFill>
                      </a:endParaRPr>
                    </a:p>
                  </a:txBody>
                  <a:tcPr>
                    <a:solidFill>
                      <a:srgbClr val="FF85FF"/>
                    </a:solidFill>
                  </a:tcPr>
                </a:tc>
                <a:extLst>
                  <a:ext uri="{0D108BD9-81ED-4DB2-BD59-A6C34878D82A}">
                    <a16:rowId xmlns:a16="http://schemas.microsoft.com/office/drawing/2014/main" val="1996944423"/>
                  </a:ext>
                </a:extLst>
              </a:tr>
            </a:tbl>
          </a:graphicData>
        </a:graphic>
      </p:graphicFrame>
      <p:pic>
        <p:nvPicPr>
          <p:cNvPr id="12" name="Google Shape;187;p25" descr="pngfind.com-kingpin-png-4152286 (1).png">
            <a:extLst>
              <a:ext uri="{FF2B5EF4-FFF2-40B4-BE49-F238E27FC236}">
                <a16:creationId xmlns:a16="http://schemas.microsoft.com/office/drawing/2014/main" id="{2DBF2481-A2DB-F96E-5749-B03DC4F71665}"/>
              </a:ext>
            </a:extLst>
          </p:cNvPr>
          <p:cNvPicPr preferRelativeResize="0"/>
          <p:nvPr/>
        </p:nvPicPr>
        <p:blipFill rotWithShape="1">
          <a:blip r:embed="rId2">
            <a:alphaModFix/>
          </a:blip>
          <a:srcRect/>
          <a:stretch/>
        </p:blipFill>
        <p:spPr>
          <a:xfrm>
            <a:off x="11044052" y="8268"/>
            <a:ext cx="1051261" cy="465287"/>
          </a:xfrm>
          <a:prstGeom prst="rect">
            <a:avLst/>
          </a:prstGeom>
          <a:noFill/>
          <a:ln>
            <a:noFill/>
          </a:ln>
        </p:spPr>
      </p:pic>
      <p:sp>
        <p:nvSpPr>
          <p:cNvPr id="19" name="Rectangle 18">
            <a:extLst>
              <a:ext uri="{FF2B5EF4-FFF2-40B4-BE49-F238E27FC236}">
                <a16:creationId xmlns:a16="http://schemas.microsoft.com/office/drawing/2014/main" id="{A0702E37-2E7E-7262-5E76-F69A817105B3}"/>
              </a:ext>
            </a:extLst>
          </p:cNvPr>
          <p:cNvSpPr/>
          <p:nvPr/>
        </p:nvSpPr>
        <p:spPr>
          <a:xfrm>
            <a:off x="0" y="8268"/>
            <a:ext cx="12192000" cy="6825920"/>
          </a:xfrm>
          <a:prstGeom prst="rect">
            <a:avLst/>
          </a:prstGeom>
          <a:noFill/>
          <a:ln w="38100">
            <a:solidFill>
              <a:srgbClr val="0432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DCB2A3F0-9003-5886-09B4-27925BBE4000}"/>
              </a:ext>
            </a:extLst>
          </p:cNvPr>
          <p:cNvSpPr txBox="1"/>
          <p:nvPr/>
        </p:nvSpPr>
        <p:spPr>
          <a:xfrm>
            <a:off x="109330" y="708849"/>
            <a:ext cx="12191999" cy="646331"/>
          </a:xfrm>
          <a:prstGeom prst="rect">
            <a:avLst/>
          </a:prstGeom>
          <a:noFill/>
        </p:spPr>
        <p:txBody>
          <a:bodyPr wrap="square">
            <a:spAutoFit/>
          </a:bodyPr>
          <a:lstStyle/>
          <a:p>
            <a:pPr marL="0" algn="ctr" rtl="0" eaLnBrk="1" latinLnBrk="0" hangingPunct="1">
              <a:spcBef>
                <a:spcPts val="0"/>
              </a:spcBef>
              <a:spcAft>
                <a:spcPts val="0"/>
              </a:spcAft>
            </a:pPr>
            <a:r>
              <a:rPr lang="en-US" sz="3600" b="1" kern="1200" dirty="0">
                <a:solidFill>
                  <a:srgbClr val="000000"/>
                </a:solidFill>
                <a:effectLst/>
                <a:latin typeface="Calibri" panose="020F0502020204030204" pitchFamily="34" charset="0"/>
                <a:ea typeface="+mn-ea"/>
                <a:cs typeface="Calibri" panose="020F0502020204030204" pitchFamily="34" charset="0"/>
              </a:rPr>
              <a:t>Types of Analysis</a:t>
            </a:r>
            <a:endParaRPr lang="en-IN" sz="6000" dirty="0">
              <a:effectLst/>
            </a:endParaRPr>
          </a:p>
        </p:txBody>
      </p:sp>
      <p:sp>
        <p:nvSpPr>
          <p:cNvPr id="5" name="TextBox 4">
            <a:extLst>
              <a:ext uri="{FF2B5EF4-FFF2-40B4-BE49-F238E27FC236}">
                <a16:creationId xmlns:a16="http://schemas.microsoft.com/office/drawing/2014/main" id="{57BF3EEF-553A-D37A-6EF6-B514AF07FC3C}"/>
              </a:ext>
            </a:extLst>
          </p:cNvPr>
          <p:cNvSpPr txBox="1"/>
          <p:nvPr/>
        </p:nvSpPr>
        <p:spPr>
          <a:xfrm>
            <a:off x="596628" y="1801426"/>
            <a:ext cx="10624649" cy="1711366"/>
          </a:xfrm>
          <a:prstGeom prst="rect">
            <a:avLst/>
          </a:prstGeom>
          <a:noFill/>
        </p:spPr>
        <p:txBody>
          <a:bodyPr wrap="square">
            <a:spAutoFit/>
          </a:bodyPr>
          <a:lstStyle/>
          <a:p>
            <a:pPr marL="285750" indent="-285750" algn="just">
              <a:lnSpc>
                <a:spcPct val="150000"/>
              </a:lnSpc>
              <a:buFont typeface="Arial" panose="020B0604020202020204" pitchFamily="34" charset="0"/>
              <a:buChar char="•"/>
            </a:pPr>
            <a:r>
              <a:rPr lang="en-US" b="1" dirty="0">
                <a:latin typeface="Calibri" panose="020F0502020204030204" pitchFamily="34" charset="0"/>
                <a:ea typeface="Calibri" panose="020F0502020204030204" pitchFamily="34" charset="0"/>
                <a:cs typeface="Calibri" panose="020F0502020204030204" pitchFamily="34" charset="0"/>
              </a:rPr>
              <a:t>Descriptive Analysis</a:t>
            </a:r>
            <a:r>
              <a:rPr lang="en-US" dirty="0">
                <a:latin typeface="Calibri" panose="020F0502020204030204" pitchFamily="34" charset="0"/>
                <a:ea typeface="Calibri" panose="020F0502020204030204" pitchFamily="34" charset="0"/>
                <a:cs typeface="Calibri" panose="020F0502020204030204" pitchFamily="34" charset="0"/>
              </a:rPr>
              <a:t>: Summarizes </a:t>
            </a:r>
            <a:r>
              <a:rPr lang="en-US" b="1" dirty="0">
                <a:latin typeface="Calibri" panose="020F0502020204030204" pitchFamily="34" charset="0"/>
                <a:ea typeface="Calibri" panose="020F0502020204030204" pitchFamily="34" charset="0"/>
                <a:cs typeface="Calibri" panose="020F0502020204030204" pitchFamily="34" charset="0"/>
              </a:rPr>
              <a:t>historical data </a:t>
            </a:r>
            <a:r>
              <a:rPr lang="en-US" dirty="0">
                <a:latin typeface="Calibri" panose="020F0502020204030204" pitchFamily="34" charset="0"/>
                <a:ea typeface="Calibri" panose="020F0502020204030204" pitchFamily="34" charset="0"/>
                <a:cs typeface="Calibri" panose="020F0502020204030204" pitchFamily="34" charset="0"/>
              </a:rPr>
              <a:t>to understand past performance.</a:t>
            </a:r>
          </a:p>
          <a:p>
            <a:pPr marL="285750" indent="-285750" algn="just">
              <a:lnSpc>
                <a:spcPct val="150000"/>
              </a:lnSpc>
              <a:buFont typeface="Arial" panose="020B0604020202020204" pitchFamily="34" charset="0"/>
              <a:buChar char="•"/>
            </a:pPr>
            <a:r>
              <a:rPr lang="en-US" b="1" dirty="0">
                <a:latin typeface="Calibri" panose="020F0502020204030204" pitchFamily="34" charset="0"/>
                <a:ea typeface="Calibri" panose="020F0502020204030204" pitchFamily="34" charset="0"/>
                <a:cs typeface="Calibri" panose="020F0502020204030204" pitchFamily="34" charset="0"/>
              </a:rPr>
              <a:t>Diagnostic Analysis</a:t>
            </a:r>
            <a:r>
              <a:rPr lang="en-US" dirty="0">
                <a:latin typeface="Calibri" panose="020F0502020204030204" pitchFamily="34" charset="0"/>
                <a:ea typeface="Calibri" panose="020F0502020204030204" pitchFamily="34" charset="0"/>
                <a:cs typeface="Calibri" panose="020F0502020204030204" pitchFamily="34" charset="0"/>
              </a:rPr>
              <a:t>: Identifies </a:t>
            </a:r>
            <a:r>
              <a:rPr lang="en-US" b="1" dirty="0">
                <a:latin typeface="Calibri" panose="020F0502020204030204" pitchFamily="34" charset="0"/>
                <a:ea typeface="Calibri" panose="020F0502020204030204" pitchFamily="34" charset="0"/>
                <a:cs typeface="Calibri" panose="020F0502020204030204" pitchFamily="34" charset="0"/>
              </a:rPr>
              <a:t>causes and reasons </a:t>
            </a:r>
            <a:r>
              <a:rPr lang="en-US" dirty="0">
                <a:latin typeface="Calibri" panose="020F0502020204030204" pitchFamily="34" charset="0"/>
                <a:ea typeface="Calibri" panose="020F0502020204030204" pitchFamily="34" charset="0"/>
                <a:cs typeface="Calibri" panose="020F0502020204030204" pitchFamily="34" charset="0"/>
              </a:rPr>
              <a:t>behind specific events or trends.</a:t>
            </a:r>
          </a:p>
          <a:p>
            <a:pPr marL="285750" indent="-285750" algn="just">
              <a:lnSpc>
                <a:spcPct val="150000"/>
              </a:lnSpc>
              <a:buFont typeface="Arial" panose="020B0604020202020204" pitchFamily="34" charset="0"/>
              <a:buChar char="•"/>
            </a:pPr>
            <a:r>
              <a:rPr lang="en-US" b="1" dirty="0">
                <a:latin typeface="Calibri" panose="020F0502020204030204" pitchFamily="34" charset="0"/>
                <a:ea typeface="Calibri" panose="020F0502020204030204" pitchFamily="34" charset="0"/>
                <a:cs typeface="Calibri" panose="020F0502020204030204" pitchFamily="34" charset="0"/>
              </a:rPr>
              <a:t>Predictive Analysis</a:t>
            </a:r>
            <a:r>
              <a:rPr lang="en-US" dirty="0">
                <a:latin typeface="Calibri" panose="020F0502020204030204" pitchFamily="34" charset="0"/>
                <a:ea typeface="Calibri" panose="020F0502020204030204" pitchFamily="34" charset="0"/>
                <a:cs typeface="Calibri" panose="020F0502020204030204" pitchFamily="34" charset="0"/>
              </a:rPr>
              <a:t>: Uses historical data to </a:t>
            </a:r>
            <a:r>
              <a:rPr lang="en-US" b="1" dirty="0">
                <a:latin typeface="Calibri" panose="020F0502020204030204" pitchFamily="34" charset="0"/>
                <a:ea typeface="Calibri" panose="020F0502020204030204" pitchFamily="34" charset="0"/>
                <a:cs typeface="Calibri" panose="020F0502020204030204" pitchFamily="34" charset="0"/>
              </a:rPr>
              <a:t>forecast future events or trends</a:t>
            </a:r>
            <a:r>
              <a:rPr lang="en-US" dirty="0">
                <a:latin typeface="Calibri" panose="020F0502020204030204" pitchFamily="34" charset="0"/>
                <a:ea typeface="Calibri" panose="020F0502020204030204" pitchFamily="34" charset="0"/>
                <a:cs typeface="Calibri" panose="020F0502020204030204" pitchFamily="34" charset="0"/>
              </a:rPr>
              <a:t>.</a:t>
            </a:r>
          </a:p>
          <a:p>
            <a:pPr marL="285750" indent="-285750" algn="just">
              <a:lnSpc>
                <a:spcPct val="150000"/>
              </a:lnSpc>
              <a:buFont typeface="Arial" panose="020B0604020202020204" pitchFamily="34" charset="0"/>
              <a:buChar char="•"/>
            </a:pPr>
            <a:r>
              <a:rPr lang="en-US" b="1" dirty="0">
                <a:latin typeface="Calibri" panose="020F0502020204030204" pitchFamily="34" charset="0"/>
                <a:ea typeface="Calibri" panose="020F0502020204030204" pitchFamily="34" charset="0"/>
                <a:cs typeface="Calibri" panose="020F0502020204030204" pitchFamily="34" charset="0"/>
              </a:rPr>
              <a:t>Prescriptive Analysis</a:t>
            </a:r>
            <a:r>
              <a:rPr lang="en-US" dirty="0">
                <a:latin typeface="Calibri" panose="020F0502020204030204" pitchFamily="34" charset="0"/>
                <a:ea typeface="Calibri" panose="020F0502020204030204" pitchFamily="34" charset="0"/>
                <a:cs typeface="Calibri" panose="020F0502020204030204" pitchFamily="34" charset="0"/>
              </a:rPr>
              <a:t>: Recommends actions to achieve </a:t>
            </a:r>
            <a:r>
              <a:rPr lang="en-US" b="1" dirty="0">
                <a:latin typeface="Calibri" panose="020F0502020204030204" pitchFamily="34" charset="0"/>
                <a:ea typeface="Calibri" panose="020F0502020204030204" pitchFamily="34" charset="0"/>
                <a:cs typeface="Calibri" panose="020F0502020204030204" pitchFamily="34" charset="0"/>
              </a:rPr>
              <a:t>desired outcomes </a:t>
            </a:r>
            <a:r>
              <a:rPr lang="en-US" dirty="0">
                <a:latin typeface="Calibri" panose="020F0502020204030204" pitchFamily="34" charset="0"/>
                <a:ea typeface="Calibri" panose="020F0502020204030204" pitchFamily="34" charset="0"/>
                <a:cs typeface="Calibri" panose="020F0502020204030204" pitchFamily="34" charset="0"/>
              </a:rPr>
              <a:t>based on analysis.</a:t>
            </a:r>
          </a:p>
        </p:txBody>
      </p:sp>
      <p:pic>
        <p:nvPicPr>
          <p:cNvPr id="2" name="Picture 1" descr="Types of Data Analysis in Data Science and Its Applications">
            <a:extLst>
              <a:ext uri="{FF2B5EF4-FFF2-40B4-BE49-F238E27FC236}">
                <a16:creationId xmlns:a16="http://schemas.microsoft.com/office/drawing/2014/main" id="{21BDDFC5-4846-C9A1-5F05-F94C8A21248E}"/>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6472" t="17073" r="7038" b="13845"/>
          <a:stretch/>
        </p:blipFill>
        <p:spPr bwMode="auto">
          <a:xfrm>
            <a:off x="3498574" y="3530204"/>
            <a:ext cx="5696377" cy="2780231"/>
          </a:xfrm>
          <a:prstGeom prst="rect">
            <a:avLst/>
          </a:prstGeom>
          <a:noFill/>
          <a:ln w="3175">
            <a:solidFill>
              <a:schemeClr val="tx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942827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Table 8">
            <a:extLst>
              <a:ext uri="{FF2B5EF4-FFF2-40B4-BE49-F238E27FC236}">
                <a16:creationId xmlns:a16="http://schemas.microsoft.com/office/drawing/2014/main" id="{0B6EC464-4750-5FF3-7A5A-15612BA6E293}"/>
              </a:ext>
            </a:extLst>
          </p:cNvPr>
          <p:cNvGraphicFramePr>
            <a:graphicFrameLocks noGrp="1"/>
          </p:cNvGraphicFramePr>
          <p:nvPr/>
        </p:nvGraphicFramePr>
        <p:xfrm>
          <a:off x="0" y="23812"/>
          <a:ext cx="12192000" cy="465287"/>
        </p:xfrm>
        <a:graphic>
          <a:graphicData uri="http://schemas.openxmlformats.org/drawingml/2006/table">
            <a:tbl>
              <a:tblPr firstRow="1" bandRow="1">
                <a:tableStyleId>{5C22544A-7EE6-4342-B048-85BDC9FD1C3A}</a:tableStyleId>
              </a:tblPr>
              <a:tblGrid>
                <a:gridCol w="6092042">
                  <a:extLst>
                    <a:ext uri="{9D8B030D-6E8A-4147-A177-3AD203B41FA5}">
                      <a16:colId xmlns:a16="http://schemas.microsoft.com/office/drawing/2014/main" val="2179694530"/>
                    </a:ext>
                  </a:extLst>
                </a:gridCol>
                <a:gridCol w="6099958">
                  <a:extLst>
                    <a:ext uri="{9D8B030D-6E8A-4147-A177-3AD203B41FA5}">
                      <a16:colId xmlns:a16="http://schemas.microsoft.com/office/drawing/2014/main" val="2768207918"/>
                    </a:ext>
                  </a:extLst>
                </a:gridCol>
              </a:tblGrid>
              <a:tr h="465287">
                <a:tc>
                  <a:txBody>
                    <a:bodyPr/>
                    <a:lstStyle/>
                    <a:p>
                      <a:endParaRPr lang="en-US" dirty="0"/>
                    </a:p>
                  </a:txBody>
                  <a:tcPr>
                    <a:solidFill>
                      <a:srgbClr val="FF85FF"/>
                    </a:solidFill>
                  </a:tcPr>
                </a:tc>
                <a:tc>
                  <a:txBody>
                    <a:bodyPr/>
                    <a:lstStyle/>
                    <a:p>
                      <a:endParaRPr lang="en-US" dirty="0"/>
                    </a:p>
                  </a:txBody>
                  <a:tcPr>
                    <a:solidFill>
                      <a:srgbClr val="FFFF00"/>
                    </a:solidFill>
                  </a:tcPr>
                </a:tc>
                <a:extLst>
                  <a:ext uri="{0D108BD9-81ED-4DB2-BD59-A6C34878D82A}">
                    <a16:rowId xmlns:a16="http://schemas.microsoft.com/office/drawing/2014/main" val="1996944423"/>
                  </a:ext>
                </a:extLst>
              </a:tr>
            </a:tbl>
          </a:graphicData>
        </a:graphic>
      </p:graphicFrame>
      <p:graphicFrame>
        <p:nvGraphicFramePr>
          <p:cNvPr id="10" name="Table 9">
            <a:extLst>
              <a:ext uri="{FF2B5EF4-FFF2-40B4-BE49-F238E27FC236}">
                <a16:creationId xmlns:a16="http://schemas.microsoft.com/office/drawing/2014/main" id="{494BAFB7-FE1F-E1A9-7A6C-AB4145BD9BA1}"/>
              </a:ext>
            </a:extLst>
          </p:cNvPr>
          <p:cNvGraphicFramePr>
            <a:graphicFrameLocks noGrp="1"/>
          </p:cNvGraphicFramePr>
          <p:nvPr/>
        </p:nvGraphicFramePr>
        <p:xfrm>
          <a:off x="1" y="6478892"/>
          <a:ext cx="12191999" cy="370840"/>
        </p:xfrm>
        <a:graphic>
          <a:graphicData uri="http://schemas.openxmlformats.org/drawingml/2006/table">
            <a:tbl>
              <a:tblPr firstRow="1" bandRow="1">
                <a:tableStyleId>{5C22544A-7EE6-4342-B048-85BDC9FD1C3A}</a:tableStyleId>
              </a:tblPr>
              <a:tblGrid>
                <a:gridCol w="6080165">
                  <a:extLst>
                    <a:ext uri="{9D8B030D-6E8A-4147-A177-3AD203B41FA5}">
                      <a16:colId xmlns:a16="http://schemas.microsoft.com/office/drawing/2014/main" val="2179694530"/>
                    </a:ext>
                  </a:extLst>
                </a:gridCol>
                <a:gridCol w="6111834">
                  <a:extLst>
                    <a:ext uri="{9D8B030D-6E8A-4147-A177-3AD203B41FA5}">
                      <a16:colId xmlns:a16="http://schemas.microsoft.com/office/drawing/2014/main" val="2768207918"/>
                    </a:ext>
                  </a:extLst>
                </a:gridCol>
              </a:tblGrid>
              <a:tr h="370840">
                <a:tc>
                  <a:txBody>
                    <a:bodyPr/>
                    <a:lstStyle/>
                    <a:p>
                      <a:endParaRPr lang="en-US" dirty="0"/>
                    </a:p>
                  </a:txBody>
                  <a:tcPr>
                    <a:solidFill>
                      <a:srgbClr val="FFFF00"/>
                    </a:solidFill>
                  </a:tcPr>
                </a:tc>
                <a:tc>
                  <a:txBody>
                    <a:bodyPr/>
                    <a:lstStyle/>
                    <a:p>
                      <a:pPr algn="r"/>
                      <a:fld id="{CFE5E3BE-EE29-401D-B4CD-151EFFA39DA2}" type="slidenum">
                        <a:rPr lang="en-US" smtClean="0">
                          <a:solidFill>
                            <a:schemeClr val="tx1"/>
                          </a:solidFill>
                        </a:rPr>
                        <a:t>11</a:t>
                      </a:fld>
                      <a:endParaRPr lang="en-US" dirty="0">
                        <a:solidFill>
                          <a:schemeClr val="tx1"/>
                        </a:solidFill>
                      </a:endParaRPr>
                    </a:p>
                  </a:txBody>
                  <a:tcPr>
                    <a:solidFill>
                      <a:srgbClr val="FF85FF"/>
                    </a:solidFill>
                  </a:tcPr>
                </a:tc>
                <a:extLst>
                  <a:ext uri="{0D108BD9-81ED-4DB2-BD59-A6C34878D82A}">
                    <a16:rowId xmlns:a16="http://schemas.microsoft.com/office/drawing/2014/main" val="1996944423"/>
                  </a:ext>
                </a:extLst>
              </a:tr>
            </a:tbl>
          </a:graphicData>
        </a:graphic>
      </p:graphicFrame>
      <p:pic>
        <p:nvPicPr>
          <p:cNvPr id="12" name="Google Shape;187;p25" descr="pngfind.com-kingpin-png-4152286 (1).png">
            <a:extLst>
              <a:ext uri="{FF2B5EF4-FFF2-40B4-BE49-F238E27FC236}">
                <a16:creationId xmlns:a16="http://schemas.microsoft.com/office/drawing/2014/main" id="{2DBF2481-A2DB-F96E-5749-B03DC4F71665}"/>
              </a:ext>
            </a:extLst>
          </p:cNvPr>
          <p:cNvPicPr preferRelativeResize="0"/>
          <p:nvPr/>
        </p:nvPicPr>
        <p:blipFill rotWithShape="1">
          <a:blip r:embed="rId2">
            <a:alphaModFix/>
          </a:blip>
          <a:srcRect/>
          <a:stretch/>
        </p:blipFill>
        <p:spPr>
          <a:xfrm>
            <a:off x="11044052" y="8268"/>
            <a:ext cx="1051261" cy="465287"/>
          </a:xfrm>
          <a:prstGeom prst="rect">
            <a:avLst/>
          </a:prstGeom>
          <a:noFill/>
          <a:ln>
            <a:noFill/>
          </a:ln>
        </p:spPr>
      </p:pic>
      <p:sp>
        <p:nvSpPr>
          <p:cNvPr id="19" name="Rectangle 18">
            <a:extLst>
              <a:ext uri="{FF2B5EF4-FFF2-40B4-BE49-F238E27FC236}">
                <a16:creationId xmlns:a16="http://schemas.microsoft.com/office/drawing/2014/main" id="{A0702E37-2E7E-7262-5E76-F69A817105B3}"/>
              </a:ext>
            </a:extLst>
          </p:cNvPr>
          <p:cNvSpPr/>
          <p:nvPr/>
        </p:nvSpPr>
        <p:spPr>
          <a:xfrm>
            <a:off x="0" y="8268"/>
            <a:ext cx="12192000" cy="6825920"/>
          </a:xfrm>
          <a:prstGeom prst="rect">
            <a:avLst/>
          </a:prstGeom>
          <a:noFill/>
          <a:ln w="38100">
            <a:solidFill>
              <a:srgbClr val="0432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DCB2A3F0-9003-5886-09B4-27925BBE4000}"/>
              </a:ext>
            </a:extLst>
          </p:cNvPr>
          <p:cNvSpPr txBox="1"/>
          <p:nvPr/>
        </p:nvSpPr>
        <p:spPr>
          <a:xfrm>
            <a:off x="109330" y="708849"/>
            <a:ext cx="12191999" cy="646331"/>
          </a:xfrm>
          <a:prstGeom prst="rect">
            <a:avLst/>
          </a:prstGeom>
          <a:noFill/>
        </p:spPr>
        <p:txBody>
          <a:bodyPr wrap="square">
            <a:spAutoFit/>
          </a:bodyPr>
          <a:lstStyle/>
          <a:p>
            <a:pPr marL="0" algn="ctr" rtl="0" eaLnBrk="1" latinLnBrk="0" hangingPunct="1">
              <a:spcBef>
                <a:spcPts val="0"/>
              </a:spcBef>
              <a:spcAft>
                <a:spcPts val="0"/>
              </a:spcAft>
            </a:pPr>
            <a:r>
              <a:rPr lang="en-US" sz="3600" b="1" kern="1200" dirty="0">
                <a:solidFill>
                  <a:srgbClr val="000000"/>
                </a:solidFill>
                <a:effectLst/>
                <a:latin typeface="Calibri" panose="020F0502020204030204" pitchFamily="34" charset="0"/>
                <a:ea typeface="+mn-ea"/>
                <a:cs typeface="Calibri" panose="020F0502020204030204" pitchFamily="34" charset="0"/>
              </a:rPr>
              <a:t>Types of Analysis</a:t>
            </a:r>
            <a:endParaRPr lang="en-IN" sz="6000" dirty="0">
              <a:effectLst/>
            </a:endParaRPr>
          </a:p>
        </p:txBody>
      </p:sp>
      <p:sp>
        <p:nvSpPr>
          <p:cNvPr id="5" name="TextBox 4">
            <a:extLst>
              <a:ext uri="{FF2B5EF4-FFF2-40B4-BE49-F238E27FC236}">
                <a16:creationId xmlns:a16="http://schemas.microsoft.com/office/drawing/2014/main" id="{57BF3EEF-553A-D37A-6EF6-B514AF07FC3C}"/>
              </a:ext>
            </a:extLst>
          </p:cNvPr>
          <p:cNvSpPr txBox="1"/>
          <p:nvPr/>
        </p:nvSpPr>
        <p:spPr>
          <a:xfrm>
            <a:off x="341243" y="1413822"/>
            <a:ext cx="8017566" cy="3338735"/>
          </a:xfrm>
          <a:prstGeom prst="rect">
            <a:avLst/>
          </a:prstGeom>
          <a:noFill/>
        </p:spPr>
        <p:txBody>
          <a:bodyPr wrap="square">
            <a:spAutoFit/>
          </a:bodyPr>
          <a:lstStyle/>
          <a:p>
            <a:pPr marL="347472" indent="-347472" algn="just" rtl="0" eaLnBrk="1" latinLnBrk="0" hangingPunct="1">
              <a:lnSpc>
                <a:spcPct val="200000"/>
              </a:lnSpc>
              <a:spcBef>
                <a:spcPts val="0"/>
              </a:spcBef>
              <a:spcAft>
                <a:spcPts val="0"/>
              </a:spcAft>
              <a:buFont typeface="Arial" panose="020B0604020202020204" pitchFamily="34" charset="0"/>
              <a:buChar char="•"/>
            </a:pPr>
            <a:r>
              <a:rPr lang="en-US" b="1" i="0" dirty="0">
                <a:solidFill>
                  <a:srgbClr val="333333"/>
                </a:solidFill>
                <a:effectLst/>
                <a:latin typeface="AmazonEmber"/>
              </a:rPr>
              <a:t>Descriptive analysis </a:t>
            </a:r>
            <a:r>
              <a:rPr lang="en-US" b="0" i="0" dirty="0">
                <a:solidFill>
                  <a:srgbClr val="333333"/>
                </a:solidFill>
                <a:effectLst/>
                <a:latin typeface="AmazonEmber"/>
              </a:rPr>
              <a:t>examines data to gain insights into </a:t>
            </a:r>
            <a:r>
              <a:rPr lang="en-US" b="1" i="0" dirty="0">
                <a:solidFill>
                  <a:srgbClr val="333333"/>
                </a:solidFill>
                <a:effectLst/>
                <a:latin typeface="AmazonEmber"/>
              </a:rPr>
              <a:t>what happened </a:t>
            </a:r>
            <a:r>
              <a:rPr lang="en-US" b="0" i="0" dirty="0">
                <a:solidFill>
                  <a:srgbClr val="333333"/>
                </a:solidFill>
                <a:effectLst/>
                <a:latin typeface="AmazonEmber"/>
              </a:rPr>
              <a:t>or what is happening in the data environment. </a:t>
            </a:r>
          </a:p>
          <a:p>
            <a:pPr marL="347472" indent="-347472" algn="just" rtl="0" eaLnBrk="1" latinLnBrk="0" hangingPunct="1">
              <a:lnSpc>
                <a:spcPct val="200000"/>
              </a:lnSpc>
              <a:spcBef>
                <a:spcPts val="0"/>
              </a:spcBef>
              <a:spcAft>
                <a:spcPts val="0"/>
              </a:spcAft>
              <a:buFont typeface="Arial" panose="020B0604020202020204" pitchFamily="34" charset="0"/>
              <a:buChar char="•"/>
            </a:pPr>
            <a:r>
              <a:rPr lang="en-US" b="0" i="0" dirty="0">
                <a:solidFill>
                  <a:srgbClr val="333333"/>
                </a:solidFill>
                <a:effectLst/>
                <a:latin typeface="AmazonEmber"/>
              </a:rPr>
              <a:t>It is characterized by data visualizations such as pie charts, bar charts, line graphs, tables, or generated narratives. </a:t>
            </a:r>
          </a:p>
          <a:p>
            <a:pPr marL="347472" indent="-347472" algn="just" rtl="0" eaLnBrk="1" latinLnBrk="0" hangingPunct="1">
              <a:lnSpc>
                <a:spcPct val="200000"/>
              </a:lnSpc>
              <a:spcBef>
                <a:spcPts val="0"/>
              </a:spcBef>
              <a:spcAft>
                <a:spcPts val="0"/>
              </a:spcAft>
              <a:buFont typeface="Arial" panose="020B0604020202020204" pitchFamily="34" charset="0"/>
              <a:buChar char="•"/>
            </a:pPr>
            <a:r>
              <a:rPr lang="en-US" b="1" i="0" dirty="0">
                <a:solidFill>
                  <a:srgbClr val="333333"/>
                </a:solidFill>
                <a:effectLst/>
                <a:latin typeface="AmazonEmber"/>
              </a:rPr>
              <a:t>For example</a:t>
            </a:r>
            <a:r>
              <a:rPr lang="en-US" b="0" i="0" dirty="0">
                <a:solidFill>
                  <a:srgbClr val="333333"/>
                </a:solidFill>
                <a:effectLst/>
                <a:latin typeface="AmazonEmber"/>
              </a:rPr>
              <a:t>, a flight booking service may record data like the number of tickets booked each day. </a:t>
            </a:r>
            <a:endParaRPr lang="en-US" b="0" i="0" dirty="0">
              <a:solidFill>
                <a:srgbClr val="273239"/>
              </a:solidFill>
              <a:effectLst/>
              <a:highlight>
                <a:srgbClr val="FFFFFF"/>
              </a:highlight>
              <a:latin typeface="Calibri" panose="020F0502020204030204" pitchFamily="34" charset="0"/>
              <a:ea typeface="Calibri" panose="020F0502020204030204" pitchFamily="34" charset="0"/>
              <a:cs typeface="Calibri" panose="020F0502020204030204" pitchFamily="34" charset="0"/>
            </a:endParaRPr>
          </a:p>
        </p:txBody>
      </p:sp>
      <p:pic>
        <p:nvPicPr>
          <p:cNvPr id="2" name="Picture 1" descr="Types of Data Analysis in Data Science and Its Applications">
            <a:extLst>
              <a:ext uri="{FF2B5EF4-FFF2-40B4-BE49-F238E27FC236}">
                <a16:creationId xmlns:a16="http://schemas.microsoft.com/office/drawing/2014/main" id="{7DA877C4-13D8-F19F-6889-54CB4C49DD0F}"/>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6472" t="37596" r="71800" b="13845"/>
          <a:stretch/>
        </p:blipFill>
        <p:spPr bwMode="auto">
          <a:xfrm>
            <a:off x="9002758" y="1490673"/>
            <a:ext cx="2545292" cy="3475859"/>
          </a:xfrm>
          <a:prstGeom prst="rect">
            <a:avLst/>
          </a:prstGeom>
          <a:noFill/>
          <a:ln w="3175">
            <a:solidFill>
              <a:schemeClr val="tx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1651452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Table 8">
            <a:extLst>
              <a:ext uri="{FF2B5EF4-FFF2-40B4-BE49-F238E27FC236}">
                <a16:creationId xmlns:a16="http://schemas.microsoft.com/office/drawing/2014/main" id="{0B6EC464-4750-5FF3-7A5A-15612BA6E293}"/>
              </a:ext>
            </a:extLst>
          </p:cNvPr>
          <p:cNvGraphicFramePr>
            <a:graphicFrameLocks noGrp="1"/>
          </p:cNvGraphicFramePr>
          <p:nvPr/>
        </p:nvGraphicFramePr>
        <p:xfrm>
          <a:off x="0" y="23812"/>
          <a:ext cx="12192000" cy="465287"/>
        </p:xfrm>
        <a:graphic>
          <a:graphicData uri="http://schemas.openxmlformats.org/drawingml/2006/table">
            <a:tbl>
              <a:tblPr firstRow="1" bandRow="1">
                <a:tableStyleId>{5C22544A-7EE6-4342-B048-85BDC9FD1C3A}</a:tableStyleId>
              </a:tblPr>
              <a:tblGrid>
                <a:gridCol w="6092042">
                  <a:extLst>
                    <a:ext uri="{9D8B030D-6E8A-4147-A177-3AD203B41FA5}">
                      <a16:colId xmlns:a16="http://schemas.microsoft.com/office/drawing/2014/main" val="2179694530"/>
                    </a:ext>
                  </a:extLst>
                </a:gridCol>
                <a:gridCol w="6099958">
                  <a:extLst>
                    <a:ext uri="{9D8B030D-6E8A-4147-A177-3AD203B41FA5}">
                      <a16:colId xmlns:a16="http://schemas.microsoft.com/office/drawing/2014/main" val="2768207918"/>
                    </a:ext>
                  </a:extLst>
                </a:gridCol>
              </a:tblGrid>
              <a:tr h="465287">
                <a:tc>
                  <a:txBody>
                    <a:bodyPr/>
                    <a:lstStyle/>
                    <a:p>
                      <a:endParaRPr lang="en-US" dirty="0"/>
                    </a:p>
                  </a:txBody>
                  <a:tcPr>
                    <a:solidFill>
                      <a:srgbClr val="FF85FF"/>
                    </a:solidFill>
                  </a:tcPr>
                </a:tc>
                <a:tc>
                  <a:txBody>
                    <a:bodyPr/>
                    <a:lstStyle/>
                    <a:p>
                      <a:endParaRPr lang="en-US" dirty="0"/>
                    </a:p>
                  </a:txBody>
                  <a:tcPr>
                    <a:solidFill>
                      <a:srgbClr val="FFFF00"/>
                    </a:solidFill>
                  </a:tcPr>
                </a:tc>
                <a:extLst>
                  <a:ext uri="{0D108BD9-81ED-4DB2-BD59-A6C34878D82A}">
                    <a16:rowId xmlns:a16="http://schemas.microsoft.com/office/drawing/2014/main" val="1996944423"/>
                  </a:ext>
                </a:extLst>
              </a:tr>
            </a:tbl>
          </a:graphicData>
        </a:graphic>
      </p:graphicFrame>
      <p:graphicFrame>
        <p:nvGraphicFramePr>
          <p:cNvPr id="10" name="Table 9">
            <a:extLst>
              <a:ext uri="{FF2B5EF4-FFF2-40B4-BE49-F238E27FC236}">
                <a16:creationId xmlns:a16="http://schemas.microsoft.com/office/drawing/2014/main" id="{494BAFB7-FE1F-E1A9-7A6C-AB4145BD9BA1}"/>
              </a:ext>
            </a:extLst>
          </p:cNvPr>
          <p:cNvGraphicFramePr>
            <a:graphicFrameLocks noGrp="1"/>
          </p:cNvGraphicFramePr>
          <p:nvPr/>
        </p:nvGraphicFramePr>
        <p:xfrm>
          <a:off x="1" y="6478892"/>
          <a:ext cx="12191999" cy="370840"/>
        </p:xfrm>
        <a:graphic>
          <a:graphicData uri="http://schemas.openxmlformats.org/drawingml/2006/table">
            <a:tbl>
              <a:tblPr firstRow="1" bandRow="1">
                <a:tableStyleId>{5C22544A-7EE6-4342-B048-85BDC9FD1C3A}</a:tableStyleId>
              </a:tblPr>
              <a:tblGrid>
                <a:gridCol w="6080165">
                  <a:extLst>
                    <a:ext uri="{9D8B030D-6E8A-4147-A177-3AD203B41FA5}">
                      <a16:colId xmlns:a16="http://schemas.microsoft.com/office/drawing/2014/main" val="2179694530"/>
                    </a:ext>
                  </a:extLst>
                </a:gridCol>
                <a:gridCol w="6111834">
                  <a:extLst>
                    <a:ext uri="{9D8B030D-6E8A-4147-A177-3AD203B41FA5}">
                      <a16:colId xmlns:a16="http://schemas.microsoft.com/office/drawing/2014/main" val="2768207918"/>
                    </a:ext>
                  </a:extLst>
                </a:gridCol>
              </a:tblGrid>
              <a:tr h="370840">
                <a:tc>
                  <a:txBody>
                    <a:bodyPr/>
                    <a:lstStyle/>
                    <a:p>
                      <a:endParaRPr lang="en-US" dirty="0"/>
                    </a:p>
                  </a:txBody>
                  <a:tcPr>
                    <a:solidFill>
                      <a:srgbClr val="FFFF00"/>
                    </a:solidFill>
                  </a:tcPr>
                </a:tc>
                <a:tc>
                  <a:txBody>
                    <a:bodyPr/>
                    <a:lstStyle/>
                    <a:p>
                      <a:pPr algn="r"/>
                      <a:fld id="{CFE5E3BE-EE29-401D-B4CD-151EFFA39DA2}" type="slidenum">
                        <a:rPr lang="en-US" smtClean="0">
                          <a:solidFill>
                            <a:schemeClr val="tx1"/>
                          </a:solidFill>
                        </a:rPr>
                        <a:t>12</a:t>
                      </a:fld>
                      <a:endParaRPr lang="en-US" dirty="0">
                        <a:solidFill>
                          <a:schemeClr val="tx1"/>
                        </a:solidFill>
                      </a:endParaRPr>
                    </a:p>
                  </a:txBody>
                  <a:tcPr>
                    <a:solidFill>
                      <a:srgbClr val="FF85FF"/>
                    </a:solidFill>
                  </a:tcPr>
                </a:tc>
                <a:extLst>
                  <a:ext uri="{0D108BD9-81ED-4DB2-BD59-A6C34878D82A}">
                    <a16:rowId xmlns:a16="http://schemas.microsoft.com/office/drawing/2014/main" val="1996944423"/>
                  </a:ext>
                </a:extLst>
              </a:tr>
            </a:tbl>
          </a:graphicData>
        </a:graphic>
      </p:graphicFrame>
      <p:pic>
        <p:nvPicPr>
          <p:cNvPr id="12" name="Google Shape;187;p25" descr="pngfind.com-kingpin-png-4152286 (1).png">
            <a:extLst>
              <a:ext uri="{FF2B5EF4-FFF2-40B4-BE49-F238E27FC236}">
                <a16:creationId xmlns:a16="http://schemas.microsoft.com/office/drawing/2014/main" id="{2DBF2481-A2DB-F96E-5749-B03DC4F71665}"/>
              </a:ext>
            </a:extLst>
          </p:cNvPr>
          <p:cNvPicPr preferRelativeResize="0"/>
          <p:nvPr/>
        </p:nvPicPr>
        <p:blipFill rotWithShape="1">
          <a:blip r:embed="rId2">
            <a:alphaModFix/>
          </a:blip>
          <a:srcRect/>
          <a:stretch/>
        </p:blipFill>
        <p:spPr>
          <a:xfrm>
            <a:off x="11044052" y="8268"/>
            <a:ext cx="1051261" cy="465287"/>
          </a:xfrm>
          <a:prstGeom prst="rect">
            <a:avLst/>
          </a:prstGeom>
          <a:noFill/>
          <a:ln>
            <a:noFill/>
          </a:ln>
        </p:spPr>
      </p:pic>
      <p:sp>
        <p:nvSpPr>
          <p:cNvPr id="19" name="Rectangle 18">
            <a:extLst>
              <a:ext uri="{FF2B5EF4-FFF2-40B4-BE49-F238E27FC236}">
                <a16:creationId xmlns:a16="http://schemas.microsoft.com/office/drawing/2014/main" id="{A0702E37-2E7E-7262-5E76-F69A817105B3}"/>
              </a:ext>
            </a:extLst>
          </p:cNvPr>
          <p:cNvSpPr/>
          <p:nvPr/>
        </p:nvSpPr>
        <p:spPr>
          <a:xfrm>
            <a:off x="0" y="8268"/>
            <a:ext cx="12192000" cy="6825920"/>
          </a:xfrm>
          <a:prstGeom prst="rect">
            <a:avLst/>
          </a:prstGeom>
          <a:noFill/>
          <a:ln w="38100">
            <a:solidFill>
              <a:srgbClr val="0432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DCB2A3F0-9003-5886-09B4-27925BBE4000}"/>
              </a:ext>
            </a:extLst>
          </p:cNvPr>
          <p:cNvSpPr txBox="1"/>
          <p:nvPr/>
        </p:nvSpPr>
        <p:spPr>
          <a:xfrm>
            <a:off x="109330" y="708849"/>
            <a:ext cx="12191999" cy="646331"/>
          </a:xfrm>
          <a:prstGeom prst="rect">
            <a:avLst/>
          </a:prstGeom>
          <a:noFill/>
        </p:spPr>
        <p:txBody>
          <a:bodyPr wrap="square">
            <a:spAutoFit/>
          </a:bodyPr>
          <a:lstStyle/>
          <a:p>
            <a:pPr marL="0" algn="ctr" rtl="0" eaLnBrk="1" latinLnBrk="0" hangingPunct="1">
              <a:spcBef>
                <a:spcPts val="0"/>
              </a:spcBef>
              <a:spcAft>
                <a:spcPts val="0"/>
              </a:spcAft>
            </a:pPr>
            <a:r>
              <a:rPr lang="en-US" sz="3600" b="1" kern="1200" dirty="0">
                <a:solidFill>
                  <a:srgbClr val="000000"/>
                </a:solidFill>
                <a:effectLst/>
                <a:latin typeface="Calibri" panose="020F0502020204030204" pitchFamily="34" charset="0"/>
                <a:ea typeface="+mn-ea"/>
                <a:cs typeface="Calibri" panose="020F0502020204030204" pitchFamily="34" charset="0"/>
              </a:rPr>
              <a:t>Types of Analysis</a:t>
            </a:r>
            <a:endParaRPr lang="en-IN" sz="6000" dirty="0">
              <a:effectLst/>
            </a:endParaRPr>
          </a:p>
        </p:txBody>
      </p:sp>
      <p:sp>
        <p:nvSpPr>
          <p:cNvPr id="5" name="TextBox 4">
            <a:extLst>
              <a:ext uri="{FF2B5EF4-FFF2-40B4-BE49-F238E27FC236}">
                <a16:creationId xmlns:a16="http://schemas.microsoft.com/office/drawing/2014/main" id="{57BF3EEF-553A-D37A-6EF6-B514AF07FC3C}"/>
              </a:ext>
            </a:extLst>
          </p:cNvPr>
          <p:cNvSpPr txBox="1"/>
          <p:nvPr/>
        </p:nvSpPr>
        <p:spPr>
          <a:xfrm>
            <a:off x="341242" y="1413822"/>
            <a:ext cx="8295861" cy="3338735"/>
          </a:xfrm>
          <a:prstGeom prst="rect">
            <a:avLst/>
          </a:prstGeom>
          <a:noFill/>
        </p:spPr>
        <p:txBody>
          <a:bodyPr wrap="square">
            <a:spAutoFit/>
          </a:bodyPr>
          <a:lstStyle/>
          <a:p>
            <a:pPr marL="347472" indent="-347472" algn="just" rtl="0" eaLnBrk="1" latinLnBrk="0" hangingPunct="1">
              <a:lnSpc>
                <a:spcPct val="200000"/>
              </a:lnSpc>
              <a:spcBef>
                <a:spcPts val="0"/>
              </a:spcBef>
              <a:spcAft>
                <a:spcPts val="0"/>
              </a:spcAft>
              <a:buFont typeface="Arial" panose="020B0604020202020204" pitchFamily="34" charset="0"/>
              <a:buChar char="•"/>
            </a:pPr>
            <a:r>
              <a:rPr lang="en-US" b="1" i="0" dirty="0">
                <a:solidFill>
                  <a:srgbClr val="333333"/>
                </a:solidFill>
                <a:effectLst/>
                <a:latin typeface="AmazonEmber"/>
              </a:rPr>
              <a:t>Diagnostic analysis </a:t>
            </a:r>
            <a:r>
              <a:rPr lang="en-US" b="0" i="0" dirty="0">
                <a:solidFill>
                  <a:srgbClr val="333333"/>
                </a:solidFill>
                <a:effectLst/>
                <a:latin typeface="AmazonEmber"/>
              </a:rPr>
              <a:t>is a deep-dive or detailed data examination to understand why something happened. </a:t>
            </a:r>
          </a:p>
          <a:p>
            <a:pPr marL="347472" indent="-347472" algn="just" rtl="0" eaLnBrk="1" latinLnBrk="0" hangingPunct="1">
              <a:lnSpc>
                <a:spcPct val="200000"/>
              </a:lnSpc>
              <a:spcBef>
                <a:spcPts val="0"/>
              </a:spcBef>
              <a:spcAft>
                <a:spcPts val="0"/>
              </a:spcAft>
              <a:buFont typeface="Arial" panose="020B0604020202020204" pitchFamily="34" charset="0"/>
              <a:buChar char="•"/>
            </a:pPr>
            <a:r>
              <a:rPr lang="en-US" b="0" i="0" dirty="0">
                <a:solidFill>
                  <a:srgbClr val="333333"/>
                </a:solidFill>
                <a:effectLst/>
                <a:latin typeface="AmazonEmber"/>
              </a:rPr>
              <a:t>Multiple data operations and transformations may be performed on a given data set to discover unique patterns in each of these techniques. </a:t>
            </a:r>
          </a:p>
          <a:p>
            <a:pPr marL="347472" indent="-347472" algn="just" rtl="0" eaLnBrk="1" latinLnBrk="0" hangingPunct="1">
              <a:lnSpc>
                <a:spcPct val="200000"/>
              </a:lnSpc>
              <a:spcBef>
                <a:spcPts val="0"/>
              </a:spcBef>
              <a:spcAft>
                <a:spcPts val="0"/>
              </a:spcAft>
              <a:buFont typeface="Arial" panose="020B0604020202020204" pitchFamily="34" charset="0"/>
              <a:buChar char="•"/>
            </a:pPr>
            <a:r>
              <a:rPr lang="en-US" b="1" i="0" dirty="0">
                <a:solidFill>
                  <a:srgbClr val="333333"/>
                </a:solidFill>
                <a:effectLst/>
                <a:latin typeface="AmazonEmber"/>
              </a:rPr>
              <a:t>For example</a:t>
            </a:r>
            <a:r>
              <a:rPr lang="en-US" b="0" i="0" dirty="0">
                <a:solidFill>
                  <a:srgbClr val="333333"/>
                </a:solidFill>
                <a:effectLst/>
                <a:latin typeface="AmazonEmber"/>
              </a:rPr>
              <a:t>, the flight service might drill down on a particularly high-performing month to better understand the booking spike.</a:t>
            </a:r>
            <a:endParaRPr lang="en-US" b="0" i="0" dirty="0">
              <a:solidFill>
                <a:srgbClr val="273239"/>
              </a:solidFill>
              <a:effectLst/>
              <a:highlight>
                <a:srgbClr val="FFFFFF"/>
              </a:highlight>
              <a:latin typeface="Calibri" panose="020F0502020204030204" pitchFamily="34" charset="0"/>
              <a:ea typeface="Calibri" panose="020F0502020204030204" pitchFamily="34" charset="0"/>
              <a:cs typeface="Calibri" panose="020F0502020204030204" pitchFamily="34" charset="0"/>
            </a:endParaRPr>
          </a:p>
        </p:txBody>
      </p:sp>
      <p:pic>
        <p:nvPicPr>
          <p:cNvPr id="2" name="Picture 1" descr="Types of Data Analysis in Data Science and Its Applications">
            <a:extLst>
              <a:ext uri="{FF2B5EF4-FFF2-40B4-BE49-F238E27FC236}">
                <a16:creationId xmlns:a16="http://schemas.microsoft.com/office/drawing/2014/main" id="{EF779D18-005B-ED74-4FF8-13273B5F64CC}"/>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7497" t="29947" r="49990" b="13845"/>
          <a:stretch/>
        </p:blipFill>
        <p:spPr bwMode="auto">
          <a:xfrm>
            <a:off x="9189998" y="1574930"/>
            <a:ext cx="2449107" cy="3736304"/>
          </a:xfrm>
          <a:prstGeom prst="rect">
            <a:avLst/>
          </a:prstGeom>
          <a:noFill/>
          <a:ln w="3175">
            <a:solidFill>
              <a:schemeClr val="tx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4097155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Table 8">
            <a:extLst>
              <a:ext uri="{FF2B5EF4-FFF2-40B4-BE49-F238E27FC236}">
                <a16:creationId xmlns:a16="http://schemas.microsoft.com/office/drawing/2014/main" id="{0B6EC464-4750-5FF3-7A5A-15612BA6E293}"/>
              </a:ext>
            </a:extLst>
          </p:cNvPr>
          <p:cNvGraphicFramePr>
            <a:graphicFrameLocks noGrp="1"/>
          </p:cNvGraphicFramePr>
          <p:nvPr/>
        </p:nvGraphicFramePr>
        <p:xfrm>
          <a:off x="0" y="23812"/>
          <a:ext cx="12192000" cy="465287"/>
        </p:xfrm>
        <a:graphic>
          <a:graphicData uri="http://schemas.openxmlformats.org/drawingml/2006/table">
            <a:tbl>
              <a:tblPr firstRow="1" bandRow="1">
                <a:tableStyleId>{5C22544A-7EE6-4342-B048-85BDC9FD1C3A}</a:tableStyleId>
              </a:tblPr>
              <a:tblGrid>
                <a:gridCol w="6092042">
                  <a:extLst>
                    <a:ext uri="{9D8B030D-6E8A-4147-A177-3AD203B41FA5}">
                      <a16:colId xmlns:a16="http://schemas.microsoft.com/office/drawing/2014/main" val="2179694530"/>
                    </a:ext>
                  </a:extLst>
                </a:gridCol>
                <a:gridCol w="6099958">
                  <a:extLst>
                    <a:ext uri="{9D8B030D-6E8A-4147-A177-3AD203B41FA5}">
                      <a16:colId xmlns:a16="http://schemas.microsoft.com/office/drawing/2014/main" val="2768207918"/>
                    </a:ext>
                  </a:extLst>
                </a:gridCol>
              </a:tblGrid>
              <a:tr h="465287">
                <a:tc>
                  <a:txBody>
                    <a:bodyPr/>
                    <a:lstStyle/>
                    <a:p>
                      <a:endParaRPr lang="en-US" dirty="0"/>
                    </a:p>
                  </a:txBody>
                  <a:tcPr>
                    <a:solidFill>
                      <a:srgbClr val="FF85FF"/>
                    </a:solidFill>
                  </a:tcPr>
                </a:tc>
                <a:tc>
                  <a:txBody>
                    <a:bodyPr/>
                    <a:lstStyle/>
                    <a:p>
                      <a:endParaRPr lang="en-US" dirty="0"/>
                    </a:p>
                  </a:txBody>
                  <a:tcPr>
                    <a:solidFill>
                      <a:srgbClr val="FFFF00"/>
                    </a:solidFill>
                  </a:tcPr>
                </a:tc>
                <a:extLst>
                  <a:ext uri="{0D108BD9-81ED-4DB2-BD59-A6C34878D82A}">
                    <a16:rowId xmlns:a16="http://schemas.microsoft.com/office/drawing/2014/main" val="1996944423"/>
                  </a:ext>
                </a:extLst>
              </a:tr>
            </a:tbl>
          </a:graphicData>
        </a:graphic>
      </p:graphicFrame>
      <p:graphicFrame>
        <p:nvGraphicFramePr>
          <p:cNvPr id="10" name="Table 9">
            <a:extLst>
              <a:ext uri="{FF2B5EF4-FFF2-40B4-BE49-F238E27FC236}">
                <a16:creationId xmlns:a16="http://schemas.microsoft.com/office/drawing/2014/main" id="{494BAFB7-FE1F-E1A9-7A6C-AB4145BD9BA1}"/>
              </a:ext>
            </a:extLst>
          </p:cNvPr>
          <p:cNvGraphicFramePr>
            <a:graphicFrameLocks noGrp="1"/>
          </p:cNvGraphicFramePr>
          <p:nvPr/>
        </p:nvGraphicFramePr>
        <p:xfrm>
          <a:off x="1" y="6478892"/>
          <a:ext cx="12191999" cy="370840"/>
        </p:xfrm>
        <a:graphic>
          <a:graphicData uri="http://schemas.openxmlformats.org/drawingml/2006/table">
            <a:tbl>
              <a:tblPr firstRow="1" bandRow="1">
                <a:tableStyleId>{5C22544A-7EE6-4342-B048-85BDC9FD1C3A}</a:tableStyleId>
              </a:tblPr>
              <a:tblGrid>
                <a:gridCol w="6080165">
                  <a:extLst>
                    <a:ext uri="{9D8B030D-6E8A-4147-A177-3AD203B41FA5}">
                      <a16:colId xmlns:a16="http://schemas.microsoft.com/office/drawing/2014/main" val="2179694530"/>
                    </a:ext>
                  </a:extLst>
                </a:gridCol>
                <a:gridCol w="6111834">
                  <a:extLst>
                    <a:ext uri="{9D8B030D-6E8A-4147-A177-3AD203B41FA5}">
                      <a16:colId xmlns:a16="http://schemas.microsoft.com/office/drawing/2014/main" val="2768207918"/>
                    </a:ext>
                  </a:extLst>
                </a:gridCol>
              </a:tblGrid>
              <a:tr h="370840">
                <a:tc>
                  <a:txBody>
                    <a:bodyPr/>
                    <a:lstStyle/>
                    <a:p>
                      <a:endParaRPr lang="en-US" dirty="0"/>
                    </a:p>
                  </a:txBody>
                  <a:tcPr>
                    <a:solidFill>
                      <a:srgbClr val="FFFF00"/>
                    </a:solidFill>
                  </a:tcPr>
                </a:tc>
                <a:tc>
                  <a:txBody>
                    <a:bodyPr/>
                    <a:lstStyle/>
                    <a:p>
                      <a:pPr algn="r"/>
                      <a:fld id="{CFE5E3BE-EE29-401D-B4CD-151EFFA39DA2}" type="slidenum">
                        <a:rPr lang="en-US" smtClean="0">
                          <a:solidFill>
                            <a:schemeClr val="tx1"/>
                          </a:solidFill>
                        </a:rPr>
                        <a:t>13</a:t>
                      </a:fld>
                      <a:endParaRPr lang="en-US" dirty="0">
                        <a:solidFill>
                          <a:schemeClr val="tx1"/>
                        </a:solidFill>
                      </a:endParaRPr>
                    </a:p>
                  </a:txBody>
                  <a:tcPr>
                    <a:solidFill>
                      <a:srgbClr val="FF85FF"/>
                    </a:solidFill>
                  </a:tcPr>
                </a:tc>
                <a:extLst>
                  <a:ext uri="{0D108BD9-81ED-4DB2-BD59-A6C34878D82A}">
                    <a16:rowId xmlns:a16="http://schemas.microsoft.com/office/drawing/2014/main" val="1996944423"/>
                  </a:ext>
                </a:extLst>
              </a:tr>
            </a:tbl>
          </a:graphicData>
        </a:graphic>
      </p:graphicFrame>
      <p:pic>
        <p:nvPicPr>
          <p:cNvPr id="12" name="Google Shape;187;p25" descr="pngfind.com-kingpin-png-4152286 (1).png">
            <a:extLst>
              <a:ext uri="{FF2B5EF4-FFF2-40B4-BE49-F238E27FC236}">
                <a16:creationId xmlns:a16="http://schemas.microsoft.com/office/drawing/2014/main" id="{2DBF2481-A2DB-F96E-5749-B03DC4F71665}"/>
              </a:ext>
            </a:extLst>
          </p:cNvPr>
          <p:cNvPicPr preferRelativeResize="0"/>
          <p:nvPr/>
        </p:nvPicPr>
        <p:blipFill rotWithShape="1">
          <a:blip r:embed="rId2">
            <a:alphaModFix/>
          </a:blip>
          <a:srcRect/>
          <a:stretch/>
        </p:blipFill>
        <p:spPr>
          <a:xfrm>
            <a:off x="11044052" y="8268"/>
            <a:ext cx="1051261" cy="465287"/>
          </a:xfrm>
          <a:prstGeom prst="rect">
            <a:avLst/>
          </a:prstGeom>
          <a:noFill/>
          <a:ln>
            <a:noFill/>
          </a:ln>
        </p:spPr>
      </p:pic>
      <p:sp>
        <p:nvSpPr>
          <p:cNvPr id="19" name="Rectangle 18">
            <a:extLst>
              <a:ext uri="{FF2B5EF4-FFF2-40B4-BE49-F238E27FC236}">
                <a16:creationId xmlns:a16="http://schemas.microsoft.com/office/drawing/2014/main" id="{A0702E37-2E7E-7262-5E76-F69A817105B3}"/>
              </a:ext>
            </a:extLst>
          </p:cNvPr>
          <p:cNvSpPr/>
          <p:nvPr/>
        </p:nvSpPr>
        <p:spPr>
          <a:xfrm>
            <a:off x="0" y="8268"/>
            <a:ext cx="12192000" cy="6825920"/>
          </a:xfrm>
          <a:prstGeom prst="rect">
            <a:avLst/>
          </a:prstGeom>
          <a:noFill/>
          <a:ln w="38100">
            <a:solidFill>
              <a:srgbClr val="0432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DCB2A3F0-9003-5886-09B4-27925BBE4000}"/>
              </a:ext>
            </a:extLst>
          </p:cNvPr>
          <p:cNvSpPr txBox="1"/>
          <p:nvPr/>
        </p:nvSpPr>
        <p:spPr>
          <a:xfrm>
            <a:off x="109330" y="708849"/>
            <a:ext cx="12191999" cy="646331"/>
          </a:xfrm>
          <a:prstGeom prst="rect">
            <a:avLst/>
          </a:prstGeom>
          <a:noFill/>
        </p:spPr>
        <p:txBody>
          <a:bodyPr wrap="square">
            <a:spAutoFit/>
          </a:bodyPr>
          <a:lstStyle/>
          <a:p>
            <a:pPr marL="0" algn="ctr" rtl="0" eaLnBrk="1" latinLnBrk="0" hangingPunct="1">
              <a:spcBef>
                <a:spcPts val="0"/>
              </a:spcBef>
              <a:spcAft>
                <a:spcPts val="0"/>
              </a:spcAft>
            </a:pPr>
            <a:r>
              <a:rPr lang="en-US" sz="3600" b="1" kern="1200" dirty="0">
                <a:solidFill>
                  <a:srgbClr val="000000"/>
                </a:solidFill>
                <a:effectLst/>
                <a:latin typeface="Calibri" panose="020F0502020204030204" pitchFamily="34" charset="0"/>
                <a:ea typeface="+mn-ea"/>
                <a:cs typeface="Calibri" panose="020F0502020204030204" pitchFamily="34" charset="0"/>
              </a:rPr>
              <a:t>Types of Analysis</a:t>
            </a:r>
            <a:endParaRPr lang="en-IN" sz="6000" dirty="0">
              <a:effectLst/>
            </a:endParaRPr>
          </a:p>
        </p:txBody>
      </p:sp>
      <p:sp>
        <p:nvSpPr>
          <p:cNvPr id="5" name="TextBox 4">
            <a:extLst>
              <a:ext uri="{FF2B5EF4-FFF2-40B4-BE49-F238E27FC236}">
                <a16:creationId xmlns:a16="http://schemas.microsoft.com/office/drawing/2014/main" id="{57BF3EEF-553A-D37A-6EF6-B514AF07FC3C}"/>
              </a:ext>
            </a:extLst>
          </p:cNvPr>
          <p:cNvSpPr txBox="1"/>
          <p:nvPr/>
        </p:nvSpPr>
        <p:spPr>
          <a:xfrm>
            <a:off x="341243" y="1413822"/>
            <a:ext cx="8703366" cy="4446730"/>
          </a:xfrm>
          <a:prstGeom prst="rect">
            <a:avLst/>
          </a:prstGeom>
          <a:noFill/>
        </p:spPr>
        <p:txBody>
          <a:bodyPr wrap="square">
            <a:spAutoFit/>
          </a:bodyPr>
          <a:lstStyle/>
          <a:p>
            <a:pPr marL="347472" indent="-347472" algn="just" rtl="0" eaLnBrk="1" latinLnBrk="0" hangingPunct="1">
              <a:lnSpc>
                <a:spcPct val="200000"/>
              </a:lnSpc>
              <a:spcBef>
                <a:spcPts val="0"/>
              </a:spcBef>
              <a:spcAft>
                <a:spcPts val="0"/>
              </a:spcAft>
              <a:buFont typeface="Arial" panose="020B0604020202020204" pitchFamily="34" charset="0"/>
              <a:buChar char="•"/>
            </a:pPr>
            <a:r>
              <a:rPr lang="en-US" b="1" i="0" dirty="0">
                <a:solidFill>
                  <a:srgbClr val="333333"/>
                </a:solidFill>
                <a:effectLst/>
                <a:latin typeface="Calibri" panose="020F0502020204030204" pitchFamily="34" charset="0"/>
                <a:ea typeface="Calibri" panose="020F0502020204030204" pitchFamily="34" charset="0"/>
                <a:cs typeface="Calibri" panose="020F0502020204030204" pitchFamily="34" charset="0"/>
              </a:rPr>
              <a:t>Predictive analysis </a:t>
            </a:r>
            <a:r>
              <a:rPr lang="en-US" b="0" i="0" dirty="0">
                <a:solidFill>
                  <a:srgbClr val="333333"/>
                </a:solidFill>
                <a:effectLst/>
                <a:latin typeface="Calibri" panose="020F0502020204030204" pitchFamily="34" charset="0"/>
                <a:ea typeface="Calibri" panose="020F0502020204030204" pitchFamily="34" charset="0"/>
                <a:cs typeface="Calibri" panose="020F0502020204030204" pitchFamily="34" charset="0"/>
              </a:rPr>
              <a:t>uses historical data to make </a:t>
            </a:r>
            <a:r>
              <a:rPr lang="en-US" b="1" i="0" dirty="0">
                <a:solidFill>
                  <a:srgbClr val="333333"/>
                </a:solidFill>
                <a:effectLst/>
                <a:latin typeface="Calibri" panose="020F0502020204030204" pitchFamily="34" charset="0"/>
                <a:ea typeface="Calibri" panose="020F0502020204030204" pitchFamily="34" charset="0"/>
                <a:cs typeface="Calibri" panose="020F0502020204030204" pitchFamily="34" charset="0"/>
              </a:rPr>
              <a:t>accurate forecasts </a:t>
            </a:r>
            <a:r>
              <a:rPr lang="en-US" b="0" i="0" dirty="0">
                <a:solidFill>
                  <a:srgbClr val="333333"/>
                </a:solidFill>
                <a:effectLst/>
                <a:latin typeface="Calibri" panose="020F0502020204030204" pitchFamily="34" charset="0"/>
                <a:ea typeface="Calibri" panose="020F0502020204030204" pitchFamily="34" charset="0"/>
                <a:cs typeface="Calibri" panose="020F0502020204030204" pitchFamily="34" charset="0"/>
              </a:rPr>
              <a:t>about data patterns that may occur in the future. </a:t>
            </a:r>
          </a:p>
          <a:p>
            <a:pPr marL="347472" indent="-347472" algn="just" rtl="0" eaLnBrk="1" latinLnBrk="0" hangingPunct="1">
              <a:lnSpc>
                <a:spcPct val="200000"/>
              </a:lnSpc>
              <a:spcBef>
                <a:spcPts val="0"/>
              </a:spcBef>
              <a:spcAft>
                <a:spcPts val="0"/>
              </a:spcAft>
              <a:buFont typeface="Arial" panose="020B0604020202020204" pitchFamily="34" charset="0"/>
              <a:buChar char="•"/>
            </a:pPr>
            <a:r>
              <a:rPr lang="en-US" b="0" i="0" dirty="0">
                <a:solidFill>
                  <a:srgbClr val="333333"/>
                </a:solidFill>
                <a:effectLst/>
                <a:latin typeface="Calibri" panose="020F0502020204030204" pitchFamily="34" charset="0"/>
                <a:ea typeface="Calibri" panose="020F0502020204030204" pitchFamily="34" charset="0"/>
                <a:cs typeface="Calibri" panose="020F0502020204030204" pitchFamily="34" charset="0"/>
              </a:rPr>
              <a:t>It is characterized by techniques such as machine learning, forecasting, pattern matching, and predictive modeling. </a:t>
            </a:r>
          </a:p>
          <a:p>
            <a:pPr marL="347472" indent="-347472" algn="just" rtl="0" eaLnBrk="1" latinLnBrk="0" hangingPunct="1">
              <a:lnSpc>
                <a:spcPct val="200000"/>
              </a:lnSpc>
              <a:spcBef>
                <a:spcPts val="0"/>
              </a:spcBef>
              <a:spcAft>
                <a:spcPts val="0"/>
              </a:spcAft>
              <a:buFont typeface="Arial" panose="020B0604020202020204" pitchFamily="34" charset="0"/>
              <a:buChar char="•"/>
            </a:pPr>
            <a:r>
              <a:rPr lang="en-US" b="0" i="0" dirty="0">
                <a:solidFill>
                  <a:srgbClr val="333333"/>
                </a:solidFill>
                <a:effectLst/>
                <a:latin typeface="Calibri" panose="020F0502020204030204" pitchFamily="34" charset="0"/>
                <a:ea typeface="Calibri" panose="020F0502020204030204" pitchFamily="34" charset="0"/>
                <a:cs typeface="Calibri" panose="020F0502020204030204" pitchFamily="34" charset="0"/>
              </a:rPr>
              <a:t>In each of these techniques, computers are trained to reverse engineer causality connections in the data. </a:t>
            </a:r>
          </a:p>
          <a:p>
            <a:pPr marL="347472" indent="-347472" algn="just" rtl="0" eaLnBrk="1" latinLnBrk="0" hangingPunct="1">
              <a:lnSpc>
                <a:spcPct val="200000"/>
              </a:lnSpc>
              <a:spcBef>
                <a:spcPts val="0"/>
              </a:spcBef>
              <a:spcAft>
                <a:spcPts val="0"/>
              </a:spcAft>
              <a:buFont typeface="Arial" panose="020B0604020202020204" pitchFamily="34" charset="0"/>
              <a:buChar char="•"/>
            </a:pPr>
            <a:r>
              <a:rPr lang="en-US" b="1" i="0" dirty="0">
                <a:solidFill>
                  <a:srgbClr val="333333"/>
                </a:solidFill>
                <a:effectLst/>
                <a:latin typeface="Calibri" panose="020F0502020204030204" pitchFamily="34" charset="0"/>
                <a:ea typeface="Calibri" panose="020F0502020204030204" pitchFamily="34" charset="0"/>
                <a:cs typeface="Calibri" panose="020F0502020204030204" pitchFamily="34" charset="0"/>
              </a:rPr>
              <a:t>For example</a:t>
            </a:r>
            <a:r>
              <a:rPr lang="en-US" b="0" i="0" dirty="0">
                <a:solidFill>
                  <a:srgbClr val="333333"/>
                </a:solidFill>
                <a:effectLst/>
                <a:latin typeface="Calibri" panose="020F0502020204030204" pitchFamily="34" charset="0"/>
                <a:ea typeface="Calibri" panose="020F0502020204030204" pitchFamily="34" charset="0"/>
                <a:cs typeface="Calibri" panose="020F0502020204030204" pitchFamily="34" charset="0"/>
              </a:rPr>
              <a:t>, to predict flight booking patterns for the coming year at the start of each year.</a:t>
            </a:r>
            <a:endParaRPr lang="en-US" b="0" i="0" dirty="0">
              <a:solidFill>
                <a:srgbClr val="273239"/>
              </a:solidFill>
              <a:effectLst/>
              <a:highlight>
                <a:srgbClr val="FFFFFF"/>
              </a:highlight>
              <a:latin typeface="Calibri" panose="020F0502020204030204" pitchFamily="34" charset="0"/>
              <a:ea typeface="Calibri" panose="020F0502020204030204" pitchFamily="34" charset="0"/>
              <a:cs typeface="Calibri" panose="020F0502020204030204" pitchFamily="34" charset="0"/>
            </a:endParaRPr>
          </a:p>
        </p:txBody>
      </p:sp>
      <p:pic>
        <p:nvPicPr>
          <p:cNvPr id="2" name="Picture 1" descr="Types of Data Analysis in Data Science and Its Applications">
            <a:extLst>
              <a:ext uri="{FF2B5EF4-FFF2-40B4-BE49-F238E27FC236}">
                <a16:creationId xmlns:a16="http://schemas.microsoft.com/office/drawing/2014/main" id="{FAE40968-39DE-A9E7-929B-296039592F2D}"/>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49131" t="21552" r="28883" b="13845"/>
          <a:stretch/>
        </p:blipFill>
        <p:spPr bwMode="auto">
          <a:xfrm>
            <a:off x="9405113" y="1727292"/>
            <a:ext cx="2426383" cy="3513406"/>
          </a:xfrm>
          <a:prstGeom prst="rect">
            <a:avLst/>
          </a:prstGeom>
          <a:noFill/>
          <a:ln w="3175">
            <a:solidFill>
              <a:schemeClr val="tx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0679955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Table 8">
            <a:extLst>
              <a:ext uri="{FF2B5EF4-FFF2-40B4-BE49-F238E27FC236}">
                <a16:creationId xmlns:a16="http://schemas.microsoft.com/office/drawing/2014/main" id="{0B6EC464-4750-5FF3-7A5A-15612BA6E293}"/>
              </a:ext>
            </a:extLst>
          </p:cNvPr>
          <p:cNvGraphicFramePr>
            <a:graphicFrameLocks noGrp="1"/>
          </p:cNvGraphicFramePr>
          <p:nvPr/>
        </p:nvGraphicFramePr>
        <p:xfrm>
          <a:off x="0" y="23812"/>
          <a:ext cx="12192000" cy="465287"/>
        </p:xfrm>
        <a:graphic>
          <a:graphicData uri="http://schemas.openxmlformats.org/drawingml/2006/table">
            <a:tbl>
              <a:tblPr firstRow="1" bandRow="1">
                <a:tableStyleId>{5C22544A-7EE6-4342-B048-85BDC9FD1C3A}</a:tableStyleId>
              </a:tblPr>
              <a:tblGrid>
                <a:gridCol w="6092042">
                  <a:extLst>
                    <a:ext uri="{9D8B030D-6E8A-4147-A177-3AD203B41FA5}">
                      <a16:colId xmlns:a16="http://schemas.microsoft.com/office/drawing/2014/main" val="2179694530"/>
                    </a:ext>
                  </a:extLst>
                </a:gridCol>
                <a:gridCol w="6099958">
                  <a:extLst>
                    <a:ext uri="{9D8B030D-6E8A-4147-A177-3AD203B41FA5}">
                      <a16:colId xmlns:a16="http://schemas.microsoft.com/office/drawing/2014/main" val="2768207918"/>
                    </a:ext>
                  </a:extLst>
                </a:gridCol>
              </a:tblGrid>
              <a:tr h="465287">
                <a:tc>
                  <a:txBody>
                    <a:bodyPr/>
                    <a:lstStyle/>
                    <a:p>
                      <a:endParaRPr lang="en-US" dirty="0"/>
                    </a:p>
                  </a:txBody>
                  <a:tcPr>
                    <a:solidFill>
                      <a:srgbClr val="FF85FF"/>
                    </a:solidFill>
                  </a:tcPr>
                </a:tc>
                <a:tc>
                  <a:txBody>
                    <a:bodyPr/>
                    <a:lstStyle/>
                    <a:p>
                      <a:endParaRPr lang="en-US" dirty="0"/>
                    </a:p>
                  </a:txBody>
                  <a:tcPr>
                    <a:solidFill>
                      <a:srgbClr val="FFFF00"/>
                    </a:solidFill>
                  </a:tcPr>
                </a:tc>
                <a:extLst>
                  <a:ext uri="{0D108BD9-81ED-4DB2-BD59-A6C34878D82A}">
                    <a16:rowId xmlns:a16="http://schemas.microsoft.com/office/drawing/2014/main" val="1996944423"/>
                  </a:ext>
                </a:extLst>
              </a:tr>
            </a:tbl>
          </a:graphicData>
        </a:graphic>
      </p:graphicFrame>
      <p:graphicFrame>
        <p:nvGraphicFramePr>
          <p:cNvPr id="10" name="Table 9">
            <a:extLst>
              <a:ext uri="{FF2B5EF4-FFF2-40B4-BE49-F238E27FC236}">
                <a16:creationId xmlns:a16="http://schemas.microsoft.com/office/drawing/2014/main" id="{494BAFB7-FE1F-E1A9-7A6C-AB4145BD9BA1}"/>
              </a:ext>
            </a:extLst>
          </p:cNvPr>
          <p:cNvGraphicFramePr>
            <a:graphicFrameLocks noGrp="1"/>
          </p:cNvGraphicFramePr>
          <p:nvPr/>
        </p:nvGraphicFramePr>
        <p:xfrm>
          <a:off x="1" y="6478892"/>
          <a:ext cx="12191999" cy="370840"/>
        </p:xfrm>
        <a:graphic>
          <a:graphicData uri="http://schemas.openxmlformats.org/drawingml/2006/table">
            <a:tbl>
              <a:tblPr firstRow="1" bandRow="1">
                <a:tableStyleId>{5C22544A-7EE6-4342-B048-85BDC9FD1C3A}</a:tableStyleId>
              </a:tblPr>
              <a:tblGrid>
                <a:gridCol w="6080165">
                  <a:extLst>
                    <a:ext uri="{9D8B030D-6E8A-4147-A177-3AD203B41FA5}">
                      <a16:colId xmlns:a16="http://schemas.microsoft.com/office/drawing/2014/main" val="2179694530"/>
                    </a:ext>
                  </a:extLst>
                </a:gridCol>
                <a:gridCol w="6111834">
                  <a:extLst>
                    <a:ext uri="{9D8B030D-6E8A-4147-A177-3AD203B41FA5}">
                      <a16:colId xmlns:a16="http://schemas.microsoft.com/office/drawing/2014/main" val="2768207918"/>
                    </a:ext>
                  </a:extLst>
                </a:gridCol>
              </a:tblGrid>
              <a:tr h="370840">
                <a:tc>
                  <a:txBody>
                    <a:bodyPr/>
                    <a:lstStyle/>
                    <a:p>
                      <a:endParaRPr lang="en-US" dirty="0"/>
                    </a:p>
                  </a:txBody>
                  <a:tcPr>
                    <a:solidFill>
                      <a:srgbClr val="FFFF00"/>
                    </a:solidFill>
                  </a:tcPr>
                </a:tc>
                <a:tc>
                  <a:txBody>
                    <a:bodyPr/>
                    <a:lstStyle/>
                    <a:p>
                      <a:pPr algn="r"/>
                      <a:fld id="{CFE5E3BE-EE29-401D-B4CD-151EFFA39DA2}" type="slidenum">
                        <a:rPr lang="en-US" smtClean="0">
                          <a:solidFill>
                            <a:schemeClr val="tx1"/>
                          </a:solidFill>
                        </a:rPr>
                        <a:t>14</a:t>
                      </a:fld>
                      <a:endParaRPr lang="en-US" dirty="0">
                        <a:solidFill>
                          <a:schemeClr val="tx1"/>
                        </a:solidFill>
                      </a:endParaRPr>
                    </a:p>
                  </a:txBody>
                  <a:tcPr>
                    <a:solidFill>
                      <a:srgbClr val="FF85FF"/>
                    </a:solidFill>
                  </a:tcPr>
                </a:tc>
                <a:extLst>
                  <a:ext uri="{0D108BD9-81ED-4DB2-BD59-A6C34878D82A}">
                    <a16:rowId xmlns:a16="http://schemas.microsoft.com/office/drawing/2014/main" val="1996944423"/>
                  </a:ext>
                </a:extLst>
              </a:tr>
            </a:tbl>
          </a:graphicData>
        </a:graphic>
      </p:graphicFrame>
      <p:pic>
        <p:nvPicPr>
          <p:cNvPr id="12" name="Google Shape;187;p25" descr="pngfind.com-kingpin-png-4152286 (1).png">
            <a:extLst>
              <a:ext uri="{FF2B5EF4-FFF2-40B4-BE49-F238E27FC236}">
                <a16:creationId xmlns:a16="http://schemas.microsoft.com/office/drawing/2014/main" id="{2DBF2481-A2DB-F96E-5749-B03DC4F71665}"/>
              </a:ext>
            </a:extLst>
          </p:cNvPr>
          <p:cNvPicPr preferRelativeResize="0"/>
          <p:nvPr/>
        </p:nvPicPr>
        <p:blipFill rotWithShape="1">
          <a:blip r:embed="rId2">
            <a:alphaModFix/>
          </a:blip>
          <a:srcRect/>
          <a:stretch/>
        </p:blipFill>
        <p:spPr>
          <a:xfrm>
            <a:off x="11044052" y="8268"/>
            <a:ext cx="1051261" cy="465287"/>
          </a:xfrm>
          <a:prstGeom prst="rect">
            <a:avLst/>
          </a:prstGeom>
          <a:noFill/>
          <a:ln>
            <a:noFill/>
          </a:ln>
        </p:spPr>
      </p:pic>
      <p:sp>
        <p:nvSpPr>
          <p:cNvPr id="19" name="Rectangle 18">
            <a:extLst>
              <a:ext uri="{FF2B5EF4-FFF2-40B4-BE49-F238E27FC236}">
                <a16:creationId xmlns:a16="http://schemas.microsoft.com/office/drawing/2014/main" id="{A0702E37-2E7E-7262-5E76-F69A817105B3}"/>
              </a:ext>
            </a:extLst>
          </p:cNvPr>
          <p:cNvSpPr/>
          <p:nvPr/>
        </p:nvSpPr>
        <p:spPr>
          <a:xfrm>
            <a:off x="0" y="8268"/>
            <a:ext cx="12192000" cy="6825920"/>
          </a:xfrm>
          <a:prstGeom prst="rect">
            <a:avLst/>
          </a:prstGeom>
          <a:noFill/>
          <a:ln w="38100">
            <a:solidFill>
              <a:srgbClr val="0432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DCB2A3F0-9003-5886-09B4-27925BBE4000}"/>
              </a:ext>
            </a:extLst>
          </p:cNvPr>
          <p:cNvSpPr txBox="1"/>
          <p:nvPr/>
        </p:nvSpPr>
        <p:spPr>
          <a:xfrm>
            <a:off x="109330" y="708849"/>
            <a:ext cx="12191999" cy="646331"/>
          </a:xfrm>
          <a:prstGeom prst="rect">
            <a:avLst/>
          </a:prstGeom>
          <a:noFill/>
        </p:spPr>
        <p:txBody>
          <a:bodyPr wrap="square">
            <a:spAutoFit/>
          </a:bodyPr>
          <a:lstStyle/>
          <a:p>
            <a:pPr marL="0" algn="ctr" rtl="0" eaLnBrk="1" latinLnBrk="0" hangingPunct="1">
              <a:spcBef>
                <a:spcPts val="0"/>
              </a:spcBef>
              <a:spcAft>
                <a:spcPts val="0"/>
              </a:spcAft>
            </a:pPr>
            <a:r>
              <a:rPr lang="en-US" sz="3600" b="1" kern="1200" dirty="0">
                <a:solidFill>
                  <a:srgbClr val="000000"/>
                </a:solidFill>
                <a:effectLst/>
                <a:latin typeface="Calibri" panose="020F0502020204030204" pitchFamily="34" charset="0"/>
                <a:ea typeface="+mn-ea"/>
                <a:cs typeface="Calibri" panose="020F0502020204030204" pitchFamily="34" charset="0"/>
              </a:rPr>
              <a:t>Types of Analysis</a:t>
            </a:r>
            <a:endParaRPr lang="en-IN" sz="6000" dirty="0">
              <a:effectLst/>
            </a:endParaRPr>
          </a:p>
        </p:txBody>
      </p:sp>
      <p:sp>
        <p:nvSpPr>
          <p:cNvPr id="5" name="TextBox 4">
            <a:extLst>
              <a:ext uri="{FF2B5EF4-FFF2-40B4-BE49-F238E27FC236}">
                <a16:creationId xmlns:a16="http://schemas.microsoft.com/office/drawing/2014/main" id="{57BF3EEF-553A-D37A-6EF6-B514AF07FC3C}"/>
              </a:ext>
            </a:extLst>
          </p:cNvPr>
          <p:cNvSpPr txBox="1"/>
          <p:nvPr/>
        </p:nvSpPr>
        <p:spPr>
          <a:xfrm>
            <a:off x="341242" y="1413822"/>
            <a:ext cx="8275983" cy="3892732"/>
          </a:xfrm>
          <a:prstGeom prst="rect">
            <a:avLst/>
          </a:prstGeom>
          <a:noFill/>
        </p:spPr>
        <p:txBody>
          <a:bodyPr wrap="square">
            <a:spAutoFit/>
          </a:bodyPr>
          <a:lstStyle/>
          <a:p>
            <a:pPr marL="347472" indent="-347472" algn="just" rtl="0" eaLnBrk="1" latinLnBrk="0" hangingPunct="1">
              <a:lnSpc>
                <a:spcPct val="200000"/>
              </a:lnSpc>
              <a:spcBef>
                <a:spcPts val="0"/>
              </a:spcBef>
              <a:spcAft>
                <a:spcPts val="0"/>
              </a:spcAft>
              <a:buFont typeface="Arial" panose="020B0604020202020204" pitchFamily="34" charset="0"/>
              <a:buChar char="•"/>
            </a:pPr>
            <a:r>
              <a:rPr lang="en-US" b="1" i="0" dirty="0">
                <a:solidFill>
                  <a:srgbClr val="333333"/>
                </a:solidFill>
                <a:effectLst/>
                <a:latin typeface="AmazonEmber"/>
              </a:rPr>
              <a:t>Prescriptive analytics </a:t>
            </a:r>
            <a:r>
              <a:rPr lang="en-US" b="0" i="0" dirty="0">
                <a:solidFill>
                  <a:srgbClr val="333333"/>
                </a:solidFill>
                <a:effectLst/>
                <a:latin typeface="AmazonEmber"/>
              </a:rPr>
              <a:t>takes predictive data to the next level. </a:t>
            </a:r>
          </a:p>
          <a:p>
            <a:pPr marL="347472" indent="-347472" algn="just" rtl="0" eaLnBrk="1" latinLnBrk="0" hangingPunct="1">
              <a:lnSpc>
                <a:spcPct val="200000"/>
              </a:lnSpc>
              <a:spcBef>
                <a:spcPts val="0"/>
              </a:spcBef>
              <a:spcAft>
                <a:spcPts val="0"/>
              </a:spcAft>
              <a:buFont typeface="Arial" panose="020B0604020202020204" pitchFamily="34" charset="0"/>
              <a:buChar char="•"/>
            </a:pPr>
            <a:r>
              <a:rPr lang="en-US" b="0" i="0" dirty="0">
                <a:solidFill>
                  <a:srgbClr val="333333"/>
                </a:solidFill>
                <a:effectLst/>
                <a:latin typeface="AmazonEmber"/>
              </a:rPr>
              <a:t>It not only predicts what is likely to happen but also suggests an optimum response to that outcome. </a:t>
            </a:r>
          </a:p>
          <a:p>
            <a:pPr marL="347472" indent="-347472" algn="just" rtl="0" eaLnBrk="1" latinLnBrk="0" hangingPunct="1">
              <a:lnSpc>
                <a:spcPct val="200000"/>
              </a:lnSpc>
              <a:spcBef>
                <a:spcPts val="0"/>
              </a:spcBef>
              <a:spcAft>
                <a:spcPts val="0"/>
              </a:spcAft>
              <a:buFont typeface="Arial" panose="020B0604020202020204" pitchFamily="34" charset="0"/>
              <a:buChar char="•"/>
            </a:pPr>
            <a:r>
              <a:rPr lang="en-US" b="0" i="0" dirty="0">
                <a:solidFill>
                  <a:srgbClr val="333333"/>
                </a:solidFill>
                <a:effectLst/>
                <a:latin typeface="AmazonEmber"/>
              </a:rPr>
              <a:t>It can analyze the potential implications of different choices and recommend the best course of action. </a:t>
            </a:r>
          </a:p>
          <a:p>
            <a:pPr marL="347472" indent="-347472" algn="just" rtl="0" eaLnBrk="1" latinLnBrk="0" hangingPunct="1">
              <a:lnSpc>
                <a:spcPct val="200000"/>
              </a:lnSpc>
              <a:spcBef>
                <a:spcPts val="0"/>
              </a:spcBef>
              <a:spcAft>
                <a:spcPts val="0"/>
              </a:spcAft>
              <a:buFont typeface="Arial" panose="020B0604020202020204" pitchFamily="34" charset="0"/>
              <a:buChar char="•"/>
            </a:pPr>
            <a:r>
              <a:rPr lang="en-US" b="0" i="0" dirty="0">
                <a:solidFill>
                  <a:srgbClr val="333333"/>
                </a:solidFill>
                <a:effectLst/>
                <a:latin typeface="AmazonEmber"/>
              </a:rPr>
              <a:t>It uses graph analysis, simulation, complex event processing, neural networks, and recommendation engines from machine learning.       </a:t>
            </a:r>
            <a:endParaRPr lang="en-US" b="0" i="0" dirty="0">
              <a:solidFill>
                <a:srgbClr val="273239"/>
              </a:solidFill>
              <a:effectLst/>
              <a:highlight>
                <a:srgbClr val="FFFFFF"/>
              </a:highlight>
              <a:latin typeface="Calibri" panose="020F0502020204030204" pitchFamily="34" charset="0"/>
              <a:ea typeface="Calibri" panose="020F0502020204030204" pitchFamily="34" charset="0"/>
              <a:cs typeface="Calibri" panose="020F0502020204030204" pitchFamily="34" charset="0"/>
            </a:endParaRPr>
          </a:p>
        </p:txBody>
      </p:sp>
      <p:pic>
        <p:nvPicPr>
          <p:cNvPr id="2" name="Picture 1" descr="Types of Data Analysis in Data Science and Its Applications">
            <a:extLst>
              <a:ext uri="{FF2B5EF4-FFF2-40B4-BE49-F238E27FC236}">
                <a16:creationId xmlns:a16="http://schemas.microsoft.com/office/drawing/2014/main" id="{59272B1C-09B0-712C-A3D8-5BE106A957E0}"/>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70765" t="17073" r="7038" b="13845"/>
          <a:stretch/>
        </p:blipFill>
        <p:spPr bwMode="auto">
          <a:xfrm>
            <a:off x="9343204" y="1619835"/>
            <a:ext cx="2226478" cy="3816870"/>
          </a:xfrm>
          <a:prstGeom prst="rect">
            <a:avLst/>
          </a:prstGeom>
          <a:noFill/>
          <a:ln w="3175">
            <a:solidFill>
              <a:schemeClr val="tx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5147355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Table 8">
            <a:extLst>
              <a:ext uri="{FF2B5EF4-FFF2-40B4-BE49-F238E27FC236}">
                <a16:creationId xmlns:a16="http://schemas.microsoft.com/office/drawing/2014/main" id="{0B6EC464-4750-5FF3-7A5A-15612BA6E293}"/>
              </a:ext>
            </a:extLst>
          </p:cNvPr>
          <p:cNvGraphicFramePr>
            <a:graphicFrameLocks noGrp="1"/>
          </p:cNvGraphicFramePr>
          <p:nvPr/>
        </p:nvGraphicFramePr>
        <p:xfrm>
          <a:off x="0" y="23812"/>
          <a:ext cx="12192000" cy="465287"/>
        </p:xfrm>
        <a:graphic>
          <a:graphicData uri="http://schemas.openxmlformats.org/drawingml/2006/table">
            <a:tbl>
              <a:tblPr firstRow="1" bandRow="1">
                <a:tableStyleId>{5C22544A-7EE6-4342-B048-85BDC9FD1C3A}</a:tableStyleId>
              </a:tblPr>
              <a:tblGrid>
                <a:gridCol w="6092042">
                  <a:extLst>
                    <a:ext uri="{9D8B030D-6E8A-4147-A177-3AD203B41FA5}">
                      <a16:colId xmlns:a16="http://schemas.microsoft.com/office/drawing/2014/main" val="2179694530"/>
                    </a:ext>
                  </a:extLst>
                </a:gridCol>
                <a:gridCol w="6099958">
                  <a:extLst>
                    <a:ext uri="{9D8B030D-6E8A-4147-A177-3AD203B41FA5}">
                      <a16:colId xmlns:a16="http://schemas.microsoft.com/office/drawing/2014/main" val="2768207918"/>
                    </a:ext>
                  </a:extLst>
                </a:gridCol>
              </a:tblGrid>
              <a:tr h="465287">
                <a:tc>
                  <a:txBody>
                    <a:bodyPr/>
                    <a:lstStyle/>
                    <a:p>
                      <a:endParaRPr lang="en-US" dirty="0"/>
                    </a:p>
                  </a:txBody>
                  <a:tcPr>
                    <a:solidFill>
                      <a:srgbClr val="FF85FF"/>
                    </a:solidFill>
                  </a:tcPr>
                </a:tc>
                <a:tc>
                  <a:txBody>
                    <a:bodyPr/>
                    <a:lstStyle/>
                    <a:p>
                      <a:endParaRPr lang="en-US" dirty="0"/>
                    </a:p>
                  </a:txBody>
                  <a:tcPr>
                    <a:solidFill>
                      <a:srgbClr val="FFFF00"/>
                    </a:solidFill>
                  </a:tcPr>
                </a:tc>
                <a:extLst>
                  <a:ext uri="{0D108BD9-81ED-4DB2-BD59-A6C34878D82A}">
                    <a16:rowId xmlns:a16="http://schemas.microsoft.com/office/drawing/2014/main" val="1996944423"/>
                  </a:ext>
                </a:extLst>
              </a:tr>
            </a:tbl>
          </a:graphicData>
        </a:graphic>
      </p:graphicFrame>
      <p:graphicFrame>
        <p:nvGraphicFramePr>
          <p:cNvPr id="10" name="Table 9">
            <a:extLst>
              <a:ext uri="{FF2B5EF4-FFF2-40B4-BE49-F238E27FC236}">
                <a16:creationId xmlns:a16="http://schemas.microsoft.com/office/drawing/2014/main" id="{494BAFB7-FE1F-E1A9-7A6C-AB4145BD9BA1}"/>
              </a:ext>
            </a:extLst>
          </p:cNvPr>
          <p:cNvGraphicFramePr>
            <a:graphicFrameLocks noGrp="1"/>
          </p:cNvGraphicFramePr>
          <p:nvPr>
            <p:extLst>
              <p:ext uri="{D42A27DB-BD31-4B8C-83A1-F6EECF244321}">
                <p14:modId xmlns:p14="http://schemas.microsoft.com/office/powerpoint/2010/main" val="1223282885"/>
              </p:ext>
            </p:extLst>
          </p:nvPr>
        </p:nvGraphicFramePr>
        <p:xfrm>
          <a:off x="1" y="6478892"/>
          <a:ext cx="12191999" cy="370840"/>
        </p:xfrm>
        <a:graphic>
          <a:graphicData uri="http://schemas.openxmlformats.org/drawingml/2006/table">
            <a:tbl>
              <a:tblPr firstRow="1" bandRow="1">
                <a:tableStyleId>{5C22544A-7EE6-4342-B048-85BDC9FD1C3A}</a:tableStyleId>
              </a:tblPr>
              <a:tblGrid>
                <a:gridCol w="6080165">
                  <a:extLst>
                    <a:ext uri="{9D8B030D-6E8A-4147-A177-3AD203B41FA5}">
                      <a16:colId xmlns:a16="http://schemas.microsoft.com/office/drawing/2014/main" val="2179694530"/>
                    </a:ext>
                  </a:extLst>
                </a:gridCol>
                <a:gridCol w="6111834">
                  <a:extLst>
                    <a:ext uri="{9D8B030D-6E8A-4147-A177-3AD203B41FA5}">
                      <a16:colId xmlns:a16="http://schemas.microsoft.com/office/drawing/2014/main" val="2768207918"/>
                    </a:ext>
                  </a:extLst>
                </a:gridCol>
              </a:tblGrid>
              <a:tr h="370840">
                <a:tc>
                  <a:txBody>
                    <a:bodyPr/>
                    <a:lstStyle/>
                    <a:p>
                      <a:endParaRPr lang="en-US" dirty="0"/>
                    </a:p>
                  </a:txBody>
                  <a:tcPr>
                    <a:solidFill>
                      <a:srgbClr val="FFFF00"/>
                    </a:solidFill>
                  </a:tcPr>
                </a:tc>
                <a:tc>
                  <a:txBody>
                    <a:bodyPr/>
                    <a:lstStyle/>
                    <a:p>
                      <a:pPr algn="r"/>
                      <a:fld id="{C3A8E79E-7F4B-4E4D-ADE2-9430453E0565}" type="slidenum">
                        <a:rPr lang="en-US" smtClean="0">
                          <a:solidFill>
                            <a:schemeClr val="tx1"/>
                          </a:solidFill>
                        </a:rPr>
                        <a:t>15</a:t>
                      </a:fld>
                      <a:endParaRPr lang="en-US" dirty="0">
                        <a:solidFill>
                          <a:schemeClr val="tx1"/>
                        </a:solidFill>
                      </a:endParaRPr>
                    </a:p>
                  </a:txBody>
                  <a:tcPr>
                    <a:solidFill>
                      <a:srgbClr val="FF85FF"/>
                    </a:solidFill>
                  </a:tcPr>
                </a:tc>
                <a:extLst>
                  <a:ext uri="{0D108BD9-81ED-4DB2-BD59-A6C34878D82A}">
                    <a16:rowId xmlns:a16="http://schemas.microsoft.com/office/drawing/2014/main" val="1996944423"/>
                  </a:ext>
                </a:extLst>
              </a:tr>
            </a:tbl>
          </a:graphicData>
        </a:graphic>
      </p:graphicFrame>
      <p:pic>
        <p:nvPicPr>
          <p:cNvPr id="12" name="Google Shape;187;p25" descr="pngfind.com-kingpin-png-4152286 (1).png">
            <a:extLst>
              <a:ext uri="{FF2B5EF4-FFF2-40B4-BE49-F238E27FC236}">
                <a16:creationId xmlns:a16="http://schemas.microsoft.com/office/drawing/2014/main" id="{2DBF2481-A2DB-F96E-5749-B03DC4F71665}"/>
              </a:ext>
            </a:extLst>
          </p:cNvPr>
          <p:cNvPicPr preferRelativeResize="0"/>
          <p:nvPr/>
        </p:nvPicPr>
        <p:blipFill rotWithShape="1">
          <a:blip r:embed="rId2">
            <a:alphaModFix/>
          </a:blip>
          <a:srcRect/>
          <a:stretch/>
        </p:blipFill>
        <p:spPr>
          <a:xfrm>
            <a:off x="11044052" y="8268"/>
            <a:ext cx="1051261" cy="465287"/>
          </a:xfrm>
          <a:prstGeom prst="rect">
            <a:avLst/>
          </a:prstGeom>
          <a:noFill/>
          <a:ln>
            <a:noFill/>
          </a:ln>
        </p:spPr>
      </p:pic>
      <p:sp>
        <p:nvSpPr>
          <p:cNvPr id="19" name="Rectangle 18">
            <a:extLst>
              <a:ext uri="{FF2B5EF4-FFF2-40B4-BE49-F238E27FC236}">
                <a16:creationId xmlns:a16="http://schemas.microsoft.com/office/drawing/2014/main" id="{A0702E37-2E7E-7262-5E76-F69A817105B3}"/>
              </a:ext>
            </a:extLst>
          </p:cNvPr>
          <p:cNvSpPr/>
          <p:nvPr/>
        </p:nvSpPr>
        <p:spPr>
          <a:xfrm>
            <a:off x="0" y="8268"/>
            <a:ext cx="12192000" cy="6825920"/>
          </a:xfrm>
          <a:prstGeom prst="rect">
            <a:avLst/>
          </a:prstGeom>
          <a:noFill/>
          <a:ln w="38100">
            <a:solidFill>
              <a:srgbClr val="0432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DCB2A3F0-9003-5886-09B4-27925BBE4000}"/>
              </a:ext>
            </a:extLst>
          </p:cNvPr>
          <p:cNvSpPr txBox="1"/>
          <p:nvPr/>
        </p:nvSpPr>
        <p:spPr>
          <a:xfrm>
            <a:off x="109330" y="708849"/>
            <a:ext cx="12191999" cy="646331"/>
          </a:xfrm>
          <a:prstGeom prst="rect">
            <a:avLst/>
          </a:prstGeom>
          <a:noFill/>
        </p:spPr>
        <p:txBody>
          <a:bodyPr wrap="square">
            <a:spAutoFit/>
          </a:bodyPr>
          <a:lstStyle/>
          <a:p>
            <a:pPr marL="0" algn="ctr" rtl="0" eaLnBrk="1" latinLnBrk="0" hangingPunct="1">
              <a:spcBef>
                <a:spcPts val="0"/>
              </a:spcBef>
              <a:spcAft>
                <a:spcPts val="0"/>
              </a:spcAft>
            </a:pPr>
            <a:r>
              <a:rPr lang="en-US" sz="3600" b="1" kern="1200" dirty="0">
                <a:solidFill>
                  <a:srgbClr val="000000"/>
                </a:solidFill>
                <a:effectLst/>
                <a:latin typeface="Calibri" panose="020F0502020204030204" pitchFamily="34" charset="0"/>
                <a:ea typeface="+mn-ea"/>
                <a:cs typeface="Calibri" panose="020F0502020204030204" pitchFamily="34" charset="0"/>
              </a:rPr>
              <a:t>Applications of Data Science</a:t>
            </a:r>
            <a:endParaRPr lang="en-IN" sz="6000" dirty="0">
              <a:effectLst/>
            </a:endParaRPr>
          </a:p>
        </p:txBody>
      </p:sp>
      <p:sp>
        <p:nvSpPr>
          <p:cNvPr id="5" name="TextBox 4">
            <a:extLst>
              <a:ext uri="{FF2B5EF4-FFF2-40B4-BE49-F238E27FC236}">
                <a16:creationId xmlns:a16="http://schemas.microsoft.com/office/drawing/2014/main" id="{57BF3EEF-553A-D37A-6EF6-B514AF07FC3C}"/>
              </a:ext>
            </a:extLst>
          </p:cNvPr>
          <p:cNvSpPr txBox="1"/>
          <p:nvPr/>
        </p:nvSpPr>
        <p:spPr>
          <a:xfrm>
            <a:off x="341243" y="1413822"/>
            <a:ext cx="11509514" cy="4619854"/>
          </a:xfrm>
          <a:prstGeom prst="rect">
            <a:avLst/>
          </a:prstGeom>
          <a:noFill/>
        </p:spPr>
        <p:txBody>
          <a:bodyPr wrap="square">
            <a:spAutoFit/>
          </a:bodyPr>
          <a:lstStyle/>
          <a:p>
            <a:pPr marL="283464" indent="-283464" algn="l" rtl="0" eaLnBrk="1" latinLnBrk="0" hangingPunct="1">
              <a:lnSpc>
                <a:spcPct val="150000"/>
              </a:lnSpc>
              <a:spcBef>
                <a:spcPts val="0"/>
              </a:spcBef>
              <a:spcAft>
                <a:spcPts val="0"/>
              </a:spcAft>
              <a:buClrTx/>
              <a:buSzPts val="1800"/>
              <a:buFont typeface="Arial" panose="020B0604020202020204" pitchFamily="34" charset="0"/>
              <a:buChar char="•"/>
            </a:pPr>
            <a:r>
              <a:rPr lang="en-US" sz="1800" kern="1200" dirty="0">
                <a:solidFill>
                  <a:srgbClr val="000000"/>
                </a:solidFill>
                <a:effectLst/>
                <a:latin typeface="Calibri" panose="020F0502020204030204" pitchFamily="34" charset="0"/>
                <a:ea typeface="+mn-ea"/>
                <a:cs typeface="Calibri" panose="020F0502020204030204" pitchFamily="34" charset="0"/>
              </a:rPr>
              <a:t>Healthcare</a:t>
            </a:r>
            <a:endParaRPr lang="en-IN" sz="1800" dirty="0">
              <a:effectLst/>
            </a:endParaRPr>
          </a:p>
          <a:p>
            <a:pPr marL="285750" indent="-285750" algn="l" rtl="0" eaLnBrk="1" latinLnBrk="0" hangingPunct="1">
              <a:lnSpc>
                <a:spcPct val="150000"/>
              </a:lnSpc>
              <a:spcBef>
                <a:spcPts val="0"/>
              </a:spcBef>
              <a:spcAft>
                <a:spcPts val="0"/>
              </a:spcAft>
              <a:buFont typeface="Arial" panose="020B0604020202020204" pitchFamily="34" charset="0"/>
              <a:buChar char="•"/>
            </a:pPr>
            <a:r>
              <a:rPr lang="en-US" sz="1800" kern="1200" dirty="0">
                <a:solidFill>
                  <a:srgbClr val="000000"/>
                </a:solidFill>
                <a:effectLst/>
                <a:latin typeface="Calibri" panose="020F0502020204030204" pitchFamily="34" charset="0"/>
                <a:ea typeface="+mn-ea"/>
                <a:cs typeface="Calibri" panose="020F0502020204030204" pitchFamily="34" charset="0"/>
              </a:rPr>
              <a:t>Finance</a:t>
            </a:r>
            <a:endParaRPr lang="en-IN" dirty="0">
              <a:effectLst/>
            </a:endParaRPr>
          </a:p>
          <a:p>
            <a:pPr marL="285750" indent="-285750" algn="l" rtl="0" eaLnBrk="1" latinLnBrk="0" hangingPunct="1">
              <a:lnSpc>
                <a:spcPct val="150000"/>
              </a:lnSpc>
              <a:spcBef>
                <a:spcPts val="0"/>
              </a:spcBef>
              <a:spcAft>
                <a:spcPts val="0"/>
              </a:spcAft>
              <a:buFont typeface="Arial" panose="020B0604020202020204" pitchFamily="34" charset="0"/>
              <a:buChar char="•"/>
            </a:pPr>
            <a:r>
              <a:rPr lang="en-US" sz="1800" kern="1200" dirty="0">
                <a:solidFill>
                  <a:srgbClr val="000000"/>
                </a:solidFill>
                <a:effectLst/>
                <a:latin typeface="Calibri" panose="020F0502020204030204" pitchFamily="34" charset="0"/>
                <a:ea typeface="+mn-ea"/>
                <a:cs typeface="Calibri" panose="020F0502020204030204" pitchFamily="34" charset="0"/>
              </a:rPr>
              <a:t>Marketing</a:t>
            </a:r>
            <a:endParaRPr lang="en-IN" dirty="0">
              <a:effectLst/>
            </a:endParaRPr>
          </a:p>
          <a:p>
            <a:pPr marL="285750" indent="-285750" algn="l" rtl="0" eaLnBrk="1" latinLnBrk="0" hangingPunct="1">
              <a:lnSpc>
                <a:spcPct val="150000"/>
              </a:lnSpc>
              <a:spcBef>
                <a:spcPts val="0"/>
              </a:spcBef>
              <a:spcAft>
                <a:spcPts val="0"/>
              </a:spcAft>
              <a:buFont typeface="Arial" panose="020B0604020202020204" pitchFamily="34" charset="0"/>
              <a:buChar char="•"/>
            </a:pPr>
            <a:r>
              <a:rPr lang="en-US" sz="1800" kern="1200" dirty="0">
                <a:solidFill>
                  <a:srgbClr val="000000"/>
                </a:solidFill>
                <a:effectLst/>
                <a:latin typeface="Calibri" panose="020F0502020204030204" pitchFamily="34" charset="0"/>
                <a:ea typeface="+mn-ea"/>
                <a:cs typeface="Calibri" panose="020F0502020204030204" pitchFamily="34" charset="0"/>
              </a:rPr>
              <a:t>Retail</a:t>
            </a:r>
            <a:endParaRPr lang="en-IN" dirty="0">
              <a:effectLst/>
            </a:endParaRPr>
          </a:p>
          <a:p>
            <a:pPr marL="285750" indent="-285750" algn="l" rtl="0" eaLnBrk="1" latinLnBrk="0" hangingPunct="1">
              <a:lnSpc>
                <a:spcPct val="150000"/>
              </a:lnSpc>
              <a:spcBef>
                <a:spcPts val="0"/>
              </a:spcBef>
              <a:spcAft>
                <a:spcPts val="0"/>
              </a:spcAft>
              <a:buFont typeface="Arial" panose="020B0604020202020204" pitchFamily="34" charset="0"/>
              <a:buChar char="•"/>
            </a:pPr>
            <a:r>
              <a:rPr lang="en-US" sz="1800" kern="1200" dirty="0">
                <a:solidFill>
                  <a:srgbClr val="000000"/>
                </a:solidFill>
                <a:effectLst/>
                <a:latin typeface="Calibri" panose="020F0502020204030204" pitchFamily="34" charset="0"/>
                <a:ea typeface="+mn-ea"/>
                <a:cs typeface="Calibri" panose="020F0502020204030204" pitchFamily="34" charset="0"/>
              </a:rPr>
              <a:t>Transportation</a:t>
            </a:r>
            <a:endParaRPr lang="en-IN" dirty="0">
              <a:effectLst/>
            </a:endParaRPr>
          </a:p>
          <a:p>
            <a:pPr marL="285750" indent="-285750" algn="l" rtl="0" eaLnBrk="1" latinLnBrk="0" hangingPunct="1">
              <a:lnSpc>
                <a:spcPct val="150000"/>
              </a:lnSpc>
              <a:spcBef>
                <a:spcPts val="0"/>
              </a:spcBef>
              <a:spcAft>
                <a:spcPts val="0"/>
              </a:spcAft>
              <a:buFont typeface="Arial" panose="020B0604020202020204" pitchFamily="34" charset="0"/>
              <a:buChar char="•"/>
            </a:pPr>
            <a:r>
              <a:rPr lang="en-US" sz="1800" kern="1200" dirty="0">
                <a:solidFill>
                  <a:srgbClr val="000000"/>
                </a:solidFill>
                <a:effectLst/>
                <a:latin typeface="Calibri" panose="020F0502020204030204" pitchFamily="34" charset="0"/>
                <a:ea typeface="+mn-ea"/>
                <a:cs typeface="Calibri" panose="020F0502020204030204" pitchFamily="34" charset="0"/>
              </a:rPr>
              <a:t>Education</a:t>
            </a:r>
            <a:endParaRPr lang="en-IN" dirty="0">
              <a:effectLst/>
            </a:endParaRPr>
          </a:p>
          <a:p>
            <a:pPr marL="285750" indent="-285750" algn="l" rtl="0" eaLnBrk="1" latinLnBrk="0" hangingPunct="1">
              <a:lnSpc>
                <a:spcPct val="150000"/>
              </a:lnSpc>
              <a:spcBef>
                <a:spcPts val="0"/>
              </a:spcBef>
              <a:spcAft>
                <a:spcPts val="0"/>
              </a:spcAft>
              <a:buFont typeface="Arial" panose="020B0604020202020204" pitchFamily="34" charset="0"/>
              <a:buChar char="•"/>
            </a:pPr>
            <a:r>
              <a:rPr lang="en-US" sz="1800" kern="1200" dirty="0">
                <a:solidFill>
                  <a:srgbClr val="000000"/>
                </a:solidFill>
                <a:effectLst/>
                <a:latin typeface="Calibri" panose="020F0502020204030204" pitchFamily="34" charset="0"/>
                <a:ea typeface="+mn-ea"/>
                <a:cs typeface="Calibri" panose="020F0502020204030204" pitchFamily="34" charset="0"/>
              </a:rPr>
              <a:t>Entertainment</a:t>
            </a:r>
            <a:endParaRPr lang="en-IN" dirty="0">
              <a:effectLst/>
            </a:endParaRPr>
          </a:p>
          <a:p>
            <a:pPr marL="285750" indent="-285750" algn="l" rtl="0" eaLnBrk="1" latinLnBrk="0" hangingPunct="1">
              <a:lnSpc>
                <a:spcPct val="150000"/>
              </a:lnSpc>
              <a:spcBef>
                <a:spcPts val="0"/>
              </a:spcBef>
              <a:spcAft>
                <a:spcPts val="0"/>
              </a:spcAft>
              <a:buFont typeface="Arial" panose="020B0604020202020204" pitchFamily="34" charset="0"/>
              <a:buChar char="•"/>
            </a:pPr>
            <a:r>
              <a:rPr lang="en-US" sz="1800" kern="1200" dirty="0">
                <a:solidFill>
                  <a:srgbClr val="000000"/>
                </a:solidFill>
                <a:effectLst/>
                <a:latin typeface="Calibri" panose="020F0502020204030204" pitchFamily="34" charset="0"/>
                <a:ea typeface="+mn-ea"/>
                <a:cs typeface="Calibri" panose="020F0502020204030204" pitchFamily="34" charset="0"/>
              </a:rPr>
              <a:t>Manufacturing </a:t>
            </a:r>
            <a:endParaRPr lang="en-IN" dirty="0">
              <a:effectLst/>
            </a:endParaRPr>
          </a:p>
          <a:p>
            <a:pPr marL="285750" indent="-285750" algn="l" rtl="0" eaLnBrk="1" latinLnBrk="0" hangingPunct="1">
              <a:lnSpc>
                <a:spcPct val="150000"/>
              </a:lnSpc>
              <a:spcBef>
                <a:spcPts val="0"/>
              </a:spcBef>
              <a:spcAft>
                <a:spcPts val="0"/>
              </a:spcAft>
              <a:buFont typeface="Arial" panose="020B0604020202020204" pitchFamily="34" charset="0"/>
              <a:buChar char="•"/>
            </a:pPr>
            <a:r>
              <a:rPr lang="en-US" sz="1800" kern="1200" dirty="0">
                <a:solidFill>
                  <a:srgbClr val="000000"/>
                </a:solidFill>
                <a:effectLst/>
                <a:latin typeface="Calibri" panose="020F0502020204030204" pitchFamily="34" charset="0"/>
                <a:ea typeface="+mn-ea"/>
                <a:cs typeface="Calibri" panose="020F0502020204030204" pitchFamily="34" charset="0"/>
              </a:rPr>
              <a:t>Energy</a:t>
            </a:r>
            <a:endParaRPr lang="en-IN" dirty="0">
              <a:effectLst/>
            </a:endParaRPr>
          </a:p>
          <a:p>
            <a:pPr marL="285750" indent="-285750" algn="l" rtl="0" eaLnBrk="1" latinLnBrk="0" hangingPunct="1">
              <a:lnSpc>
                <a:spcPct val="150000"/>
              </a:lnSpc>
              <a:spcBef>
                <a:spcPts val="0"/>
              </a:spcBef>
              <a:spcAft>
                <a:spcPts val="0"/>
              </a:spcAft>
              <a:buFont typeface="Arial" panose="020B0604020202020204" pitchFamily="34" charset="0"/>
              <a:buChar char="•"/>
            </a:pPr>
            <a:r>
              <a:rPr lang="en-US" sz="1800" kern="1200" dirty="0">
                <a:solidFill>
                  <a:srgbClr val="000000"/>
                </a:solidFill>
                <a:effectLst/>
                <a:latin typeface="Calibri" panose="020F0502020204030204" pitchFamily="34" charset="0"/>
                <a:ea typeface="+mn-ea"/>
                <a:cs typeface="Calibri" panose="020F0502020204030204" pitchFamily="34" charset="0"/>
              </a:rPr>
              <a:t>Government</a:t>
            </a:r>
            <a:endParaRPr lang="en-IN" dirty="0">
              <a:effectLst/>
            </a:endParaRPr>
          </a:p>
          <a:p>
            <a:pPr marL="283464" indent="-283464" algn="just">
              <a:lnSpc>
                <a:spcPct val="150000"/>
              </a:lnSpc>
              <a:buSzPts val="1800"/>
              <a:buFont typeface="Arial" panose="020B0604020202020204" pitchFamily="34" charset="0"/>
              <a:buChar char="•"/>
            </a:pPr>
            <a:endParaRPr lang="en-US" b="0" i="0" dirty="0">
              <a:solidFill>
                <a:srgbClr val="273239"/>
              </a:solidFill>
              <a:effectLst/>
              <a:highlight>
                <a:srgbClr val="FFFFFF"/>
              </a:highlight>
              <a:latin typeface="Calibri" panose="020F0502020204030204" pitchFamily="34" charset="0"/>
              <a:ea typeface="Calibri" panose="020F0502020204030204" pitchFamily="34" charset="0"/>
              <a:cs typeface="Calibri" panose="020F0502020204030204" pitchFamily="34" charset="0"/>
            </a:endParaRPr>
          </a:p>
        </p:txBody>
      </p:sp>
      <p:pic>
        <p:nvPicPr>
          <p:cNvPr id="4" name="Picture 3">
            <a:extLst>
              <a:ext uri="{FF2B5EF4-FFF2-40B4-BE49-F238E27FC236}">
                <a16:creationId xmlns:a16="http://schemas.microsoft.com/office/drawing/2014/main" id="{C408476B-7584-FDCD-3A67-BB1BD7D86422}"/>
              </a:ext>
            </a:extLst>
          </p:cNvPr>
          <p:cNvPicPr>
            <a:picLocks noChangeAspect="1"/>
          </p:cNvPicPr>
          <p:nvPr/>
        </p:nvPicPr>
        <p:blipFill>
          <a:blip r:embed="rId3"/>
          <a:stretch>
            <a:fillRect/>
          </a:stretch>
        </p:blipFill>
        <p:spPr>
          <a:xfrm>
            <a:off x="4844365" y="2471566"/>
            <a:ext cx="5817106" cy="2309156"/>
          </a:xfrm>
          <a:prstGeom prst="rect">
            <a:avLst/>
          </a:prstGeom>
        </p:spPr>
      </p:pic>
    </p:spTree>
    <p:extLst>
      <p:ext uri="{BB962C8B-B14F-4D97-AF65-F5344CB8AC3E}">
        <p14:creationId xmlns:p14="http://schemas.microsoft.com/office/powerpoint/2010/main" val="216436221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Table 8">
            <a:extLst>
              <a:ext uri="{FF2B5EF4-FFF2-40B4-BE49-F238E27FC236}">
                <a16:creationId xmlns:a16="http://schemas.microsoft.com/office/drawing/2014/main" id="{0B6EC464-4750-5FF3-7A5A-15612BA6E293}"/>
              </a:ext>
            </a:extLst>
          </p:cNvPr>
          <p:cNvGraphicFramePr>
            <a:graphicFrameLocks noGrp="1"/>
          </p:cNvGraphicFramePr>
          <p:nvPr/>
        </p:nvGraphicFramePr>
        <p:xfrm>
          <a:off x="0" y="23812"/>
          <a:ext cx="12192000" cy="465287"/>
        </p:xfrm>
        <a:graphic>
          <a:graphicData uri="http://schemas.openxmlformats.org/drawingml/2006/table">
            <a:tbl>
              <a:tblPr firstRow="1" bandRow="1">
                <a:tableStyleId>{5C22544A-7EE6-4342-B048-85BDC9FD1C3A}</a:tableStyleId>
              </a:tblPr>
              <a:tblGrid>
                <a:gridCol w="6092042">
                  <a:extLst>
                    <a:ext uri="{9D8B030D-6E8A-4147-A177-3AD203B41FA5}">
                      <a16:colId xmlns:a16="http://schemas.microsoft.com/office/drawing/2014/main" val="2179694530"/>
                    </a:ext>
                  </a:extLst>
                </a:gridCol>
                <a:gridCol w="6099958">
                  <a:extLst>
                    <a:ext uri="{9D8B030D-6E8A-4147-A177-3AD203B41FA5}">
                      <a16:colId xmlns:a16="http://schemas.microsoft.com/office/drawing/2014/main" val="2768207918"/>
                    </a:ext>
                  </a:extLst>
                </a:gridCol>
              </a:tblGrid>
              <a:tr h="465287">
                <a:tc>
                  <a:txBody>
                    <a:bodyPr/>
                    <a:lstStyle/>
                    <a:p>
                      <a:endParaRPr lang="en-US" dirty="0"/>
                    </a:p>
                  </a:txBody>
                  <a:tcPr>
                    <a:solidFill>
                      <a:srgbClr val="FF85FF"/>
                    </a:solidFill>
                  </a:tcPr>
                </a:tc>
                <a:tc>
                  <a:txBody>
                    <a:bodyPr/>
                    <a:lstStyle/>
                    <a:p>
                      <a:endParaRPr lang="en-US" dirty="0"/>
                    </a:p>
                  </a:txBody>
                  <a:tcPr>
                    <a:solidFill>
                      <a:srgbClr val="FFFF00"/>
                    </a:solidFill>
                  </a:tcPr>
                </a:tc>
                <a:extLst>
                  <a:ext uri="{0D108BD9-81ED-4DB2-BD59-A6C34878D82A}">
                    <a16:rowId xmlns:a16="http://schemas.microsoft.com/office/drawing/2014/main" val="1996944423"/>
                  </a:ext>
                </a:extLst>
              </a:tr>
            </a:tbl>
          </a:graphicData>
        </a:graphic>
      </p:graphicFrame>
      <p:graphicFrame>
        <p:nvGraphicFramePr>
          <p:cNvPr id="10" name="Table 9">
            <a:extLst>
              <a:ext uri="{FF2B5EF4-FFF2-40B4-BE49-F238E27FC236}">
                <a16:creationId xmlns:a16="http://schemas.microsoft.com/office/drawing/2014/main" id="{494BAFB7-FE1F-E1A9-7A6C-AB4145BD9BA1}"/>
              </a:ext>
            </a:extLst>
          </p:cNvPr>
          <p:cNvGraphicFramePr>
            <a:graphicFrameLocks noGrp="1"/>
          </p:cNvGraphicFramePr>
          <p:nvPr>
            <p:extLst>
              <p:ext uri="{D42A27DB-BD31-4B8C-83A1-F6EECF244321}">
                <p14:modId xmlns:p14="http://schemas.microsoft.com/office/powerpoint/2010/main" val="193729848"/>
              </p:ext>
            </p:extLst>
          </p:nvPr>
        </p:nvGraphicFramePr>
        <p:xfrm>
          <a:off x="1" y="6478892"/>
          <a:ext cx="12191999" cy="370840"/>
        </p:xfrm>
        <a:graphic>
          <a:graphicData uri="http://schemas.openxmlformats.org/drawingml/2006/table">
            <a:tbl>
              <a:tblPr firstRow="1" bandRow="1">
                <a:tableStyleId>{5C22544A-7EE6-4342-B048-85BDC9FD1C3A}</a:tableStyleId>
              </a:tblPr>
              <a:tblGrid>
                <a:gridCol w="6080165">
                  <a:extLst>
                    <a:ext uri="{9D8B030D-6E8A-4147-A177-3AD203B41FA5}">
                      <a16:colId xmlns:a16="http://schemas.microsoft.com/office/drawing/2014/main" val="2179694530"/>
                    </a:ext>
                  </a:extLst>
                </a:gridCol>
                <a:gridCol w="6111834">
                  <a:extLst>
                    <a:ext uri="{9D8B030D-6E8A-4147-A177-3AD203B41FA5}">
                      <a16:colId xmlns:a16="http://schemas.microsoft.com/office/drawing/2014/main" val="2768207918"/>
                    </a:ext>
                  </a:extLst>
                </a:gridCol>
              </a:tblGrid>
              <a:tr h="370840">
                <a:tc>
                  <a:txBody>
                    <a:bodyPr/>
                    <a:lstStyle/>
                    <a:p>
                      <a:endParaRPr lang="en-US" dirty="0"/>
                    </a:p>
                  </a:txBody>
                  <a:tcPr>
                    <a:solidFill>
                      <a:srgbClr val="FFFF00"/>
                    </a:solidFill>
                  </a:tcPr>
                </a:tc>
                <a:tc>
                  <a:txBody>
                    <a:bodyPr/>
                    <a:lstStyle/>
                    <a:p>
                      <a:pPr algn="r"/>
                      <a:r>
                        <a:rPr lang="en-US" dirty="0">
                          <a:solidFill>
                            <a:schemeClr val="tx1"/>
                          </a:solidFill>
                        </a:rPr>
                        <a:t>16</a:t>
                      </a:r>
                    </a:p>
                  </a:txBody>
                  <a:tcPr>
                    <a:solidFill>
                      <a:srgbClr val="FF85FF"/>
                    </a:solidFill>
                  </a:tcPr>
                </a:tc>
                <a:extLst>
                  <a:ext uri="{0D108BD9-81ED-4DB2-BD59-A6C34878D82A}">
                    <a16:rowId xmlns:a16="http://schemas.microsoft.com/office/drawing/2014/main" val="1996944423"/>
                  </a:ext>
                </a:extLst>
              </a:tr>
            </a:tbl>
          </a:graphicData>
        </a:graphic>
      </p:graphicFrame>
      <p:pic>
        <p:nvPicPr>
          <p:cNvPr id="12" name="Google Shape;187;p25" descr="pngfind.com-kingpin-png-4152286 (1).png">
            <a:extLst>
              <a:ext uri="{FF2B5EF4-FFF2-40B4-BE49-F238E27FC236}">
                <a16:creationId xmlns:a16="http://schemas.microsoft.com/office/drawing/2014/main" id="{2DBF2481-A2DB-F96E-5749-B03DC4F71665}"/>
              </a:ext>
            </a:extLst>
          </p:cNvPr>
          <p:cNvPicPr preferRelativeResize="0"/>
          <p:nvPr/>
        </p:nvPicPr>
        <p:blipFill rotWithShape="1">
          <a:blip r:embed="rId2">
            <a:alphaModFix/>
          </a:blip>
          <a:srcRect/>
          <a:stretch/>
        </p:blipFill>
        <p:spPr>
          <a:xfrm>
            <a:off x="11044052" y="8268"/>
            <a:ext cx="1051261" cy="465287"/>
          </a:xfrm>
          <a:prstGeom prst="rect">
            <a:avLst/>
          </a:prstGeom>
          <a:noFill/>
          <a:ln>
            <a:noFill/>
          </a:ln>
        </p:spPr>
      </p:pic>
      <p:sp>
        <p:nvSpPr>
          <p:cNvPr id="14" name="Rectangle 13">
            <a:extLst>
              <a:ext uri="{FF2B5EF4-FFF2-40B4-BE49-F238E27FC236}">
                <a16:creationId xmlns:a16="http://schemas.microsoft.com/office/drawing/2014/main" id="{6EB9A5F7-B7D7-E008-8229-AD564931BCC6}"/>
              </a:ext>
            </a:extLst>
          </p:cNvPr>
          <p:cNvSpPr/>
          <p:nvPr/>
        </p:nvSpPr>
        <p:spPr>
          <a:xfrm>
            <a:off x="4506501" y="2967335"/>
            <a:ext cx="3179012" cy="707886"/>
          </a:xfrm>
          <a:prstGeom prst="rect">
            <a:avLst/>
          </a:prstGeom>
          <a:noFill/>
        </p:spPr>
        <p:txBody>
          <a:bodyPr wrap="none" lIns="91440" tIns="45720" rIns="91440" bIns="45720">
            <a:spAutoFit/>
          </a:bodyPr>
          <a:lstStyle/>
          <a:p>
            <a:pPr algn="ctr"/>
            <a:r>
              <a:rPr lang="en-US" sz="4000" b="1" dirty="0">
                <a:effectLst/>
                <a:latin typeface="Calibri" panose="020F0502020204030204" pitchFamily="34" charset="0"/>
                <a:ea typeface="Calibri" panose="020F0502020204030204" pitchFamily="34" charset="0"/>
                <a:cs typeface="Calibri" panose="020F0502020204030204" pitchFamily="34" charset="0"/>
              </a:rPr>
              <a:t>Facets of Data</a:t>
            </a:r>
            <a:endParaRPr lang="en-GB" sz="9600" b="1" cap="none" spc="0" dirty="0">
              <a:ln w="0"/>
              <a:solidFill>
                <a:schemeClr val="tx1"/>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Calibri" panose="020F0502020204030204" pitchFamily="34" charset="0"/>
            </a:endParaRPr>
          </a:p>
        </p:txBody>
      </p:sp>
      <p:sp>
        <p:nvSpPr>
          <p:cNvPr id="19" name="Rectangle 18">
            <a:extLst>
              <a:ext uri="{FF2B5EF4-FFF2-40B4-BE49-F238E27FC236}">
                <a16:creationId xmlns:a16="http://schemas.microsoft.com/office/drawing/2014/main" id="{A0702E37-2E7E-7262-5E76-F69A817105B3}"/>
              </a:ext>
            </a:extLst>
          </p:cNvPr>
          <p:cNvSpPr/>
          <p:nvPr/>
        </p:nvSpPr>
        <p:spPr>
          <a:xfrm>
            <a:off x="0" y="8268"/>
            <a:ext cx="12192000" cy="6825920"/>
          </a:xfrm>
          <a:prstGeom prst="rect">
            <a:avLst/>
          </a:prstGeom>
          <a:noFill/>
          <a:ln w="38100">
            <a:solidFill>
              <a:srgbClr val="0432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98008683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Table 8">
            <a:extLst>
              <a:ext uri="{FF2B5EF4-FFF2-40B4-BE49-F238E27FC236}">
                <a16:creationId xmlns:a16="http://schemas.microsoft.com/office/drawing/2014/main" id="{0B6EC464-4750-5FF3-7A5A-15612BA6E293}"/>
              </a:ext>
            </a:extLst>
          </p:cNvPr>
          <p:cNvGraphicFramePr>
            <a:graphicFrameLocks noGrp="1"/>
          </p:cNvGraphicFramePr>
          <p:nvPr/>
        </p:nvGraphicFramePr>
        <p:xfrm>
          <a:off x="0" y="23812"/>
          <a:ext cx="12192000" cy="465287"/>
        </p:xfrm>
        <a:graphic>
          <a:graphicData uri="http://schemas.openxmlformats.org/drawingml/2006/table">
            <a:tbl>
              <a:tblPr firstRow="1" bandRow="1">
                <a:tableStyleId>{5C22544A-7EE6-4342-B048-85BDC9FD1C3A}</a:tableStyleId>
              </a:tblPr>
              <a:tblGrid>
                <a:gridCol w="6092042">
                  <a:extLst>
                    <a:ext uri="{9D8B030D-6E8A-4147-A177-3AD203B41FA5}">
                      <a16:colId xmlns:a16="http://schemas.microsoft.com/office/drawing/2014/main" val="2179694530"/>
                    </a:ext>
                  </a:extLst>
                </a:gridCol>
                <a:gridCol w="6099958">
                  <a:extLst>
                    <a:ext uri="{9D8B030D-6E8A-4147-A177-3AD203B41FA5}">
                      <a16:colId xmlns:a16="http://schemas.microsoft.com/office/drawing/2014/main" val="2768207918"/>
                    </a:ext>
                  </a:extLst>
                </a:gridCol>
              </a:tblGrid>
              <a:tr h="465287">
                <a:tc>
                  <a:txBody>
                    <a:bodyPr/>
                    <a:lstStyle/>
                    <a:p>
                      <a:endParaRPr lang="en-US" dirty="0"/>
                    </a:p>
                  </a:txBody>
                  <a:tcPr>
                    <a:solidFill>
                      <a:srgbClr val="FF85FF"/>
                    </a:solidFill>
                  </a:tcPr>
                </a:tc>
                <a:tc>
                  <a:txBody>
                    <a:bodyPr/>
                    <a:lstStyle/>
                    <a:p>
                      <a:endParaRPr lang="en-US" dirty="0"/>
                    </a:p>
                  </a:txBody>
                  <a:tcPr>
                    <a:solidFill>
                      <a:srgbClr val="FFFF00"/>
                    </a:solidFill>
                  </a:tcPr>
                </a:tc>
                <a:extLst>
                  <a:ext uri="{0D108BD9-81ED-4DB2-BD59-A6C34878D82A}">
                    <a16:rowId xmlns:a16="http://schemas.microsoft.com/office/drawing/2014/main" val="1996944423"/>
                  </a:ext>
                </a:extLst>
              </a:tr>
            </a:tbl>
          </a:graphicData>
        </a:graphic>
      </p:graphicFrame>
      <p:graphicFrame>
        <p:nvGraphicFramePr>
          <p:cNvPr id="10" name="Table 9">
            <a:extLst>
              <a:ext uri="{FF2B5EF4-FFF2-40B4-BE49-F238E27FC236}">
                <a16:creationId xmlns:a16="http://schemas.microsoft.com/office/drawing/2014/main" id="{494BAFB7-FE1F-E1A9-7A6C-AB4145BD9BA1}"/>
              </a:ext>
            </a:extLst>
          </p:cNvPr>
          <p:cNvGraphicFramePr>
            <a:graphicFrameLocks noGrp="1"/>
          </p:cNvGraphicFramePr>
          <p:nvPr>
            <p:extLst>
              <p:ext uri="{D42A27DB-BD31-4B8C-83A1-F6EECF244321}">
                <p14:modId xmlns:p14="http://schemas.microsoft.com/office/powerpoint/2010/main" val="1449267962"/>
              </p:ext>
            </p:extLst>
          </p:nvPr>
        </p:nvGraphicFramePr>
        <p:xfrm>
          <a:off x="1" y="6478892"/>
          <a:ext cx="12191999" cy="370840"/>
        </p:xfrm>
        <a:graphic>
          <a:graphicData uri="http://schemas.openxmlformats.org/drawingml/2006/table">
            <a:tbl>
              <a:tblPr firstRow="1" bandRow="1">
                <a:tableStyleId>{5C22544A-7EE6-4342-B048-85BDC9FD1C3A}</a:tableStyleId>
              </a:tblPr>
              <a:tblGrid>
                <a:gridCol w="6080165">
                  <a:extLst>
                    <a:ext uri="{9D8B030D-6E8A-4147-A177-3AD203B41FA5}">
                      <a16:colId xmlns:a16="http://schemas.microsoft.com/office/drawing/2014/main" val="2179694530"/>
                    </a:ext>
                  </a:extLst>
                </a:gridCol>
                <a:gridCol w="6111834">
                  <a:extLst>
                    <a:ext uri="{9D8B030D-6E8A-4147-A177-3AD203B41FA5}">
                      <a16:colId xmlns:a16="http://schemas.microsoft.com/office/drawing/2014/main" val="2768207918"/>
                    </a:ext>
                  </a:extLst>
                </a:gridCol>
              </a:tblGrid>
              <a:tr h="370840">
                <a:tc>
                  <a:txBody>
                    <a:bodyPr/>
                    <a:lstStyle/>
                    <a:p>
                      <a:endParaRPr lang="en-US" dirty="0"/>
                    </a:p>
                  </a:txBody>
                  <a:tcPr>
                    <a:solidFill>
                      <a:srgbClr val="FFFF00"/>
                    </a:solidFill>
                  </a:tcPr>
                </a:tc>
                <a:tc>
                  <a:txBody>
                    <a:bodyPr/>
                    <a:lstStyle/>
                    <a:p>
                      <a:pPr algn="r"/>
                      <a:r>
                        <a:rPr lang="en-US" dirty="0">
                          <a:solidFill>
                            <a:schemeClr val="tx1"/>
                          </a:solidFill>
                        </a:rPr>
                        <a:t>17</a:t>
                      </a:r>
                    </a:p>
                  </a:txBody>
                  <a:tcPr>
                    <a:solidFill>
                      <a:srgbClr val="FF85FF"/>
                    </a:solidFill>
                  </a:tcPr>
                </a:tc>
                <a:extLst>
                  <a:ext uri="{0D108BD9-81ED-4DB2-BD59-A6C34878D82A}">
                    <a16:rowId xmlns:a16="http://schemas.microsoft.com/office/drawing/2014/main" val="1996944423"/>
                  </a:ext>
                </a:extLst>
              </a:tr>
            </a:tbl>
          </a:graphicData>
        </a:graphic>
      </p:graphicFrame>
      <p:pic>
        <p:nvPicPr>
          <p:cNvPr id="12" name="Google Shape;187;p25" descr="pngfind.com-kingpin-png-4152286 (1).png">
            <a:extLst>
              <a:ext uri="{FF2B5EF4-FFF2-40B4-BE49-F238E27FC236}">
                <a16:creationId xmlns:a16="http://schemas.microsoft.com/office/drawing/2014/main" id="{2DBF2481-A2DB-F96E-5749-B03DC4F71665}"/>
              </a:ext>
            </a:extLst>
          </p:cNvPr>
          <p:cNvPicPr preferRelativeResize="0"/>
          <p:nvPr/>
        </p:nvPicPr>
        <p:blipFill rotWithShape="1">
          <a:blip r:embed="rId2">
            <a:alphaModFix/>
          </a:blip>
          <a:srcRect/>
          <a:stretch/>
        </p:blipFill>
        <p:spPr>
          <a:xfrm>
            <a:off x="11044052" y="8268"/>
            <a:ext cx="1051261" cy="465287"/>
          </a:xfrm>
          <a:prstGeom prst="rect">
            <a:avLst/>
          </a:prstGeom>
          <a:noFill/>
          <a:ln>
            <a:noFill/>
          </a:ln>
        </p:spPr>
      </p:pic>
      <p:sp>
        <p:nvSpPr>
          <p:cNvPr id="19" name="Rectangle 18">
            <a:extLst>
              <a:ext uri="{FF2B5EF4-FFF2-40B4-BE49-F238E27FC236}">
                <a16:creationId xmlns:a16="http://schemas.microsoft.com/office/drawing/2014/main" id="{A0702E37-2E7E-7262-5E76-F69A817105B3}"/>
              </a:ext>
            </a:extLst>
          </p:cNvPr>
          <p:cNvSpPr/>
          <p:nvPr/>
        </p:nvSpPr>
        <p:spPr>
          <a:xfrm>
            <a:off x="0" y="8268"/>
            <a:ext cx="12192000" cy="6825920"/>
          </a:xfrm>
          <a:prstGeom prst="rect">
            <a:avLst/>
          </a:prstGeom>
          <a:noFill/>
          <a:ln w="38100">
            <a:solidFill>
              <a:srgbClr val="0432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DCB2A3F0-9003-5886-09B4-27925BBE4000}"/>
              </a:ext>
            </a:extLst>
          </p:cNvPr>
          <p:cNvSpPr txBox="1"/>
          <p:nvPr/>
        </p:nvSpPr>
        <p:spPr>
          <a:xfrm>
            <a:off x="0" y="873851"/>
            <a:ext cx="12191999" cy="646331"/>
          </a:xfrm>
          <a:prstGeom prst="rect">
            <a:avLst/>
          </a:prstGeom>
          <a:noFill/>
        </p:spPr>
        <p:txBody>
          <a:bodyPr wrap="square">
            <a:spAutoFit/>
          </a:bodyPr>
          <a:lstStyle/>
          <a:p>
            <a:pPr algn="ctr"/>
            <a:r>
              <a:rPr lang="en-US" sz="3600" b="1" dirty="0">
                <a:effectLst/>
                <a:latin typeface="Calibri" panose="020F0502020204030204" pitchFamily="34" charset="0"/>
                <a:ea typeface="Calibri" panose="020F0502020204030204" pitchFamily="34" charset="0"/>
                <a:cs typeface="Calibri" panose="020F0502020204030204" pitchFamily="34" charset="0"/>
              </a:rPr>
              <a:t>Facets of Data</a:t>
            </a:r>
            <a:endParaRPr lang="en-GB" sz="8800" b="1" cap="none" spc="0" dirty="0">
              <a:ln w="0"/>
              <a:solidFill>
                <a:schemeClr val="tx1"/>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Calibri" panose="020F0502020204030204" pitchFamily="34" charset="0"/>
            </a:endParaRPr>
          </a:p>
        </p:txBody>
      </p:sp>
      <p:sp>
        <p:nvSpPr>
          <p:cNvPr id="5" name="TextBox 4">
            <a:extLst>
              <a:ext uri="{FF2B5EF4-FFF2-40B4-BE49-F238E27FC236}">
                <a16:creationId xmlns:a16="http://schemas.microsoft.com/office/drawing/2014/main" id="{57BF3EEF-553A-D37A-6EF6-B514AF07FC3C}"/>
              </a:ext>
            </a:extLst>
          </p:cNvPr>
          <p:cNvSpPr txBox="1"/>
          <p:nvPr/>
        </p:nvSpPr>
        <p:spPr>
          <a:xfrm>
            <a:off x="487016" y="1574931"/>
            <a:ext cx="10972801" cy="4204356"/>
          </a:xfrm>
          <a:prstGeom prst="rect">
            <a:avLst/>
          </a:prstGeom>
          <a:noFill/>
        </p:spPr>
        <p:txBody>
          <a:bodyPr wrap="square">
            <a:spAutoFit/>
          </a:bodyPr>
          <a:lstStyle/>
          <a:p>
            <a:pPr marL="283464" indent="-283464" algn="just" rtl="0" eaLnBrk="1" latinLnBrk="0" hangingPunct="1">
              <a:lnSpc>
                <a:spcPct val="150000"/>
              </a:lnSpc>
              <a:spcBef>
                <a:spcPts val="0"/>
              </a:spcBef>
              <a:spcAft>
                <a:spcPts val="0"/>
              </a:spcAft>
              <a:buClrTx/>
              <a:buSzPts val="1800"/>
              <a:buFont typeface="Arial" panose="020B0604020202020204" pitchFamily="34" charset="0"/>
              <a:buChar char="•"/>
            </a:pPr>
            <a:r>
              <a:rPr lang="en-US" b="0" i="0" dirty="0">
                <a:solidFill>
                  <a:srgbClr val="212529"/>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Very large amount of data will generate in big data and data science. </a:t>
            </a:r>
          </a:p>
          <a:p>
            <a:pPr marL="283464" indent="-283464" algn="just" rtl="0" eaLnBrk="1" latinLnBrk="0" hangingPunct="1">
              <a:lnSpc>
                <a:spcPct val="150000"/>
              </a:lnSpc>
              <a:spcBef>
                <a:spcPts val="0"/>
              </a:spcBef>
              <a:spcAft>
                <a:spcPts val="0"/>
              </a:spcAft>
              <a:buClrTx/>
              <a:buSzPts val="1800"/>
              <a:buFont typeface="Arial" panose="020B0604020202020204" pitchFamily="34" charset="0"/>
              <a:buChar char="•"/>
            </a:pPr>
            <a:r>
              <a:rPr lang="en-US" b="0" i="0" dirty="0">
                <a:solidFill>
                  <a:srgbClr val="212529"/>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These data is various types and main categories of data are as follows:</a:t>
            </a:r>
          </a:p>
          <a:p>
            <a:pPr marL="800100" lvl="1" indent="-342900" algn="just">
              <a:lnSpc>
                <a:spcPct val="150000"/>
              </a:lnSpc>
              <a:buSzPts val="1800"/>
              <a:buAutoNum type="alphaLcParenR"/>
            </a:pPr>
            <a:r>
              <a:rPr lang="en-US" b="0" i="0" dirty="0">
                <a:solidFill>
                  <a:srgbClr val="212529"/>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Structured</a:t>
            </a:r>
          </a:p>
          <a:p>
            <a:pPr marL="800100" lvl="1" indent="-342900" algn="just">
              <a:lnSpc>
                <a:spcPct val="150000"/>
              </a:lnSpc>
              <a:buSzPts val="1800"/>
              <a:buAutoNum type="alphaLcParenR"/>
            </a:pPr>
            <a:r>
              <a:rPr lang="en-US" dirty="0">
                <a:solidFill>
                  <a:srgbClr val="212529"/>
                </a:solidFill>
                <a:highlight>
                  <a:srgbClr val="FFFFFF"/>
                </a:highlight>
                <a:latin typeface="Calibri" panose="020F0502020204030204" pitchFamily="34" charset="0"/>
                <a:ea typeface="Calibri" panose="020F0502020204030204" pitchFamily="34" charset="0"/>
                <a:cs typeface="Calibri" panose="020F0502020204030204" pitchFamily="34" charset="0"/>
              </a:rPr>
              <a:t>Unstructured</a:t>
            </a:r>
          </a:p>
          <a:p>
            <a:pPr marL="1200150" lvl="2" indent="-285750" algn="just">
              <a:lnSpc>
                <a:spcPct val="150000"/>
              </a:lnSpc>
              <a:buSzPts val="1800"/>
              <a:buFont typeface="Arial" panose="020B0604020202020204" pitchFamily="34" charset="0"/>
              <a:buChar char="•"/>
            </a:pPr>
            <a:r>
              <a:rPr lang="en-US" b="0" i="0" dirty="0">
                <a:solidFill>
                  <a:srgbClr val="212529"/>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Natural language</a:t>
            </a:r>
          </a:p>
          <a:p>
            <a:pPr marL="1200150" lvl="2" indent="-285750" algn="just">
              <a:lnSpc>
                <a:spcPct val="150000"/>
              </a:lnSpc>
              <a:buSzPts val="1800"/>
              <a:buFont typeface="Arial" panose="020B0604020202020204" pitchFamily="34" charset="0"/>
              <a:buChar char="•"/>
            </a:pPr>
            <a:r>
              <a:rPr lang="en-US" b="0" i="0" dirty="0">
                <a:solidFill>
                  <a:srgbClr val="212529"/>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Machine-generated</a:t>
            </a:r>
          </a:p>
          <a:p>
            <a:pPr marL="1200150" lvl="2" indent="-285750" algn="just">
              <a:lnSpc>
                <a:spcPct val="150000"/>
              </a:lnSpc>
              <a:buSzPts val="1800"/>
              <a:buFont typeface="Arial" panose="020B0604020202020204" pitchFamily="34" charset="0"/>
              <a:buChar char="•"/>
            </a:pPr>
            <a:r>
              <a:rPr lang="en-US" b="0" i="0" dirty="0">
                <a:solidFill>
                  <a:srgbClr val="212529"/>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Audio, video and images</a:t>
            </a:r>
          </a:p>
          <a:p>
            <a:pPr marL="1200150" lvl="2" indent="-285750" algn="just">
              <a:lnSpc>
                <a:spcPct val="150000"/>
              </a:lnSpc>
              <a:buSzPts val="1800"/>
              <a:buFont typeface="Arial" panose="020B0604020202020204" pitchFamily="34" charset="0"/>
              <a:buChar char="•"/>
            </a:pPr>
            <a:r>
              <a:rPr lang="en-US" b="0" i="0" dirty="0">
                <a:solidFill>
                  <a:srgbClr val="212529"/>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Graph-based</a:t>
            </a:r>
          </a:p>
          <a:p>
            <a:pPr marL="1200150" lvl="2" indent="-285750" algn="just">
              <a:lnSpc>
                <a:spcPct val="150000"/>
              </a:lnSpc>
              <a:buSzPts val="1800"/>
              <a:buFont typeface="Arial" panose="020B0604020202020204" pitchFamily="34" charset="0"/>
              <a:buChar char="•"/>
            </a:pPr>
            <a:r>
              <a:rPr lang="en-US" b="0" i="0" dirty="0">
                <a:solidFill>
                  <a:srgbClr val="212529"/>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Streaming</a:t>
            </a:r>
            <a:endParaRPr lang="en-IN" dirty="0">
              <a:latin typeface="Calibri" panose="020F0502020204030204" pitchFamily="34" charset="0"/>
              <a:ea typeface="Calibri" panose="020F0502020204030204" pitchFamily="34" charset="0"/>
              <a:cs typeface="Calibri" panose="020F0502020204030204" pitchFamily="34" charset="0"/>
            </a:endParaRPr>
          </a:p>
          <a:p>
            <a:pPr marL="283464" indent="-283464" algn="just" rtl="0" eaLnBrk="1" latinLnBrk="0" hangingPunct="1">
              <a:lnSpc>
                <a:spcPct val="150000"/>
              </a:lnSpc>
              <a:spcBef>
                <a:spcPts val="0"/>
              </a:spcBef>
              <a:spcAft>
                <a:spcPts val="0"/>
              </a:spcAft>
              <a:buClrTx/>
              <a:buSzPts val="1800"/>
              <a:buFont typeface="Arial" panose="020B0604020202020204" pitchFamily="34" charset="0"/>
              <a:buChar char="•"/>
            </a:pPr>
            <a:endParaRPr lang="en-IN" sz="1800" dirty="0">
              <a:effectLst/>
              <a:latin typeface="Calibri" panose="020F0502020204030204" pitchFamily="34" charset="0"/>
              <a:ea typeface="Calibri" panose="020F0502020204030204" pitchFamily="34" charset="0"/>
              <a:cs typeface="Calibri" panose="020F0502020204030204" pitchFamily="34" charset="0"/>
            </a:endParaRPr>
          </a:p>
        </p:txBody>
      </p:sp>
      <p:pic>
        <p:nvPicPr>
          <p:cNvPr id="1026" name="Picture 2" descr="Pivotal facets of Data Visualization in ...">
            <a:extLst>
              <a:ext uri="{FF2B5EF4-FFF2-40B4-BE49-F238E27FC236}">
                <a16:creationId xmlns:a16="http://schemas.microsoft.com/office/drawing/2014/main" id="{E2E52E80-4BBF-F241-E4FD-08D0DC32B91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61652" y="2835775"/>
            <a:ext cx="4563739" cy="2998558"/>
          </a:xfrm>
          <a:prstGeom prst="rect">
            <a:avLst/>
          </a:prstGeom>
          <a:noFill/>
          <a:ln w="6350">
            <a:solidFill>
              <a:schemeClr val="tx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9410035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Table 8">
            <a:extLst>
              <a:ext uri="{FF2B5EF4-FFF2-40B4-BE49-F238E27FC236}">
                <a16:creationId xmlns:a16="http://schemas.microsoft.com/office/drawing/2014/main" id="{0B6EC464-4750-5FF3-7A5A-15612BA6E293}"/>
              </a:ext>
            </a:extLst>
          </p:cNvPr>
          <p:cNvGraphicFramePr>
            <a:graphicFrameLocks noGrp="1"/>
          </p:cNvGraphicFramePr>
          <p:nvPr/>
        </p:nvGraphicFramePr>
        <p:xfrm>
          <a:off x="0" y="23812"/>
          <a:ext cx="12192000" cy="465287"/>
        </p:xfrm>
        <a:graphic>
          <a:graphicData uri="http://schemas.openxmlformats.org/drawingml/2006/table">
            <a:tbl>
              <a:tblPr firstRow="1" bandRow="1">
                <a:tableStyleId>{5C22544A-7EE6-4342-B048-85BDC9FD1C3A}</a:tableStyleId>
              </a:tblPr>
              <a:tblGrid>
                <a:gridCol w="6092042">
                  <a:extLst>
                    <a:ext uri="{9D8B030D-6E8A-4147-A177-3AD203B41FA5}">
                      <a16:colId xmlns:a16="http://schemas.microsoft.com/office/drawing/2014/main" val="2179694530"/>
                    </a:ext>
                  </a:extLst>
                </a:gridCol>
                <a:gridCol w="6099958">
                  <a:extLst>
                    <a:ext uri="{9D8B030D-6E8A-4147-A177-3AD203B41FA5}">
                      <a16:colId xmlns:a16="http://schemas.microsoft.com/office/drawing/2014/main" val="2768207918"/>
                    </a:ext>
                  </a:extLst>
                </a:gridCol>
              </a:tblGrid>
              <a:tr h="465287">
                <a:tc>
                  <a:txBody>
                    <a:bodyPr/>
                    <a:lstStyle/>
                    <a:p>
                      <a:endParaRPr lang="en-US" dirty="0"/>
                    </a:p>
                  </a:txBody>
                  <a:tcPr>
                    <a:solidFill>
                      <a:srgbClr val="FF85FF"/>
                    </a:solidFill>
                  </a:tcPr>
                </a:tc>
                <a:tc>
                  <a:txBody>
                    <a:bodyPr/>
                    <a:lstStyle/>
                    <a:p>
                      <a:endParaRPr lang="en-US" dirty="0"/>
                    </a:p>
                  </a:txBody>
                  <a:tcPr>
                    <a:solidFill>
                      <a:srgbClr val="FFFF00"/>
                    </a:solidFill>
                  </a:tcPr>
                </a:tc>
                <a:extLst>
                  <a:ext uri="{0D108BD9-81ED-4DB2-BD59-A6C34878D82A}">
                    <a16:rowId xmlns:a16="http://schemas.microsoft.com/office/drawing/2014/main" val="1996944423"/>
                  </a:ext>
                </a:extLst>
              </a:tr>
            </a:tbl>
          </a:graphicData>
        </a:graphic>
      </p:graphicFrame>
      <p:graphicFrame>
        <p:nvGraphicFramePr>
          <p:cNvPr id="10" name="Table 9">
            <a:extLst>
              <a:ext uri="{FF2B5EF4-FFF2-40B4-BE49-F238E27FC236}">
                <a16:creationId xmlns:a16="http://schemas.microsoft.com/office/drawing/2014/main" id="{494BAFB7-FE1F-E1A9-7A6C-AB4145BD9BA1}"/>
              </a:ext>
            </a:extLst>
          </p:cNvPr>
          <p:cNvGraphicFramePr>
            <a:graphicFrameLocks noGrp="1"/>
          </p:cNvGraphicFramePr>
          <p:nvPr/>
        </p:nvGraphicFramePr>
        <p:xfrm>
          <a:off x="1" y="6478892"/>
          <a:ext cx="12191999" cy="370840"/>
        </p:xfrm>
        <a:graphic>
          <a:graphicData uri="http://schemas.openxmlformats.org/drawingml/2006/table">
            <a:tbl>
              <a:tblPr firstRow="1" bandRow="1">
                <a:tableStyleId>{5C22544A-7EE6-4342-B048-85BDC9FD1C3A}</a:tableStyleId>
              </a:tblPr>
              <a:tblGrid>
                <a:gridCol w="6080165">
                  <a:extLst>
                    <a:ext uri="{9D8B030D-6E8A-4147-A177-3AD203B41FA5}">
                      <a16:colId xmlns:a16="http://schemas.microsoft.com/office/drawing/2014/main" val="2179694530"/>
                    </a:ext>
                  </a:extLst>
                </a:gridCol>
                <a:gridCol w="6111834">
                  <a:extLst>
                    <a:ext uri="{9D8B030D-6E8A-4147-A177-3AD203B41FA5}">
                      <a16:colId xmlns:a16="http://schemas.microsoft.com/office/drawing/2014/main" val="2768207918"/>
                    </a:ext>
                  </a:extLst>
                </a:gridCol>
              </a:tblGrid>
              <a:tr h="370840">
                <a:tc>
                  <a:txBody>
                    <a:bodyPr/>
                    <a:lstStyle/>
                    <a:p>
                      <a:endParaRPr lang="en-US" dirty="0"/>
                    </a:p>
                  </a:txBody>
                  <a:tcPr>
                    <a:solidFill>
                      <a:srgbClr val="FFFF00"/>
                    </a:solidFill>
                  </a:tcPr>
                </a:tc>
                <a:tc>
                  <a:txBody>
                    <a:bodyPr/>
                    <a:lstStyle/>
                    <a:p>
                      <a:pPr algn="r"/>
                      <a:fld id="{B9254C9E-B4EC-4459-8D61-4F77C0C53589}" type="slidenum">
                        <a:rPr lang="en-US" smtClean="0">
                          <a:solidFill>
                            <a:schemeClr val="tx1"/>
                          </a:solidFill>
                        </a:rPr>
                        <a:t>18</a:t>
                      </a:fld>
                      <a:endParaRPr lang="en-US" dirty="0">
                        <a:solidFill>
                          <a:schemeClr val="tx1"/>
                        </a:solidFill>
                      </a:endParaRPr>
                    </a:p>
                  </a:txBody>
                  <a:tcPr>
                    <a:solidFill>
                      <a:srgbClr val="FF85FF"/>
                    </a:solidFill>
                  </a:tcPr>
                </a:tc>
                <a:extLst>
                  <a:ext uri="{0D108BD9-81ED-4DB2-BD59-A6C34878D82A}">
                    <a16:rowId xmlns:a16="http://schemas.microsoft.com/office/drawing/2014/main" val="1996944423"/>
                  </a:ext>
                </a:extLst>
              </a:tr>
            </a:tbl>
          </a:graphicData>
        </a:graphic>
      </p:graphicFrame>
      <p:pic>
        <p:nvPicPr>
          <p:cNvPr id="12" name="Google Shape;187;p25" descr="pngfind.com-kingpin-png-4152286 (1).png">
            <a:extLst>
              <a:ext uri="{FF2B5EF4-FFF2-40B4-BE49-F238E27FC236}">
                <a16:creationId xmlns:a16="http://schemas.microsoft.com/office/drawing/2014/main" id="{2DBF2481-A2DB-F96E-5749-B03DC4F71665}"/>
              </a:ext>
            </a:extLst>
          </p:cNvPr>
          <p:cNvPicPr preferRelativeResize="0"/>
          <p:nvPr/>
        </p:nvPicPr>
        <p:blipFill rotWithShape="1">
          <a:blip r:embed="rId2">
            <a:alphaModFix/>
          </a:blip>
          <a:srcRect/>
          <a:stretch/>
        </p:blipFill>
        <p:spPr>
          <a:xfrm>
            <a:off x="11044052" y="8268"/>
            <a:ext cx="1051261" cy="465287"/>
          </a:xfrm>
          <a:prstGeom prst="rect">
            <a:avLst/>
          </a:prstGeom>
          <a:noFill/>
          <a:ln>
            <a:noFill/>
          </a:ln>
        </p:spPr>
      </p:pic>
      <p:sp>
        <p:nvSpPr>
          <p:cNvPr id="19" name="Rectangle 18">
            <a:extLst>
              <a:ext uri="{FF2B5EF4-FFF2-40B4-BE49-F238E27FC236}">
                <a16:creationId xmlns:a16="http://schemas.microsoft.com/office/drawing/2014/main" id="{A0702E37-2E7E-7262-5E76-F69A817105B3}"/>
              </a:ext>
            </a:extLst>
          </p:cNvPr>
          <p:cNvSpPr/>
          <p:nvPr/>
        </p:nvSpPr>
        <p:spPr>
          <a:xfrm>
            <a:off x="0" y="8268"/>
            <a:ext cx="12192000" cy="6825920"/>
          </a:xfrm>
          <a:prstGeom prst="rect">
            <a:avLst/>
          </a:prstGeom>
          <a:noFill/>
          <a:ln w="38100">
            <a:solidFill>
              <a:srgbClr val="0432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DCB2A3F0-9003-5886-09B4-27925BBE4000}"/>
              </a:ext>
            </a:extLst>
          </p:cNvPr>
          <p:cNvSpPr txBox="1"/>
          <p:nvPr/>
        </p:nvSpPr>
        <p:spPr>
          <a:xfrm>
            <a:off x="0" y="684857"/>
            <a:ext cx="12191999" cy="646331"/>
          </a:xfrm>
          <a:prstGeom prst="rect">
            <a:avLst/>
          </a:prstGeom>
          <a:noFill/>
        </p:spPr>
        <p:txBody>
          <a:bodyPr wrap="square">
            <a:spAutoFit/>
          </a:bodyPr>
          <a:lstStyle/>
          <a:p>
            <a:pPr algn="ctr"/>
            <a:r>
              <a:rPr lang="en-US" sz="3600" b="1" dirty="0">
                <a:effectLst/>
                <a:latin typeface="Calibri" panose="020F0502020204030204" pitchFamily="34" charset="0"/>
                <a:ea typeface="Calibri" panose="020F0502020204030204" pitchFamily="34" charset="0"/>
                <a:cs typeface="Calibri" panose="020F0502020204030204" pitchFamily="34" charset="0"/>
              </a:rPr>
              <a:t>Structured Data</a:t>
            </a:r>
            <a:endParaRPr lang="en-GB" sz="8800" b="1" cap="none" spc="0" dirty="0">
              <a:ln w="0"/>
              <a:solidFill>
                <a:schemeClr val="tx1"/>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Calibri" panose="020F0502020204030204" pitchFamily="34" charset="0"/>
            </a:endParaRPr>
          </a:p>
        </p:txBody>
      </p:sp>
      <p:sp>
        <p:nvSpPr>
          <p:cNvPr id="5" name="TextBox 4">
            <a:extLst>
              <a:ext uri="{FF2B5EF4-FFF2-40B4-BE49-F238E27FC236}">
                <a16:creationId xmlns:a16="http://schemas.microsoft.com/office/drawing/2014/main" id="{57BF3EEF-553A-D37A-6EF6-B514AF07FC3C}"/>
              </a:ext>
            </a:extLst>
          </p:cNvPr>
          <p:cNvSpPr txBox="1"/>
          <p:nvPr/>
        </p:nvSpPr>
        <p:spPr>
          <a:xfrm>
            <a:off x="487016" y="1505141"/>
            <a:ext cx="11012558" cy="2542363"/>
          </a:xfrm>
          <a:prstGeom prst="rect">
            <a:avLst/>
          </a:prstGeom>
          <a:noFill/>
        </p:spPr>
        <p:txBody>
          <a:bodyPr wrap="square">
            <a:spAutoFit/>
          </a:bodyPr>
          <a:lstStyle/>
          <a:p>
            <a:pPr marL="285750" indent="-285750" algn="just" fontAlgn="base">
              <a:lnSpc>
                <a:spcPct val="150000"/>
              </a:lnSpc>
              <a:buFont typeface="Arial" panose="020B0604020202020204" pitchFamily="34" charset="0"/>
              <a:buChar char="•"/>
            </a:pPr>
            <a:r>
              <a:rPr lang="en-US" b="1" i="0" dirty="0">
                <a:solidFill>
                  <a:srgbClr val="273239"/>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Structured data </a:t>
            </a:r>
            <a:r>
              <a:rPr lang="en-US" b="0" i="0" dirty="0">
                <a:solidFill>
                  <a:srgbClr val="273239"/>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is arranged in rows and column format. It helps for application to retrieve and process data easily. Database management system is used for storing structured data.</a:t>
            </a:r>
          </a:p>
          <a:p>
            <a:pPr marL="285750" indent="-285750" algn="just" fontAlgn="base">
              <a:lnSpc>
                <a:spcPct val="150000"/>
              </a:lnSpc>
              <a:buFont typeface="Arial" panose="020B0604020202020204" pitchFamily="34" charset="0"/>
              <a:buChar char="•"/>
            </a:pPr>
            <a:r>
              <a:rPr lang="en-US" b="0" i="0" dirty="0">
                <a:solidFill>
                  <a:srgbClr val="273239"/>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The term structured data refers to data that is identifiable because it is organized in a structure. Structured data is also searchable by data type within content. Structured data is understood by computers and is also efficiently organized for human readers.</a:t>
            </a:r>
          </a:p>
          <a:p>
            <a:pPr marL="285750" indent="-285750" algn="just" fontAlgn="base">
              <a:lnSpc>
                <a:spcPct val="150000"/>
              </a:lnSpc>
              <a:buFont typeface="Arial" panose="020B0604020202020204" pitchFamily="34" charset="0"/>
              <a:buChar char="•"/>
            </a:pPr>
            <a:r>
              <a:rPr lang="en-US" b="0" i="0" dirty="0">
                <a:solidFill>
                  <a:srgbClr val="273239"/>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An Excel </a:t>
            </a:r>
            <a:r>
              <a:rPr lang="en-US" b="1" i="0" dirty="0">
                <a:solidFill>
                  <a:srgbClr val="273239"/>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table</a:t>
            </a:r>
            <a:r>
              <a:rPr lang="en-US" b="0" i="0" dirty="0">
                <a:solidFill>
                  <a:srgbClr val="273239"/>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 is an example of structured data.</a:t>
            </a:r>
          </a:p>
        </p:txBody>
      </p:sp>
      <p:pic>
        <p:nvPicPr>
          <p:cNvPr id="6" name="Picture 5">
            <a:extLst>
              <a:ext uri="{FF2B5EF4-FFF2-40B4-BE49-F238E27FC236}">
                <a16:creationId xmlns:a16="http://schemas.microsoft.com/office/drawing/2014/main" id="{8FDA2A4F-96A4-9C41-0007-307A4E7EB137}"/>
              </a:ext>
            </a:extLst>
          </p:cNvPr>
          <p:cNvPicPr>
            <a:picLocks noChangeAspect="1"/>
          </p:cNvPicPr>
          <p:nvPr/>
        </p:nvPicPr>
        <p:blipFill>
          <a:blip r:embed="rId3"/>
          <a:stretch>
            <a:fillRect/>
          </a:stretch>
        </p:blipFill>
        <p:spPr>
          <a:xfrm>
            <a:off x="3534396" y="4063048"/>
            <a:ext cx="5381625" cy="2400300"/>
          </a:xfrm>
          <a:prstGeom prst="rect">
            <a:avLst/>
          </a:prstGeom>
        </p:spPr>
      </p:pic>
    </p:spTree>
    <p:extLst>
      <p:ext uri="{BB962C8B-B14F-4D97-AF65-F5344CB8AC3E}">
        <p14:creationId xmlns:p14="http://schemas.microsoft.com/office/powerpoint/2010/main" val="4859353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Table 8">
            <a:extLst>
              <a:ext uri="{FF2B5EF4-FFF2-40B4-BE49-F238E27FC236}">
                <a16:creationId xmlns:a16="http://schemas.microsoft.com/office/drawing/2014/main" id="{0B6EC464-4750-5FF3-7A5A-15612BA6E293}"/>
              </a:ext>
            </a:extLst>
          </p:cNvPr>
          <p:cNvGraphicFramePr>
            <a:graphicFrameLocks noGrp="1"/>
          </p:cNvGraphicFramePr>
          <p:nvPr/>
        </p:nvGraphicFramePr>
        <p:xfrm>
          <a:off x="0" y="23812"/>
          <a:ext cx="12192000" cy="465287"/>
        </p:xfrm>
        <a:graphic>
          <a:graphicData uri="http://schemas.openxmlformats.org/drawingml/2006/table">
            <a:tbl>
              <a:tblPr firstRow="1" bandRow="1">
                <a:tableStyleId>{5C22544A-7EE6-4342-B048-85BDC9FD1C3A}</a:tableStyleId>
              </a:tblPr>
              <a:tblGrid>
                <a:gridCol w="6092042">
                  <a:extLst>
                    <a:ext uri="{9D8B030D-6E8A-4147-A177-3AD203B41FA5}">
                      <a16:colId xmlns:a16="http://schemas.microsoft.com/office/drawing/2014/main" val="2179694530"/>
                    </a:ext>
                  </a:extLst>
                </a:gridCol>
                <a:gridCol w="6099958">
                  <a:extLst>
                    <a:ext uri="{9D8B030D-6E8A-4147-A177-3AD203B41FA5}">
                      <a16:colId xmlns:a16="http://schemas.microsoft.com/office/drawing/2014/main" val="2768207918"/>
                    </a:ext>
                  </a:extLst>
                </a:gridCol>
              </a:tblGrid>
              <a:tr h="465287">
                <a:tc>
                  <a:txBody>
                    <a:bodyPr/>
                    <a:lstStyle/>
                    <a:p>
                      <a:endParaRPr lang="en-US" dirty="0"/>
                    </a:p>
                  </a:txBody>
                  <a:tcPr>
                    <a:solidFill>
                      <a:srgbClr val="FF85FF"/>
                    </a:solidFill>
                  </a:tcPr>
                </a:tc>
                <a:tc>
                  <a:txBody>
                    <a:bodyPr/>
                    <a:lstStyle/>
                    <a:p>
                      <a:endParaRPr lang="en-US" dirty="0"/>
                    </a:p>
                  </a:txBody>
                  <a:tcPr>
                    <a:solidFill>
                      <a:srgbClr val="FFFF00"/>
                    </a:solidFill>
                  </a:tcPr>
                </a:tc>
                <a:extLst>
                  <a:ext uri="{0D108BD9-81ED-4DB2-BD59-A6C34878D82A}">
                    <a16:rowId xmlns:a16="http://schemas.microsoft.com/office/drawing/2014/main" val="1996944423"/>
                  </a:ext>
                </a:extLst>
              </a:tr>
            </a:tbl>
          </a:graphicData>
        </a:graphic>
      </p:graphicFrame>
      <p:graphicFrame>
        <p:nvGraphicFramePr>
          <p:cNvPr id="10" name="Table 9">
            <a:extLst>
              <a:ext uri="{FF2B5EF4-FFF2-40B4-BE49-F238E27FC236}">
                <a16:creationId xmlns:a16="http://schemas.microsoft.com/office/drawing/2014/main" id="{494BAFB7-FE1F-E1A9-7A6C-AB4145BD9BA1}"/>
              </a:ext>
            </a:extLst>
          </p:cNvPr>
          <p:cNvGraphicFramePr>
            <a:graphicFrameLocks noGrp="1"/>
          </p:cNvGraphicFramePr>
          <p:nvPr/>
        </p:nvGraphicFramePr>
        <p:xfrm>
          <a:off x="1" y="6478892"/>
          <a:ext cx="12191999" cy="370840"/>
        </p:xfrm>
        <a:graphic>
          <a:graphicData uri="http://schemas.openxmlformats.org/drawingml/2006/table">
            <a:tbl>
              <a:tblPr firstRow="1" bandRow="1">
                <a:tableStyleId>{5C22544A-7EE6-4342-B048-85BDC9FD1C3A}</a:tableStyleId>
              </a:tblPr>
              <a:tblGrid>
                <a:gridCol w="6080165">
                  <a:extLst>
                    <a:ext uri="{9D8B030D-6E8A-4147-A177-3AD203B41FA5}">
                      <a16:colId xmlns:a16="http://schemas.microsoft.com/office/drawing/2014/main" val="2179694530"/>
                    </a:ext>
                  </a:extLst>
                </a:gridCol>
                <a:gridCol w="6111834">
                  <a:extLst>
                    <a:ext uri="{9D8B030D-6E8A-4147-A177-3AD203B41FA5}">
                      <a16:colId xmlns:a16="http://schemas.microsoft.com/office/drawing/2014/main" val="2768207918"/>
                    </a:ext>
                  </a:extLst>
                </a:gridCol>
              </a:tblGrid>
              <a:tr h="370840">
                <a:tc>
                  <a:txBody>
                    <a:bodyPr/>
                    <a:lstStyle/>
                    <a:p>
                      <a:endParaRPr lang="en-US" dirty="0"/>
                    </a:p>
                  </a:txBody>
                  <a:tcPr>
                    <a:solidFill>
                      <a:srgbClr val="FFFF00"/>
                    </a:solidFill>
                  </a:tcPr>
                </a:tc>
                <a:tc>
                  <a:txBody>
                    <a:bodyPr/>
                    <a:lstStyle/>
                    <a:p>
                      <a:pPr algn="r"/>
                      <a:fld id="{D0B2593F-2BF4-475E-A4EB-53327DDBCFB2}" type="slidenum">
                        <a:rPr lang="en-US" smtClean="0">
                          <a:solidFill>
                            <a:schemeClr val="tx1"/>
                          </a:solidFill>
                        </a:rPr>
                        <a:t>19</a:t>
                      </a:fld>
                      <a:endParaRPr lang="en-US" dirty="0">
                        <a:solidFill>
                          <a:schemeClr val="tx1"/>
                        </a:solidFill>
                      </a:endParaRPr>
                    </a:p>
                  </a:txBody>
                  <a:tcPr>
                    <a:solidFill>
                      <a:srgbClr val="FF85FF"/>
                    </a:solidFill>
                  </a:tcPr>
                </a:tc>
                <a:extLst>
                  <a:ext uri="{0D108BD9-81ED-4DB2-BD59-A6C34878D82A}">
                    <a16:rowId xmlns:a16="http://schemas.microsoft.com/office/drawing/2014/main" val="1996944423"/>
                  </a:ext>
                </a:extLst>
              </a:tr>
            </a:tbl>
          </a:graphicData>
        </a:graphic>
      </p:graphicFrame>
      <p:pic>
        <p:nvPicPr>
          <p:cNvPr id="12" name="Google Shape;187;p25" descr="pngfind.com-kingpin-png-4152286 (1).png">
            <a:extLst>
              <a:ext uri="{FF2B5EF4-FFF2-40B4-BE49-F238E27FC236}">
                <a16:creationId xmlns:a16="http://schemas.microsoft.com/office/drawing/2014/main" id="{2DBF2481-A2DB-F96E-5749-B03DC4F71665}"/>
              </a:ext>
            </a:extLst>
          </p:cNvPr>
          <p:cNvPicPr preferRelativeResize="0"/>
          <p:nvPr/>
        </p:nvPicPr>
        <p:blipFill rotWithShape="1">
          <a:blip r:embed="rId2">
            <a:alphaModFix/>
          </a:blip>
          <a:srcRect/>
          <a:stretch/>
        </p:blipFill>
        <p:spPr>
          <a:xfrm>
            <a:off x="11044052" y="8268"/>
            <a:ext cx="1051261" cy="465287"/>
          </a:xfrm>
          <a:prstGeom prst="rect">
            <a:avLst/>
          </a:prstGeom>
          <a:noFill/>
          <a:ln>
            <a:noFill/>
          </a:ln>
        </p:spPr>
      </p:pic>
      <p:sp>
        <p:nvSpPr>
          <p:cNvPr id="19" name="Rectangle 18">
            <a:extLst>
              <a:ext uri="{FF2B5EF4-FFF2-40B4-BE49-F238E27FC236}">
                <a16:creationId xmlns:a16="http://schemas.microsoft.com/office/drawing/2014/main" id="{A0702E37-2E7E-7262-5E76-F69A817105B3}"/>
              </a:ext>
            </a:extLst>
          </p:cNvPr>
          <p:cNvSpPr/>
          <p:nvPr/>
        </p:nvSpPr>
        <p:spPr>
          <a:xfrm>
            <a:off x="0" y="8268"/>
            <a:ext cx="12192000" cy="6825920"/>
          </a:xfrm>
          <a:prstGeom prst="rect">
            <a:avLst/>
          </a:prstGeom>
          <a:noFill/>
          <a:ln w="38100">
            <a:solidFill>
              <a:srgbClr val="0432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DCB2A3F0-9003-5886-09B4-27925BBE4000}"/>
              </a:ext>
            </a:extLst>
          </p:cNvPr>
          <p:cNvSpPr txBox="1"/>
          <p:nvPr/>
        </p:nvSpPr>
        <p:spPr>
          <a:xfrm>
            <a:off x="-1" y="708849"/>
            <a:ext cx="12191999" cy="646331"/>
          </a:xfrm>
          <a:prstGeom prst="rect">
            <a:avLst/>
          </a:prstGeom>
          <a:noFill/>
        </p:spPr>
        <p:txBody>
          <a:bodyPr wrap="square">
            <a:spAutoFit/>
          </a:bodyPr>
          <a:lstStyle/>
          <a:p>
            <a:pPr algn="ctr"/>
            <a:r>
              <a:rPr lang="en-US" sz="3600" b="1" dirty="0">
                <a:effectLst/>
                <a:latin typeface="Calibri" panose="020F0502020204030204" pitchFamily="34" charset="0"/>
                <a:ea typeface="Calibri" panose="020F0502020204030204" pitchFamily="34" charset="0"/>
                <a:cs typeface="Calibri" panose="020F0502020204030204" pitchFamily="34" charset="0"/>
              </a:rPr>
              <a:t>Unstructured Data</a:t>
            </a:r>
            <a:endParaRPr lang="en-GB" sz="8800" b="1" cap="none" spc="0" dirty="0">
              <a:ln w="0"/>
              <a:solidFill>
                <a:schemeClr val="tx1"/>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Calibri" panose="020F0502020204030204" pitchFamily="34" charset="0"/>
            </a:endParaRPr>
          </a:p>
        </p:txBody>
      </p:sp>
      <p:sp>
        <p:nvSpPr>
          <p:cNvPr id="5" name="TextBox 4">
            <a:extLst>
              <a:ext uri="{FF2B5EF4-FFF2-40B4-BE49-F238E27FC236}">
                <a16:creationId xmlns:a16="http://schemas.microsoft.com/office/drawing/2014/main" id="{57BF3EEF-553A-D37A-6EF6-B514AF07FC3C}"/>
              </a:ext>
            </a:extLst>
          </p:cNvPr>
          <p:cNvSpPr txBox="1"/>
          <p:nvPr/>
        </p:nvSpPr>
        <p:spPr>
          <a:xfrm>
            <a:off x="557124" y="1432025"/>
            <a:ext cx="11012558" cy="3892732"/>
          </a:xfrm>
          <a:prstGeom prst="rect">
            <a:avLst/>
          </a:prstGeom>
          <a:noFill/>
        </p:spPr>
        <p:txBody>
          <a:bodyPr wrap="square">
            <a:spAutoFit/>
          </a:bodyPr>
          <a:lstStyle/>
          <a:p>
            <a:pPr marL="283464" indent="-283464" algn="just" rtl="0" eaLnBrk="1" latinLnBrk="0" hangingPunct="1">
              <a:lnSpc>
                <a:spcPct val="200000"/>
              </a:lnSpc>
              <a:spcBef>
                <a:spcPts val="0"/>
              </a:spcBef>
              <a:spcAft>
                <a:spcPts val="0"/>
              </a:spcAft>
              <a:buClrTx/>
              <a:buSzPts val="1800"/>
              <a:buFont typeface="Arial" panose="020B0604020202020204" pitchFamily="34" charset="0"/>
              <a:buChar char="•"/>
            </a:pPr>
            <a:r>
              <a:rPr lang="en-US" b="1" i="0" dirty="0">
                <a:solidFill>
                  <a:srgbClr val="273239"/>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Unstructured data </a:t>
            </a:r>
            <a:r>
              <a:rPr lang="en-US" b="0" i="0" dirty="0">
                <a:solidFill>
                  <a:srgbClr val="273239"/>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is data that does not follow a specified format. Row and columns are not used for unstructured data. Therefore it is difficult to retrieve required information. </a:t>
            </a:r>
          </a:p>
          <a:p>
            <a:pPr marL="283464" indent="-283464" algn="just" rtl="0" eaLnBrk="1" latinLnBrk="0" hangingPunct="1">
              <a:lnSpc>
                <a:spcPct val="200000"/>
              </a:lnSpc>
              <a:spcBef>
                <a:spcPts val="0"/>
              </a:spcBef>
              <a:spcAft>
                <a:spcPts val="0"/>
              </a:spcAft>
              <a:buClrTx/>
              <a:buSzPts val="1800"/>
              <a:buFont typeface="Arial" panose="020B0604020202020204" pitchFamily="34" charset="0"/>
              <a:buChar char="•"/>
            </a:pPr>
            <a:r>
              <a:rPr lang="en-US" b="0" i="0" dirty="0">
                <a:solidFill>
                  <a:srgbClr val="273239"/>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Unstructured data has no identifiable structure.</a:t>
            </a:r>
          </a:p>
          <a:p>
            <a:pPr marL="283464" indent="-283464" algn="just" rtl="0" eaLnBrk="1" latinLnBrk="0" hangingPunct="1">
              <a:lnSpc>
                <a:spcPct val="200000"/>
              </a:lnSpc>
              <a:spcBef>
                <a:spcPts val="0"/>
              </a:spcBef>
              <a:spcAft>
                <a:spcPts val="0"/>
              </a:spcAft>
              <a:buClrTx/>
              <a:buSzPts val="1800"/>
              <a:buFont typeface="Arial" panose="020B0604020202020204" pitchFamily="34" charset="0"/>
              <a:buChar char="•"/>
            </a:pPr>
            <a:r>
              <a:rPr lang="en-US" b="0" i="0" dirty="0">
                <a:solidFill>
                  <a:srgbClr val="273239"/>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The unstructured data can be in the form of Text: (Documents, email messages, customer feedbacks), audio, video, images. Email is an example of unstructured data.</a:t>
            </a:r>
          </a:p>
          <a:p>
            <a:pPr marL="283464" indent="-283464" algn="just" rtl="0" eaLnBrk="1" latinLnBrk="0" hangingPunct="1">
              <a:lnSpc>
                <a:spcPct val="200000"/>
              </a:lnSpc>
              <a:spcBef>
                <a:spcPts val="0"/>
              </a:spcBef>
              <a:spcAft>
                <a:spcPts val="0"/>
              </a:spcAft>
              <a:buClrTx/>
              <a:buSzPts val="1800"/>
              <a:buFont typeface="Arial" panose="020B0604020202020204" pitchFamily="34" charset="0"/>
              <a:buChar char="•"/>
            </a:pPr>
            <a:r>
              <a:rPr lang="en-US" b="0" i="0" dirty="0">
                <a:solidFill>
                  <a:srgbClr val="273239"/>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Even today in most of the organizations more than 80% of the data are in unstructured form. This carries lots of information. But extracting information from these various sources is a very big challenge.</a:t>
            </a:r>
          </a:p>
        </p:txBody>
      </p:sp>
    </p:spTree>
    <p:extLst>
      <p:ext uri="{BB962C8B-B14F-4D97-AF65-F5344CB8AC3E}">
        <p14:creationId xmlns:p14="http://schemas.microsoft.com/office/powerpoint/2010/main" val="124977589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Table 8">
            <a:extLst>
              <a:ext uri="{FF2B5EF4-FFF2-40B4-BE49-F238E27FC236}">
                <a16:creationId xmlns:a16="http://schemas.microsoft.com/office/drawing/2014/main" id="{0B6EC464-4750-5FF3-7A5A-15612BA6E293}"/>
              </a:ext>
            </a:extLst>
          </p:cNvPr>
          <p:cNvGraphicFramePr>
            <a:graphicFrameLocks noGrp="1"/>
          </p:cNvGraphicFramePr>
          <p:nvPr/>
        </p:nvGraphicFramePr>
        <p:xfrm>
          <a:off x="0" y="23812"/>
          <a:ext cx="12192000" cy="465287"/>
        </p:xfrm>
        <a:graphic>
          <a:graphicData uri="http://schemas.openxmlformats.org/drawingml/2006/table">
            <a:tbl>
              <a:tblPr firstRow="1" bandRow="1">
                <a:tableStyleId>{5C22544A-7EE6-4342-B048-85BDC9FD1C3A}</a:tableStyleId>
              </a:tblPr>
              <a:tblGrid>
                <a:gridCol w="6092042">
                  <a:extLst>
                    <a:ext uri="{9D8B030D-6E8A-4147-A177-3AD203B41FA5}">
                      <a16:colId xmlns:a16="http://schemas.microsoft.com/office/drawing/2014/main" val="2179694530"/>
                    </a:ext>
                  </a:extLst>
                </a:gridCol>
                <a:gridCol w="6099958">
                  <a:extLst>
                    <a:ext uri="{9D8B030D-6E8A-4147-A177-3AD203B41FA5}">
                      <a16:colId xmlns:a16="http://schemas.microsoft.com/office/drawing/2014/main" val="2768207918"/>
                    </a:ext>
                  </a:extLst>
                </a:gridCol>
              </a:tblGrid>
              <a:tr h="465287">
                <a:tc>
                  <a:txBody>
                    <a:bodyPr/>
                    <a:lstStyle/>
                    <a:p>
                      <a:endParaRPr lang="en-US" dirty="0"/>
                    </a:p>
                  </a:txBody>
                  <a:tcPr>
                    <a:solidFill>
                      <a:srgbClr val="FF85FF"/>
                    </a:solidFill>
                  </a:tcPr>
                </a:tc>
                <a:tc>
                  <a:txBody>
                    <a:bodyPr/>
                    <a:lstStyle/>
                    <a:p>
                      <a:endParaRPr lang="en-US" dirty="0"/>
                    </a:p>
                  </a:txBody>
                  <a:tcPr>
                    <a:solidFill>
                      <a:srgbClr val="FFFF00"/>
                    </a:solidFill>
                  </a:tcPr>
                </a:tc>
                <a:extLst>
                  <a:ext uri="{0D108BD9-81ED-4DB2-BD59-A6C34878D82A}">
                    <a16:rowId xmlns:a16="http://schemas.microsoft.com/office/drawing/2014/main" val="1996944423"/>
                  </a:ext>
                </a:extLst>
              </a:tr>
            </a:tbl>
          </a:graphicData>
        </a:graphic>
      </p:graphicFrame>
      <p:graphicFrame>
        <p:nvGraphicFramePr>
          <p:cNvPr id="10" name="Table 9">
            <a:extLst>
              <a:ext uri="{FF2B5EF4-FFF2-40B4-BE49-F238E27FC236}">
                <a16:creationId xmlns:a16="http://schemas.microsoft.com/office/drawing/2014/main" id="{494BAFB7-FE1F-E1A9-7A6C-AB4145BD9BA1}"/>
              </a:ext>
            </a:extLst>
          </p:cNvPr>
          <p:cNvGraphicFramePr>
            <a:graphicFrameLocks noGrp="1"/>
          </p:cNvGraphicFramePr>
          <p:nvPr/>
        </p:nvGraphicFramePr>
        <p:xfrm>
          <a:off x="1" y="6478892"/>
          <a:ext cx="12191999" cy="370840"/>
        </p:xfrm>
        <a:graphic>
          <a:graphicData uri="http://schemas.openxmlformats.org/drawingml/2006/table">
            <a:tbl>
              <a:tblPr firstRow="1" bandRow="1">
                <a:tableStyleId>{5C22544A-7EE6-4342-B048-85BDC9FD1C3A}</a:tableStyleId>
              </a:tblPr>
              <a:tblGrid>
                <a:gridCol w="6080165">
                  <a:extLst>
                    <a:ext uri="{9D8B030D-6E8A-4147-A177-3AD203B41FA5}">
                      <a16:colId xmlns:a16="http://schemas.microsoft.com/office/drawing/2014/main" val="2179694530"/>
                    </a:ext>
                  </a:extLst>
                </a:gridCol>
                <a:gridCol w="6111834">
                  <a:extLst>
                    <a:ext uri="{9D8B030D-6E8A-4147-A177-3AD203B41FA5}">
                      <a16:colId xmlns:a16="http://schemas.microsoft.com/office/drawing/2014/main" val="2768207918"/>
                    </a:ext>
                  </a:extLst>
                </a:gridCol>
              </a:tblGrid>
              <a:tr h="370840">
                <a:tc>
                  <a:txBody>
                    <a:bodyPr/>
                    <a:lstStyle/>
                    <a:p>
                      <a:endParaRPr lang="en-US" dirty="0"/>
                    </a:p>
                  </a:txBody>
                  <a:tcPr>
                    <a:solidFill>
                      <a:srgbClr val="FFFF00"/>
                    </a:solidFill>
                  </a:tcPr>
                </a:tc>
                <a:tc>
                  <a:txBody>
                    <a:bodyPr/>
                    <a:lstStyle/>
                    <a:p>
                      <a:pPr algn="r"/>
                      <a:fld id="{0832CCF3-45B2-4C24-B2E3-DF7875A96810}" type="slidenum">
                        <a:rPr lang="en-US" smtClean="0">
                          <a:solidFill>
                            <a:schemeClr val="tx1"/>
                          </a:solidFill>
                        </a:rPr>
                        <a:t>20</a:t>
                      </a:fld>
                      <a:endParaRPr lang="en-US" dirty="0">
                        <a:solidFill>
                          <a:schemeClr val="tx1"/>
                        </a:solidFill>
                      </a:endParaRPr>
                    </a:p>
                  </a:txBody>
                  <a:tcPr>
                    <a:solidFill>
                      <a:srgbClr val="FF85FF"/>
                    </a:solidFill>
                  </a:tcPr>
                </a:tc>
                <a:extLst>
                  <a:ext uri="{0D108BD9-81ED-4DB2-BD59-A6C34878D82A}">
                    <a16:rowId xmlns:a16="http://schemas.microsoft.com/office/drawing/2014/main" val="1996944423"/>
                  </a:ext>
                </a:extLst>
              </a:tr>
            </a:tbl>
          </a:graphicData>
        </a:graphic>
      </p:graphicFrame>
      <p:pic>
        <p:nvPicPr>
          <p:cNvPr id="12" name="Google Shape;187;p25" descr="pngfind.com-kingpin-png-4152286 (1).png">
            <a:extLst>
              <a:ext uri="{FF2B5EF4-FFF2-40B4-BE49-F238E27FC236}">
                <a16:creationId xmlns:a16="http://schemas.microsoft.com/office/drawing/2014/main" id="{2DBF2481-A2DB-F96E-5749-B03DC4F71665}"/>
              </a:ext>
            </a:extLst>
          </p:cNvPr>
          <p:cNvPicPr preferRelativeResize="0"/>
          <p:nvPr/>
        </p:nvPicPr>
        <p:blipFill rotWithShape="1">
          <a:blip r:embed="rId2">
            <a:alphaModFix/>
          </a:blip>
          <a:srcRect/>
          <a:stretch/>
        </p:blipFill>
        <p:spPr>
          <a:xfrm>
            <a:off x="11044052" y="8268"/>
            <a:ext cx="1051261" cy="465287"/>
          </a:xfrm>
          <a:prstGeom prst="rect">
            <a:avLst/>
          </a:prstGeom>
          <a:noFill/>
          <a:ln>
            <a:noFill/>
          </a:ln>
        </p:spPr>
      </p:pic>
      <p:sp>
        <p:nvSpPr>
          <p:cNvPr id="19" name="Rectangle 18">
            <a:extLst>
              <a:ext uri="{FF2B5EF4-FFF2-40B4-BE49-F238E27FC236}">
                <a16:creationId xmlns:a16="http://schemas.microsoft.com/office/drawing/2014/main" id="{A0702E37-2E7E-7262-5E76-F69A817105B3}"/>
              </a:ext>
            </a:extLst>
          </p:cNvPr>
          <p:cNvSpPr/>
          <p:nvPr/>
        </p:nvSpPr>
        <p:spPr>
          <a:xfrm>
            <a:off x="0" y="8268"/>
            <a:ext cx="12192000" cy="6825920"/>
          </a:xfrm>
          <a:prstGeom prst="rect">
            <a:avLst/>
          </a:prstGeom>
          <a:noFill/>
          <a:ln w="38100">
            <a:solidFill>
              <a:srgbClr val="0432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DCB2A3F0-9003-5886-09B4-27925BBE4000}"/>
              </a:ext>
            </a:extLst>
          </p:cNvPr>
          <p:cNvSpPr txBox="1"/>
          <p:nvPr/>
        </p:nvSpPr>
        <p:spPr>
          <a:xfrm>
            <a:off x="1" y="708849"/>
            <a:ext cx="12191999" cy="646331"/>
          </a:xfrm>
          <a:prstGeom prst="rect">
            <a:avLst/>
          </a:prstGeom>
          <a:noFill/>
        </p:spPr>
        <p:txBody>
          <a:bodyPr wrap="square">
            <a:spAutoFit/>
          </a:bodyPr>
          <a:lstStyle/>
          <a:p>
            <a:pPr algn="ctr"/>
            <a:r>
              <a:rPr lang="en-US" sz="3600" b="1" dirty="0">
                <a:effectLst/>
                <a:latin typeface="Calibri" panose="020F0502020204030204" pitchFamily="34" charset="0"/>
                <a:ea typeface="Calibri" panose="020F0502020204030204" pitchFamily="34" charset="0"/>
                <a:cs typeface="Calibri" panose="020F0502020204030204" pitchFamily="34" charset="0"/>
              </a:rPr>
              <a:t>Characteristics of Unstructured Data</a:t>
            </a:r>
            <a:endParaRPr lang="en-GB" sz="8800" b="1" cap="none" spc="0" dirty="0">
              <a:ln w="0"/>
              <a:solidFill>
                <a:schemeClr val="tx1"/>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Calibri" panose="020F0502020204030204" pitchFamily="34" charset="0"/>
            </a:endParaRPr>
          </a:p>
        </p:txBody>
      </p:sp>
      <p:sp>
        <p:nvSpPr>
          <p:cNvPr id="5" name="TextBox 4">
            <a:extLst>
              <a:ext uri="{FF2B5EF4-FFF2-40B4-BE49-F238E27FC236}">
                <a16:creationId xmlns:a16="http://schemas.microsoft.com/office/drawing/2014/main" id="{57BF3EEF-553A-D37A-6EF6-B514AF07FC3C}"/>
              </a:ext>
            </a:extLst>
          </p:cNvPr>
          <p:cNvSpPr txBox="1"/>
          <p:nvPr/>
        </p:nvSpPr>
        <p:spPr>
          <a:xfrm>
            <a:off x="467138" y="1374672"/>
            <a:ext cx="5864088" cy="2957861"/>
          </a:xfrm>
          <a:prstGeom prst="rect">
            <a:avLst/>
          </a:prstGeom>
          <a:noFill/>
        </p:spPr>
        <p:txBody>
          <a:bodyPr wrap="square">
            <a:spAutoFit/>
          </a:bodyPr>
          <a:lstStyle/>
          <a:p>
            <a:pPr marL="342900" indent="-342900" algn="just">
              <a:lnSpc>
                <a:spcPct val="150000"/>
              </a:lnSpc>
              <a:buSzPts val="1800"/>
              <a:buFont typeface="+mj-lt"/>
              <a:buAutoNum type="arabicPeriod"/>
            </a:pPr>
            <a:r>
              <a:rPr lang="en-US" i="0" dirty="0">
                <a:solidFill>
                  <a:srgbClr val="273239"/>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There is no structural restriction or binding for the data.</a:t>
            </a:r>
          </a:p>
          <a:p>
            <a:pPr marL="342900" indent="-342900" algn="just">
              <a:lnSpc>
                <a:spcPct val="150000"/>
              </a:lnSpc>
              <a:buSzPts val="1800"/>
              <a:buFont typeface="+mj-lt"/>
              <a:buAutoNum type="arabicPeriod"/>
            </a:pPr>
            <a:r>
              <a:rPr lang="en-US" i="0" dirty="0">
                <a:solidFill>
                  <a:srgbClr val="273239"/>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Data can be of any type.</a:t>
            </a:r>
          </a:p>
          <a:p>
            <a:pPr marL="342900" indent="-342900" algn="just">
              <a:lnSpc>
                <a:spcPct val="150000"/>
              </a:lnSpc>
              <a:buSzPts val="1800"/>
              <a:buFont typeface="+mj-lt"/>
              <a:buAutoNum type="arabicPeriod"/>
            </a:pPr>
            <a:r>
              <a:rPr lang="en-US" i="0" dirty="0">
                <a:solidFill>
                  <a:srgbClr val="273239"/>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Unstructured data does not follow any structural rules.</a:t>
            </a:r>
          </a:p>
          <a:p>
            <a:pPr marL="342900" indent="-342900" algn="just">
              <a:lnSpc>
                <a:spcPct val="150000"/>
              </a:lnSpc>
              <a:buSzPts val="1800"/>
              <a:buFont typeface="+mj-lt"/>
              <a:buAutoNum type="arabicPeriod"/>
            </a:pPr>
            <a:r>
              <a:rPr lang="en-US" i="0" dirty="0">
                <a:solidFill>
                  <a:srgbClr val="273239"/>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There are no predefined formats, restriction or sequence for unstructured data.</a:t>
            </a:r>
          </a:p>
          <a:p>
            <a:pPr marL="342900" indent="-342900" algn="just">
              <a:lnSpc>
                <a:spcPct val="150000"/>
              </a:lnSpc>
              <a:buSzPts val="1800"/>
              <a:buFont typeface="+mj-lt"/>
              <a:buAutoNum type="arabicPeriod"/>
            </a:pPr>
            <a:r>
              <a:rPr lang="en-US" i="0" dirty="0">
                <a:solidFill>
                  <a:srgbClr val="273239"/>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Since there is no structural binding for unstructured data, it is unpredictable in nature.</a:t>
            </a:r>
          </a:p>
        </p:txBody>
      </p:sp>
      <p:pic>
        <p:nvPicPr>
          <p:cNvPr id="7" name="Picture 6">
            <a:extLst>
              <a:ext uri="{FF2B5EF4-FFF2-40B4-BE49-F238E27FC236}">
                <a16:creationId xmlns:a16="http://schemas.microsoft.com/office/drawing/2014/main" id="{6F6EDD74-DB3E-5D20-4E2D-586F4D33F4BC}"/>
              </a:ext>
            </a:extLst>
          </p:cNvPr>
          <p:cNvPicPr>
            <a:picLocks noChangeAspect="1"/>
          </p:cNvPicPr>
          <p:nvPr/>
        </p:nvPicPr>
        <p:blipFill>
          <a:blip r:embed="rId3"/>
          <a:stretch>
            <a:fillRect/>
          </a:stretch>
        </p:blipFill>
        <p:spPr>
          <a:xfrm>
            <a:off x="6538826" y="1472357"/>
            <a:ext cx="5288131" cy="4378572"/>
          </a:xfrm>
          <a:prstGeom prst="rect">
            <a:avLst/>
          </a:prstGeom>
        </p:spPr>
      </p:pic>
    </p:spTree>
    <p:extLst>
      <p:ext uri="{BB962C8B-B14F-4D97-AF65-F5344CB8AC3E}">
        <p14:creationId xmlns:p14="http://schemas.microsoft.com/office/powerpoint/2010/main" val="362674091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Table 8">
            <a:extLst>
              <a:ext uri="{FF2B5EF4-FFF2-40B4-BE49-F238E27FC236}">
                <a16:creationId xmlns:a16="http://schemas.microsoft.com/office/drawing/2014/main" id="{0B6EC464-4750-5FF3-7A5A-15612BA6E293}"/>
              </a:ext>
            </a:extLst>
          </p:cNvPr>
          <p:cNvGraphicFramePr>
            <a:graphicFrameLocks noGrp="1"/>
          </p:cNvGraphicFramePr>
          <p:nvPr/>
        </p:nvGraphicFramePr>
        <p:xfrm>
          <a:off x="0" y="23812"/>
          <a:ext cx="12192000" cy="465287"/>
        </p:xfrm>
        <a:graphic>
          <a:graphicData uri="http://schemas.openxmlformats.org/drawingml/2006/table">
            <a:tbl>
              <a:tblPr firstRow="1" bandRow="1">
                <a:tableStyleId>{5C22544A-7EE6-4342-B048-85BDC9FD1C3A}</a:tableStyleId>
              </a:tblPr>
              <a:tblGrid>
                <a:gridCol w="6092042">
                  <a:extLst>
                    <a:ext uri="{9D8B030D-6E8A-4147-A177-3AD203B41FA5}">
                      <a16:colId xmlns:a16="http://schemas.microsoft.com/office/drawing/2014/main" val="2179694530"/>
                    </a:ext>
                  </a:extLst>
                </a:gridCol>
                <a:gridCol w="6099958">
                  <a:extLst>
                    <a:ext uri="{9D8B030D-6E8A-4147-A177-3AD203B41FA5}">
                      <a16:colId xmlns:a16="http://schemas.microsoft.com/office/drawing/2014/main" val="2768207918"/>
                    </a:ext>
                  </a:extLst>
                </a:gridCol>
              </a:tblGrid>
              <a:tr h="465287">
                <a:tc>
                  <a:txBody>
                    <a:bodyPr/>
                    <a:lstStyle/>
                    <a:p>
                      <a:endParaRPr lang="en-US" dirty="0"/>
                    </a:p>
                  </a:txBody>
                  <a:tcPr>
                    <a:solidFill>
                      <a:srgbClr val="FF85FF"/>
                    </a:solidFill>
                  </a:tcPr>
                </a:tc>
                <a:tc>
                  <a:txBody>
                    <a:bodyPr/>
                    <a:lstStyle/>
                    <a:p>
                      <a:endParaRPr lang="en-US" dirty="0"/>
                    </a:p>
                  </a:txBody>
                  <a:tcPr>
                    <a:solidFill>
                      <a:srgbClr val="FFFF00"/>
                    </a:solidFill>
                  </a:tcPr>
                </a:tc>
                <a:extLst>
                  <a:ext uri="{0D108BD9-81ED-4DB2-BD59-A6C34878D82A}">
                    <a16:rowId xmlns:a16="http://schemas.microsoft.com/office/drawing/2014/main" val="1996944423"/>
                  </a:ext>
                </a:extLst>
              </a:tr>
            </a:tbl>
          </a:graphicData>
        </a:graphic>
      </p:graphicFrame>
      <p:graphicFrame>
        <p:nvGraphicFramePr>
          <p:cNvPr id="10" name="Table 9">
            <a:extLst>
              <a:ext uri="{FF2B5EF4-FFF2-40B4-BE49-F238E27FC236}">
                <a16:creationId xmlns:a16="http://schemas.microsoft.com/office/drawing/2014/main" id="{494BAFB7-FE1F-E1A9-7A6C-AB4145BD9BA1}"/>
              </a:ext>
            </a:extLst>
          </p:cNvPr>
          <p:cNvGraphicFramePr>
            <a:graphicFrameLocks noGrp="1"/>
          </p:cNvGraphicFramePr>
          <p:nvPr/>
        </p:nvGraphicFramePr>
        <p:xfrm>
          <a:off x="1" y="6478892"/>
          <a:ext cx="12191999" cy="370840"/>
        </p:xfrm>
        <a:graphic>
          <a:graphicData uri="http://schemas.openxmlformats.org/drawingml/2006/table">
            <a:tbl>
              <a:tblPr firstRow="1" bandRow="1">
                <a:tableStyleId>{5C22544A-7EE6-4342-B048-85BDC9FD1C3A}</a:tableStyleId>
              </a:tblPr>
              <a:tblGrid>
                <a:gridCol w="6080165">
                  <a:extLst>
                    <a:ext uri="{9D8B030D-6E8A-4147-A177-3AD203B41FA5}">
                      <a16:colId xmlns:a16="http://schemas.microsoft.com/office/drawing/2014/main" val="2179694530"/>
                    </a:ext>
                  </a:extLst>
                </a:gridCol>
                <a:gridCol w="6111834">
                  <a:extLst>
                    <a:ext uri="{9D8B030D-6E8A-4147-A177-3AD203B41FA5}">
                      <a16:colId xmlns:a16="http://schemas.microsoft.com/office/drawing/2014/main" val="2768207918"/>
                    </a:ext>
                  </a:extLst>
                </a:gridCol>
              </a:tblGrid>
              <a:tr h="370840">
                <a:tc>
                  <a:txBody>
                    <a:bodyPr/>
                    <a:lstStyle/>
                    <a:p>
                      <a:endParaRPr lang="en-US" dirty="0"/>
                    </a:p>
                  </a:txBody>
                  <a:tcPr>
                    <a:solidFill>
                      <a:srgbClr val="FFFF00"/>
                    </a:solidFill>
                  </a:tcPr>
                </a:tc>
                <a:tc>
                  <a:txBody>
                    <a:bodyPr/>
                    <a:lstStyle/>
                    <a:p>
                      <a:pPr algn="r"/>
                      <a:fld id="{9B936287-C66B-44CA-89FC-354F9580826B}" type="slidenum">
                        <a:rPr lang="en-US" smtClean="0">
                          <a:solidFill>
                            <a:schemeClr val="tx1"/>
                          </a:solidFill>
                        </a:rPr>
                        <a:t>21</a:t>
                      </a:fld>
                      <a:endParaRPr lang="en-US" dirty="0">
                        <a:solidFill>
                          <a:schemeClr val="tx1"/>
                        </a:solidFill>
                      </a:endParaRPr>
                    </a:p>
                  </a:txBody>
                  <a:tcPr>
                    <a:solidFill>
                      <a:srgbClr val="FF85FF"/>
                    </a:solidFill>
                  </a:tcPr>
                </a:tc>
                <a:extLst>
                  <a:ext uri="{0D108BD9-81ED-4DB2-BD59-A6C34878D82A}">
                    <a16:rowId xmlns:a16="http://schemas.microsoft.com/office/drawing/2014/main" val="1996944423"/>
                  </a:ext>
                </a:extLst>
              </a:tr>
            </a:tbl>
          </a:graphicData>
        </a:graphic>
      </p:graphicFrame>
      <p:pic>
        <p:nvPicPr>
          <p:cNvPr id="12" name="Google Shape;187;p25" descr="pngfind.com-kingpin-png-4152286 (1).png">
            <a:extLst>
              <a:ext uri="{FF2B5EF4-FFF2-40B4-BE49-F238E27FC236}">
                <a16:creationId xmlns:a16="http://schemas.microsoft.com/office/drawing/2014/main" id="{2DBF2481-A2DB-F96E-5749-B03DC4F71665}"/>
              </a:ext>
            </a:extLst>
          </p:cNvPr>
          <p:cNvPicPr preferRelativeResize="0"/>
          <p:nvPr/>
        </p:nvPicPr>
        <p:blipFill rotWithShape="1">
          <a:blip r:embed="rId2">
            <a:alphaModFix/>
          </a:blip>
          <a:srcRect/>
          <a:stretch/>
        </p:blipFill>
        <p:spPr>
          <a:xfrm>
            <a:off x="11044052" y="8268"/>
            <a:ext cx="1051261" cy="465287"/>
          </a:xfrm>
          <a:prstGeom prst="rect">
            <a:avLst/>
          </a:prstGeom>
          <a:noFill/>
          <a:ln>
            <a:noFill/>
          </a:ln>
        </p:spPr>
      </p:pic>
      <p:sp>
        <p:nvSpPr>
          <p:cNvPr id="19" name="Rectangle 18">
            <a:extLst>
              <a:ext uri="{FF2B5EF4-FFF2-40B4-BE49-F238E27FC236}">
                <a16:creationId xmlns:a16="http://schemas.microsoft.com/office/drawing/2014/main" id="{A0702E37-2E7E-7262-5E76-F69A817105B3}"/>
              </a:ext>
            </a:extLst>
          </p:cNvPr>
          <p:cNvSpPr/>
          <p:nvPr/>
        </p:nvSpPr>
        <p:spPr>
          <a:xfrm>
            <a:off x="0" y="8268"/>
            <a:ext cx="12192000" cy="6825920"/>
          </a:xfrm>
          <a:prstGeom prst="rect">
            <a:avLst/>
          </a:prstGeom>
          <a:noFill/>
          <a:ln w="38100">
            <a:solidFill>
              <a:srgbClr val="0432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DCB2A3F0-9003-5886-09B4-27925BBE4000}"/>
              </a:ext>
            </a:extLst>
          </p:cNvPr>
          <p:cNvSpPr txBox="1"/>
          <p:nvPr/>
        </p:nvSpPr>
        <p:spPr>
          <a:xfrm>
            <a:off x="-1" y="708849"/>
            <a:ext cx="12191999" cy="646331"/>
          </a:xfrm>
          <a:prstGeom prst="rect">
            <a:avLst/>
          </a:prstGeom>
          <a:noFill/>
        </p:spPr>
        <p:txBody>
          <a:bodyPr wrap="square">
            <a:spAutoFit/>
          </a:bodyPr>
          <a:lstStyle/>
          <a:p>
            <a:pPr algn="ctr"/>
            <a:r>
              <a:rPr lang="en-US" sz="3600" b="1" dirty="0">
                <a:effectLst/>
                <a:latin typeface="Calibri" panose="020F0502020204030204" pitchFamily="34" charset="0"/>
                <a:ea typeface="Calibri" panose="020F0502020204030204" pitchFamily="34" charset="0"/>
                <a:cs typeface="Calibri" panose="020F0502020204030204" pitchFamily="34" charset="0"/>
              </a:rPr>
              <a:t>Natural Language</a:t>
            </a:r>
            <a:endParaRPr lang="en-GB" sz="8800" b="1" cap="none" spc="0" dirty="0">
              <a:ln w="0"/>
              <a:solidFill>
                <a:schemeClr val="tx1"/>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Calibri" panose="020F0502020204030204" pitchFamily="34" charset="0"/>
            </a:endParaRPr>
          </a:p>
        </p:txBody>
      </p:sp>
      <p:sp>
        <p:nvSpPr>
          <p:cNvPr id="5" name="TextBox 4">
            <a:extLst>
              <a:ext uri="{FF2B5EF4-FFF2-40B4-BE49-F238E27FC236}">
                <a16:creationId xmlns:a16="http://schemas.microsoft.com/office/drawing/2014/main" id="{57BF3EEF-553A-D37A-6EF6-B514AF07FC3C}"/>
              </a:ext>
            </a:extLst>
          </p:cNvPr>
          <p:cNvSpPr txBox="1"/>
          <p:nvPr/>
        </p:nvSpPr>
        <p:spPr>
          <a:xfrm>
            <a:off x="477076" y="1445723"/>
            <a:ext cx="7533863" cy="4619854"/>
          </a:xfrm>
          <a:prstGeom prst="rect">
            <a:avLst/>
          </a:prstGeom>
          <a:noFill/>
        </p:spPr>
        <p:txBody>
          <a:bodyPr wrap="square">
            <a:spAutoFit/>
          </a:bodyPr>
          <a:lstStyle/>
          <a:p>
            <a:pPr marL="342900" indent="-342900" algn="just" fontAlgn="base">
              <a:lnSpc>
                <a:spcPct val="150000"/>
              </a:lnSpc>
              <a:buFont typeface="Arial" panose="020B0604020202020204" pitchFamily="34" charset="0"/>
              <a:buChar char="•"/>
            </a:pPr>
            <a:r>
              <a:rPr lang="en-US" b="1" i="0" dirty="0">
                <a:solidFill>
                  <a:srgbClr val="273239"/>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Natural language </a:t>
            </a:r>
            <a:r>
              <a:rPr lang="en-US" i="0" dirty="0">
                <a:solidFill>
                  <a:srgbClr val="273239"/>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is a special type of unstructured data. </a:t>
            </a:r>
          </a:p>
          <a:p>
            <a:pPr marL="342900" indent="-342900" algn="just" fontAlgn="base">
              <a:lnSpc>
                <a:spcPct val="150000"/>
              </a:lnSpc>
              <a:buFont typeface="Arial" panose="020B0604020202020204" pitchFamily="34" charset="0"/>
              <a:buChar char="•"/>
            </a:pPr>
            <a:r>
              <a:rPr lang="en-US" i="0" dirty="0">
                <a:solidFill>
                  <a:srgbClr val="273239"/>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Natural language processing enables machines to recognize characters, words and sentences, then apply meaning and understanding to that information. This helps machines to understand language as humans do.</a:t>
            </a:r>
          </a:p>
          <a:p>
            <a:pPr marL="342900" indent="-342900" algn="just" fontAlgn="base">
              <a:lnSpc>
                <a:spcPct val="150000"/>
              </a:lnSpc>
              <a:buFont typeface="Arial" panose="020B0604020202020204" pitchFamily="34" charset="0"/>
              <a:buChar char="•"/>
            </a:pPr>
            <a:r>
              <a:rPr lang="en-US" i="0" dirty="0">
                <a:solidFill>
                  <a:srgbClr val="273239"/>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The natural language processing community has had success in entity recognition, topic recognition, summarization, text completion and sentiment analysis.</a:t>
            </a:r>
          </a:p>
          <a:p>
            <a:pPr marL="342900" indent="-342900" algn="just" fontAlgn="base">
              <a:lnSpc>
                <a:spcPct val="150000"/>
              </a:lnSpc>
              <a:buFont typeface="Arial" panose="020B0604020202020204" pitchFamily="34" charset="0"/>
              <a:buChar char="•"/>
            </a:pPr>
            <a:r>
              <a:rPr lang="en-US" i="0" dirty="0">
                <a:solidFill>
                  <a:srgbClr val="273239"/>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For natural language processing to help machines understand human language, it must go through speech recognition, natural language understanding and machine translation. </a:t>
            </a:r>
          </a:p>
          <a:p>
            <a:pPr marL="342900" indent="-342900" algn="just" fontAlgn="base">
              <a:lnSpc>
                <a:spcPct val="150000"/>
              </a:lnSpc>
              <a:buFont typeface="Arial" panose="020B0604020202020204" pitchFamily="34" charset="0"/>
              <a:buChar char="•"/>
            </a:pPr>
            <a:r>
              <a:rPr lang="en-US" i="0" dirty="0">
                <a:solidFill>
                  <a:srgbClr val="273239"/>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It is an iterative process comprised of several layers of text analysis.</a:t>
            </a:r>
          </a:p>
        </p:txBody>
      </p:sp>
      <p:pic>
        <p:nvPicPr>
          <p:cNvPr id="2050" name="Picture 2" descr="Using natural language processing (NLP ...">
            <a:extLst>
              <a:ext uri="{FF2B5EF4-FFF2-40B4-BE49-F238E27FC236}">
                <a16:creationId xmlns:a16="http://schemas.microsoft.com/office/drawing/2014/main" id="{A92FA5D5-9563-963C-E0FD-3FB9D03A839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70105" y="2670469"/>
            <a:ext cx="3862728" cy="2170362"/>
          </a:xfrm>
          <a:prstGeom prst="rect">
            <a:avLst/>
          </a:prstGeom>
          <a:noFill/>
          <a:ln w="6350">
            <a:solidFill>
              <a:schemeClr val="tx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887583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Table 8">
            <a:extLst>
              <a:ext uri="{FF2B5EF4-FFF2-40B4-BE49-F238E27FC236}">
                <a16:creationId xmlns:a16="http://schemas.microsoft.com/office/drawing/2014/main" id="{0B6EC464-4750-5FF3-7A5A-15612BA6E293}"/>
              </a:ext>
            </a:extLst>
          </p:cNvPr>
          <p:cNvGraphicFramePr>
            <a:graphicFrameLocks noGrp="1"/>
          </p:cNvGraphicFramePr>
          <p:nvPr/>
        </p:nvGraphicFramePr>
        <p:xfrm>
          <a:off x="0" y="23812"/>
          <a:ext cx="12192000" cy="465287"/>
        </p:xfrm>
        <a:graphic>
          <a:graphicData uri="http://schemas.openxmlformats.org/drawingml/2006/table">
            <a:tbl>
              <a:tblPr firstRow="1" bandRow="1">
                <a:tableStyleId>{5C22544A-7EE6-4342-B048-85BDC9FD1C3A}</a:tableStyleId>
              </a:tblPr>
              <a:tblGrid>
                <a:gridCol w="6092042">
                  <a:extLst>
                    <a:ext uri="{9D8B030D-6E8A-4147-A177-3AD203B41FA5}">
                      <a16:colId xmlns:a16="http://schemas.microsoft.com/office/drawing/2014/main" val="2179694530"/>
                    </a:ext>
                  </a:extLst>
                </a:gridCol>
                <a:gridCol w="6099958">
                  <a:extLst>
                    <a:ext uri="{9D8B030D-6E8A-4147-A177-3AD203B41FA5}">
                      <a16:colId xmlns:a16="http://schemas.microsoft.com/office/drawing/2014/main" val="2768207918"/>
                    </a:ext>
                  </a:extLst>
                </a:gridCol>
              </a:tblGrid>
              <a:tr h="465287">
                <a:tc>
                  <a:txBody>
                    <a:bodyPr/>
                    <a:lstStyle/>
                    <a:p>
                      <a:endParaRPr lang="en-US" dirty="0"/>
                    </a:p>
                  </a:txBody>
                  <a:tcPr>
                    <a:solidFill>
                      <a:srgbClr val="FF85FF"/>
                    </a:solidFill>
                  </a:tcPr>
                </a:tc>
                <a:tc>
                  <a:txBody>
                    <a:bodyPr/>
                    <a:lstStyle/>
                    <a:p>
                      <a:endParaRPr lang="en-US" dirty="0"/>
                    </a:p>
                  </a:txBody>
                  <a:tcPr>
                    <a:solidFill>
                      <a:srgbClr val="FFFF00"/>
                    </a:solidFill>
                  </a:tcPr>
                </a:tc>
                <a:extLst>
                  <a:ext uri="{0D108BD9-81ED-4DB2-BD59-A6C34878D82A}">
                    <a16:rowId xmlns:a16="http://schemas.microsoft.com/office/drawing/2014/main" val="1996944423"/>
                  </a:ext>
                </a:extLst>
              </a:tr>
            </a:tbl>
          </a:graphicData>
        </a:graphic>
      </p:graphicFrame>
      <p:graphicFrame>
        <p:nvGraphicFramePr>
          <p:cNvPr id="10" name="Table 9">
            <a:extLst>
              <a:ext uri="{FF2B5EF4-FFF2-40B4-BE49-F238E27FC236}">
                <a16:creationId xmlns:a16="http://schemas.microsoft.com/office/drawing/2014/main" id="{494BAFB7-FE1F-E1A9-7A6C-AB4145BD9BA1}"/>
              </a:ext>
            </a:extLst>
          </p:cNvPr>
          <p:cNvGraphicFramePr>
            <a:graphicFrameLocks noGrp="1"/>
          </p:cNvGraphicFramePr>
          <p:nvPr/>
        </p:nvGraphicFramePr>
        <p:xfrm>
          <a:off x="1" y="6478892"/>
          <a:ext cx="12191999" cy="370840"/>
        </p:xfrm>
        <a:graphic>
          <a:graphicData uri="http://schemas.openxmlformats.org/drawingml/2006/table">
            <a:tbl>
              <a:tblPr firstRow="1" bandRow="1">
                <a:tableStyleId>{5C22544A-7EE6-4342-B048-85BDC9FD1C3A}</a:tableStyleId>
              </a:tblPr>
              <a:tblGrid>
                <a:gridCol w="6080165">
                  <a:extLst>
                    <a:ext uri="{9D8B030D-6E8A-4147-A177-3AD203B41FA5}">
                      <a16:colId xmlns:a16="http://schemas.microsoft.com/office/drawing/2014/main" val="2179694530"/>
                    </a:ext>
                  </a:extLst>
                </a:gridCol>
                <a:gridCol w="6111834">
                  <a:extLst>
                    <a:ext uri="{9D8B030D-6E8A-4147-A177-3AD203B41FA5}">
                      <a16:colId xmlns:a16="http://schemas.microsoft.com/office/drawing/2014/main" val="2768207918"/>
                    </a:ext>
                  </a:extLst>
                </a:gridCol>
              </a:tblGrid>
              <a:tr h="370840">
                <a:tc>
                  <a:txBody>
                    <a:bodyPr/>
                    <a:lstStyle/>
                    <a:p>
                      <a:endParaRPr lang="en-US" dirty="0"/>
                    </a:p>
                  </a:txBody>
                  <a:tcPr>
                    <a:solidFill>
                      <a:srgbClr val="FFFF00"/>
                    </a:solidFill>
                  </a:tcPr>
                </a:tc>
                <a:tc>
                  <a:txBody>
                    <a:bodyPr/>
                    <a:lstStyle/>
                    <a:p>
                      <a:pPr algn="r"/>
                      <a:fld id="{01C6B4F2-933D-4CCE-B3AC-9CE8DEB82DFC}" type="slidenum">
                        <a:rPr lang="en-US" smtClean="0">
                          <a:solidFill>
                            <a:schemeClr val="tx1"/>
                          </a:solidFill>
                        </a:rPr>
                        <a:t>22</a:t>
                      </a:fld>
                      <a:endParaRPr lang="en-US" dirty="0">
                        <a:solidFill>
                          <a:schemeClr val="tx1"/>
                        </a:solidFill>
                      </a:endParaRPr>
                    </a:p>
                  </a:txBody>
                  <a:tcPr>
                    <a:solidFill>
                      <a:srgbClr val="FF85FF"/>
                    </a:solidFill>
                  </a:tcPr>
                </a:tc>
                <a:extLst>
                  <a:ext uri="{0D108BD9-81ED-4DB2-BD59-A6C34878D82A}">
                    <a16:rowId xmlns:a16="http://schemas.microsoft.com/office/drawing/2014/main" val="1996944423"/>
                  </a:ext>
                </a:extLst>
              </a:tr>
            </a:tbl>
          </a:graphicData>
        </a:graphic>
      </p:graphicFrame>
      <p:pic>
        <p:nvPicPr>
          <p:cNvPr id="12" name="Google Shape;187;p25" descr="pngfind.com-kingpin-png-4152286 (1).png">
            <a:extLst>
              <a:ext uri="{FF2B5EF4-FFF2-40B4-BE49-F238E27FC236}">
                <a16:creationId xmlns:a16="http://schemas.microsoft.com/office/drawing/2014/main" id="{2DBF2481-A2DB-F96E-5749-B03DC4F71665}"/>
              </a:ext>
            </a:extLst>
          </p:cNvPr>
          <p:cNvPicPr preferRelativeResize="0"/>
          <p:nvPr/>
        </p:nvPicPr>
        <p:blipFill rotWithShape="1">
          <a:blip r:embed="rId2">
            <a:alphaModFix/>
          </a:blip>
          <a:srcRect/>
          <a:stretch/>
        </p:blipFill>
        <p:spPr>
          <a:xfrm>
            <a:off x="11044052" y="8268"/>
            <a:ext cx="1051261" cy="465287"/>
          </a:xfrm>
          <a:prstGeom prst="rect">
            <a:avLst/>
          </a:prstGeom>
          <a:noFill/>
          <a:ln>
            <a:noFill/>
          </a:ln>
        </p:spPr>
      </p:pic>
      <p:sp>
        <p:nvSpPr>
          <p:cNvPr id="19" name="Rectangle 18">
            <a:extLst>
              <a:ext uri="{FF2B5EF4-FFF2-40B4-BE49-F238E27FC236}">
                <a16:creationId xmlns:a16="http://schemas.microsoft.com/office/drawing/2014/main" id="{A0702E37-2E7E-7262-5E76-F69A817105B3}"/>
              </a:ext>
            </a:extLst>
          </p:cNvPr>
          <p:cNvSpPr/>
          <p:nvPr/>
        </p:nvSpPr>
        <p:spPr>
          <a:xfrm>
            <a:off x="0" y="8268"/>
            <a:ext cx="12192000" cy="6825920"/>
          </a:xfrm>
          <a:prstGeom prst="rect">
            <a:avLst/>
          </a:prstGeom>
          <a:noFill/>
          <a:ln w="38100">
            <a:solidFill>
              <a:srgbClr val="0432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DCB2A3F0-9003-5886-09B4-27925BBE4000}"/>
              </a:ext>
            </a:extLst>
          </p:cNvPr>
          <p:cNvSpPr txBox="1"/>
          <p:nvPr/>
        </p:nvSpPr>
        <p:spPr>
          <a:xfrm>
            <a:off x="1" y="708849"/>
            <a:ext cx="12191999" cy="646331"/>
          </a:xfrm>
          <a:prstGeom prst="rect">
            <a:avLst/>
          </a:prstGeom>
          <a:noFill/>
        </p:spPr>
        <p:txBody>
          <a:bodyPr wrap="square">
            <a:spAutoFit/>
          </a:bodyPr>
          <a:lstStyle/>
          <a:p>
            <a:pPr algn="ctr"/>
            <a:r>
              <a:rPr lang="en-US" sz="3600" b="1" dirty="0">
                <a:effectLst/>
                <a:latin typeface="Calibri" panose="020F0502020204030204" pitchFamily="34" charset="0"/>
                <a:ea typeface="Calibri" panose="020F0502020204030204" pitchFamily="34" charset="0"/>
                <a:cs typeface="Calibri" panose="020F0502020204030204" pitchFamily="34" charset="0"/>
              </a:rPr>
              <a:t>Machine Generated Data</a:t>
            </a:r>
            <a:endParaRPr lang="en-GB" sz="8800" b="1" cap="none" spc="0" dirty="0">
              <a:ln w="0"/>
              <a:solidFill>
                <a:schemeClr val="tx1"/>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Calibri" panose="020F0502020204030204" pitchFamily="34" charset="0"/>
            </a:endParaRPr>
          </a:p>
        </p:txBody>
      </p:sp>
      <p:sp>
        <p:nvSpPr>
          <p:cNvPr id="5" name="TextBox 4">
            <a:extLst>
              <a:ext uri="{FF2B5EF4-FFF2-40B4-BE49-F238E27FC236}">
                <a16:creationId xmlns:a16="http://schemas.microsoft.com/office/drawing/2014/main" id="{57BF3EEF-553A-D37A-6EF6-B514AF07FC3C}"/>
              </a:ext>
            </a:extLst>
          </p:cNvPr>
          <p:cNvSpPr txBox="1"/>
          <p:nvPr/>
        </p:nvSpPr>
        <p:spPr>
          <a:xfrm>
            <a:off x="477077" y="1355180"/>
            <a:ext cx="6450497" cy="4204356"/>
          </a:xfrm>
          <a:prstGeom prst="rect">
            <a:avLst/>
          </a:prstGeom>
          <a:noFill/>
        </p:spPr>
        <p:txBody>
          <a:bodyPr wrap="square">
            <a:spAutoFit/>
          </a:bodyPr>
          <a:lstStyle/>
          <a:p>
            <a:pPr marL="342900" indent="-342900" algn="just" fontAlgn="base">
              <a:lnSpc>
                <a:spcPct val="150000"/>
              </a:lnSpc>
              <a:buFont typeface="Arial" panose="020B0604020202020204" pitchFamily="34" charset="0"/>
              <a:buChar char="•"/>
            </a:pPr>
            <a:r>
              <a:rPr lang="en-US" b="1" i="0" dirty="0">
                <a:solidFill>
                  <a:srgbClr val="273239"/>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Machine-generated data </a:t>
            </a:r>
            <a:r>
              <a:rPr lang="en-US" i="0" dirty="0">
                <a:solidFill>
                  <a:srgbClr val="273239"/>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is an information that is created without human interaction as a result of a computer process or application activity. </a:t>
            </a:r>
          </a:p>
          <a:p>
            <a:pPr marL="342900" indent="-342900" algn="just" fontAlgn="base">
              <a:lnSpc>
                <a:spcPct val="150000"/>
              </a:lnSpc>
              <a:buFont typeface="Arial" panose="020B0604020202020204" pitchFamily="34" charset="0"/>
              <a:buChar char="•"/>
            </a:pPr>
            <a:r>
              <a:rPr lang="en-US" i="0" dirty="0">
                <a:solidFill>
                  <a:srgbClr val="273239"/>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This means that data entered manually by an end-user is not recognized to be machine-generated.</a:t>
            </a:r>
          </a:p>
          <a:p>
            <a:pPr marL="342900" indent="-342900" algn="just" fontAlgn="base">
              <a:lnSpc>
                <a:spcPct val="150000"/>
              </a:lnSpc>
              <a:buFont typeface="Arial" panose="020B0604020202020204" pitchFamily="34" charset="0"/>
              <a:buChar char="•"/>
            </a:pPr>
            <a:r>
              <a:rPr lang="en-US" i="0" dirty="0">
                <a:solidFill>
                  <a:srgbClr val="273239"/>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Machine data contains a definitive record of all activity and behavior of our customers, users, transactions, applications, servers, networks, factory machinery and so on.</a:t>
            </a:r>
          </a:p>
          <a:p>
            <a:pPr marL="342900" indent="-342900" algn="just" fontAlgn="base">
              <a:lnSpc>
                <a:spcPct val="150000"/>
              </a:lnSpc>
              <a:buFont typeface="Arial" panose="020B0604020202020204" pitchFamily="34" charset="0"/>
              <a:buChar char="•"/>
            </a:pPr>
            <a:r>
              <a:rPr lang="en-US" i="0" dirty="0">
                <a:solidFill>
                  <a:srgbClr val="273239"/>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Examples of machine data are web server logs, call detail records, sensor data, network event logs and telemetry.</a:t>
            </a:r>
          </a:p>
        </p:txBody>
      </p:sp>
      <p:pic>
        <p:nvPicPr>
          <p:cNvPr id="6" name="Picture 5">
            <a:extLst>
              <a:ext uri="{FF2B5EF4-FFF2-40B4-BE49-F238E27FC236}">
                <a16:creationId xmlns:a16="http://schemas.microsoft.com/office/drawing/2014/main" id="{AC03BCA3-D2F9-2E3A-9264-FFF7658BCCAF}"/>
              </a:ext>
            </a:extLst>
          </p:cNvPr>
          <p:cNvPicPr>
            <a:picLocks noChangeAspect="1"/>
          </p:cNvPicPr>
          <p:nvPr/>
        </p:nvPicPr>
        <p:blipFill>
          <a:blip r:embed="rId3"/>
          <a:stretch>
            <a:fillRect/>
          </a:stretch>
        </p:blipFill>
        <p:spPr>
          <a:xfrm>
            <a:off x="7016508" y="2274536"/>
            <a:ext cx="4962447" cy="2767338"/>
          </a:xfrm>
          <a:prstGeom prst="rect">
            <a:avLst/>
          </a:prstGeom>
          <a:ln w="6350">
            <a:solidFill>
              <a:schemeClr val="tx1"/>
            </a:solidFill>
          </a:ln>
        </p:spPr>
      </p:pic>
    </p:spTree>
    <p:extLst>
      <p:ext uri="{BB962C8B-B14F-4D97-AF65-F5344CB8AC3E}">
        <p14:creationId xmlns:p14="http://schemas.microsoft.com/office/powerpoint/2010/main" val="9707304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Table 8">
            <a:extLst>
              <a:ext uri="{FF2B5EF4-FFF2-40B4-BE49-F238E27FC236}">
                <a16:creationId xmlns:a16="http://schemas.microsoft.com/office/drawing/2014/main" id="{0B6EC464-4750-5FF3-7A5A-15612BA6E293}"/>
              </a:ext>
            </a:extLst>
          </p:cNvPr>
          <p:cNvGraphicFramePr>
            <a:graphicFrameLocks noGrp="1"/>
          </p:cNvGraphicFramePr>
          <p:nvPr/>
        </p:nvGraphicFramePr>
        <p:xfrm>
          <a:off x="0" y="23812"/>
          <a:ext cx="12192000" cy="465287"/>
        </p:xfrm>
        <a:graphic>
          <a:graphicData uri="http://schemas.openxmlformats.org/drawingml/2006/table">
            <a:tbl>
              <a:tblPr firstRow="1" bandRow="1">
                <a:tableStyleId>{5C22544A-7EE6-4342-B048-85BDC9FD1C3A}</a:tableStyleId>
              </a:tblPr>
              <a:tblGrid>
                <a:gridCol w="6092042">
                  <a:extLst>
                    <a:ext uri="{9D8B030D-6E8A-4147-A177-3AD203B41FA5}">
                      <a16:colId xmlns:a16="http://schemas.microsoft.com/office/drawing/2014/main" val="2179694530"/>
                    </a:ext>
                  </a:extLst>
                </a:gridCol>
                <a:gridCol w="6099958">
                  <a:extLst>
                    <a:ext uri="{9D8B030D-6E8A-4147-A177-3AD203B41FA5}">
                      <a16:colId xmlns:a16="http://schemas.microsoft.com/office/drawing/2014/main" val="2768207918"/>
                    </a:ext>
                  </a:extLst>
                </a:gridCol>
              </a:tblGrid>
              <a:tr h="465287">
                <a:tc>
                  <a:txBody>
                    <a:bodyPr/>
                    <a:lstStyle/>
                    <a:p>
                      <a:endParaRPr lang="en-US" dirty="0"/>
                    </a:p>
                  </a:txBody>
                  <a:tcPr>
                    <a:solidFill>
                      <a:srgbClr val="FF85FF"/>
                    </a:solidFill>
                  </a:tcPr>
                </a:tc>
                <a:tc>
                  <a:txBody>
                    <a:bodyPr/>
                    <a:lstStyle/>
                    <a:p>
                      <a:endParaRPr lang="en-US" dirty="0"/>
                    </a:p>
                  </a:txBody>
                  <a:tcPr>
                    <a:solidFill>
                      <a:srgbClr val="FFFF00"/>
                    </a:solidFill>
                  </a:tcPr>
                </a:tc>
                <a:extLst>
                  <a:ext uri="{0D108BD9-81ED-4DB2-BD59-A6C34878D82A}">
                    <a16:rowId xmlns:a16="http://schemas.microsoft.com/office/drawing/2014/main" val="1996944423"/>
                  </a:ext>
                </a:extLst>
              </a:tr>
            </a:tbl>
          </a:graphicData>
        </a:graphic>
      </p:graphicFrame>
      <p:graphicFrame>
        <p:nvGraphicFramePr>
          <p:cNvPr id="10" name="Table 9">
            <a:extLst>
              <a:ext uri="{FF2B5EF4-FFF2-40B4-BE49-F238E27FC236}">
                <a16:creationId xmlns:a16="http://schemas.microsoft.com/office/drawing/2014/main" id="{494BAFB7-FE1F-E1A9-7A6C-AB4145BD9BA1}"/>
              </a:ext>
            </a:extLst>
          </p:cNvPr>
          <p:cNvGraphicFramePr>
            <a:graphicFrameLocks noGrp="1"/>
          </p:cNvGraphicFramePr>
          <p:nvPr/>
        </p:nvGraphicFramePr>
        <p:xfrm>
          <a:off x="1" y="6478892"/>
          <a:ext cx="12191999" cy="370840"/>
        </p:xfrm>
        <a:graphic>
          <a:graphicData uri="http://schemas.openxmlformats.org/drawingml/2006/table">
            <a:tbl>
              <a:tblPr firstRow="1" bandRow="1">
                <a:tableStyleId>{5C22544A-7EE6-4342-B048-85BDC9FD1C3A}</a:tableStyleId>
              </a:tblPr>
              <a:tblGrid>
                <a:gridCol w="6080165">
                  <a:extLst>
                    <a:ext uri="{9D8B030D-6E8A-4147-A177-3AD203B41FA5}">
                      <a16:colId xmlns:a16="http://schemas.microsoft.com/office/drawing/2014/main" val="2179694530"/>
                    </a:ext>
                  </a:extLst>
                </a:gridCol>
                <a:gridCol w="6111834">
                  <a:extLst>
                    <a:ext uri="{9D8B030D-6E8A-4147-A177-3AD203B41FA5}">
                      <a16:colId xmlns:a16="http://schemas.microsoft.com/office/drawing/2014/main" val="2768207918"/>
                    </a:ext>
                  </a:extLst>
                </a:gridCol>
              </a:tblGrid>
              <a:tr h="370840">
                <a:tc>
                  <a:txBody>
                    <a:bodyPr/>
                    <a:lstStyle/>
                    <a:p>
                      <a:endParaRPr lang="en-US" dirty="0"/>
                    </a:p>
                  </a:txBody>
                  <a:tcPr>
                    <a:solidFill>
                      <a:srgbClr val="FFFF00"/>
                    </a:solidFill>
                  </a:tcPr>
                </a:tc>
                <a:tc>
                  <a:txBody>
                    <a:bodyPr/>
                    <a:lstStyle/>
                    <a:p>
                      <a:pPr algn="r"/>
                      <a:fld id="{CFE5E3BE-EE29-401D-B4CD-151EFFA39DA2}" type="slidenum">
                        <a:rPr lang="en-US" smtClean="0">
                          <a:solidFill>
                            <a:schemeClr val="tx1"/>
                          </a:solidFill>
                        </a:rPr>
                        <a:t>23</a:t>
                      </a:fld>
                      <a:endParaRPr lang="en-US" dirty="0">
                        <a:solidFill>
                          <a:schemeClr val="tx1"/>
                        </a:solidFill>
                      </a:endParaRPr>
                    </a:p>
                  </a:txBody>
                  <a:tcPr>
                    <a:solidFill>
                      <a:srgbClr val="FF85FF"/>
                    </a:solidFill>
                  </a:tcPr>
                </a:tc>
                <a:extLst>
                  <a:ext uri="{0D108BD9-81ED-4DB2-BD59-A6C34878D82A}">
                    <a16:rowId xmlns:a16="http://schemas.microsoft.com/office/drawing/2014/main" val="1996944423"/>
                  </a:ext>
                </a:extLst>
              </a:tr>
            </a:tbl>
          </a:graphicData>
        </a:graphic>
      </p:graphicFrame>
      <p:pic>
        <p:nvPicPr>
          <p:cNvPr id="12" name="Google Shape;187;p25" descr="pngfind.com-kingpin-png-4152286 (1).png">
            <a:extLst>
              <a:ext uri="{FF2B5EF4-FFF2-40B4-BE49-F238E27FC236}">
                <a16:creationId xmlns:a16="http://schemas.microsoft.com/office/drawing/2014/main" id="{2DBF2481-A2DB-F96E-5749-B03DC4F71665}"/>
              </a:ext>
            </a:extLst>
          </p:cNvPr>
          <p:cNvPicPr preferRelativeResize="0"/>
          <p:nvPr/>
        </p:nvPicPr>
        <p:blipFill rotWithShape="1">
          <a:blip r:embed="rId2">
            <a:alphaModFix/>
          </a:blip>
          <a:srcRect/>
          <a:stretch/>
        </p:blipFill>
        <p:spPr>
          <a:xfrm>
            <a:off x="11044052" y="8268"/>
            <a:ext cx="1051261" cy="465287"/>
          </a:xfrm>
          <a:prstGeom prst="rect">
            <a:avLst/>
          </a:prstGeom>
          <a:noFill/>
          <a:ln>
            <a:noFill/>
          </a:ln>
        </p:spPr>
      </p:pic>
      <p:sp>
        <p:nvSpPr>
          <p:cNvPr id="19" name="Rectangle 18">
            <a:extLst>
              <a:ext uri="{FF2B5EF4-FFF2-40B4-BE49-F238E27FC236}">
                <a16:creationId xmlns:a16="http://schemas.microsoft.com/office/drawing/2014/main" id="{A0702E37-2E7E-7262-5E76-F69A817105B3}"/>
              </a:ext>
            </a:extLst>
          </p:cNvPr>
          <p:cNvSpPr/>
          <p:nvPr/>
        </p:nvSpPr>
        <p:spPr>
          <a:xfrm>
            <a:off x="0" y="8268"/>
            <a:ext cx="12192000" cy="6825920"/>
          </a:xfrm>
          <a:prstGeom prst="rect">
            <a:avLst/>
          </a:prstGeom>
          <a:noFill/>
          <a:ln w="38100">
            <a:solidFill>
              <a:srgbClr val="0432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DCB2A3F0-9003-5886-09B4-27925BBE4000}"/>
              </a:ext>
            </a:extLst>
          </p:cNvPr>
          <p:cNvSpPr txBox="1"/>
          <p:nvPr/>
        </p:nvSpPr>
        <p:spPr>
          <a:xfrm>
            <a:off x="109330" y="708849"/>
            <a:ext cx="12191999" cy="646331"/>
          </a:xfrm>
          <a:prstGeom prst="rect">
            <a:avLst/>
          </a:prstGeom>
          <a:noFill/>
        </p:spPr>
        <p:txBody>
          <a:bodyPr wrap="square">
            <a:spAutoFit/>
          </a:bodyPr>
          <a:lstStyle/>
          <a:p>
            <a:pPr marL="0" algn="ctr" rtl="0" eaLnBrk="1" latinLnBrk="0" hangingPunct="1">
              <a:spcBef>
                <a:spcPts val="0"/>
              </a:spcBef>
              <a:spcAft>
                <a:spcPts val="0"/>
              </a:spcAft>
            </a:pPr>
            <a:r>
              <a:rPr lang="en-US" sz="3600" b="1" kern="1200" dirty="0">
                <a:solidFill>
                  <a:srgbClr val="000000"/>
                </a:solidFill>
                <a:effectLst/>
                <a:latin typeface="Calibri" panose="020F0502020204030204" pitchFamily="34" charset="0"/>
                <a:ea typeface="+mn-ea"/>
                <a:cs typeface="Calibri" panose="020F0502020204030204" pitchFamily="34" charset="0"/>
              </a:rPr>
              <a:t>Graph-based data</a:t>
            </a:r>
            <a:endParaRPr lang="en-IN" sz="6000" dirty="0">
              <a:effectLst/>
            </a:endParaRPr>
          </a:p>
        </p:txBody>
      </p:sp>
      <p:sp>
        <p:nvSpPr>
          <p:cNvPr id="5" name="TextBox 4">
            <a:extLst>
              <a:ext uri="{FF2B5EF4-FFF2-40B4-BE49-F238E27FC236}">
                <a16:creationId xmlns:a16="http://schemas.microsoft.com/office/drawing/2014/main" id="{57BF3EEF-553A-D37A-6EF6-B514AF07FC3C}"/>
              </a:ext>
            </a:extLst>
          </p:cNvPr>
          <p:cNvSpPr txBox="1"/>
          <p:nvPr/>
        </p:nvSpPr>
        <p:spPr>
          <a:xfrm>
            <a:off x="341243" y="1413822"/>
            <a:ext cx="11509514" cy="3373359"/>
          </a:xfrm>
          <a:prstGeom prst="rect">
            <a:avLst/>
          </a:prstGeom>
          <a:noFill/>
        </p:spPr>
        <p:txBody>
          <a:bodyPr wrap="square">
            <a:spAutoFit/>
          </a:bodyPr>
          <a:lstStyle/>
          <a:p>
            <a:pPr marL="285750" indent="-285750" algn="just" fontAlgn="base">
              <a:lnSpc>
                <a:spcPct val="150000"/>
              </a:lnSpc>
              <a:buFont typeface="Arial" panose="020B0604020202020204" pitchFamily="34" charset="0"/>
              <a:buChar char="•"/>
            </a:pPr>
            <a:r>
              <a:rPr lang="en-US" b="0" i="0" dirty="0">
                <a:solidFill>
                  <a:srgbClr val="273239"/>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A </a:t>
            </a:r>
            <a:r>
              <a:rPr lang="en-US" b="1" i="0" dirty="0">
                <a:solidFill>
                  <a:srgbClr val="273239"/>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graph</a:t>
            </a:r>
            <a:r>
              <a:rPr lang="en-US" b="0" i="0" dirty="0">
                <a:solidFill>
                  <a:srgbClr val="273239"/>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 contains a collection of entities called nodes and another collection of interactions between a pair of nodes called edges. </a:t>
            </a:r>
            <a:r>
              <a:rPr lang="en-US" i="0" dirty="0">
                <a:solidFill>
                  <a:srgbClr val="273239"/>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Nodes</a:t>
            </a:r>
            <a:r>
              <a:rPr lang="en-US" b="0" i="0" dirty="0">
                <a:solidFill>
                  <a:srgbClr val="273239"/>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 represent entities, which can be of any object type that is relevant to our problem domain. </a:t>
            </a:r>
          </a:p>
          <a:p>
            <a:pPr marL="285750" indent="-285750" algn="just" fontAlgn="base">
              <a:lnSpc>
                <a:spcPct val="150000"/>
              </a:lnSpc>
              <a:buFont typeface="Arial" panose="020B0604020202020204" pitchFamily="34" charset="0"/>
              <a:buChar char="•"/>
            </a:pPr>
            <a:r>
              <a:rPr lang="en-US" b="0" i="0" dirty="0">
                <a:solidFill>
                  <a:srgbClr val="273239"/>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A graph database stores nodes and relationships instead of tables or documents.</a:t>
            </a:r>
          </a:p>
          <a:p>
            <a:pPr marL="285750" indent="-285750" algn="just" fontAlgn="base">
              <a:lnSpc>
                <a:spcPct val="150000"/>
              </a:lnSpc>
              <a:buFont typeface="Arial" panose="020B0604020202020204" pitchFamily="34" charset="0"/>
              <a:buChar char="•"/>
            </a:pPr>
            <a:r>
              <a:rPr lang="en-US" sz="1800" b="0" i="0" dirty="0">
                <a:solidFill>
                  <a:srgbClr val="000000"/>
                </a:solidFill>
                <a:effectLst/>
                <a:latin typeface="NewBaskerville-Roman"/>
              </a:rPr>
              <a:t>Examples of graph-based data can be found on many social media websites. </a:t>
            </a:r>
          </a:p>
          <a:p>
            <a:pPr marL="285750" indent="-285750" algn="just" fontAlgn="base">
              <a:lnSpc>
                <a:spcPct val="150000"/>
              </a:lnSpc>
              <a:buFont typeface="Arial" panose="020B0604020202020204" pitchFamily="34" charset="0"/>
              <a:buChar char="•"/>
            </a:pPr>
            <a:r>
              <a:rPr lang="en-US" sz="1800" b="0" i="0" dirty="0">
                <a:solidFill>
                  <a:srgbClr val="000000"/>
                </a:solidFill>
                <a:effectLst/>
                <a:latin typeface="NewBaskerville-Roman"/>
              </a:rPr>
              <a:t>For instance, on LinkedIn you can see who you know at which company. Your follower list on Twitter is another example of graph-based data.</a:t>
            </a:r>
          </a:p>
          <a:p>
            <a:pPr marL="285750" indent="-285750" algn="just" fontAlgn="base">
              <a:lnSpc>
                <a:spcPct val="150000"/>
              </a:lnSpc>
              <a:buFont typeface="Arial" panose="020B0604020202020204" pitchFamily="34" charset="0"/>
              <a:buChar char="•"/>
            </a:pPr>
            <a:r>
              <a:rPr lang="en-US" sz="1800" b="0" i="0" dirty="0">
                <a:solidFill>
                  <a:srgbClr val="000000"/>
                </a:solidFill>
                <a:effectLst/>
                <a:latin typeface="NewBaskerville-Roman"/>
              </a:rPr>
              <a:t> </a:t>
            </a:r>
            <a:br>
              <a:rPr lang="en-US" dirty="0"/>
            </a:br>
            <a:endParaRPr lang="en-US" b="0" i="0" dirty="0">
              <a:solidFill>
                <a:srgbClr val="273239"/>
              </a:solidFill>
              <a:effectLst/>
              <a:highlight>
                <a:srgbClr val="FFFFFF"/>
              </a:highlight>
              <a:latin typeface="Calibri" panose="020F0502020204030204" pitchFamily="34" charset="0"/>
              <a:ea typeface="Calibri" panose="020F0502020204030204" pitchFamily="34" charset="0"/>
              <a:cs typeface="Calibri" panose="020F0502020204030204" pitchFamily="34" charset="0"/>
            </a:endParaRPr>
          </a:p>
        </p:txBody>
      </p:sp>
      <p:pic>
        <p:nvPicPr>
          <p:cNvPr id="7" name="Picture 6">
            <a:extLst>
              <a:ext uri="{FF2B5EF4-FFF2-40B4-BE49-F238E27FC236}">
                <a16:creationId xmlns:a16="http://schemas.microsoft.com/office/drawing/2014/main" id="{DFD4836B-5842-BC7B-2D88-4D200F170C74}"/>
              </a:ext>
            </a:extLst>
          </p:cNvPr>
          <p:cNvPicPr>
            <a:picLocks noChangeAspect="1"/>
          </p:cNvPicPr>
          <p:nvPr/>
        </p:nvPicPr>
        <p:blipFill>
          <a:blip r:embed="rId3"/>
          <a:stretch>
            <a:fillRect/>
          </a:stretch>
        </p:blipFill>
        <p:spPr>
          <a:xfrm>
            <a:off x="3940242" y="4002209"/>
            <a:ext cx="4733185" cy="2279321"/>
          </a:xfrm>
          <a:prstGeom prst="rect">
            <a:avLst/>
          </a:prstGeom>
          <a:ln w="6350">
            <a:solidFill>
              <a:schemeClr val="tx1"/>
            </a:solidFill>
          </a:ln>
        </p:spPr>
      </p:pic>
    </p:spTree>
    <p:extLst>
      <p:ext uri="{BB962C8B-B14F-4D97-AF65-F5344CB8AC3E}">
        <p14:creationId xmlns:p14="http://schemas.microsoft.com/office/powerpoint/2010/main" val="250164160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Table 8">
            <a:extLst>
              <a:ext uri="{FF2B5EF4-FFF2-40B4-BE49-F238E27FC236}">
                <a16:creationId xmlns:a16="http://schemas.microsoft.com/office/drawing/2014/main" id="{0B6EC464-4750-5FF3-7A5A-15612BA6E293}"/>
              </a:ext>
            </a:extLst>
          </p:cNvPr>
          <p:cNvGraphicFramePr>
            <a:graphicFrameLocks noGrp="1"/>
          </p:cNvGraphicFramePr>
          <p:nvPr/>
        </p:nvGraphicFramePr>
        <p:xfrm>
          <a:off x="0" y="23812"/>
          <a:ext cx="12192000" cy="465287"/>
        </p:xfrm>
        <a:graphic>
          <a:graphicData uri="http://schemas.openxmlformats.org/drawingml/2006/table">
            <a:tbl>
              <a:tblPr firstRow="1" bandRow="1">
                <a:tableStyleId>{5C22544A-7EE6-4342-B048-85BDC9FD1C3A}</a:tableStyleId>
              </a:tblPr>
              <a:tblGrid>
                <a:gridCol w="6092042">
                  <a:extLst>
                    <a:ext uri="{9D8B030D-6E8A-4147-A177-3AD203B41FA5}">
                      <a16:colId xmlns:a16="http://schemas.microsoft.com/office/drawing/2014/main" val="2179694530"/>
                    </a:ext>
                  </a:extLst>
                </a:gridCol>
                <a:gridCol w="6099958">
                  <a:extLst>
                    <a:ext uri="{9D8B030D-6E8A-4147-A177-3AD203B41FA5}">
                      <a16:colId xmlns:a16="http://schemas.microsoft.com/office/drawing/2014/main" val="2768207918"/>
                    </a:ext>
                  </a:extLst>
                </a:gridCol>
              </a:tblGrid>
              <a:tr h="465287">
                <a:tc>
                  <a:txBody>
                    <a:bodyPr/>
                    <a:lstStyle/>
                    <a:p>
                      <a:endParaRPr lang="en-US" dirty="0"/>
                    </a:p>
                  </a:txBody>
                  <a:tcPr>
                    <a:solidFill>
                      <a:srgbClr val="FF85FF"/>
                    </a:solidFill>
                  </a:tcPr>
                </a:tc>
                <a:tc>
                  <a:txBody>
                    <a:bodyPr/>
                    <a:lstStyle/>
                    <a:p>
                      <a:endParaRPr lang="en-US" dirty="0"/>
                    </a:p>
                  </a:txBody>
                  <a:tcPr>
                    <a:solidFill>
                      <a:srgbClr val="FFFF00"/>
                    </a:solidFill>
                  </a:tcPr>
                </a:tc>
                <a:extLst>
                  <a:ext uri="{0D108BD9-81ED-4DB2-BD59-A6C34878D82A}">
                    <a16:rowId xmlns:a16="http://schemas.microsoft.com/office/drawing/2014/main" val="1996944423"/>
                  </a:ext>
                </a:extLst>
              </a:tr>
            </a:tbl>
          </a:graphicData>
        </a:graphic>
      </p:graphicFrame>
      <p:graphicFrame>
        <p:nvGraphicFramePr>
          <p:cNvPr id="10" name="Table 9">
            <a:extLst>
              <a:ext uri="{FF2B5EF4-FFF2-40B4-BE49-F238E27FC236}">
                <a16:creationId xmlns:a16="http://schemas.microsoft.com/office/drawing/2014/main" id="{494BAFB7-FE1F-E1A9-7A6C-AB4145BD9BA1}"/>
              </a:ext>
            </a:extLst>
          </p:cNvPr>
          <p:cNvGraphicFramePr>
            <a:graphicFrameLocks noGrp="1"/>
          </p:cNvGraphicFramePr>
          <p:nvPr/>
        </p:nvGraphicFramePr>
        <p:xfrm>
          <a:off x="1" y="6478892"/>
          <a:ext cx="12191999" cy="370840"/>
        </p:xfrm>
        <a:graphic>
          <a:graphicData uri="http://schemas.openxmlformats.org/drawingml/2006/table">
            <a:tbl>
              <a:tblPr firstRow="1" bandRow="1">
                <a:tableStyleId>{5C22544A-7EE6-4342-B048-85BDC9FD1C3A}</a:tableStyleId>
              </a:tblPr>
              <a:tblGrid>
                <a:gridCol w="6080165">
                  <a:extLst>
                    <a:ext uri="{9D8B030D-6E8A-4147-A177-3AD203B41FA5}">
                      <a16:colId xmlns:a16="http://schemas.microsoft.com/office/drawing/2014/main" val="2179694530"/>
                    </a:ext>
                  </a:extLst>
                </a:gridCol>
                <a:gridCol w="6111834">
                  <a:extLst>
                    <a:ext uri="{9D8B030D-6E8A-4147-A177-3AD203B41FA5}">
                      <a16:colId xmlns:a16="http://schemas.microsoft.com/office/drawing/2014/main" val="2768207918"/>
                    </a:ext>
                  </a:extLst>
                </a:gridCol>
              </a:tblGrid>
              <a:tr h="370840">
                <a:tc>
                  <a:txBody>
                    <a:bodyPr/>
                    <a:lstStyle/>
                    <a:p>
                      <a:endParaRPr lang="en-US" dirty="0"/>
                    </a:p>
                  </a:txBody>
                  <a:tcPr>
                    <a:solidFill>
                      <a:srgbClr val="FFFF00"/>
                    </a:solidFill>
                  </a:tcPr>
                </a:tc>
                <a:tc>
                  <a:txBody>
                    <a:bodyPr/>
                    <a:lstStyle/>
                    <a:p>
                      <a:pPr algn="r"/>
                      <a:fld id="{CFE5E3BE-EE29-401D-B4CD-151EFFA39DA2}" type="slidenum">
                        <a:rPr lang="en-US" smtClean="0">
                          <a:solidFill>
                            <a:schemeClr val="tx1"/>
                          </a:solidFill>
                        </a:rPr>
                        <a:t>24</a:t>
                      </a:fld>
                      <a:endParaRPr lang="en-US" dirty="0">
                        <a:solidFill>
                          <a:schemeClr val="tx1"/>
                        </a:solidFill>
                      </a:endParaRPr>
                    </a:p>
                  </a:txBody>
                  <a:tcPr>
                    <a:solidFill>
                      <a:srgbClr val="FF85FF"/>
                    </a:solidFill>
                  </a:tcPr>
                </a:tc>
                <a:extLst>
                  <a:ext uri="{0D108BD9-81ED-4DB2-BD59-A6C34878D82A}">
                    <a16:rowId xmlns:a16="http://schemas.microsoft.com/office/drawing/2014/main" val="1996944423"/>
                  </a:ext>
                </a:extLst>
              </a:tr>
            </a:tbl>
          </a:graphicData>
        </a:graphic>
      </p:graphicFrame>
      <p:pic>
        <p:nvPicPr>
          <p:cNvPr id="12" name="Google Shape;187;p25" descr="pngfind.com-kingpin-png-4152286 (1).png">
            <a:extLst>
              <a:ext uri="{FF2B5EF4-FFF2-40B4-BE49-F238E27FC236}">
                <a16:creationId xmlns:a16="http://schemas.microsoft.com/office/drawing/2014/main" id="{2DBF2481-A2DB-F96E-5749-B03DC4F71665}"/>
              </a:ext>
            </a:extLst>
          </p:cNvPr>
          <p:cNvPicPr preferRelativeResize="0"/>
          <p:nvPr/>
        </p:nvPicPr>
        <p:blipFill rotWithShape="1">
          <a:blip r:embed="rId2">
            <a:alphaModFix/>
          </a:blip>
          <a:srcRect/>
          <a:stretch/>
        </p:blipFill>
        <p:spPr>
          <a:xfrm>
            <a:off x="11044052" y="8268"/>
            <a:ext cx="1051261" cy="465287"/>
          </a:xfrm>
          <a:prstGeom prst="rect">
            <a:avLst/>
          </a:prstGeom>
          <a:noFill/>
          <a:ln>
            <a:noFill/>
          </a:ln>
        </p:spPr>
      </p:pic>
      <p:sp>
        <p:nvSpPr>
          <p:cNvPr id="19" name="Rectangle 18">
            <a:extLst>
              <a:ext uri="{FF2B5EF4-FFF2-40B4-BE49-F238E27FC236}">
                <a16:creationId xmlns:a16="http://schemas.microsoft.com/office/drawing/2014/main" id="{A0702E37-2E7E-7262-5E76-F69A817105B3}"/>
              </a:ext>
            </a:extLst>
          </p:cNvPr>
          <p:cNvSpPr/>
          <p:nvPr/>
        </p:nvSpPr>
        <p:spPr>
          <a:xfrm>
            <a:off x="0" y="8268"/>
            <a:ext cx="12192000" cy="6825920"/>
          </a:xfrm>
          <a:prstGeom prst="rect">
            <a:avLst/>
          </a:prstGeom>
          <a:noFill/>
          <a:ln w="38100">
            <a:solidFill>
              <a:srgbClr val="0432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DCB2A3F0-9003-5886-09B4-27925BBE4000}"/>
              </a:ext>
            </a:extLst>
          </p:cNvPr>
          <p:cNvSpPr txBox="1"/>
          <p:nvPr/>
        </p:nvSpPr>
        <p:spPr>
          <a:xfrm>
            <a:off x="109330" y="708849"/>
            <a:ext cx="12191999" cy="646331"/>
          </a:xfrm>
          <a:prstGeom prst="rect">
            <a:avLst/>
          </a:prstGeom>
          <a:noFill/>
        </p:spPr>
        <p:txBody>
          <a:bodyPr wrap="square">
            <a:spAutoFit/>
          </a:bodyPr>
          <a:lstStyle/>
          <a:p>
            <a:pPr marL="0" algn="ctr" rtl="0" eaLnBrk="1" latinLnBrk="0" hangingPunct="1">
              <a:spcBef>
                <a:spcPts val="0"/>
              </a:spcBef>
              <a:spcAft>
                <a:spcPts val="0"/>
              </a:spcAft>
            </a:pPr>
            <a:r>
              <a:rPr lang="en-US" sz="3600" b="1" i="0" dirty="0">
                <a:solidFill>
                  <a:srgbClr val="333333"/>
                </a:solidFill>
                <a:effectLst/>
                <a:latin typeface="Calibri" panose="020F0502020204030204" pitchFamily="34" charset="0"/>
                <a:ea typeface="Calibri" panose="020F0502020204030204" pitchFamily="34" charset="0"/>
                <a:cs typeface="Calibri" panose="020F0502020204030204" pitchFamily="34" charset="0"/>
              </a:rPr>
              <a:t>Audio, video and images</a:t>
            </a:r>
            <a:endParaRPr lang="en-IN" sz="6000" b="1" dirty="0">
              <a:effectLst/>
            </a:endParaRPr>
          </a:p>
        </p:txBody>
      </p:sp>
      <p:sp>
        <p:nvSpPr>
          <p:cNvPr id="5" name="TextBox 4">
            <a:extLst>
              <a:ext uri="{FF2B5EF4-FFF2-40B4-BE49-F238E27FC236}">
                <a16:creationId xmlns:a16="http://schemas.microsoft.com/office/drawing/2014/main" id="{57BF3EEF-553A-D37A-6EF6-B514AF07FC3C}"/>
              </a:ext>
            </a:extLst>
          </p:cNvPr>
          <p:cNvSpPr txBox="1"/>
          <p:nvPr/>
        </p:nvSpPr>
        <p:spPr>
          <a:xfrm>
            <a:off x="341243" y="1413822"/>
            <a:ext cx="11509514" cy="3338735"/>
          </a:xfrm>
          <a:prstGeom prst="rect">
            <a:avLst/>
          </a:prstGeom>
          <a:noFill/>
        </p:spPr>
        <p:txBody>
          <a:bodyPr wrap="square">
            <a:spAutoFit/>
          </a:bodyPr>
          <a:lstStyle/>
          <a:p>
            <a:pPr marL="347472" indent="-347472" algn="just" rtl="0" eaLnBrk="1" latinLnBrk="0" hangingPunct="1">
              <a:lnSpc>
                <a:spcPct val="200000"/>
              </a:lnSpc>
              <a:spcBef>
                <a:spcPts val="0"/>
              </a:spcBef>
              <a:spcAft>
                <a:spcPts val="0"/>
              </a:spcAft>
              <a:buFont typeface="Arial" panose="020B0604020202020204" pitchFamily="34" charset="0"/>
              <a:buChar char="•"/>
            </a:pPr>
            <a:r>
              <a:rPr lang="en-US" b="1" i="0" dirty="0">
                <a:solidFill>
                  <a:srgbClr val="333333"/>
                </a:solidFill>
                <a:effectLst/>
                <a:latin typeface="Calibri" panose="020F0502020204030204" pitchFamily="34" charset="0"/>
                <a:ea typeface="Calibri" panose="020F0502020204030204" pitchFamily="34" charset="0"/>
                <a:cs typeface="Calibri" panose="020F0502020204030204" pitchFamily="34" charset="0"/>
              </a:rPr>
              <a:t>Audio, image, and video </a:t>
            </a:r>
            <a:r>
              <a:rPr lang="en-US" i="0" dirty="0">
                <a:solidFill>
                  <a:srgbClr val="333333"/>
                </a:solidFill>
                <a:effectLst/>
                <a:latin typeface="Calibri" panose="020F0502020204030204" pitchFamily="34" charset="0"/>
                <a:ea typeface="Calibri" panose="020F0502020204030204" pitchFamily="34" charset="0"/>
                <a:cs typeface="Calibri" panose="020F0502020204030204" pitchFamily="34" charset="0"/>
              </a:rPr>
              <a:t>are data types that pose specific challenges to a data scientist. Tasks that are trivial for humans, such as recognizing objects in pictures, turn out to be challenging for computers. </a:t>
            </a:r>
          </a:p>
          <a:p>
            <a:pPr marL="347472" indent="-347472" algn="just" rtl="0" eaLnBrk="1" latinLnBrk="0" hangingPunct="1">
              <a:lnSpc>
                <a:spcPct val="200000"/>
              </a:lnSpc>
              <a:spcBef>
                <a:spcPts val="0"/>
              </a:spcBef>
              <a:spcAft>
                <a:spcPts val="0"/>
              </a:spcAft>
              <a:buFont typeface="Arial" panose="020B0604020202020204" pitchFamily="34" charset="0"/>
              <a:buChar char="•"/>
            </a:pPr>
            <a:r>
              <a:rPr lang="en-US" i="0" dirty="0">
                <a:solidFill>
                  <a:srgbClr val="333333"/>
                </a:solidFill>
                <a:effectLst/>
                <a:latin typeface="Calibri" panose="020F0502020204030204" pitchFamily="34" charset="0"/>
                <a:ea typeface="Calibri" panose="020F0502020204030204" pitchFamily="34" charset="0"/>
                <a:cs typeface="Calibri" panose="020F0502020204030204" pitchFamily="34" charset="0"/>
              </a:rPr>
              <a:t>MLBAM (Major League Baseball Advanced Media) announced in 2014 that they’ll increase video capture to approximately 7 TB per game for the purpose of live, in-game analytics. </a:t>
            </a:r>
          </a:p>
          <a:p>
            <a:pPr marL="347472" indent="-347472" algn="just" rtl="0" eaLnBrk="1" latinLnBrk="0" hangingPunct="1">
              <a:lnSpc>
                <a:spcPct val="200000"/>
              </a:lnSpc>
              <a:spcBef>
                <a:spcPts val="0"/>
              </a:spcBef>
              <a:spcAft>
                <a:spcPts val="0"/>
              </a:spcAft>
              <a:buFont typeface="Arial" panose="020B0604020202020204" pitchFamily="34" charset="0"/>
              <a:buChar char="•"/>
            </a:pPr>
            <a:r>
              <a:rPr lang="en-US" i="0" dirty="0">
                <a:solidFill>
                  <a:srgbClr val="333333"/>
                </a:solidFill>
                <a:effectLst/>
                <a:latin typeface="Calibri" panose="020F0502020204030204" pitchFamily="34" charset="0"/>
                <a:ea typeface="Calibri" panose="020F0502020204030204" pitchFamily="34" charset="0"/>
                <a:cs typeface="Calibri" panose="020F0502020204030204" pitchFamily="34" charset="0"/>
              </a:rPr>
              <a:t>High-speed cameras at stadiums will capture ball and athlete movements to calculate in real time, for example, the path taken by a defender relative to two baselines.</a:t>
            </a:r>
          </a:p>
        </p:txBody>
      </p:sp>
      <p:pic>
        <p:nvPicPr>
          <p:cNvPr id="3074" name="Picture 2" descr="paid stock video and audio resources ...">
            <a:extLst>
              <a:ext uri="{FF2B5EF4-FFF2-40B4-BE49-F238E27FC236}">
                <a16:creationId xmlns:a16="http://schemas.microsoft.com/office/drawing/2014/main" id="{B1044011-57E5-70AB-87A9-8CAFB351A8D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43851" y="4752557"/>
            <a:ext cx="3421582" cy="171079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867446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Table 8">
            <a:extLst>
              <a:ext uri="{FF2B5EF4-FFF2-40B4-BE49-F238E27FC236}">
                <a16:creationId xmlns:a16="http://schemas.microsoft.com/office/drawing/2014/main" id="{0B6EC464-4750-5FF3-7A5A-15612BA6E293}"/>
              </a:ext>
            </a:extLst>
          </p:cNvPr>
          <p:cNvGraphicFramePr>
            <a:graphicFrameLocks noGrp="1"/>
          </p:cNvGraphicFramePr>
          <p:nvPr/>
        </p:nvGraphicFramePr>
        <p:xfrm>
          <a:off x="0" y="23812"/>
          <a:ext cx="12192000" cy="465287"/>
        </p:xfrm>
        <a:graphic>
          <a:graphicData uri="http://schemas.openxmlformats.org/drawingml/2006/table">
            <a:tbl>
              <a:tblPr firstRow="1" bandRow="1">
                <a:tableStyleId>{5C22544A-7EE6-4342-B048-85BDC9FD1C3A}</a:tableStyleId>
              </a:tblPr>
              <a:tblGrid>
                <a:gridCol w="6092042">
                  <a:extLst>
                    <a:ext uri="{9D8B030D-6E8A-4147-A177-3AD203B41FA5}">
                      <a16:colId xmlns:a16="http://schemas.microsoft.com/office/drawing/2014/main" val="2179694530"/>
                    </a:ext>
                  </a:extLst>
                </a:gridCol>
                <a:gridCol w="6099958">
                  <a:extLst>
                    <a:ext uri="{9D8B030D-6E8A-4147-A177-3AD203B41FA5}">
                      <a16:colId xmlns:a16="http://schemas.microsoft.com/office/drawing/2014/main" val="2768207918"/>
                    </a:ext>
                  </a:extLst>
                </a:gridCol>
              </a:tblGrid>
              <a:tr h="465287">
                <a:tc>
                  <a:txBody>
                    <a:bodyPr/>
                    <a:lstStyle/>
                    <a:p>
                      <a:endParaRPr lang="en-US" dirty="0"/>
                    </a:p>
                  </a:txBody>
                  <a:tcPr>
                    <a:solidFill>
                      <a:srgbClr val="FF85FF"/>
                    </a:solidFill>
                  </a:tcPr>
                </a:tc>
                <a:tc>
                  <a:txBody>
                    <a:bodyPr/>
                    <a:lstStyle/>
                    <a:p>
                      <a:endParaRPr lang="en-US" dirty="0"/>
                    </a:p>
                  </a:txBody>
                  <a:tcPr>
                    <a:solidFill>
                      <a:srgbClr val="FFFF00"/>
                    </a:solidFill>
                  </a:tcPr>
                </a:tc>
                <a:extLst>
                  <a:ext uri="{0D108BD9-81ED-4DB2-BD59-A6C34878D82A}">
                    <a16:rowId xmlns:a16="http://schemas.microsoft.com/office/drawing/2014/main" val="1996944423"/>
                  </a:ext>
                </a:extLst>
              </a:tr>
            </a:tbl>
          </a:graphicData>
        </a:graphic>
      </p:graphicFrame>
      <p:graphicFrame>
        <p:nvGraphicFramePr>
          <p:cNvPr id="10" name="Table 9">
            <a:extLst>
              <a:ext uri="{FF2B5EF4-FFF2-40B4-BE49-F238E27FC236}">
                <a16:creationId xmlns:a16="http://schemas.microsoft.com/office/drawing/2014/main" id="{494BAFB7-FE1F-E1A9-7A6C-AB4145BD9BA1}"/>
              </a:ext>
            </a:extLst>
          </p:cNvPr>
          <p:cNvGraphicFramePr>
            <a:graphicFrameLocks noGrp="1"/>
          </p:cNvGraphicFramePr>
          <p:nvPr/>
        </p:nvGraphicFramePr>
        <p:xfrm>
          <a:off x="1" y="6478892"/>
          <a:ext cx="12191999" cy="370840"/>
        </p:xfrm>
        <a:graphic>
          <a:graphicData uri="http://schemas.openxmlformats.org/drawingml/2006/table">
            <a:tbl>
              <a:tblPr firstRow="1" bandRow="1">
                <a:tableStyleId>{5C22544A-7EE6-4342-B048-85BDC9FD1C3A}</a:tableStyleId>
              </a:tblPr>
              <a:tblGrid>
                <a:gridCol w="6080165">
                  <a:extLst>
                    <a:ext uri="{9D8B030D-6E8A-4147-A177-3AD203B41FA5}">
                      <a16:colId xmlns:a16="http://schemas.microsoft.com/office/drawing/2014/main" val="2179694530"/>
                    </a:ext>
                  </a:extLst>
                </a:gridCol>
                <a:gridCol w="6111834">
                  <a:extLst>
                    <a:ext uri="{9D8B030D-6E8A-4147-A177-3AD203B41FA5}">
                      <a16:colId xmlns:a16="http://schemas.microsoft.com/office/drawing/2014/main" val="2768207918"/>
                    </a:ext>
                  </a:extLst>
                </a:gridCol>
              </a:tblGrid>
              <a:tr h="370840">
                <a:tc>
                  <a:txBody>
                    <a:bodyPr/>
                    <a:lstStyle/>
                    <a:p>
                      <a:endParaRPr lang="en-US" dirty="0"/>
                    </a:p>
                  </a:txBody>
                  <a:tcPr>
                    <a:solidFill>
                      <a:srgbClr val="FFFF00"/>
                    </a:solidFill>
                  </a:tcPr>
                </a:tc>
                <a:tc>
                  <a:txBody>
                    <a:bodyPr/>
                    <a:lstStyle/>
                    <a:p>
                      <a:pPr algn="r"/>
                      <a:fld id="{CFE5E3BE-EE29-401D-B4CD-151EFFA39DA2}" type="slidenum">
                        <a:rPr lang="en-US" smtClean="0">
                          <a:solidFill>
                            <a:schemeClr val="tx1"/>
                          </a:solidFill>
                        </a:rPr>
                        <a:t>25</a:t>
                      </a:fld>
                      <a:endParaRPr lang="en-US" dirty="0">
                        <a:solidFill>
                          <a:schemeClr val="tx1"/>
                        </a:solidFill>
                      </a:endParaRPr>
                    </a:p>
                  </a:txBody>
                  <a:tcPr>
                    <a:solidFill>
                      <a:srgbClr val="FF85FF"/>
                    </a:solidFill>
                  </a:tcPr>
                </a:tc>
                <a:extLst>
                  <a:ext uri="{0D108BD9-81ED-4DB2-BD59-A6C34878D82A}">
                    <a16:rowId xmlns:a16="http://schemas.microsoft.com/office/drawing/2014/main" val="1996944423"/>
                  </a:ext>
                </a:extLst>
              </a:tr>
            </a:tbl>
          </a:graphicData>
        </a:graphic>
      </p:graphicFrame>
      <p:pic>
        <p:nvPicPr>
          <p:cNvPr id="12" name="Google Shape;187;p25" descr="pngfind.com-kingpin-png-4152286 (1).png">
            <a:extLst>
              <a:ext uri="{FF2B5EF4-FFF2-40B4-BE49-F238E27FC236}">
                <a16:creationId xmlns:a16="http://schemas.microsoft.com/office/drawing/2014/main" id="{2DBF2481-A2DB-F96E-5749-B03DC4F71665}"/>
              </a:ext>
            </a:extLst>
          </p:cNvPr>
          <p:cNvPicPr preferRelativeResize="0"/>
          <p:nvPr/>
        </p:nvPicPr>
        <p:blipFill rotWithShape="1">
          <a:blip r:embed="rId2">
            <a:alphaModFix/>
          </a:blip>
          <a:srcRect/>
          <a:stretch/>
        </p:blipFill>
        <p:spPr>
          <a:xfrm>
            <a:off x="11044052" y="8268"/>
            <a:ext cx="1051261" cy="465287"/>
          </a:xfrm>
          <a:prstGeom prst="rect">
            <a:avLst/>
          </a:prstGeom>
          <a:noFill/>
          <a:ln>
            <a:noFill/>
          </a:ln>
        </p:spPr>
      </p:pic>
      <p:sp>
        <p:nvSpPr>
          <p:cNvPr id="19" name="Rectangle 18">
            <a:extLst>
              <a:ext uri="{FF2B5EF4-FFF2-40B4-BE49-F238E27FC236}">
                <a16:creationId xmlns:a16="http://schemas.microsoft.com/office/drawing/2014/main" id="{A0702E37-2E7E-7262-5E76-F69A817105B3}"/>
              </a:ext>
            </a:extLst>
          </p:cNvPr>
          <p:cNvSpPr/>
          <p:nvPr/>
        </p:nvSpPr>
        <p:spPr>
          <a:xfrm>
            <a:off x="0" y="8268"/>
            <a:ext cx="12192000" cy="6825920"/>
          </a:xfrm>
          <a:prstGeom prst="rect">
            <a:avLst/>
          </a:prstGeom>
          <a:noFill/>
          <a:ln w="38100">
            <a:solidFill>
              <a:srgbClr val="0432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DCB2A3F0-9003-5886-09B4-27925BBE4000}"/>
              </a:ext>
            </a:extLst>
          </p:cNvPr>
          <p:cNvSpPr txBox="1"/>
          <p:nvPr/>
        </p:nvSpPr>
        <p:spPr>
          <a:xfrm>
            <a:off x="109330" y="708849"/>
            <a:ext cx="12191999" cy="646331"/>
          </a:xfrm>
          <a:prstGeom prst="rect">
            <a:avLst/>
          </a:prstGeom>
          <a:noFill/>
        </p:spPr>
        <p:txBody>
          <a:bodyPr wrap="square">
            <a:spAutoFit/>
          </a:bodyPr>
          <a:lstStyle/>
          <a:p>
            <a:pPr marL="0" algn="ctr" rtl="0" eaLnBrk="1" latinLnBrk="0" hangingPunct="1">
              <a:spcBef>
                <a:spcPts val="0"/>
              </a:spcBef>
              <a:spcAft>
                <a:spcPts val="0"/>
              </a:spcAft>
            </a:pPr>
            <a:r>
              <a:rPr lang="en-US" sz="3600" b="1" kern="1200" dirty="0">
                <a:solidFill>
                  <a:srgbClr val="000000"/>
                </a:solidFill>
                <a:effectLst/>
                <a:latin typeface="Calibri" panose="020F0502020204030204" pitchFamily="34" charset="0"/>
                <a:ea typeface="+mn-ea"/>
                <a:cs typeface="Calibri" panose="020F0502020204030204" pitchFamily="34" charset="0"/>
              </a:rPr>
              <a:t>Streaming Data</a:t>
            </a:r>
            <a:endParaRPr lang="en-IN" sz="6000" dirty="0">
              <a:effectLst/>
            </a:endParaRPr>
          </a:p>
        </p:txBody>
      </p:sp>
      <p:sp>
        <p:nvSpPr>
          <p:cNvPr id="5" name="TextBox 4">
            <a:extLst>
              <a:ext uri="{FF2B5EF4-FFF2-40B4-BE49-F238E27FC236}">
                <a16:creationId xmlns:a16="http://schemas.microsoft.com/office/drawing/2014/main" id="{57BF3EEF-553A-D37A-6EF6-B514AF07FC3C}"/>
              </a:ext>
            </a:extLst>
          </p:cNvPr>
          <p:cNvSpPr txBox="1"/>
          <p:nvPr/>
        </p:nvSpPr>
        <p:spPr>
          <a:xfrm>
            <a:off x="341243" y="1413822"/>
            <a:ext cx="11509514" cy="3338735"/>
          </a:xfrm>
          <a:prstGeom prst="rect">
            <a:avLst/>
          </a:prstGeom>
          <a:noFill/>
        </p:spPr>
        <p:txBody>
          <a:bodyPr wrap="square">
            <a:spAutoFit/>
          </a:bodyPr>
          <a:lstStyle/>
          <a:p>
            <a:pPr marL="347472" indent="-347472" algn="just" rtl="0" eaLnBrk="1" latinLnBrk="0" hangingPunct="1">
              <a:lnSpc>
                <a:spcPct val="200000"/>
              </a:lnSpc>
              <a:spcBef>
                <a:spcPts val="0"/>
              </a:spcBef>
              <a:spcAft>
                <a:spcPts val="0"/>
              </a:spcAft>
              <a:buFont typeface="Arial" panose="020B0604020202020204" pitchFamily="34" charset="0"/>
              <a:buChar char="•"/>
            </a:pPr>
            <a:r>
              <a:rPr lang="en-US" b="1" i="0" dirty="0">
                <a:solidFill>
                  <a:srgbClr val="333333"/>
                </a:solidFill>
                <a:effectLst/>
                <a:latin typeface="Calibri" panose="020F0502020204030204" pitchFamily="34" charset="0"/>
                <a:ea typeface="Calibri" panose="020F0502020204030204" pitchFamily="34" charset="0"/>
                <a:cs typeface="Calibri" panose="020F0502020204030204" pitchFamily="34" charset="0"/>
              </a:rPr>
              <a:t>Streaming data </a:t>
            </a:r>
            <a:r>
              <a:rPr lang="en-US" i="0" dirty="0">
                <a:solidFill>
                  <a:srgbClr val="333333"/>
                </a:solidFill>
                <a:effectLst/>
                <a:latin typeface="Calibri" panose="020F0502020204030204" pitchFamily="34" charset="0"/>
                <a:ea typeface="Calibri" panose="020F0502020204030204" pitchFamily="34" charset="0"/>
                <a:cs typeface="Calibri" panose="020F0502020204030204" pitchFamily="34" charset="0"/>
              </a:rPr>
              <a:t>is data that is generated continuously by thousands of data sources, which typically send in the data records simultaneously and in small sizes (order of Kilobytes).</a:t>
            </a:r>
          </a:p>
          <a:p>
            <a:pPr marL="347472" indent="-347472" algn="just" rtl="0" eaLnBrk="1" latinLnBrk="0" hangingPunct="1">
              <a:lnSpc>
                <a:spcPct val="200000"/>
              </a:lnSpc>
              <a:spcBef>
                <a:spcPts val="0"/>
              </a:spcBef>
              <a:spcAft>
                <a:spcPts val="0"/>
              </a:spcAft>
              <a:buFont typeface="Arial" panose="020B0604020202020204" pitchFamily="34" charset="0"/>
              <a:buChar char="•"/>
            </a:pPr>
            <a:r>
              <a:rPr lang="en-US" i="0" dirty="0">
                <a:solidFill>
                  <a:srgbClr val="333333"/>
                </a:solidFill>
                <a:effectLst/>
                <a:latin typeface="Calibri" panose="020F0502020204030204" pitchFamily="34" charset="0"/>
                <a:ea typeface="Calibri" panose="020F0502020204030204" pitchFamily="34" charset="0"/>
                <a:cs typeface="Calibri" panose="020F0502020204030204" pitchFamily="34" charset="0"/>
              </a:rPr>
              <a:t>Streaming data includes a wide variety of data such as log files generated by customers using your mobile or web applications, ecommerce purchases, in-game player activity, information from social networks, financial trading floors or geospatial services and telemetry from connected devices or instrumentation in data centers.</a:t>
            </a:r>
          </a:p>
          <a:p>
            <a:pPr marL="347472" indent="-347472" algn="just" rtl="0" eaLnBrk="1" latinLnBrk="0" hangingPunct="1">
              <a:lnSpc>
                <a:spcPct val="200000"/>
              </a:lnSpc>
              <a:spcBef>
                <a:spcPts val="0"/>
              </a:spcBef>
              <a:spcAft>
                <a:spcPts val="0"/>
              </a:spcAft>
              <a:buFont typeface="Arial" panose="020B0604020202020204" pitchFamily="34" charset="0"/>
              <a:buChar char="•"/>
            </a:pPr>
            <a:r>
              <a:rPr lang="en-US" sz="1800" b="0" i="0" dirty="0">
                <a:solidFill>
                  <a:srgbClr val="000000"/>
                </a:solidFill>
                <a:effectLst/>
                <a:latin typeface="NewBaskerville-Roman"/>
              </a:rPr>
              <a:t>Examples are the “What’s trending” on Twitter, live sporting or music events, and the stock market.</a:t>
            </a:r>
            <a:endParaRPr lang="en-US" i="0" dirty="0">
              <a:solidFill>
                <a:srgbClr val="273239"/>
              </a:solidFill>
              <a:effectLst/>
              <a:highlight>
                <a:srgbClr val="FFFFFF"/>
              </a:highlight>
              <a:latin typeface="Calibri" panose="020F0502020204030204" pitchFamily="34" charset="0"/>
              <a:ea typeface="Calibri" panose="020F0502020204030204" pitchFamily="34" charset="0"/>
              <a:cs typeface="Calibri" panose="020F0502020204030204" pitchFamily="34" charset="0"/>
            </a:endParaRPr>
          </a:p>
        </p:txBody>
      </p:sp>
      <p:pic>
        <p:nvPicPr>
          <p:cNvPr id="4098" name="Picture 2" descr="Data Stream: Use Cases, Benefits ...">
            <a:extLst>
              <a:ext uri="{FF2B5EF4-FFF2-40B4-BE49-F238E27FC236}">
                <a16:creationId xmlns:a16="http://schemas.microsoft.com/office/drawing/2014/main" id="{14E43525-D8DA-17EE-D66A-9ADC7743CFE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56287" y="4811199"/>
            <a:ext cx="3554439" cy="1499850"/>
          </a:xfrm>
          <a:prstGeom prst="rect">
            <a:avLst/>
          </a:prstGeom>
          <a:noFill/>
          <a:ln w="6350">
            <a:solidFill>
              <a:schemeClr val="tx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6672974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Table 8">
            <a:extLst>
              <a:ext uri="{FF2B5EF4-FFF2-40B4-BE49-F238E27FC236}">
                <a16:creationId xmlns:a16="http://schemas.microsoft.com/office/drawing/2014/main" id="{0B6EC464-4750-5FF3-7A5A-15612BA6E293}"/>
              </a:ext>
            </a:extLst>
          </p:cNvPr>
          <p:cNvGraphicFramePr>
            <a:graphicFrameLocks noGrp="1"/>
          </p:cNvGraphicFramePr>
          <p:nvPr/>
        </p:nvGraphicFramePr>
        <p:xfrm>
          <a:off x="0" y="23812"/>
          <a:ext cx="12192000" cy="465287"/>
        </p:xfrm>
        <a:graphic>
          <a:graphicData uri="http://schemas.openxmlformats.org/drawingml/2006/table">
            <a:tbl>
              <a:tblPr firstRow="1" bandRow="1">
                <a:tableStyleId>{5C22544A-7EE6-4342-B048-85BDC9FD1C3A}</a:tableStyleId>
              </a:tblPr>
              <a:tblGrid>
                <a:gridCol w="6092042">
                  <a:extLst>
                    <a:ext uri="{9D8B030D-6E8A-4147-A177-3AD203B41FA5}">
                      <a16:colId xmlns:a16="http://schemas.microsoft.com/office/drawing/2014/main" val="2179694530"/>
                    </a:ext>
                  </a:extLst>
                </a:gridCol>
                <a:gridCol w="6099958">
                  <a:extLst>
                    <a:ext uri="{9D8B030D-6E8A-4147-A177-3AD203B41FA5}">
                      <a16:colId xmlns:a16="http://schemas.microsoft.com/office/drawing/2014/main" val="2768207918"/>
                    </a:ext>
                  </a:extLst>
                </a:gridCol>
              </a:tblGrid>
              <a:tr h="465287">
                <a:tc>
                  <a:txBody>
                    <a:bodyPr/>
                    <a:lstStyle/>
                    <a:p>
                      <a:endParaRPr lang="en-US" dirty="0"/>
                    </a:p>
                  </a:txBody>
                  <a:tcPr>
                    <a:solidFill>
                      <a:srgbClr val="FF85FF"/>
                    </a:solidFill>
                  </a:tcPr>
                </a:tc>
                <a:tc>
                  <a:txBody>
                    <a:bodyPr/>
                    <a:lstStyle/>
                    <a:p>
                      <a:endParaRPr lang="en-US" dirty="0"/>
                    </a:p>
                  </a:txBody>
                  <a:tcPr>
                    <a:solidFill>
                      <a:srgbClr val="FFFF00"/>
                    </a:solidFill>
                  </a:tcPr>
                </a:tc>
                <a:extLst>
                  <a:ext uri="{0D108BD9-81ED-4DB2-BD59-A6C34878D82A}">
                    <a16:rowId xmlns:a16="http://schemas.microsoft.com/office/drawing/2014/main" val="1996944423"/>
                  </a:ext>
                </a:extLst>
              </a:tr>
            </a:tbl>
          </a:graphicData>
        </a:graphic>
      </p:graphicFrame>
      <p:graphicFrame>
        <p:nvGraphicFramePr>
          <p:cNvPr id="10" name="Table 9">
            <a:extLst>
              <a:ext uri="{FF2B5EF4-FFF2-40B4-BE49-F238E27FC236}">
                <a16:creationId xmlns:a16="http://schemas.microsoft.com/office/drawing/2014/main" id="{494BAFB7-FE1F-E1A9-7A6C-AB4145BD9BA1}"/>
              </a:ext>
            </a:extLst>
          </p:cNvPr>
          <p:cNvGraphicFramePr>
            <a:graphicFrameLocks noGrp="1"/>
          </p:cNvGraphicFramePr>
          <p:nvPr>
            <p:extLst>
              <p:ext uri="{D42A27DB-BD31-4B8C-83A1-F6EECF244321}">
                <p14:modId xmlns:p14="http://schemas.microsoft.com/office/powerpoint/2010/main" val="2421057515"/>
              </p:ext>
            </p:extLst>
          </p:nvPr>
        </p:nvGraphicFramePr>
        <p:xfrm>
          <a:off x="1" y="6478892"/>
          <a:ext cx="12191999" cy="370840"/>
        </p:xfrm>
        <a:graphic>
          <a:graphicData uri="http://schemas.openxmlformats.org/drawingml/2006/table">
            <a:tbl>
              <a:tblPr firstRow="1" bandRow="1">
                <a:tableStyleId>{5C22544A-7EE6-4342-B048-85BDC9FD1C3A}</a:tableStyleId>
              </a:tblPr>
              <a:tblGrid>
                <a:gridCol w="6080165">
                  <a:extLst>
                    <a:ext uri="{9D8B030D-6E8A-4147-A177-3AD203B41FA5}">
                      <a16:colId xmlns:a16="http://schemas.microsoft.com/office/drawing/2014/main" val="2179694530"/>
                    </a:ext>
                  </a:extLst>
                </a:gridCol>
                <a:gridCol w="6111834">
                  <a:extLst>
                    <a:ext uri="{9D8B030D-6E8A-4147-A177-3AD203B41FA5}">
                      <a16:colId xmlns:a16="http://schemas.microsoft.com/office/drawing/2014/main" val="2768207918"/>
                    </a:ext>
                  </a:extLst>
                </a:gridCol>
              </a:tblGrid>
              <a:tr h="370840">
                <a:tc>
                  <a:txBody>
                    <a:bodyPr/>
                    <a:lstStyle/>
                    <a:p>
                      <a:endParaRPr lang="en-US" dirty="0"/>
                    </a:p>
                  </a:txBody>
                  <a:tcPr>
                    <a:solidFill>
                      <a:srgbClr val="FFFF00"/>
                    </a:solidFill>
                  </a:tcPr>
                </a:tc>
                <a:tc>
                  <a:txBody>
                    <a:bodyPr/>
                    <a:lstStyle/>
                    <a:p>
                      <a:pPr algn="r"/>
                      <a:r>
                        <a:rPr lang="en-US" dirty="0">
                          <a:solidFill>
                            <a:schemeClr val="tx1"/>
                          </a:solidFill>
                        </a:rPr>
                        <a:t>26</a:t>
                      </a:r>
                    </a:p>
                  </a:txBody>
                  <a:tcPr>
                    <a:solidFill>
                      <a:srgbClr val="FF85FF"/>
                    </a:solidFill>
                  </a:tcPr>
                </a:tc>
                <a:extLst>
                  <a:ext uri="{0D108BD9-81ED-4DB2-BD59-A6C34878D82A}">
                    <a16:rowId xmlns:a16="http://schemas.microsoft.com/office/drawing/2014/main" val="1996944423"/>
                  </a:ext>
                </a:extLst>
              </a:tr>
            </a:tbl>
          </a:graphicData>
        </a:graphic>
      </p:graphicFrame>
      <p:pic>
        <p:nvPicPr>
          <p:cNvPr id="12" name="Google Shape;187;p25" descr="pngfind.com-kingpin-png-4152286 (1).png">
            <a:extLst>
              <a:ext uri="{FF2B5EF4-FFF2-40B4-BE49-F238E27FC236}">
                <a16:creationId xmlns:a16="http://schemas.microsoft.com/office/drawing/2014/main" id="{2DBF2481-A2DB-F96E-5749-B03DC4F71665}"/>
              </a:ext>
            </a:extLst>
          </p:cNvPr>
          <p:cNvPicPr preferRelativeResize="0"/>
          <p:nvPr/>
        </p:nvPicPr>
        <p:blipFill rotWithShape="1">
          <a:blip r:embed="rId2">
            <a:alphaModFix/>
          </a:blip>
          <a:srcRect/>
          <a:stretch/>
        </p:blipFill>
        <p:spPr>
          <a:xfrm>
            <a:off x="11044052" y="8268"/>
            <a:ext cx="1051261" cy="465287"/>
          </a:xfrm>
          <a:prstGeom prst="rect">
            <a:avLst/>
          </a:prstGeom>
          <a:noFill/>
          <a:ln>
            <a:noFill/>
          </a:ln>
        </p:spPr>
      </p:pic>
      <p:sp>
        <p:nvSpPr>
          <p:cNvPr id="14" name="Rectangle 13">
            <a:extLst>
              <a:ext uri="{FF2B5EF4-FFF2-40B4-BE49-F238E27FC236}">
                <a16:creationId xmlns:a16="http://schemas.microsoft.com/office/drawing/2014/main" id="{6EB9A5F7-B7D7-E008-8229-AD564931BCC6}"/>
              </a:ext>
            </a:extLst>
          </p:cNvPr>
          <p:cNvSpPr/>
          <p:nvPr/>
        </p:nvSpPr>
        <p:spPr>
          <a:xfrm>
            <a:off x="4010342" y="2967335"/>
            <a:ext cx="4171335" cy="646331"/>
          </a:xfrm>
          <a:prstGeom prst="rect">
            <a:avLst/>
          </a:prstGeom>
          <a:noFill/>
        </p:spPr>
        <p:txBody>
          <a:bodyPr wrap="none" lIns="91440" tIns="45720" rIns="91440" bIns="45720">
            <a:spAutoFit/>
          </a:bodyPr>
          <a:lstStyle/>
          <a:p>
            <a:pPr algn="ctr"/>
            <a:r>
              <a:rPr lang="en-US" sz="3600" b="1" dirty="0">
                <a:effectLst/>
                <a:latin typeface="Calibri" panose="020F0502020204030204" pitchFamily="34" charset="0"/>
                <a:ea typeface="Calibri" panose="020F0502020204030204" pitchFamily="34" charset="0"/>
                <a:cs typeface="Calibri" panose="020F0502020204030204" pitchFamily="34" charset="0"/>
              </a:rPr>
              <a:t>Data Science Process</a:t>
            </a:r>
            <a:endParaRPr lang="en-GB" sz="23900" b="1" cap="none" spc="0" dirty="0">
              <a:ln w="0"/>
              <a:solidFill>
                <a:schemeClr val="tx1"/>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Calibri" panose="020F0502020204030204" pitchFamily="34" charset="0"/>
            </a:endParaRPr>
          </a:p>
        </p:txBody>
      </p:sp>
      <p:sp>
        <p:nvSpPr>
          <p:cNvPr id="19" name="Rectangle 18">
            <a:extLst>
              <a:ext uri="{FF2B5EF4-FFF2-40B4-BE49-F238E27FC236}">
                <a16:creationId xmlns:a16="http://schemas.microsoft.com/office/drawing/2014/main" id="{A0702E37-2E7E-7262-5E76-F69A817105B3}"/>
              </a:ext>
            </a:extLst>
          </p:cNvPr>
          <p:cNvSpPr/>
          <p:nvPr/>
        </p:nvSpPr>
        <p:spPr>
          <a:xfrm>
            <a:off x="0" y="8268"/>
            <a:ext cx="12192000" cy="6825920"/>
          </a:xfrm>
          <a:prstGeom prst="rect">
            <a:avLst/>
          </a:prstGeom>
          <a:noFill/>
          <a:ln w="38100">
            <a:solidFill>
              <a:srgbClr val="0432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6755486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Table 8">
            <a:extLst>
              <a:ext uri="{FF2B5EF4-FFF2-40B4-BE49-F238E27FC236}">
                <a16:creationId xmlns:a16="http://schemas.microsoft.com/office/drawing/2014/main" id="{0B6EC464-4750-5FF3-7A5A-15612BA6E293}"/>
              </a:ext>
            </a:extLst>
          </p:cNvPr>
          <p:cNvGraphicFramePr>
            <a:graphicFrameLocks noGrp="1"/>
          </p:cNvGraphicFramePr>
          <p:nvPr/>
        </p:nvGraphicFramePr>
        <p:xfrm>
          <a:off x="0" y="23812"/>
          <a:ext cx="12192000" cy="465287"/>
        </p:xfrm>
        <a:graphic>
          <a:graphicData uri="http://schemas.openxmlformats.org/drawingml/2006/table">
            <a:tbl>
              <a:tblPr firstRow="1" bandRow="1">
                <a:tableStyleId>{5C22544A-7EE6-4342-B048-85BDC9FD1C3A}</a:tableStyleId>
              </a:tblPr>
              <a:tblGrid>
                <a:gridCol w="6092042">
                  <a:extLst>
                    <a:ext uri="{9D8B030D-6E8A-4147-A177-3AD203B41FA5}">
                      <a16:colId xmlns:a16="http://schemas.microsoft.com/office/drawing/2014/main" val="2179694530"/>
                    </a:ext>
                  </a:extLst>
                </a:gridCol>
                <a:gridCol w="6099958">
                  <a:extLst>
                    <a:ext uri="{9D8B030D-6E8A-4147-A177-3AD203B41FA5}">
                      <a16:colId xmlns:a16="http://schemas.microsoft.com/office/drawing/2014/main" val="2768207918"/>
                    </a:ext>
                  </a:extLst>
                </a:gridCol>
              </a:tblGrid>
              <a:tr h="465287">
                <a:tc>
                  <a:txBody>
                    <a:bodyPr/>
                    <a:lstStyle/>
                    <a:p>
                      <a:endParaRPr lang="en-US" dirty="0"/>
                    </a:p>
                  </a:txBody>
                  <a:tcPr>
                    <a:solidFill>
                      <a:srgbClr val="FF85FF"/>
                    </a:solidFill>
                  </a:tcPr>
                </a:tc>
                <a:tc>
                  <a:txBody>
                    <a:bodyPr/>
                    <a:lstStyle/>
                    <a:p>
                      <a:endParaRPr lang="en-US" dirty="0"/>
                    </a:p>
                  </a:txBody>
                  <a:tcPr>
                    <a:solidFill>
                      <a:srgbClr val="FFFF00"/>
                    </a:solidFill>
                  </a:tcPr>
                </a:tc>
                <a:extLst>
                  <a:ext uri="{0D108BD9-81ED-4DB2-BD59-A6C34878D82A}">
                    <a16:rowId xmlns:a16="http://schemas.microsoft.com/office/drawing/2014/main" val="1996944423"/>
                  </a:ext>
                </a:extLst>
              </a:tr>
            </a:tbl>
          </a:graphicData>
        </a:graphic>
      </p:graphicFrame>
      <p:graphicFrame>
        <p:nvGraphicFramePr>
          <p:cNvPr id="10" name="Table 9">
            <a:extLst>
              <a:ext uri="{FF2B5EF4-FFF2-40B4-BE49-F238E27FC236}">
                <a16:creationId xmlns:a16="http://schemas.microsoft.com/office/drawing/2014/main" id="{494BAFB7-FE1F-E1A9-7A6C-AB4145BD9BA1}"/>
              </a:ext>
            </a:extLst>
          </p:cNvPr>
          <p:cNvGraphicFramePr>
            <a:graphicFrameLocks noGrp="1"/>
          </p:cNvGraphicFramePr>
          <p:nvPr>
            <p:extLst>
              <p:ext uri="{D42A27DB-BD31-4B8C-83A1-F6EECF244321}">
                <p14:modId xmlns:p14="http://schemas.microsoft.com/office/powerpoint/2010/main" val="505724797"/>
              </p:ext>
            </p:extLst>
          </p:nvPr>
        </p:nvGraphicFramePr>
        <p:xfrm>
          <a:off x="1" y="6478892"/>
          <a:ext cx="12191999" cy="370840"/>
        </p:xfrm>
        <a:graphic>
          <a:graphicData uri="http://schemas.openxmlformats.org/drawingml/2006/table">
            <a:tbl>
              <a:tblPr firstRow="1" bandRow="1">
                <a:tableStyleId>{5C22544A-7EE6-4342-B048-85BDC9FD1C3A}</a:tableStyleId>
              </a:tblPr>
              <a:tblGrid>
                <a:gridCol w="6080165">
                  <a:extLst>
                    <a:ext uri="{9D8B030D-6E8A-4147-A177-3AD203B41FA5}">
                      <a16:colId xmlns:a16="http://schemas.microsoft.com/office/drawing/2014/main" val="2179694530"/>
                    </a:ext>
                  </a:extLst>
                </a:gridCol>
                <a:gridCol w="6111834">
                  <a:extLst>
                    <a:ext uri="{9D8B030D-6E8A-4147-A177-3AD203B41FA5}">
                      <a16:colId xmlns:a16="http://schemas.microsoft.com/office/drawing/2014/main" val="2768207918"/>
                    </a:ext>
                  </a:extLst>
                </a:gridCol>
              </a:tblGrid>
              <a:tr h="370840">
                <a:tc>
                  <a:txBody>
                    <a:bodyPr/>
                    <a:lstStyle/>
                    <a:p>
                      <a:endParaRPr lang="en-US" dirty="0"/>
                    </a:p>
                  </a:txBody>
                  <a:tcPr>
                    <a:solidFill>
                      <a:srgbClr val="FFFF00"/>
                    </a:solidFill>
                  </a:tcPr>
                </a:tc>
                <a:tc>
                  <a:txBody>
                    <a:bodyPr/>
                    <a:lstStyle/>
                    <a:p>
                      <a:pPr algn="r"/>
                      <a:r>
                        <a:rPr lang="en-US" dirty="0">
                          <a:solidFill>
                            <a:schemeClr val="tx1"/>
                          </a:solidFill>
                        </a:rPr>
                        <a:t>27</a:t>
                      </a:r>
                    </a:p>
                  </a:txBody>
                  <a:tcPr>
                    <a:solidFill>
                      <a:srgbClr val="FF85FF"/>
                    </a:solidFill>
                  </a:tcPr>
                </a:tc>
                <a:extLst>
                  <a:ext uri="{0D108BD9-81ED-4DB2-BD59-A6C34878D82A}">
                    <a16:rowId xmlns:a16="http://schemas.microsoft.com/office/drawing/2014/main" val="1996944423"/>
                  </a:ext>
                </a:extLst>
              </a:tr>
            </a:tbl>
          </a:graphicData>
        </a:graphic>
      </p:graphicFrame>
      <p:pic>
        <p:nvPicPr>
          <p:cNvPr id="12" name="Google Shape;187;p25" descr="pngfind.com-kingpin-png-4152286 (1).png">
            <a:extLst>
              <a:ext uri="{FF2B5EF4-FFF2-40B4-BE49-F238E27FC236}">
                <a16:creationId xmlns:a16="http://schemas.microsoft.com/office/drawing/2014/main" id="{2DBF2481-A2DB-F96E-5749-B03DC4F71665}"/>
              </a:ext>
            </a:extLst>
          </p:cNvPr>
          <p:cNvPicPr preferRelativeResize="0"/>
          <p:nvPr/>
        </p:nvPicPr>
        <p:blipFill rotWithShape="1">
          <a:blip r:embed="rId2">
            <a:alphaModFix/>
          </a:blip>
          <a:srcRect/>
          <a:stretch/>
        </p:blipFill>
        <p:spPr>
          <a:xfrm>
            <a:off x="11044052" y="8268"/>
            <a:ext cx="1051261" cy="465287"/>
          </a:xfrm>
          <a:prstGeom prst="rect">
            <a:avLst/>
          </a:prstGeom>
          <a:noFill/>
          <a:ln>
            <a:noFill/>
          </a:ln>
        </p:spPr>
      </p:pic>
      <p:sp>
        <p:nvSpPr>
          <p:cNvPr id="19" name="Rectangle 18">
            <a:extLst>
              <a:ext uri="{FF2B5EF4-FFF2-40B4-BE49-F238E27FC236}">
                <a16:creationId xmlns:a16="http://schemas.microsoft.com/office/drawing/2014/main" id="{A0702E37-2E7E-7262-5E76-F69A817105B3}"/>
              </a:ext>
            </a:extLst>
          </p:cNvPr>
          <p:cNvSpPr/>
          <p:nvPr/>
        </p:nvSpPr>
        <p:spPr>
          <a:xfrm>
            <a:off x="0" y="8268"/>
            <a:ext cx="12192000" cy="6825920"/>
          </a:xfrm>
          <a:prstGeom prst="rect">
            <a:avLst/>
          </a:prstGeom>
          <a:noFill/>
          <a:ln w="38100">
            <a:solidFill>
              <a:srgbClr val="0432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DCB2A3F0-9003-5886-09B4-27925BBE4000}"/>
              </a:ext>
            </a:extLst>
          </p:cNvPr>
          <p:cNvSpPr txBox="1"/>
          <p:nvPr/>
        </p:nvSpPr>
        <p:spPr>
          <a:xfrm>
            <a:off x="0" y="873851"/>
            <a:ext cx="12191999" cy="646331"/>
          </a:xfrm>
          <a:prstGeom prst="rect">
            <a:avLst/>
          </a:prstGeom>
          <a:noFill/>
        </p:spPr>
        <p:txBody>
          <a:bodyPr wrap="square">
            <a:spAutoFit/>
          </a:bodyPr>
          <a:lstStyle/>
          <a:p>
            <a:pPr algn="ctr"/>
            <a:r>
              <a:rPr lang="en-US" sz="3600" b="1" dirty="0">
                <a:effectLst/>
                <a:latin typeface="Calibri" panose="020F0502020204030204" pitchFamily="34" charset="0"/>
                <a:ea typeface="Calibri" panose="020F0502020204030204" pitchFamily="34" charset="0"/>
                <a:cs typeface="Calibri" panose="020F0502020204030204" pitchFamily="34" charset="0"/>
              </a:rPr>
              <a:t>Data Science Process</a:t>
            </a:r>
            <a:endParaRPr lang="en-GB" sz="3600" b="1" cap="none" spc="0" dirty="0">
              <a:ln w="0"/>
              <a:solidFill>
                <a:schemeClr val="tx1"/>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Calibri" panose="020F0502020204030204" pitchFamily="34" charset="0"/>
            </a:endParaRPr>
          </a:p>
        </p:txBody>
      </p:sp>
      <p:sp>
        <p:nvSpPr>
          <p:cNvPr id="5" name="TextBox 4">
            <a:extLst>
              <a:ext uri="{FF2B5EF4-FFF2-40B4-BE49-F238E27FC236}">
                <a16:creationId xmlns:a16="http://schemas.microsoft.com/office/drawing/2014/main" id="{57BF3EEF-553A-D37A-6EF6-B514AF07FC3C}"/>
              </a:ext>
            </a:extLst>
          </p:cNvPr>
          <p:cNvSpPr txBox="1"/>
          <p:nvPr/>
        </p:nvSpPr>
        <p:spPr>
          <a:xfrm>
            <a:off x="487016" y="1574931"/>
            <a:ext cx="10972801" cy="464871"/>
          </a:xfrm>
          <a:prstGeom prst="rect">
            <a:avLst/>
          </a:prstGeom>
          <a:noFill/>
        </p:spPr>
        <p:txBody>
          <a:bodyPr wrap="square">
            <a:spAutoFit/>
          </a:bodyPr>
          <a:lstStyle/>
          <a:p>
            <a:pPr marL="283464" indent="-283464" algn="just" rtl="0" eaLnBrk="1" latinLnBrk="0" hangingPunct="1">
              <a:lnSpc>
                <a:spcPct val="150000"/>
              </a:lnSpc>
              <a:spcBef>
                <a:spcPts val="0"/>
              </a:spcBef>
              <a:spcAft>
                <a:spcPts val="0"/>
              </a:spcAft>
              <a:buClrTx/>
              <a:buSzPts val="1800"/>
              <a:buFont typeface="Arial" panose="020B0604020202020204" pitchFamily="34" charset="0"/>
              <a:buChar char="•"/>
            </a:pPr>
            <a:r>
              <a:rPr lang="en-US" sz="1800" b="0" i="0" dirty="0">
                <a:solidFill>
                  <a:srgbClr val="000000"/>
                </a:solidFill>
                <a:effectLst/>
                <a:latin typeface="NewBaskerville-Roman"/>
              </a:rPr>
              <a:t>The data science process typically consists of six steps.</a:t>
            </a:r>
            <a:endParaRPr lang="en-IN" sz="1800" dirty="0">
              <a:effectLst/>
              <a:latin typeface="Calibri" panose="020F0502020204030204" pitchFamily="34" charset="0"/>
              <a:ea typeface="Calibri" panose="020F0502020204030204" pitchFamily="34" charset="0"/>
              <a:cs typeface="Calibri" panose="020F0502020204030204" pitchFamily="34" charset="0"/>
            </a:endParaRPr>
          </a:p>
        </p:txBody>
      </p:sp>
      <p:pic>
        <p:nvPicPr>
          <p:cNvPr id="4" name="Picture 3">
            <a:extLst>
              <a:ext uri="{FF2B5EF4-FFF2-40B4-BE49-F238E27FC236}">
                <a16:creationId xmlns:a16="http://schemas.microsoft.com/office/drawing/2014/main" id="{4B8B0A78-ABB6-4572-9BE0-B958CF4FB9A7}"/>
              </a:ext>
            </a:extLst>
          </p:cNvPr>
          <p:cNvPicPr>
            <a:picLocks noChangeAspect="1"/>
          </p:cNvPicPr>
          <p:nvPr/>
        </p:nvPicPr>
        <p:blipFill rotWithShape="1">
          <a:blip r:embed="rId3"/>
          <a:srcRect t="1850" b="1740"/>
          <a:stretch/>
        </p:blipFill>
        <p:spPr>
          <a:xfrm>
            <a:off x="7096540" y="1520182"/>
            <a:ext cx="4116478" cy="4903961"/>
          </a:xfrm>
          <a:prstGeom prst="rect">
            <a:avLst/>
          </a:prstGeom>
        </p:spPr>
      </p:pic>
    </p:spTree>
    <p:extLst>
      <p:ext uri="{BB962C8B-B14F-4D97-AF65-F5344CB8AC3E}">
        <p14:creationId xmlns:p14="http://schemas.microsoft.com/office/powerpoint/2010/main" val="227726429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Table 8">
            <a:extLst>
              <a:ext uri="{FF2B5EF4-FFF2-40B4-BE49-F238E27FC236}">
                <a16:creationId xmlns:a16="http://schemas.microsoft.com/office/drawing/2014/main" id="{0B6EC464-4750-5FF3-7A5A-15612BA6E293}"/>
              </a:ext>
            </a:extLst>
          </p:cNvPr>
          <p:cNvGraphicFramePr>
            <a:graphicFrameLocks noGrp="1"/>
          </p:cNvGraphicFramePr>
          <p:nvPr/>
        </p:nvGraphicFramePr>
        <p:xfrm>
          <a:off x="0" y="23812"/>
          <a:ext cx="12192000" cy="465287"/>
        </p:xfrm>
        <a:graphic>
          <a:graphicData uri="http://schemas.openxmlformats.org/drawingml/2006/table">
            <a:tbl>
              <a:tblPr firstRow="1" bandRow="1">
                <a:tableStyleId>{5C22544A-7EE6-4342-B048-85BDC9FD1C3A}</a:tableStyleId>
              </a:tblPr>
              <a:tblGrid>
                <a:gridCol w="6092042">
                  <a:extLst>
                    <a:ext uri="{9D8B030D-6E8A-4147-A177-3AD203B41FA5}">
                      <a16:colId xmlns:a16="http://schemas.microsoft.com/office/drawing/2014/main" val="2179694530"/>
                    </a:ext>
                  </a:extLst>
                </a:gridCol>
                <a:gridCol w="6099958">
                  <a:extLst>
                    <a:ext uri="{9D8B030D-6E8A-4147-A177-3AD203B41FA5}">
                      <a16:colId xmlns:a16="http://schemas.microsoft.com/office/drawing/2014/main" val="2768207918"/>
                    </a:ext>
                  </a:extLst>
                </a:gridCol>
              </a:tblGrid>
              <a:tr h="465287">
                <a:tc>
                  <a:txBody>
                    <a:bodyPr/>
                    <a:lstStyle/>
                    <a:p>
                      <a:endParaRPr lang="en-US" dirty="0"/>
                    </a:p>
                  </a:txBody>
                  <a:tcPr>
                    <a:solidFill>
                      <a:srgbClr val="FF85FF"/>
                    </a:solidFill>
                  </a:tcPr>
                </a:tc>
                <a:tc>
                  <a:txBody>
                    <a:bodyPr/>
                    <a:lstStyle/>
                    <a:p>
                      <a:endParaRPr lang="en-US" dirty="0"/>
                    </a:p>
                  </a:txBody>
                  <a:tcPr>
                    <a:solidFill>
                      <a:srgbClr val="FFFF00"/>
                    </a:solidFill>
                  </a:tcPr>
                </a:tc>
                <a:extLst>
                  <a:ext uri="{0D108BD9-81ED-4DB2-BD59-A6C34878D82A}">
                    <a16:rowId xmlns:a16="http://schemas.microsoft.com/office/drawing/2014/main" val="1996944423"/>
                  </a:ext>
                </a:extLst>
              </a:tr>
            </a:tbl>
          </a:graphicData>
        </a:graphic>
      </p:graphicFrame>
      <p:graphicFrame>
        <p:nvGraphicFramePr>
          <p:cNvPr id="10" name="Table 9">
            <a:extLst>
              <a:ext uri="{FF2B5EF4-FFF2-40B4-BE49-F238E27FC236}">
                <a16:creationId xmlns:a16="http://schemas.microsoft.com/office/drawing/2014/main" id="{494BAFB7-FE1F-E1A9-7A6C-AB4145BD9BA1}"/>
              </a:ext>
            </a:extLst>
          </p:cNvPr>
          <p:cNvGraphicFramePr>
            <a:graphicFrameLocks noGrp="1"/>
          </p:cNvGraphicFramePr>
          <p:nvPr/>
        </p:nvGraphicFramePr>
        <p:xfrm>
          <a:off x="1" y="6478892"/>
          <a:ext cx="12191999" cy="370840"/>
        </p:xfrm>
        <a:graphic>
          <a:graphicData uri="http://schemas.openxmlformats.org/drawingml/2006/table">
            <a:tbl>
              <a:tblPr firstRow="1" bandRow="1">
                <a:tableStyleId>{5C22544A-7EE6-4342-B048-85BDC9FD1C3A}</a:tableStyleId>
              </a:tblPr>
              <a:tblGrid>
                <a:gridCol w="6080165">
                  <a:extLst>
                    <a:ext uri="{9D8B030D-6E8A-4147-A177-3AD203B41FA5}">
                      <a16:colId xmlns:a16="http://schemas.microsoft.com/office/drawing/2014/main" val="2179694530"/>
                    </a:ext>
                  </a:extLst>
                </a:gridCol>
                <a:gridCol w="6111834">
                  <a:extLst>
                    <a:ext uri="{9D8B030D-6E8A-4147-A177-3AD203B41FA5}">
                      <a16:colId xmlns:a16="http://schemas.microsoft.com/office/drawing/2014/main" val="2768207918"/>
                    </a:ext>
                  </a:extLst>
                </a:gridCol>
              </a:tblGrid>
              <a:tr h="370840">
                <a:tc>
                  <a:txBody>
                    <a:bodyPr/>
                    <a:lstStyle/>
                    <a:p>
                      <a:endParaRPr lang="en-US" dirty="0"/>
                    </a:p>
                  </a:txBody>
                  <a:tcPr>
                    <a:solidFill>
                      <a:srgbClr val="FFFF00"/>
                    </a:solidFill>
                  </a:tcPr>
                </a:tc>
                <a:tc>
                  <a:txBody>
                    <a:bodyPr/>
                    <a:lstStyle/>
                    <a:p>
                      <a:pPr algn="r"/>
                      <a:fld id="{B9254C9E-B4EC-4459-8D61-4F77C0C53589}" type="slidenum">
                        <a:rPr lang="en-US" smtClean="0">
                          <a:solidFill>
                            <a:schemeClr val="tx1"/>
                          </a:solidFill>
                        </a:rPr>
                        <a:t>28</a:t>
                      </a:fld>
                      <a:endParaRPr lang="en-US" dirty="0">
                        <a:solidFill>
                          <a:schemeClr val="tx1"/>
                        </a:solidFill>
                      </a:endParaRPr>
                    </a:p>
                  </a:txBody>
                  <a:tcPr>
                    <a:solidFill>
                      <a:srgbClr val="FF85FF"/>
                    </a:solidFill>
                  </a:tcPr>
                </a:tc>
                <a:extLst>
                  <a:ext uri="{0D108BD9-81ED-4DB2-BD59-A6C34878D82A}">
                    <a16:rowId xmlns:a16="http://schemas.microsoft.com/office/drawing/2014/main" val="1996944423"/>
                  </a:ext>
                </a:extLst>
              </a:tr>
            </a:tbl>
          </a:graphicData>
        </a:graphic>
      </p:graphicFrame>
      <p:pic>
        <p:nvPicPr>
          <p:cNvPr id="12" name="Google Shape;187;p25" descr="pngfind.com-kingpin-png-4152286 (1).png">
            <a:extLst>
              <a:ext uri="{FF2B5EF4-FFF2-40B4-BE49-F238E27FC236}">
                <a16:creationId xmlns:a16="http://schemas.microsoft.com/office/drawing/2014/main" id="{2DBF2481-A2DB-F96E-5749-B03DC4F71665}"/>
              </a:ext>
            </a:extLst>
          </p:cNvPr>
          <p:cNvPicPr preferRelativeResize="0"/>
          <p:nvPr/>
        </p:nvPicPr>
        <p:blipFill rotWithShape="1">
          <a:blip r:embed="rId2">
            <a:alphaModFix/>
          </a:blip>
          <a:srcRect/>
          <a:stretch/>
        </p:blipFill>
        <p:spPr>
          <a:xfrm>
            <a:off x="11044052" y="8268"/>
            <a:ext cx="1051261" cy="465287"/>
          </a:xfrm>
          <a:prstGeom prst="rect">
            <a:avLst/>
          </a:prstGeom>
          <a:noFill/>
          <a:ln>
            <a:noFill/>
          </a:ln>
        </p:spPr>
      </p:pic>
      <p:sp>
        <p:nvSpPr>
          <p:cNvPr id="19" name="Rectangle 18">
            <a:extLst>
              <a:ext uri="{FF2B5EF4-FFF2-40B4-BE49-F238E27FC236}">
                <a16:creationId xmlns:a16="http://schemas.microsoft.com/office/drawing/2014/main" id="{A0702E37-2E7E-7262-5E76-F69A817105B3}"/>
              </a:ext>
            </a:extLst>
          </p:cNvPr>
          <p:cNvSpPr/>
          <p:nvPr/>
        </p:nvSpPr>
        <p:spPr>
          <a:xfrm>
            <a:off x="0" y="8268"/>
            <a:ext cx="12192000" cy="6825920"/>
          </a:xfrm>
          <a:prstGeom prst="rect">
            <a:avLst/>
          </a:prstGeom>
          <a:noFill/>
          <a:ln w="38100">
            <a:solidFill>
              <a:srgbClr val="0432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DCB2A3F0-9003-5886-09B4-27925BBE4000}"/>
              </a:ext>
            </a:extLst>
          </p:cNvPr>
          <p:cNvSpPr txBox="1"/>
          <p:nvPr/>
        </p:nvSpPr>
        <p:spPr>
          <a:xfrm>
            <a:off x="0" y="790984"/>
            <a:ext cx="12191999" cy="646331"/>
          </a:xfrm>
          <a:prstGeom prst="rect">
            <a:avLst/>
          </a:prstGeom>
          <a:noFill/>
        </p:spPr>
        <p:txBody>
          <a:bodyPr wrap="square">
            <a:spAutoFit/>
          </a:bodyPr>
          <a:lstStyle/>
          <a:p>
            <a:pPr algn="ctr"/>
            <a:r>
              <a:rPr lang="en-US" sz="3600" b="1" dirty="0">
                <a:effectLst/>
                <a:latin typeface="Calibri" panose="020F0502020204030204" pitchFamily="34" charset="0"/>
                <a:ea typeface="Calibri" panose="020F0502020204030204" pitchFamily="34" charset="0"/>
                <a:cs typeface="Calibri" panose="020F0502020204030204" pitchFamily="34" charset="0"/>
              </a:rPr>
              <a:t>1. Setting the research goal</a:t>
            </a:r>
            <a:endParaRPr lang="en-GB" sz="8800" b="1" cap="none" spc="0" dirty="0">
              <a:ln w="0"/>
              <a:solidFill>
                <a:schemeClr val="tx1"/>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Calibri" panose="020F0502020204030204" pitchFamily="34" charset="0"/>
            </a:endParaRPr>
          </a:p>
        </p:txBody>
      </p:sp>
      <p:sp>
        <p:nvSpPr>
          <p:cNvPr id="5" name="TextBox 4">
            <a:extLst>
              <a:ext uri="{FF2B5EF4-FFF2-40B4-BE49-F238E27FC236}">
                <a16:creationId xmlns:a16="http://schemas.microsoft.com/office/drawing/2014/main" id="{57BF3EEF-553A-D37A-6EF6-B514AF07FC3C}"/>
              </a:ext>
            </a:extLst>
          </p:cNvPr>
          <p:cNvSpPr txBox="1"/>
          <p:nvPr/>
        </p:nvSpPr>
        <p:spPr>
          <a:xfrm>
            <a:off x="557124" y="1831239"/>
            <a:ext cx="7503511" cy="3892732"/>
          </a:xfrm>
          <a:prstGeom prst="rect">
            <a:avLst/>
          </a:prstGeom>
          <a:noFill/>
        </p:spPr>
        <p:txBody>
          <a:bodyPr wrap="square">
            <a:spAutoFit/>
          </a:bodyPr>
          <a:lstStyle/>
          <a:p>
            <a:pPr marL="285750" indent="-285750" algn="just" fontAlgn="base">
              <a:lnSpc>
                <a:spcPct val="200000"/>
              </a:lnSpc>
              <a:buFont typeface="Arial" panose="020B0604020202020204" pitchFamily="34" charset="0"/>
              <a:buChar char="•"/>
            </a:pPr>
            <a:r>
              <a:rPr lang="en-US" dirty="0">
                <a:solidFill>
                  <a:srgbClr val="000000"/>
                </a:solidFill>
                <a:latin typeface="NewBaskerville-Roman"/>
              </a:rPr>
              <a:t>The first step of this process is </a:t>
            </a:r>
            <a:r>
              <a:rPr lang="en-US" b="1" dirty="0">
                <a:solidFill>
                  <a:srgbClr val="000000"/>
                </a:solidFill>
                <a:latin typeface="NewBaskerville-Roman"/>
              </a:rPr>
              <a:t>setting a research goal</a:t>
            </a:r>
            <a:r>
              <a:rPr lang="en-US" dirty="0">
                <a:solidFill>
                  <a:srgbClr val="000000"/>
                </a:solidFill>
                <a:latin typeface="NewBaskerville-Roman"/>
              </a:rPr>
              <a:t>. </a:t>
            </a:r>
          </a:p>
          <a:p>
            <a:pPr marL="285750" indent="-285750" algn="just" fontAlgn="base">
              <a:lnSpc>
                <a:spcPct val="200000"/>
              </a:lnSpc>
              <a:buFont typeface="Arial" panose="020B0604020202020204" pitchFamily="34" charset="0"/>
              <a:buChar char="•"/>
            </a:pPr>
            <a:r>
              <a:rPr lang="en-US" dirty="0">
                <a:solidFill>
                  <a:srgbClr val="000000"/>
                </a:solidFill>
                <a:latin typeface="NewBaskerville-Roman"/>
              </a:rPr>
              <a:t>Data </a:t>
            </a:r>
            <a:r>
              <a:rPr lang="en-US" sz="1800" b="0" i="0" dirty="0">
                <a:solidFill>
                  <a:srgbClr val="000000"/>
                </a:solidFill>
                <a:effectLst/>
                <a:latin typeface="NewBaskerville-Roman"/>
              </a:rPr>
              <a:t>science is mostly applied in the context of an organization. When the business asks you to perform a data science project, you’ll first prepare a project charter. </a:t>
            </a:r>
          </a:p>
          <a:p>
            <a:pPr marL="285750" indent="-285750" algn="just" fontAlgn="base">
              <a:lnSpc>
                <a:spcPct val="200000"/>
              </a:lnSpc>
              <a:buFont typeface="Arial" panose="020B0604020202020204" pitchFamily="34" charset="0"/>
              <a:buChar char="•"/>
            </a:pPr>
            <a:r>
              <a:rPr lang="en-US" sz="1800" b="0" i="0" dirty="0">
                <a:solidFill>
                  <a:srgbClr val="000000"/>
                </a:solidFill>
                <a:effectLst/>
                <a:latin typeface="NewBaskerville-Roman"/>
              </a:rPr>
              <a:t>This charter contains information such as what you’re going to research, how the company benefits from that, what data and resources you need, a timetable, and deliverables.</a:t>
            </a:r>
            <a:endParaRPr lang="en-US" b="0" i="0" dirty="0">
              <a:solidFill>
                <a:srgbClr val="273239"/>
              </a:solidFill>
              <a:effectLst/>
              <a:highlight>
                <a:srgbClr val="FFFFFF"/>
              </a:highlight>
              <a:latin typeface="Calibri" panose="020F0502020204030204" pitchFamily="34" charset="0"/>
              <a:ea typeface="Calibri" panose="020F0502020204030204" pitchFamily="34" charset="0"/>
              <a:cs typeface="Calibri" panose="020F0502020204030204" pitchFamily="34" charset="0"/>
            </a:endParaRPr>
          </a:p>
        </p:txBody>
      </p:sp>
      <p:pic>
        <p:nvPicPr>
          <p:cNvPr id="4" name="Picture 3">
            <a:extLst>
              <a:ext uri="{FF2B5EF4-FFF2-40B4-BE49-F238E27FC236}">
                <a16:creationId xmlns:a16="http://schemas.microsoft.com/office/drawing/2014/main" id="{8CDDDB76-6ED1-4161-B9C5-70C60203E5A1}"/>
              </a:ext>
            </a:extLst>
          </p:cNvPr>
          <p:cNvPicPr>
            <a:picLocks noChangeAspect="1"/>
          </p:cNvPicPr>
          <p:nvPr/>
        </p:nvPicPr>
        <p:blipFill>
          <a:blip r:embed="rId3"/>
          <a:stretch>
            <a:fillRect/>
          </a:stretch>
        </p:blipFill>
        <p:spPr>
          <a:xfrm>
            <a:off x="8529066" y="2555897"/>
            <a:ext cx="2872795" cy="2813561"/>
          </a:xfrm>
          <a:prstGeom prst="rect">
            <a:avLst/>
          </a:prstGeom>
          <a:ln w="6350">
            <a:solidFill>
              <a:schemeClr val="tx1"/>
            </a:solidFill>
          </a:ln>
        </p:spPr>
      </p:pic>
    </p:spTree>
    <p:extLst>
      <p:ext uri="{BB962C8B-B14F-4D97-AF65-F5344CB8AC3E}">
        <p14:creationId xmlns:p14="http://schemas.microsoft.com/office/powerpoint/2010/main" val="291518635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Table 8">
            <a:extLst>
              <a:ext uri="{FF2B5EF4-FFF2-40B4-BE49-F238E27FC236}">
                <a16:creationId xmlns:a16="http://schemas.microsoft.com/office/drawing/2014/main" id="{0B6EC464-4750-5FF3-7A5A-15612BA6E293}"/>
              </a:ext>
            </a:extLst>
          </p:cNvPr>
          <p:cNvGraphicFramePr>
            <a:graphicFrameLocks noGrp="1"/>
          </p:cNvGraphicFramePr>
          <p:nvPr/>
        </p:nvGraphicFramePr>
        <p:xfrm>
          <a:off x="0" y="23812"/>
          <a:ext cx="12192000" cy="465287"/>
        </p:xfrm>
        <a:graphic>
          <a:graphicData uri="http://schemas.openxmlformats.org/drawingml/2006/table">
            <a:tbl>
              <a:tblPr firstRow="1" bandRow="1">
                <a:tableStyleId>{5C22544A-7EE6-4342-B048-85BDC9FD1C3A}</a:tableStyleId>
              </a:tblPr>
              <a:tblGrid>
                <a:gridCol w="6092042">
                  <a:extLst>
                    <a:ext uri="{9D8B030D-6E8A-4147-A177-3AD203B41FA5}">
                      <a16:colId xmlns:a16="http://schemas.microsoft.com/office/drawing/2014/main" val="2179694530"/>
                    </a:ext>
                  </a:extLst>
                </a:gridCol>
                <a:gridCol w="6099958">
                  <a:extLst>
                    <a:ext uri="{9D8B030D-6E8A-4147-A177-3AD203B41FA5}">
                      <a16:colId xmlns:a16="http://schemas.microsoft.com/office/drawing/2014/main" val="2768207918"/>
                    </a:ext>
                  </a:extLst>
                </a:gridCol>
              </a:tblGrid>
              <a:tr h="465287">
                <a:tc>
                  <a:txBody>
                    <a:bodyPr/>
                    <a:lstStyle/>
                    <a:p>
                      <a:endParaRPr lang="en-US" dirty="0"/>
                    </a:p>
                  </a:txBody>
                  <a:tcPr>
                    <a:solidFill>
                      <a:srgbClr val="FF85FF"/>
                    </a:solidFill>
                  </a:tcPr>
                </a:tc>
                <a:tc>
                  <a:txBody>
                    <a:bodyPr/>
                    <a:lstStyle/>
                    <a:p>
                      <a:endParaRPr lang="en-US" dirty="0"/>
                    </a:p>
                  </a:txBody>
                  <a:tcPr>
                    <a:solidFill>
                      <a:srgbClr val="FFFF00"/>
                    </a:solidFill>
                  </a:tcPr>
                </a:tc>
                <a:extLst>
                  <a:ext uri="{0D108BD9-81ED-4DB2-BD59-A6C34878D82A}">
                    <a16:rowId xmlns:a16="http://schemas.microsoft.com/office/drawing/2014/main" val="1996944423"/>
                  </a:ext>
                </a:extLst>
              </a:tr>
            </a:tbl>
          </a:graphicData>
        </a:graphic>
      </p:graphicFrame>
      <p:graphicFrame>
        <p:nvGraphicFramePr>
          <p:cNvPr id="10" name="Table 9">
            <a:extLst>
              <a:ext uri="{FF2B5EF4-FFF2-40B4-BE49-F238E27FC236}">
                <a16:creationId xmlns:a16="http://schemas.microsoft.com/office/drawing/2014/main" id="{494BAFB7-FE1F-E1A9-7A6C-AB4145BD9BA1}"/>
              </a:ext>
            </a:extLst>
          </p:cNvPr>
          <p:cNvGraphicFramePr>
            <a:graphicFrameLocks noGrp="1"/>
          </p:cNvGraphicFramePr>
          <p:nvPr/>
        </p:nvGraphicFramePr>
        <p:xfrm>
          <a:off x="1" y="6478892"/>
          <a:ext cx="12191999" cy="370840"/>
        </p:xfrm>
        <a:graphic>
          <a:graphicData uri="http://schemas.openxmlformats.org/drawingml/2006/table">
            <a:tbl>
              <a:tblPr firstRow="1" bandRow="1">
                <a:tableStyleId>{5C22544A-7EE6-4342-B048-85BDC9FD1C3A}</a:tableStyleId>
              </a:tblPr>
              <a:tblGrid>
                <a:gridCol w="6080165">
                  <a:extLst>
                    <a:ext uri="{9D8B030D-6E8A-4147-A177-3AD203B41FA5}">
                      <a16:colId xmlns:a16="http://schemas.microsoft.com/office/drawing/2014/main" val="2179694530"/>
                    </a:ext>
                  </a:extLst>
                </a:gridCol>
                <a:gridCol w="6111834">
                  <a:extLst>
                    <a:ext uri="{9D8B030D-6E8A-4147-A177-3AD203B41FA5}">
                      <a16:colId xmlns:a16="http://schemas.microsoft.com/office/drawing/2014/main" val="2768207918"/>
                    </a:ext>
                  </a:extLst>
                </a:gridCol>
              </a:tblGrid>
              <a:tr h="370840">
                <a:tc>
                  <a:txBody>
                    <a:bodyPr/>
                    <a:lstStyle/>
                    <a:p>
                      <a:endParaRPr lang="en-US" dirty="0"/>
                    </a:p>
                  </a:txBody>
                  <a:tcPr>
                    <a:solidFill>
                      <a:srgbClr val="FFFF00"/>
                    </a:solidFill>
                  </a:tcPr>
                </a:tc>
                <a:tc>
                  <a:txBody>
                    <a:bodyPr/>
                    <a:lstStyle/>
                    <a:p>
                      <a:pPr algn="r"/>
                      <a:fld id="{D0B2593F-2BF4-475E-A4EB-53327DDBCFB2}" type="slidenum">
                        <a:rPr lang="en-US" smtClean="0">
                          <a:solidFill>
                            <a:schemeClr val="tx1"/>
                          </a:solidFill>
                        </a:rPr>
                        <a:t>29</a:t>
                      </a:fld>
                      <a:endParaRPr lang="en-US" dirty="0">
                        <a:solidFill>
                          <a:schemeClr val="tx1"/>
                        </a:solidFill>
                      </a:endParaRPr>
                    </a:p>
                  </a:txBody>
                  <a:tcPr>
                    <a:solidFill>
                      <a:srgbClr val="FF85FF"/>
                    </a:solidFill>
                  </a:tcPr>
                </a:tc>
                <a:extLst>
                  <a:ext uri="{0D108BD9-81ED-4DB2-BD59-A6C34878D82A}">
                    <a16:rowId xmlns:a16="http://schemas.microsoft.com/office/drawing/2014/main" val="1996944423"/>
                  </a:ext>
                </a:extLst>
              </a:tr>
            </a:tbl>
          </a:graphicData>
        </a:graphic>
      </p:graphicFrame>
      <p:pic>
        <p:nvPicPr>
          <p:cNvPr id="12" name="Google Shape;187;p25" descr="pngfind.com-kingpin-png-4152286 (1).png">
            <a:extLst>
              <a:ext uri="{FF2B5EF4-FFF2-40B4-BE49-F238E27FC236}">
                <a16:creationId xmlns:a16="http://schemas.microsoft.com/office/drawing/2014/main" id="{2DBF2481-A2DB-F96E-5749-B03DC4F71665}"/>
              </a:ext>
            </a:extLst>
          </p:cNvPr>
          <p:cNvPicPr preferRelativeResize="0"/>
          <p:nvPr/>
        </p:nvPicPr>
        <p:blipFill rotWithShape="1">
          <a:blip r:embed="rId2">
            <a:alphaModFix/>
          </a:blip>
          <a:srcRect/>
          <a:stretch/>
        </p:blipFill>
        <p:spPr>
          <a:xfrm>
            <a:off x="11044052" y="8268"/>
            <a:ext cx="1051261" cy="465287"/>
          </a:xfrm>
          <a:prstGeom prst="rect">
            <a:avLst/>
          </a:prstGeom>
          <a:noFill/>
          <a:ln>
            <a:noFill/>
          </a:ln>
        </p:spPr>
      </p:pic>
      <p:sp>
        <p:nvSpPr>
          <p:cNvPr id="19" name="Rectangle 18">
            <a:extLst>
              <a:ext uri="{FF2B5EF4-FFF2-40B4-BE49-F238E27FC236}">
                <a16:creationId xmlns:a16="http://schemas.microsoft.com/office/drawing/2014/main" id="{A0702E37-2E7E-7262-5E76-F69A817105B3}"/>
              </a:ext>
            </a:extLst>
          </p:cNvPr>
          <p:cNvSpPr/>
          <p:nvPr/>
        </p:nvSpPr>
        <p:spPr>
          <a:xfrm>
            <a:off x="0" y="8268"/>
            <a:ext cx="12192000" cy="6825920"/>
          </a:xfrm>
          <a:prstGeom prst="rect">
            <a:avLst/>
          </a:prstGeom>
          <a:noFill/>
          <a:ln w="38100">
            <a:solidFill>
              <a:srgbClr val="0432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DCB2A3F0-9003-5886-09B4-27925BBE4000}"/>
              </a:ext>
            </a:extLst>
          </p:cNvPr>
          <p:cNvSpPr txBox="1"/>
          <p:nvPr/>
        </p:nvSpPr>
        <p:spPr>
          <a:xfrm>
            <a:off x="-1" y="708849"/>
            <a:ext cx="12191999" cy="646331"/>
          </a:xfrm>
          <a:prstGeom prst="rect">
            <a:avLst/>
          </a:prstGeom>
          <a:noFill/>
        </p:spPr>
        <p:txBody>
          <a:bodyPr wrap="square">
            <a:spAutoFit/>
          </a:bodyPr>
          <a:lstStyle/>
          <a:p>
            <a:pPr algn="ctr"/>
            <a:r>
              <a:rPr lang="en-US" sz="3600" b="1" dirty="0">
                <a:effectLst/>
                <a:latin typeface="Calibri" panose="020F0502020204030204" pitchFamily="34" charset="0"/>
                <a:ea typeface="Calibri" panose="020F0502020204030204" pitchFamily="34" charset="0"/>
                <a:cs typeface="Calibri" panose="020F0502020204030204" pitchFamily="34" charset="0"/>
              </a:rPr>
              <a:t>2. Retrieving data</a:t>
            </a:r>
            <a:endParaRPr lang="en-GB" sz="8800" b="1" cap="none" spc="0" dirty="0">
              <a:ln w="0"/>
              <a:solidFill>
                <a:schemeClr val="tx1"/>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Calibri" panose="020F0502020204030204" pitchFamily="34" charset="0"/>
            </a:endParaRPr>
          </a:p>
        </p:txBody>
      </p:sp>
      <p:sp>
        <p:nvSpPr>
          <p:cNvPr id="5" name="TextBox 4">
            <a:extLst>
              <a:ext uri="{FF2B5EF4-FFF2-40B4-BE49-F238E27FC236}">
                <a16:creationId xmlns:a16="http://schemas.microsoft.com/office/drawing/2014/main" id="{57BF3EEF-553A-D37A-6EF6-B514AF07FC3C}"/>
              </a:ext>
            </a:extLst>
          </p:cNvPr>
          <p:cNvSpPr txBox="1"/>
          <p:nvPr/>
        </p:nvSpPr>
        <p:spPr>
          <a:xfrm>
            <a:off x="589719" y="1381587"/>
            <a:ext cx="7222438" cy="3338735"/>
          </a:xfrm>
          <a:prstGeom prst="rect">
            <a:avLst/>
          </a:prstGeom>
          <a:noFill/>
        </p:spPr>
        <p:txBody>
          <a:bodyPr wrap="square">
            <a:spAutoFit/>
          </a:bodyPr>
          <a:lstStyle/>
          <a:p>
            <a:pPr marL="283464" indent="-283464" algn="just" rtl="0" eaLnBrk="1" latinLnBrk="0" hangingPunct="1">
              <a:lnSpc>
                <a:spcPct val="200000"/>
              </a:lnSpc>
              <a:spcBef>
                <a:spcPts val="0"/>
              </a:spcBef>
              <a:spcAft>
                <a:spcPts val="0"/>
              </a:spcAft>
              <a:buClrTx/>
              <a:buSzPts val="1800"/>
              <a:buFont typeface="Arial" panose="020B0604020202020204" pitchFamily="34" charset="0"/>
              <a:buChar char="•"/>
            </a:pPr>
            <a:r>
              <a:rPr lang="en-US" sz="1800" b="0" i="0" dirty="0">
                <a:solidFill>
                  <a:srgbClr val="000000"/>
                </a:solidFill>
                <a:effectLst/>
                <a:latin typeface="NewBaskerville-Roman"/>
              </a:rPr>
              <a:t>The second step is to </a:t>
            </a:r>
            <a:r>
              <a:rPr lang="en-US" b="1" dirty="0">
                <a:solidFill>
                  <a:srgbClr val="000000"/>
                </a:solidFill>
                <a:latin typeface="NewBaskerville-Roman"/>
              </a:rPr>
              <a:t>Data Retrieval</a:t>
            </a:r>
            <a:r>
              <a:rPr lang="en-US" sz="1800" b="0" i="0" dirty="0">
                <a:solidFill>
                  <a:srgbClr val="000000"/>
                </a:solidFill>
                <a:effectLst/>
                <a:latin typeface="NewBaskerville-Roman"/>
              </a:rPr>
              <a:t>. You’ve stated in the project charter which data you need and where you can find it. </a:t>
            </a:r>
          </a:p>
          <a:p>
            <a:pPr marL="283464" indent="-283464" algn="just" rtl="0" eaLnBrk="1" latinLnBrk="0" hangingPunct="1">
              <a:lnSpc>
                <a:spcPct val="200000"/>
              </a:lnSpc>
              <a:spcBef>
                <a:spcPts val="0"/>
              </a:spcBef>
              <a:spcAft>
                <a:spcPts val="0"/>
              </a:spcAft>
              <a:buClrTx/>
              <a:buSzPts val="1800"/>
              <a:buFont typeface="Arial" panose="020B0604020202020204" pitchFamily="34" charset="0"/>
              <a:buChar char="•"/>
            </a:pPr>
            <a:r>
              <a:rPr lang="en-US" sz="1800" b="0" i="0" dirty="0">
                <a:solidFill>
                  <a:srgbClr val="000000"/>
                </a:solidFill>
                <a:effectLst/>
                <a:latin typeface="NewBaskerville-Roman"/>
              </a:rPr>
              <a:t>In this step you ensure that you can use the data in your program, which means checking the existence of, quality, and access to the data. </a:t>
            </a:r>
          </a:p>
          <a:p>
            <a:pPr marL="283464" indent="-283464" algn="just" rtl="0" eaLnBrk="1" latinLnBrk="0" hangingPunct="1">
              <a:lnSpc>
                <a:spcPct val="200000"/>
              </a:lnSpc>
              <a:spcBef>
                <a:spcPts val="0"/>
              </a:spcBef>
              <a:spcAft>
                <a:spcPts val="0"/>
              </a:spcAft>
              <a:buClrTx/>
              <a:buSzPts val="1800"/>
              <a:buFont typeface="Arial" panose="020B0604020202020204" pitchFamily="34" charset="0"/>
              <a:buChar char="•"/>
            </a:pPr>
            <a:r>
              <a:rPr lang="en-US" sz="1800" b="0" i="0" dirty="0">
                <a:solidFill>
                  <a:srgbClr val="000000"/>
                </a:solidFill>
                <a:effectLst/>
                <a:latin typeface="NewBaskerville-Roman"/>
              </a:rPr>
              <a:t>Data can also be delivered by third-party companies and takes many forms ranging from Excel spreadsheets to different types of databases.</a:t>
            </a:r>
            <a:endParaRPr lang="en-US" b="0" i="0" dirty="0">
              <a:solidFill>
                <a:srgbClr val="273239"/>
              </a:solidFill>
              <a:effectLst/>
              <a:highlight>
                <a:srgbClr val="FFFFFF"/>
              </a:highlight>
              <a:latin typeface="Calibri" panose="020F0502020204030204" pitchFamily="34" charset="0"/>
              <a:ea typeface="Calibri" panose="020F0502020204030204" pitchFamily="34" charset="0"/>
              <a:cs typeface="Calibri" panose="020F0502020204030204" pitchFamily="34" charset="0"/>
            </a:endParaRPr>
          </a:p>
        </p:txBody>
      </p:sp>
      <p:pic>
        <p:nvPicPr>
          <p:cNvPr id="4" name="Picture 3">
            <a:extLst>
              <a:ext uri="{FF2B5EF4-FFF2-40B4-BE49-F238E27FC236}">
                <a16:creationId xmlns:a16="http://schemas.microsoft.com/office/drawing/2014/main" id="{38F92002-F4B9-4FC2-8A00-3C3A6AF13CED}"/>
              </a:ext>
            </a:extLst>
          </p:cNvPr>
          <p:cNvPicPr>
            <a:picLocks noChangeAspect="1"/>
          </p:cNvPicPr>
          <p:nvPr/>
        </p:nvPicPr>
        <p:blipFill>
          <a:blip r:embed="rId3"/>
          <a:stretch>
            <a:fillRect/>
          </a:stretch>
        </p:blipFill>
        <p:spPr>
          <a:xfrm>
            <a:off x="8704242" y="1689506"/>
            <a:ext cx="2865440" cy="3290533"/>
          </a:xfrm>
          <a:prstGeom prst="rect">
            <a:avLst/>
          </a:prstGeom>
          <a:ln w="6350">
            <a:solidFill>
              <a:schemeClr val="tx1"/>
            </a:solidFill>
          </a:ln>
        </p:spPr>
      </p:pic>
    </p:spTree>
    <p:extLst>
      <p:ext uri="{BB962C8B-B14F-4D97-AF65-F5344CB8AC3E}">
        <p14:creationId xmlns:p14="http://schemas.microsoft.com/office/powerpoint/2010/main" val="340414049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Table 8">
            <a:extLst>
              <a:ext uri="{FF2B5EF4-FFF2-40B4-BE49-F238E27FC236}">
                <a16:creationId xmlns:a16="http://schemas.microsoft.com/office/drawing/2014/main" id="{0B6EC464-4750-5FF3-7A5A-15612BA6E293}"/>
              </a:ext>
            </a:extLst>
          </p:cNvPr>
          <p:cNvGraphicFramePr>
            <a:graphicFrameLocks noGrp="1"/>
          </p:cNvGraphicFramePr>
          <p:nvPr/>
        </p:nvGraphicFramePr>
        <p:xfrm>
          <a:off x="0" y="23812"/>
          <a:ext cx="12192000" cy="465287"/>
        </p:xfrm>
        <a:graphic>
          <a:graphicData uri="http://schemas.openxmlformats.org/drawingml/2006/table">
            <a:tbl>
              <a:tblPr firstRow="1" bandRow="1">
                <a:tableStyleId>{5C22544A-7EE6-4342-B048-85BDC9FD1C3A}</a:tableStyleId>
              </a:tblPr>
              <a:tblGrid>
                <a:gridCol w="6092042">
                  <a:extLst>
                    <a:ext uri="{9D8B030D-6E8A-4147-A177-3AD203B41FA5}">
                      <a16:colId xmlns:a16="http://schemas.microsoft.com/office/drawing/2014/main" val="2179694530"/>
                    </a:ext>
                  </a:extLst>
                </a:gridCol>
                <a:gridCol w="6099958">
                  <a:extLst>
                    <a:ext uri="{9D8B030D-6E8A-4147-A177-3AD203B41FA5}">
                      <a16:colId xmlns:a16="http://schemas.microsoft.com/office/drawing/2014/main" val="2768207918"/>
                    </a:ext>
                  </a:extLst>
                </a:gridCol>
              </a:tblGrid>
              <a:tr h="465287">
                <a:tc>
                  <a:txBody>
                    <a:bodyPr/>
                    <a:lstStyle/>
                    <a:p>
                      <a:endParaRPr lang="en-US" dirty="0"/>
                    </a:p>
                  </a:txBody>
                  <a:tcPr>
                    <a:solidFill>
                      <a:srgbClr val="FF85FF"/>
                    </a:solidFill>
                  </a:tcPr>
                </a:tc>
                <a:tc>
                  <a:txBody>
                    <a:bodyPr/>
                    <a:lstStyle/>
                    <a:p>
                      <a:endParaRPr lang="en-US" dirty="0"/>
                    </a:p>
                  </a:txBody>
                  <a:tcPr>
                    <a:solidFill>
                      <a:srgbClr val="FFFF00"/>
                    </a:solidFill>
                  </a:tcPr>
                </a:tc>
                <a:extLst>
                  <a:ext uri="{0D108BD9-81ED-4DB2-BD59-A6C34878D82A}">
                    <a16:rowId xmlns:a16="http://schemas.microsoft.com/office/drawing/2014/main" val="1996944423"/>
                  </a:ext>
                </a:extLst>
              </a:tr>
            </a:tbl>
          </a:graphicData>
        </a:graphic>
      </p:graphicFrame>
      <p:graphicFrame>
        <p:nvGraphicFramePr>
          <p:cNvPr id="10" name="Table 9">
            <a:extLst>
              <a:ext uri="{FF2B5EF4-FFF2-40B4-BE49-F238E27FC236}">
                <a16:creationId xmlns:a16="http://schemas.microsoft.com/office/drawing/2014/main" id="{494BAFB7-FE1F-E1A9-7A6C-AB4145BD9BA1}"/>
              </a:ext>
            </a:extLst>
          </p:cNvPr>
          <p:cNvGraphicFramePr>
            <a:graphicFrameLocks noGrp="1"/>
          </p:cNvGraphicFramePr>
          <p:nvPr/>
        </p:nvGraphicFramePr>
        <p:xfrm>
          <a:off x="1" y="6478892"/>
          <a:ext cx="12191999" cy="370840"/>
        </p:xfrm>
        <a:graphic>
          <a:graphicData uri="http://schemas.openxmlformats.org/drawingml/2006/table">
            <a:tbl>
              <a:tblPr firstRow="1" bandRow="1">
                <a:tableStyleId>{5C22544A-7EE6-4342-B048-85BDC9FD1C3A}</a:tableStyleId>
              </a:tblPr>
              <a:tblGrid>
                <a:gridCol w="6080165">
                  <a:extLst>
                    <a:ext uri="{9D8B030D-6E8A-4147-A177-3AD203B41FA5}">
                      <a16:colId xmlns:a16="http://schemas.microsoft.com/office/drawing/2014/main" val="2179694530"/>
                    </a:ext>
                  </a:extLst>
                </a:gridCol>
                <a:gridCol w="6111834">
                  <a:extLst>
                    <a:ext uri="{9D8B030D-6E8A-4147-A177-3AD203B41FA5}">
                      <a16:colId xmlns:a16="http://schemas.microsoft.com/office/drawing/2014/main" val="2768207918"/>
                    </a:ext>
                  </a:extLst>
                </a:gridCol>
              </a:tblGrid>
              <a:tr h="370840">
                <a:tc>
                  <a:txBody>
                    <a:bodyPr/>
                    <a:lstStyle/>
                    <a:p>
                      <a:endParaRPr lang="en-US" dirty="0"/>
                    </a:p>
                  </a:txBody>
                  <a:tcPr>
                    <a:solidFill>
                      <a:srgbClr val="FFFF00"/>
                    </a:solidFill>
                  </a:tcPr>
                </a:tc>
                <a:tc>
                  <a:txBody>
                    <a:bodyPr/>
                    <a:lstStyle/>
                    <a:p>
                      <a:pPr algn="r"/>
                      <a:fld id="{0832CCF3-45B2-4C24-B2E3-DF7875A96810}" type="slidenum">
                        <a:rPr lang="en-US" smtClean="0">
                          <a:solidFill>
                            <a:schemeClr val="tx1"/>
                          </a:solidFill>
                        </a:rPr>
                        <a:t>30</a:t>
                      </a:fld>
                      <a:endParaRPr lang="en-US" dirty="0">
                        <a:solidFill>
                          <a:schemeClr val="tx1"/>
                        </a:solidFill>
                      </a:endParaRPr>
                    </a:p>
                  </a:txBody>
                  <a:tcPr>
                    <a:solidFill>
                      <a:srgbClr val="FF85FF"/>
                    </a:solidFill>
                  </a:tcPr>
                </a:tc>
                <a:extLst>
                  <a:ext uri="{0D108BD9-81ED-4DB2-BD59-A6C34878D82A}">
                    <a16:rowId xmlns:a16="http://schemas.microsoft.com/office/drawing/2014/main" val="1996944423"/>
                  </a:ext>
                </a:extLst>
              </a:tr>
            </a:tbl>
          </a:graphicData>
        </a:graphic>
      </p:graphicFrame>
      <p:pic>
        <p:nvPicPr>
          <p:cNvPr id="12" name="Google Shape;187;p25" descr="pngfind.com-kingpin-png-4152286 (1).png">
            <a:extLst>
              <a:ext uri="{FF2B5EF4-FFF2-40B4-BE49-F238E27FC236}">
                <a16:creationId xmlns:a16="http://schemas.microsoft.com/office/drawing/2014/main" id="{2DBF2481-A2DB-F96E-5749-B03DC4F71665}"/>
              </a:ext>
            </a:extLst>
          </p:cNvPr>
          <p:cNvPicPr preferRelativeResize="0"/>
          <p:nvPr/>
        </p:nvPicPr>
        <p:blipFill rotWithShape="1">
          <a:blip r:embed="rId2">
            <a:alphaModFix/>
          </a:blip>
          <a:srcRect/>
          <a:stretch/>
        </p:blipFill>
        <p:spPr>
          <a:xfrm>
            <a:off x="11044052" y="8268"/>
            <a:ext cx="1051261" cy="465287"/>
          </a:xfrm>
          <a:prstGeom prst="rect">
            <a:avLst/>
          </a:prstGeom>
          <a:noFill/>
          <a:ln>
            <a:noFill/>
          </a:ln>
        </p:spPr>
      </p:pic>
      <p:sp>
        <p:nvSpPr>
          <p:cNvPr id="19" name="Rectangle 18">
            <a:extLst>
              <a:ext uri="{FF2B5EF4-FFF2-40B4-BE49-F238E27FC236}">
                <a16:creationId xmlns:a16="http://schemas.microsoft.com/office/drawing/2014/main" id="{A0702E37-2E7E-7262-5E76-F69A817105B3}"/>
              </a:ext>
            </a:extLst>
          </p:cNvPr>
          <p:cNvSpPr/>
          <p:nvPr/>
        </p:nvSpPr>
        <p:spPr>
          <a:xfrm>
            <a:off x="0" y="8268"/>
            <a:ext cx="12192000" cy="6825920"/>
          </a:xfrm>
          <a:prstGeom prst="rect">
            <a:avLst/>
          </a:prstGeom>
          <a:noFill/>
          <a:ln w="38100">
            <a:solidFill>
              <a:srgbClr val="0432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DCB2A3F0-9003-5886-09B4-27925BBE4000}"/>
              </a:ext>
            </a:extLst>
          </p:cNvPr>
          <p:cNvSpPr txBox="1"/>
          <p:nvPr/>
        </p:nvSpPr>
        <p:spPr>
          <a:xfrm>
            <a:off x="1" y="708849"/>
            <a:ext cx="12191999" cy="646331"/>
          </a:xfrm>
          <a:prstGeom prst="rect">
            <a:avLst/>
          </a:prstGeom>
          <a:noFill/>
        </p:spPr>
        <p:txBody>
          <a:bodyPr wrap="square">
            <a:spAutoFit/>
          </a:bodyPr>
          <a:lstStyle/>
          <a:p>
            <a:pPr algn="ctr"/>
            <a:r>
              <a:rPr lang="en-US" sz="3600" b="1" dirty="0">
                <a:effectLst/>
                <a:latin typeface="Calibri" panose="020F0502020204030204" pitchFamily="34" charset="0"/>
                <a:ea typeface="Calibri" panose="020F0502020204030204" pitchFamily="34" charset="0"/>
                <a:cs typeface="Calibri" panose="020F0502020204030204" pitchFamily="34" charset="0"/>
              </a:rPr>
              <a:t>3. Data Preparation</a:t>
            </a:r>
            <a:endParaRPr lang="en-GB" sz="8800" b="1" cap="none" spc="0" dirty="0">
              <a:ln w="0"/>
              <a:solidFill>
                <a:schemeClr val="tx1"/>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Calibri" panose="020F0502020204030204" pitchFamily="34" charset="0"/>
            </a:endParaRPr>
          </a:p>
        </p:txBody>
      </p:sp>
      <p:sp>
        <p:nvSpPr>
          <p:cNvPr id="5" name="TextBox 4">
            <a:extLst>
              <a:ext uri="{FF2B5EF4-FFF2-40B4-BE49-F238E27FC236}">
                <a16:creationId xmlns:a16="http://schemas.microsoft.com/office/drawing/2014/main" id="{57BF3EEF-553A-D37A-6EF6-B514AF07FC3C}"/>
              </a:ext>
            </a:extLst>
          </p:cNvPr>
          <p:cNvSpPr txBox="1"/>
          <p:nvPr/>
        </p:nvSpPr>
        <p:spPr>
          <a:xfrm>
            <a:off x="467138" y="1374672"/>
            <a:ext cx="8686801" cy="5000728"/>
          </a:xfrm>
          <a:prstGeom prst="rect">
            <a:avLst/>
          </a:prstGeom>
          <a:noFill/>
        </p:spPr>
        <p:txBody>
          <a:bodyPr wrap="square">
            <a:spAutoFit/>
          </a:bodyPr>
          <a:lstStyle/>
          <a:p>
            <a:pPr marL="285750" indent="-285750" algn="just">
              <a:lnSpc>
                <a:spcPct val="200000"/>
              </a:lnSpc>
              <a:buSzPts val="1800"/>
              <a:buFont typeface="Arial" panose="020B0604020202020204" pitchFamily="34" charset="0"/>
              <a:buChar char="•"/>
            </a:pPr>
            <a:r>
              <a:rPr lang="en-US" sz="1800" b="1" i="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Data Preparation </a:t>
            </a:r>
            <a:r>
              <a:rPr lang="en-US" sz="1800" b="0" i="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is an error-prone process; in this phase you enhance the quality of the</a:t>
            </a:r>
            <a:br>
              <a:rPr lang="en-US" sz="1800" b="0" i="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br>
            <a:r>
              <a:rPr lang="en-US" sz="1800" b="0" i="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data and prepare it for use in subsequent steps. </a:t>
            </a:r>
          </a:p>
          <a:p>
            <a:pPr algn="just">
              <a:lnSpc>
                <a:spcPct val="200000"/>
              </a:lnSpc>
              <a:buSzPts val="1800"/>
            </a:pPr>
            <a:r>
              <a:rPr lang="en-US" sz="1800" b="0" i="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This phase consists of three subphases: </a:t>
            </a:r>
          </a:p>
          <a:p>
            <a:pPr marL="285750" indent="-285750" algn="just">
              <a:lnSpc>
                <a:spcPct val="200000"/>
              </a:lnSpc>
              <a:buSzPts val="1800"/>
              <a:buFont typeface="Arial" panose="020B0604020202020204" pitchFamily="34" charset="0"/>
              <a:buChar char="•"/>
            </a:pPr>
            <a:r>
              <a:rPr lang="en-US" b="1" i="1"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Data Cleansing </a:t>
            </a:r>
            <a:r>
              <a:rPr lang="en-US" b="0" i="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removes false values from a data source and inconsistencies across data sources. </a:t>
            </a:r>
          </a:p>
          <a:p>
            <a:pPr marL="285750" indent="-285750" algn="just">
              <a:lnSpc>
                <a:spcPct val="200000"/>
              </a:lnSpc>
              <a:buSzPts val="1800"/>
              <a:buFont typeface="Arial" panose="020B0604020202020204" pitchFamily="34" charset="0"/>
              <a:buChar char="•"/>
            </a:pPr>
            <a:r>
              <a:rPr lang="en-US" b="1" i="1"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Data </a:t>
            </a:r>
            <a:r>
              <a:rPr lang="en-US" b="1" i="1" dirty="0">
                <a:solidFill>
                  <a:srgbClr val="000000"/>
                </a:solidFill>
                <a:latin typeface="Calibri" panose="020F0502020204030204" pitchFamily="34" charset="0"/>
                <a:ea typeface="Calibri" panose="020F0502020204030204" pitchFamily="34" charset="0"/>
                <a:cs typeface="Calibri" panose="020F0502020204030204" pitchFamily="34" charset="0"/>
              </a:rPr>
              <a:t>I</a:t>
            </a:r>
            <a:r>
              <a:rPr lang="en-US" b="1" i="1"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ntegration </a:t>
            </a:r>
            <a:r>
              <a:rPr lang="en-US" b="0" i="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enriches data sources by combining information from multiple data sources.</a:t>
            </a:r>
          </a:p>
          <a:p>
            <a:pPr marL="285750" indent="-285750" algn="just">
              <a:lnSpc>
                <a:spcPct val="200000"/>
              </a:lnSpc>
              <a:buSzPts val="1800"/>
              <a:buFont typeface="Arial" panose="020B0604020202020204" pitchFamily="34" charset="0"/>
              <a:buChar char="•"/>
            </a:pPr>
            <a:r>
              <a:rPr lang="en-US" b="1" i="1"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Data </a:t>
            </a:r>
            <a:r>
              <a:rPr lang="en-US" b="1" i="1" dirty="0">
                <a:solidFill>
                  <a:srgbClr val="000000"/>
                </a:solidFill>
                <a:latin typeface="Calibri" panose="020F0502020204030204" pitchFamily="34" charset="0"/>
                <a:ea typeface="Calibri" panose="020F0502020204030204" pitchFamily="34" charset="0"/>
                <a:cs typeface="Calibri" panose="020F0502020204030204" pitchFamily="34" charset="0"/>
              </a:rPr>
              <a:t>T</a:t>
            </a:r>
            <a:r>
              <a:rPr lang="en-US" b="1" i="1"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ransformation </a:t>
            </a:r>
            <a:r>
              <a:rPr lang="en-US" b="0" i="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ensures that the data is in a suitable format for use in your models.</a:t>
            </a:r>
            <a:endParaRPr lang="en-US" i="0" dirty="0">
              <a:solidFill>
                <a:srgbClr val="273239"/>
              </a:solidFill>
              <a:effectLst/>
              <a:highlight>
                <a:srgbClr val="FFFFFF"/>
              </a:highlight>
              <a:latin typeface="Calibri" panose="020F0502020204030204" pitchFamily="34" charset="0"/>
              <a:ea typeface="Calibri" panose="020F0502020204030204" pitchFamily="34" charset="0"/>
              <a:cs typeface="Calibri" panose="020F0502020204030204" pitchFamily="34" charset="0"/>
            </a:endParaRPr>
          </a:p>
        </p:txBody>
      </p:sp>
      <p:pic>
        <p:nvPicPr>
          <p:cNvPr id="2" name="Picture 1">
            <a:extLst>
              <a:ext uri="{FF2B5EF4-FFF2-40B4-BE49-F238E27FC236}">
                <a16:creationId xmlns:a16="http://schemas.microsoft.com/office/drawing/2014/main" id="{66860175-4C0A-4540-A769-AB7B49D4FDB9}"/>
              </a:ext>
            </a:extLst>
          </p:cNvPr>
          <p:cNvPicPr>
            <a:picLocks noChangeAspect="1"/>
          </p:cNvPicPr>
          <p:nvPr/>
        </p:nvPicPr>
        <p:blipFill>
          <a:blip r:embed="rId3"/>
          <a:stretch>
            <a:fillRect/>
          </a:stretch>
        </p:blipFill>
        <p:spPr>
          <a:xfrm>
            <a:off x="9273210" y="2078096"/>
            <a:ext cx="2613992" cy="3323751"/>
          </a:xfrm>
          <a:prstGeom prst="rect">
            <a:avLst/>
          </a:prstGeom>
          <a:ln w="6350">
            <a:solidFill>
              <a:schemeClr val="tx1"/>
            </a:solidFill>
          </a:ln>
        </p:spPr>
      </p:pic>
    </p:spTree>
    <p:extLst>
      <p:ext uri="{BB962C8B-B14F-4D97-AF65-F5344CB8AC3E}">
        <p14:creationId xmlns:p14="http://schemas.microsoft.com/office/powerpoint/2010/main" val="187365263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Table 8">
            <a:extLst>
              <a:ext uri="{FF2B5EF4-FFF2-40B4-BE49-F238E27FC236}">
                <a16:creationId xmlns:a16="http://schemas.microsoft.com/office/drawing/2014/main" id="{0B6EC464-4750-5FF3-7A5A-15612BA6E293}"/>
              </a:ext>
            </a:extLst>
          </p:cNvPr>
          <p:cNvGraphicFramePr>
            <a:graphicFrameLocks noGrp="1"/>
          </p:cNvGraphicFramePr>
          <p:nvPr/>
        </p:nvGraphicFramePr>
        <p:xfrm>
          <a:off x="0" y="23812"/>
          <a:ext cx="12192000" cy="465287"/>
        </p:xfrm>
        <a:graphic>
          <a:graphicData uri="http://schemas.openxmlformats.org/drawingml/2006/table">
            <a:tbl>
              <a:tblPr firstRow="1" bandRow="1">
                <a:tableStyleId>{5C22544A-7EE6-4342-B048-85BDC9FD1C3A}</a:tableStyleId>
              </a:tblPr>
              <a:tblGrid>
                <a:gridCol w="6092042">
                  <a:extLst>
                    <a:ext uri="{9D8B030D-6E8A-4147-A177-3AD203B41FA5}">
                      <a16:colId xmlns:a16="http://schemas.microsoft.com/office/drawing/2014/main" val="2179694530"/>
                    </a:ext>
                  </a:extLst>
                </a:gridCol>
                <a:gridCol w="6099958">
                  <a:extLst>
                    <a:ext uri="{9D8B030D-6E8A-4147-A177-3AD203B41FA5}">
                      <a16:colId xmlns:a16="http://schemas.microsoft.com/office/drawing/2014/main" val="2768207918"/>
                    </a:ext>
                  </a:extLst>
                </a:gridCol>
              </a:tblGrid>
              <a:tr h="465287">
                <a:tc>
                  <a:txBody>
                    <a:bodyPr/>
                    <a:lstStyle/>
                    <a:p>
                      <a:endParaRPr lang="en-US" dirty="0"/>
                    </a:p>
                  </a:txBody>
                  <a:tcPr>
                    <a:solidFill>
                      <a:srgbClr val="FF85FF"/>
                    </a:solidFill>
                  </a:tcPr>
                </a:tc>
                <a:tc>
                  <a:txBody>
                    <a:bodyPr/>
                    <a:lstStyle/>
                    <a:p>
                      <a:endParaRPr lang="en-US" dirty="0"/>
                    </a:p>
                  </a:txBody>
                  <a:tcPr>
                    <a:solidFill>
                      <a:srgbClr val="FFFF00"/>
                    </a:solidFill>
                  </a:tcPr>
                </a:tc>
                <a:extLst>
                  <a:ext uri="{0D108BD9-81ED-4DB2-BD59-A6C34878D82A}">
                    <a16:rowId xmlns:a16="http://schemas.microsoft.com/office/drawing/2014/main" val="1996944423"/>
                  </a:ext>
                </a:extLst>
              </a:tr>
            </a:tbl>
          </a:graphicData>
        </a:graphic>
      </p:graphicFrame>
      <p:graphicFrame>
        <p:nvGraphicFramePr>
          <p:cNvPr id="10" name="Table 9">
            <a:extLst>
              <a:ext uri="{FF2B5EF4-FFF2-40B4-BE49-F238E27FC236}">
                <a16:creationId xmlns:a16="http://schemas.microsoft.com/office/drawing/2014/main" id="{494BAFB7-FE1F-E1A9-7A6C-AB4145BD9BA1}"/>
              </a:ext>
            </a:extLst>
          </p:cNvPr>
          <p:cNvGraphicFramePr>
            <a:graphicFrameLocks noGrp="1"/>
          </p:cNvGraphicFramePr>
          <p:nvPr/>
        </p:nvGraphicFramePr>
        <p:xfrm>
          <a:off x="1" y="6478892"/>
          <a:ext cx="12191999" cy="370840"/>
        </p:xfrm>
        <a:graphic>
          <a:graphicData uri="http://schemas.openxmlformats.org/drawingml/2006/table">
            <a:tbl>
              <a:tblPr firstRow="1" bandRow="1">
                <a:tableStyleId>{5C22544A-7EE6-4342-B048-85BDC9FD1C3A}</a:tableStyleId>
              </a:tblPr>
              <a:tblGrid>
                <a:gridCol w="6080165">
                  <a:extLst>
                    <a:ext uri="{9D8B030D-6E8A-4147-A177-3AD203B41FA5}">
                      <a16:colId xmlns:a16="http://schemas.microsoft.com/office/drawing/2014/main" val="2179694530"/>
                    </a:ext>
                  </a:extLst>
                </a:gridCol>
                <a:gridCol w="6111834">
                  <a:extLst>
                    <a:ext uri="{9D8B030D-6E8A-4147-A177-3AD203B41FA5}">
                      <a16:colId xmlns:a16="http://schemas.microsoft.com/office/drawing/2014/main" val="2768207918"/>
                    </a:ext>
                  </a:extLst>
                </a:gridCol>
              </a:tblGrid>
              <a:tr h="370840">
                <a:tc>
                  <a:txBody>
                    <a:bodyPr/>
                    <a:lstStyle/>
                    <a:p>
                      <a:endParaRPr lang="en-US" dirty="0"/>
                    </a:p>
                  </a:txBody>
                  <a:tcPr>
                    <a:solidFill>
                      <a:srgbClr val="FFFF00"/>
                    </a:solidFill>
                  </a:tcPr>
                </a:tc>
                <a:tc>
                  <a:txBody>
                    <a:bodyPr/>
                    <a:lstStyle/>
                    <a:p>
                      <a:pPr algn="r"/>
                      <a:fld id="{9B936287-C66B-44CA-89FC-354F9580826B}" type="slidenum">
                        <a:rPr lang="en-US" smtClean="0">
                          <a:solidFill>
                            <a:schemeClr val="tx1"/>
                          </a:solidFill>
                        </a:rPr>
                        <a:t>31</a:t>
                      </a:fld>
                      <a:endParaRPr lang="en-US" dirty="0">
                        <a:solidFill>
                          <a:schemeClr val="tx1"/>
                        </a:solidFill>
                      </a:endParaRPr>
                    </a:p>
                  </a:txBody>
                  <a:tcPr>
                    <a:solidFill>
                      <a:srgbClr val="FF85FF"/>
                    </a:solidFill>
                  </a:tcPr>
                </a:tc>
                <a:extLst>
                  <a:ext uri="{0D108BD9-81ED-4DB2-BD59-A6C34878D82A}">
                    <a16:rowId xmlns:a16="http://schemas.microsoft.com/office/drawing/2014/main" val="1996944423"/>
                  </a:ext>
                </a:extLst>
              </a:tr>
            </a:tbl>
          </a:graphicData>
        </a:graphic>
      </p:graphicFrame>
      <p:pic>
        <p:nvPicPr>
          <p:cNvPr id="12" name="Google Shape;187;p25" descr="pngfind.com-kingpin-png-4152286 (1).png">
            <a:extLst>
              <a:ext uri="{FF2B5EF4-FFF2-40B4-BE49-F238E27FC236}">
                <a16:creationId xmlns:a16="http://schemas.microsoft.com/office/drawing/2014/main" id="{2DBF2481-A2DB-F96E-5749-B03DC4F71665}"/>
              </a:ext>
            </a:extLst>
          </p:cNvPr>
          <p:cNvPicPr preferRelativeResize="0"/>
          <p:nvPr/>
        </p:nvPicPr>
        <p:blipFill rotWithShape="1">
          <a:blip r:embed="rId2">
            <a:alphaModFix/>
          </a:blip>
          <a:srcRect/>
          <a:stretch/>
        </p:blipFill>
        <p:spPr>
          <a:xfrm>
            <a:off x="11044052" y="8268"/>
            <a:ext cx="1051261" cy="465287"/>
          </a:xfrm>
          <a:prstGeom prst="rect">
            <a:avLst/>
          </a:prstGeom>
          <a:noFill/>
          <a:ln>
            <a:noFill/>
          </a:ln>
        </p:spPr>
      </p:pic>
      <p:sp>
        <p:nvSpPr>
          <p:cNvPr id="19" name="Rectangle 18">
            <a:extLst>
              <a:ext uri="{FF2B5EF4-FFF2-40B4-BE49-F238E27FC236}">
                <a16:creationId xmlns:a16="http://schemas.microsoft.com/office/drawing/2014/main" id="{A0702E37-2E7E-7262-5E76-F69A817105B3}"/>
              </a:ext>
            </a:extLst>
          </p:cNvPr>
          <p:cNvSpPr/>
          <p:nvPr/>
        </p:nvSpPr>
        <p:spPr>
          <a:xfrm>
            <a:off x="0" y="8268"/>
            <a:ext cx="12192000" cy="6825920"/>
          </a:xfrm>
          <a:prstGeom prst="rect">
            <a:avLst/>
          </a:prstGeom>
          <a:noFill/>
          <a:ln w="38100">
            <a:solidFill>
              <a:srgbClr val="0432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DCB2A3F0-9003-5886-09B4-27925BBE4000}"/>
              </a:ext>
            </a:extLst>
          </p:cNvPr>
          <p:cNvSpPr txBox="1"/>
          <p:nvPr/>
        </p:nvSpPr>
        <p:spPr>
          <a:xfrm>
            <a:off x="-1" y="708849"/>
            <a:ext cx="12191999" cy="646331"/>
          </a:xfrm>
          <a:prstGeom prst="rect">
            <a:avLst/>
          </a:prstGeom>
          <a:noFill/>
        </p:spPr>
        <p:txBody>
          <a:bodyPr wrap="square">
            <a:spAutoFit/>
          </a:bodyPr>
          <a:lstStyle/>
          <a:p>
            <a:pPr algn="ctr"/>
            <a:r>
              <a:rPr lang="en-US" sz="3600" b="1" dirty="0">
                <a:effectLst/>
                <a:latin typeface="Calibri" panose="020F0502020204030204" pitchFamily="34" charset="0"/>
                <a:ea typeface="Calibri" panose="020F0502020204030204" pitchFamily="34" charset="0"/>
                <a:cs typeface="Calibri" panose="020F0502020204030204" pitchFamily="34" charset="0"/>
              </a:rPr>
              <a:t>4. Data Exploration</a:t>
            </a:r>
            <a:endParaRPr lang="en-GB" sz="8800" b="1" cap="none" spc="0" dirty="0">
              <a:ln w="0"/>
              <a:solidFill>
                <a:schemeClr val="tx1"/>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Calibri" panose="020F0502020204030204" pitchFamily="34" charset="0"/>
            </a:endParaRPr>
          </a:p>
        </p:txBody>
      </p:sp>
      <p:sp>
        <p:nvSpPr>
          <p:cNvPr id="5" name="TextBox 4">
            <a:extLst>
              <a:ext uri="{FF2B5EF4-FFF2-40B4-BE49-F238E27FC236}">
                <a16:creationId xmlns:a16="http://schemas.microsoft.com/office/drawing/2014/main" id="{57BF3EEF-553A-D37A-6EF6-B514AF07FC3C}"/>
              </a:ext>
            </a:extLst>
          </p:cNvPr>
          <p:cNvSpPr txBox="1"/>
          <p:nvPr/>
        </p:nvSpPr>
        <p:spPr>
          <a:xfrm>
            <a:off x="466443" y="1658816"/>
            <a:ext cx="7733340" cy="4446730"/>
          </a:xfrm>
          <a:prstGeom prst="rect">
            <a:avLst/>
          </a:prstGeom>
          <a:noFill/>
        </p:spPr>
        <p:txBody>
          <a:bodyPr wrap="square">
            <a:spAutoFit/>
          </a:bodyPr>
          <a:lstStyle/>
          <a:p>
            <a:pPr marL="342900" indent="-342900" algn="just" fontAlgn="base">
              <a:lnSpc>
                <a:spcPct val="200000"/>
              </a:lnSpc>
              <a:buFont typeface="Arial" panose="020B0604020202020204" pitchFamily="34" charset="0"/>
              <a:buChar char="•"/>
            </a:pPr>
            <a:r>
              <a:rPr lang="en-US" sz="1800" b="1" i="0" dirty="0">
                <a:solidFill>
                  <a:srgbClr val="000000"/>
                </a:solidFill>
                <a:effectLst/>
                <a:latin typeface="NewBaskerville-Roman"/>
              </a:rPr>
              <a:t>Data Exploration </a:t>
            </a:r>
            <a:r>
              <a:rPr lang="en-US" sz="1800" b="0" i="0" dirty="0">
                <a:solidFill>
                  <a:srgbClr val="000000"/>
                </a:solidFill>
                <a:effectLst/>
                <a:latin typeface="NewBaskerville-Roman"/>
              </a:rPr>
              <a:t>is concerned with building a deeper understanding of your data.</a:t>
            </a:r>
          </a:p>
          <a:p>
            <a:pPr marL="342900" indent="-342900" algn="just" fontAlgn="base">
              <a:lnSpc>
                <a:spcPct val="200000"/>
              </a:lnSpc>
              <a:buFont typeface="Arial" panose="020B0604020202020204" pitchFamily="34" charset="0"/>
              <a:buChar char="•"/>
            </a:pPr>
            <a:r>
              <a:rPr lang="en-US" sz="1800" b="0" i="0" dirty="0">
                <a:solidFill>
                  <a:srgbClr val="000000"/>
                </a:solidFill>
                <a:effectLst/>
                <a:latin typeface="NewBaskerville-Roman"/>
              </a:rPr>
              <a:t>You try to understand how variables interact with each other, the distribution of the data, and whether there are outliers. </a:t>
            </a:r>
          </a:p>
          <a:p>
            <a:pPr marL="342900" indent="-342900" algn="just" fontAlgn="base">
              <a:lnSpc>
                <a:spcPct val="200000"/>
              </a:lnSpc>
              <a:buFont typeface="Arial" panose="020B0604020202020204" pitchFamily="34" charset="0"/>
              <a:buChar char="•"/>
            </a:pPr>
            <a:r>
              <a:rPr lang="en-US" sz="1800" b="0" i="0" dirty="0">
                <a:solidFill>
                  <a:srgbClr val="000000"/>
                </a:solidFill>
                <a:effectLst/>
                <a:latin typeface="NewBaskerville-Roman"/>
              </a:rPr>
              <a:t>To achieve this you mainly use descriptive statistics, visual techniques, and simple modeling. </a:t>
            </a:r>
          </a:p>
          <a:p>
            <a:pPr marL="342900" indent="-342900" algn="just" fontAlgn="base">
              <a:lnSpc>
                <a:spcPct val="200000"/>
              </a:lnSpc>
              <a:buFont typeface="Arial" panose="020B0604020202020204" pitchFamily="34" charset="0"/>
              <a:buChar char="•"/>
            </a:pPr>
            <a:r>
              <a:rPr lang="en-US" sz="1800" b="0" i="0" dirty="0">
                <a:solidFill>
                  <a:srgbClr val="000000"/>
                </a:solidFill>
                <a:effectLst/>
                <a:latin typeface="NewBaskerville-Roman"/>
              </a:rPr>
              <a:t>This step often goes by the abbreviation EDA, for Exploratory Data Analysis.</a:t>
            </a:r>
            <a:br>
              <a:rPr lang="en-US" dirty="0"/>
            </a:br>
            <a:endParaRPr lang="en-US" i="0" dirty="0">
              <a:solidFill>
                <a:srgbClr val="273239"/>
              </a:solidFill>
              <a:effectLst/>
              <a:highlight>
                <a:srgbClr val="FFFFFF"/>
              </a:highlight>
              <a:latin typeface="Calibri" panose="020F0502020204030204" pitchFamily="34" charset="0"/>
              <a:ea typeface="Calibri" panose="020F0502020204030204" pitchFamily="34" charset="0"/>
              <a:cs typeface="Calibri" panose="020F0502020204030204" pitchFamily="34" charset="0"/>
            </a:endParaRPr>
          </a:p>
        </p:txBody>
      </p:sp>
      <p:pic>
        <p:nvPicPr>
          <p:cNvPr id="2" name="Picture 1">
            <a:extLst>
              <a:ext uri="{FF2B5EF4-FFF2-40B4-BE49-F238E27FC236}">
                <a16:creationId xmlns:a16="http://schemas.microsoft.com/office/drawing/2014/main" id="{98DED9B9-3042-4546-8D5D-767A332F5DE2}"/>
              </a:ext>
            </a:extLst>
          </p:cNvPr>
          <p:cNvPicPr>
            <a:picLocks noChangeAspect="1"/>
          </p:cNvPicPr>
          <p:nvPr/>
        </p:nvPicPr>
        <p:blipFill>
          <a:blip r:embed="rId3"/>
          <a:stretch>
            <a:fillRect/>
          </a:stretch>
        </p:blipFill>
        <p:spPr>
          <a:xfrm>
            <a:off x="8941345" y="1905160"/>
            <a:ext cx="2784212" cy="3692107"/>
          </a:xfrm>
          <a:prstGeom prst="rect">
            <a:avLst/>
          </a:prstGeom>
          <a:ln w="6350">
            <a:solidFill>
              <a:schemeClr val="tx1"/>
            </a:solidFill>
          </a:ln>
        </p:spPr>
      </p:pic>
    </p:spTree>
    <p:extLst>
      <p:ext uri="{BB962C8B-B14F-4D97-AF65-F5344CB8AC3E}">
        <p14:creationId xmlns:p14="http://schemas.microsoft.com/office/powerpoint/2010/main" val="196599085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Table 8">
            <a:extLst>
              <a:ext uri="{FF2B5EF4-FFF2-40B4-BE49-F238E27FC236}">
                <a16:creationId xmlns:a16="http://schemas.microsoft.com/office/drawing/2014/main" id="{0B6EC464-4750-5FF3-7A5A-15612BA6E293}"/>
              </a:ext>
            </a:extLst>
          </p:cNvPr>
          <p:cNvGraphicFramePr>
            <a:graphicFrameLocks noGrp="1"/>
          </p:cNvGraphicFramePr>
          <p:nvPr/>
        </p:nvGraphicFramePr>
        <p:xfrm>
          <a:off x="0" y="23812"/>
          <a:ext cx="12192000" cy="465287"/>
        </p:xfrm>
        <a:graphic>
          <a:graphicData uri="http://schemas.openxmlformats.org/drawingml/2006/table">
            <a:tbl>
              <a:tblPr firstRow="1" bandRow="1">
                <a:tableStyleId>{5C22544A-7EE6-4342-B048-85BDC9FD1C3A}</a:tableStyleId>
              </a:tblPr>
              <a:tblGrid>
                <a:gridCol w="6092042">
                  <a:extLst>
                    <a:ext uri="{9D8B030D-6E8A-4147-A177-3AD203B41FA5}">
                      <a16:colId xmlns:a16="http://schemas.microsoft.com/office/drawing/2014/main" val="2179694530"/>
                    </a:ext>
                  </a:extLst>
                </a:gridCol>
                <a:gridCol w="6099958">
                  <a:extLst>
                    <a:ext uri="{9D8B030D-6E8A-4147-A177-3AD203B41FA5}">
                      <a16:colId xmlns:a16="http://schemas.microsoft.com/office/drawing/2014/main" val="2768207918"/>
                    </a:ext>
                  </a:extLst>
                </a:gridCol>
              </a:tblGrid>
              <a:tr h="465287">
                <a:tc>
                  <a:txBody>
                    <a:bodyPr/>
                    <a:lstStyle/>
                    <a:p>
                      <a:endParaRPr lang="en-US" dirty="0"/>
                    </a:p>
                  </a:txBody>
                  <a:tcPr>
                    <a:solidFill>
                      <a:srgbClr val="FF85FF"/>
                    </a:solidFill>
                  </a:tcPr>
                </a:tc>
                <a:tc>
                  <a:txBody>
                    <a:bodyPr/>
                    <a:lstStyle/>
                    <a:p>
                      <a:endParaRPr lang="en-US" dirty="0"/>
                    </a:p>
                  </a:txBody>
                  <a:tcPr>
                    <a:solidFill>
                      <a:srgbClr val="FFFF00"/>
                    </a:solidFill>
                  </a:tcPr>
                </a:tc>
                <a:extLst>
                  <a:ext uri="{0D108BD9-81ED-4DB2-BD59-A6C34878D82A}">
                    <a16:rowId xmlns:a16="http://schemas.microsoft.com/office/drawing/2014/main" val="1996944423"/>
                  </a:ext>
                </a:extLst>
              </a:tr>
            </a:tbl>
          </a:graphicData>
        </a:graphic>
      </p:graphicFrame>
      <p:graphicFrame>
        <p:nvGraphicFramePr>
          <p:cNvPr id="10" name="Table 9">
            <a:extLst>
              <a:ext uri="{FF2B5EF4-FFF2-40B4-BE49-F238E27FC236}">
                <a16:creationId xmlns:a16="http://schemas.microsoft.com/office/drawing/2014/main" id="{494BAFB7-FE1F-E1A9-7A6C-AB4145BD9BA1}"/>
              </a:ext>
            </a:extLst>
          </p:cNvPr>
          <p:cNvGraphicFramePr>
            <a:graphicFrameLocks noGrp="1"/>
          </p:cNvGraphicFramePr>
          <p:nvPr/>
        </p:nvGraphicFramePr>
        <p:xfrm>
          <a:off x="1" y="6478892"/>
          <a:ext cx="12191999" cy="370840"/>
        </p:xfrm>
        <a:graphic>
          <a:graphicData uri="http://schemas.openxmlformats.org/drawingml/2006/table">
            <a:tbl>
              <a:tblPr firstRow="1" bandRow="1">
                <a:tableStyleId>{5C22544A-7EE6-4342-B048-85BDC9FD1C3A}</a:tableStyleId>
              </a:tblPr>
              <a:tblGrid>
                <a:gridCol w="6080165">
                  <a:extLst>
                    <a:ext uri="{9D8B030D-6E8A-4147-A177-3AD203B41FA5}">
                      <a16:colId xmlns:a16="http://schemas.microsoft.com/office/drawing/2014/main" val="2179694530"/>
                    </a:ext>
                  </a:extLst>
                </a:gridCol>
                <a:gridCol w="6111834">
                  <a:extLst>
                    <a:ext uri="{9D8B030D-6E8A-4147-A177-3AD203B41FA5}">
                      <a16:colId xmlns:a16="http://schemas.microsoft.com/office/drawing/2014/main" val="2768207918"/>
                    </a:ext>
                  </a:extLst>
                </a:gridCol>
              </a:tblGrid>
              <a:tr h="370840">
                <a:tc>
                  <a:txBody>
                    <a:bodyPr/>
                    <a:lstStyle/>
                    <a:p>
                      <a:endParaRPr lang="en-US" dirty="0"/>
                    </a:p>
                  </a:txBody>
                  <a:tcPr>
                    <a:solidFill>
                      <a:srgbClr val="FFFF00"/>
                    </a:solidFill>
                  </a:tcPr>
                </a:tc>
                <a:tc>
                  <a:txBody>
                    <a:bodyPr/>
                    <a:lstStyle/>
                    <a:p>
                      <a:pPr algn="r"/>
                      <a:fld id="{01C6B4F2-933D-4CCE-B3AC-9CE8DEB82DFC}" type="slidenum">
                        <a:rPr lang="en-US" smtClean="0">
                          <a:solidFill>
                            <a:schemeClr val="tx1"/>
                          </a:solidFill>
                        </a:rPr>
                        <a:t>32</a:t>
                      </a:fld>
                      <a:endParaRPr lang="en-US" dirty="0">
                        <a:solidFill>
                          <a:schemeClr val="tx1"/>
                        </a:solidFill>
                      </a:endParaRPr>
                    </a:p>
                  </a:txBody>
                  <a:tcPr>
                    <a:solidFill>
                      <a:srgbClr val="FF85FF"/>
                    </a:solidFill>
                  </a:tcPr>
                </a:tc>
                <a:extLst>
                  <a:ext uri="{0D108BD9-81ED-4DB2-BD59-A6C34878D82A}">
                    <a16:rowId xmlns:a16="http://schemas.microsoft.com/office/drawing/2014/main" val="1996944423"/>
                  </a:ext>
                </a:extLst>
              </a:tr>
            </a:tbl>
          </a:graphicData>
        </a:graphic>
      </p:graphicFrame>
      <p:pic>
        <p:nvPicPr>
          <p:cNvPr id="12" name="Google Shape;187;p25" descr="pngfind.com-kingpin-png-4152286 (1).png">
            <a:extLst>
              <a:ext uri="{FF2B5EF4-FFF2-40B4-BE49-F238E27FC236}">
                <a16:creationId xmlns:a16="http://schemas.microsoft.com/office/drawing/2014/main" id="{2DBF2481-A2DB-F96E-5749-B03DC4F71665}"/>
              </a:ext>
            </a:extLst>
          </p:cNvPr>
          <p:cNvPicPr preferRelativeResize="0"/>
          <p:nvPr/>
        </p:nvPicPr>
        <p:blipFill rotWithShape="1">
          <a:blip r:embed="rId2">
            <a:alphaModFix/>
          </a:blip>
          <a:srcRect/>
          <a:stretch/>
        </p:blipFill>
        <p:spPr>
          <a:xfrm>
            <a:off x="11044052" y="8268"/>
            <a:ext cx="1051261" cy="465287"/>
          </a:xfrm>
          <a:prstGeom prst="rect">
            <a:avLst/>
          </a:prstGeom>
          <a:noFill/>
          <a:ln>
            <a:noFill/>
          </a:ln>
        </p:spPr>
      </p:pic>
      <p:sp>
        <p:nvSpPr>
          <p:cNvPr id="19" name="Rectangle 18">
            <a:extLst>
              <a:ext uri="{FF2B5EF4-FFF2-40B4-BE49-F238E27FC236}">
                <a16:creationId xmlns:a16="http://schemas.microsoft.com/office/drawing/2014/main" id="{A0702E37-2E7E-7262-5E76-F69A817105B3}"/>
              </a:ext>
            </a:extLst>
          </p:cNvPr>
          <p:cNvSpPr/>
          <p:nvPr/>
        </p:nvSpPr>
        <p:spPr>
          <a:xfrm>
            <a:off x="0" y="8268"/>
            <a:ext cx="12192000" cy="6825920"/>
          </a:xfrm>
          <a:prstGeom prst="rect">
            <a:avLst/>
          </a:prstGeom>
          <a:noFill/>
          <a:ln w="38100">
            <a:solidFill>
              <a:srgbClr val="0432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DCB2A3F0-9003-5886-09B4-27925BBE4000}"/>
              </a:ext>
            </a:extLst>
          </p:cNvPr>
          <p:cNvSpPr txBox="1"/>
          <p:nvPr/>
        </p:nvSpPr>
        <p:spPr>
          <a:xfrm>
            <a:off x="1" y="708849"/>
            <a:ext cx="12191999" cy="646331"/>
          </a:xfrm>
          <a:prstGeom prst="rect">
            <a:avLst/>
          </a:prstGeom>
          <a:noFill/>
        </p:spPr>
        <p:txBody>
          <a:bodyPr wrap="square">
            <a:spAutoFit/>
          </a:bodyPr>
          <a:lstStyle/>
          <a:p>
            <a:pPr algn="ctr"/>
            <a:r>
              <a:rPr lang="en-US" sz="3600" b="1" dirty="0">
                <a:effectLst/>
                <a:latin typeface="Calibri" panose="020F0502020204030204" pitchFamily="34" charset="0"/>
                <a:ea typeface="Calibri" panose="020F0502020204030204" pitchFamily="34" charset="0"/>
                <a:cs typeface="Calibri" panose="020F0502020204030204" pitchFamily="34" charset="0"/>
              </a:rPr>
              <a:t>5. Data Modeling</a:t>
            </a:r>
            <a:endParaRPr lang="en-GB" sz="8800" b="1" cap="none" spc="0" dirty="0">
              <a:ln w="0"/>
              <a:solidFill>
                <a:schemeClr val="tx1"/>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Calibri" panose="020F0502020204030204" pitchFamily="34" charset="0"/>
            </a:endParaRPr>
          </a:p>
        </p:txBody>
      </p:sp>
      <p:sp>
        <p:nvSpPr>
          <p:cNvPr id="5" name="TextBox 4">
            <a:extLst>
              <a:ext uri="{FF2B5EF4-FFF2-40B4-BE49-F238E27FC236}">
                <a16:creationId xmlns:a16="http://schemas.microsoft.com/office/drawing/2014/main" id="{57BF3EEF-553A-D37A-6EF6-B514AF07FC3C}"/>
              </a:ext>
            </a:extLst>
          </p:cNvPr>
          <p:cNvSpPr txBox="1"/>
          <p:nvPr/>
        </p:nvSpPr>
        <p:spPr>
          <a:xfrm>
            <a:off x="557124" y="1637255"/>
            <a:ext cx="8268824" cy="3338735"/>
          </a:xfrm>
          <a:prstGeom prst="rect">
            <a:avLst/>
          </a:prstGeom>
          <a:noFill/>
        </p:spPr>
        <p:txBody>
          <a:bodyPr wrap="square">
            <a:spAutoFit/>
          </a:bodyPr>
          <a:lstStyle/>
          <a:p>
            <a:pPr marL="342900" indent="-342900" algn="just" fontAlgn="base">
              <a:lnSpc>
                <a:spcPct val="200000"/>
              </a:lnSpc>
              <a:buFont typeface="Arial" panose="020B0604020202020204" pitchFamily="34" charset="0"/>
              <a:buChar char="•"/>
            </a:pPr>
            <a:r>
              <a:rPr lang="en-US" sz="1800" b="0" i="0" dirty="0">
                <a:solidFill>
                  <a:srgbClr val="000000"/>
                </a:solidFill>
                <a:effectLst/>
                <a:latin typeface="NewBaskerville-Roman"/>
              </a:rPr>
              <a:t>In this phase you use </a:t>
            </a:r>
            <a:r>
              <a:rPr lang="en-US" sz="1800" b="1" i="0" dirty="0">
                <a:solidFill>
                  <a:srgbClr val="000000"/>
                </a:solidFill>
                <a:effectLst/>
                <a:latin typeface="NewBaskerville-Roman"/>
              </a:rPr>
              <a:t>models</a:t>
            </a:r>
            <a:r>
              <a:rPr lang="en-US" sz="1800" b="0" i="0" dirty="0">
                <a:solidFill>
                  <a:srgbClr val="000000"/>
                </a:solidFill>
                <a:effectLst/>
                <a:latin typeface="NewBaskerville-Roman"/>
              </a:rPr>
              <a:t>, domain knowledge, and insights about the data you found in the previous steps to answer the research question. </a:t>
            </a:r>
          </a:p>
          <a:p>
            <a:pPr marL="342900" indent="-342900" algn="just" fontAlgn="base">
              <a:lnSpc>
                <a:spcPct val="200000"/>
              </a:lnSpc>
              <a:buFont typeface="Arial" panose="020B0604020202020204" pitchFamily="34" charset="0"/>
              <a:buChar char="•"/>
            </a:pPr>
            <a:r>
              <a:rPr lang="en-US" sz="1800" b="0" i="0" dirty="0">
                <a:solidFill>
                  <a:srgbClr val="000000"/>
                </a:solidFill>
                <a:effectLst/>
                <a:latin typeface="NewBaskerville-Roman"/>
              </a:rPr>
              <a:t>You select a technique from the fields of statistics, machine learning, operations research, and so on. </a:t>
            </a:r>
          </a:p>
          <a:p>
            <a:pPr marL="342900" indent="-342900" algn="just" fontAlgn="base">
              <a:lnSpc>
                <a:spcPct val="200000"/>
              </a:lnSpc>
              <a:buFont typeface="Arial" panose="020B0604020202020204" pitchFamily="34" charset="0"/>
              <a:buChar char="•"/>
            </a:pPr>
            <a:r>
              <a:rPr lang="en-US" sz="1800" b="0" i="0" dirty="0">
                <a:solidFill>
                  <a:srgbClr val="000000"/>
                </a:solidFill>
                <a:effectLst/>
                <a:latin typeface="NewBaskerville-Roman"/>
              </a:rPr>
              <a:t>Building a model is an iterative process that involves selecting the variables for the model, executing the model, and model diagnostics.</a:t>
            </a:r>
            <a:endParaRPr lang="en-US" i="0" dirty="0">
              <a:solidFill>
                <a:srgbClr val="273239"/>
              </a:solidFill>
              <a:effectLst/>
              <a:highlight>
                <a:srgbClr val="FFFFFF"/>
              </a:highlight>
              <a:latin typeface="Calibri" panose="020F0502020204030204" pitchFamily="34" charset="0"/>
              <a:ea typeface="Calibri" panose="020F0502020204030204" pitchFamily="34" charset="0"/>
              <a:cs typeface="Calibri" panose="020F0502020204030204" pitchFamily="34" charset="0"/>
            </a:endParaRPr>
          </a:p>
        </p:txBody>
      </p:sp>
      <p:pic>
        <p:nvPicPr>
          <p:cNvPr id="2" name="Picture 1">
            <a:extLst>
              <a:ext uri="{FF2B5EF4-FFF2-40B4-BE49-F238E27FC236}">
                <a16:creationId xmlns:a16="http://schemas.microsoft.com/office/drawing/2014/main" id="{13ABC766-8FF8-44C0-A3AD-B1C65084AB6B}"/>
              </a:ext>
            </a:extLst>
          </p:cNvPr>
          <p:cNvPicPr>
            <a:picLocks noChangeAspect="1"/>
          </p:cNvPicPr>
          <p:nvPr/>
        </p:nvPicPr>
        <p:blipFill>
          <a:blip r:embed="rId3"/>
          <a:stretch>
            <a:fillRect/>
          </a:stretch>
        </p:blipFill>
        <p:spPr>
          <a:xfrm>
            <a:off x="9182613" y="1883364"/>
            <a:ext cx="2387069" cy="3201263"/>
          </a:xfrm>
          <a:prstGeom prst="rect">
            <a:avLst/>
          </a:prstGeom>
          <a:ln w="6350">
            <a:solidFill>
              <a:schemeClr val="tx1"/>
            </a:solidFill>
          </a:ln>
        </p:spPr>
      </p:pic>
    </p:spTree>
    <p:extLst>
      <p:ext uri="{BB962C8B-B14F-4D97-AF65-F5344CB8AC3E}">
        <p14:creationId xmlns:p14="http://schemas.microsoft.com/office/powerpoint/2010/main" val="66779336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Table 8">
            <a:extLst>
              <a:ext uri="{FF2B5EF4-FFF2-40B4-BE49-F238E27FC236}">
                <a16:creationId xmlns:a16="http://schemas.microsoft.com/office/drawing/2014/main" id="{0B6EC464-4750-5FF3-7A5A-15612BA6E293}"/>
              </a:ext>
            </a:extLst>
          </p:cNvPr>
          <p:cNvGraphicFramePr>
            <a:graphicFrameLocks noGrp="1"/>
          </p:cNvGraphicFramePr>
          <p:nvPr/>
        </p:nvGraphicFramePr>
        <p:xfrm>
          <a:off x="0" y="23812"/>
          <a:ext cx="12192000" cy="465287"/>
        </p:xfrm>
        <a:graphic>
          <a:graphicData uri="http://schemas.openxmlformats.org/drawingml/2006/table">
            <a:tbl>
              <a:tblPr firstRow="1" bandRow="1">
                <a:tableStyleId>{5C22544A-7EE6-4342-B048-85BDC9FD1C3A}</a:tableStyleId>
              </a:tblPr>
              <a:tblGrid>
                <a:gridCol w="6092042">
                  <a:extLst>
                    <a:ext uri="{9D8B030D-6E8A-4147-A177-3AD203B41FA5}">
                      <a16:colId xmlns:a16="http://schemas.microsoft.com/office/drawing/2014/main" val="2179694530"/>
                    </a:ext>
                  </a:extLst>
                </a:gridCol>
                <a:gridCol w="6099958">
                  <a:extLst>
                    <a:ext uri="{9D8B030D-6E8A-4147-A177-3AD203B41FA5}">
                      <a16:colId xmlns:a16="http://schemas.microsoft.com/office/drawing/2014/main" val="2768207918"/>
                    </a:ext>
                  </a:extLst>
                </a:gridCol>
              </a:tblGrid>
              <a:tr h="465287">
                <a:tc>
                  <a:txBody>
                    <a:bodyPr/>
                    <a:lstStyle/>
                    <a:p>
                      <a:endParaRPr lang="en-US" dirty="0"/>
                    </a:p>
                  </a:txBody>
                  <a:tcPr>
                    <a:solidFill>
                      <a:srgbClr val="FF85FF"/>
                    </a:solidFill>
                  </a:tcPr>
                </a:tc>
                <a:tc>
                  <a:txBody>
                    <a:bodyPr/>
                    <a:lstStyle/>
                    <a:p>
                      <a:endParaRPr lang="en-US" dirty="0"/>
                    </a:p>
                  </a:txBody>
                  <a:tcPr>
                    <a:solidFill>
                      <a:srgbClr val="FFFF00"/>
                    </a:solidFill>
                  </a:tcPr>
                </a:tc>
                <a:extLst>
                  <a:ext uri="{0D108BD9-81ED-4DB2-BD59-A6C34878D82A}">
                    <a16:rowId xmlns:a16="http://schemas.microsoft.com/office/drawing/2014/main" val="1996944423"/>
                  </a:ext>
                </a:extLst>
              </a:tr>
            </a:tbl>
          </a:graphicData>
        </a:graphic>
      </p:graphicFrame>
      <p:graphicFrame>
        <p:nvGraphicFramePr>
          <p:cNvPr id="10" name="Table 9">
            <a:extLst>
              <a:ext uri="{FF2B5EF4-FFF2-40B4-BE49-F238E27FC236}">
                <a16:creationId xmlns:a16="http://schemas.microsoft.com/office/drawing/2014/main" id="{494BAFB7-FE1F-E1A9-7A6C-AB4145BD9BA1}"/>
              </a:ext>
            </a:extLst>
          </p:cNvPr>
          <p:cNvGraphicFramePr>
            <a:graphicFrameLocks noGrp="1"/>
          </p:cNvGraphicFramePr>
          <p:nvPr/>
        </p:nvGraphicFramePr>
        <p:xfrm>
          <a:off x="1" y="6478892"/>
          <a:ext cx="12191999" cy="370840"/>
        </p:xfrm>
        <a:graphic>
          <a:graphicData uri="http://schemas.openxmlformats.org/drawingml/2006/table">
            <a:tbl>
              <a:tblPr firstRow="1" bandRow="1">
                <a:tableStyleId>{5C22544A-7EE6-4342-B048-85BDC9FD1C3A}</a:tableStyleId>
              </a:tblPr>
              <a:tblGrid>
                <a:gridCol w="6080165">
                  <a:extLst>
                    <a:ext uri="{9D8B030D-6E8A-4147-A177-3AD203B41FA5}">
                      <a16:colId xmlns:a16="http://schemas.microsoft.com/office/drawing/2014/main" val="2179694530"/>
                    </a:ext>
                  </a:extLst>
                </a:gridCol>
                <a:gridCol w="6111834">
                  <a:extLst>
                    <a:ext uri="{9D8B030D-6E8A-4147-A177-3AD203B41FA5}">
                      <a16:colId xmlns:a16="http://schemas.microsoft.com/office/drawing/2014/main" val="2768207918"/>
                    </a:ext>
                  </a:extLst>
                </a:gridCol>
              </a:tblGrid>
              <a:tr h="370840">
                <a:tc>
                  <a:txBody>
                    <a:bodyPr/>
                    <a:lstStyle/>
                    <a:p>
                      <a:endParaRPr lang="en-US" dirty="0"/>
                    </a:p>
                  </a:txBody>
                  <a:tcPr>
                    <a:solidFill>
                      <a:srgbClr val="FFFF00"/>
                    </a:solidFill>
                  </a:tcPr>
                </a:tc>
                <a:tc>
                  <a:txBody>
                    <a:bodyPr/>
                    <a:lstStyle/>
                    <a:p>
                      <a:pPr algn="r"/>
                      <a:fld id="{CFE5E3BE-EE29-401D-B4CD-151EFFA39DA2}" type="slidenum">
                        <a:rPr lang="en-US" smtClean="0">
                          <a:solidFill>
                            <a:schemeClr val="tx1"/>
                          </a:solidFill>
                        </a:rPr>
                        <a:t>33</a:t>
                      </a:fld>
                      <a:endParaRPr lang="en-US" dirty="0">
                        <a:solidFill>
                          <a:schemeClr val="tx1"/>
                        </a:solidFill>
                      </a:endParaRPr>
                    </a:p>
                  </a:txBody>
                  <a:tcPr>
                    <a:solidFill>
                      <a:srgbClr val="FF85FF"/>
                    </a:solidFill>
                  </a:tcPr>
                </a:tc>
                <a:extLst>
                  <a:ext uri="{0D108BD9-81ED-4DB2-BD59-A6C34878D82A}">
                    <a16:rowId xmlns:a16="http://schemas.microsoft.com/office/drawing/2014/main" val="1996944423"/>
                  </a:ext>
                </a:extLst>
              </a:tr>
            </a:tbl>
          </a:graphicData>
        </a:graphic>
      </p:graphicFrame>
      <p:pic>
        <p:nvPicPr>
          <p:cNvPr id="12" name="Google Shape;187;p25" descr="pngfind.com-kingpin-png-4152286 (1).png">
            <a:extLst>
              <a:ext uri="{FF2B5EF4-FFF2-40B4-BE49-F238E27FC236}">
                <a16:creationId xmlns:a16="http://schemas.microsoft.com/office/drawing/2014/main" id="{2DBF2481-A2DB-F96E-5749-B03DC4F71665}"/>
              </a:ext>
            </a:extLst>
          </p:cNvPr>
          <p:cNvPicPr preferRelativeResize="0"/>
          <p:nvPr/>
        </p:nvPicPr>
        <p:blipFill rotWithShape="1">
          <a:blip r:embed="rId2">
            <a:alphaModFix/>
          </a:blip>
          <a:srcRect/>
          <a:stretch/>
        </p:blipFill>
        <p:spPr>
          <a:xfrm>
            <a:off x="11044052" y="8268"/>
            <a:ext cx="1051261" cy="465287"/>
          </a:xfrm>
          <a:prstGeom prst="rect">
            <a:avLst/>
          </a:prstGeom>
          <a:noFill/>
          <a:ln>
            <a:noFill/>
          </a:ln>
        </p:spPr>
      </p:pic>
      <p:sp>
        <p:nvSpPr>
          <p:cNvPr id="19" name="Rectangle 18">
            <a:extLst>
              <a:ext uri="{FF2B5EF4-FFF2-40B4-BE49-F238E27FC236}">
                <a16:creationId xmlns:a16="http://schemas.microsoft.com/office/drawing/2014/main" id="{A0702E37-2E7E-7262-5E76-F69A817105B3}"/>
              </a:ext>
            </a:extLst>
          </p:cNvPr>
          <p:cNvSpPr/>
          <p:nvPr/>
        </p:nvSpPr>
        <p:spPr>
          <a:xfrm>
            <a:off x="0" y="8268"/>
            <a:ext cx="12192000" cy="6825920"/>
          </a:xfrm>
          <a:prstGeom prst="rect">
            <a:avLst/>
          </a:prstGeom>
          <a:noFill/>
          <a:ln w="38100">
            <a:solidFill>
              <a:srgbClr val="0432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DCB2A3F0-9003-5886-09B4-27925BBE4000}"/>
              </a:ext>
            </a:extLst>
          </p:cNvPr>
          <p:cNvSpPr txBox="1"/>
          <p:nvPr/>
        </p:nvSpPr>
        <p:spPr>
          <a:xfrm>
            <a:off x="1" y="889364"/>
            <a:ext cx="12191999" cy="646331"/>
          </a:xfrm>
          <a:prstGeom prst="rect">
            <a:avLst/>
          </a:prstGeom>
          <a:noFill/>
        </p:spPr>
        <p:txBody>
          <a:bodyPr wrap="square">
            <a:spAutoFit/>
          </a:bodyPr>
          <a:lstStyle/>
          <a:p>
            <a:pPr marL="0" algn="ctr" rtl="0" eaLnBrk="1" latinLnBrk="0" hangingPunct="1">
              <a:spcBef>
                <a:spcPts val="0"/>
              </a:spcBef>
              <a:spcAft>
                <a:spcPts val="0"/>
              </a:spcAft>
            </a:pPr>
            <a:r>
              <a:rPr lang="en-US" sz="3600" b="1" kern="1200" dirty="0">
                <a:solidFill>
                  <a:srgbClr val="000000"/>
                </a:solidFill>
                <a:effectLst/>
                <a:latin typeface="Calibri" panose="020F0502020204030204" pitchFamily="34" charset="0"/>
                <a:ea typeface="+mn-ea"/>
                <a:cs typeface="Calibri" panose="020F0502020204030204" pitchFamily="34" charset="0"/>
              </a:rPr>
              <a:t>6. Presentation and Automation</a:t>
            </a:r>
            <a:endParaRPr lang="en-IN" sz="6000" dirty="0">
              <a:effectLst/>
            </a:endParaRPr>
          </a:p>
        </p:txBody>
      </p:sp>
      <p:sp>
        <p:nvSpPr>
          <p:cNvPr id="5" name="TextBox 4">
            <a:extLst>
              <a:ext uri="{FF2B5EF4-FFF2-40B4-BE49-F238E27FC236}">
                <a16:creationId xmlns:a16="http://schemas.microsoft.com/office/drawing/2014/main" id="{57BF3EEF-553A-D37A-6EF6-B514AF07FC3C}"/>
              </a:ext>
            </a:extLst>
          </p:cNvPr>
          <p:cNvSpPr txBox="1"/>
          <p:nvPr/>
        </p:nvSpPr>
        <p:spPr>
          <a:xfrm>
            <a:off x="341243" y="1935961"/>
            <a:ext cx="7987748" cy="3892732"/>
          </a:xfrm>
          <a:prstGeom prst="rect">
            <a:avLst/>
          </a:prstGeom>
          <a:noFill/>
        </p:spPr>
        <p:txBody>
          <a:bodyPr wrap="square">
            <a:spAutoFit/>
          </a:bodyPr>
          <a:lstStyle/>
          <a:p>
            <a:pPr marL="285750" indent="-285750" algn="just" fontAlgn="base">
              <a:lnSpc>
                <a:spcPct val="200000"/>
              </a:lnSpc>
              <a:buFont typeface="Arial" panose="020B0604020202020204" pitchFamily="34" charset="0"/>
              <a:buChar char="•"/>
            </a:pPr>
            <a:r>
              <a:rPr lang="en-US" sz="1800" b="0" i="0" dirty="0">
                <a:solidFill>
                  <a:srgbClr val="000000"/>
                </a:solidFill>
                <a:effectLst/>
                <a:latin typeface="NewBaskerville-Roman"/>
              </a:rPr>
              <a:t>Finally, you </a:t>
            </a:r>
            <a:r>
              <a:rPr lang="en-US" sz="1800" b="1" i="0" dirty="0">
                <a:solidFill>
                  <a:srgbClr val="000000"/>
                </a:solidFill>
                <a:effectLst/>
                <a:latin typeface="NewBaskerville-Roman"/>
              </a:rPr>
              <a:t>present</a:t>
            </a:r>
            <a:r>
              <a:rPr lang="en-US" sz="1800" b="0" i="0" dirty="0">
                <a:solidFill>
                  <a:srgbClr val="000000"/>
                </a:solidFill>
                <a:effectLst/>
                <a:latin typeface="NewBaskerville-Roman"/>
              </a:rPr>
              <a:t> the results to your business. These results can take many forms, ranging from presentations to research reports. </a:t>
            </a:r>
          </a:p>
          <a:p>
            <a:pPr marL="285750" indent="-285750" algn="just" fontAlgn="base">
              <a:lnSpc>
                <a:spcPct val="200000"/>
              </a:lnSpc>
              <a:buFont typeface="Arial" panose="020B0604020202020204" pitchFamily="34" charset="0"/>
              <a:buChar char="•"/>
            </a:pPr>
            <a:r>
              <a:rPr lang="en-US" sz="1800" b="0" i="0" dirty="0">
                <a:solidFill>
                  <a:srgbClr val="000000"/>
                </a:solidFill>
                <a:effectLst/>
                <a:latin typeface="NewBaskerville-Roman"/>
              </a:rPr>
              <a:t>Sometimes you’ll need to automate the execution of the process because the business will want to use the insights you gained in another project or enable an operational process to use the outcome from your model.</a:t>
            </a:r>
            <a:r>
              <a:rPr lang="en-US" dirty="0"/>
              <a:t> </a:t>
            </a:r>
            <a:br>
              <a:rPr lang="en-US" dirty="0"/>
            </a:br>
            <a:br>
              <a:rPr lang="en-US" dirty="0"/>
            </a:br>
            <a:endParaRPr lang="en-US" b="0" i="0" dirty="0">
              <a:solidFill>
                <a:srgbClr val="273239"/>
              </a:solidFill>
              <a:effectLst/>
              <a:highlight>
                <a:srgbClr val="FFFFFF"/>
              </a:highlight>
              <a:latin typeface="Calibri" panose="020F0502020204030204" pitchFamily="34" charset="0"/>
              <a:ea typeface="Calibri" panose="020F0502020204030204" pitchFamily="34" charset="0"/>
              <a:cs typeface="Calibri" panose="020F0502020204030204" pitchFamily="34" charset="0"/>
            </a:endParaRPr>
          </a:p>
        </p:txBody>
      </p:sp>
      <p:pic>
        <p:nvPicPr>
          <p:cNvPr id="2" name="Picture 1">
            <a:extLst>
              <a:ext uri="{FF2B5EF4-FFF2-40B4-BE49-F238E27FC236}">
                <a16:creationId xmlns:a16="http://schemas.microsoft.com/office/drawing/2014/main" id="{A6408979-D1E2-4544-8B0B-0D471833CD74}"/>
              </a:ext>
            </a:extLst>
          </p:cNvPr>
          <p:cNvPicPr>
            <a:picLocks noChangeAspect="1"/>
          </p:cNvPicPr>
          <p:nvPr/>
        </p:nvPicPr>
        <p:blipFill>
          <a:blip r:embed="rId3"/>
          <a:stretch>
            <a:fillRect/>
          </a:stretch>
        </p:blipFill>
        <p:spPr>
          <a:xfrm>
            <a:off x="8937533" y="1930570"/>
            <a:ext cx="2645924" cy="3486182"/>
          </a:xfrm>
          <a:prstGeom prst="rect">
            <a:avLst/>
          </a:prstGeom>
          <a:ln w="6350">
            <a:solidFill>
              <a:schemeClr val="tx1"/>
            </a:solidFill>
          </a:ln>
        </p:spPr>
      </p:pic>
    </p:spTree>
    <p:extLst>
      <p:ext uri="{BB962C8B-B14F-4D97-AF65-F5344CB8AC3E}">
        <p14:creationId xmlns:p14="http://schemas.microsoft.com/office/powerpoint/2010/main" val="24786125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Table 8">
            <a:extLst>
              <a:ext uri="{FF2B5EF4-FFF2-40B4-BE49-F238E27FC236}">
                <a16:creationId xmlns:a16="http://schemas.microsoft.com/office/drawing/2014/main" id="{0B6EC464-4750-5FF3-7A5A-15612BA6E293}"/>
              </a:ext>
            </a:extLst>
          </p:cNvPr>
          <p:cNvGraphicFramePr>
            <a:graphicFrameLocks noGrp="1"/>
          </p:cNvGraphicFramePr>
          <p:nvPr/>
        </p:nvGraphicFramePr>
        <p:xfrm>
          <a:off x="0" y="23812"/>
          <a:ext cx="12192000" cy="465287"/>
        </p:xfrm>
        <a:graphic>
          <a:graphicData uri="http://schemas.openxmlformats.org/drawingml/2006/table">
            <a:tbl>
              <a:tblPr firstRow="1" bandRow="1">
                <a:tableStyleId>{5C22544A-7EE6-4342-B048-85BDC9FD1C3A}</a:tableStyleId>
              </a:tblPr>
              <a:tblGrid>
                <a:gridCol w="6092042">
                  <a:extLst>
                    <a:ext uri="{9D8B030D-6E8A-4147-A177-3AD203B41FA5}">
                      <a16:colId xmlns:a16="http://schemas.microsoft.com/office/drawing/2014/main" val="2179694530"/>
                    </a:ext>
                  </a:extLst>
                </a:gridCol>
                <a:gridCol w="6099958">
                  <a:extLst>
                    <a:ext uri="{9D8B030D-6E8A-4147-A177-3AD203B41FA5}">
                      <a16:colId xmlns:a16="http://schemas.microsoft.com/office/drawing/2014/main" val="2768207918"/>
                    </a:ext>
                  </a:extLst>
                </a:gridCol>
              </a:tblGrid>
              <a:tr h="465287">
                <a:tc>
                  <a:txBody>
                    <a:bodyPr/>
                    <a:lstStyle/>
                    <a:p>
                      <a:endParaRPr lang="en-US" dirty="0"/>
                    </a:p>
                  </a:txBody>
                  <a:tcPr>
                    <a:solidFill>
                      <a:srgbClr val="FF85FF"/>
                    </a:solidFill>
                  </a:tcPr>
                </a:tc>
                <a:tc>
                  <a:txBody>
                    <a:bodyPr/>
                    <a:lstStyle/>
                    <a:p>
                      <a:endParaRPr lang="en-US" dirty="0"/>
                    </a:p>
                  </a:txBody>
                  <a:tcPr>
                    <a:solidFill>
                      <a:srgbClr val="FFFF00"/>
                    </a:solidFill>
                  </a:tcPr>
                </a:tc>
                <a:extLst>
                  <a:ext uri="{0D108BD9-81ED-4DB2-BD59-A6C34878D82A}">
                    <a16:rowId xmlns:a16="http://schemas.microsoft.com/office/drawing/2014/main" val="1996944423"/>
                  </a:ext>
                </a:extLst>
              </a:tr>
            </a:tbl>
          </a:graphicData>
        </a:graphic>
      </p:graphicFrame>
      <p:graphicFrame>
        <p:nvGraphicFramePr>
          <p:cNvPr id="10" name="Table 9">
            <a:extLst>
              <a:ext uri="{FF2B5EF4-FFF2-40B4-BE49-F238E27FC236}">
                <a16:creationId xmlns:a16="http://schemas.microsoft.com/office/drawing/2014/main" id="{494BAFB7-FE1F-E1A9-7A6C-AB4145BD9BA1}"/>
              </a:ext>
            </a:extLst>
          </p:cNvPr>
          <p:cNvGraphicFramePr>
            <a:graphicFrameLocks noGrp="1"/>
          </p:cNvGraphicFramePr>
          <p:nvPr>
            <p:extLst>
              <p:ext uri="{D42A27DB-BD31-4B8C-83A1-F6EECF244321}">
                <p14:modId xmlns:p14="http://schemas.microsoft.com/office/powerpoint/2010/main" val="460067922"/>
              </p:ext>
            </p:extLst>
          </p:nvPr>
        </p:nvGraphicFramePr>
        <p:xfrm>
          <a:off x="1" y="6478892"/>
          <a:ext cx="12191999" cy="370840"/>
        </p:xfrm>
        <a:graphic>
          <a:graphicData uri="http://schemas.openxmlformats.org/drawingml/2006/table">
            <a:tbl>
              <a:tblPr firstRow="1" bandRow="1">
                <a:tableStyleId>{5C22544A-7EE6-4342-B048-85BDC9FD1C3A}</a:tableStyleId>
              </a:tblPr>
              <a:tblGrid>
                <a:gridCol w="6080165">
                  <a:extLst>
                    <a:ext uri="{9D8B030D-6E8A-4147-A177-3AD203B41FA5}">
                      <a16:colId xmlns:a16="http://schemas.microsoft.com/office/drawing/2014/main" val="2179694530"/>
                    </a:ext>
                  </a:extLst>
                </a:gridCol>
                <a:gridCol w="6111834">
                  <a:extLst>
                    <a:ext uri="{9D8B030D-6E8A-4147-A177-3AD203B41FA5}">
                      <a16:colId xmlns:a16="http://schemas.microsoft.com/office/drawing/2014/main" val="2768207918"/>
                    </a:ext>
                  </a:extLst>
                </a:gridCol>
              </a:tblGrid>
              <a:tr h="370840">
                <a:tc>
                  <a:txBody>
                    <a:bodyPr/>
                    <a:lstStyle/>
                    <a:p>
                      <a:endParaRPr lang="en-US" dirty="0"/>
                    </a:p>
                  </a:txBody>
                  <a:tcPr>
                    <a:solidFill>
                      <a:srgbClr val="FFFF00"/>
                    </a:solidFill>
                  </a:tcPr>
                </a:tc>
                <a:tc>
                  <a:txBody>
                    <a:bodyPr/>
                    <a:lstStyle/>
                    <a:p>
                      <a:pPr algn="r"/>
                      <a:r>
                        <a:rPr lang="en-US" dirty="0">
                          <a:solidFill>
                            <a:schemeClr val="tx1"/>
                          </a:solidFill>
                        </a:rPr>
                        <a:t>34</a:t>
                      </a:r>
                    </a:p>
                  </a:txBody>
                  <a:tcPr>
                    <a:solidFill>
                      <a:srgbClr val="FF85FF"/>
                    </a:solidFill>
                  </a:tcPr>
                </a:tc>
                <a:extLst>
                  <a:ext uri="{0D108BD9-81ED-4DB2-BD59-A6C34878D82A}">
                    <a16:rowId xmlns:a16="http://schemas.microsoft.com/office/drawing/2014/main" val="1996944423"/>
                  </a:ext>
                </a:extLst>
              </a:tr>
            </a:tbl>
          </a:graphicData>
        </a:graphic>
      </p:graphicFrame>
      <p:pic>
        <p:nvPicPr>
          <p:cNvPr id="12" name="Google Shape;187;p25" descr="pngfind.com-kingpin-png-4152286 (1).png">
            <a:extLst>
              <a:ext uri="{FF2B5EF4-FFF2-40B4-BE49-F238E27FC236}">
                <a16:creationId xmlns:a16="http://schemas.microsoft.com/office/drawing/2014/main" id="{2DBF2481-A2DB-F96E-5749-B03DC4F71665}"/>
              </a:ext>
            </a:extLst>
          </p:cNvPr>
          <p:cNvPicPr preferRelativeResize="0"/>
          <p:nvPr/>
        </p:nvPicPr>
        <p:blipFill rotWithShape="1">
          <a:blip r:embed="rId2">
            <a:alphaModFix/>
          </a:blip>
          <a:srcRect/>
          <a:stretch/>
        </p:blipFill>
        <p:spPr>
          <a:xfrm>
            <a:off x="11044052" y="8268"/>
            <a:ext cx="1051261" cy="465287"/>
          </a:xfrm>
          <a:prstGeom prst="rect">
            <a:avLst/>
          </a:prstGeom>
          <a:noFill/>
          <a:ln>
            <a:noFill/>
          </a:ln>
        </p:spPr>
      </p:pic>
      <p:sp>
        <p:nvSpPr>
          <p:cNvPr id="14" name="Rectangle 13">
            <a:extLst>
              <a:ext uri="{FF2B5EF4-FFF2-40B4-BE49-F238E27FC236}">
                <a16:creationId xmlns:a16="http://schemas.microsoft.com/office/drawing/2014/main" id="{6EB9A5F7-B7D7-E008-8229-AD564931BCC6}"/>
              </a:ext>
            </a:extLst>
          </p:cNvPr>
          <p:cNvSpPr/>
          <p:nvPr/>
        </p:nvSpPr>
        <p:spPr>
          <a:xfrm>
            <a:off x="3558803" y="2967335"/>
            <a:ext cx="5074402" cy="707886"/>
          </a:xfrm>
          <a:prstGeom prst="rect">
            <a:avLst/>
          </a:prstGeom>
          <a:noFill/>
        </p:spPr>
        <p:txBody>
          <a:bodyPr wrap="none" lIns="91440" tIns="45720" rIns="91440" bIns="45720">
            <a:spAutoFit/>
          </a:bodyPr>
          <a:lstStyle/>
          <a:p>
            <a:pPr algn="ctr"/>
            <a:r>
              <a:rPr lang="en-US" sz="4000" b="1" dirty="0">
                <a:effectLst/>
                <a:latin typeface="Calibri" panose="020F0502020204030204" pitchFamily="34" charset="0"/>
                <a:ea typeface="Calibri" panose="020F0502020204030204" pitchFamily="34" charset="0"/>
                <a:cs typeface="Calibri" panose="020F0502020204030204" pitchFamily="34" charset="0"/>
              </a:rPr>
              <a:t>Introduction to NumPy</a:t>
            </a:r>
            <a:endParaRPr lang="en-GB" sz="4000" b="1" cap="none" spc="0" dirty="0">
              <a:ln w="0"/>
              <a:solidFill>
                <a:schemeClr val="tx1"/>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Calibri" panose="020F0502020204030204" pitchFamily="34" charset="0"/>
            </a:endParaRPr>
          </a:p>
        </p:txBody>
      </p:sp>
      <p:sp>
        <p:nvSpPr>
          <p:cNvPr id="19" name="Rectangle 18">
            <a:extLst>
              <a:ext uri="{FF2B5EF4-FFF2-40B4-BE49-F238E27FC236}">
                <a16:creationId xmlns:a16="http://schemas.microsoft.com/office/drawing/2014/main" id="{A0702E37-2E7E-7262-5E76-F69A817105B3}"/>
              </a:ext>
            </a:extLst>
          </p:cNvPr>
          <p:cNvSpPr/>
          <p:nvPr/>
        </p:nvSpPr>
        <p:spPr>
          <a:xfrm>
            <a:off x="0" y="8268"/>
            <a:ext cx="12192000" cy="6825920"/>
          </a:xfrm>
          <a:prstGeom prst="rect">
            <a:avLst/>
          </a:prstGeom>
          <a:noFill/>
          <a:ln w="38100">
            <a:solidFill>
              <a:srgbClr val="0432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6405342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Table 8">
            <a:extLst>
              <a:ext uri="{FF2B5EF4-FFF2-40B4-BE49-F238E27FC236}">
                <a16:creationId xmlns:a16="http://schemas.microsoft.com/office/drawing/2014/main" id="{0B6EC464-4750-5FF3-7A5A-15612BA6E293}"/>
              </a:ext>
            </a:extLst>
          </p:cNvPr>
          <p:cNvGraphicFramePr>
            <a:graphicFrameLocks noGrp="1"/>
          </p:cNvGraphicFramePr>
          <p:nvPr/>
        </p:nvGraphicFramePr>
        <p:xfrm>
          <a:off x="0" y="23812"/>
          <a:ext cx="12192000" cy="465287"/>
        </p:xfrm>
        <a:graphic>
          <a:graphicData uri="http://schemas.openxmlformats.org/drawingml/2006/table">
            <a:tbl>
              <a:tblPr firstRow="1" bandRow="1">
                <a:tableStyleId>{5C22544A-7EE6-4342-B048-85BDC9FD1C3A}</a:tableStyleId>
              </a:tblPr>
              <a:tblGrid>
                <a:gridCol w="6092042">
                  <a:extLst>
                    <a:ext uri="{9D8B030D-6E8A-4147-A177-3AD203B41FA5}">
                      <a16:colId xmlns:a16="http://schemas.microsoft.com/office/drawing/2014/main" val="2179694530"/>
                    </a:ext>
                  </a:extLst>
                </a:gridCol>
                <a:gridCol w="6099958">
                  <a:extLst>
                    <a:ext uri="{9D8B030D-6E8A-4147-A177-3AD203B41FA5}">
                      <a16:colId xmlns:a16="http://schemas.microsoft.com/office/drawing/2014/main" val="2768207918"/>
                    </a:ext>
                  </a:extLst>
                </a:gridCol>
              </a:tblGrid>
              <a:tr h="465287">
                <a:tc>
                  <a:txBody>
                    <a:bodyPr/>
                    <a:lstStyle/>
                    <a:p>
                      <a:endParaRPr lang="en-US" dirty="0"/>
                    </a:p>
                  </a:txBody>
                  <a:tcPr>
                    <a:solidFill>
                      <a:srgbClr val="FF85FF"/>
                    </a:solidFill>
                  </a:tcPr>
                </a:tc>
                <a:tc>
                  <a:txBody>
                    <a:bodyPr/>
                    <a:lstStyle/>
                    <a:p>
                      <a:endParaRPr lang="en-US" dirty="0"/>
                    </a:p>
                  </a:txBody>
                  <a:tcPr>
                    <a:solidFill>
                      <a:srgbClr val="FFFF00"/>
                    </a:solidFill>
                  </a:tcPr>
                </a:tc>
                <a:extLst>
                  <a:ext uri="{0D108BD9-81ED-4DB2-BD59-A6C34878D82A}">
                    <a16:rowId xmlns:a16="http://schemas.microsoft.com/office/drawing/2014/main" val="1996944423"/>
                  </a:ext>
                </a:extLst>
              </a:tr>
            </a:tbl>
          </a:graphicData>
        </a:graphic>
      </p:graphicFrame>
      <p:graphicFrame>
        <p:nvGraphicFramePr>
          <p:cNvPr id="10" name="Table 9">
            <a:extLst>
              <a:ext uri="{FF2B5EF4-FFF2-40B4-BE49-F238E27FC236}">
                <a16:creationId xmlns:a16="http://schemas.microsoft.com/office/drawing/2014/main" id="{494BAFB7-FE1F-E1A9-7A6C-AB4145BD9BA1}"/>
              </a:ext>
            </a:extLst>
          </p:cNvPr>
          <p:cNvGraphicFramePr>
            <a:graphicFrameLocks noGrp="1"/>
          </p:cNvGraphicFramePr>
          <p:nvPr>
            <p:extLst>
              <p:ext uri="{D42A27DB-BD31-4B8C-83A1-F6EECF244321}">
                <p14:modId xmlns:p14="http://schemas.microsoft.com/office/powerpoint/2010/main" val="3999773891"/>
              </p:ext>
            </p:extLst>
          </p:nvPr>
        </p:nvGraphicFramePr>
        <p:xfrm>
          <a:off x="1" y="6478892"/>
          <a:ext cx="12191999" cy="370840"/>
        </p:xfrm>
        <a:graphic>
          <a:graphicData uri="http://schemas.openxmlformats.org/drawingml/2006/table">
            <a:tbl>
              <a:tblPr firstRow="1" bandRow="1">
                <a:tableStyleId>{5C22544A-7EE6-4342-B048-85BDC9FD1C3A}</a:tableStyleId>
              </a:tblPr>
              <a:tblGrid>
                <a:gridCol w="6080165">
                  <a:extLst>
                    <a:ext uri="{9D8B030D-6E8A-4147-A177-3AD203B41FA5}">
                      <a16:colId xmlns:a16="http://schemas.microsoft.com/office/drawing/2014/main" val="2179694530"/>
                    </a:ext>
                  </a:extLst>
                </a:gridCol>
                <a:gridCol w="6111834">
                  <a:extLst>
                    <a:ext uri="{9D8B030D-6E8A-4147-A177-3AD203B41FA5}">
                      <a16:colId xmlns:a16="http://schemas.microsoft.com/office/drawing/2014/main" val="2768207918"/>
                    </a:ext>
                  </a:extLst>
                </a:gridCol>
              </a:tblGrid>
              <a:tr h="370840">
                <a:tc>
                  <a:txBody>
                    <a:bodyPr/>
                    <a:lstStyle/>
                    <a:p>
                      <a:endParaRPr lang="en-US" dirty="0"/>
                    </a:p>
                  </a:txBody>
                  <a:tcPr>
                    <a:solidFill>
                      <a:srgbClr val="FFFF00"/>
                    </a:solidFill>
                  </a:tcPr>
                </a:tc>
                <a:tc>
                  <a:txBody>
                    <a:bodyPr/>
                    <a:lstStyle/>
                    <a:p>
                      <a:pPr algn="r"/>
                      <a:r>
                        <a:rPr lang="en-US" dirty="0">
                          <a:solidFill>
                            <a:schemeClr val="tx1"/>
                          </a:solidFill>
                        </a:rPr>
                        <a:t>35</a:t>
                      </a:r>
                    </a:p>
                  </a:txBody>
                  <a:tcPr>
                    <a:solidFill>
                      <a:srgbClr val="FF85FF"/>
                    </a:solidFill>
                  </a:tcPr>
                </a:tc>
                <a:extLst>
                  <a:ext uri="{0D108BD9-81ED-4DB2-BD59-A6C34878D82A}">
                    <a16:rowId xmlns:a16="http://schemas.microsoft.com/office/drawing/2014/main" val="1996944423"/>
                  </a:ext>
                </a:extLst>
              </a:tr>
            </a:tbl>
          </a:graphicData>
        </a:graphic>
      </p:graphicFrame>
      <p:pic>
        <p:nvPicPr>
          <p:cNvPr id="12" name="Google Shape;187;p25" descr="pngfind.com-kingpin-png-4152286 (1).png">
            <a:extLst>
              <a:ext uri="{FF2B5EF4-FFF2-40B4-BE49-F238E27FC236}">
                <a16:creationId xmlns:a16="http://schemas.microsoft.com/office/drawing/2014/main" id="{2DBF2481-A2DB-F96E-5749-B03DC4F71665}"/>
              </a:ext>
            </a:extLst>
          </p:cNvPr>
          <p:cNvPicPr preferRelativeResize="0"/>
          <p:nvPr/>
        </p:nvPicPr>
        <p:blipFill rotWithShape="1">
          <a:blip r:embed="rId2">
            <a:alphaModFix/>
          </a:blip>
          <a:srcRect/>
          <a:stretch/>
        </p:blipFill>
        <p:spPr>
          <a:xfrm>
            <a:off x="11044052" y="8268"/>
            <a:ext cx="1051261" cy="465287"/>
          </a:xfrm>
          <a:prstGeom prst="rect">
            <a:avLst/>
          </a:prstGeom>
          <a:noFill/>
          <a:ln>
            <a:noFill/>
          </a:ln>
        </p:spPr>
      </p:pic>
      <p:sp>
        <p:nvSpPr>
          <p:cNvPr id="19" name="Rectangle 18">
            <a:extLst>
              <a:ext uri="{FF2B5EF4-FFF2-40B4-BE49-F238E27FC236}">
                <a16:creationId xmlns:a16="http://schemas.microsoft.com/office/drawing/2014/main" id="{A0702E37-2E7E-7262-5E76-F69A817105B3}"/>
              </a:ext>
            </a:extLst>
          </p:cNvPr>
          <p:cNvSpPr/>
          <p:nvPr/>
        </p:nvSpPr>
        <p:spPr>
          <a:xfrm>
            <a:off x="0" y="8268"/>
            <a:ext cx="12192000" cy="6825920"/>
          </a:xfrm>
          <a:prstGeom prst="rect">
            <a:avLst/>
          </a:prstGeom>
          <a:noFill/>
          <a:ln w="38100">
            <a:solidFill>
              <a:srgbClr val="0432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DCB2A3F0-9003-5886-09B4-27925BBE4000}"/>
              </a:ext>
            </a:extLst>
          </p:cNvPr>
          <p:cNvSpPr txBox="1"/>
          <p:nvPr/>
        </p:nvSpPr>
        <p:spPr>
          <a:xfrm>
            <a:off x="0" y="873851"/>
            <a:ext cx="12191999" cy="646331"/>
          </a:xfrm>
          <a:prstGeom prst="rect">
            <a:avLst/>
          </a:prstGeom>
          <a:noFill/>
        </p:spPr>
        <p:txBody>
          <a:bodyPr wrap="square">
            <a:spAutoFit/>
          </a:bodyPr>
          <a:lstStyle/>
          <a:p>
            <a:pPr algn="ctr"/>
            <a:r>
              <a:rPr lang="en-US" sz="3600" b="1" dirty="0">
                <a:effectLst/>
                <a:latin typeface="Calibri" panose="020F0502020204030204" pitchFamily="34" charset="0"/>
                <a:ea typeface="Calibri" panose="020F0502020204030204" pitchFamily="34" charset="0"/>
                <a:cs typeface="Calibri" panose="020F0502020204030204" pitchFamily="34" charset="0"/>
              </a:rPr>
              <a:t>Introduction to NumPy</a:t>
            </a:r>
            <a:endParaRPr lang="en-GB" sz="8800" b="1" cap="none" spc="0" dirty="0">
              <a:ln w="0"/>
              <a:solidFill>
                <a:schemeClr val="tx1"/>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Calibri" panose="020F0502020204030204" pitchFamily="34" charset="0"/>
            </a:endParaRPr>
          </a:p>
        </p:txBody>
      </p:sp>
      <p:sp>
        <p:nvSpPr>
          <p:cNvPr id="5" name="TextBox 4">
            <a:extLst>
              <a:ext uri="{FF2B5EF4-FFF2-40B4-BE49-F238E27FC236}">
                <a16:creationId xmlns:a16="http://schemas.microsoft.com/office/drawing/2014/main" id="{57BF3EEF-553A-D37A-6EF6-B514AF07FC3C}"/>
              </a:ext>
            </a:extLst>
          </p:cNvPr>
          <p:cNvSpPr txBox="1"/>
          <p:nvPr/>
        </p:nvSpPr>
        <p:spPr>
          <a:xfrm>
            <a:off x="487016" y="1574931"/>
            <a:ext cx="10972801" cy="2957861"/>
          </a:xfrm>
          <a:prstGeom prst="rect">
            <a:avLst/>
          </a:prstGeom>
          <a:noFill/>
        </p:spPr>
        <p:txBody>
          <a:bodyPr wrap="square">
            <a:spAutoFit/>
          </a:bodyPr>
          <a:lstStyle/>
          <a:p>
            <a:pPr marL="285750" indent="-285750" algn="just">
              <a:lnSpc>
                <a:spcPct val="150000"/>
              </a:lnSpc>
              <a:buFont typeface="Arial" panose="020B0604020202020204" pitchFamily="34" charset="0"/>
              <a:buChar char="•"/>
            </a:pPr>
            <a:r>
              <a:rPr lang="en-US" b="1" i="0" dirty="0">
                <a:solidFill>
                  <a:srgbClr val="333333"/>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NumPy</a:t>
            </a:r>
            <a:r>
              <a:rPr lang="en-US" b="0" i="0" dirty="0">
                <a:solidFill>
                  <a:srgbClr val="333333"/>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 stands for Numeric </a:t>
            </a:r>
            <a:r>
              <a:rPr lang="en-US" dirty="0">
                <a:solidFill>
                  <a:srgbClr val="333333"/>
                </a:solidFill>
                <a:highlight>
                  <a:srgbClr val="FFFFFF"/>
                </a:highlight>
                <a:latin typeface="Calibri" panose="020F0502020204030204" pitchFamily="34" charset="0"/>
                <a:ea typeface="Calibri" panose="020F0502020204030204" pitchFamily="34" charset="0"/>
                <a:cs typeface="Calibri" panose="020F0502020204030204" pitchFamily="34" charset="0"/>
              </a:rPr>
              <a:t>P</a:t>
            </a:r>
            <a:r>
              <a:rPr lang="en-US" b="0" i="0" dirty="0">
                <a:solidFill>
                  <a:srgbClr val="333333"/>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ython which is a python package for the computation and processing of the multidimensional and single dimensional array elements.</a:t>
            </a:r>
          </a:p>
          <a:p>
            <a:pPr marL="285750" indent="-285750" algn="just">
              <a:lnSpc>
                <a:spcPct val="150000"/>
              </a:lnSpc>
              <a:buFont typeface="Arial" panose="020B0604020202020204" pitchFamily="34" charset="0"/>
              <a:buChar char="•"/>
            </a:pPr>
            <a:r>
              <a:rPr lang="en-US" i="0" dirty="0">
                <a:solidFill>
                  <a:srgbClr val="333333"/>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Travis Oliphant </a:t>
            </a:r>
            <a:r>
              <a:rPr lang="en-US" b="0" i="0" dirty="0">
                <a:solidFill>
                  <a:srgbClr val="333333"/>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created NumPy package in 2005 by injecting the features of the ancestor module Numeric into another module </a:t>
            </a:r>
            <a:r>
              <a:rPr lang="en-US" b="0" i="0" dirty="0" err="1">
                <a:solidFill>
                  <a:srgbClr val="333333"/>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Numarray</a:t>
            </a:r>
            <a:r>
              <a:rPr lang="en-US" b="0" i="0" dirty="0">
                <a:solidFill>
                  <a:srgbClr val="333333"/>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a:t>
            </a:r>
          </a:p>
          <a:p>
            <a:pPr marL="285750" indent="-285750" algn="just">
              <a:lnSpc>
                <a:spcPct val="150000"/>
              </a:lnSpc>
              <a:buFont typeface="Arial" panose="020B0604020202020204" pitchFamily="34" charset="0"/>
              <a:buChar char="•"/>
            </a:pPr>
            <a:r>
              <a:rPr lang="en-US" dirty="0">
                <a:solidFill>
                  <a:srgbClr val="333333"/>
                </a:solidFill>
                <a:highlight>
                  <a:srgbClr val="FFFFFF"/>
                </a:highlight>
                <a:latin typeface="Calibri" panose="020F0502020204030204" pitchFamily="34" charset="0"/>
                <a:ea typeface="Calibri" panose="020F0502020204030204" pitchFamily="34" charset="0"/>
                <a:cs typeface="Calibri" panose="020F0502020204030204" pitchFamily="34" charset="0"/>
              </a:rPr>
              <a:t>It is an open source project and you can use it freely.</a:t>
            </a:r>
          </a:p>
          <a:p>
            <a:pPr marL="285750" indent="-285750" algn="just">
              <a:lnSpc>
                <a:spcPct val="150000"/>
              </a:lnSpc>
              <a:buFont typeface="Arial" panose="020B0604020202020204" pitchFamily="34" charset="0"/>
              <a:buChar char="•"/>
            </a:pPr>
            <a:r>
              <a:rPr lang="en-US" dirty="0">
                <a:solidFill>
                  <a:srgbClr val="333333"/>
                </a:solidFill>
                <a:highlight>
                  <a:srgbClr val="FFFFFF"/>
                </a:highlight>
                <a:latin typeface="Calibri" panose="020F0502020204030204" pitchFamily="34" charset="0"/>
                <a:ea typeface="Calibri" panose="020F0502020204030204" pitchFamily="34" charset="0"/>
                <a:cs typeface="Calibri" panose="020F0502020204030204" pitchFamily="34" charset="0"/>
              </a:rPr>
              <a:t>It also has functions for working in domain of linear algebra, </a:t>
            </a:r>
            <a:r>
              <a:rPr lang="en-US" dirty="0" err="1">
                <a:solidFill>
                  <a:srgbClr val="333333"/>
                </a:solidFill>
                <a:highlight>
                  <a:srgbClr val="FFFFFF"/>
                </a:highlight>
                <a:latin typeface="Calibri" panose="020F0502020204030204" pitchFamily="34" charset="0"/>
                <a:ea typeface="Calibri" panose="020F0502020204030204" pitchFamily="34" charset="0"/>
                <a:cs typeface="Calibri" panose="020F0502020204030204" pitchFamily="34" charset="0"/>
              </a:rPr>
              <a:t>fourier</a:t>
            </a:r>
            <a:r>
              <a:rPr lang="en-US" dirty="0">
                <a:solidFill>
                  <a:srgbClr val="333333"/>
                </a:solidFill>
                <a:highlight>
                  <a:srgbClr val="FFFFFF"/>
                </a:highlight>
                <a:latin typeface="Calibri" panose="020F0502020204030204" pitchFamily="34" charset="0"/>
                <a:ea typeface="Calibri" panose="020F0502020204030204" pitchFamily="34" charset="0"/>
                <a:cs typeface="Calibri" panose="020F0502020204030204" pitchFamily="34" charset="0"/>
              </a:rPr>
              <a:t> transform, and matrices.</a:t>
            </a:r>
          </a:p>
          <a:p>
            <a:pPr marL="285750" indent="-285750" algn="just">
              <a:lnSpc>
                <a:spcPct val="150000"/>
              </a:lnSpc>
              <a:buFont typeface="Arial" panose="020B0604020202020204" pitchFamily="34" charset="0"/>
              <a:buChar char="•"/>
            </a:pPr>
            <a:endParaRPr lang="en-US" b="0" i="0" dirty="0">
              <a:solidFill>
                <a:srgbClr val="333333"/>
              </a:solidFill>
              <a:effectLst/>
              <a:highlight>
                <a:srgbClr val="FFFFFF"/>
              </a:highlight>
              <a:latin typeface="Calibri" panose="020F0502020204030204" pitchFamily="34" charset="0"/>
              <a:ea typeface="Calibri" panose="020F0502020204030204" pitchFamily="34" charset="0"/>
              <a:cs typeface="Calibri" panose="020F0502020204030204" pitchFamily="34" charset="0"/>
            </a:endParaRPr>
          </a:p>
        </p:txBody>
      </p:sp>
      <p:pic>
        <p:nvPicPr>
          <p:cNvPr id="1026" name="Picture 2" descr="NumPy Tutorial">
            <a:extLst>
              <a:ext uri="{FF2B5EF4-FFF2-40B4-BE49-F238E27FC236}">
                <a16:creationId xmlns:a16="http://schemas.microsoft.com/office/drawing/2014/main" id="{F51A5168-24FB-71D2-5687-336293662FF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82377" y="4215440"/>
            <a:ext cx="2135258" cy="2135258"/>
          </a:xfrm>
          <a:prstGeom prst="rect">
            <a:avLst/>
          </a:prstGeom>
          <a:noFill/>
          <a:ln w="6350">
            <a:solidFill>
              <a:schemeClr val="tx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0567089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Table 8">
            <a:extLst>
              <a:ext uri="{FF2B5EF4-FFF2-40B4-BE49-F238E27FC236}">
                <a16:creationId xmlns:a16="http://schemas.microsoft.com/office/drawing/2014/main" id="{0B6EC464-4750-5FF3-7A5A-15612BA6E293}"/>
              </a:ext>
            </a:extLst>
          </p:cNvPr>
          <p:cNvGraphicFramePr>
            <a:graphicFrameLocks noGrp="1"/>
          </p:cNvGraphicFramePr>
          <p:nvPr/>
        </p:nvGraphicFramePr>
        <p:xfrm>
          <a:off x="0" y="23812"/>
          <a:ext cx="12192000" cy="465287"/>
        </p:xfrm>
        <a:graphic>
          <a:graphicData uri="http://schemas.openxmlformats.org/drawingml/2006/table">
            <a:tbl>
              <a:tblPr firstRow="1" bandRow="1">
                <a:tableStyleId>{5C22544A-7EE6-4342-B048-85BDC9FD1C3A}</a:tableStyleId>
              </a:tblPr>
              <a:tblGrid>
                <a:gridCol w="6092042">
                  <a:extLst>
                    <a:ext uri="{9D8B030D-6E8A-4147-A177-3AD203B41FA5}">
                      <a16:colId xmlns:a16="http://schemas.microsoft.com/office/drawing/2014/main" val="2179694530"/>
                    </a:ext>
                  </a:extLst>
                </a:gridCol>
                <a:gridCol w="6099958">
                  <a:extLst>
                    <a:ext uri="{9D8B030D-6E8A-4147-A177-3AD203B41FA5}">
                      <a16:colId xmlns:a16="http://schemas.microsoft.com/office/drawing/2014/main" val="2768207918"/>
                    </a:ext>
                  </a:extLst>
                </a:gridCol>
              </a:tblGrid>
              <a:tr h="465287">
                <a:tc>
                  <a:txBody>
                    <a:bodyPr/>
                    <a:lstStyle/>
                    <a:p>
                      <a:endParaRPr lang="en-US" dirty="0"/>
                    </a:p>
                  </a:txBody>
                  <a:tcPr>
                    <a:solidFill>
                      <a:srgbClr val="FF85FF"/>
                    </a:solidFill>
                  </a:tcPr>
                </a:tc>
                <a:tc>
                  <a:txBody>
                    <a:bodyPr/>
                    <a:lstStyle/>
                    <a:p>
                      <a:endParaRPr lang="en-US" dirty="0"/>
                    </a:p>
                  </a:txBody>
                  <a:tcPr>
                    <a:solidFill>
                      <a:srgbClr val="FFFF00"/>
                    </a:solidFill>
                  </a:tcPr>
                </a:tc>
                <a:extLst>
                  <a:ext uri="{0D108BD9-81ED-4DB2-BD59-A6C34878D82A}">
                    <a16:rowId xmlns:a16="http://schemas.microsoft.com/office/drawing/2014/main" val="1996944423"/>
                  </a:ext>
                </a:extLst>
              </a:tr>
            </a:tbl>
          </a:graphicData>
        </a:graphic>
      </p:graphicFrame>
      <p:graphicFrame>
        <p:nvGraphicFramePr>
          <p:cNvPr id="10" name="Table 9">
            <a:extLst>
              <a:ext uri="{FF2B5EF4-FFF2-40B4-BE49-F238E27FC236}">
                <a16:creationId xmlns:a16="http://schemas.microsoft.com/office/drawing/2014/main" id="{494BAFB7-FE1F-E1A9-7A6C-AB4145BD9BA1}"/>
              </a:ext>
            </a:extLst>
          </p:cNvPr>
          <p:cNvGraphicFramePr>
            <a:graphicFrameLocks noGrp="1"/>
          </p:cNvGraphicFramePr>
          <p:nvPr>
            <p:extLst>
              <p:ext uri="{D42A27DB-BD31-4B8C-83A1-F6EECF244321}">
                <p14:modId xmlns:p14="http://schemas.microsoft.com/office/powerpoint/2010/main" val="730771554"/>
              </p:ext>
            </p:extLst>
          </p:nvPr>
        </p:nvGraphicFramePr>
        <p:xfrm>
          <a:off x="1" y="6478892"/>
          <a:ext cx="12191999" cy="370840"/>
        </p:xfrm>
        <a:graphic>
          <a:graphicData uri="http://schemas.openxmlformats.org/drawingml/2006/table">
            <a:tbl>
              <a:tblPr firstRow="1" bandRow="1">
                <a:tableStyleId>{5C22544A-7EE6-4342-B048-85BDC9FD1C3A}</a:tableStyleId>
              </a:tblPr>
              <a:tblGrid>
                <a:gridCol w="6080165">
                  <a:extLst>
                    <a:ext uri="{9D8B030D-6E8A-4147-A177-3AD203B41FA5}">
                      <a16:colId xmlns:a16="http://schemas.microsoft.com/office/drawing/2014/main" val="2179694530"/>
                    </a:ext>
                  </a:extLst>
                </a:gridCol>
                <a:gridCol w="6111834">
                  <a:extLst>
                    <a:ext uri="{9D8B030D-6E8A-4147-A177-3AD203B41FA5}">
                      <a16:colId xmlns:a16="http://schemas.microsoft.com/office/drawing/2014/main" val="2768207918"/>
                    </a:ext>
                  </a:extLst>
                </a:gridCol>
              </a:tblGrid>
              <a:tr h="370840">
                <a:tc>
                  <a:txBody>
                    <a:bodyPr/>
                    <a:lstStyle/>
                    <a:p>
                      <a:endParaRPr lang="en-US" dirty="0"/>
                    </a:p>
                  </a:txBody>
                  <a:tcPr>
                    <a:solidFill>
                      <a:srgbClr val="FFFF00"/>
                    </a:solidFill>
                  </a:tcPr>
                </a:tc>
                <a:tc>
                  <a:txBody>
                    <a:bodyPr/>
                    <a:lstStyle/>
                    <a:p>
                      <a:pPr algn="r"/>
                      <a:r>
                        <a:rPr lang="en-US" dirty="0">
                          <a:solidFill>
                            <a:schemeClr val="tx1"/>
                          </a:solidFill>
                        </a:rPr>
                        <a:t>36</a:t>
                      </a:r>
                    </a:p>
                  </a:txBody>
                  <a:tcPr>
                    <a:solidFill>
                      <a:srgbClr val="FF85FF"/>
                    </a:solidFill>
                  </a:tcPr>
                </a:tc>
                <a:extLst>
                  <a:ext uri="{0D108BD9-81ED-4DB2-BD59-A6C34878D82A}">
                    <a16:rowId xmlns:a16="http://schemas.microsoft.com/office/drawing/2014/main" val="1996944423"/>
                  </a:ext>
                </a:extLst>
              </a:tr>
            </a:tbl>
          </a:graphicData>
        </a:graphic>
      </p:graphicFrame>
      <p:pic>
        <p:nvPicPr>
          <p:cNvPr id="12" name="Google Shape;187;p25" descr="pngfind.com-kingpin-png-4152286 (1).png">
            <a:extLst>
              <a:ext uri="{FF2B5EF4-FFF2-40B4-BE49-F238E27FC236}">
                <a16:creationId xmlns:a16="http://schemas.microsoft.com/office/drawing/2014/main" id="{2DBF2481-A2DB-F96E-5749-B03DC4F71665}"/>
              </a:ext>
            </a:extLst>
          </p:cNvPr>
          <p:cNvPicPr preferRelativeResize="0"/>
          <p:nvPr/>
        </p:nvPicPr>
        <p:blipFill rotWithShape="1">
          <a:blip r:embed="rId2">
            <a:alphaModFix/>
          </a:blip>
          <a:srcRect/>
          <a:stretch/>
        </p:blipFill>
        <p:spPr>
          <a:xfrm>
            <a:off x="11044052" y="8268"/>
            <a:ext cx="1051261" cy="465287"/>
          </a:xfrm>
          <a:prstGeom prst="rect">
            <a:avLst/>
          </a:prstGeom>
          <a:noFill/>
          <a:ln>
            <a:noFill/>
          </a:ln>
        </p:spPr>
      </p:pic>
      <p:sp>
        <p:nvSpPr>
          <p:cNvPr id="19" name="Rectangle 18">
            <a:extLst>
              <a:ext uri="{FF2B5EF4-FFF2-40B4-BE49-F238E27FC236}">
                <a16:creationId xmlns:a16="http://schemas.microsoft.com/office/drawing/2014/main" id="{A0702E37-2E7E-7262-5E76-F69A817105B3}"/>
              </a:ext>
            </a:extLst>
          </p:cNvPr>
          <p:cNvSpPr/>
          <p:nvPr/>
        </p:nvSpPr>
        <p:spPr>
          <a:xfrm>
            <a:off x="0" y="8268"/>
            <a:ext cx="12192000" cy="6825920"/>
          </a:xfrm>
          <a:prstGeom prst="rect">
            <a:avLst/>
          </a:prstGeom>
          <a:noFill/>
          <a:ln w="38100">
            <a:solidFill>
              <a:srgbClr val="0432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DCB2A3F0-9003-5886-09B4-27925BBE4000}"/>
              </a:ext>
            </a:extLst>
          </p:cNvPr>
          <p:cNvSpPr txBox="1"/>
          <p:nvPr/>
        </p:nvSpPr>
        <p:spPr>
          <a:xfrm>
            <a:off x="0" y="873851"/>
            <a:ext cx="12191999" cy="646331"/>
          </a:xfrm>
          <a:prstGeom prst="rect">
            <a:avLst/>
          </a:prstGeom>
          <a:noFill/>
        </p:spPr>
        <p:txBody>
          <a:bodyPr wrap="square">
            <a:spAutoFit/>
          </a:bodyPr>
          <a:lstStyle/>
          <a:p>
            <a:pPr algn="ctr"/>
            <a:r>
              <a:rPr lang="en-US" sz="3600" b="1" dirty="0">
                <a:effectLst/>
                <a:latin typeface="Calibri" panose="020F0502020204030204" pitchFamily="34" charset="0"/>
                <a:ea typeface="Calibri" panose="020F0502020204030204" pitchFamily="34" charset="0"/>
                <a:cs typeface="Calibri" panose="020F0502020204030204" pitchFamily="34" charset="0"/>
              </a:rPr>
              <a:t>Introduction to NumPy</a:t>
            </a:r>
            <a:endParaRPr lang="en-GB" sz="8800" b="1" cap="none" spc="0" dirty="0">
              <a:ln w="0"/>
              <a:solidFill>
                <a:schemeClr val="tx1"/>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Calibri" panose="020F0502020204030204" pitchFamily="34" charset="0"/>
            </a:endParaRPr>
          </a:p>
        </p:txBody>
      </p:sp>
      <p:sp>
        <p:nvSpPr>
          <p:cNvPr id="5" name="TextBox 4">
            <a:extLst>
              <a:ext uri="{FF2B5EF4-FFF2-40B4-BE49-F238E27FC236}">
                <a16:creationId xmlns:a16="http://schemas.microsoft.com/office/drawing/2014/main" id="{57BF3EEF-553A-D37A-6EF6-B514AF07FC3C}"/>
              </a:ext>
            </a:extLst>
          </p:cNvPr>
          <p:cNvSpPr txBox="1"/>
          <p:nvPr/>
        </p:nvSpPr>
        <p:spPr>
          <a:xfrm>
            <a:off x="487016" y="1574931"/>
            <a:ext cx="10972801" cy="2126864"/>
          </a:xfrm>
          <a:prstGeom prst="rect">
            <a:avLst/>
          </a:prstGeom>
          <a:noFill/>
        </p:spPr>
        <p:txBody>
          <a:bodyPr wrap="square">
            <a:spAutoFit/>
          </a:bodyPr>
          <a:lstStyle/>
          <a:p>
            <a:pPr marL="285750" indent="-285750" algn="just">
              <a:lnSpc>
                <a:spcPct val="150000"/>
              </a:lnSpc>
              <a:buFont typeface="Arial" panose="020B0604020202020204" pitchFamily="34" charset="0"/>
              <a:buChar char="•"/>
            </a:pPr>
            <a:r>
              <a:rPr lang="en-US" i="0" dirty="0">
                <a:solidFill>
                  <a:srgbClr val="333333"/>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In Python we have lists that serve the purpose of arrays, but they are slow to process.</a:t>
            </a:r>
          </a:p>
          <a:p>
            <a:pPr marL="285750" indent="-285750" algn="just">
              <a:lnSpc>
                <a:spcPct val="150000"/>
              </a:lnSpc>
              <a:buFont typeface="Arial" panose="020B0604020202020204" pitchFamily="34" charset="0"/>
              <a:buChar char="•"/>
            </a:pPr>
            <a:r>
              <a:rPr lang="en-US" i="0" dirty="0">
                <a:solidFill>
                  <a:srgbClr val="333333"/>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NumPy aims to provide an array object that is up to 50x faster than traditional Python lists.</a:t>
            </a:r>
          </a:p>
          <a:p>
            <a:pPr marL="285750" indent="-285750" algn="just">
              <a:lnSpc>
                <a:spcPct val="150000"/>
              </a:lnSpc>
              <a:buFont typeface="Arial" panose="020B0604020202020204" pitchFamily="34" charset="0"/>
              <a:buChar char="•"/>
            </a:pPr>
            <a:r>
              <a:rPr lang="en-US" i="0" dirty="0">
                <a:solidFill>
                  <a:srgbClr val="333333"/>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The array object in NumPy is called </a:t>
            </a:r>
            <a:r>
              <a:rPr lang="en-US" i="0" dirty="0" err="1">
                <a:solidFill>
                  <a:srgbClr val="333333"/>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ndarray</a:t>
            </a:r>
            <a:r>
              <a:rPr lang="en-US" i="0" dirty="0">
                <a:solidFill>
                  <a:srgbClr val="333333"/>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 it provides a lot of supporting functions that make working with </a:t>
            </a:r>
            <a:r>
              <a:rPr lang="en-US" i="0" dirty="0" err="1">
                <a:solidFill>
                  <a:srgbClr val="333333"/>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ndarray</a:t>
            </a:r>
            <a:r>
              <a:rPr lang="en-US" i="0" dirty="0">
                <a:solidFill>
                  <a:srgbClr val="333333"/>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 very easy.</a:t>
            </a:r>
          </a:p>
          <a:p>
            <a:pPr marL="285750" indent="-285750" algn="just">
              <a:lnSpc>
                <a:spcPct val="150000"/>
              </a:lnSpc>
              <a:buFont typeface="Arial" panose="020B0604020202020204" pitchFamily="34" charset="0"/>
              <a:buChar char="•"/>
            </a:pPr>
            <a:r>
              <a:rPr lang="en-US" i="0" dirty="0">
                <a:solidFill>
                  <a:srgbClr val="333333"/>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Arrays are very frequently used in data science, where speed and resources are very important.</a:t>
            </a:r>
          </a:p>
        </p:txBody>
      </p:sp>
      <p:pic>
        <p:nvPicPr>
          <p:cNvPr id="5122" name="Picture 2" descr="What is Python Coding? | Juni Learning">
            <a:extLst>
              <a:ext uri="{FF2B5EF4-FFF2-40B4-BE49-F238E27FC236}">
                <a16:creationId xmlns:a16="http://schemas.microsoft.com/office/drawing/2014/main" id="{9F6F19C6-38F1-C28A-25C5-ADC4F95E51FB}"/>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8773" t="21290" r="17227" b="17660"/>
          <a:stretch/>
        </p:blipFill>
        <p:spPr bwMode="auto">
          <a:xfrm>
            <a:off x="4694581" y="3882122"/>
            <a:ext cx="2345635" cy="2237538"/>
          </a:xfrm>
          <a:prstGeom prst="rect">
            <a:avLst/>
          </a:prstGeom>
          <a:noFill/>
          <a:ln w="6350">
            <a:solidFill>
              <a:schemeClr val="tx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7905955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Table 8">
            <a:extLst>
              <a:ext uri="{FF2B5EF4-FFF2-40B4-BE49-F238E27FC236}">
                <a16:creationId xmlns:a16="http://schemas.microsoft.com/office/drawing/2014/main" id="{0B6EC464-4750-5FF3-7A5A-15612BA6E293}"/>
              </a:ext>
            </a:extLst>
          </p:cNvPr>
          <p:cNvGraphicFramePr>
            <a:graphicFrameLocks noGrp="1"/>
          </p:cNvGraphicFramePr>
          <p:nvPr/>
        </p:nvGraphicFramePr>
        <p:xfrm>
          <a:off x="0" y="23812"/>
          <a:ext cx="12192000" cy="465287"/>
        </p:xfrm>
        <a:graphic>
          <a:graphicData uri="http://schemas.openxmlformats.org/drawingml/2006/table">
            <a:tbl>
              <a:tblPr firstRow="1" bandRow="1">
                <a:tableStyleId>{5C22544A-7EE6-4342-B048-85BDC9FD1C3A}</a:tableStyleId>
              </a:tblPr>
              <a:tblGrid>
                <a:gridCol w="6092042">
                  <a:extLst>
                    <a:ext uri="{9D8B030D-6E8A-4147-A177-3AD203B41FA5}">
                      <a16:colId xmlns:a16="http://schemas.microsoft.com/office/drawing/2014/main" val="2179694530"/>
                    </a:ext>
                  </a:extLst>
                </a:gridCol>
                <a:gridCol w="6099958">
                  <a:extLst>
                    <a:ext uri="{9D8B030D-6E8A-4147-A177-3AD203B41FA5}">
                      <a16:colId xmlns:a16="http://schemas.microsoft.com/office/drawing/2014/main" val="2768207918"/>
                    </a:ext>
                  </a:extLst>
                </a:gridCol>
              </a:tblGrid>
              <a:tr h="465287">
                <a:tc>
                  <a:txBody>
                    <a:bodyPr/>
                    <a:lstStyle/>
                    <a:p>
                      <a:endParaRPr lang="en-US" dirty="0"/>
                    </a:p>
                  </a:txBody>
                  <a:tcPr>
                    <a:solidFill>
                      <a:srgbClr val="FF85FF"/>
                    </a:solidFill>
                  </a:tcPr>
                </a:tc>
                <a:tc>
                  <a:txBody>
                    <a:bodyPr/>
                    <a:lstStyle/>
                    <a:p>
                      <a:endParaRPr lang="en-US" dirty="0"/>
                    </a:p>
                  </a:txBody>
                  <a:tcPr>
                    <a:solidFill>
                      <a:srgbClr val="FFFF00"/>
                    </a:solidFill>
                  </a:tcPr>
                </a:tc>
                <a:extLst>
                  <a:ext uri="{0D108BD9-81ED-4DB2-BD59-A6C34878D82A}">
                    <a16:rowId xmlns:a16="http://schemas.microsoft.com/office/drawing/2014/main" val="1996944423"/>
                  </a:ext>
                </a:extLst>
              </a:tr>
            </a:tbl>
          </a:graphicData>
        </a:graphic>
      </p:graphicFrame>
      <p:graphicFrame>
        <p:nvGraphicFramePr>
          <p:cNvPr id="10" name="Table 9">
            <a:extLst>
              <a:ext uri="{FF2B5EF4-FFF2-40B4-BE49-F238E27FC236}">
                <a16:creationId xmlns:a16="http://schemas.microsoft.com/office/drawing/2014/main" id="{494BAFB7-FE1F-E1A9-7A6C-AB4145BD9BA1}"/>
              </a:ext>
            </a:extLst>
          </p:cNvPr>
          <p:cNvGraphicFramePr>
            <a:graphicFrameLocks noGrp="1"/>
          </p:cNvGraphicFramePr>
          <p:nvPr>
            <p:extLst>
              <p:ext uri="{D42A27DB-BD31-4B8C-83A1-F6EECF244321}">
                <p14:modId xmlns:p14="http://schemas.microsoft.com/office/powerpoint/2010/main" val="910412233"/>
              </p:ext>
            </p:extLst>
          </p:nvPr>
        </p:nvGraphicFramePr>
        <p:xfrm>
          <a:off x="1" y="6478892"/>
          <a:ext cx="12191999" cy="370840"/>
        </p:xfrm>
        <a:graphic>
          <a:graphicData uri="http://schemas.openxmlformats.org/drawingml/2006/table">
            <a:tbl>
              <a:tblPr firstRow="1" bandRow="1">
                <a:tableStyleId>{5C22544A-7EE6-4342-B048-85BDC9FD1C3A}</a:tableStyleId>
              </a:tblPr>
              <a:tblGrid>
                <a:gridCol w="6080165">
                  <a:extLst>
                    <a:ext uri="{9D8B030D-6E8A-4147-A177-3AD203B41FA5}">
                      <a16:colId xmlns:a16="http://schemas.microsoft.com/office/drawing/2014/main" val="2179694530"/>
                    </a:ext>
                  </a:extLst>
                </a:gridCol>
                <a:gridCol w="6111834">
                  <a:extLst>
                    <a:ext uri="{9D8B030D-6E8A-4147-A177-3AD203B41FA5}">
                      <a16:colId xmlns:a16="http://schemas.microsoft.com/office/drawing/2014/main" val="2768207918"/>
                    </a:ext>
                  </a:extLst>
                </a:gridCol>
              </a:tblGrid>
              <a:tr h="370840">
                <a:tc>
                  <a:txBody>
                    <a:bodyPr/>
                    <a:lstStyle/>
                    <a:p>
                      <a:endParaRPr lang="en-US" dirty="0"/>
                    </a:p>
                  </a:txBody>
                  <a:tcPr>
                    <a:solidFill>
                      <a:srgbClr val="FFFF00"/>
                    </a:solidFill>
                  </a:tcPr>
                </a:tc>
                <a:tc>
                  <a:txBody>
                    <a:bodyPr/>
                    <a:lstStyle/>
                    <a:p>
                      <a:pPr algn="r"/>
                      <a:r>
                        <a:rPr lang="en-US" dirty="0">
                          <a:solidFill>
                            <a:schemeClr val="tx1"/>
                          </a:solidFill>
                        </a:rPr>
                        <a:t>37</a:t>
                      </a:r>
                    </a:p>
                  </a:txBody>
                  <a:tcPr>
                    <a:solidFill>
                      <a:srgbClr val="FF85FF"/>
                    </a:solidFill>
                  </a:tcPr>
                </a:tc>
                <a:extLst>
                  <a:ext uri="{0D108BD9-81ED-4DB2-BD59-A6C34878D82A}">
                    <a16:rowId xmlns:a16="http://schemas.microsoft.com/office/drawing/2014/main" val="1996944423"/>
                  </a:ext>
                </a:extLst>
              </a:tr>
            </a:tbl>
          </a:graphicData>
        </a:graphic>
      </p:graphicFrame>
      <p:pic>
        <p:nvPicPr>
          <p:cNvPr id="12" name="Google Shape;187;p25" descr="pngfind.com-kingpin-png-4152286 (1).png">
            <a:extLst>
              <a:ext uri="{FF2B5EF4-FFF2-40B4-BE49-F238E27FC236}">
                <a16:creationId xmlns:a16="http://schemas.microsoft.com/office/drawing/2014/main" id="{2DBF2481-A2DB-F96E-5749-B03DC4F71665}"/>
              </a:ext>
            </a:extLst>
          </p:cNvPr>
          <p:cNvPicPr preferRelativeResize="0"/>
          <p:nvPr/>
        </p:nvPicPr>
        <p:blipFill rotWithShape="1">
          <a:blip r:embed="rId2">
            <a:alphaModFix/>
          </a:blip>
          <a:srcRect/>
          <a:stretch/>
        </p:blipFill>
        <p:spPr>
          <a:xfrm>
            <a:off x="11044052" y="8268"/>
            <a:ext cx="1051261" cy="465287"/>
          </a:xfrm>
          <a:prstGeom prst="rect">
            <a:avLst/>
          </a:prstGeom>
          <a:noFill/>
          <a:ln>
            <a:noFill/>
          </a:ln>
        </p:spPr>
      </p:pic>
      <p:sp>
        <p:nvSpPr>
          <p:cNvPr id="19" name="Rectangle 18">
            <a:extLst>
              <a:ext uri="{FF2B5EF4-FFF2-40B4-BE49-F238E27FC236}">
                <a16:creationId xmlns:a16="http://schemas.microsoft.com/office/drawing/2014/main" id="{A0702E37-2E7E-7262-5E76-F69A817105B3}"/>
              </a:ext>
            </a:extLst>
          </p:cNvPr>
          <p:cNvSpPr/>
          <p:nvPr/>
        </p:nvSpPr>
        <p:spPr>
          <a:xfrm>
            <a:off x="0" y="8268"/>
            <a:ext cx="12192000" cy="6825920"/>
          </a:xfrm>
          <a:prstGeom prst="rect">
            <a:avLst/>
          </a:prstGeom>
          <a:noFill/>
          <a:ln w="38100">
            <a:solidFill>
              <a:srgbClr val="0432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DCB2A3F0-9003-5886-09B4-27925BBE4000}"/>
              </a:ext>
            </a:extLst>
          </p:cNvPr>
          <p:cNvSpPr txBox="1"/>
          <p:nvPr/>
        </p:nvSpPr>
        <p:spPr>
          <a:xfrm>
            <a:off x="0" y="873851"/>
            <a:ext cx="12191999" cy="646331"/>
          </a:xfrm>
          <a:prstGeom prst="rect">
            <a:avLst/>
          </a:prstGeom>
          <a:noFill/>
        </p:spPr>
        <p:txBody>
          <a:bodyPr wrap="square">
            <a:spAutoFit/>
          </a:bodyPr>
          <a:lstStyle/>
          <a:p>
            <a:pPr algn="ctr"/>
            <a:r>
              <a:rPr lang="en-US" sz="3600" b="1" dirty="0">
                <a:effectLst/>
                <a:latin typeface="Calibri" panose="020F0502020204030204" pitchFamily="34" charset="0"/>
                <a:ea typeface="Calibri" panose="020F0502020204030204" pitchFamily="34" charset="0"/>
                <a:cs typeface="Calibri" panose="020F0502020204030204" pitchFamily="34" charset="0"/>
              </a:rPr>
              <a:t>Introduction to NumPy</a:t>
            </a:r>
            <a:endParaRPr lang="en-GB" sz="8800" b="1" cap="none" spc="0" dirty="0">
              <a:ln w="0"/>
              <a:solidFill>
                <a:schemeClr val="tx1"/>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Calibri" panose="020F0502020204030204" pitchFamily="34" charset="0"/>
            </a:endParaRPr>
          </a:p>
        </p:txBody>
      </p:sp>
      <p:sp>
        <p:nvSpPr>
          <p:cNvPr id="5" name="TextBox 4">
            <a:extLst>
              <a:ext uri="{FF2B5EF4-FFF2-40B4-BE49-F238E27FC236}">
                <a16:creationId xmlns:a16="http://schemas.microsoft.com/office/drawing/2014/main" id="{57BF3EEF-553A-D37A-6EF6-B514AF07FC3C}"/>
              </a:ext>
            </a:extLst>
          </p:cNvPr>
          <p:cNvSpPr txBox="1"/>
          <p:nvPr/>
        </p:nvSpPr>
        <p:spPr>
          <a:xfrm>
            <a:off x="487016" y="1574931"/>
            <a:ext cx="6530009" cy="2957861"/>
          </a:xfrm>
          <a:prstGeom prst="rect">
            <a:avLst/>
          </a:prstGeom>
          <a:noFill/>
        </p:spPr>
        <p:txBody>
          <a:bodyPr wrap="square">
            <a:spAutoFit/>
          </a:bodyPr>
          <a:lstStyle/>
          <a:p>
            <a:pPr algn="just">
              <a:lnSpc>
                <a:spcPct val="150000"/>
              </a:lnSpc>
            </a:pPr>
            <a:r>
              <a:rPr lang="en-US" b="1" i="0" dirty="0">
                <a:solidFill>
                  <a:srgbClr val="000000"/>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Why NumPy faster tha</a:t>
            </a:r>
            <a:r>
              <a:rPr lang="en-US" b="1" dirty="0">
                <a:solidFill>
                  <a:srgbClr val="000000"/>
                </a:solidFill>
                <a:highlight>
                  <a:srgbClr val="FFFFFF"/>
                </a:highlight>
                <a:latin typeface="Calibri" panose="020F0502020204030204" pitchFamily="34" charset="0"/>
                <a:ea typeface="Calibri" panose="020F0502020204030204" pitchFamily="34" charset="0"/>
                <a:cs typeface="Calibri" panose="020F0502020204030204" pitchFamily="34" charset="0"/>
              </a:rPr>
              <a:t>n List?</a:t>
            </a:r>
            <a:endParaRPr lang="en-US" b="1" i="0" dirty="0">
              <a:solidFill>
                <a:srgbClr val="000000"/>
              </a:solidFill>
              <a:effectLst/>
              <a:highlight>
                <a:srgbClr val="FFFFFF"/>
              </a:highlight>
              <a:latin typeface="Calibri" panose="020F0502020204030204" pitchFamily="34" charset="0"/>
              <a:ea typeface="Calibri" panose="020F0502020204030204" pitchFamily="34" charset="0"/>
              <a:cs typeface="Calibri" panose="020F0502020204030204" pitchFamily="34" charset="0"/>
            </a:endParaRPr>
          </a:p>
          <a:p>
            <a:pPr marL="285750" indent="-285750" algn="just">
              <a:lnSpc>
                <a:spcPct val="150000"/>
              </a:lnSpc>
              <a:buFont typeface="Arial" panose="020B0604020202020204" pitchFamily="34" charset="0"/>
              <a:buChar char="•"/>
            </a:pPr>
            <a:r>
              <a:rPr lang="en-US" b="0" i="0" dirty="0">
                <a:solidFill>
                  <a:srgbClr val="000000"/>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NumPy arrays are stored at one continuous place in memory unlike lists, so processes can access and manipulate them very efficiently.</a:t>
            </a:r>
          </a:p>
          <a:p>
            <a:pPr marL="285750" indent="-285750" algn="just">
              <a:lnSpc>
                <a:spcPct val="150000"/>
              </a:lnSpc>
              <a:buFont typeface="Arial" panose="020B0604020202020204" pitchFamily="34" charset="0"/>
              <a:buChar char="•"/>
            </a:pPr>
            <a:r>
              <a:rPr lang="en-US" b="0" i="0" dirty="0">
                <a:solidFill>
                  <a:srgbClr val="000000"/>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This behavior is called locality of reference in computer science.</a:t>
            </a:r>
          </a:p>
          <a:p>
            <a:pPr marL="285750" indent="-285750" algn="just">
              <a:lnSpc>
                <a:spcPct val="150000"/>
              </a:lnSpc>
              <a:buFont typeface="Arial" panose="020B0604020202020204" pitchFamily="34" charset="0"/>
              <a:buChar char="•"/>
            </a:pPr>
            <a:r>
              <a:rPr lang="en-US" b="0" i="0" dirty="0">
                <a:solidFill>
                  <a:srgbClr val="000000"/>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This is the main reason why NumPy is faster than lists. </a:t>
            </a:r>
          </a:p>
          <a:p>
            <a:pPr marL="285750" indent="-285750" algn="just">
              <a:lnSpc>
                <a:spcPct val="150000"/>
              </a:lnSpc>
              <a:buFont typeface="Arial" panose="020B0604020202020204" pitchFamily="34" charset="0"/>
              <a:buChar char="•"/>
            </a:pPr>
            <a:r>
              <a:rPr lang="en-US" b="0" i="0" dirty="0">
                <a:solidFill>
                  <a:srgbClr val="000000"/>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It is optimized to work with latest CPU architectures.</a:t>
            </a:r>
          </a:p>
        </p:txBody>
      </p:sp>
      <p:pic>
        <p:nvPicPr>
          <p:cNvPr id="4098" name="Picture 2" descr="Exploring NumPy: Features &amp; Performance ...">
            <a:extLst>
              <a:ext uri="{FF2B5EF4-FFF2-40B4-BE49-F238E27FC236}">
                <a16:creationId xmlns:a16="http://schemas.microsoft.com/office/drawing/2014/main" id="{406449D7-A8FA-3522-5188-2C7BEA0EC3D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86600" y="1965117"/>
            <a:ext cx="4884502" cy="2744469"/>
          </a:xfrm>
          <a:prstGeom prst="rect">
            <a:avLst/>
          </a:prstGeom>
          <a:noFill/>
          <a:ln w="6350">
            <a:solidFill>
              <a:schemeClr val="tx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6679391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Table 8">
            <a:extLst>
              <a:ext uri="{FF2B5EF4-FFF2-40B4-BE49-F238E27FC236}">
                <a16:creationId xmlns:a16="http://schemas.microsoft.com/office/drawing/2014/main" id="{0B6EC464-4750-5FF3-7A5A-15612BA6E293}"/>
              </a:ext>
            </a:extLst>
          </p:cNvPr>
          <p:cNvGraphicFramePr>
            <a:graphicFrameLocks noGrp="1"/>
          </p:cNvGraphicFramePr>
          <p:nvPr/>
        </p:nvGraphicFramePr>
        <p:xfrm>
          <a:off x="0" y="23812"/>
          <a:ext cx="12192000" cy="465287"/>
        </p:xfrm>
        <a:graphic>
          <a:graphicData uri="http://schemas.openxmlformats.org/drawingml/2006/table">
            <a:tbl>
              <a:tblPr firstRow="1" bandRow="1">
                <a:tableStyleId>{5C22544A-7EE6-4342-B048-85BDC9FD1C3A}</a:tableStyleId>
              </a:tblPr>
              <a:tblGrid>
                <a:gridCol w="6092042">
                  <a:extLst>
                    <a:ext uri="{9D8B030D-6E8A-4147-A177-3AD203B41FA5}">
                      <a16:colId xmlns:a16="http://schemas.microsoft.com/office/drawing/2014/main" val="2179694530"/>
                    </a:ext>
                  </a:extLst>
                </a:gridCol>
                <a:gridCol w="6099958">
                  <a:extLst>
                    <a:ext uri="{9D8B030D-6E8A-4147-A177-3AD203B41FA5}">
                      <a16:colId xmlns:a16="http://schemas.microsoft.com/office/drawing/2014/main" val="2768207918"/>
                    </a:ext>
                  </a:extLst>
                </a:gridCol>
              </a:tblGrid>
              <a:tr h="465287">
                <a:tc>
                  <a:txBody>
                    <a:bodyPr/>
                    <a:lstStyle/>
                    <a:p>
                      <a:endParaRPr lang="en-US" dirty="0"/>
                    </a:p>
                  </a:txBody>
                  <a:tcPr>
                    <a:solidFill>
                      <a:srgbClr val="FF85FF"/>
                    </a:solidFill>
                  </a:tcPr>
                </a:tc>
                <a:tc>
                  <a:txBody>
                    <a:bodyPr/>
                    <a:lstStyle/>
                    <a:p>
                      <a:endParaRPr lang="en-US" dirty="0"/>
                    </a:p>
                  </a:txBody>
                  <a:tcPr>
                    <a:solidFill>
                      <a:srgbClr val="FFFF00"/>
                    </a:solidFill>
                  </a:tcPr>
                </a:tc>
                <a:extLst>
                  <a:ext uri="{0D108BD9-81ED-4DB2-BD59-A6C34878D82A}">
                    <a16:rowId xmlns:a16="http://schemas.microsoft.com/office/drawing/2014/main" val="1996944423"/>
                  </a:ext>
                </a:extLst>
              </a:tr>
            </a:tbl>
          </a:graphicData>
        </a:graphic>
      </p:graphicFrame>
      <p:graphicFrame>
        <p:nvGraphicFramePr>
          <p:cNvPr id="10" name="Table 9">
            <a:extLst>
              <a:ext uri="{FF2B5EF4-FFF2-40B4-BE49-F238E27FC236}">
                <a16:creationId xmlns:a16="http://schemas.microsoft.com/office/drawing/2014/main" id="{494BAFB7-FE1F-E1A9-7A6C-AB4145BD9BA1}"/>
              </a:ext>
            </a:extLst>
          </p:cNvPr>
          <p:cNvGraphicFramePr>
            <a:graphicFrameLocks noGrp="1"/>
          </p:cNvGraphicFramePr>
          <p:nvPr>
            <p:extLst>
              <p:ext uri="{D42A27DB-BD31-4B8C-83A1-F6EECF244321}">
                <p14:modId xmlns:p14="http://schemas.microsoft.com/office/powerpoint/2010/main" val="1332757351"/>
              </p:ext>
            </p:extLst>
          </p:nvPr>
        </p:nvGraphicFramePr>
        <p:xfrm>
          <a:off x="1" y="6478892"/>
          <a:ext cx="12191999" cy="370840"/>
        </p:xfrm>
        <a:graphic>
          <a:graphicData uri="http://schemas.openxmlformats.org/drawingml/2006/table">
            <a:tbl>
              <a:tblPr firstRow="1" bandRow="1">
                <a:tableStyleId>{5C22544A-7EE6-4342-B048-85BDC9FD1C3A}</a:tableStyleId>
              </a:tblPr>
              <a:tblGrid>
                <a:gridCol w="6080165">
                  <a:extLst>
                    <a:ext uri="{9D8B030D-6E8A-4147-A177-3AD203B41FA5}">
                      <a16:colId xmlns:a16="http://schemas.microsoft.com/office/drawing/2014/main" val="2179694530"/>
                    </a:ext>
                  </a:extLst>
                </a:gridCol>
                <a:gridCol w="6111834">
                  <a:extLst>
                    <a:ext uri="{9D8B030D-6E8A-4147-A177-3AD203B41FA5}">
                      <a16:colId xmlns:a16="http://schemas.microsoft.com/office/drawing/2014/main" val="2768207918"/>
                    </a:ext>
                  </a:extLst>
                </a:gridCol>
              </a:tblGrid>
              <a:tr h="370840">
                <a:tc>
                  <a:txBody>
                    <a:bodyPr/>
                    <a:lstStyle/>
                    <a:p>
                      <a:endParaRPr lang="en-US" dirty="0"/>
                    </a:p>
                  </a:txBody>
                  <a:tcPr>
                    <a:solidFill>
                      <a:srgbClr val="FFFF00"/>
                    </a:solidFill>
                  </a:tcPr>
                </a:tc>
                <a:tc>
                  <a:txBody>
                    <a:bodyPr/>
                    <a:lstStyle/>
                    <a:p>
                      <a:pPr algn="r"/>
                      <a:r>
                        <a:rPr lang="en-US" dirty="0">
                          <a:solidFill>
                            <a:schemeClr val="tx1"/>
                          </a:solidFill>
                        </a:rPr>
                        <a:t>38</a:t>
                      </a:r>
                    </a:p>
                  </a:txBody>
                  <a:tcPr>
                    <a:solidFill>
                      <a:srgbClr val="FF85FF"/>
                    </a:solidFill>
                  </a:tcPr>
                </a:tc>
                <a:extLst>
                  <a:ext uri="{0D108BD9-81ED-4DB2-BD59-A6C34878D82A}">
                    <a16:rowId xmlns:a16="http://schemas.microsoft.com/office/drawing/2014/main" val="1996944423"/>
                  </a:ext>
                </a:extLst>
              </a:tr>
            </a:tbl>
          </a:graphicData>
        </a:graphic>
      </p:graphicFrame>
      <p:pic>
        <p:nvPicPr>
          <p:cNvPr id="12" name="Google Shape;187;p25" descr="pngfind.com-kingpin-png-4152286 (1).png">
            <a:extLst>
              <a:ext uri="{FF2B5EF4-FFF2-40B4-BE49-F238E27FC236}">
                <a16:creationId xmlns:a16="http://schemas.microsoft.com/office/drawing/2014/main" id="{2DBF2481-A2DB-F96E-5749-B03DC4F71665}"/>
              </a:ext>
            </a:extLst>
          </p:cNvPr>
          <p:cNvPicPr preferRelativeResize="0"/>
          <p:nvPr/>
        </p:nvPicPr>
        <p:blipFill rotWithShape="1">
          <a:blip r:embed="rId2">
            <a:alphaModFix/>
          </a:blip>
          <a:srcRect/>
          <a:stretch/>
        </p:blipFill>
        <p:spPr>
          <a:xfrm>
            <a:off x="11044052" y="8268"/>
            <a:ext cx="1051261" cy="465287"/>
          </a:xfrm>
          <a:prstGeom prst="rect">
            <a:avLst/>
          </a:prstGeom>
          <a:noFill/>
          <a:ln>
            <a:noFill/>
          </a:ln>
        </p:spPr>
      </p:pic>
      <p:sp>
        <p:nvSpPr>
          <p:cNvPr id="19" name="Rectangle 18">
            <a:extLst>
              <a:ext uri="{FF2B5EF4-FFF2-40B4-BE49-F238E27FC236}">
                <a16:creationId xmlns:a16="http://schemas.microsoft.com/office/drawing/2014/main" id="{A0702E37-2E7E-7262-5E76-F69A817105B3}"/>
              </a:ext>
            </a:extLst>
          </p:cNvPr>
          <p:cNvSpPr/>
          <p:nvPr/>
        </p:nvSpPr>
        <p:spPr>
          <a:xfrm>
            <a:off x="0" y="8268"/>
            <a:ext cx="12192000" cy="6825920"/>
          </a:xfrm>
          <a:prstGeom prst="rect">
            <a:avLst/>
          </a:prstGeom>
          <a:noFill/>
          <a:ln w="38100">
            <a:solidFill>
              <a:srgbClr val="0432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DCB2A3F0-9003-5886-09B4-27925BBE4000}"/>
              </a:ext>
            </a:extLst>
          </p:cNvPr>
          <p:cNvSpPr txBox="1"/>
          <p:nvPr/>
        </p:nvSpPr>
        <p:spPr>
          <a:xfrm>
            <a:off x="0" y="873851"/>
            <a:ext cx="12191999" cy="646331"/>
          </a:xfrm>
          <a:prstGeom prst="rect">
            <a:avLst/>
          </a:prstGeom>
          <a:noFill/>
        </p:spPr>
        <p:txBody>
          <a:bodyPr wrap="square">
            <a:spAutoFit/>
          </a:bodyPr>
          <a:lstStyle/>
          <a:p>
            <a:pPr algn="ctr"/>
            <a:r>
              <a:rPr lang="en-US" sz="3600" b="1" dirty="0">
                <a:effectLst/>
                <a:latin typeface="Calibri" panose="020F0502020204030204" pitchFamily="34" charset="0"/>
                <a:ea typeface="Calibri" panose="020F0502020204030204" pitchFamily="34" charset="0"/>
                <a:cs typeface="Calibri" panose="020F0502020204030204" pitchFamily="34" charset="0"/>
              </a:rPr>
              <a:t>Installation of NumPy</a:t>
            </a:r>
            <a:endParaRPr lang="en-GB" sz="8800" b="1" cap="none" spc="0" dirty="0">
              <a:ln w="0"/>
              <a:solidFill>
                <a:schemeClr val="tx1"/>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Calibri" panose="020F0502020204030204" pitchFamily="34" charset="0"/>
            </a:endParaRPr>
          </a:p>
        </p:txBody>
      </p:sp>
      <p:sp>
        <p:nvSpPr>
          <p:cNvPr id="5" name="TextBox 4">
            <a:extLst>
              <a:ext uri="{FF2B5EF4-FFF2-40B4-BE49-F238E27FC236}">
                <a16:creationId xmlns:a16="http://schemas.microsoft.com/office/drawing/2014/main" id="{57BF3EEF-553A-D37A-6EF6-B514AF07FC3C}"/>
              </a:ext>
            </a:extLst>
          </p:cNvPr>
          <p:cNvSpPr txBox="1"/>
          <p:nvPr/>
        </p:nvSpPr>
        <p:spPr>
          <a:xfrm>
            <a:off x="487016" y="1574931"/>
            <a:ext cx="10972801" cy="2957861"/>
          </a:xfrm>
          <a:prstGeom prst="rect">
            <a:avLst/>
          </a:prstGeom>
          <a:noFill/>
        </p:spPr>
        <p:txBody>
          <a:bodyPr wrap="square">
            <a:spAutoFit/>
          </a:bodyPr>
          <a:lstStyle/>
          <a:p>
            <a:pPr algn="l">
              <a:lnSpc>
                <a:spcPct val="150000"/>
              </a:lnSpc>
            </a:pPr>
            <a:r>
              <a:rPr lang="en-US" b="1" i="0" dirty="0">
                <a:solidFill>
                  <a:srgbClr val="000000"/>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Installation</a:t>
            </a:r>
          </a:p>
          <a:p>
            <a:pPr marL="285750" indent="-285750" algn="l">
              <a:lnSpc>
                <a:spcPct val="150000"/>
              </a:lnSpc>
              <a:buFont typeface="Arial" panose="020B0604020202020204" pitchFamily="34" charset="0"/>
              <a:buChar char="•"/>
            </a:pPr>
            <a:r>
              <a:rPr lang="en-US" b="0" i="0" dirty="0">
                <a:solidFill>
                  <a:srgbClr val="000000"/>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If you have Python and PIP already installed on a system, then installation of NumPy is very easy.</a:t>
            </a:r>
          </a:p>
          <a:p>
            <a:pPr marL="285750" indent="-285750" algn="l">
              <a:lnSpc>
                <a:spcPct val="150000"/>
              </a:lnSpc>
              <a:buFont typeface="Arial" panose="020B0604020202020204" pitchFamily="34" charset="0"/>
              <a:buChar char="•"/>
            </a:pPr>
            <a:r>
              <a:rPr lang="en-US" b="0" i="0" dirty="0">
                <a:solidFill>
                  <a:srgbClr val="000000"/>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Install it using this command: </a:t>
            </a:r>
            <a:r>
              <a:rPr lang="en-US" b="1" dirty="0">
                <a:solidFill>
                  <a:srgbClr val="000000"/>
                </a:solidFill>
                <a:highlight>
                  <a:srgbClr val="FFFFFF"/>
                </a:highlight>
                <a:latin typeface="Calibri" panose="020F0502020204030204" pitchFamily="34" charset="0"/>
                <a:ea typeface="Calibri" panose="020F0502020204030204" pitchFamily="34" charset="0"/>
                <a:cs typeface="Calibri" panose="020F0502020204030204" pitchFamily="34" charset="0"/>
              </a:rPr>
              <a:t>pip install </a:t>
            </a:r>
            <a:r>
              <a:rPr lang="en-US" b="1" dirty="0" err="1">
                <a:solidFill>
                  <a:srgbClr val="000000"/>
                </a:solidFill>
                <a:highlight>
                  <a:srgbClr val="FFFFFF"/>
                </a:highlight>
                <a:latin typeface="Calibri" panose="020F0502020204030204" pitchFamily="34" charset="0"/>
                <a:ea typeface="Calibri" panose="020F0502020204030204" pitchFamily="34" charset="0"/>
                <a:cs typeface="Calibri" panose="020F0502020204030204" pitchFamily="34" charset="0"/>
              </a:rPr>
              <a:t>numpy</a:t>
            </a:r>
            <a:endParaRPr lang="en-US" b="1" dirty="0">
              <a:solidFill>
                <a:srgbClr val="000000"/>
              </a:solidFill>
              <a:highlight>
                <a:srgbClr val="FFFFFF"/>
              </a:highlight>
              <a:latin typeface="Calibri" panose="020F0502020204030204" pitchFamily="34" charset="0"/>
              <a:ea typeface="Calibri" panose="020F0502020204030204" pitchFamily="34" charset="0"/>
              <a:cs typeface="Calibri" panose="020F0502020204030204" pitchFamily="34" charset="0"/>
            </a:endParaRPr>
          </a:p>
          <a:p>
            <a:pPr>
              <a:lnSpc>
                <a:spcPct val="150000"/>
              </a:lnSpc>
            </a:pPr>
            <a:r>
              <a:rPr lang="en-US" b="1" dirty="0">
                <a:solidFill>
                  <a:srgbClr val="000000"/>
                </a:solidFill>
                <a:highlight>
                  <a:srgbClr val="FFFFFF"/>
                </a:highlight>
                <a:latin typeface="Calibri" panose="020F0502020204030204" pitchFamily="34" charset="0"/>
                <a:ea typeface="Calibri" panose="020F0502020204030204" pitchFamily="34" charset="0"/>
                <a:cs typeface="Calibri" panose="020F0502020204030204" pitchFamily="34" charset="0"/>
              </a:rPr>
              <a:t>Import </a:t>
            </a:r>
          </a:p>
          <a:p>
            <a:pPr marL="285750" indent="-285750">
              <a:lnSpc>
                <a:spcPct val="150000"/>
              </a:lnSpc>
              <a:buFont typeface="Arial" panose="020B0604020202020204" pitchFamily="34" charset="0"/>
              <a:buChar char="•"/>
            </a:pPr>
            <a:r>
              <a:rPr lang="en-US" dirty="0">
                <a:solidFill>
                  <a:srgbClr val="000000"/>
                </a:solidFill>
                <a:highlight>
                  <a:srgbClr val="FFFFFF"/>
                </a:highlight>
                <a:latin typeface="Calibri" panose="020F0502020204030204" pitchFamily="34" charset="0"/>
                <a:ea typeface="Calibri" panose="020F0502020204030204" pitchFamily="34" charset="0"/>
                <a:cs typeface="Calibri" panose="020F0502020204030204" pitchFamily="34" charset="0"/>
              </a:rPr>
              <a:t>Once NumPy is installed, import it in your applications by adding the import keyword: </a:t>
            </a:r>
            <a:r>
              <a:rPr lang="en-US" b="1" dirty="0">
                <a:solidFill>
                  <a:srgbClr val="000000"/>
                </a:solidFill>
                <a:highlight>
                  <a:srgbClr val="FFFFFF"/>
                </a:highlight>
                <a:latin typeface="Calibri" panose="020F0502020204030204" pitchFamily="34" charset="0"/>
                <a:ea typeface="Calibri" panose="020F0502020204030204" pitchFamily="34" charset="0"/>
                <a:cs typeface="Calibri" panose="020F0502020204030204" pitchFamily="34" charset="0"/>
              </a:rPr>
              <a:t>import </a:t>
            </a:r>
            <a:r>
              <a:rPr lang="en-US" b="1" dirty="0" err="1">
                <a:solidFill>
                  <a:srgbClr val="000000"/>
                </a:solidFill>
                <a:highlight>
                  <a:srgbClr val="FFFFFF"/>
                </a:highlight>
                <a:latin typeface="Calibri" panose="020F0502020204030204" pitchFamily="34" charset="0"/>
                <a:ea typeface="Calibri" panose="020F0502020204030204" pitchFamily="34" charset="0"/>
                <a:cs typeface="Calibri" panose="020F0502020204030204" pitchFamily="34" charset="0"/>
              </a:rPr>
              <a:t>numpy</a:t>
            </a:r>
            <a:r>
              <a:rPr lang="en-US" b="1" dirty="0">
                <a:solidFill>
                  <a:srgbClr val="000000"/>
                </a:solidFill>
                <a:highlight>
                  <a:srgbClr val="FFFFFF"/>
                </a:highlight>
                <a:latin typeface="Calibri" panose="020F0502020204030204" pitchFamily="34" charset="0"/>
                <a:ea typeface="Calibri" panose="020F0502020204030204" pitchFamily="34" charset="0"/>
                <a:cs typeface="Calibri" panose="020F0502020204030204" pitchFamily="34" charset="0"/>
              </a:rPr>
              <a:t> as np</a:t>
            </a:r>
          </a:p>
          <a:p>
            <a:pPr marL="285750" indent="-285750">
              <a:lnSpc>
                <a:spcPct val="150000"/>
              </a:lnSpc>
              <a:buFont typeface="Arial" panose="020B0604020202020204" pitchFamily="34" charset="0"/>
              <a:buChar char="•"/>
            </a:pPr>
            <a:r>
              <a:rPr lang="en-US" dirty="0">
                <a:solidFill>
                  <a:srgbClr val="000000"/>
                </a:solidFill>
                <a:highlight>
                  <a:srgbClr val="FFFFFF"/>
                </a:highlight>
                <a:latin typeface="Calibri" panose="020F0502020204030204" pitchFamily="34" charset="0"/>
                <a:ea typeface="Calibri" panose="020F0502020204030204" pitchFamily="34" charset="0"/>
                <a:cs typeface="Calibri" panose="020F0502020204030204" pitchFamily="34" charset="0"/>
              </a:rPr>
              <a:t>NumPy is usually imported under the np alias.</a:t>
            </a:r>
          </a:p>
          <a:p>
            <a:pPr marL="285750" indent="-285750" algn="l">
              <a:lnSpc>
                <a:spcPct val="150000"/>
              </a:lnSpc>
              <a:buFont typeface="Arial" panose="020B0604020202020204" pitchFamily="34" charset="0"/>
              <a:buChar char="•"/>
            </a:pPr>
            <a:endParaRPr lang="en-US" b="0" i="0" dirty="0">
              <a:solidFill>
                <a:srgbClr val="000000"/>
              </a:solidFill>
              <a:effectLst/>
              <a:highlight>
                <a:srgbClr val="FFFFFF"/>
              </a:highlight>
              <a:latin typeface="Calibri" panose="020F0502020204030204" pitchFamily="34" charset="0"/>
              <a:ea typeface="Calibri" panose="020F0502020204030204" pitchFamily="34" charset="0"/>
              <a:cs typeface="Calibri" panose="020F0502020204030204" pitchFamily="34" charset="0"/>
            </a:endParaRPr>
          </a:p>
        </p:txBody>
      </p:sp>
      <p:pic>
        <p:nvPicPr>
          <p:cNvPr id="3074" name="Picture 2" descr="How To Install NumPy In Python | NumPy ...">
            <a:extLst>
              <a:ext uri="{FF2B5EF4-FFF2-40B4-BE49-F238E27FC236}">
                <a16:creationId xmlns:a16="http://schemas.microsoft.com/office/drawing/2014/main" id="{97B474CB-09D0-DFF4-79C0-29EBE3BAD0B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05297" y="4110330"/>
            <a:ext cx="6875292" cy="234547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5093950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Table 8">
            <a:extLst>
              <a:ext uri="{FF2B5EF4-FFF2-40B4-BE49-F238E27FC236}">
                <a16:creationId xmlns:a16="http://schemas.microsoft.com/office/drawing/2014/main" id="{0B6EC464-4750-5FF3-7A5A-15612BA6E293}"/>
              </a:ext>
            </a:extLst>
          </p:cNvPr>
          <p:cNvGraphicFramePr>
            <a:graphicFrameLocks noGrp="1"/>
          </p:cNvGraphicFramePr>
          <p:nvPr/>
        </p:nvGraphicFramePr>
        <p:xfrm>
          <a:off x="0" y="23812"/>
          <a:ext cx="12192000" cy="465287"/>
        </p:xfrm>
        <a:graphic>
          <a:graphicData uri="http://schemas.openxmlformats.org/drawingml/2006/table">
            <a:tbl>
              <a:tblPr firstRow="1" bandRow="1">
                <a:tableStyleId>{5C22544A-7EE6-4342-B048-85BDC9FD1C3A}</a:tableStyleId>
              </a:tblPr>
              <a:tblGrid>
                <a:gridCol w="6092042">
                  <a:extLst>
                    <a:ext uri="{9D8B030D-6E8A-4147-A177-3AD203B41FA5}">
                      <a16:colId xmlns:a16="http://schemas.microsoft.com/office/drawing/2014/main" val="2179694530"/>
                    </a:ext>
                  </a:extLst>
                </a:gridCol>
                <a:gridCol w="6099958">
                  <a:extLst>
                    <a:ext uri="{9D8B030D-6E8A-4147-A177-3AD203B41FA5}">
                      <a16:colId xmlns:a16="http://schemas.microsoft.com/office/drawing/2014/main" val="2768207918"/>
                    </a:ext>
                  </a:extLst>
                </a:gridCol>
              </a:tblGrid>
              <a:tr h="465287">
                <a:tc>
                  <a:txBody>
                    <a:bodyPr/>
                    <a:lstStyle/>
                    <a:p>
                      <a:endParaRPr lang="en-US" dirty="0"/>
                    </a:p>
                  </a:txBody>
                  <a:tcPr>
                    <a:solidFill>
                      <a:srgbClr val="FF85FF"/>
                    </a:solidFill>
                  </a:tcPr>
                </a:tc>
                <a:tc>
                  <a:txBody>
                    <a:bodyPr/>
                    <a:lstStyle/>
                    <a:p>
                      <a:endParaRPr lang="en-US" dirty="0"/>
                    </a:p>
                  </a:txBody>
                  <a:tcPr>
                    <a:solidFill>
                      <a:srgbClr val="FFFF00"/>
                    </a:solidFill>
                  </a:tcPr>
                </a:tc>
                <a:extLst>
                  <a:ext uri="{0D108BD9-81ED-4DB2-BD59-A6C34878D82A}">
                    <a16:rowId xmlns:a16="http://schemas.microsoft.com/office/drawing/2014/main" val="1996944423"/>
                  </a:ext>
                </a:extLst>
              </a:tr>
            </a:tbl>
          </a:graphicData>
        </a:graphic>
      </p:graphicFrame>
      <p:graphicFrame>
        <p:nvGraphicFramePr>
          <p:cNvPr id="10" name="Table 9">
            <a:extLst>
              <a:ext uri="{FF2B5EF4-FFF2-40B4-BE49-F238E27FC236}">
                <a16:creationId xmlns:a16="http://schemas.microsoft.com/office/drawing/2014/main" id="{494BAFB7-FE1F-E1A9-7A6C-AB4145BD9BA1}"/>
              </a:ext>
            </a:extLst>
          </p:cNvPr>
          <p:cNvGraphicFramePr>
            <a:graphicFrameLocks noGrp="1"/>
          </p:cNvGraphicFramePr>
          <p:nvPr>
            <p:extLst>
              <p:ext uri="{D42A27DB-BD31-4B8C-83A1-F6EECF244321}">
                <p14:modId xmlns:p14="http://schemas.microsoft.com/office/powerpoint/2010/main" val="3649529244"/>
              </p:ext>
            </p:extLst>
          </p:nvPr>
        </p:nvGraphicFramePr>
        <p:xfrm>
          <a:off x="1" y="6478892"/>
          <a:ext cx="12191999" cy="370840"/>
        </p:xfrm>
        <a:graphic>
          <a:graphicData uri="http://schemas.openxmlformats.org/drawingml/2006/table">
            <a:tbl>
              <a:tblPr firstRow="1" bandRow="1">
                <a:tableStyleId>{5C22544A-7EE6-4342-B048-85BDC9FD1C3A}</a:tableStyleId>
              </a:tblPr>
              <a:tblGrid>
                <a:gridCol w="6080165">
                  <a:extLst>
                    <a:ext uri="{9D8B030D-6E8A-4147-A177-3AD203B41FA5}">
                      <a16:colId xmlns:a16="http://schemas.microsoft.com/office/drawing/2014/main" val="2179694530"/>
                    </a:ext>
                  </a:extLst>
                </a:gridCol>
                <a:gridCol w="6111834">
                  <a:extLst>
                    <a:ext uri="{9D8B030D-6E8A-4147-A177-3AD203B41FA5}">
                      <a16:colId xmlns:a16="http://schemas.microsoft.com/office/drawing/2014/main" val="2768207918"/>
                    </a:ext>
                  </a:extLst>
                </a:gridCol>
              </a:tblGrid>
              <a:tr h="370840">
                <a:tc>
                  <a:txBody>
                    <a:bodyPr/>
                    <a:lstStyle/>
                    <a:p>
                      <a:endParaRPr lang="en-US" dirty="0"/>
                    </a:p>
                  </a:txBody>
                  <a:tcPr>
                    <a:solidFill>
                      <a:srgbClr val="FFFF00"/>
                    </a:solidFill>
                  </a:tcPr>
                </a:tc>
                <a:tc>
                  <a:txBody>
                    <a:bodyPr/>
                    <a:lstStyle/>
                    <a:p>
                      <a:pPr algn="r"/>
                      <a:r>
                        <a:rPr lang="en-US" dirty="0">
                          <a:solidFill>
                            <a:schemeClr val="tx1"/>
                          </a:solidFill>
                        </a:rPr>
                        <a:t>39</a:t>
                      </a:r>
                    </a:p>
                  </a:txBody>
                  <a:tcPr>
                    <a:solidFill>
                      <a:srgbClr val="FF85FF"/>
                    </a:solidFill>
                  </a:tcPr>
                </a:tc>
                <a:extLst>
                  <a:ext uri="{0D108BD9-81ED-4DB2-BD59-A6C34878D82A}">
                    <a16:rowId xmlns:a16="http://schemas.microsoft.com/office/drawing/2014/main" val="1996944423"/>
                  </a:ext>
                </a:extLst>
              </a:tr>
            </a:tbl>
          </a:graphicData>
        </a:graphic>
      </p:graphicFrame>
      <p:pic>
        <p:nvPicPr>
          <p:cNvPr id="12" name="Google Shape;187;p25" descr="pngfind.com-kingpin-png-4152286 (1).png">
            <a:extLst>
              <a:ext uri="{FF2B5EF4-FFF2-40B4-BE49-F238E27FC236}">
                <a16:creationId xmlns:a16="http://schemas.microsoft.com/office/drawing/2014/main" id="{2DBF2481-A2DB-F96E-5749-B03DC4F71665}"/>
              </a:ext>
            </a:extLst>
          </p:cNvPr>
          <p:cNvPicPr preferRelativeResize="0"/>
          <p:nvPr/>
        </p:nvPicPr>
        <p:blipFill rotWithShape="1">
          <a:blip r:embed="rId2">
            <a:alphaModFix/>
          </a:blip>
          <a:srcRect/>
          <a:stretch/>
        </p:blipFill>
        <p:spPr>
          <a:xfrm>
            <a:off x="11044052" y="8268"/>
            <a:ext cx="1051261" cy="465287"/>
          </a:xfrm>
          <a:prstGeom prst="rect">
            <a:avLst/>
          </a:prstGeom>
          <a:noFill/>
          <a:ln>
            <a:noFill/>
          </a:ln>
        </p:spPr>
      </p:pic>
      <p:sp>
        <p:nvSpPr>
          <p:cNvPr id="19" name="Rectangle 18">
            <a:extLst>
              <a:ext uri="{FF2B5EF4-FFF2-40B4-BE49-F238E27FC236}">
                <a16:creationId xmlns:a16="http://schemas.microsoft.com/office/drawing/2014/main" id="{A0702E37-2E7E-7262-5E76-F69A817105B3}"/>
              </a:ext>
            </a:extLst>
          </p:cNvPr>
          <p:cNvSpPr/>
          <p:nvPr/>
        </p:nvSpPr>
        <p:spPr>
          <a:xfrm>
            <a:off x="0" y="8268"/>
            <a:ext cx="12192000" cy="6825920"/>
          </a:xfrm>
          <a:prstGeom prst="rect">
            <a:avLst/>
          </a:prstGeom>
          <a:noFill/>
          <a:ln w="38100">
            <a:solidFill>
              <a:srgbClr val="0432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DCB2A3F0-9003-5886-09B4-27925BBE4000}"/>
              </a:ext>
            </a:extLst>
          </p:cNvPr>
          <p:cNvSpPr txBox="1"/>
          <p:nvPr/>
        </p:nvSpPr>
        <p:spPr>
          <a:xfrm>
            <a:off x="0" y="873851"/>
            <a:ext cx="12191999" cy="646331"/>
          </a:xfrm>
          <a:prstGeom prst="rect">
            <a:avLst/>
          </a:prstGeom>
          <a:noFill/>
        </p:spPr>
        <p:txBody>
          <a:bodyPr wrap="square">
            <a:spAutoFit/>
          </a:bodyPr>
          <a:lstStyle/>
          <a:p>
            <a:pPr algn="ctr"/>
            <a:r>
              <a:rPr lang="en-US" sz="3600" b="1" dirty="0">
                <a:effectLst/>
                <a:latin typeface="Calibri" panose="020F0502020204030204" pitchFamily="34" charset="0"/>
                <a:ea typeface="Calibri" panose="020F0502020204030204" pitchFamily="34" charset="0"/>
                <a:cs typeface="Calibri" panose="020F0502020204030204" pitchFamily="34" charset="0"/>
              </a:rPr>
              <a:t>Advantages of NumPy</a:t>
            </a:r>
            <a:endParaRPr lang="en-GB" sz="8800" b="1" cap="none" spc="0" dirty="0">
              <a:ln w="0"/>
              <a:solidFill>
                <a:schemeClr val="tx1"/>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Calibri" panose="020F0502020204030204" pitchFamily="34" charset="0"/>
            </a:endParaRPr>
          </a:p>
        </p:txBody>
      </p:sp>
      <p:sp>
        <p:nvSpPr>
          <p:cNvPr id="5" name="TextBox 4">
            <a:extLst>
              <a:ext uri="{FF2B5EF4-FFF2-40B4-BE49-F238E27FC236}">
                <a16:creationId xmlns:a16="http://schemas.microsoft.com/office/drawing/2014/main" id="{57BF3EEF-553A-D37A-6EF6-B514AF07FC3C}"/>
              </a:ext>
            </a:extLst>
          </p:cNvPr>
          <p:cNvSpPr txBox="1"/>
          <p:nvPr/>
        </p:nvSpPr>
        <p:spPr>
          <a:xfrm>
            <a:off x="487016" y="1574931"/>
            <a:ext cx="10972801" cy="2126864"/>
          </a:xfrm>
          <a:prstGeom prst="rect">
            <a:avLst/>
          </a:prstGeom>
          <a:noFill/>
        </p:spPr>
        <p:txBody>
          <a:bodyPr wrap="square">
            <a:spAutoFit/>
          </a:bodyPr>
          <a:lstStyle/>
          <a:p>
            <a:pPr marL="285750" indent="-285750" algn="just">
              <a:lnSpc>
                <a:spcPct val="150000"/>
              </a:lnSpc>
              <a:buFont typeface="Arial" panose="020B0604020202020204" pitchFamily="34" charset="0"/>
              <a:buChar char="•"/>
            </a:pPr>
            <a:r>
              <a:rPr lang="en-US" b="0" i="0" dirty="0">
                <a:solidFill>
                  <a:srgbClr val="000000"/>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NumPy performs array-oriented computing.</a:t>
            </a:r>
          </a:p>
          <a:p>
            <a:pPr marL="285750" indent="-285750" algn="just">
              <a:lnSpc>
                <a:spcPct val="150000"/>
              </a:lnSpc>
              <a:buFont typeface="Arial" panose="020B0604020202020204" pitchFamily="34" charset="0"/>
              <a:buChar char="•"/>
            </a:pPr>
            <a:r>
              <a:rPr lang="en-US" b="0" i="0" dirty="0">
                <a:solidFill>
                  <a:srgbClr val="000000"/>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It efficiently implements the multidimensional arrays.</a:t>
            </a:r>
          </a:p>
          <a:p>
            <a:pPr marL="285750" indent="-285750" algn="just">
              <a:lnSpc>
                <a:spcPct val="150000"/>
              </a:lnSpc>
              <a:buFont typeface="Arial" panose="020B0604020202020204" pitchFamily="34" charset="0"/>
              <a:buChar char="•"/>
            </a:pPr>
            <a:r>
              <a:rPr lang="en-US" b="0" i="0" dirty="0">
                <a:solidFill>
                  <a:srgbClr val="000000"/>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It performs scientific computations.</a:t>
            </a:r>
          </a:p>
          <a:p>
            <a:pPr marL="285750" indent="-285750" algn="just">
              <a:lnSpc>
                <a:spcPct val="150000"/>
              </a:lnSpc>
              <a:buFont typeface="Arial" panose="020B0604020202020204" pitchFamily="34" charset="0"/>
              <a:buChar char="•"/>
            </a:pPr>
            <a:r>
              <a:rPr lang="en-US" b="0" i="0" dirty="0">
                <a:solidFill>
                  <a:srgbClr val="000000"/>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It is capable of performing Fourier Transform and reshaping the data stored in multidimensional arrays.</a:t>
            </a:r>
          </a:p>
          <a:p>
            <a:pPr marL="285750" indent="-285750" algn="just">
              <a:lnSpc>
                <a:spcPct val="150000"/>
              </a:lnSpc>
              <a:buFont typeface="Arial" panose="020B0604020202020204" pitchFamily="34" charset="0"/>
              <a:buChar char="•"/>
            </a:pPr>
            <a:r>
              <a:rPr lang="en-US" b="0" i="0" dirty="0">
                <a:solidFill>
                  <a:srgbClr val="000000"/>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NumPy provides the in-built functions for linear algebra and random number generation.</a:t>
            </a:r>
          </a:p>
        </p:txBody>
      </p:sp>
      <p:pic>
        <p:nvPicPr>
          <p:cNvPr id="2050" name="Picture 2" descr="Multidimensional Arrays in C ...">
            <a:extLst>
              <a:ext uri="{FF2B5EF4-FFF2-40B4-BE49-F238E27FC236}">
                <a16:creationId xmlns:a16="http://schemas.microsoft.com/office/drawing/2014/main" id="{0F824AA2-9041-D27E-54E3-8229323C2E7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07204" y="3756544"/>
            <a:ext cx="5138622" cy="2553152"/>
          </a:xfrm>
          <a:prstGeom prst="rect">
            <a:avLst/>
          </a:prstGeom>
          <a:noFill/>
          <a:ln w="6350">
            <a:solidFill>
              <a:schemeClr val="tx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6988630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Table 8">
            <a:extLst>
              <a:ext uri="{FF2B5EF4-FFF2-40B4-BE49-F238E27FC236}">
                <a16:creationId xmlns:a16="http://schemas.microsoft.com/office/drawing/2014/main" id="{0B6EC464-4750-5FF3-7A5A-15612BA6E293}"/>
              </a:ext>
            </a:extLst>
          </p:cNvPr>
          <p:cNvGraphicFramePr>
            <a:graphicFrameLocks noGrp="1"/>
          </p:cNvGraphicFramePr>
          <p:nvPr/>
        </p:nvGraphicFramePr>
        <p:xfrm>
          <a:off x="0" y="23812"/>
          <a:ext cx="12192000" cy="465287"/>
        </p:xfrm>
        <a:graphic>
          <a:graphicData uri="http://schemas.openxmlformats.org/drawingml/2006/table">
            <a:tbl>
              <a:tblPr firstRow="1" bandRow="1">
                <a:tableStyleId>{5C22544A-7EE6-4342-B048-85BDC9FD1C3A}</a:tableStyleId>
              </a:tblPr>
              <a:tblGrid>
                <a:gridCol w="6092042">
                  <a:extLst>
                    <a:ext uri="{9D8B030D-6E8A-4147-A177-3AD203B41FA5}">
                      <a16:colId xmlns:a16="http://schemas.microsoft.com/office/drawing/2014/main" val="2179694530"/>
                    </a:ext>
                  </a:extLst>
                </a:gridCol>
                <a:gridCol w="6099958">
                  <a:extLst>
                    <a:ext uri="{9D8B030D-6E8A-4147-A177-3AD203B41FA5}">
                      <a16:colId xmlns:a16="http://schemas.microsoft.com/office/drawing/2014/main" val="2768207918"/>
                    </a:ext>
                  </a:extLst>
                </a:gridCol>
              </a:tblGrid>
              <a:tr h="465287">
                <a:tc>
                  <a:txBody>
                    <a:bodyPr/>
                    <a:lstStyle/>
                    <a:p>
                      <a:endParaRPr lang="en-US" dirty="0"/>
                    </a:p>
                  </a:txBody>
                  <a:tcPr>
                    <a:solidFill>
                      <a:srgbClr val="FF85FF"/>
                    </a:solidFill>
                  </a:tcPr>
                </a:tc>
                <a:tc>
                  <a:txBody>
                    <a:bodyPr/>
                    <a:lstStyle/>
                    <a:p>
                      <a:endParaRPr lang="en-US" dirty="0"/>
                    </a:p>
                  </a:txBody>
                  <a:tcPr>
                    <a:solidFill>
                      <a:srgbClr val="FFFF00"/>
                    </a:solidFill>
                  </a:tcPr>
                </a:tc>
                <a:extLst>
                  <a:ext uri="{0D108BD9-81ED-4DB2-BD59-A6C34878D82A}">
                    <a16:rowId xmlns:a16="http://schemas.microsoft.com/office/drawing/2014/main" val="1996944423"/>
                  </a:ext>
                </a:extLst>
              </a:tr>
            </a:tbl>
          </a:graphicData>
        </a:graphic>
      </p:graphicFrame>
      <p:graphicFrame>
        <p:nvGraphicFramePr>
          <p:cNvPr id="10" name="Table 9">
            <a:extLst>
              <a:ext uri="{FF2B5EF4-FFF2-40B4-BE49-F238E27FC236}">
                <a16:creationId xmlns:a16="http://schemas.microsoft.com/office/drawing/2014/main" id="{494BAFB7-FE1F-E1A9-7A6C-AB4145BD9BA1}"/>
              </a:ext>
            </a:extLst>
          </p:cNvPr>
          <p:cNvGraphicFramePr>
            <a:graphicFrameLocks noGrp="1"/>
          </p:cNvGraphicFramePr>
          <p:nvPr>
            <p:extLst>
              <p:ext uri="{D42A27DB-BD31-4B8C-83A1-F6EECF244321}">
                <p14:modId xmlns:p14="http://schemas.microsoft.com/office/powerpoint/2010/main" val="700903757"/>
              </p:ext>
            </p:extLst>
          </p:nvPr>
        </p:nvGraphicFramePr>
        <p:xfrm>
          <a:off x="1" y="6478892"/>
          <a:ext cx="12191999" cy="370840"/>
        </p:xfrm>
        <a:graphic>
          <a:graphicData uri="http://schemas.openxmlformats.org/drawingml/2006/table">
            <a:tbl>
              <a:tblPr firstRow="1" bandRow="1">
                <a:tableStyleId>{5C22544A-7EE6-4342-B048-85BDC9FD1C3A}</a:tableStyleId>
              </a:tblPr>
              <a:tblGrid>
                <a:gridCol w="6080165">
                  <a:extLst>
                    <a:ext uri="{9D8B030D-6E8A-4147-A177-3AD203B41FA5}">
                      <a16:colId xmlns:a16="http://schemas.microsoft.com/office/drawing/2014/main" val="2179694530"/>
                    </a:ext>
                  </a:extLst>
                </a:gridCol>
                <a:gridCol w="6111834">
                  <a:extLst>
                    <a:ext uri="{9D8B030D-6E8A-4147-A177-3AD203B41FA5}">
                      <a16:colId xmlns:a16="http://schemas.microsoft.com/office/drawing/2014/main" val="2768207918"/>
                    </a:ext>
                  </a:extLst>
                </a:gridCol>
              </a:tblGrid>
              <a:tr h="370840">
                <a:tc>
                  <a:txBody>
                    <a:bodyPr/>
                    <a:lstStyle/>
                    <a:p>
                      <a:endParaRPr lang="en-US" dirty="0"/>
                    </a:p>
                  </a:txBody>
                  <a:tcPr>
                    <a:solidFill>
                      <a:srgbClr val="FFFF00"/>
                    </a:solidFill>
                  </a:tcPr>
                </a:tc>
                <a:tc>
                  <a:txBody>
                    <a:bodyPr/>
                    <a:lstStyle/>
                    <a:p>
                      <a:pPr algn="r"/>
                      <a:r>
                        <a:rPr lang="en-US" dirty="0">
                          <a:solidFill>
                            <a:schemeClr val="tx1"/>
                          </a:solidFill>
                        </a:rPr>
                        <a:t>40</a:t>
                      </a:r>
                    </a:p>
                  </a:txBody>
                  <a:tcPr>
                    <a:solidFill>
                      <a:srgbClr val="FF85FF"/>
                    </a:solidFill>
                  </a:tcPr>
                </a:tc>
                <a:extLst>
                  <a:ext uri="{0D108BD9-81ED-4DB2-BD59-A6C34878D82A}">
                    <a16:rowId xmlns:a16="http://schemas.microsoft.com/office/drawing/2014/main" val="1996944423"/>
                  </a:ext>
                </a:extLst>
              </a:tr>
            </a:tbl>
          </a:graphicData>
        </a:graphic>
      </p:graphicFrame>
      <p:pic>
        <p:nvPicPr>
          <p:cNvPr id="12" name="Google Shape;187;p25" descr="pngfind.com-kingpin-png-4152286 (1).png">
            <a:extLst>
              <a:ext uri="{FF2B5EF4-FFF2-40B4-BE49-F238E27FC236}">
                <a16:creationId xmlns:a16="http://schemas.microsoft.com/office/drawing/2014/main" id="{2DBF2481-A2DB-F96E-5749-B03DC4F71665}"/>
              </a:ext>
            </a:extLst>
          </p:cNvPr>
          <p:cNvPicPr preferRelativeResize="0"/>
          <p:nvPr/>
        </p:nvPicPr>
        <p:blipFill rotWithShape="1">
          <a:blip r:embed="rId2">
            <a:alphaModFix/>
          </a:blip>
          <a:srcRect/>
          <a:stretch/>
        </p:blipFill>
        <p:spPr>
          <a:xfrm>
            <a:off x="11044052" y="8268"/>
            <a:ext cx="1051261" cy="465287"/>
          </a:xfrm>
          <a:prstGeom prst="rect">
            <a:avLst/>
          </a:prstGeom>
          <a:noFill/>
          <a:ln>
            <a:noFill/>
          </a:ln>
        </p:spPr>
      </p:pic>
      <p:sp>
        <p:nvSpPr>
          <p:cNvPr id="19" name="Rectangle 18">
            <a:extLst>
              <a:ext uri="{FF2B5EF4-FFF2-40B4-BE49-F238E27FC236}">
                <a16:creationId xmlns:a16="http://schemas.microsoft.com/office/drawing/2014/main" id="{A0702E37-2E7E-7262-5E76-F69A817105B3}"/>
              </a:ext>
            </a:extLst>
          </p:cNvPr>
          <p:cNvSpPr/>
          <p:nvPr/>
        </p:nvSpPr>
        <p:spPr>
          <a:xfrm>
            <a:off x="0" y="8268"/>
            <a:ext cx="12192000" cy="6825920"/>
          </a:xfrm>
          <a:prstGeom prst="rect">
            <a:avLst/>
          </a:prstGeom>
          <a:noFill/>
          <a:ln w="38100">
            <a:solidFill>
              <a:srgbClr val="0432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DCB2A3F0-9003-5886-09B4-27925BBE4000}"/>
              </a:ext>
            </a:extLst>
          </p:cNvPr>
          <p:cNvSpPr txBox="1"/>
          <p:nvPr/>
        </p:nvSpPr>
        <p:spPr>
          <a:xfrm>
            <a:off x="0" y="873851"/>
            <a:ext cx="12191999" cy="646331"/>
          </a:xfrm>
          <a:prstGeom prst="rect">
            <a:avLst/>
          </a:prstGeom>
          <a:noFill/>
        </p:spPr>
        <p:txBody>
          <a:bodyPr wrap="square">
            <a:spAutoFit/>
          </a:bodyPr>
          <a:lstStyle/>
          <a:p>
            <a:pPr algn="ctr"/>
            <a:r>
              <a:rPr lang="en-US" sz="3600" b="1" dirty="0">
                <a:effectLst/>
                <a:latin typeface="Calibri" panose="020F0502020204030204" pitchFamily="34" charset="0"/>
                <a:ea typeface="Calibri" panose="020F0502020204030204" pitchFamily="34" charset="0"/>
                <a:cs typeface="Calibri" panose="020F0502020204030204" pitchFamily="34" charset="0"/>
              </a:rPr>
              <a:t>Applications of NumPy</a:t>
            </a:r>
            <a:endParaRPr lang="en-GB" sz="8800" b="1" cap="none" spc="0" dirty="0">
              <a:ln w="0"/>
              <a:solidFill>
                <a:schemeClr val="tx1"/>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Calibri" panose="020F0502020204030204" pitchFamily="34" charset="0"/>
            </a:endParaRPr>
          </a:p>
        </p:txBody>
      </p:sp>
      <p:sp>
        <p:nvSpPr>
          <p:cNvPr id="5" name="TextBox 4">
            <a:extLst>
              <a:ext uri="{FF2B5EF4-FFF2-40B4-BE49-F238E27FC236}">
                <a16:creationId xmlns:a16="http://schemas.microsoft.com/office/drawing/2014/main" id="{57BF3EEF-553A-D37A-6EF6-B514AF07FC3C}"/>
              </a:ext>
            </a:extLst>
          </p:cNvPr>
          <p:cNvSpPr txBox="1"/>
          <p:nvPr/>
        </p:nvSpPr>
        <p:spPr>
          <a:xfrm>
            <a:off x="487016" y="1574931"/>
            <a:ext cx="10972801" cy="2542363"/>
          </a:xfrm>
          <a:prstGeom prst="rect">
            <a:avLst/>
          </a:prstGeom>
          <a:noFill/>
        </p:spPr>
        <p:txBody>
          <a:bodyPr wrap="square">
            <a:spAutoFit/>
          </a:bodyPr>
          <a:lstStyle/>
          <a:p>
            <a:pPr algn="l">
              <a:lnSpc>
                <a:spcPct val="150000"/>
              </a:lnSpc>
            </a:pPr>
            <a:r>
              <a:rPr lang="en-US" dirty="0">
                <a:solidFill>
                  <a:srgbClr val="000000"/>
                </a:solidFill>
                <a:highlight>
                  <a:srgbClr val="FFFFFF"/>
                </a:highlight>
                <a:latin typeface="Calibri" panose="020F0502020204030204" pitchFamily="34" charset="0"/>
                <a:ea typeface="Calibri" panose="020F0502020204030204" pitchFamily="34" charset="0"/>
                <a:cs typeface="Calibri" panose="020F0502020204030204" pitchFamily="34" charset="0"/>
              </a:rPr>
              <a:t>NumPy is an important library generally used for:</a:t>
            </a:r>
          </a:p>
          <a:p>
            <a:pPr marL="285750" indent="-285750" algn="l">
              <a:lnSpc>
                <a:spcPct val="150000"/>
              </a:lnSpc>
              <a:buFont typeface="Arial" panose="020B0604020202020204" pitchFamily="34" charset="0"/>
              <a:buChar char="•"/>
            </a:pPr>
            <a:r>
              <a:rPr lang="en-US" dirty="0">
                <a:solidFill>
                  <a:srgbClr val="000000"/>
                </a:solidFill>
                <a:highlight>
                  <a:srgbClr val="FFFFFF"/>
                </a:highlight>
                <a:latin typeface="Calibri" panose="020F0502020204030204" pitchFamily="34" charset="0"/>
                <a:ea typeface="Calibri" panose="020F0502020204030204" pitchFamily="34" charset="0"/>
                <a:cs typeface="Calibri" panose="020F0502020204030204" pitchFamily="34" charset="0"/>
              </a:rPr>
              <a:t>Machine Learning</a:t>
            </a:r>
          </a:p>
          <a:p>
            <a:pPr marL="285750" indent="-285750" algn="l">
              <a:lnSpc>
                <a:spcPct val="150000"/>
              </a:lnSpc>
              <a:buFont typeface="Arial" panose="020B0604020202020204" pitchFamily="34" charset="0"/>
              <a:buChar char="•"/>
            </a:pPr>
            <a:r>
              <a:rPr lang="en-US" dirty="0">
                <a:solidFill>
                  <a:srgbClr val="000000"/>
                </a:solidFill>
                <a:highlight>
                  <a:srgbClr val="FFFFFF"/>
                </a:highlight>
                <a:latin typeface="Calibri" panose="020F0502020204030204" pitchFamily="34" charset="0"/>
                <a:ea typeface="Calibri" panose="020F0502020204030204" pitchFamily="34" charset="0"/>
                <a:cs typeface="Calibri" panose="020F0502020204030204" pitchFamily="34" charset="0"/>
              </a:rPr>
              <a:t>Data Science</a:t>
            </a:r>
          </a:p>
          <a:p>
            <a:pPr marL="285750" indent="-285750" algn="l">
              <a:lnSpc>
                <a:spcPct val="150000"/>
              </a:lnSpc>
              <a:buFont typeface="Arial" panose="020B0604020202020204" pitchFamily="34" charset="0"/>
              <a:buChar char="•"/>
            </a:pPr>
            <a:r>
              <a:rPr lang="en-US" dirty="0">
                <a:solidFill>
                  <a:srgbClr val="000000"/>
                </a:solidFill>
                <a:highlight>
                  <a:srgbClr val="FFFFFF"/>
                </a:highlight>
                <a:latin typeface="Calibri" panose="020F0502020204030204" pitchFamily="34" charset="0"/>
                <a:ea typeface="Calibri" panose="020F0502020204030204" pitchFamily="34" charset="0"/>
                <a:cs typeface="Calibri" panose="020F0502020204030204" pitchFamily="34" charset="0"/>
              </a:rPr>
              <a:t>Image and Signal Processing</a:t>
            </a:r>
          </a:p>
          <a:p>
            <a:pPr marL="285750" indent="-285750" algn="l">
              <a:lnSpc>
                <a:spcPct val="150000"/>
              </a:lnSpc>
              <a:buFont typeface="Arial" panose="020B0604020202020204" pitchFamily="34" charset="0"/>
              <a:buChar char="•"/>
            </a:pPr>
            <a:r>
              <a:rPr lang="en-US" dirty="0">
                <a:solidFill>
                  <a:srgbClr val="000000"/>
                </a:solidFill>
                <a:highlight>
                  <a:srgbClr val="FFFFFF"/>
                </a:highlight>
                <a:latin typeface="Calibri" panose="020F0502020204030204" pitchFamily="34" charset="0"/>
                <a:ea typeface="Calibri" panose="020F0502020204030204" pitchFamily="34" charset="0"/>
                <a:cs typeface="Calibri" panose="020F0502020204030204" pitchFamily="34" charset="0"/>
              </a:rPr>
              <a:t>Scientific Computing</a:t>
            </a:r>
          </a:p>
          <a:p>
            <a:pPr marL="285750" indent="-285750" algn="l">
              <a:lnSpc>
                <a:spcPct val="150000"/>
              </a:lnSpc>
              <a:buFont typeface="Arial" panose="020B0604020202020204" pitchFamily="34" charset="0"/>
              <a:buChar char="•"/>
            </a:pPr>
            <a:r>
              <a:rPr lang="en-US" dirty="0">
                <a:solidFill>
                  <a:srgbClr val="000000"/>
                </a:solidFill>
                <a:highlight>
                  <a:srgbClr val="FFFFFF"/>
                </a:highlight>
                <a:latin typeface="Calibri" panose="020F0502020204030204" pitchFamily="34" charset="0"/>
                <a:ea typeface="Calibri" panose="020F0502020204030204" pitchFamily="34" charset="0"/>
                <a:cs typeface="Calibri" panose="020F0502020204030204" pitchFamily="34" charset="0"/>
              </a:rPr>
              <a:t>Quantum Computing</a:t>
            </a:r>
          </a:p>
        </p:txBody>
      </p:sp>
      <p:pic>
        <p:nvPicPr>
          <p:cNvPr id="1026" name="Picture 2" descr="Business Application Needs ...">
            <a:extLst>
              <a:ext uri="{FF2B5EF4-FFF2-40B4-BE49-F238E27FC236}">
                <a16:creationId xmlns:a16="http://schemas.microsoft.com/office/drawing/2014/main" id="{C2E2A394-D13E-E99D-4F2D-B4E3778348D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53502" y="2327304"/>
            <a:ext cx="4703072" cy="28841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3222303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Table 8">
            <a:extLst>
              <a:ext uri="{FF2B5EF4-FFF2-40B4-BE49-F238E27FC236}">
                <a16:creationId xmlns:a16="http://schemas.microsoft.com/office/drawing/2014/main" id="{0B6EC464-4750-5FF3-7A5A-15612BA6E293}"/>
              </a:ext>
            </a:extLst>
          </p:cNvPr>
          <p:cNvGraphicFramePr>
            <a:graphicFrameLocks noGrp="1"/>
          </p:cNvGraphicFramePr>
          <p:nvPr/>
        </p:nvGraphicFramePr>
        <p:xfrm>
          <a:off x="0" y="23812"/>
          <a:ext cx="12192000" cy="465287"/>
        </p:xfrm>
        <a:graphic>
          <a:graphicData uri="http://schemas.openxmlformats.org/drawingml/2006/table">
            <a:tbl>
              <a:tblPr firstRow="1" bandRow="1">
                <a:tableStyleId>{5C22544A-7EE6-4342-B048-85BDC9FD1C3A}</a:tableStyleId>
              </a:tblPr>
              <a:tblGrid>
                <a:gridCol w="6092042">
                  <a:extLst>
                    <a:ext uri="{9D8B030D-6E8A-4147-A177-3AD203B41FA5}">
                      <a16:colId xmlns:a16="http://schemas.microsoft.com/office/drawing/2014/main" val="2179694530"/>
                    </a:ext>
                  </a:extLst>
                </a:gridCol>
                <a:gridCol w="6099958">
                  <a:extLst>
                    <a:ext uri="{9D8B030D-6E8A-4147-A177-3AD203B41FA5}">
                      <a16:colId xmlns:a16="http://schemas.microsoft.com/office/drawing/2014/main" val="2768207918"/>
                    </a:ext>
                  </a:extLst>
                </a:gridCol>
              </a:tblGrid>
              <a:tr h="465287">
                <a:tc>
                  <a:txBody>
                    <a:bodyPr/>
                    <a:lstStyle/>
                    <a:p>
                      <a:endParaRPr lang="en-US" dirty="0"/>
                    </a:p>
                  </a:txBody>
                  <a:tcPr>
                    <a:solidFill>
                      <a:srgbClr val="FF85FF"/>
                    </a:solidFill>
                  </a:tcPr>
                </a:tc>
                <a:tc>
                  <a:txBody>
                    <a:bodyPr/>
                    <a:lstStyle/>
                    <a:p>
                      <a:endParaRPr lang="en-US" dirty="0"/>
                    </a:p>
                  </a:txBody>
                  <a:tcPr>
                    <a:solidFill>
                      <a:srgbClr val="FFFF00"/>
                    </a:solidFill>
                  </a:tcPr>
                </a:tc>
                <a:extLst>
                  <a:ext uri="{0D108BD9-81ED-4DB2-BD59-A6C34878D82A}">
                    <a16:rowId xmlns:a16="http://schemas.microsoft.com/office/drawing/2014/main" val="1996944423"/>
                  </a:ext>
                </a:extLst>
              </a:tr>
            </a:tbl>
          </a:graphicData>
        </a:graphic>
      </p:graphicFrame>
      <p:graphicFrame>
        <p:nvGraphicFramePr>
          <p:cNvPr id="10" name="Table 9">
            <a:extLst>
              <a:ext uri="{FF2B5EF4-FFF2-40B4-BE49-F238E27FC236}">
                <a16:creationId xmlns:a16="http://schemas.microsoft.com/office/drawing/2014/main" id="{494BAFB7-FE1F-E1A9-7A6C-AB4145BD9BA1}"/>
              </a:ext>
            </a:extLst>
          </p:cNvPr>
          <p:cNvGraphicFramePr>
            <a:graphicFrameLocks noGrp="1"/>
          </p:cNvGraphicFramePr>
          <p:nvPr>
            <p:extLst>
              <p:ext uri="{D42A27DB-BD31-4B8C-83A1-F6EECF244321}">
                <p14:modId xmlns:p14="http://schemas.microsoft.com/office/powerpoint/2010/main" val="2152497446"/>
              </p:ext>
            </p:extLst>
          </p:nvPr>
        </p:nvGraphicFramePr>
        <p:xfrm>
          <a:off x="1" y="6478892"/>
          <a:ext cx="12191999" cy="370840"/>
        </p:xfrm>
        <a:graphic>
          <a:graphicData uri="http://schemas.openxmlformats.org/drawingml/2006/table">
            <a:tbl>
              <a:tblPr firstRow="1" bandRow="1">
                <a:tableStyleId>{5C22544A-7EE6-4342-B048-85BDC9FD1C3A}</a:tableStyleId>
              </a:tblPr>
              <a:tblGrid>
                <a:gridCol w="6080165">
                  <a:extLst>
                    <a:ext uri="{9D8B030D-6E8A-4147-A177-3AD203B41FA5}">
                      <a16:colId xmlns:a16="http://schemas.microsoft.com/office/drawing/2014/main" val="2179694530"/>
                    </a:ext>
                  </a:extLst>
                </a:gridCol>
                <a:gridCol w="6111834">
                  <a:extLst>
                    <a:ext uri="{9D8B030D-6E8A-4147-A177-3AD203B41FA5}">
                      <a16:colId xmlns:a16="http://schemas.microsoft.com/office/drawing/2014/main" val="2768207918"/>
                    </a:ext>
                  </a:extLst>
                </a:gridCol>
              </a:tblGrid>
              <a:tr h="370840">
                <a:tc>
                  <a:txBody>
                    <a:bodyPr/>
                    <a:lstStyle/>
                    <a:p>
                      <a:endParaRPr lang="en-US" dirty="0"/>
                    </a:p>
                  </a:txBody>
                  <a:tcPr>
                    <a:solidFill>
                      <a:srgbClr val="FFFF00"/>
                    </a:solidFill>
                  </a:tcPr>
                </a:tc>
                <a:tc>
                  <a:txBody>
                    <a:bodyPr/>
                    <a:lstStyle/>
                    <a:p>
                      <a:pPr algn="r"/>
                      <a:r>
                        <a:rPr lang="en-US" dirty="0">
                          <a:solidFill>
                            <a:schemeClr val="tx1"/>
                          </a:solidFill>
                        </a:rPr>
                        <a:t>41</a:t>
                      </a:r>
                    </a:p>
                  </a:txBody>
                  <a:tcPr>
                    <a:solidFill>
                      <a:srgbClr val="FF85FF"/>
                    </a:solidFill>
                  </a:tcPr>
                </a:tc>
                <a:extLst>
                  <a:ext uri="{0D108BD9-81ED-4DB2-BD59-A6C34878D82A}">
                    <a16:rowId xmlns:a16="http://schemas.microsoft.com/office/drawing/2014/main" val="1996944423"/>
                  </a:ext>
                </a:extLst>
              </a:tr>
            </a:tbl>
          </a:graphicData>
        </a:graphic>
      </p:graphicFrame>
      <p:pic>
        <p:nvPicPr>
          <p:cNvPr id="12" name="Google Shape;187;p25" descr="pngfind.com-kingpin-png-4152286 (1).png">
            <a:extLst>
              <a:ext uri="{FF2B5EF4-FFF2-40B4-BE49-F238E27FC236}">
                <a16:creationId xmlns:a16="http://schemas.microsoft.com/office/drawing/2014/main" id="{2DBF2481-A2DB-F96E-5749-B03DC4F71665}"/>
              </a:ext>
            </a:extLst>
          </p:cNvPr>
          <p:cNvPicPr preferRelativeResize="0"/>
          <p:nvPr/>
        </p:nvPicPr>
        <p:blipFill rotWithShape="1">
          <a:blip r:embed="rId2">
            <a:alphaModFix/>
          </a:blip>
          <a:srcRect/>
          <a:stretch/>
        </p:blipFill>
        <p:spPr>
          <a:xfrm>
            <a:off x="11044052" y="8268"/>
            <a:ext cx="1051261" cy="465287"/>
          </a:xfrm>
          <a:prstGeom prst="rect">
            <a:avLst/>
          </a:prstGeom>
          <a:noFill/>
          <a:ln>
            <a:noFill/>
          </a:ln>
        </p:spPr>
      </p:pic>
      <p:sp>
        <p:nvSpPr>
          <p:cNvPr id="14" name="Rectangle 13">
            <a:extLst>
              <a:ext uri="{FF2B5EF4-FFF2-40B4-BE49-F238E27FC236}">
                <a16:creationId xmlns:a16="http://schemas.microsoft.com/office/drawing/2014/main" id="{6EB9A5F7-B7D7-E008-8229-AD564931BCC6}"/>
              </a:ext>
            </a:extLst>
          </p:cNvPr>
          <p:cNvSpPr/>
          <p:nvPr/>
        </p:nvSpPr>
        <p:spPr>
          <a:xfrm>
            <a:off x="0" y="2967335"/>
            <a:ext cx="12191999" cy="707886"/>
          </a:xfrm>
          <a:prstGeom prst="rect">
            <a:avLst/>
          </a:prstGeom>
          <a:noFill/>
        </p:spPr>
        <p:txBody>
          <a:bodyPr wrap="square" lIns="91440" tIns="45720" rIns="91440" bIns="45720">
            <a:spAutoFit/>
          </a:bodyPr>
          <a:lstStyle/>
          <a:p>
            <a:pPr algn="ctr"/>
            <a:r>
              <a:rPr lang="en-US" sz="4000" b="1" dirty="0">
                <a:effectLst/>
                <a:latin typeface="Calibri" panose="020F0502020204030204" pitchFamily="34" charset="0"/>
                <a:ea typeface="Calibri" panose="020F0502020204030204" pitchFamily="34" charset="0"/>
                <a:cs typeface="Calibri" panose="020F0502020204030204" pitchFamily="34" charset="0"/>
              </a:rPr>
              <a:t>Creating Array, Attributes, Array Objects</a:t>
            </a:r>
            <a:endParaRPr lang="en-GB" sz="4000" b="1" cap="none" spc="0" dirty="0">
              <a:ln w="0"/>
              <a:solidFill>
                <a:schemeClr val="tx1"/>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Calibri" panose="020F0502020204030204" pitchFamily="34" charset="0"/>
            </a:endParaRPr>
          </a:p>
        </p:txBody>
      </p:sp>
      <p:sp>
        <p:nvSpPr>
          <p:cNvPr id="19" name="Rectangle 18">
            <a:extLst>
              <a:ext uri="{FF2B5EF4-FFF2-40B4-BE49-F238E27FC236}">
                <a16:creationId xmlns:a16="http://schemas.microsoft.com/office/drawing/2014/main" id="{A0702E37-2E7E-7262-5E76-F69A817105B3}"/>
              </a:ext>
            </a:extLst>
          </p:cNvPr>
          <p:cNvSpPr/>
          <p:nvPr/>
        </p:nvSpPr>
        <p:spPr>
          <a:xfrm>
            <a:off x="0" y="8268"/>
            <a:ext cx="12192000" cy="6825920"/>
          </a:xfrm>
          <a:prstGeom prst="rect">
            <a:avLst/>
          </a:prstGeom>
          <a:noFill/>
          <a:ln w="38100">
            <a:solidFill>
              <a:srgbClr val="0432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97397723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Table 8">
            <a:extLst>
              <a:ext uri="{FF2B5EF4-FFF2-40B4-BE49-F238E27FC236}">
                <a16:creationId xmlns:a16="http://schemas.microsoft.com/office/drawing/2014/main" id="{0B6EC464-4750-5FF3-7A5A-15612BA6E293}"/>
              </a:ext>
            </a:extLst>
          </p:cNvPr>
          <p:cNvGraphicFramePr>
            <a:graphicFrameLocks noGrp="1"/>
          </p:cNvGraphicFramePr>
          <p:nvPr/>
        </p:nvGraphicFramePr>
        <p:xfrm>
          <a:off x="0" y="23812"/>
          <a:ext cx="12192000" cy="465287"/>
        </p:xfrm>
        <a:graphic>
          <a:graphicData uri="http://schemas.openxmlformats.org/drawingml/2006/table">
            <a:tbl>
              <a:tblPr firstRow="1" bandRow="1">
                <a:tableStyleId>{5C22544A-7EE6-4342-B048-85BDC9FD1C3A}</a:tableStyleId>
              </a:tblPr>
              <a:tblGrid>
                <a:gridCol w="6092042">
                  <a:extLst>
                    <a:ext uri="{9D8B030D-6E8A-4147-A177-3AD203B41FA5}">
                      <a16:colId xmlns:a16="http://schemas.microsoft.com/office/drawing/2014/main" val="2179694530"/>
                    </a:ext>
                  </a:extLst>
                </a:gridCol>
                <a:gridCol w="6099958">
                  <a:extLst>
                    <a:ext uri="{9D8B030D-6E8A-4147-A177-3AD203B41FA5}">
                      <a16:colId xmlns:a16="http://schemas.microsoft.com/office/drawing/2014/main" val="2768207918"/>
                    </a:ext>
                  </a:extLst>
                </a:gridCol>
              </a:tblGrid>
              <a:tr h="465287">
                <a:tc>
                  <a:txBody>
                    <a:bodyPr/>
                    <a:lstStyle/>
                    <a:p>
                      <a:endParaRPr lang="en-US" dirty="0"/>
                    </a:p>
                  </a:txBody>
                  <a:tcPr>
                    <a:solidFill>
                      <a:srgbClr val="FF85FF"/>
                    </a:solidFill>
                  </a:tcPr>
                </a:tc>
                <a:tc>
                  <a:txBody>
                    <a:bodyPr/>
                    <a:lstStyle/>
                    <a:p>
                      <a:endParaRPr lang="en-US" dirty="0"/>
                    </a:p>
                  </a:txBody>
                  <a:tcPr>
                    <a:solidFill>
                      <a:srgbClr val="FFFF00"/>
                    </a:solidFill>
                  </a:tcPr>
                </a:tc>
                <a:extLst>
                  <a:ext uri="{0D108BD9-81ED-4DB2-BD59-A6C34878D82A}">
                    <a16:rowId xmlns:a16="http://schemas.microsoft.com/office/drawing/2014/main" val="1996944423"/>
                  </a:ext>
                </a:extLst>
              </a:tr>
            </a:tbl>
          </a:graphicData>
        </a:graphic>
      </p:graphicFrame>
      <p:graphicFrame>
        <p:nvGraphicFramePr>
          <p:cNvPr id="10" name="Table 9">
            <a:extLst>
              <a:ext uri="{FF2B5EF4-FFF2-40B4-BE49-F238E27FC236}">
                <a16:creationId xmlns:a16="http://schemas.microsoft.com/office/drawing/2014/main" id="{494BAFB7-FE1F-E1A9-7A6C-AB4145BD9BA1}"/>
              </a:ext>
            </a:extLst>
          </p:cNvPr>
          <p:cNvGraphicFramePr>
            <a:graphicFrameLocks noGrp="1"/>
          </p:cNvGraphicFramePr>
          <p:nvPr>
            <p:extLst>
              <p:ext uri="{D42A27DB-BD31-4B8C-83A1-F6EECF244321}">
                <p14:modId xmlns:p14="http://schemas.microsoft.com/office/powerpoint/2010/main" val="3777503841"/>
              </p:ext>
            </p:extLst>
          </p:nvPr>
        </p:nvGraphicFramePr>
        <p:xfrm>
          <a:off x="1" y="6478892"/>
          <a:ext cx="12191999" cy="370840"/>
        </p:xfrm>
        <a:graphic>
          <a:graphicData uri="http://schemas.openxmlformats.org/drawingml/2006/table">
            <a:tbl>
              <a:tblPr firstRow="1" bandRow="1">
                <a:tableStyleId>{5C22544A-7EE6-4342-B048-85BDC9FD1C3A}</a:tableStyleId>
              </a:tblPr>
              <a:tblGrid>
                <a:gridCol w="6080165">
                  <a:extLst>
                    <a:ext uri="{9D8B030D-6E8A-4147-A177-3AD203B41FA5}">
                      <a16:colId xmlns:a16="http://schemas.microsoft.com/office/drawing/2014/main" val="2179694530"/>
                    </a:ext>
                  </a:extLst>
                </a:gridCol>
                <a:gridCol w="6111834">
                  <a:extLst>
                    <a:ext uri="{9D8B030D-6E8A-4147-A177-3AD203B41FA5}">
                      <a16:colId xmlns:a16="http://schemas.microsoft.com/office/drawing/2014/main" val="2768207918"/>
                    </a:ext>
                  </a:extLst>
                </a:gridCol>
              </a:tblGrid>
              <a:tr h="370840">
                <a:tc>
                  <a:txBody>
                    <a:bodyPr/>
                    <a:lstStyle/>
                    <a:p>
                      <a:endParaRPr lang="en-US" dirty="0"/>
                    </a:p>
                  </a:txBody>
                  <a:tcPr>
                    <a:solidFill>
                      <a:srgbClr val="FFFF00"/>
                    </a:solidFill>
                  </a:tcPr>
                </a:tc>
                <a:tc>
                  <a:txBody>
                    <a:bodyPr/>
                    <a:lstStyle/>
                    <a:p>
                      <a:pPr algn="r"/>
                      <a:r>
                        <a:rPr lang="en-US" dirty="0">
                          <a:solidFill>
                            <a:schemeClr val="tx1"/>
                          </a:solidFill>
                        </a:rPr>
                        <a:t>42</a:t>
                      </a:r>
                    </a:p>
                  </a:txBody>
                  <a:tcPr>
                    <a:solidFill>
                      <a:srgbClr val="FF85FF"/>
                    </a:solidFill>
                  </a:tcPr>
                </a:tc>
                <a:extLst>
                  <a:ext uri="{0D108BD9-81ED-4DB2-BD59-A6C34878D82A}">
                    <a16:rowId xmlns:a16="http://schemas.microsoft.com/office/drawing/2014/main" val="1996944423"/>
                  </a:ext>
                </a:extLst>
              </a:tr>
            </a:tbl>
          </a:graphicData>
        </a:graphic>
      </p:graphicFrame>
      <p:pic>
        <p:nvPicPr>
          <p:cNvPr id="12" name="Google Shape;187;p25" descr="pngfind.com-kingpin-png-4152286 (1).png">
            <a:extLst>
              <a:ext uri="{FF2B5EF4-FFF2-40B4-BE49-F238E27FC236}">
                <a16:creationId xmlns:a16="http://schemas.microsoft.com/office/drawing/2014/main" id="{2DBF2481-A2DB-F96E-5749-B03DC4F71665}"/>
              </a:ext>
            </a:extLst>
          </p:cNvPr>
          <p:cNvPicPr preferRelativeResize="0"/>
          <p:nvPr/>
        </p:nvPicPr>
        <p:blipFill rotWithShape="1">
          <a:blip r:embed="rId2">
            <a:alphaModFix/>
          </a:blip>
          <a:srcRect/>
          <a:stretch/>
        </p:blipFill>
        <p:spPr>
          <a:xfrm>
            <a:off x="11044052" y="8268"/>
            <a:ext cx="1051261" cy="465287"/>
          </a:xfrm>
          <a:prstGeom prst="rect">
            <a:avLst/>
          </a:prstGeom>
          <a:noFill/>
          <a:ln>
            <a:noFill/>
          </a:ln>
        </p:spPr>
      </p:pic>
      <p:sp>
        <p:nvSpPr>
          <p:cNvPr id="19" name="Rectangle 18">
            <a:extLst>
              <a:ext uri="{FF2B5EF4-FFF2-40B4-BE49-F238E27FC236}">
                <a16:creationId xmlns:a16="http://schemas.microsoft.com/office/drawing/2014/main" id="{A0702E37-2E7E-7262-5E76-F69A817105B3}"/>
              </a:ext>
            </a:extLst>
          </p:cNvPr>
          <p:cNvSpPr/>
          <p:nvPr/>
        </p:nvSpPr>
        <p:spPr>
          <a:xfrm>
            <a:off x="0" y="8268"/>
            <a:ext cx="12192000" cy="6825920"/>
          </a:xfrm>
          <a:prstGeom prst="rect">
            <a:avLst/>
          </a:prstGeom>
          <a:noFill/>
          <a:ln w="38100">
            <a:solidFill>
              <a:srgbClr val="0432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DCB2A3F0-9003-5886-09B4-27925BBE4000}"/>
              </a:ext>
            </a:extLst>
          </p:cNvPr>
          <p:cNvSpPr txBox="1"/>
          <p:nvPr/>
        </p:nvSpPr>
        <p:spPr>
          <a:xfrm>
            <a:off x="0" y="873851"/>
            <a:ext cx="12191999" cy="646331"/>
          </a:xfrm>
          <a:prstGeom prst="rect">
            <a:avLst/>
          </a:prstGeom>
          <a:noFill/>
        </p:spPr>
        <p:txBody>
          <a:bodyPr wrap="square">
            <a:spAutoFit/>
          </a:bodyPr>
          <a:lstStyle/>
          <a:p>
            <a:pPr algn="ctr"/>
            <a:r>
              <a:rPr lang="en-US" sz="3600" b="1" dirty="0">
                <a:effectLst/>
                <a:latin typeface="Calibri" panose="020F0502020204030204" pitchFamily="34" charset="0"/>
                <a:ea typeface="Calibri" panose="020F0502020204030204" pitchFamily="34" charset="0"/>
                <a:cs typeface="Calibri" panose="020F0502020204030204" pitchFamily="34" charset="0"/>
              </a:rPr>
              <a:t>Creating Array</a:t>
            </a:r>
            <a:endParaRPr lang="en-GB" sz="8800" b="1" cap="none" spc="0" dirty="0">
              <a:ln w="0"/>
              <a:solidFill>
                <a:schemeClr val="tx1"/>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Calibri" panose="020F0502020204030204" pitchFamily="34" charset="0"/>
            </a:endParaRPr>
          </a:p>
        </p:txBody>
      </p:sp>
      <p:sp>
        <p:nvSpPr>
          <p:cNvPr id="5" name="TextBox 4">
            <a:extLst>
              <a:ext uri="{FF2B5EF4-FFF2-40B4-BE49-F238E27FC236}">
                <a16:creationId xmlns:a16="http://schemas.microsoft.com/office/drawing/2014/main" id="{57BF3EEF-553A-D37A-6EF6-B514AF07FC3C}"/>
              </a:ext>
            </a:extLst>
          </p:cNvPr>
          <p:cNvSpPr txBox="1"/>
          <p:nvPr/>
        </p:nvSpPr>
        <p:spPr>
          <a:xfrm>
            <a:off x="487016" y="1574931"/>
            <a:ext cx="10972801" cy="4204356"/>
          </a:xfrm>
          <a:prstGeom prst="rect">
            <a:avLst/>
          </a:prstGeom>
          <a:noFill/>
        </p:spPr>
        <p:txBody>
          <a:bodyPr wrap="square">
            <a:spAutoFit/>
          </a:bodyPr>
          <a:lstStyle/>
          <a:p>
            <a:pPr marL="285750" indent="-285750" algn="just">
              <a:lnSpc>
                <a:spcPct val="150000"/>
              </a:lnSpc>
              <a:buFont typeface="Arial" panose="020B0604020202020204" pitchFamily="34" charset="0"/>
              <a:buChar char="•"/>
            </a:pPr>
            <a:r>
              <a:rPr lang="en-US" dirty="0">
                <a:solidFill>
                  <a:srgbClr val="273239"/>
                </a:solidFill>
                <a:highlight>
                  <a:srgbClr val="FFFFFF"/>
                </a:highlight>
                <a:latin typeface="Calibri" panose="020F0502020204030204" pitchFamily="34" charset="0"/>
                <a:ea typeface="Calibri" panose="020F0502020204030204" pitchFamily="34" charset="0"/>
                <a:cs typeface="Calibri" panose="020F0502020204030204" pitchFamily="34" charset="0"/>
              </a:rPr>
              <a:t>NumPy </a:t>
            </a:r>
            <a:r>
              <a:rPr lang="en-US" b="1" dirty="0">
                <a:solidFill>
                  <a:srgbClr val="273239"/>
                </a:solidFill>
                <a:highlight>
                  <a:srgbClr val="FFFFFF"/>
                </a:highlight>
                <a:latin typeface="Calibri" panose="020F0502020204030204" pitchFamily="34" charset="0"/>
                <a:ea typeface="Calibri" panose="020F0502020204030204" pitchFamily="34" charset="0"/>
                <a:cs typeface="Calibri" panose="020F0502020204030204" pitchFamily="34" charset="0"/>
              </a:rPr>
              <a:t>array</a:t>
            </a:r>
            <a:r>
              <a:rPr lang="en-US" dirty="0">
                <a:solidFill>
                  <a:srgbClr val="273239"/>
                </a:solidFill>
                <a:highlight>
                  <a:srgbClr val="FFFFFF"/>
                </a:highlight>
                <a:latin typeface="Calibri" panose="020F0502020204030204" pitchFamily="34" charset="0"/>
                <a:ea typeface="Calibri" panose="020F0502020204030204" pitchFamily="34" charset="0"/>
                <a:cs typeface="Calibri" panose="020F0502020204030204" pitchFamily="34" charset="0"/>
              </a:rPr>
              <a:t> is a powerful N-dimensional array object and is used in linear algebra, Fourier transform, and random number capabilities.</a:t>
            </a:r>
          </a:p>
          <a:p>
            <a:pPr marL="285750" indent="-285750" algn="just">
              <a:lnSpc>
                <a:spcPct val="150000"/>
              </a:lnSpc>
              <a:buFont typeface="Arial" panose="020B0604020202020204" pitchFamily="34" charset="0"/>
              <a:buChar char="•"/>
            </a:pPr>
            <a:r>
              <a:rPr lang="en-US" dirty="0">
                <a:solidFill>
                  <a:srgbClr val="273239"/>
                </a:solidFill>
                <a:highlight>
                  <a:srgbClr val="FFFFFF"/>
                </a:highlight>
                <a:latin typeface="Calibri" panose="020F0502020204030204" pitchFamily="34" charset="0"/>
                <a:ea typeface="Calibri" panose="020F0502020204030204" pitchFamily="34" charset="0"/>
                <a:cs typeface="Calibri" panose="020F0502020204030204" pitchFamily="34" charset="0"/>
              </a:rPr>
              <a:t>NumPy is used to work with arrays. The array object in NumPy is called </a:t>
            </a:r>
            <a:r>
              <a:rPr lang="en-US" dirty="0" err="1">
                <a:solidFill>
                  <a:srgbClr val="273239"/>
                </a:solidFill>
                <a:highlight>
                  <a:srgbClr val="FFFFFF"/>
                </a:highlight>
                <a:latin typeface="Calibri" panose="020F0502020204030204" pitchFamily="34" charset="0"/>
                <a:ea typeface="Calibri" panose="020F0502020204030204" pitchFamily="34" charset="0"/>
                <a:cs typeface="Calibri" panose="020F0502020204030204" pitchFamily="34" charset="0"/>
              </a:rPr>
              <a:t>ndarray</a:t>
            </a:r>
            <a:r>
              <a:rPr lang="en-US" dirty="0">
                <a:solidFill>
                  <a:srgbClr val="273239"/>
                </a:solidFill>
                <a:highlight>
                  <a:srgbClr val="FFFFFF"/>
                </a:highlight>
                <a:latin typeface="Calibri" panose="020F0502020204030204" pitchFamily="34" charset="0"/>
                <a:ea typeface="Calibri" panose="020F0502020204030204" pitchFamily="34" charset="0"/>
                <a:cs typeface="Calibri" panose="020F0502020204030204" pitchFamily="34" charset="0"/>
              </a:rPr>
              <a:t>.</a:t>
            </a:r>
          </a:p>
          <a:p>
            <a:pPr marL="285750" indent="-285750" algn="just">
              <a:lnSpc>
                <a:spcPct val="150000"/>
              </a:lnSpc>
              <a:buFont typeface="Arial" panose="020B0604020202020204" pitchFamily="34" charset="0"/>
              <a:buChar char="•"/>
            </a:pPr>
            <a:r>
              <a:rPr lang="en-US" dirty="0">
                <a:solidFill>
                  <a:srgbClr val="273239"/>
                </a:solidFill>
                <a:highlight>
                  <a:srgbClr val="FFFFFF"/>
                </a:highlight>
                <a:latin typeface="Calibri" panose="020F0502020204030204" pitchFamily="34" charset="0"/>
                <a:ea typeface="Calibri" panose="020F0502020204030204" pitchFamily="34" charset="0"/>
                <a:cs typeface="Calibri" panose="020F0502020204030204" pitchFamily="34" charset="0"/>
              </a:rPr>
              <a:t>We can create a NumPy </a:t>
            </a:r>
            <a:r>
              <a:rPr lang="en-US" b="1" dirty="0" err="1">
                <a:solidFill>
                  <a:srgbClr val="273239"/>
                </a:solidFill>
                <a:highlight>
                  <a:srgbClr val="FFFFFF"/>
                </a:highlight>
                <a:latin typeface="Calibri" panose="020F0502020204030204" pitchFamily="34" charset="0"/>
                <a:ea typeface="Calibri" panose="020F0502020204030204" pitchFamily="34" charset="0"/>
                <a:cs typeface="Calibri" panose="020F0502020204030204" pitchFamily="34" charset="0"/>
              </a:rPr>
              <a:t>ndarray</a:t>
            </a:r>
            <a:r>
              <a:rPr lang="en-US" dirty="0">
                <a:solidFill>
                  <a:srgbClr val="273239"/>
                </a:solidFill>
                <a:highlight>
                  <a:srgbClr val="FFFFFF"/>
                </a:highlight>
                <a:latin typeface="Calibri" panose="020F0502020204030204" pitchFamily="34" charset="0"/>
                <a:ea typeface="Calibri" panose="020F0502020204030204" pitchFamily="34" charset="0"/>
                <a:cs typeface="Calibri" panose="020F0502020204030204" pitchFamily="34" charset="0"/>
              </a:rPr>
              <a:t> object by using the array() function.</a:t>
            </a:r>
          </a:p>
          <a:p>
            <a:pPr algn="just">
              <a:lnSpc>
                <a:spcPct val="150000"/>
              </a:lnSpc>
            </a:pPr>
            <a:r>
              <a:rPr lang="en-US" b="1" dirty="0">
                <a:solidFill>
                  <a:srgbClr val="273239"/>
                </a:solidFill>
                <a:highlight>
                  <a:srgbClr val="FFFFFF"/>
                </a:highlight>
                <a:latin typeface="Calibri" panose="020F0502020204030204" pitchFamily="34" charset="0"/>
                <a:ea typeface="Calibri" panose="020F0502020204030204" pitchFamily="34" charset="0"/>
                <a:cs typeface="Calibri" panose="020F0502020204030204" pitchFamily="34" charset="0"/>
              </a:rPr>
              <a:t>Array Object:</a:t>
            </a:r>
          </a:p>
          <a:p>
            <a:pPr marL="285750" indent="-285750" algn="just">
              <a:lnSpc>
                <a:spcPct val="150000"/>
              </a:lnSpc>
              <a:buFont typeface="Arial" panose="020B0604020202020204" pitchFamily="34" charset="0"/>
              <a:buChar char="•"/>
            </a:pPr>
            <a:r>
              <a:rPr lang="en-US" dirty="0" err="1">
                <a:solidFill>
                  <a:srgbClr val="273239"/>
                </a:solidFill>
                <a:highlight>
                  <a:srgbClr val="FFFFFF"/>
                </a:highlight>
                <a:latin typeface="Calibri" panose="020F0502020204030204" pitchFamily="34" charset="0"/>
                <a:ea typeface="Calibri" panose="020F0502020204030204" pitchFamily="34" charset="0"/>
                <a:cs typeface="Calibri" panose="020F0502020204030204" pitchFamily="34" charset="0"/>
              </a:rPr>
              <a:t>Ndarray</a:t>
            </a:r>
            <a:r>
              <a:rPr lang="en-US" dirty="0">
                <a:solidFill>
                  <a:srgbClr val="273239"/>
                </a:solidFill>
                <a:highlight>
                  <a:srgbClr val="FFFFFF"/>
                </a:highlight>
                <a:latin typeface="Calibri" panose="020F0502020204030204" pitchFamily="34" charset="0"/>
                <a:ea typeface="Calibri" panose="020F0502020204030204" pitchFamily="34" charset="0"/>
                <a:cs typeface="Calibri" panose="020F0502020204030204" pitchFamily="34" charset="0"/>
              </a:rPr>
              <a:t> is the </a:t>
            </a:r>
            <a:r>
              <a:rPr lang="en-US" b="1" dirty="0">
                <a:solidFill>
                  <a:srgbClr val="273239"/>
                </a:solidFill>
                <a:highlight>
                  <a:srgbClr val="FFFFFF"/>
                </a:highlight>
                <a:latin typeface="Calibri" panose="020F0502020204030204" pitchFamily="34" charset="0"/>
                <a:ea typeface="Calibri" panose="020F0502020204030204" pitchFamily="34" charset="0"/>
                <a:cs typeface="Calibri" panose="020F0502020204030204" pitchFamily="34" charset="0"/>
              </a:rPr>
              <a:t>n-dimensional array </a:t>
            </a:r>
            <a:r>
              <a:rPr lang="en-US" dirty="0">
                <a:solidFill>
                  <a:srgbClr val="273239"/>
                </a:solidFill>
                <a:highlight>
                  <a:srgbClr val="FFFFFF"/>
                </a:highlight>
                <a:latin typeface="Calibri" panose="020F0502020204030204" pitchFamily="34" charset="0"/>
                <a:ea typeface="Calibri" panose="020F0502020204030204" pitchFamily="34" charset="0"/>
                <a:cs typeface="Calibri" panose="020F0502020204030204" pitchFamily="34" charset="0"/>
              </a:rPr>
              <a:t>object defined in the </a:t>
            </a:r>
            <a:r>
              <a:rPr lang="en-US" dirty="0" err="1">
                <a:solidFill>
                  <a:srgbClr val="273239"/>
                </a:solidFill>
                <a:highlight>
                  <a:srgbClr val="FFFFFF"/>
                </a:highlight>
                <a:latin typeface="Calibri" panose="020F0502020204030204" pitchFamily="34" charset="0"/>
                <a:ea typeface="Calibri" panose="020F0502020204030204" pitchFamily="34" charset="0"/>
                <a:cs typeface="Calibri" panose="020F0502020204030204" pitchFamily="34" charset="0"/>
              </a:rPr>
              <a:t>numpy</a:t>
            </a:r>
            <a:r>
              <a:rPr lang="en-US" dirty="0">
                <a:solidFill>
                  <a:srgbClr val="273239"/>
                </a:solidFill>
                <a:highlight>
                  <a:srgbClr val="FFFFFF"/>
                </a:highlight>
                <a:latin typeface="Calibri" panose="020F0502020204030204" pitchFamily="34" charset="0"/>
                <a:ea typeface="Calibri" panose="020F0502020204030204" pitchFamily="34" charset="0"/>
                <a:cs typeface="Calibri" panose="020F0502020204030204" pitchFamily="34" charset="0"/>
              </a:rPr>
              <a:t> which stores the collection of the similar type of elements. In other words, we can define a </a:t>
            </a:r>
            <a:r>
              <a:rPr lang="en-US" dirty="0" err="1">
                <a:solidFill>
                  <a:srgbClr val="273239"/>
                </a:solidFill>
                <a:highlight>
                  <a:srgbClr val="FFFFFF"/>
                </a:highlight>
                <a:latin typeface="Calibri" panose="020F0502020204030204" pitchFamily="34" charset="0"/>
                <a:ea typeface="Calibri" panose="020F0502020204030204" pitchFamily="34" charset="0"/>
                <a:cs typeface="Calibri" panose="020F0502020204030204" pitchFamily="34" charset="0"/>
              </a:rPr>
              <a:t>ndarray</a:t>
            </a:r>
            <a:r>
              <a:rPr lang="en-US" dirty="0">
                <a:solidFill>
                  <a:srgbClr val="273239"/>
                </a:solidFill>
                <a:highlight>
                  <a:srgbClr val="FFFFFF"/>
                </a:highlight>
                <a:latin typeface="Calibri" panose="020F0502020204030204" pitchFamily="34" charset="0"/>
                <a:ea typeface="Calibri" panose="020F0502020204030204" pitchFamily="34" charset="0"/>
                <a:cs typeface="Calibri" panose="020F0502020204030204" pitchFamily="34" charset="0"/>
              </a:rPr>
              <a:t> as the collection of the data type (</a:t>
            </a:r>
            <a:r>
              <a:rPr lang="en-US" dirty="0" err="1">
                <a:solidFill>
                  <a:srgbClr val="273239"/>
                </a:solidFill>
                <a:highlight>
                  <a:srgbClr val="FFFFFF"/>
                </a:highlight>
                <a:latin typeface="Calibri" panose="020F0502020204030204" pitchFamily="34" charset="0"/>
                <a:ea typeface="Calibri" panose="020F0502020204030204" pitchFamily="34" charset="0"/>
                <a:cs typeface="Calibri" panose="020F0502020204030204" pitchFamily="34" charset="0"/>
              </a:rPr>
              <a:t>dtype</a:t>
            </a:r>
            <a:r>
              <a:rPr lang="en-US" dirty="0">
                <a:solidFill>
                  <a:srgbClr val="273239"/>
                </a:solidFill>
                <a:highlight>
                  <a:srgbClr val="FFFFFF"/>
                </a:highlight>
                <a:latin typeface="Calibri" panose="020F0502020204030204" pitchFamily="34" charset="0"/>
                <a:ea typeface="Calibri" panose="020F0502020204030204" pitchFamily="34" charset="0"/>
                <a:cs typeface="Calibri" panose="020F0502020204030204" pitchFamily="34" charset="0"/>
              </a:rPr>
              <a:t>) objects.</a:t>
            </a:r>
          </a:p>
          <a:p>
            <a:pPr marL="285750" indent="-285750" algn="just">
              <a:lnSpc>
                <a:spcPct val="150000"/>
              </a:lnSpc>
              <a:buFont typeface="Arial" panose="020B0604020202020204" pitchFamily="34" charset="0"/>
              <a:buChar char="•"/>
            </a:pPr>
            <a:r>
              <a:rPr lang="en-US" dirty="0">
                <a:solidFill>
                  <a:srgbClr val="273239"/>
                </a:solidFill>
                <a:highlight>
                  <a:srgbClr val="FFFFFF"/>
                </a:highlight>
                <a:latin typeface="Calibri" panose="020F0502020204030204" pitchFamily="34" charset="0"/>
                <a:ea typeface="Calibri" panose="020F0502020204030204" pitchFamily="34" charset="0"/>
                <a:cs typeface="Calibri" panose="020F0502020204030204" pitchFamily="34" charset="0"/>
              </a:rPr>
              <a:t>The </a:t>
            </a:r>
            <a:r>
              <a:rPr lang="en-US" dirty="0" err="1">
                <a:solidFill>
                  <a:srgbClr val="273239"/>
                </a:solidFill>
                <a:highlight>
                  <a:srgbClr val="FFFFFF"/>
                </a:highlight>
                <a:latin typeface="Calibri" panose="020F0502020204030204" pitchFamily="34" charset="0"/>
                <a:ea typeface="Calibri" panose="020F0502020204030204" pitchFamily="34" charset="0"/>
                <a:cs typeface="Calibri" panose="020F0502020204030204" pitchFamily="34" charset="0"/>
              </a:rPr>
              <a:t>ndarray</a:t>
            </a:r>
            <a:r>
              <a:rPr lang="en-US" dirty="0">
                <a:solidFill>
                  <a:srgbClr val="273239"/>
                </a:solidFill>
                <a:highlight>
                  <a:srgbClr val="FFFFFF"/>
                </a:highlight>
                <a:latin typeface="Calibri" panose="020F0502020204030204" pitchFamily="34" charset="0"/>
                <a:ea typeface="Calibri" panose="020F0502020204030204" pitchFamily="34" charset="0"/>
                <a:cs typeface="Calibri" panose="020F0502020204030204" pitchFamily="34" charset="0"/>
              </a:rPr>
              <a:t> object can be accessed by using the 0 based indexing. </a:t>
            </a:r>
          </a:p>
          <a:p>
            <a:pPr marL="285750" indent="-285750" algn="just">
              <a:lnSpc>
                <a:spcPct val="150000"/>
              </a:lnSpc>
              <a:buFont typeface="Arial" panose="020B0604020202020204" pitchFamily="34" charset="0"/>
              <a:buChar char="•"/>
            </a:pPr>
            <a:r>
              <a:rPr lang="en-US" dirty="0">
                <a:solidFill>
                  <a:srgbClr val="273239"/>
                </a:solidFill>
                <a:highlight>
                  <a:srgbClr val="FFFFFF"/>
                </a:highlight>
                <a:latin typeface="Calibri" panose="020F0502020204030204" pitchFamily="34" charset="0"/>
                <a:ea typeface="Calibri" panose="020F0502020204030204" pitchFamily="34" charset="0"/>
                <a:cs typeface="Calibri" panose="020F0502020204030204" pitchFamily="34" charset="0"/>
              </a:rPr>
              <a:t>Each element of the Array object contains the same size in the memory.</a:t>
            </a:r>
            <a:endParaRPr lang="en-US" dirty="0">
              <a:solidFill>
                <a:srgbClr val="333333"/>
              </a:solidFill>
              <a:highlight>
                <a:srgbClr val="FFFFFF"/>
              </a:highlight>
              <a:latin typeface="Calibri" panose="020F0502020204030204" pitchFamily="34" charset="0"/>
              <a:ea typeface="Calibri" panose="020F0502020204030204" pitchFamily="34" charset="0"/>
              <a:cs typeface="Calibri" panose="020F0502020204030204" pitchFamily="34" charset="0"/>
            </a:endParaRPr>
          </a:p>
          <a:p>
            <a:pPr marL="285750" indent="-285750" algn="just">
              <a:lnSpc>
                <a:spcPct val="150000"/>
              </a:lnSpc>
              <a:buFont typeface="Arial" panose="020B0604020202020204" pitchFamily="34" charset="0"/>
              <a:buChar char="•"/>
            </a:pPr>
            <a:endParaRPr lang="en-US" b="0" i="0" dirty="0">
              <a:solidFill>
                <a:srgbClr val="333333"/>
              </a:solidFill>
              <a:effectLst/>
              <a:highlight>
                <a:srgbClr val="FFFFFF"/>
              </a:highlight>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58105427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Table 8">
            <a:extLst>
              <a:ext uri="{FF2B5EF4-FFF2-40B4-BE49-F238E27FC236}">
                <a16:creationId xmlns:a16="http://schemas.microsoft.com/office/drawing/2014/main" id="{0B6EC464-4750-5FF3-7A5A-15612BA6E293}"/>
              </a:ext>
            </a:extLst>
          </p:cNvPr>
          <p:cNvGraphicFramePr>
            <a:graphicFrameLocks noGrp="1"/>
          </p:cNvGraphicFramePr>
          <p:nvPr/>
        </p:nvGraphicFramePr>
        <p:xfrm>
          <a:off x="0" y="23812"/>
          <a:ext cx="12192000" cy="465287"/>
        </p:xfrm>
        <a:graphic>
          <a:graphicData uri="http://schemas.openxmlformats.org/drawingml/2006/table">
            <a:tbl>
              <a:tblPr firstRow="1" bandRow="1">
                <a:tableStyleId>{5C22544A-7EE6-4342-B048-85BDC9FD1C3A}</a:tableStyleId>
              </a:tblPr>
              <a:tblGrid>
                <a:gridCol w="6092042">
                  <a:extLst>
                    <a:ext uri="{9D8B030D-6E8A-4147-A177-3AD203B41FA5}">
                      <a16:colId xmlns:a16="http://schemas.microsoft.com/office/drawing/2014/main" val="2179694530"/>
                    </a:ext>
                  </a:extLst>
                </a:gridCol>
                <a:gridCol w="6099958">
                  <a:extLst>
                    <a:ext uri="{9D8B030D-6E8A-4147-A177-3AD203B41FA5}">
                      <a16:colId xmlns:a16="http://schemas.microsoft.com/office/drawing/2014/main" val="2768207918"/>
                    </a:ext>
                  </a:extLst>
                </a:gridCol>
              </a:tblGrid>
              <a:tr h="465287">
                <a:tc>
                  <a:txBody>
                    <a:bodyPr/>
                    <a:lstStyle/>
                    <a:p>
                      <a:endParaRPr lang="en-US" dirty="0"/>
                    </a:p>
                  </a:txBody>
                  <a:tcPr>
                    <a:solidFill>
                      <a:srgbClr val="FF85FF"/>
                    </a:solidFill>
                  </a:tcPr>
                </a:tc>
                <a:tc>
                  <a:txBody>
                    <a:bodyPr/>
                    <a:lstStyle/>
                    <a:p>
                      <a:endParaRPr lang="en-US" dirty="0"/>
                    </a:p>
                  </a:txBody>
                  <a:tcPr>
                    <a:solidFill>
                      <a:srgbClr val="FFFF00"/>
                    </a:solidFill>
                  </a:tcPr>
                </a:tc>
                <a:extLst>
                  <a:ext uri="{0D108BD9-81ED-4DB2-BD59-A6C34878D82A}">
                    <a16:rowId xmlns:a16="http://schemas.microsoft.com/office/drawing/2014/main" val="1996944423"/>
                  </a:ext>
                </a:extLst>
              </a:tr>
            </a:tbl>
          </a:graphicData>
        </a:graphic>
      </p:graphicFrame>
      <p:graphicFrame>
        <p:nvGraphicFramePr>
          <p:cNvPr id="10" name="Table 9">
            <a:extLst>
              <a:ext uri="{FF2B5EF4-FFF2-40B4-BE49-F238E27FC236}">
                <a16:creationId xmlns:a16="http://schemas.microsoft.com/office/drawing/2014/main" id="{494BAFB7-FE1F-E1A9-7A6C-AB4145BD9BA1}"/>
              </a:ext>
            </a:extLst>
          </p:cNvPr>
          <p:cNvGraphicFramePr>
            <a:graphicFrameLocks noGrp="1"/>
          </p:cNvGraphicFramePr>
          <p:nvPr>
            <p:extLst>
              <p:ext uri="{D42A27DB-BD31-4B8C-83A1-F6EECF244321}">
                <p14:modId xmlns:p14="http://schemas.microsoft.com/office/powerpoint/2010/main" val="533865473"/>
              </p:ext>
            </p:extLst>
          </p:nvPr>
        </p:nvGraphicFramePr>
        <p:xfrm>
          <a:off x="1" y="6478892"/>
          <a:ext cx="12191999" cy="370840"/>
        </p:xfrm>
        <a:graphic>
          <a:graphicData uri="http://schemas.openxmlformats.org/drawingml/2006/table">
            <a:tbl>
              <a:tblPr firstRow="1" bandRow="1">
                <a:tableStyleId>{5C22544A-7EE6-4342-B048-85BDC9FD1C3A}</a:tableStyleId>
              </a:tblPr>
              <a:tblGrid>
                <a:gridCol w="6080165">
                  <a:extLst>
                    <a:ext uri="{9D8B030D-6E8A-4147-A177-3AD203B41FA5}">
                      <a16:colId xmlns:a16="http://schemas.microsoft.com/office/drawing/2014/main" val="2179694530"/>
                    </a:ext>
                  </a:extLst>
                </a:gridCol>
                <a:gridCol w="6111834">
                  <a:extLst>
                    <a:ext uri="{9D8B030D-6E8A-4147-A177-3AD203B41FA5}">
                      <a16:colId xmlns:a16="http://schemas.microsoft.com/office/drawing/2014/main" val="2768207918"/>
                    </a:ext>
                  </a:extLst>
                </a:gridCol>
              </a:tblGrid>
              <a:tr h="370840">
                <a:tc>
                  <a:txBody>
                    <a:bodyPr/>
                    <a:lstStyle/>
                    <a:p>
                      <a:endParaRPr lang="en-US" dirty="0"/>
                    </a:p>
                  </a:txBody>
                  <a:tcPr>
                    <a:solidFill>
                      <a:srgbClr val="FFFF00"/>
                    </a:solidFill>
                  </a:tcPr>
                </a:tc>
                <a:tc>
                  <a:txBody>
                    <a:bodyPr/>
                    <a:lstStyle/>
                    <a:p>
                      <a:pPr algn="r"/>
                      <a:r>
                        <a:rPr lang="en-US" dirty="0">
                          <a:solidFill>
                            <a:schemeClr val="tx1"/>
                          </a:solidFill>
                        </a:rPr>
                        <a:t>43</a:t>
                      </a:r>
                    </a:p>
                  </a:txBody>
                  <a:tcPr>
                    <a:solidFill>
                      <a:srgbClr val="FF85FF"/>
                    </a:solidFill>
                  </a:tcPr>
                </a:tc>
                <a:extLst>
                  <a:ext uri="{0D108BD9-81ED-4DB2-BD59-A6C34878D82A}">
                    <a16:rowId xmlns:a16="http://schemas.microsoft.com/office/drawing/2014/main" val="1996944423"/>
                  </a:ext>
                </a:extLst>
              </a:tr>
            </a:tbl>
          </a:graphicData>
        </a:graphic>
      </p:graphicFrame>
      <p:pic>
        <p:nvPicPr>
          <p:cNvPr id="12" name="Google Shape;187;p25" descr="pngfind.com-kingpin-png-4152286 (1).png">
            <a:extLst>
              <a:ext uri="{FF2B5EF4-FFF2-40B4-BE49-F238E27FC236}">
                <a16:creationId xmlns:a16="http://schemas.microsoft.com/office/drawing/2014/main" id="{2DBF2481-A2DB-F96E-5749-B03DC4F71665}"/>
              </a:ext>
            </a:extLst>
          </p:cNvPr>
          <p:cNvPicPr preferRelativeResize="0"/>
          <p:nvPr/>
        </p:nvPicPr>
        <p:blipFill rotWithShape="1">
          <a:blip r:embed="rId2">
            <a:alphaModFix/>
          </a:blip>
          <a:srcRect/>
          <a:stretch/>
        </p:blipFill>
        <p:spPr>
          <a:xfrm>
            <a:off x="11044052" y="8268"/>
            <a:ext cx="1051261" cy="465287"/>
          </a:xfrm>
          <a:prstGeom prst="rect">
            <a:avLst/>
          </a:prstGeom>
          <a:noFill/>
          <a:ln>
            <a:noFill/>
          </a:ln>
        </p:spPr>
      </p:pic>
      <p:sp>
        <p:nvSpPr>
          <p:cNvPr id="19" name="Rectangle 18">
            <a:extLst>
              <a:ext uri="{FF2B5EF4-FFF2-40B4-BE49-F238E27FC236}">
                <a16:creationId xmlns:a16="http://schemas.microsoft.com/office/drawing/2014/main" id="{A0702E37-2E7E-7262-5E76-F69A817105B3}"/>
              </a:ext>
            </a:extLst>
          </p:cNvPr>
          <p:cNvSpPr/>
          <p:nvPr/>
        </p:nvSpPr>
        <p:spPr>
          <a:xfrm>
            <a:off x="0" y="8268"/>
            <a:ext cx="12192000" cy="6825920"/>
          </a:xfrm>
          <a:prstGeom prst="rect">
            <a:avLst/>
          </a:prstGeom>
          <a:noFill/>
          <a:ln w="38100">
            <a:solidFill>
              <a:srgbClr val="0432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DCB2A3F0-9003-5886-09B4-27925BBE4000}"/>
              </a:ext>
            </a:extLst>
          </p:cNvPr>
          <p:cNvSpPr txBox="1"/>
          <p:nvPr/>
        </p:nvSpPr>
        <p:spPr>
          <a:xfrm>
            <a:off x="0" y="873851"/>
            <a:ext cx="12191999" cy="646331"/>
          </a:xfrm>
          <a:prstGeom prst="rect">
            <a:avLst/>
          </a:prstGeom>
          <a:noFill/>
        </p:spPr>
        <p:txBody>
          <a:bodyPr wrap="square">
            <a:spAutoFit/>
          </a:bodyPr>
          <a:lstStyle/>
          <a:p>
            <a:pPr algn="ctr"/>
            <a:r>
              <a:rPr lang="en-US" sz="3600" b="1" dirty="0">
                <a:effectLst/>
                <a:latin typeface="Calibri" panose="020F0502020204030204" pitchFamily="34" charset="0"/>
                <a:ea typeface="Calibri" panose="020F0502020204030204" pitchFamily="34" charset="0"/>
                <a:cs typeface="Calibri" panose="020F0502020204030204" pitchFamily="34" charset="0"/>
              </a:rPr>
              <a:t>Creating Array</a:t>
            </a:r>
            <a:endParaRPr lang="en-GB" sz="8800" b="1" cap="none" spc="0" dirty="0">
              <a:ln w="0"/>
              <a:solidFill>
                <a:schemeClr val="tx1"/>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Calibri" panose="020F0502020204030204" pitchFamily="34" charset="0"/>
            </a:endParaRPr>
          </a:p>
        </p:txBody>
      </p:sp>
      <p:sp>
        <p:nvSpPr>
          <p:cNvPr id="5" name="TextBox 4">
            <a:extLst>
              <a:ext uri="{FF2B5EF4-FFF2-40B4-BE49-F238E27FC236}">
                <a16:creationId xmlns:a16="http://schemas.microsoft.com/office/drawing/2014/main" id="{57BF3EEF-553A-D37A-6EF6-B514AF07FC3C}"/>
              </a:ext>
            </a:extLst>
          </p:cNvPr>
          <p:cNvSpPr txBox="1"/>
          <p:nvPr/>
        </p:nvSpPr>
        <p:spPr>
          <a:xfrm>
            <a:off x="487016" y="1574931"/>
            <a:ext cx="10972801" cy="2957861"/>
          </a:xfrm>
          <a:prstGeom prst="rect">
            <a:avLst/>
          </a:prstGeom>
          <a:noFill/>
        </p:spPr>
        <p:txBody>
          <a:bodyPr wrap="square">
            <a:spAutoFit/>
          </a:bodyPr>
          <a:lstStyle/>
          <a:p>
            <a:pPr algn="just">
              <a:lnSpc>
                <a:spcPct val="150000"/>
              </a:lnSpc>
            </a:pPr>
            <a:r>
              <a:rPr lang="en-US" b="1" dirty="0">
                <a:solidFill>
                  <a:srgbClr val="273239"/>
                </a:solidFill>
                <a:highlight>
                  <a:srgbClr val="FFFFFF"/>
                </a:highlight>
                <a:latin typeface="Calibri" panose="020F0502020204030204" pitchFamily="34" charset="0"/>
                <a:ea typeface="Calibri" panose="020F0502020204030204" pitchFamily="34" charset="0"/>
                <a:cs typeface="Calibri" panose="020F0502020204030204" pitchFamily="34" charset="0"/>
              </a:rPr>
              <a:t>Dimensions:</a:t>
            </a:r>
          </a:p>
          <a:p>
            <a:pPr marL="285750" indent="-285750" algn="just">
              <a:lnSpc>
                <a:spcPct val="150000"/>
              </a:lnSpc>
              <a:buFont typeface="Arial" panose="020B0604020202020204" pitchFamily="34" charset="0"/>
              <a:buChar char="•"/>
            </a:pPr>
            <a:r>
              <a:rPr lang="en-IN" dirty="0">
                <a:solidFill>
                  <a:srgbClr val="273239"/>
                </a:solidFill>
                <a:highlight>
                  <a:srgbClr val="FFFFFF"/>
                </a:highlight>
                <a:latin typeface="Calibri" panose="020F0502020204030204" pitchFamily="34" charset="0"/>
                <a:ea typeface="Calibri" panose="020F0502020204030204" pitchFamily="34" charset="0"/>
                <a:cs typeface="Calibri" panose="020F0502020204030204" pitchFamily="34" charset="0"/>
              </a:rPr>
              <a:t>0-D Arrays</a:t>
            </a:r>
          </a:p>
          <a:p>
            <a:pPr marL="285750" indent="-285750" algn="just">
              <a:lnSpc>
                <a:spcPct val="150000"/>
              </a:lnSpc>
              <a:buFont typeface="Arial" panose="020B0604020202020204" pitchFamily="34" charset="0"/>
              <a:buChar char="•"/>
            </a:pPr>
            <a:r>
              <a:rPr lang="en-IN" dirty="0">
                <a:solidFill>
                  <a:srgbClr val="273239"/>
                </a:solidFill>
                <a:highlight>
                  <a:srgbClr val="FFFFFF"/>
                </a:highlight>
                <a:latin typeface="Calibri" panose="020F0502020204030204" pitchFamily="34" charset="0"/>
                <a:ea typeface="Calibri" panose="020F0502020204030204" pitchFamily="34" charset="0"/>
                <a:cs typeface="Calibri" panose="020F0502020204030204" pitchFamily="34" charset="0"/>
              </a:rPr>
              <a:t>1-D Arrays</a:t>
            </a:r>
          </a:p>
          <a:p>
            <a:pPr marL="285750" indent="-285750" algn="just">
              <a:lnSpc>
                <a:spcPct val="150000"/>
              </a:lnSpc>
              <a:buFont typeface="Arial" panose="020B0604020202020204" pitchFamily="34" charset="0"/>
              <a:buChar char="•"/>
            </a:pPr>
            <a:r>
              <a:rPr lang="en-IN" dirty="0">
                <a:solidFill>
                  <a:srgbClr val="273239"/>
                </a:solidFill>
                <a:highlight>
                  <a:srgbClr val="FFFFFF"/>
                </a:highlight>
                <a:latin typeface="Calibri" panose="020F0502020204030204" pitchFamily="34" charset="0"/>
                <a:ea typeface="Calibri" panose="020F0502020204030204" pitchFamily="34" charset="0"/>
                <a:cs typeface="Calibri" panose="020F0502020204030204" pitchFamily="34" charset="0"/>
              </a:rPr>
              <a:t>2-D Arrays</a:t>
            </a:r>
          </a:p>
          <a:p>
            <a:pPr marL="285750" indent="-285750" algn="just">
              <a:lnSpc>
                <a:spcPct val="150000"/>
              </a:lnSpc>
              <a:buFont typeface="Arial" panose="020B0604020202020204" pitchFamily="34" charset="0"/>
              <a:buChar char="•"/>
            </a:pPr>
            <a:r>
              <a:rPr lang="en-IN" dirty="0">
                <a:solidFill>
                  <a:srgbClr val="273239"/>
                </a:solidFill>
                <a:highlight>
                  <a:srgbClr val="FFFFFF"/>
                </a:highlight>
                <a:latin typeface="Calibri" panose="020F0502020204030204" pitchFamily="34" charset="0"/>
                <a:ea typeface="Calibri" panose="020F0502020204030204" pitchFamily="34" charset="0"/>
                <a:cs typeface="Calibri" panose="020F0502020204030204" pitchFamily="34" charset="0"/>
              </a:rPr>
              <a:t>3-D arrays</a:t>
            </a:r>
          </a:p>
          <a:p>
            <a:pPr marL="285750" indent="-285750" algn="just">
              <a:lnSpc>
                <a:spcPct val="150000"/>
              </a:lnSpc>
              <a:buFont typeface="Arial" panose="020B0604020202020204" pitchFamily="34" charset="0"/>
              <a:buChar char="•"/>
            </a:pPr>
            <a:endParaRPr lang="en-US" dirty="0">
              <a:solidFill>
                <a:srgbClr val="333333"/>
              </a:solidFill>
              <a:highlight>
                <a:srgbClr val="FFFFFF"/>
              </a:highlight>
              <a:latin typeface="Calibri" panose="020F0502020204030204" pitchFamily="34" charset="0"/>
              <a:ea typeface="Calibri" panose="020F0502020204030204" pitchFamily="34" charset="0"/>
              <a:cs typeface="Calibri" panose="020F0502020204030204" pitchFamily="34" charset="0"/>
            </a:endParaRPr>
          </a:p>
          <a:p>
            <a:pPr marL="285750" indent="-285750" algn="just">
              <a:lnSpc>
                <a:spcPct val="150000"/>
              </a:lnSpc>
              <a:buFont typeface="Arial" panose="020B0604020202020204" pitchFamily="34" charset="0"/>
              <a:buChar char="•"/>
            </a:pPr>
            <a:endParaRPr lang="en-US" b="0" i="0" dirty="0">
              <a:solidFill>
                <a:srgbClr val="333333"/>
              </a:solidFill>
              <a:effectLst/>
              <a:highlight>
                <a:srgbClr val="FFFFFF"/>
              </a:highlight>
              <a:latin typeface="Calibri" panose="020F0502020204030204" pitchFamily="34" charset="0"/>
              <a:ea typeface="Calibri" panose="020F0502020204030204" pitchFamily="34" charset="0"/>
              <a:cs typeface="Calibri" panose="020F0502020204030204" pitchFamily="34" charset="0"/>
            </a:endParaRPr>
          </a:p>
        </p:txBody>
      </p:sp>
      <p:pic>
        <p:nvPicPr>
          <p:cNvPr id="2051" name="Picture 3" descr="Data Science Practical No. 3.1 Write a ...">
            <a:extLst>
              <a:ext uri="{FF2B5EF4-FFF2-40B4-BE49-F238E27FC236}">
                <a16:creationId xmlns:a16="http://schemas.microsoft.com/office/drawing/2014/main" id="{A77F645B-2E71-C8F7-17BB-C3C2268A63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69076" y="2156036"/>
            <a:ext cx="5878167" cy="3291773"/>
          </a:xfrm>
          <a:prstGeom prst="rect">
            <a:avLst/>
          </a:prstGeom>
          <a:noFill/>
          <a:ln w="6350">
            <a:solidFill>
              <a:schemeClr val="tx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1114287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Table 8">
            <a:extLst>
              <a:ext uri="{FF2B5EF4-FFF2-40B4-BE49-F238E27FC236}">
                <a16:creationId xmlns:a16="http://schemas.microsoft.com/office/drawing/2014/main" id="{0B6EC464-4750-5FF3-7A5A-15612BA6E293}"/>
              </a:ext>
            </a:extLst>
          </p:cNvPr>
          <p:cNvGraphicFramePr>
            <a:graphicFrameLocks noGrp="1"/>
          </p:cNvGraphicFramePr>
          <p:nvPr/>
        </p:nvGraphicFramePr>
        <p:xfrm>
          <a:off x="0" y="23812"/>
          <a:ext cx="12192000" cy="465287"/>
        </p:xfrm>
        <a:graphic>
          <a:graphicData uri="http://schemas.openxmlformats.org/drawingml/2006/table">
            <a:tbl>
              <a:tblPr firstRow="1" bandRow="1">
                <a:tableStyleId>{5C22544A-7EE6-4342-B048-85BDC9FD1C3A}</a:tableStyleId>
              </a:tblPr>
              <a:tblGrid>
                <a:gridCol w="6092042">
                  <a:extLst>
                    <a:ext uri="{9D8B030D-6E8A-4147-A177-3AD203B41FA5}">
                      <a16:colId xmlns:a16="http://schemas.microsoft.com/office/drawing/2014/main" val="2179694530"/>
                    </a:ext>
                  </a:extLst>
                </a:gridCol>
                <a:gridCol w="6099958">
                  <a:extLst>
                    <a:ext uri="{9D8B030D-6E8A-4147-A177-3AD203B41FA5}">
                      <a16:colId xmlns:a16="http://schemas.microsoft.com/office/drawing/2014/main" val="2768207918"/>
                    </a:ext>
                  </a:extLst>
                </a:gridCol>
              </a:tblGrid>
              <a:tr h="465287">
                <a:tc>
                  <a:txBody>
                    <a:bodyPr/>
                    <a:lstStyle/>
                    <a:p>
                      <a:endParaRPr lang="en-US" dirty="0"/>
                    </a:p>
                  </a:txBody>
                  <a:tcPr>
                    <a:solidFill>
                      <a:srgbClr val="FF85FF"/>
                    </a:solidFill>
                  </a:tcPr>
                </a:tc>
                <a:tc>
                  <a:txBody>
                    <a:bodyPr/>
                    <a:lstStyle/>
                    <a:p>
                      <a:endParaRPr lang="en-US" dirty="0"/>
                    </a:p>
                  </a:txBody>
                  <a:tcPr>
                    <a:solidFill>
                      <a:srgbClr val="FFFF00"/>
                    </a:solidFill>
                  </a:tcPr>
                </a:tc>
                <a:extLst>
                  <a:ext uri="{0D108BD9-81ED-4DB2-BD59-A6C34878D82A}">
                    <a16:rowId xmlns:a16="http://schemas.microsoft.com/office/drawing/2014/main" val="1996944423"/>
                  </a:ext>
                </a:extLst>
              </a:tr>
            </a:tbl>
          </a:graphicData>
        </a:graphic>
      </p:graphicFrame>
      <p:graphicFrame>
        <p:nvGraphicFramePr>
          <p:cNvPr id="10" name="Table 9">
            <a:extLst>
              <a:ext uri="{FF2B5EF4-FFF2-40B4-BE49-F238E27FC236}">
                <a16:creationId xmlns:a16="http://schemas.microsoft.com/office/drawing/2014/main" id="{494BAFB7-FE1F-E1A9-7A6C-AB4145BD9BA1}"/>
              </a:ext>
            </a:extLst>
          </p:cNvPr>
          <p:cNvGraphicFramePr>
            <a:graphicFrameLocks noGrp="1"/>
          </p:cNvGraphicFramePr>
          <p:nvPr>
            <p:extLst>
              <p:ext uri="{D42A27DB-BD31-4B8C-83A1-F6EECF244321}">
                <p14:modId xmlns:p14="http://schemas.microsoft.com/office/powerpoint/2010/main" val="86295607"/>
              </p:ext>
            </p:extLst>
          </p:nvPr>
        </p:nvGraphicFramePr>
        <p:xfrm>
          <a:off x="1" y="6478892"/>
          <a:ext cx="12191999" cy="370840"/>
        </p:xfrm>
        <a:graphic>
          <a:graphicData uri="http://schemas.openxmlformats.org/drawingml/2006/table">
            <a:tbl>
              <a:tblPr firstRow="1" bandRow="1">
                <a:tableStyleId>{5C22544A-7EE6-4342-B048-85BDC9FD1C3A}</a:tableStyleId>
              </a:tblPr>
              <a:tblGrid>
                <a:gridCol w="6080165">
                  <a:extLst>
                    <a:ext uri="{9D8B030D-6E8A-4147-A177-3AD203B41FA5}">
                      <a16:colId xmlns:a16="http://schemas.microsoft.com/office/drawing/2014/main" val="2179694530"/>
                    </a:ext>
                  </a:extLst>
                </a:gridCol>
                <a:gridCol w="6111834">
                  <a:extLst>
                    <a:ext uri="{9D8B030D-6E8A-4147-A177-3AD203B41FA5}">
                      <a16:colId xmlns:a16="http://schemas.microsoft.com/office/drawing/2014/main" val="2768207918"/>
                    </a:ext>
                  </a:extLst>
                </a:gridCol>
              </a:tblGrid>
              <a:tr h="370840">
                <a:tc>
                  <a:txBody>
                    <a:bodyPr/>
                    <a:lstStyle/>
                    <a:p>
                      <a:endParaRPr lang="en-US" dirty="0"/>
                    </a:p>
                  </a:txBody>
                  <a:tcPr>
                    <a:solidFill>
                      <a:srgbClr val="FFFF00"/>
                    </a:solidFill>
                  </a:tcPr>
                </a:tc>
                <a:tc>
                  <a:txBody>
                    <a:bodyPr/>
                    <a:lstStyle/>
                    <a:p>
                      <a:pPr algn="r"/>
                      <a:r>
                        <a:rPr lang="en-US" dirty="0">
                          <a:solidFill>
                            <a:schemeClr val="tx1"/>
                          </a:solidFill>
                        </a:rPr>
                        <a:t>44</a:t>
                      </a:r>
                    </a:p>
                  </a:txBody>
                  <a:tcPr>
                    <a:solidFill>
                      <a:srgbClr val="FF85FF"/>
                    </a:solidFill>
                  </a:tcPr>
                </a:tc>
                <a:extLst>
                  <a:ext uri="{0D108BD9-81ED-4DB2-BD59-A6C34878D82A}">
                    <a16:rowId xmlns:a16="http://schemas.microsoft.com/office/drawing/2014/main" val="1996944423"/>
                  </a:ext>
                </a:extLst>
              </a:tr>
            </a:tbl>
          </a:graphicData>
        </a:graphic>
      </p:graphicFrame>
      <p:pic>
        <p:nvPicPr>
          <p:cNvPr id="12" name="Google Shape;187;p25" descr="pngfind.com-kingpin-png-4152286 (1).png">
            <a:extLst>
              <a:ext uri="{FF2B5EF4-FFF2-40B4-BE49-F238E27FC236}">
                <a16:creationId xmlns:a16="http://schemas.microsoft.com/office/drawing/2014/main" id="{2DBF2481-A2DB-F96E-5749-B03DC4F71665}"/>
              </a:ext>
            </a:extLst>
          </p:cNvPr>
          <p:cNvPicPr preferRelativeResize="0"/>
          <p:nvPr/>
        </p:nvPicPr>
        <p:blipFill rotWithShape="1">
          <a:blip r:embed="rId2">
            <a:alphaModFix/>
          </a:blip>
          <a:srcRect/>
          <a:stretch/>
        </p:blipFill>
        <p:spPr>
          <a:xfrm>
            <a:off x="11044052" y="8268"/>
            <a:ext cx="1051261" cy="465287"/>
          </a:xfrm>
          <a:prstGeom prst="rect">
            <a:avLst/>
          </a:prstGeom>
          <a:noFill/>
          <a:ln>
            <a:noFill/>
          </a:ln>
        </p:spPr>
      </p:pic>
      <p:sp>
        <p:nvSpPr>
          <p:cNvPr id="19" name="Rectangle 18">
            <a:extLst>
              <a:ext uri="{FF2B5EF4-FFF2-40B4-BE49-F238E27FC236}">
                <a16:creationId xmlns:a16="http://schemas.microsoft.com/office/drawing/2014/main" id="{A0702E37-2E7E-7262-5E76-F69A817105B3}"/>
              </a:ext>
            </a:extLst>
          </p:cNvPr>
          <p:cNvSpPr/>
          <p:nvPr/>
        </p:nvSpPr>
        <p:spPr>
          <a:xfrm>
            <a:off x="0" y="8268"/>
            <a:ext cx="12192000" cy="6825920"/>
          </a:xfrm>
          <a:prstGeom prst="rect">
            <a:avLst/>
          </a:prstGeom>
          <a:noFill/>
          <a:ln w="38100">
            <a:solidFill>
              <a:srgbClr val="0432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DCB2A3F0-9003-5886-09B4-27925BBE4000}"/>
              </a:ext>
            </a:extLst>
          </p:cNvPr>
          <p:cNvSpPr txBox="1"/>
          <p:nvPr/>
        </p:nvSpPr>
        <p:spPr>
          <a:xfrm>
            <a:off x="0" y="873851"/>
            <a:ext cx="12191999" cy="646331"/>
          </a:xfrm>
          <a:prstGeom prst="rect">
            <a:avLst/>
          </a:prstGeom>
          <a:noFill/>
        </p:spPr>
        <p:txBody>
          <a:bodyPr wrap="square">
            <a:spAutoFit/>
          </a:bodyPr>
          <a:lstStyle/>
          <a:p>
            <a:pPr algn="ctr"/>
            <a:r>
              <a:rPr lang="en-US" sz="3600" b="1" dirty="0">
                <a:effectLst/>
                <a:latin typeface="Calibri" panose="020F0502020204030204" pitchFamily="34" charset="0"/>
                <a:ea typeface="Calibri" panose="020F0502020204030204" pitchFamily="34" charset="0"/>
                <a:cs typeface="Calibri" panose="020F0502020204030204" pitchFamily="34" charset="0"/>
              </a:rPr>
              <a:t>Creating Array</a:t>
            </a:r>
            <a:endParaRPr lang="en-GB" sz="8800" b="1" cap="none" spc="0" dirty="0">
              <a:ln w="0"/>
              <a:solidFill>
                <a:schemeClr val="tx1"/>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Calibri" panose="020F0502020204030204" pitchFamily="34" charset="0"/>
            </a:endParaRPr>
          </a:p>
        </p:txBody>
      </p:sp>
      <p:sp>
        <p:nvSpPr>
          <p:cNvPr id="5" name="TextBox 4">
            <a:extLst>
              <a:ext uri="{FF2B5EF4-FFF2-40B4-BE49-F238E27FC236}">
                <a16:creationId xmlns:a16="http://schemas.microsoft.com/office/drawing/2014/main" id="{57BF3EEF-553A-D37A-6EF6-B514AF07FC3C}"/>
              </a:ext>
            </a:extLst>
          </p:cNvPr>
          <p:cNvSpPr txBox="1"/>
          <p:nvPr/>
        </p:nvSpPr>
        <p:spPr>
          <a:xfrm>
            <a:off x="970158" y="1629516"/>
            <a:ext cx="2773019" cy="1711046"/>
          </a:xfrm>
          <a:prstGeom prst="rect">
            <a:avLst/>
          </a:prstGeom>
          <a:noFill/>
          <a:ln w="6350">
            <a:solidFill>
              <a:schemeClr val="tx1"/>
            </a:solidFill>
          </a:ln>
        </p:spPr>
        <p:txBody>
          <a:bodyPr wrap="square">
            <a:spAutoFit/>
          </a:bodyPr>
          <a:lstStyle/>
          <a:p>
            <a:pPr algn="ctr">
              <a:lnSpc>
                <a:spcPct val="150000"/>
              </a:lnSpc>
            </a:pPr>
            <a:r>
              <a:rPr lang="en-IN" b="1" u="sng" dirty="0">
                <a:solidFill>
                  <a:srgbClr val="273239"/>
                </a:solidFill>
                <a:highlight>
                  <a:srgbClr val="FFFFFF"/>
                </a:highlight>
                <a:latin typeface="Calibri" panose="020F0502020204030204" pitchFamily="34" charset="0"/>
                <a:ea typeface="Calibri" panose="020F0502020204030204" pitchFamily="34" charset="0"/>
                <a:cs typeface="Calibri" panose="020F0502020204030204" pitchFamily="34" charset="0"/>
              </a:rPr>
              <a:t>0-D Arrays</a:t>
            </a:r>
          </a:p>
          <a:p>
            <a:pPr>
              <a:lnSpc>
                <a:spcPct val="150000"/>
              </a:lnSpc>
            </a:pPr>
            <a:r>
              <a:rPr lang="en-US" b="0" i="0" dirty="0">
                <a:solidFill>
                  <a:srgbClr val="0000CD"/>
                </a:solidFill>
                <a:effectLst/>
                <a:highlight>
                  <a:srgbClr val="FFFFFF"/>
                </a:highlight>
                <a:latin typeface="Consolas" panose="020B0609020204030204" pitchFamily="49" charset="0"/>
              </a:rPr>
              <a:t>import</a:t>
            </a:r>
            <a:r>
              <a:rPr lang="en-US" b="0" i="0" dirty="0">
                <a:solidFill>
                  <a:srgbClr val="000000"/>
                </a:solidFill>
                <a:effectLst/>
                <a:highlight>
                  <a:srgbClr val="FFFFFF"/>
                </a:highlight>
                <a:latin typeface="Consolas" panose="020B0609020204030204" pitchFamily="49" charset="0"/>
              </a:rPr>
              <a:t> </a:t>
            </a:r>
            <a:r>
              <a:rPr lang="en-US" b="0" i="0" dirty="0" err="1">
                <a:solidFill>
                  <a:srgbClr val="000000"/>
                </a:solidFill>
                <a:effectLst/>
                <a:highlight>
                  <a:srgbClr val="FFFFFF"/>
                </a:highlight>
                <a:latin typeface="Consolas" panose="020B0609020204030204" pitchFamily="49" charset="0"/>
              </a:rPr>
              <a:t>numpy</a:t>
            </a:r>
            <a:r>
              <a:rPr lang="en-US" b="0" i="0" dirty="0">
                <a:solidFill>
                  <a:srgbClr val="000000"/>
                </a:solidFill>
                <a:effectLst/>
                <a:highlight>
                  <a:srgbClr val="FFFFFF"/>
                </a:highlight>
                <a:latin typeface="Consolas" panose="020B0609020204030204" pitchFamily="49" charset="0"/>
              </a:rPr>
              <a:t> </a:t>
            </a:r>
            <a:r>
              <a:rPr lang="en-US" b="0" i="0" dirty="0">
                <a:solidFill>
                  <a:srgbClr val="0000CD"/>
                </a:solidFill>
                <a:effectLst/>
                <a:highlight>
                  <a:srgbClr val="FFFFFF"/>
                </a:highlight>
                <a:latin typeface="Consolas" panose="020B0609020204030204" pitchFamily="49" charset="0"/>
              </a:rPr>
              <a:t>as</a:t>
            </a:r>
            <a:r>
              <a:rPr lang="en-US" b="0" i="0" dirty="0">
                <a:solidFill>
                  <a:srgbClr val="000000"/>
                </a:solidFill>
                <a:effectLst/>
                <a:highlight>
                  <a:srgbClr val="FFFFFF"/>
                </a:highlight>
                <a:latin typeface="Consolas" panose="020B0609020204030204" pitchFamily="49" charset="0"/>
              </a:rPr>
              <a:t> np</a:t>
            </a:r>
            <a:br>
              <a:rPr lang="en-US" dirty="0"/>
            </a:br>
            <a:r>
              <a:rPr lang="en-US" b="0" i="0" dirty="0" err="1">
                <a:solidFill>
                  <a:srgbClr val="000000"/>
                </a:solidFill>
                <a:effectLst/>
                <a:highlight>
                  <a:srgbClr val="FFFFFF"/>
                </a:highlight>
                <a:latin typeface="Consolas" panose="020B0609020204030204" pitchFamily="49" charset="0"/>
              </a:rPr>
              <a:t>arr</a:t>
            </a:r>
            <a:r>
              <a:rPr lang="en-US" b="0" i="0" dirty="0">
                <a:solidFill>
                  <a:srgbClr val="000000"/>
                </a:solidFill>
                <a:effectLst/>
                <a:highlight>
                  <a:srgbClr val="FFFFFF"/>
                </a:highlight>
                <a:latin typeface="Consolas" panose="020B0609020204030204" pitchFamily="49" charset="0"/>
              </a:rPr>
              <a:t> = </a:t>
            </a:r>
            <a:r>
              <a:rPr lang="en-US" b="0" i="0" dirty="0" err="1">
                <a:solidFill>
                  <a:srgbClr val="000000"/>
                </a:solidFill>
                <a:effectLst/>
                <a:highlight>
                  <a:srgbClr val="FFFFFF"/>
                </a:highlight>
                <a:latin typeface="Consolas" panose="020B0609020204030204" pitchFamily="49" charset="0"/>
              </a:rPr>
              <a:t>np.array</a:t>
            </a:r>
            <a:r>
              <a:rPr lang="en-US" b="0" i="0" dirty="0">
                <a:solidFill>
                  <a:srgbClr val="000000"/>
                </a:solidFill>
                <a:effectLst/>
                <a:highlight>
                  <a:srgbClr val="FFFFFF"/>
                </a:highlight>
                <a:latin typeface="Consolas" panose="020B0609020204030204" pitchFamily="49" charset="0"/>
              </a:rPr>
              <a:t>(</a:t>
            </a:r>
            <a:r>
              <a:rPr lang="en-US" b="0" i="0" dirty="0">
                <a:solidFill>
                  <a:srgbClr val="FF0000"/>
                </a:solidFill>
                <a:effectLst/>
                <a:highlight>
                  <a:srgbClr val="FFFFFF"/>
                </a:highlight>
                <a:latin typeface="Consolas" panose="020B0609020204030204" pitchFamily="49" charset="0"/>
              </a:rPr>
              <a:t>42</a:t>
            </a:r>
            <a:r>
              <a:rPr lang="en-US" b="0" i="0" dirty="0">
                <a:solidFill>
                  <a:srgbClr val="000000"/>
                </a:solidFill>
                <a:effectLst/>
                <a:highlight>
                  <a:srgbClr val="FFFFFF"/>
                </a:highlight>
                <a:latin typeface="Consolas" panose="020B0609020204030204" pitchFamily="49" charset="0"/>
              </a:rPr>
              <a:t>)</a:t>
            </a:r>
            <a:br>
              <a:rPr lang="en-US" dirty="0"/>
            </a:br>
            <a:r>
              <a:rPr lang="en-US" b="0" i="0" dirty="0">
                <a:solidFill>
                  <a:srgbClr val="0000CD"/>
                </a:solidFill>
                <a:effectLst/>
                <a:highlight>
                  <a:srgbClr val="FFFFFF"/>
                </a:highlight>
                <a:latin typeface="Consolas" panose="020B0609020204030204" pitchFamily="49" charset="0"/>
              </a:rPr>
              <a:t>print</a:t>
            </a:r>
            <a:r>
              <a:rPr lang="en-US" b="0" i="0" dirty="0">
                <a:solidFill>
                  <a:srgbClr val="000000"/>
                </a:solidFill>
                <a:effectLst/>
                <a:highlight>
                  <a:srgbClr val="FFFFFF"/>
                </a:highlight>
                <a:latin typeface="Consolas" panose="020B0609020204030204" pitchFamily="49" charset="0"/>
              </a:rPr>
              <a:t>(</a:t>
            </a:r>
            <a:r>
              <a:rPr lang="en-US" b="0" i="0" dirty="0" err="1">
                <a:solidFill>
                  <a:srgbClr val="000000"/>
                </a:solidFill>
                <a:effectLst/>
                <a:highlight>
                  <a:srgbClr val="FFFFFF"/>
                </a:highlight>
                <a:latin typeface="Consolas" panose="020B0609020204030204" pitchFamily="49" charset="0"/>
              </a:rPr>
              <a:t>arr</a:t>
            </a:r>
            <a:r>
              <a:rPr lang="en-US" b="0" i="0" dirty="0">
                <a:solidFill>
                  <a:srgbClr val="000000"/>
                </a:solidFill>
                <a:effectLst/>
                <a:highlight>
                  <a:srgbClr val="FFFFFF"/>
                </a:highlight>
                <a:latin typeface="Consolas" panose="020B0609020204030204" pitchFamily="49" charset="0"/>
              </a:rPr>
              <a:t>)</a:t>
            </a:r>
            <a:endParaRPr lang="en-US" b="0" i="0" dirty="0">
              <a:solidFill>
                <a:srgbClr val="333333"/>
              </a:solidFill>
              <a:effectLst/>
              <a:highlight>
                <a:srgbClr val="FFFFFF"/>
              </a:highlight>
              <a:latin typeface="Calibri" panose="020F0502020204030204" pitchFamily="34" charset="0"/>
              <a:ea typeface="Calibri" panose="020F0502020204030204" pitchFamily="34" charset="0"/>
              <a:cs typeface="Calibri" panose="020F0502020204030204" pitchFamily="34" charset="0"/>
            </a:endParaRPr>
          </a:p>
        </p:txBody>
      </p:sp>
      <p:sp>
        <p:nvSpPr>
          <p:cNvPr id="2" name="TextBox 1">
            <a:extLst>
              <a:ext uri="{FF2B5EF4-FFF2-40B4-BE49-F238E27FC236}">
                <a16:creationId xmlns:a16="http://schemas.microsoft.com/office/drawing/2014/main" id="{2B0F783B-2DAE-1652-B7AF-7609A99670E5}"/>
              </a:ext>
            </a:extLst>
          </p:cNvPr>
          <p:cNvSpPr txBox="1"/>
          <p:nvPr/>
        </p:nvSpPr>
        <p:spPr>
          <a:xfrm>
            <a:off x="305933" y="3799291"/>
            <a:ext cx="4101470" cy="1711046"/>
          </a:xfrm>
          <a:prstGeom prst="rect">
            <a:avLst/>
          </a:prstGeom>
          <a:noFill/>
          <a:ln w="6350">
            <a:solidFill>
              <a:schemeClr val="tx1"/>
            </a:solidFill>
          </a:ln>
        </p:spPr>
        <p:txBody>
          <a:bodyPr wrap="square">
            <a:spAutoFit/>
          </a:bodyPr>
          <a:lstStyle/>
          <a:p>
            <a:pPr algn="ctr">
              <a:lnSpc>
                <a:spcPct val="150000"/>
              </a:lnSpc>
            </a:pPr>
            <a:r>
              <a:rPr lang="en-IN" b="1" u="sng" dirty="0">
                <a:solidFill>
                  <a:srgbClr val="273239"/>
                </a:solidFill>
                <a:highlight>
                  <a:srgbClr val="FFFFFF"/>
                </a:highlight>
                <a:latin typeface="Calibri" panose="020F0502020204030204" pitchFamily="34" charset="0"/>
                <a:ea typeface="Calibri" panose="020F0502020204030204" pitchFamily="34" charset="0"/>
                <a:cs typeface="Calibri" panose="020F0502020204030204" pitchFamily="34" charset="0"/>
              </a:rPr>
              <a:t>1-D Arrays</a:t>
            </a:r>
          </a:p>
          <a:p>
            <a:pPr>
              <a:lnSpc>
                <a:spcPct val="150000"/>
              </a:lnSpc>
            </a:pPr>
            <a:r>
              <a:rPr lang="en-US" b="0" i="0" dirty="0">
                <a:solidFill>
                  <a:srgbClr val="0000CD"/>
                </a:solidFill>
                <a:effectLst/>
                <a:highlight>
                  <a:srgbClr val="FFFFFF"/>
                </a:highlight>
                <a:latin typeface="Consolas" panose="020B0609020204030204" pitchFamily="49" charset="0"/>
              </a:rPr>
              <a:t>import</a:t>
            </a:r>
            <a:r>
              <a:rPr lang="en-US" b="0" i="0" dirty="0">
                <a:solidFill>
                  <a:srgbClr val="000000"/>
                </a:solidFill>
                <a:effectLst/>
                <a:highlight>
                  <a:srgbClr val="FFFFFF"/>
                </a:highlight>
                <a:latin typeface="Consolas" panose="020B0609020204030204" pitchFamily="49" charset="0"/>
              </a:rPr>
              <a:t> </a:t>
            </a:r>
            <a:r>
              <a:rPr lang="en-US" b="0" i="0" dirty="0" err="1">
                <a:solidFill>
                  <a:srgbClr val="000000"/>
                </a:solidFill>
                <a:effectLst/>
                <a:highlight>
                  <a:srgbClr val="FFFFFF"/>
                </a:highlight>
                <a:latin typeface="Consolas" panose="020B0609020204030204" pitchFamily="49" charset="0"/>
              </a:rPr>
              <a:t>numpy</a:t>
            </a:r>
            <a:r>
              <a:rPr lang="en-US" b="0" i="0" dirty="0">
                <a:solidFill>
                  <a:srgbClr val="000000"/>
                </a:solidFill>
                <a:effectLst/>
                <a:highlight>
                  <a:srgbClr val="FFFFFF"/>
                </a:highlight>
                <a:latin typeface="Consolas" panose="020B0609020204030204" pitchFamily="49" charset="0"/>
              </a:rPr>
              <a:t> </a:t>
            </a:r>
            <a:r>
              <a:rPr lang="en-US" b="0" i="0" dirty="0">
                <a:solidFill>
                  <a:srgbClr val="0000CD"/>
                </a:solidFill>
                <a:effectLst/>
                <a:highlight>
                  <a:srgbClr val="FFFFFF"/>
                </a:highlight>
                <a:latin typeface="Consolas" panose="020B0609020204030204" pitchFamily="49" charset="0"/>
              </a:rPr>
              <a:t>as</a:t>
            </a:r>
            <a:r>
              <a:rPr lang="en-US" b="0" i="0" dirty="0">
                <a:solidFill>
                  <a:srgbClr val="000000"/>
                </a:solidFill>
                <a:effectLst/>
                <a:highlight>
                  <a:srgbClr val="FFFFFF"/>
                </a:highlight>
                <a:latin typeface="Consolas" panose="020B0609020204030204" pitchFamily="49" charset="0"/>
              </a:rPr>
              <a:t> np</a:t>
            </a:r>
            <a:br>
              <a:rPr lang="en-US" dirty="0"/>
            </a:br>
            <a:r>
              <a:rPr lang="en-US" b="0" i="0" dirty="0" err="1">
                <a:solidFill>
                  <a:srgbClr val="000000"/>
                </a:solidFill>
                <a:effectLst/>
                <a:highlight>
                  <a:srgbClr val="FFFFFF"/>
                </a:highlight>
                <a:latin typeface="Consolas" panose="020B0609020204030204" pitchFamily="49" charset="0"/>
              </a:rPr>
              <a:t>arr</a:t>
            </a:r>
            <a:r>
              <a:rPr lang="en-US" b="0" i="0" dirty="0">
                <a:solidFill>
                  <a:srgbClr val="000000"/>
                </a:solidFill>
                <a:effectLst/>
                <a:highlight>
                  <a:srgbClr val="FFFFFF"/>
                </a:highlight>
                <a:latin typeface="Consolas" panose="020B0609020204030204" pitchFamily="49" charset="0"/>
              </a:rPr>
              <a:t> = </a:t>
            </a:r>
            <a:r>
              <a:rPr lang="en-US" b="0" i="0" dirty="0" err="1">
                <a:solidFill>
                  <a:srgbClr val="000000"/>
                </a:solidFill>
                <a:effectLst/>
                <a:highlight>
                  <a:srgbClr val="FFFFFF"/>
                </a:highlight>
                <a:latin typeface="Consolas" panose="020B0609020204030204" pitchFamily="49" charset="0"/>
              </a:rPr>
              <a:t>np.array</a:t>
            </a:r>
            <a:r>
              <a:rPr lang="en-US" b="0" i="0" dirty="0">
                <a:solidFill>
                  <a:srgbClr val="000000"/>
                </a:solidFill>
                <a:effectLst/>
                <a:highlight>
                  <a:srgbClr val="FFFFFF"/>
                </a:highlight>
                <a:latin typeface="Consolas" panose="020B0609020204030204" pitchFamily="49" charset="0"/>
              </a:rPr>
              <a:t>([</a:t>
            </a:r>
            <a:r>
              <a:rPr lang="en-US" b="0" i="0" dirty="0">
                <a:solidFill>
                  <a:srgbClr val="FF0000"/>
                </a:solidFill>
                <a:effectLst/>
                <a:highlight>
                  <a:srgbClr val="FFFFFF"/>
                </a:highlight>
                <a:latin typeface="Consolas" panose="020B0609020204030204" pitchFamily="49" charset="0"/>
              </a:rPr>
              <a:t>1</a:t>
            </a:r>
            <a:r>
              <a:rPr lang="en-US" b="0" i="0" dirty="0">
                <a:solidFill>
                  <a:srgbClr val="000000"/>
                </a:solidFill>
                <a:effectLst/>
                <a:highlight>
                  <a:srgbClr val="FFFFFF"/>
                </a:highlight>
                <a:latin typeface="Consolas" panose="020B0609020204030204" pitchFamily="49" charset="0"/>
              </a:rPr>
              <a:t>, </a:t>
            </a:r>
            <a:r>
              <a:rPr lang="en-US" b="0" i="0" dirty="0">
                <a:solidFill>
                  <a:srgbClr val="FF0000"/>
                </a:solidFill>
                <a:effectLst/>
                <a:highlight>
                  <a:srgbClr val="FFFFFF"/>
                </a:highlight>
                <a:latin typeface="Consolas" panose="020B0609020204030204" pitchFamily="49" charset="0"/>
              </a:rPr>
              <a:t>2</a:t>
            </a:r>
            <a:r>
              <a:rPr lang="en-US" b="0" i="0" dirty="0">
                <a:solidFill>
                  <a:srgbClr val="000000"/>
                </a:solidFill>
                <a:effectLst/>
                <a:highlight>
                  <a:srgbClr val="FFFFFF"/>
                </a:highlight>
                <a:latin typeface="Consolas" panose="020B0609020204030204" pitchFamily="49" charset="0"/>
              </a:rPr>
              <a:t>, </a:t>
            </a:r>
            <a:r>
              <a:rPr lang="en-US" b="0" i="0" dirty="0">
                <a:solidFill>
                  <a:srgbClr val="FF0000"/>
                </a:solidFill>
                <a:effectLst/>
                <a:highlight>
                  <a:srgbClr val="FFFFFF"/>
                </a:highlight>
                <a:latin typeface="Consolas" panose="020B0609020204030204" pitchFamily="49" charset="0"/>
              </a:rPr>
              <a:t>3</a:t>
            </a:r>
            <a:r>
              <a:rPr lang="en-US" b="0" i="0" dirty="0">
                <a:solidFill>
                  <a:srgbClr val="000000"/>
                </a:solidFill>
                <a:effectLst/>
                <a:highlight>
                  <a:srgbClr val="FFFFFF"/>
                </a:highlight>
                <a:latin typeface="Consolas" panose="020B0609020204030204" pitchFamily="49" charset="0"/>
              </a:rPr>
              <a:t>, </a:t>
            </a:r>
            <a:r>
              <a:rPr lang="en-US" b="0" i="0" dirty="0">
                <a:solidFill>
                  <a:srgbClr val="FF0000"/>
                </a:solidFill>
                <a:effectLst/>
                <a:highlight>
                  <a:srgbClr val="FFFFFF"/>
                </a:highlight>
                <a:latin typeface="Consolas" panose="020B0609020204030204" pitchFamily="49" charset="0"/>
              </a:rPr>
              <a:t>4</a:t>
            </a:r>
            <a:r>
              <a:rPr lang="en-US" b="0" i="0" dirty="0">
                <a:solidFill>
                  <a:srgbClr val="000000"/>
                </a:solidFill>
                <a:effectLst/>
                <a:highlight>
                  <a:srgbClr val="FFFFFF"/>
                </a:highlight>
                <a:latin typeface="Consolas" panose="020B0609020204030204" pitchFamily="49" charset="0"/>
              </a:rPr>
              <a:t>, </a:t>
            </a:r>
            <a:r>
              <a:rPr lang="en-US" b="0" i="0" dirty="0">
                <a:solidFill>
                  <a:srgbClr val="FF0000"/>
                </a:solidFill>
                <a:effectLst/>
                <a:highlight>
                  <a:srgbClr val="FFFFFF"/>
                </a:highlight>
                <a:latin typeface="Consolas" panose="020B0609020204030204" pitchFamily="49" charset="0"/>
              </a:rPr>
              <a:t>5</a:t>
            </a:r>
            <a:r>
              <a:rPr lang="en-US" b="0" i="0" dirty="0">
                <a:solidFill>
                  <a:srgbClr val="000000"/>
                </a:solidFill>
                <a:effectLst/>
                <a:highlight>
                  <a:srgbClr val="FFFFFF"/>
                </a:highlight>
                <a:latin typeface="Consolas" panose="020B0609020204030204" pitchFamily="49" charset="0"/>
              </a:rPr>
              <a:t>])</a:t>
            </a:r>
            <a:br>
              <a:rPr lang="en-US" dirty="0"/>
            </a:br>
            <a:r>
              <a:rPr lang="en-US" b="0" i="0" dirty="0">
                <a:solidFill>
                  <a:srgbClr val="0000CD"/>
                </a:solidFill>
                <a:effectLst/>
                <a:highlight>
                  <a:srgbClr val="FFFFFF"/>
                </a:highlight>
                <a:latin typeface="Consolas" panose="020B0609020204030204" pitchFamily="49" charset="0"/>
              </a:rPr>
              <a:t>print</a:t>
            </a:r>
            <a:r>
              <a:rPr lang="en-US" b="0" i="0" dirty="0">
                <a:solidFill>
                  <a:srgbClr val="000000"/>
                </a:solidFill>
                <a:effectLst/>
                <a:highlight>
                  <a:srgbClr val="FFFFFF"/>
                </a:highlight>
                <a:latin typeface="Consolas" panose="020B0609020204030204" pitchFamily="49" charset="0"/>
              </a:rPr>
              <a:t>(</a:t>
            </a:r>
            <a:r>
              <a:rPr lang="en-US" b="0" i="0" dirty="0" err="1">
                <a:solidFill>
                  <a:srgbClr val="000000"/>
                </a:solidFill>
                <a:effectLst/>
                <a:highlight>
                  <a:srgbClr val="FFFFFF"/>
                </a:highlight>
                <a:latin typeface="Consolas" panose="020B0609020204030204" pitchFamily="49" charset="0"/>
              </a:rPr>
              <a:t>arr</a:t>
            </a:r>
            <a:r>
              <a:rPr lang="en-US" b="0" i="0" dirty="0">
                <a:solidFill>
                  <a:srgbClr val="000000"/>
                </a:solidFill>
                <a:effectLst/>
                <a:highlight>
                  <a:srgbClr val="FFFFFF"/>
                </a:highlight>
                <a:latin typeface="Consolas" panose="020B0609020204030204" pitchFamily="49" charset="0"/>
              </a:rPr>
              <a:t>)</a:t>
            </a:r>
            <a:endParaRPr lang="en-US" b="0" i="0" dirty="0">
              <a:solidFill>
                <a:srgbClr val="333333"/>
              </a:solidFill>
              <a:effectLst/>
              <a:highlight>
                <a:srgbClr val="FFFFFF"/>
              </a:highlight>
              <a:latin typeface="Calibri" panose="020F0502020204030204" pitchFamily="34" charset="0"/>
              <a:ea typeface="Calibri" panose="020F0502020204030204" pitchFamily="34" charset="0"/>
              <a:cs typeface="Calibri" panose="020F0502020204030204" pitchFamily="34" charset="0"/>
            </a:endParaRPr>
          </a:p>
        </p:txBody>
      </p:sp>
      <p:sp>
        <p:nvSpPr>
          <p:cNvPr id="4" name="TextBox 3">
            <a:extLst>
              <a:ext uri="{FF2B5EF4-FFF2-40B4-BE49-F238E27FC236}">
                <a16:creationId xmlns:a16="http://schemas.microsoft.com/office/drawing/2014/main" id="{6DD41DAE-8EC8-1325-2A9A-FA9EBCA48230}"/>
              </a:ext>
            </a:extLst>
          </p:cNvPr>
          <p:cNvSpPr txBox="1"/>
          <p:nvPr/>
        </p:nvSpPr>
        <p:spPr>
          <a:xfrm>
            <a:off x="5739960" y="1727568"/>
            <a:ext cx="4986132" cy="1711046"/>
          </a:xfrm>
          <a:prstGeom prst="rect">
            <a:avLst/>
          </a:prstGeom>
          <a:noFill/>
          <a:ln w="6350">
            <a:solidFill>
              <a:schemeClr val="tx1"/>
            </a:solidFill>
          </a:ln>
        </p:spPr>
        <p:txBody>
          <a:bodyPr wrap="square">
            <a:spAutoFit/>
          </a:bodyPr>
          <a:lstStyle/>
          <a:p>
            <a:pPr algn="ctr">
              <a:lnSpc>
                <a:spcPct val="150000"/>
              </a:lnSpc>
            </a:pPr>
            <a:r>
              <a:rPr lang="en-IN" b="1" u="sng" dirty="0">
                <a:solidFill>
                  <a:srgbClr val="273239"/>
                </a:solidFill>
                <a:highlight>
                  <a:srgbClr val="FFFFFF"/>
                </a:highlight>
                <a:latin typeface="Calibri" panose="020F0502020204030204" pitchFamily="34" charset="0"/>
                <a:ea typeface="Calibri" panose="020F0502020204030204" pitchFamily="34" charset="0"/>
                <a:cs typeface="Calibri" panose="020F0502020204030204" pitchFamily="34" charset="0"/>
              </a:rPr>
              <a:t>2-D Arrays</a:t>
            </a:r>
          </a:p>
          <a:p>
            <a:pPr>
              <a:lnSpc>
                <a:spcPct val="150000"/>
              </a:lnSpc>
            </a:pPr>
            <a:r>
              <a:rPr lang="en-US" b="0" i="0" dirty="0">
                <a:solidFill>
                  <a:srgbClr val="0000CD"/>
                </a:solidFill>
                <a:effectLst/>
                <a:highlight>
                  <a:srgbClr val="FFFFFF"/>
                </a:highlight>
                <a:latin typeface="Consolas" panose="020B0609020204030204" pitchFamily="49" charset="0"/>
              </a:rPr>
              <a:t>import</a:t>
            </a:r>
            <a:r>
              <a:rPr lang="en-US" b="0" i="0" dirty="0">
                <a:solidFill>
                  <a:srgbClr val="000000"/>
                </a:solidFill>
                <a:effectLst/>
                <a:highlight>
                  <a:srgbClr val="FFFFFF"/>
                </a:highlight>
                <a:latin typeface="Consolas" panose="020B0609020204030204" pitchFamily="49" charset="0"/>
              </a:rPr>
              <a:t> </a:t>
            </a:r>
            <a:r>
              <a:rPr lang="en-US" b="0" i="0" dirty="0" err="1">
                <a:solidFill>
                  <a:srgbClr val="000000"/>
                </a:solidFill>
                <a:effectLst/>
                <a:highlight>
                  <a:srgbClr val="FFFFFF"/>
                </a:highlight>
                <a:latin typeface="Consolas" panose="020B0609020204030204" pitchFamily="49" charset="0"/>
              </a:rPr>
              <a:t>numpy</a:t>
            </a:r>
            <a:r>
              <a:rPr lang="en-US" b="0" i="0" dirty="0">
                <a:solidFill>
                  <a:srgbClr val="000000"/>
                </a:solidFill>
                <a:effectLst/>
                <a:highlight>
                  <a:srgbClr val="FFFFFF"/>
                </a:highlight>
                <a:latin typeface="Consolas" panose="020B0609020204030204" pitchFamily="49" charset="0"/>
              </a:rPr>
              <a:t> </a:t>
            </a:r>
            <a:r>
              <a:rPr lang="en-US" b="0" i="0" dirty="0">
                <a:solidFill>
                  <a:srgbClr val="0000CD"/>
                </a:solidFill>
                <a:effectLst/>
                <a:highlight>
                  <a:srgbClr val="FFFFFF"/>
                </a:highlight>
                <a:latin typeface="Consolas" panose="020B0609020204030204" pitchFamily="49" charset="0"/>
              </a:rPr>
              <a:t>as</a:t>
            </a:r>
            <a:r>
              <a:rPr lang="en-US" b="0" i="0" dirty="0">
                <a:solidFill>
                  <a:srgbClr val="000000"/>
                </a:solidFill>
                <a:effectLst/>
                <a:highlight>
                  <a:srgbClr val="FFFFFF"/>
                </a:highlight>
                <a:latin typeface="Consolas" panose="020B0609020204030204" pitchFamily="49" charset="0"/>
              </a:rPr>
              <a:t> np</a:t>
            </a:r>
            <a:br>
              <a:rPr lang="en-US" dirty="0"/>
            </a:br>
            <a:r>
              <a:rPr lang="en-US" b="0" i="0" dirty="0" err="1">
                <a:solidFill>
                  <a:srgbClr val="000000"/>
                </a:solidFill>
                <a:effectLst/>
                <a:highlight>
                  <a:srgbClr val="FFFFFF"/>
                </a:highlight>
                <a:latin typeface="Consolas" panose="020B0609020204030204" pitchFamily="49" charset="0"/>
              </a:rPr>
              <a:t>arr</a:t>
            </a:r>
            <a:r>
              <a:rPr lang="en-US" b="0" i="0" dirty="0">
                <a:solidFill>
                  <a:srgbClr val="000000"/>
                </a:solidFill>
                <a:effectLst/>
                <a:highlight>
                  <a:srgbClr val="FFFFFF"/>
                </a:highlight>
                <a:latin typeface="Consolas" panose="020B0609020204030204" pitchFamily="49" charset="0"/>
              </a:rPr>
              <a:t> = </a:t>
            </a:r>
            <a:r>
              <a:rPr lang="en-US" b="0" i="0" dirty="0" err="1">
                <a:solidFill>
                  <a:srgbClr val="000000"/>
                </a:solidFill>
                <a:effectLst/>
                <a:highlight>
                  <a:srgbClr val="FFFFFF"/>
                </a:highlight>
                <a:latin typeface="Consolas" panose="020B0609020204030204" pitchFamily="49" charset="0"/>
              </a:rPr>
              <a:t>np.array</a:t>
            </a:r>
            <a:r>
              <a:rPr lang="en-US" b="0" i="0" dirty="0">
                <a:solidFill>
                  <a:srgbClr val="000000"/>
                </a:solidFill>
                <a:effectLst/>
                <a:highlight>
                  <a:srgbClr val="FFFFFF"/>
                </a:highlight>
                <a:latin typeface="Consolas" panose="020B0609020204030204" pitchFamily="49" charset="0"/>
              </a:rPr>
              <a:t>([[</a:t>
            </a:r>
            <a:r>
              <a:rPr lang="en-US" b="0" i="0" dirty="0">
                <a:solidFill>
                  <a:srgbClr val="FF0000"/>
                </a:solidFill>
                <a:effectLst/>
                <a:highlight>
                  <a:srgbClr val="FFFFFF"/>
                </a:highlight>
                <a:latin typeface="Consolas" panose="020B0609020204030204" pitchFamily="49" charset="0"/>
              </a:rPr>
              <a:t>1</a:t>
            </a:r>
            <a:r>
              <a:rPr lang="en-US" b="0" i="0" dirty="0">
                <a:solidFill>
                  <a:srgbClr val="000000"/>
                </a:solidFill>
                <a:effectLst/>
                <a:highlight>
                  <a:srgbClr val="FFFFFF"/>
                </a:highlight>
                <a:latin typeface="Consolas" panose="020B0609020204030204" pitchFamily="49" charset="0"/>
              </a:rPr>
              <a:t>, </a:t>
            </a:r>
            <a:r>
              <a:rPr lang="en-US" b="0" i="0" dirty="0">
                <a:solidFill>
                  <a:srgbClr val="FF0000"/>
                </a:solidFill>
                <a:effectLst/>
                <a:highlight>
                  <a:srgbClr val="FFFFFF"/>
                </a:highlight>
                <a:latin typeface="Consolas" panose="020B0609020204030204" pitchFamily="49" charset="0"/>
              </a:rPr>
              <a:t>2</a:t>
            </a:r>
            <a:r>
              <a:rPr lang="en-US" b="0" i="0" dirty="0">
                <a:solidFill>
                  <a:srgbClr val="000000"/>
                </a:solidFill>
                <a:effectLst/>
                <a:highlight>
                  <a:srgbClr val="FFFFFF"/>
                </a:highlight>
                <a:latin typeface="Consolas" panose="020B0609020204030204" pitchFamily="49" charset="0"/>
              </a:rPr>
              <a:t>, </a:t>
            </a:r>
            <a:r>
              <a:rPr lang="en-US" b="0" i="0" dirty="0">
                <a:solidFill>
                  <a:srgbClr val="FF0000"/>
                </a:solidFill>
                <a:effectLst/>
                <a:highlight>
                  <a:srgbClr val="FFFFFF"/>
                </a:highlight>
                <a:latin typeface="Consolas" panose="020B0609020204030204" pitchFamily="49" charset="0"/>
              </a:rPr>
              <a:t>3</a:t>
            </a:r>
            <a:r>
              <a:rPr lang="en-US" b="0" i="0" dirty="0">
                <a:solidFill>
                  <a:srgbClr val="000000"/>
                </a:solidFill>
                <a:effectLst/>
                <a:highlight>
                  <a:srgbClr val="FFFFFF"/>
                </a:highlight>
                <a:latin typeface="Consolas" panose="020B0609020204030204" pitchFamily="49" charset="0"/>
              </a:rPr>
              <a:t>], [</a:t>
            </a:r>
            <a:r>
              <a:rPr lang="en-US" b="0" i="0" dirty="0">
                <a:solidFill>
                  <a:srgbClr val="FF0000"/>
                </a:solidFill>
                <a:effectLst/>
                <a:highlight>
                  <a:srgbClr val="FFFFFF"/>
                </a:highlight>
                <a:latin typeface="Consolas" panose="020B0609020204030204" pitchFamily="49" charset="0"/>
              </a:rPr>
              <a:t>4</a:t>
            </a:r>
            <a:r>
              <a:rPr lang="en-US" b="0" i="0" dirty="0">
                <a:solidFill>
                  <a:srgbClr val="000000"/>
                </a:solidFill>
                <a:effectLst/>
                <a:highlight>
                  <a:srgbClr val="FFFFFF"/>
                </a:highlight>
                <a:latin typeface="Consolas" panose="020B0609020204030204" pitchFamily="49" charset="0"/>
              </a:rPr>
              <a:t>, </a:t>
            </a:r>
            <a:r>
              <a:rPr lang="en-US" b="0" i="0" dirty="0">
                <a:solidFill>
                  <a:srgbClr val="FF0000"/>
                </a:solidFill>
                <a:effectLst/>
                <a:highlight>
                  <a:srgbClr val="FFFFFF"/>
                </a:highlight>
                <a:latin typeface="Consolas" panose="020B0609020204030204" pitchFamily="49" charset="0"/>
              </a:rPr>
              <a:t>5</a:t>
            </a:r>
            <a:r>
              <a:rPr lang="en-US" b="0" i="0" dirty="0">
                <a:solidFill>
                  <a:srgbClr val="000000"/>
                </a:solidFill>
                <a:effectLst/>
                <a:highlight>
                  <a:srgbClr val="FFFFFF"/>
                </a:highlight>
                <a:latin typeface="Consolas" panose="020B0609020204030204" pitchFamily="49" charset="0"/>
              </a:rPr>
              <a:t>, </a:t>
            </a:r>
            <a:r>
              <a:rPr lang="en-US" b="0" i="0" dirty="0">
                <a:solidFill>
                  <a:srgbClr val="FF0000"/>
                </a:solidFill>
                <a:effectLst/>
                <a:highlight>
                  <a:srgbClr val="FFFFFF"/>
                </a:highlight>
                <a:latin typeface="Consolas" panose="020B0609020204030204" pitchFamily="49" charset="0"/>
              </a:rPr>
              <a:t>6</a:t>
            </a:r>
            <a:r>
              <a:rPr lang="en-US" b="0" i="0" dirty="0">
                <a:solidFill>
                  <a:srgbClr val="000000"/>
                </a:solidFill>
                <a:effectLst/>
                <a:highlight>
                  <a:srgbClr val="FFFFFF"/>
                </a:highlight>
                <a:latin typeface="Consolas" panose="020B0609020204030204" pitchFamily="49" charset="0"/>
              </a:rPr>
              <a:t>]])</a:t>
            </a:r>
            <a:br>
              <a:rPr lang="en-US" dirty="0"/>
            </a:br>
            <a:r>
              <a:rPr lang="en-US" b="0" i="0" dirty="0">
                <a:solidFill>
                  <a:srgbClr val="0000CD"/>
                </a:solidFill>
                <a:effectLst/>
                <a:highlight>
                  <a:srgbClr val="FFFFFF"/>
                </a:highlight>
                <a:latin typeface="Consolas" panose="020B0609020204030204" pitchFamily="49" charset="0"/>
              </a:rPr>
              <a:t>print</a:t>
            </a:r>
            <a:r>
              <a:rPr lang="en-US" b="0" i="0" dirty="0">
                <a:solidFill>
                  <a:srgbClr val="000000"/>
                </a:solidFill>
                <a:effectLst/>
                <a:highlight>
                  <a:srgbClr val="FFFFFF"/>
                </a:highlight>
                <a:latin typeface="Consolas" panose="020B0609020204030204" pitchFamily="49" charset="0"/>
              </a:rPr>
              <a:t>(</a:t>
            </a:r>
            <a:r>
              <a:rPr lang="en-US" b="0" i="0" dirty="0" err="1">
                <a:solidFill>
                  <a:srgbClr val="000000"/>
                </a:solidFill>
                <a:effectLst/>
                <a:highlight>
                  <a:srgbClr val="FFFFFF"/>
                </a:highlight>
                <a:latin typeface="Consolas" panose="020B0609020204030204" pitchFamily="49" charset="0"/>
              </a:rPr>
              <a:t>arr</a:t>
            </a:r>
            <a:r>
              <a:rPr lang="en-US" b="0" i="0" dirty="0">
                <a:solidFill>
                  <a:srgbClr val="000000"/>
                </a:solidFill>
                <a:effectLst/>
                <a:highlight>
                  <a:srgbClr val="FFFFFF"/>
                </a:highlight>
                <a:latin typeface="Consolas" panose="020B0609020204030204" pitchFamily="49" charset="0"/>
              </a:rPr>
              <a:t>)</a:t>
            </a:r>
            <a:endParaRPr lang="en-US" b="0" i="0" dirty="0">
              <a:solidFill>
                <a:srgbClr val="333333"/>
              </a:solidFill>
              <a:effectLst/>
              <a:highlight>
                <a:srgbClr val="FFFFFF"/>
              </a:highlight>
              <a:latin typeface="Calibri" panose="020F0502020204030204" pitchFamily="34" charset="0"/>
              <a:ea typeface="Calibri" panose="020F0502020204030204" pitchFamily="34" charset="0"/>
              <a:cs typeface="Calibri" panose="020F0502020204030204" pitchFamily="34" charset="0"/>
            </a:endParaRPr>
          </a:p>
        </p:txBody>
      </p:sp>
      <p:sp>
        <p:nvSpPr>
          <p:cNvPr id="6" name="TextBox 5">
            <a:extLst>
              <a:ext uri="{FF2B5EF4-FFF2-40B4-BE49-F238E27FC236}">
                <a16:creationId xmlns:a16="http://schemas.microsoft.com/office/drawing/2014/main" id="{6EBBE7A1-05CB-BFF8-A4ED-F6F0C926D8C0}"/>
              </a:ext>
            </a:extLst>
          </p:cNvPr>
          <p:cNvSpPr txBox="1"/>
          <p:nvPr/>
        </p:nvSpPr>
        <p:spPr>
          <a:xfrm>
            <a:off x="4713336" y="3802989"/>
            <a:ext cx="7039381" cy="1711046"/>
          </a:xfrm>
          <a:prstGeom prst="rect">
            <a:avLst/>
          </a:prstGeom>
          <a:noFill/>
          <a:ln w="6350">
            <a:solidFill>
              <a:schemeClr val="tx1"/>
            </a:solidFill>
          </a:ln>
        </p:spPr>
        <p:txBody>
          <a:bodyPr wrap="square">
            <a:spAutoFit/>
          </a:bodyPr>
          <a:lstStyle/>
          <a:p>
            <a:pPr algn="ctr">
              <a:lnSpc>
                <a:spcPct val="150000"/>
              </a:lnSpc>
            </a:pPr>
            <a:r>
              <a:rPr lang="en-IN" b="1" u="sng" dirty="0">
                <a:solidFill>
                  <a:srgbClr val="273239"/>
                </a:solidFill>
                <a:highlight>
                  <a:srgbClr val="FFFFFF"/>
                </a:highlight>
                <a:latin typeface="Calibri" panose="020F0502020204030204" pitchFamily="34" charset="0"/>
                <a:ea typeface="Calibri" panose="020F0502020204030204" pitchFamily="34" charset="0"/>
                <a:cs typeface="Calibri" panose="020F0502020204030204" pitchFamily="34" charset="0"/>
              </a:rPr>
              <a:t>3-D Arrays</a:t>
            </a:r>
          </a:p>
          <a:p>
            <a:pPr>
              <a:lnSpc>
                <a:spcPct val="150000"/>
              </a:lnSpc>
            </a:pPr>
            <a:r>
              <a:rPr lang="en-US" b="0" i="0" dirty="0">
                <a:solidFill>
                  <a:srgbClr val="0000CD"/>
                </a:solidFill>
                <a:effectLst/>
                <a:highlight>
                  <a:srgbClr val="FFFFFF"/>
                </a:highlight>
                <a:latin typeface="Consolas" panose="020B0609020204030204" pitchFamily="49" charset="0"/>
              </a:rPr>
              <a:t>import</a:t>
            </a:r>
            <a:r>
              <a:rPr lang="en-US" b="0" i="0" dirty="0">
                <a:solidFill>
                  <a:srgbClr val="000000"/>
                </a:solidFill>
                <a:effectLst/>
                <a:highlight>
                  <a:srgbClr val="FFFFFF"/>
                </a:highlight>
                <a:latin typeface="Consolas" panose="020B0609020204030204" pitchFamily="49" charset="0"/>
              </a:rPr>
              <a:t> </a:t>
            </a:r>
            <a:r>
              <a:rPr lang="en-US" b="0" i="0" dirty="0" err="1">
                <a:solidFill>
                  <a:srgbClr val="000000"/>
                </a:solidFill>
                <a:effectLst/>
                <a:highlight>
                  <a:srgbClr val="FFFFFF"/>
                </a:highlight>
                <a:latin typeface="Consolas" panose="020B0609020204030204" pitchFamily="49" charset="0"/>
              </a:rPr>
              <a:t>numpy</a:t>
            </a:r>
            <a:r>
              <a:rPr lang="en-US" b="0" i="0" dirty="0">
                <a:solidFill>
                  <a:srgbClr val="000000"/>
                </a:solidFill>
                <a:effectLst/>
                <a:highlight>
                  <a:srgbClr val="FFFFFF"/>
                </a:highlight>
                <a:latin typeface="Consolas" panose="020B0609020204030204" pitchFamily="49" charset="0"/>
              </a:rPr>
              <a:t> </a:t>
            </a:r>
            <a:r>
              <a:rPr lang="en-US" b="0" i="0" dirty="0">
                <a:solidFill>
                  <a:srgbClr val="0000CD"/>
                </a:solidFill>
                <a:effectLst/>
                <a:highlight>
                  <a:srgbClr val="FFFFFF"/>
                </a:highlight>
                <a:latin typeface="Consolas" panose="020B0609020204030204" pitchFamily="49" charset="0"/>
              </a:rPr>
              <a:t>as</a:t>
            </a:r>
            <a:r>
              <a:rPr lang="en-US" b="0" i="0" dirty="0">
                <a:solidFill>
                  <a:srgbClr val="000000"/>
                </a:solidFill>
                <a:effectLst/>
                <a:highlight>
                  <a:srgbClr val="FFFFFF"/>
                </a:highlight>
                <a:latin typeface="Consolas" panose="020B0609020204030204" pitchFamily="49" charset="0"/>
              </a:rPr>
              <a:t> np</a:t>
            </a:r>
            <a:br>
              <a:rPr lang="en-US" dirty="0"/>
            </a:br>
            <a:r>
              <a:rPr lang="en-US" b="0" i="0" dirty="0" err="1">
                <a:solidFill>
                  <a:srgbClr val="000000"/>
                </a:solidFill>
                <a:effectLst/>
                <a:highlight>
                  <a:srgbClr val="FFFFFF"/>
                </a:highlight>
                <a:latin typeface="Consolas" panose="020B0609020204030204" pitchFamily="49" charset="0"/>
              </a:rPr>
              <a:t>arr</a:t>
            </a:r>
            <a:r>
              <a:rPr lang="en-US" b="0" i="0" dirty="0">
                <a:solidFill>
                  <a:srgbClr val="000000"/>
                </a:solidFill>
                <a:effectLst/>
                <a:highlight>
                  <a:srgbClr val="FFFFFF"/>
                </a:highlight>
                <a:latin typeface="Consolas" panose="020B0609020204030204" pitchFamily="49" charset="0"/>
              </a:rPr>
              <a:t> = </a:t>
            </a:r>
            <a:r>
              <a:rPr lang="en-US" b="0" i="0" dirty="0" err="1">
                <a:solidFill>
                  <a:srgbClr val="000000"/>
                </a:solidFill>
                <a:effectLst/>
                <a:highlight>
                  <a:srgbClr val="FFFFFF"/>
                </a:highlight>
                <a:latin typeface="Consolas" panose="020B0609020204030204" pitchFamily="49" charset="0"/>
              </a:rPr>
              <a:t>np.array</a:t>
            </a:r>
            <a:r>
              <a:rPr lang="en-US" b="0" i="0" dirty="0">
                <a:solidFill>
                  <a:srgbClr val="000000"/>
                </a:solidFill>
                <a:effectLst/>
                <a:highlight>
                  <a:srgbClr val="FFFFFF"/>
                </a:highlight>
                <a:latin typeface="Consolas" panose="020B0609020204030204" pitchFamily="49" charset="0"/>
              </a:rPr>
              <a:t>([[[</a:t>
            </a:r>
            <a:r>
              <a:rPr lang="en-US" b="0" i="0" dirty="0">
                <a:solidFill>
                  <a:srgbClr val="FF0000"/>
                </a:solidFill>
                <a:effectLst/>
                <a:highlight>
                  <a:srgbClr val="FFFFFF"/>
                </a:highlight>
                <a:latin typeface="Consolas" panose="020B0609020204030204" pitchFamily="49" charset="0"/>
              </a:rPr>
              <a:t>1</a:t>
            </a:r>
            <a:r>
              <a:rPr lang="en-US" b="0" i="0" dirty="0">
                <a:solidFill>
                  <a:srgbClr val="000000"/>
                </a:solidFill>
                <a:effectLst/>
                <a:highlight>
                  <a:srgbClr val="FFFFFF"/>
                </a:highlight>
                <a:latin typeface="Consolas" panose="020B0609020204030204" pitchFamily="49" charset="0"/>
              </a:rPr>
              <a:t>,</a:t>
            </a:r>
            <a:r>
              <a:rPr lang="en-US" b="0" i="0" dirty="0">
                <a:solidFill>
                  <a:srgbClr val="FF0000"/>
                </a:solidFill>
                <a:effectLst/>
                <a:highlight>
                  <a:srgbClr val="FFFFFF"/>
                </a:highlight>
                <a:latin typeface="Consolas" panose="020B0609020204030204" pitchFamily="49" charset="0"/>
              </a:rPr>
              <a:t>2</a:t>
            </a:r>
            <a:r>
              <a:rPr lang="en-US" b="0" i="0" dirty="0">
                <a:solidFill>
                  <a:srgbClr val="000000"/>
                </a:solidFill>
                <a:effectLst/>
                <a:highlight>
                  <a:srgbClr val="FFFFFF"/>
                </a:highlight>
                <a:latin typeface="Consolas" panose="020B0609020204030204" pitchFamily="49" charset="0"/>
              </a:rPr>
              <a:t>,</a:t>
            </a:r>
            <a:r>
              <a:rPr lang="en-US" b="0" i="0" dirty="0">
                <a:solidFill>
                  <a:srgbClr val="FF0000"/>
                </a:solidFill>
                <a:effectLst/>
                <a:highlight>
                  <a:srgbClr val="FFFFFF"/>
                </a:highlight>
                <a:latin typeface="Consolas" panose="020B0609020204030204" pitchFamily="49" charset="0"/>
              </a:rPr>
              <a:t>3</a:t>
            </a:r>
            <a:r>
              <a:rPr lang="en-US" b="0" i="0" dirty="0">
                <a:solidFill>
                  <a:srgbClr val="000000"/>
                </a:solidFill>
                <a:effectLst/>
                <a:highlight>
                  <a:srgbClr val="FFFFFF"/>
                </a:highlight>
                <a:latin typeface="Consolas" panose="020B0609020204030204" pitchFamily="49" charset="0"/>
              </a:rPr>
              <a:t>],[</a:t>
            </a:r>
            <a:r>
              <a:rPr lang="en-US" b="0" i="0" dirty="0">
                <a:solidFill>
                  <a:srgbClr val="FF0000"/>
                </a:solidFill>
                <a:effectLst/>
                <a:highlight>
                  <a:srgbClr val="FFFFFF"/>
                </a:highlight>
                <a:latin typeface="Consolas" panose="020B0609020204030204" pitchFamily="49" charset="0"/>
              </a:rPr>
              <a:t>4</a:t>
            </a:r>
            <a:r>
              <a:rPr lang="en-US" b="0" i="0" dirty="0">
                <a:solidFill>
                  <a:srgbClr val="000000"/>
                </a:solidFill>
                <a:effectLst/>
                <a:highlight>
                  <a:srgbClr val="FFFFFF"/>
                </a:highlight>
                <a:latin typeface="Consolas" panose="020B0609020204030204" pitchFamily="49" charset="0"/>
              </a:rPr>
              <a:t>,</a:t>
            </a:r>
            <a:r>
              <a:rPr lang="en-US" b="0" i="0" dirty="0">
                <a:solidFill>
                  <a:srgbClr val="FF0000"/>
                </a:solidFill>
                <a:effectLst/>
                <a:highlight>
                  <a:srgbClr val="FFFFFF"/>
                </a:highlight>
                <a:latin typeface="Consolas" panose="020B0609020204030204" pitchFamily="49" charset="0"/>
              </a:rPr>
              <a:t>5</a:t>
            </a:r>
            <a:r>
              <a:rPr lang="en-US" b="0" i="0" dirty="0">
                <a:solidFill>
                  <a:srgbClr val="000000"/>
                </a:solidFill>
                <a:effectLst/>
                <a:highlight>
                  <a:srgbClr val="FFFFFF"/>
                </a:highlight>
                <a:latin typeface="Consolas" panose="020B0609020204030204" pitchFamily="49" charset="0"/>
              </a:rPr>
              <a:t>,</a:t>
            </a:r>
            <a:r>
              <a:rPr lang="en-US" b="0" i="0" dirty="0">
                <a:solidFill>
                  <a:srgbClr val="FF0000"/>
                </a:solidFill>
                <a:effectLst/>
                <a:highlight>
                  <a:srgbClr val="FFFFFF"/>
                </a:highlight>
                <a:latin typeface="Consolas" panose="020B0609020204030204" pitchFamily="49" charset="0"/>
              </a:rPr>
              <a:t>6</a:t>
            </a:r>
            <a:r>
              <a:rPr lang="en-US" b="0" i="0" dirty="0">
                <a:solidFill>
                  <a:srgbClr val="000000"/>
                </a:solidFill>
                <a:effectLst/>
                <a:highlight>
                  <a:srgbClr val="FFFFFF"/>
                </a:highlight>
                <a:latin typeface="Consolas" panose="020B0609020204030204" pitchFamily="49" charset="0"/>
              </a:rPr>
              <a:t>]],[[</a:t>
            </a:r>
            <a:r>
              <a:rPr lang="en-US" b="0" i="0" dirty="0">
                <a:solidFill>
                  <a:srgbClr val="FF0000"/>
                </a:solidFill>
                <a:effectLst/>
                <a:highlight>
                  <a:srgbClr val="FFFFFF"/>
                </a:highlight>
                <a:latin typeface="Consolas" panose="020B0609020204030204" pitchFamily="49" charset="0"/>
              </a:rPr>
              <a:t>1</a:t>
            </a:r>
            <a:r>
              <a:rPr lang="en-US" b="0" i="0" dirty="0">
                <a:solidFill>
                  <a:srgbClr val="000000"/>
                </a:solidFill>
                <a:effectLst/>
                <a:highlight>
                  <a:srgbClr val="FFFFFF"/>
                </a:highlight>
                <a:latin typeface="Consolas" panose="020B0609020204030204" pitchFamily="49" charset="0"/>
              </a:rPr>
              <a:t>,</a:t>
            </a:r>
            <a:r>
              <a:rPr lang="en-US" b="0" i="0" dirty="0">
                <a:solidFill>
                  <a:srgbClr val="FF0000"/>
                </a:solidFill>
                <a:effectLst/>
                <a:highlight>
                  <a:srgbClr val="FFFFFF"/>
                </a:highlight>
                <a:latin typeface="Consolas" panose="020B0609020204030204" pitchFamily="49" charset="0"/>
              </a:rPr>
              <a:t>2</a:t>
            </a:r>
            <a:r>
              <a:rPr lang="en-US" b="0" i="0" dirty="0">
                <a:solidFill>
                  <a:srgbClr val="000000"/>
                </a:solidFill>
                <a:effectLst/>
                <a:highlight>
                  <a:srgbClr val="FFFFFF"/>
                </a:highlight>
                <a:latin typeface="Consolas" panose="020B0609020204030204" pitchFamily="49" charset="0"/>
              </a:rPr>
              <a:t>,</a:t>
            </a:r>
            <a:r>
              <a:rPr lang="en-US" b="0" i="0" dirty="0">
                <a:solidFill>
                  <a:srgbClr val="FF0000"/>
                </a:solidFill>
                <a:effectLst/>
                <a:highlight>
                  <a:srgbClr val="FFFFFF"/>
                </a:highlight>
                <a:latin typeface="Consolas" panose="020B0609020204030204" pitchFamily="49" charset="0"/>
              </a:rPr>
              <a:t>3</a:t>
            </a:r>
            <a:r>
              <a:rPr lang="en-US" b="0" i="0" dirty="0">
                <a:solidFill>
                  <a:srgbClr val="000000"/>
                </a:solidFill>
                <a:effectLst/>
                <a:highlight>
                  <a:srgbClr val="FFFFFF"/>
                </a:highlight>
                <a:latin typeface="Consolas" panose="020B0609020204030204" pitchFamily="49" charset="0"/>
              </a:rPr>
              <a:t>],[</a:t>
            </a:r>
            <a:r>
              <a:rPr lang="en-US" b="0" i="0" dirty="0">
                <a:solidFill>
                  <a:srgbClr val="FF0000"/>
                </a:solidFill>
                <a:effectLst/>
                <a:highlight>
                  <a:srgbClr val="FFFFFF"/>
                </a:highlight>
                <a:latin typeface="Consolas" panose="020B0609020204030204" pitchFamily="49" charset="0"/>
              </a:rPr>
              <a:t>4</a:t>
            </a:r>
            <a:r>
              <a:rPr lang="en-US" b="0" i="0" dirty="0">
                <a:solidFill>
                  <a:srgbClr val="000000"/>
                </a:solidFill>
                <a:effectLst/>
                <a:highlight>
                  <a:srgbClr val="FFFFFF"/>
                </a:highlight>
                <a:latin typeface="Consolas" panose="020B0609020204030204" pitchFamily="49" charset="0"/>
              </a:rPr>
              <a:t>,</a:t>
            </a:r>
            <a:r>
              <a:rPr lang="en-US" b="0" i="0" dirty="0">
                <a:solidFill>
                  <a:srgbClr val="FF0000"/>
                </a:solidFill>
                <a:effectLst/>
                <a:highlight>
                  <a:srgbClr val="FFFFFF"/>
                </a:highlight>
                <a:latin typeface="Consolas" panose="020B0609020204030204" pitchFamily="49" charset="0"/>
              </a:rPr>
              <a:t>5</a:t>
            </a:r>
            <a:r>
              <a:rPr lang="en-US" b="0" i="0" dirty="0">
                <a:solidFill>
                  <a:srgbClr val="000000"/>
                </a:solidFill>
                <a:effectLst/>
                <a:highlight>
                  <a:srgbClr val="FFFFFF"/>
                </a:highlight>
                <a:latin typeface="Consolas" panose="020B0609020204030204" pitchFamily="49" charset="0"/>
              </a:rPr>
              <a:t>,</a:t>
            </a:r>
            <a:r>
              <a:rPr lang="en-US" b="0" i="0" dirty="0">
                <a:solidFill>
                  <a:srgbClr val="FF0000"/>
                </a:solidFill>
                <a:effectLst/>
                <a:highlight>
                  <a:srgbClr val="FFFFFF"/>
                </a:highlight>
                <a:latin typeface="Consolas" panose="020B0609020204030204" pitchFamily="49" charset="0"/>
              </a:rPr>
              <a:t>6</a:t>
            </a:r>
            <a:r>
              <a:rPr lang="en-US" b="0" i="0" dirty="0">
                <a:solidFill>
                  <a:srgbClr val="000000"/>
                </a:solidFill>
                <a:effectLst/>
                <a:highlight>
                  <a:srgbClr val="FFFFFF"/>
                </a:highlight>
                <a:latin typeface="Consolas" panose="020B0609020204030204" pitchFamily="49" charset="0"/>
              </a:rPr>
              <a:t>]]])</a:t>
            </a:r>
            <a:br>
              <a:rPr lang="en-US" dirty="0"/>
            </a:br>
            <a:r>
              <a:rPr lang="en-US" b="0" i="0" dirty="0">
                <a:solidFill>
                  <a:srgbClr val="0000CD"/>
                </a:solidFill>
                <a:effectLst/>
                <a:highlight>
                  <a:srgbClr val="FFFFFF"/>
                </a:highlight>
                <a:latin typeface="Consolas" panose="020B0609020204030204" pitchFamily="49" charset="0"/>
              </a:rPr>
              <a:t>print</a:t>
            </a:r>
            <a:r>
              <a:rPr lang="en-US" b="0" i="0" dirty="0">
                <a:solidFill>
                  <a:srgbClr val="000000"/>
                </a:solidFill>
                <a:effectLst/>
                <a:highlight>
                  <a:srgbClr val="FFFFFF"/>
                </a:highlight>
                <a:latin typeface="Consolas" panose="020B0609020204030204" pitchFamily="49" charset="0"/>
              </a:rPr>
              <a:t>(</a:t>
            </a:r>
            <a:r>
              <a:rPr lang="en-US" b="0" i="0" dirty="0" err="1">
                <a:solidFill>
                  <a:srgbClr val="000000"/>
                </a:solidFill>
                <a:effectLst/>
                <a:highlight>
                  <a:srgbClr val="FFFFFF"/>
                </a:highlight>
                <a:latin typeface="Consolas" panose="020B0609020204030204" pitchFamily="49" charset="0"/>
              </a:rPr>
              <a:t>arr</a:t>
            </a:r>
            <a:r>
              <a:rPr lang="en-US" b="0" i="0" dirty="0">
                <a:solidFill>
                  <a:srgbClr val="000000"/>
                </a:solidFill>
                <a:effectLst/>
                <a:highlight>
                  <a:srgbClr val="FFFFFF"/>
                </a:highlight>
                <a:latin typeface="Consolas" panose="020B0609020204030204" pitchFamily="49" charset="0"/>
              </a:rPr>
              <a:t>)</a:t>
            </a:r>
            <a:endParaRPr lang="en-US" b="0" i="0" dirty="0">
              <a:solidFill>
                <a:srgbClr val="333333"/>
              </a:solidFill>
              <a:effectLst/>
              <a:highlight>
                <a:srgbClr val="FFFFFF"/>
              </a:highlight>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10159582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Table 8">
            <a:extLst>
              <a:ext uri="{FF2B5EF4-FFF2-40B4-BE49-F238E27FC236}">
                <a16:creationId xmlns:a16="http://schemas.microsoft.com/office/drawing/2014/main" id="{0B6EC464-4750-5FF3-7A5A-15612BA6E293}"/>
              </a:ext>
            </a:extLst>
          </p:cNvPr>
          <p:cNvGraphicFramePr>
            <a:graphicFrameLocks noGrp="1"/>
          </p:cNvGraphicFramePr>
          <p:nvPr/>
        </p:nvGraphicFramePr>
        <p:xfrm>
          <a:off x="0" y="23812"/>
          <a:ext cx="12192000" cy="465287"/>
        </p:xfrm>
        <a:graphic>
          <a:graphicData uri="http://schemas.openxmlformats.org/drawingml/2006/table">
            <a:tbl>
              <a:tblPr firstRow="1" bandRow="1">
                <a:tableStyleId>{5C22544A-7EE6-4342-B048-85BDC9FD1C3A}</a:tableStyleId>
              </a:tblPr>
              <a:tblGrid>
                <a:gridCol w="6092042">
                  <a:extLst>
                    <a:ext uri="{9D8B030D-6E8A-4147-A177-3AD203B41FA5}">
                      <a16:colId xmlns:a16="http://schemas.microsoft.com/office/drawing/2014/main" val="2179694530"/>
                    </a:ext>
                  </a:extLst>
                </a:gridCol>
                <a:gridCol w="6099958">
                  <a:extLst>
                    <a:ext uri="{9D8B030D-6E8A-4147-A177-3AD203B41FA5}">
                      <a16:colId xmlns:a16="http://schemas.microsoft.com/office/drawing/2014/main" val="2768207918"/>
                    </a:ext>
                  </a:extLst>
                </a:gridCol>
              </a:tblGrid>
              <a:tr h="465287">
                <a:tc>
                  <a:txBody>
                    <a:bodyPr/>
                    <a:lstStyle/>
                    <a:p>
                      <a:endParaRPr lang="en-US" dirty="0"/>
                    </a:p>
                  </a:txBody>
                  <a:tcPr>
                    <a:solidFill>
                      <a:srgbClr val="FF85FF"/>
                    </a:solidFill>
                  </a:tcPr>
                </a:tc>
                <a:tc>
                  <a:txBody>
                    <a:bodyPr/>
                    <a:lstStyle/>
                    <a:p>
                      <a:endParaRPr lang="en-US" dirty="0"/>
                    </a:p>
                  </a:txBody>
                  <a:tcPr>
                    <a:solidFill>
                      <a:srgbClr val="FFFF00"/>
                    </a:solidFill>
                  </a:tcPr>
                </a:tc>
                <a:extLst>
                  <a:ext uri="{0D108BD9-81ED-4DB2-BD59-A6C34878D82A}">
                    <a16:rowId xmlns:a16="http://schemas.microsoft.com/office/drawing/2014/main" val="1996944423"/>
                  </a:ext>
                </a:extLst>
              </a:tr>
            </a:tbl>
          </a:graphicData>
        </a:graphic>
      </p:graphicFrame>
      <p:graphicFrame>
        <p:nvGraphicFramePr>
          <p:cNvPr id="10" name="Table 9">
            <a:extLst>
              <a:ext uri="{FF2B5EF4-FFF2-40B4-BE49-F238E27FC236}">
                <a16:creationId xmlns:a16="http://schemas.microsoft.com/office/drawing/2014/main" id="{494BAFB7-FE1F-E1A9-7A6C-AB4145BD9BA1}"/>
              </a:ext>
            </a:extLst>
          </p:cNvPr>
          <p:cNvGraphicFramePr>
            <a:graphicFrameLocks noGrp="1"/>
          </p:cNvGraphicFramePr>
          <p:nvPr>
            <p:extLst>
              <p:ext uri="{D42A27DB-BD31-4B8C-83A1-F6EECF244321}">
                <p14:modId xmlns:p14="http://schemas.microsoft.com/office/powerpoint/2010/main" val="2609166595"/>
              </p:ext>
            </p:extLst>
          </p:nvPr>
        </p:nvGraphicFramePr>
        <p:xfrm>
          <a:off x="1" y="6478892"/>
          <a:ext cx="12191999" cy="370840"/>
        </p:xfrm>
        <a:graphic>
          <a:graphicData uri="http://schemas.openxmlformats.org/drawingml/2006/table">
            <a:tbl>
              <a:tblPr firstRow="1" bandRow="1">
                <a:tableStyleId>{5C22544A-7EE6-4342-B048-85BDC9FD1C3A}</a:tableStyleId>
              </a:tblPr>
              <a:tblGrid>
                <a:gridCol w="6080165">
                  <a:extLst>
                    <a:ext uri="{9D8B030D-6E8A-4147-A177-3AD203B41FA5}">
                      <a16:colId xmlns:a16="http://schemas.microsoft.com/office/drawing/2014/main" val="2179694530"/>
                    </a:ext>
                  </a:extLst>
                </a:gridCol>
                <a:gridCol w="6111834">
                  <a:extLst>
                    <a:ext uri="{9D8B030D-6E8A-4147-A177-3AD203B41FA5}">
                      <a16:colId xmlns:a16="http://schemas.microsoft.com/office/drawing/2014/main" val="2768207918"/>
                    </a:ext>
                  </a:extLst>
                </a:gridCol>
              </a:tblGrid>
              <a:tr h="370840">
                <a:tc>
                  <a:txBody>
                    <a:bodyPr/>
                    <a:lstStyle/>
                    <a:p>
                      <a:endParaRPr lang="en-US" dirty="0"/>
                    </a:p>
                  </a:txBody>
                  <a:tcPr>
                    <a:solidFill>
                      <a:srgbClr val="FFFF00"/>
                    </a:solidFill>
                  </a:tcPr>
                </a:tc>
                <a:tc>
                  <a:txBody>
                    <a:bodyPr/>
                    <a:lstStyle/>
                    <a:p>
                      <a:pPr algn="r"/>
                      <a:r>
                        <a:rPr lang="en-US" dirty="0">
                          <a:solidFill>
                            <a:schemeClr val="tx1"/>
                          </a:solidFill>
                        </a:rPr>
                        <a:t>45</a:t>
                      </a:r>
                    </a:p>
                  </a:txBody>
                  <a:tcPr>
                    <a:solidFill>
                      <a:srgbClr val="FF85FF"/>
                    </a:solidFill>
                  </a:tcPr>
                </a:tc>
                <a:extLst>
                  <a:ext uri="{0D108BD9-81ED-4DB2-BD59-A6C34878D82A}">
                    <a16:rowId xmlns:a16="http://schemas.microsoft.com/office/drawing/2014/main" val="1996944423"/>
                  </a:ext>
                </a:extLst>
              </a:tr>
            </a:tbl>
          </a:graphicData>
        </a:graphic>
      </p:graphicFrame>
      <p:pic>
        <p:nvPicPr>
          <p:cNvPr id="12" name="Google Shape;187;p25" descr="pngfind.com-kingpin-png-4152286 (1).png">
            <a:extLst>
              <a:ext uri="{FF2B5EF4-FFF2-40B4-BE49-F238E27FC236}">
                <a16:creationId xmlns:a16="http://schemas.microsoft.com/office/drawing/2014/main" id="{2DBF2481-A2DB-F96E-5749-B03DC4F71665}"/>
              </a:ext>
            </a:extLst>
          </p:cNvPr>
          <p:cNvPicPr preferRelativeResize="0"/>
          <p:nvPr/>
        </p:nvPicPr>
        <p:blipFill rotWithShape="1">
          <a:blip r:embed="rId2">
            <a:alphaModFix/>
          </a:blip>
          <a:srcRect/>
          <a:stretch/>
        </p:blipFill>
        <p:spPr>
          <a:xfrm>
            <a:off x="11044052" y="8268"/>
            <a:ext cx="1051261" cy="465287"/>
          </a:xfrm>
          <a:prstGeom prst="rect">
            <a:avLst/>
          </a:prstGeom>
          <a:noFill/>
          <a:ln>
            <a:noFill/>
          </a:ln>
        </p:spPr>
      </p:pic>
      <p:sp>
        <p:nvSpPr>
          <p:cNvPr id="19" name="Rectangle 18">
            <a:extLst>
              <a:ext uri="{FF2B5EF4-FFF2-40B4-BE49-F238E27FC236}">
                <a16:creationId xmlns:a16="http://schemas.microsoft.com/office/drawing/2014/main" id="{A0702E37-2E7E-7262-5E76-F69A817105B3}"/>
              </a:ext>
            </a:extLst>
          </p:cNvPr>
          <p:cNvSpPr/>
          <p:nvPr/>
        </p:nvSpPr>
        <p:spPr>
          <a:xfrm>
            <a:off x="0" y="8268"/>
            <a:ext cx="12192000" cy="6825920"/>
          </a:xfrm>
          <a:prstGeom prst="rect">
            <a:avLst/>
          </a:prstGeom>
          <a:noFill/>
          <a:ln w="38100">
            <a:solidFill>
              <a:srgbClr val="0432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DCB2A3F0-9003-5886-09B4-27925BBE4000}"/>
              </a:ext>
            </a:extLst>
          </p:cNvPr>
          <p:cNvSpPr txBox="1"/>
          <p:nvPr/>
        </p:nvSpPr>
        <p:spPr>
          <a:xfrm>
            <a:off x="0" y="873851"/>
            <a:ext cx="12191999" cy="646331"/>
          </a:xfrm>
          <a:prstGeom prst="rect">
            <a:avLst/>
          </a:prstGeom>
          <a:noFill/>
        </p:spPr>
        <p:txBody>
          <a:bodyPr wrap="square">
            <a:spAutoFit/>
          </a:bodyPr>
          <a:lstStyle/>
          <a:p>
            <a:pPr algn="ctr"/>
            <a:r>
              <a:rPr lang="en-US" sz="3600" b="1" dirty="0">
                <a:effectLst/>
                <a:latin typeface="Calibri" panose="020F0502020204030204" pitchFamily="34" charset="0"/>
                <a:ea typeface="Calibri" panose="020F0502020204030204" pitchFamily="34" charset="0"/>
                <a:cs typeface="Calibri" panose="020F0502020204030204" pitchFamily="34" charset="0"/>
              </a:rPr>
              <a:t>Array Attributes</a:t>
            </a:r>
            <a:endParaRPr lang="en-GB" sz="8800" b="1" cap="none" spc="0" dirty="0">
              <a:ln w="0"/>
              <a:solidFill>
                <a:schemeClr val="tx1"/>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Calibri" panose="020F0502020204030204" pitchFamily="34" charset="0"/>
            </a:endParaRPr>
          </a:p>
        </p:txBody>
      </p:sp>
      <p:sp>
        <p:nvSpPr>
          <p:cNvPr id="5" name="TextBox 4">
            <a:extLst>
              <a:ext uri="{FF2B5EF4-FFF2-40B4-BE49-F238E27FC236}">
                <a16:creationId xmlns:a16="http://schemas.microsoft.com/office/drawing/2014/main" id="{57BF3EEF-553A-D37A-6EF6-B514AF07FC3C}"/>
              </a:ext>
            </a:extLst>
          </p:cNvPr>
          <p:cNvSpPr txBox="1"/>
          <p:nvPr/>
        </p:nvSpPr>
        <p:spPr>
          <a:xfrm>
            <a:off x="487016" y="1574931"/>
            <a:ext cx="10972801" cy="880369"/>
          </a:xfrm>
          <a:prstGeom prst="rect">
            <a:avLst/>
          </a:prstGeom>
          <a:noFill/>
        </p:spPr>
        <p:txBody>
          <a:bodyPr wrap="square">
            <a:spAutoFit/>
          </a:bodyPr>
          <a:lstStyle/>
          <a:p>
            <a:pPr marL="285750" indent="-285750" algn="just">
              <a:lnSpc>
                <a:spcPct val="150000"/>
              </a:lnSpc>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In NumPy, attributes are properties of NumPy arrays that provide information about the array's shape, size, data type, dimension, and so on.</a:t>
            </a:r>
          </a:p>
        </p:txBody>
      </p:sp>
      <p:graphicFrame>
        <p:nvGraphicFramePr>
          <p:cNvPr id="2" name="Table 1">
            <a:extLst>
              <a:ext uri="{FF2B5EF4-FFF2-40B4-BE49-F238E27FC236}">
                <a16:creationId xmlns:a16="http://schemas.microsoft.com/office/drawing/2014/main" id="{A4D34B8C-4CCA-7BC8-1562-CDA896109572}"/>
              </a:ext>
            </a:extLst>
          </p:cNvPr>
          <p:cNvGraphicFramePr>
            <a:graphicFrameLocks noGrp="1"/>
          </p:cNvGraphicFramePr>
          <p:nvPr/>
        </p:nvGraphicFramePr>
        <p:xfrm>
          <a:off x="1959119" y="2921143"/>
          <a:ext cx="8546542" cy="2516354"/>
        </p:xfrm>
        <a:graphic>
          <a:graphicData uri="http://schemas.openxmlformats.org/drawingml/2006/table">
            <a:tbl>
              <a:tblPr/>
              <a:tblGrid>
                <a:gridCol w="1297826">
                  <a:extLst>
                    <a:ext uri="{9D8B030D-6E8A-4147-A177-3AD203B41FA5}">
                      <a16:colId xmlns:a16="http://schemas.microsoft.com/office/drawing/2014/main" val="3319793427"/>
                    </a:ext>
                  </a:extLst>
                </a:gridCol>
                <a:gridCol w="7248716">
                  <a:extLst>
                    <a:ext uri="{9D8B030D-6E8A-4147-A177-3AD203B41FA5}">
                      <a16:colId xmlns:a16="http://schemas.microsoft.com/office/drawing/2014/main" val="1208084140"/>
                    </a:ext>
                  </a:extLst>
                </a:gridCol>
              </a:tblGrid>
              <a:tr h="522339">
                <a:tc>
                  <a:txBody>
                    <a:bodyPr/>
                    <a:lstStyle/>
                    <a:p>
                      <a:r>
                        <a:rPr lang="en-IN" sz="1800" b="1" dirty="0" err="1">
                          <a:effectLst/>
                          <a:latin typeface="Calibri" panose="020F0502020204030204" pitchFamily="34" charset="0"/>
                          <a:ea typeface="Calibri" panose="020F0502020204030204" pitchFamily="34" charset="0"/>
                          <a:cs typeface="Calibri" panose="020F0502020204030204" pitchFamily="34" charset="0"/>
                        </a:rPr>
                        <a:t>ndim</a:t>
                      </a:r>
                      <a:endParaRPr lang="en-IN" sz="1800" b="1" dirty="0">
                        <a:effectLst/>
                        <a:latin typeface="Calibri" panose="020F0502020204030204" pitchFamily="34" charset="0"/>
                        <a:ea typeface="Calibri" panose="020F0502020204030204" pitchFamily="34" charset="0"/>
                        <a:cs typeface="Calibri" panose="020F0502020204030204" pitchFamily="34" charset="0"/>
                      </a:endParaRPr>
                    </a:p>
                  </a:txBody>
                  <a:tcPr marL="152679" marR="152679" marT="76339" marB="76339"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8FAFF"/>
                    </a:solidFill>
                  </a:tcPr>
                </a:tc>
                <a:tc>
                  <a:txBody>
                    <a:bodyPr/>
                    <a:lstStyle/>
                    <a:p>
                      <a:r>
                        <a:rPr lang="en-US" sz="1800" dirty="0">
                          <a:effectLst/>
                          <a:latin typeface="Calibri" panose="020F0502020204030204" pitchFamily="34" charset="0"/>
                          <a:ea typeface="Calibri" panose="020F0502020204030204" pitchFamily="34" charset="0"/>
                          <a:cs typeface="Calibri" panose="020F0502020204030204" pitchFamily="34" charset="0"/>
                        </a:rPr>
                        <a:t>- returns number of dimension of the array</a:t>
                      </a:r>
                    </a:p>
                  </a:txBody>
                  <a:tcPr marL="152679" marR="152679" marT="76339" marB="76339"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8FAFF"/>
                    </a:solidFill>
                  </a:tcPr>
                </a:tc>
                <a:extLst>
                  <a:ext uri="{0D108BD9-81ED-4DB2-BD59-A6C34878D82A}">
                    <a16:rowId xmlns:a16="http://schemas.microsoft.com/office/drawing/2014/main" val="1259619409"/>
                  </a:ext>
                </a:extLst>
              </a:tr>
              <a:tr h="522339">
                <a:tc>
                  <a:txBody>
                    <a:bodyPr/>
                    <a:lstStyle/>
                    <a:p>
                      <a:r>
                        <a:rPr lang="en-IN" sz="1800" b="1" dirty="0">
                          <a:effectLst/>
                          <a:latin typeface="Calibri" panose="020F0502020204030204" pitchFamily="34" charset="0"/>
                          <a:ea typeface="Calibri" panose="020F0502020204030204" pitchFamily="34" charset="0"/>
                          <a:cs typeface="Calibri" panose="020F0502020204030204" pitchFamily="34" charset="0"/>
                        </a:rPr>
                        <a:t>size</a:t>
                      </a:r>
                    </a:p>
                  </a:txBody>
                  <a:tcPr marL="152679" marR="152679" marT="76339" marB="76339"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8FAFF"/>
                    </a:solidFill>
                  </a:tcPr>
                </a:tc>
                <a:tc>
                  <a:txBody>
                    <a:bodyPr/>
                    <a:lstStyle/>
                    <a:p>
                      <a:r>
                        <a:rPr lang="en-US" sz="1800" dirty="0">
                          <a:effectLst/>
                          <a:latin typeface="Calibri" panose="020F0502020204030204" pitchFamily="34" charset="0"/>
                          <a:ea typeface="Calibri" panose="020F0502020204030204" pitchFamily="34" charset="0"/>
                          <a:cs typeface="Calibri" panose="020F0502020204030204" pitchFamily="34" charset="0"/>
                        </a:rPr>
                        <a:t>- returns number of elements in the array</a:t>
                      </a:r>
                    </a:p>
                  </a:txBody>
                  <a:tcPr marL="152679" marR="152679" marT="76339" marB="76339"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8FAFF"/>
                    </a:solidFill>
                  </a:tcPr>
                </a:tc>
                <a:extLst>
                  <a:ext uri="{0D108BD9-81ED-4DB2-BD59-A6C34878D82A}">
                    <a16:rowId xmlns:a16="http://schemas.microsoft.com/office/drawing/2014/main" val="3906368060"/>
                  </a:ext>
                </a:extLst>
              </a:tr>
              <a:tr h="522339">
                <a:tc>
                  <a:txBody>
                    <a:bodyPr/>
                    <a:lstStyle/>
                    <a:p>
                      <a:r>
                        <a:rPr lang="en-IN" sz="1800" b="1" dirty="0" err="1">
                          <a:effectLst/>
                          <a:latin typeface="Calibri" panose="020F0502020204030204" pitchFamily="34" charset="0"/>
                          <a:ea typeface="Calibri" panose="020F0502020204030204" pitchFamily="34" charset="0"/>
                          <a:cs typeface="Calibri" panose="020F0502020204030204" pitchFamily="34" charset="0"/>
                        </a:rPr>
                        <a:t>dtype</a:t>
                      </a:r>
                      <a:endParaRPr lang="en-IN" sz="1800" b="1" dirty="0">
                        <a:effectLst/>
                        <a:latin typeface="Calibri" panose="020F0502020204030204" pitchFamily="34" charset="0"/>
                        <a:ea typeface="Calibri" panose="020F0502020204030204" pitchFamily="34" charset="0"/>
                        <a:cs typeface="Calibri" panose="020F0502020204030204" pitchFamily="34" charset="0"/>
                      </a:endParaRPr>
                    </a:p>
                  </a:txBody>
                  <a:tcPr marL="152679" marR="152679" marT="76339" marB="76339"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8FAFF"/>
                    </a:solidFill>
                  </a:tcPr>
                </a:tc>
                <a:tc>
                  <a:txBody>
                    <a:bodyPr/>
                    <a:lstStyle/>
                    <a:p>
                      <a:r>
                        <a:rPr lang="en-US" sz="1800" dirty="0">
                          <a:effectLst/>
                          <a:latin typeface="Calibri" panose="020F0502020204030204" pitchFamily="34" charset="0"/>
                          <a:ea typeface="Calibri" panose="020F0502020204030204" pitchFamily="34" charset="0"/>
                          <a:cs typeface="Calibri" panose="020F0502020204030204" pitchFamily="34" charset="0"/>
                        </a:rPr>
                        <a:t>- returns data type of elements in the array</a:t>
                      </a:r>
                    </a:p>
                  </a:txBody>
                  <a:tcPr marL="152679" marR="152679" marT="76339" marB="76339"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8FAFF"/>
                    </a:solidFill>
                  </a:tcPr>
                </a:tc>
                <a:extLst>
                  <a:ext uri="{0D108BD9-81ED-4DB2-BD59-A6C34878D82A}">
                    <a16:rowId xmlns:a16="http://schemas.microsoft.com/office/drawing/2014/main" val="2943938537"/>
                  </a:ext>
                </a:extLst>
              </a:tr>
              <a:tr h="522339">
                <a:tc>
                  <a:txBody>
                    <a:bodyPr/>
                    <a:lstStyle/>
                    <a:p>
                      <a:r>
                        <a:rPr lang="en-IN" sz="1800" b="1" dirty="0">
                          <a:effectLst/>
                          <a:latin typeface="Calibri" panose="020F0502020204030204" pitchFamily="34" charset="0"/>
                          <a:ea typeface="Calibri" panose="020F0502020204030204" pitchFamily="34" charset="0"/>
                          <a:cs typeface="Calibri" panose="020F0502020204030204" pitchFamily="34" charset="0"/>
                        </a:rPr>
                        <a:t>shape</a:t>
                      </a:r>
                    </a:p>
                  </a:txBody>
                  <a:tcPr marL="152679" marR="152679" marT="76339" marB="76339"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8FAFF"/>
                    </a:solidFill>
                  </a:tcPr>
                </a:tc>
                <a:tc>
                  <a:txBody>
                    <a:bodyPr/>
                    <a:lstStyle/>
                    <a:p>
                      <a:r>
                        <a:rPr lang="en-US" sz="1800" dirty="0">
                          <a:effectLst/>
                          <a:latin typeface="Calibri" panose="020F0502020204030204" pitchFamily="34" charset="0"/>
                          <a:ea typeface="Calibri" panose="020F0502020204030204" pitchFamily="34" charset="0"/>
                          <a:cs typeface="Calibri" panose="020F0502020204030204" pitchFamily="34" charset="0"/>
                        </a:rPr>
                        <a:t>- returns the size of the array in each dimension.</a:t>
                      </a:r>
                    </a:p>
                  </a:txBody>
                  <a:tcPr marL="152679" marR="152679" marT="76339" marB="76339"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8FAFF"/>
                    </a:solidFill>
                  </a:tcPr>
                </a:tc>
                <a:extLst>
                  <a:ext uri="{0D108BD9-81ED-4DB2-BD59-A6C34878D82A}">
                    <a16:rowId xmlns:a16="http://schemas.microsoft.com/office/drawing/2014/main" val="1724372631"/>
                  </a:ext>
                </a:extLst>
              </a:tr>
              <a:tr h="405032">
                <a:tc>
                  <a:txBody>
                    <a:bodyPr/>
                    <a:lstStyle/>
                    <a:p>
                      <a:r>
                        <a:rPr lang="en-IN" sz="1800" b="1" dirty="0" err="1">
                          <a:effectLst/>
                          <a:latin typeface="Calibri" panose="020F0502020204030204" pitchFamily="34" charset="0"/>
                          <a:ea typeface="Calibri" panose="020F0502020204030204" pitchFamily="34" charset="0"/>
                          <a:cs typeface="Calibri" panose="020F0502020204030204" pitchFamily="34" charset="0"/>
                        </a:rPr>
                        <a:t>itemsize</a:t>
                      </a:r>
                      <a:endParaRPr lang="en-IN" sz="1800" b="1" dirty="0">
                        <a:effectLst/>
                        <a:latin typeface="Calibri" panose="020F0502020204030204" pitchFamily="34" charset="0"/>
                        <a:ea typeface="Calibri" panose="020F0502020204030204" pitchFamily="34" charset="0"/>
                        <a:cs typeface="Calibri" panose="020F0502020204030204" pitchFamily="34" charset="0"/>
                      </a:endParaRPr>
                    </a:p>
                  </a:txBody>
                  <a:tcPr marL="152679" marR="152679" marT="76339" marB="76339"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8FAFF"/>
                    </a:solidFill>
                  </a:tcPr>
                </a:tc>
                <a:tc>
                  <a:txBody>
                    <a:bodyPr/>
                    <a:lstStyle/>
                    <a:p>
                      <a:r>
                        <a:rPr lang="en-US" sz="1800" dirty="0">
                          <a:effectLst/>
                          <a:latin typeface="Calibri" panose="020F0502020204030204" pitchFamily="34" charset="0"/>
                          <a:ea typeface="Calibri" panose="020F0502020204030204" pitchFamily="34" charset="0"/>
                          <a:cs typeface="Calibri" panose="020F0502020204030204" pitchFamily="34" charset="0"/>
                        </a:rPr>
                        <a:t>- returns the size (in bytes) of each elements in the array</a:t>
                      </a:r>
                    </a:p>
                  </a:txBody>
                  <a:tcPr marL="152679" marR="152679" marT="76339" marB="76339"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8FAFF"/>
                    </a:solidFill>
                  </a:tcPr>
                </a:tc>
                <a:extLst>
                  <a:ext uri="{0D108BD9-81ED-4DB2-BD59-A6C34878D82A}">
                    <a16:rowId xmlns:a16="http://schemas.microsoft.com/office/drawing/2014/main" val="1635951066"/>
                  </a:ext>
                </a:extLst>
              </a:tr>
            </a:tbl>
          </a:graphicData>
        </a:graphic>
      </p:graphicFrame>
    </p:spTree>
    <p:extLst>
      <p:ext uri="{BB962C8B-B14F-4D97-AF65-F5344CB8AC3E}">
        <p14:creationId xmlns:p14="http://schemas.microsoft.com/office/powerpoint/2010/main" val="184448758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Table 8">
            <a:extLst>
              <a:ext uri="{FF2B5EF4-FFF2-40B4-BE49-F238E27FC236}">
                <a16:creationId xmlns:a16="http://schemas.microsoft.com/office/drawing/2014/main" id="{0B6EC464-4750-5FF3-7A5A-15612BA6E293}"/>
              </a:ext>
            </a:extLst>
          </p:cNvPr>
          <p:cNvGraphicFramePr>
            <a:graphicFrameLocks noGrp="1"/>
          </p:cNvGraphicFramePr>
          <p:nvPr/>
        </p:nvGraphicFramePr>
        <p:xfrm>
          <a:off x="0" y="23812"/>
          <a:ext cx="12192000" cy="465287"/>
        </p:xfrm>
        <a:graphic>
          <a:graphicData uri="http://schemas.openxmlformats.org/drawingml/2006/table">
            <a:tbl>
              <a:tblPr firstRow="1" bandRow="1">
                <a:tableStyleId>{5C22544A-7EE6-4342-B048-85BDC9FD1C3A}</a:tableStyleId>
              </a:tblPr>
              <a:tblGrid>
                <a:gridCol w="6092042">
                  <a:extLst>
                    <a:ext uri="{9D8B030D-6E8A-4147-A177-3AD203B41FA5}">
                      <a16:colId xmlns:a16="http://schemas.microsoft.com/office/drawing/2014/main" val="2179694530"/>
                    </a:ext>
                  </a:extLst>
                </a:gridCol>
                <a:gridCol w="6099958">
                  <a:extLst>
                    <a:ext uri="{9D8B030D-6E8A-4147-A177-3AD203B41FA5}">
                      <a16:colId xmlns:a16="http://schemas.microsoft.com/office/drawing/2014/main" val="2768207918"/>
                    </a:ext>
                  </a:extLst>
                </a:gridCol>
              </a:tblGrid>
              <a:tr h="465287">
                <a:tc>
                  <a:txBody>
                    <a:bodyPr/>
                    <a:lstStyle/>
                    <a:p>
                      <a:endParaRPr lang="en-US" dirty="0"/>
                    </a:p>
                  </a:txBody>
                  <a:tcPr>
                    <a:solidFill>
                      <a:srgbClr val="FF85FF"/>
                    </a:solidFill>
                  </a:tcPr>
                </a:tc>
                <a:tc>
                  <a:txBody>
                    <a:bodyPr/>
                    <a:lstStyle/>
                    <a:p>
                      <a:endParaRPr lang="en-US" dirty="0"/>
                    </a:p>
                  </a:txBody>
                  <a:tcPr>
                    <a:solidFill>
                      <a:srgbClr val="FFFF00"/>
                    </a:solidFill>
                  </a:tcPr>
                </a:tc>
                <a:extLst>
                  <a:ext uri="{0D108BD9-81ED-4DB2-BD59-A6C34878D82A}">
                    <a16:rowId xmlns:a16="http://schemas.microsoft.com/office/drawing/2014/main" val="1996944423"/>
                  </a:ext>
                </a:extLst>
              </a:tr>
            </a:tbl>
          </a:graphicData>
        </a:graphic>
      </p:graphicFrame>
      <p:graphicFrame>
        <p:nvGraphicFramePr>
          <p:cNvPr id="10" name="Table 9">
            <a:extLst>
              <a:ext uri="{FF2B5EF4-FFF2-40B4-BE49-F238E27FC236}">
                <a16:creationId xmlns:a16="http://schemas.microsoft.com/office/drawing/2014/main" id="{494BAFB7-FE1F-E1A9-7A6C-AB4145BD9BA1}"/>
              </a:ext>
            </a:extLst>
          </p:cNvPr>
          <p:cNvGraphicFramePr>
            <a:graphicFrameLocks noGrp="1"/>
          </p:cNvGraphicFramePr>
          <p:nvPr>
            <p:extLst>
              <p:ext uri="{D42A27DB-BD31-4B8C-83A1-F6EECF244321}">
                <p14:modId xmlns:p14="http://schemas.microsoft.com/office/powerpoint/2010/main" val="3568599304"/>
              </p:ext>
            </p:extLst>
          </p:nvPr>
        </p:nvGraphicFramePr>
        <p:xfrm>
          <a:off x="1" y="6478892"/>
          <a:ext cx="12191999" cy="370840"/>
        </p:xfrm>
        <a:graphic>
          <a:graphicData uri="http://schemas.openxmlformats.org/drawingml/2006/table">
            <a:tbl>
              <a:tblPr firstRow="1" bandRow="1">
                <a:tableStyleId>{5C22544A-7EE6-4342-B048-85BDC9FD1C3A}</a:tableStyleId>
              </a:tblPr>
              <a:tblGrid>
                <a:gridCol w="6080165">
                  <a:extLst>
                    <a:ext uri="{9D8B030D-6E8A-4147-A177-3AD203B41FA5}">
                      <a16:colId xmlns:a16="http://schemas.microsoft.com/office/drawing/2014/main" val="2179694530"/>
                    </a:ext>
                  </a:extLst>
                </a:gridCol>
                <a:gridCol w="6111834">
                  <a:extLst>
                    <a:ext uri="{9D8B030D-6E8A-4147-A177-3AD203B41FA5}">
                      <a16:colId xmlns:a16="http://schemas.microsoft.com/office/drawing/2014/main" val="2768207918"/>
                    </a:ext>
                  </a:extLst>
                </a:gridCol>
              </a:tblGrid>
              <a:tr h="370840">
                <a:tc>
                  <a:txBody>
                    <a:bodyPr/>
                    <a:lstStyle/>
                    <a:p>
                      <a:endParaRPr lang="en-US" dirty="0"/>
                    </a:p>
                  </a:txBody>
                  <a:tcPr>
                    <a:solidFill>
                      <a:srgbClr val="FFFF00"/>
                    </a:solidFill>
                  </a:tcPr>
                </a:tc>
                <a:tc>
                  <a:txBody>
                    <a:bodyPr/>
                    <a:lstStyle/>
                    <a:p>
                      <a:pPr algn="r"/>
                      <a:r>
                        <a:rPr lang="en-US" dirty="0">
                          <a:solidFill>
                            <a:schemeClr val="tx1"/>
                          </a:solidFill>
                        </a:rPr>
                        <a:t>46</a:t>
                      </a:r>
                    </a:p>
                  </a:txBody>
                  <a:tcPr>
                    <a:solidFill>
                      <a:srgbClr val="FF85FF"/>
                    </a:solidFill>
                  </a:tcPr>
                </a:tc>
                <a:extLst>
                  <a:ext uri="{0D108BD9-81ED-4DB2-BD59-A6C34878D82A}">
                    <a16:rowId xmlns:a16="http://schemas.microsoft.com/office/drawing/2014/main" val="1996944423"/>
                  </a:ext>
                </a:extLst>
              </a:tr>
            </a:tbl>
          </a:graphicData>
        </a:graphic>
      </p:graphicFrame>
      <p:pic>
        <p:nvPicPr>
          <p:cNvPr id="12" name="Google Shape;187;p25" descr="pngfind.com-kingpin-png-4152286 (1).png">
            <a:extLst>
              <a:ext uri="{FF2B5EF4-FFF2-40B4-BE49-F238E27FC236}">
                <a16:creationId xmlns:a16="http://schemas.microsoft.com/office/drawing/2014/main" id="{2DBF2481-A2DB-F96E-5749-B03DC4F71665}"/>
              </a:ext>
            </a:extLst>
          </p:cNvPr>
          <p:cNvPicPr preferRelativeResize="0"/>
          <p:nvPr/>
        </p:nvPicPr>
        <p:blipFill rotWithShape="1">
          <a:blip r:embed="rId2">
            <a:alphaModFix/>
          </a:blip>
          <a:srcRect/>
          <a:stretch/>
        </p:blipFill>
        <p:spPr>
          <a:xfrm>
            <a:off x="11044052" y="8268"/>
            <a:ext cx="1051261" cy="465287"/>
          </a:xfrm>
          <a:prstGeom prst="rect">
            <a:avLst/>
          </a:prstGeom>
          <a:noFill/>
          <a:ln>
            <a:noFill/>
          </a:ln>
        </p:spPr>
      </p:pic>
      <p:sp>
        <p:nvSpPr>
          <p:cNvPr id="19" name="Rectangle 18">
            <a:extLst>
              <a:ext uri="{FF2B5EF4-FFF2-40B4-BE49-F238E27FC236}">
                <a16:creationId xmlns:a16="http://schemas.microsoft.com/office/drawing/2014/main" id="{A0702E37-2E7E-7262-5E76-F69A817105B3}"/>
              </a:ext>
            </a:extLst>
          </p:cNvPr>
          <p:cNvSpPr/>
          <p:nvPr/>
        </p:nvSpPr>
        <p:spPr>
          <a:xfrm>
            <a:off x="0" y="8268"/>
            <a:ext cx="12192000" cy="6825920"/>
          </a:xfrm>
          <a:prstGeom prst="rect">
            <a:avLst/>
          </a:prstGeom>
          <a:noFill/>
          <a:ln w="38100">
            <a:solidFill>
              <a:srgbClr val="0432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DCB2A3F0-9003-5886-09B4-27925BBE4000}"/>
              </a:ext>
            </a:extLst>
          </p:cNvPr>
          <p:cNvSpPr txBox="1"/>
          <p:nvPr/>
        </p:nvSpPr>
        <p:spPr>
          <a:xfrm>
            <a:off x="0" y="873851"/>
            <a:ext cx="12191999" cy="646331"/>
          </a:xfrm>
          <a:prstGeom prst="rect">
            <a:avLst/>
          </a:prstGeom>
          <a:noFill/>
        </p:spPr>
        <p:txBody>
          <a:bodyPr wrap="square">
            <a:spAutoFit/>
          </a:bodyPr>
          <a:lstStyle/>
          <a:p>
            <a:pPr algn="ctr"/>
            <a:r>
              <a:rPr lang="en-US" sz="3600" b="1" dirty="0">
                <a:effectLst/>
                <a:latin typeface="Calibri" panose="020F0502020204030204" pitchFamily="34" charset="0"/>
                <a:ea typeface="Calibri" panose="020F0502020204030204" pitchFamily="34" charset="0"/>
                <a:cs typeface="Calibri" panose="020F0502020204030204" pitchFamily="34" charset="0"/>
              </a:rPr>
              <a:t>Array Attributes</a:t>
            </a:r>
            <a:endParaRPr lang="en-GB" sz="8800" b="1" cap="none" spc="0" dirty="0">
              <a:ln w="0"/>
              <a:solidFill>
                <a:schemeClr val="tx1"/>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Calibri" panose="020F0502020204030204" pitchFamily="34" charset="0"/>
            </a:endParaRPr>
          </a:p>
        </p:txBody>
      </p:sp>
      <p:sp>
        <p:nvSpPr>
          <p:cNvPr id="5" name="TextBox 4">
            <a:extLst>
              <a:ext uri="{FF2B5EF4-FFF2-40B4-BE49-F238E27FC236}">
                <a16:creationId xmlns:a16="http://schemas.microsoft.com/office/drawing/2014/main" id="{57BF3EEF-553A-D37A-6EF6-B514AF07FC3C}"/>
              </a:ext>
            </a:extLst>
          </p:cNvPr>
          <p:cNvSpPr txBox="1"/>
          <p:nvPr/>
        </p:nvSpPr>
        <p:spPr>
          <a:xfrm>
            <a:off x="1033104" y="1723403"/>
            <a:ext cx="4923747" cy="2172711"/>
          </a:xfrm>
          <a:prstGeom prst="rect">
            <a:avLst/>
          </a:prstGeom>
          <a:noFill/>
          <a:ln w="6350">
            <a:solidFill>
              <a:schemeClr val="tx1"/>
            </a:solidFill>
          </a:ln>
        </p:spPr>
        <p:txBody>
          <a:bodyPr wrap="square">
            <a:spAutoFit/>
          </a:bodyPr>
          <a:lstStyle/>
          <a:p>
            <a:pPr algn="ctr">
              <a:lnSpc>
                <a:spcPct val="150000"/>
              </a:lnSpc>
            </a:pPr>
            <a:r>
              <a:rPr lang="en-IN" sz="2000" b="1" u="sng" dirty="0" err="1">
                <a:solidFill>
                  <a:srgbClr val="002060"/>
                </a:solidFill>
                <a:highlight>
                  <a:srgbClr val="FFFFFF"/>
                </a:highlight>
                <a:latin typeface="Calibri" panose="020F0502020204030204" pitchFamily="34" charset="0"/>
                <a:ea typeface="Calibri" panose="020F0502020204030204" pitchFamily="34" charset="0"/>
                <a:cs typeface="Calibri" panose="020F0502020204030204" pitchFamily="34" charset="0"/>
              </a:rPr>
              <a:t>ndim</a:t>
            </a:r>
            <a:endParaRPr lang="en-IN" b="1" u="sng" dirty="0">
              <a:solidFill>
                <a:srgbClr val="002060"/>
              </a:solidFill>
              <a:highlight>
                <a:srgbClr val="FFFFFF"/>
              </a:highlight>
              <a:latin typeface="Calibri" panose="020F0502020204030204" pitchFamily="34" charset="0"/>
              <a:ea typeface="Calibri" panose="020F0502020204030204" pitchFamily="34" charset="0"/>
              <a:cs typeface="Calibri" panose="020F0502020204030204" pitchFamily="34" charset="0"/>
            </a:endParaRPr>
          </a:p>
          <a:p>
            <a:pPr>
              <a:lnSpc>
                <a:spcPct val="150000"/>
              </a:lnSpc>
            </a:pPr>
            <a:r>
              <a:rPr lang="en-US" b="0" i="0" dirty="0">
                <a:effectLst/>
                <a:highlight>
                  <a:srgbClr val="FFFFFF"/>
                </a:highlight>
                <a:latin typeface="Consolas" panose="020B0609020204030204" pitchFamily="49" charset="0"/>
              </a:rPr>
              <a:t>import </a:t>
            </a:r>
            <a:r>
              <a:rPr lang="en-US" b="0" i="0" dirty="0" err="1">
                <a:effectLst/>
                <a:highlight>
                  <a:srgbClr val="FFFFFF"/>
                </a:highlight>
                <a:latin typeface="Consolas" panose="020B0609020204030204" pitchFamily="49" charset="0"/>
              </a:rPr>
              <a:t>numpy</a:t>
            </a:r>
            <a:r>
              <a:rPr lang="en-US" b="0" i="0" dirty="0">
                <a:effectLst/>
                <a:highlight>
                  <a:srgbClr val="FFFFFF"/>
                </a:highlight>
                <a:latin typeface="Consolas" panose="020B0609020204030204" pitchFamily="49" charset="0"/>
              </a:rPr>
              <a:t> as np</a:t>
            </a:r>
          </a:p>
          <a:p>
            <a:pPr>
              <a:lnSpc>
                <a:spcPct val="150000"/>
              </a:lnSpc>
            </a:pPr>
            <a:r>
              <a:rPr lang="en-US" b="0" i="0" dirty="0" err="1">
                <a:effectLst/>
                <a:highlight>
                  <a:srgbClr val="FFFFFF"/>
                </a:highlight>
                <a:latin typeface="Consolas" panose="020B0609020204030204" pitchFamily="49" charset="0"/>
              </a:rPr>
              <a:t>arr</a:t>
            </a:r>
            <a:r>
              <a:rPr lang="en-US" b="0" i="0" dirty="0">
                <a:effectLst/>
                <a:highlight>
                  <a:srgbClr val="FFFFFF"/>
                </a:highlight>
                <a:latin typeface="Consolas" panose="020B0609020204030204" pitchFamily="49" charset="0"/>
              </a:rPr>
              <a:t> = </a:t>
            </a:r>
            <a:r>
              <a:rPr lang="en-US" b="0" i="0" dirty="0" err="1">
                <a:effectLst/>
                <a:highlight>
                  <a:srgbClr val="FFFFFF"/>
                </a:highlight>
                <a:latin typeface="Consolas" panose="020B0609020204030204" pitchFamily="49" charset="0"/>
              </a:rPr>
              <a:t>np.array</a:t>
            </a:r>
            <a:r>
              <a:rPr lang="en-US" b="0" i="0" dirty="0">
                <a:effectLst/>
                <a:highlight>
                  <a:srgbClr val="FFFFFF"/>
                </a:highlight>
                <a:latin typeface="Consolas" panose="020B0609020204030204" pitchFamily="49" charset="0"/>
              </a:rPr>
              <a:t>([[2, 4, 6],[1, 3, 5]])</a:t>
            </a:r>
          </a:p>
          <a:p>
            <a:pPr>
              <a:lnSpc>
                <a:spcPct val="150000"/>
              </a:lnSpc>
            </a:pPr>
            <a:r>
              <a:rPr lang="en-US" b="0" i="0" dirty="0">
                <a:effectLst/>
                <a:highlight>
                  <a:srgbClr val="FFFFFF"/>
                </a:highlight>
                <a:latin typeface="Consolas" panose="020B0609020204030204" pitchFamily="49" charset="0"/>
              </a:rPr>
              <a:t>print(</a:t>
            </a:r>
            <a:r>
              <a:rPr lang="en-US" b="0" i="0" dirty="0" err="1">
                <a:effectLst/>
                <a:highlight>
                  <a:srgbClr val="FFFFFF"/>
                </a:highlight>
                <a:latin typeface="Consolas" panose="020B0609020204030204" pitchFamily="49" charset="0"/>
              </a:rPr>
              <a:t>arr.ndim</a:t>
            </a:r>
            <a:r>
              <a:rPr lang="en-US" b="0" i="0" dirty="0">
                <a:effectLst/>
                <a:highlight>
                  <a:srgbClr val="FFFFFF"/>
                </a:highlight>
                <a:latin typeface="Consolas" panose="020B0609020204030204" pitchFamily="49" charset="0"/>
              </a:rPr>
              <a:t>) </a:t>
            </a:r>
          </a:p>
          <a:p>
            <a:pPr>
              <a:lnSpc>
                <a:spcPct val="150000"/>
              </a:lnSpc>
            </a:pPr>
            <a:r>
              <a:rPr lang="en-US" b="0" i="0" dirty="0">
                <a:solidFill>
                  <a:srgbClr val="C00000"/>
                </a:solidFill>
                <a:effectLst/>
                <a:highlight>
                  <a:srgbClr val="FFFFFF"/>
                </a:highlight>
                <a:latin typeface="Consolas" panose="020B0609020204030204" pitchFamily="49" charset="0"/>
              </a:rPr>
              <a:t>Output: 2</a:t>
            </a:r>
            <a:endParaRPr lang="en-US" b="0" i="0" dirty="0">
              <a:solidFill>
                <a:srgbClr val="C00000"/>
              </a:solidFill>
              <a:effectLst/>
              <a:highlight>
                <a:srgbClr val="FFFFFF"/>
              </a:highlight>
              <a:latin typeface="Calibri" panose="020F0502020204030204" pitchFamily="34" charset="0"/>
              <a:ea typeface="Calibri" panose="020F0502020204030204" pitchFamily="34" charset="0"/>
              <a:cs typeface="Calibri" panose="020F0502020204030204" pitchFamily="34" charset="0"/>
            </a:endParaRPr>
          </a:p>
        </p:txBody>
      </p:sp>
      <p:sp>
        <p:nvSpPr>
          <p:cNvPr id="8" name="TextBox 7">
            <a:extLst>
              <a:ext uri="{FF2B5EF4-FFF2-40B4-BE49-F238E27FC236}">
                <a16:creationId xmlns:a16="http://schemas.microsoft.com/office/drawing/2014/main" id="{AF6E6827-A8A8-3DC8-6C2C-C9A6735AAA1A}"/>
              </a:ext>
            </a:extLst>
          </p:cNvPr>
          <p:cNvSpPr txBox="1"/>
          <p:nvPr/>
        </p:nvSpPr>
        <p:spPr>
          <a:xfrm>
            <a:off x="5956851" y="4101147"/>
            <a:ext cx="4923747" cy="2172711"/>
          </a:xfrm>
          <a:prstGeom prst="rect">
            <a:avLst/>
          </a:prstGeom>
          <a:noFill/>
          <a:ln w="6350">
            <a:solidFill>
              <a:schemeClr val="tx1"/>
            </a:solidFill>
          </a:ln>
        </p:spPr>
        <p:txBody>
          <a:bodyPr wrap="square">
            <a:spAutoFit/>
          </a:bodyPr>
          <a:lstStyle/>
          <a:p>
            <a:pPr algn="ctr">
              <a:lnSpc>
                <a:spcPct val="150000"/>
              </a:lnSpc>
            </a:pPr>
            <a:r>
              <a:rPr lang="en-IN" sz="2000" b="1" u="sng" dirty="0">
                <a:solidFill>
                  <a:srgbClr val="002060"/>
                </a:solidFill>
                <a:highlight>
                  <a:srgbClr val="FFFFFF"/>
                </a:highlight>
                <a:latin typeface="Calibri" panose="020F0502020204030204" pitchFamily="34" charset="0"/>
                <a:ea typeface="Calibri" panose="020F0502020204030204" pitchFamily="34" charset="0"/>
                <a:cs typeface="Calibri" panose="020F0502020204030204" pitchFamily="34" charset="0"/>
              </a:rPr>
              <a:t>size</a:t>
            </a:r>
          </a:p>
          <a:p>
            <a:pPr>
              <a:lnSpc>
                <a:spcPct val="150000"/>
              </a:lnSpc>
            </a:pPr>
            <a:r>
              <a:rPr lang="en-US" b="0" i="0" dirty="0">
                <a:effectLst/>
                <a:highlight>
                  <a:srgbClr val="FFFFFF"/>
                </a:highlight>
                <a:latin typeface="Consolas" panose="020B0609020204030204" pitchFamily="49" charset="0"/>
              </a:rPr>
              <a:t>import </a:t>
            </a:r>
            <a:r>
              <a:rPr lang="en-US" b="0" i="0" dirty="0" err="1">
                <a:effectLst/>
                <a:highlight>
                  <a:srgbClr val="FFFFFF"/>
                </a:highlight>
                <a:latin typeface="Consolas" panose="020B0609020204030204" pitchFamily="49" charset="0"/>
              </a:rPr>
              <a:t>numpy</a:t>
            </a:r>
            <a:r>
              <a:rPr lang="en-US" b="0" i="0" dirty="0">
                <a:effectLst/>
                <a:highlight>
                  <a:srgbClr val="FFFFFF"/>
                </a:highlight>
                <a:latin typeface="Consolas" panose="020B0609020204030204" pitchFamily="49" charset="0"/>
              </a:rPr>
              <a:t> as np</a:t>
            </a:r>
          </a:p>
          <a:p>
            <a:pPr>
              <a:lnSpc>
                <a:spcPct val="150000"/>
              </a:lnSpc>
            </a:pPr>
            <a:r>
              <a:rPr lang="en-US" b="0" i="0" dirty="0" err="1">
                <a:effectLst/>
                <a:highlight>
                  <a:srgbClr val="FFFFFF"/>
                </a:highlight>
                <a:latin typeface="Consolas" panose="020B0609020204030204" pitchFamily="49" charset="0"/>
              </a:rPr>
              <a:t>arr</a:t>
            </a:r>
            <a:r>
              <a:rPr lang="en-US" b="0" i="0" dirty="0">
                <a:effectLst/>
                <a:highlight>
                  <a:srgbClr val="FFFFFF"/>
                </a:highlight>
                <a:latin typeface="Consolas" panose="020B0609020204030204" pitchFamily="49" charset="0"/>
              </a:rPr>
              <a:t> = </a:t>
            </a:r>
            <a:r>
              <a:rPr lang="en-US" b="0" i="0" dirty="0" err="1">
                <a:effectLst/>
                <a:highlight>
                  <a:srgbClr val="FFFFFF"/>
                </a:highlight>
                <a:latin typeface="Consolas" panose="020B0609020204030204" pitchFamily="49" charset="0"/>
              </a:rPr>
              <a:t>np.array</a:t>
            </a:r>
            <a:r>
              <a:rPr lang="en-US" b="0" i="0" dirty="0">
                <a:effectLst/>
                <a:highlight>
                  <a:srgbClr val="FFFFFF"/>
                </a:highlight>
                <a:latin typeface="Consolas" panose="020B0609020204030204" pitchFamily="49" charset="0"/>
              </a:rPr>
              <a:t>([[2, 4, 6],[1, 3, 5]])</a:t>
            </a:r>
          </a:p>
          <a:p>
            <a:pPr>
              <a:lnSpc>
                <a:spcPct val="150000"/>
              </a:lnSpc>
            </a:pPr>
            <a:r>
              <a:rPr lang="en-US" b="0" i="0" dirty="0">
                <a:effectLst/>
                <a:highlight>
                  <a:srgbClr val="FFFFFF"/>
                </a:highlight>
                <a:latin typeface="Consolas" panose="020B0609020204030204" pitchFamily="49" charset="0"/>
              </a:rPr>
              <a:t>print(</a:t>
            </a:r>
            <a:r>
              <a:rPr lang="en-US" b="0" i="0" dirty="0" err="1">
                <a:effectLst/>
                <a:highlight>
                  <a:srgbClr val="FFFFFF"/>
                </a:highlight>
                <a:latin typeface="Consolas" panose="020B0609020204030204" pitchFamily="49" charset="0"/>
              </a:rPr>
              <a:t>arr.size</a:t>
            </a:r>
            <a:r>
              <a:rPr lang="en-US" b="0" i="0" dirty="0">
                <a:effectLst/>
                <a:highlight>
                  <a:srgbClr val="FFFFFF"/>
                </a:highlight>
                <a:latin typeface="Consolas" panose="020B0609020204030204" pitchFamily="49" charset="0"/>
              </a:rPr>
              <a:t>) </a:t>
            </a:r>
          </a:p>
          <a:p>
            <a:pPr>
              <a:lnSpc>
                <a:spcPct val="150000"/>
              </a:lnSpc>
            </a:pPr>
            <a:r>
              <a:rPr lang="en-US" b="0" i="0" dirty="0">
                <a:solidFill>
                  <a:srgbClr val="C00000"/>
                </a:solidFill>
                <a:effectLst/>
                <a:highlight>
                  <a:srgbClr val="FFFFFF"/>
                </a:highlight>
                <a:latin typeface="Consolas" panose="020B0609020204030204" pitchFamily="49" charset="0"/>
              </a:rPr>
              <a:t>Output: 6</a:t>
            </a:r>
            <a:endParaRPr lang="en-US" b="0" i="0" dirty="0">
              <a:solidFill>
                <a:srgbClr val="C00000"/>
              </a:solidFill>
              <a:effectLst/>
              <a:highlight>
                <a:srgbClr val="FFFFFF"/>
              </a:highlight>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69199112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Table 8">
            <a:extLst>
              <a:ext uri="{FF2B5EF4-FFF2-40B4-BE49-F238E27FC236}">
                <a16:creationId xmlns:a16="http://schemas.microsoft.com/office/drawing/2014/main" id="{0B6EC464-4750-5FF3-7A5A-15612BA6E293}"/>
              </a:ext>
            </a:extLst>
          </p:cNvPr>
          <p:cNvGraphicFramePr>
            <a:graphicFrameLocks noGrp="1"/>
          </p:cNvGraphicFramePr>
          <p:nvPr/>
        </p:nvGraphicFramePr>
        <p:xfrm>
          <a:off x="0" y="23812"/>
          <a:ext cx="12192000" cy="465287"/>
        </p:xfrm>
        <a:graphic>
          <a:graphicData uri="http://schemas.openxmlformats.org/drawingml/2006/table">
            <a:tbl>
              <a:tblPr firstRow="1" bandRow="1">
                <a:tableStyleId>{5C22544A-7EE6-4342-B048-85BDC9FD1C3A}</a:tableStyleId>
              </a:tblPr>
              <a:tblGrid>
                <a:gridCol w="6092042">
                  <a:extLst>
                    <a:ext uri="{9D8B030D-6E8A-4147-A177-3AD203B41FA5}">
                      <a16:colId xmlns:a16="http://schemas.microsoft.com/office/drawing/2014/main" val="2179694530"/>
                    </a:ext>
                  </a:extLst>
                </a:gridCol>
                <a:gridCol w="6099958">
                  <a:extLst>
                    <a:ext uri="{9D8B030D-6E8A-4147-A177-3AD203B41FA5}">
                      <a16:colId xmlns:a16="http://schemas.microsoft.com/office/drawing/2014/main" val="2768207918"/>
                    </a:ext>
                  </a:extLst>
                </a:gridCol>
              </a:tblGrid>
              <a:tr h="465287">
                <a:tc>
                  <a:txBody>
                    <a:bodyPr/>
                    <a:lstStyle/>
                    <a:p>
                      <a:endParaRPr lang="en-US" dirty="0"/>
                    </a:p>
                  </a:txBody>
                  <a:tcPr>
                    <a:solidFill>
                      <a:srgbClr val="FF85FF"/>
                    </a:solidFill>
                  </a:tcPr>
                </a:tc>
                <a:tc>
                  <a:txBody>
                    <a:bodyPr/>
                    <a:lstStyle/>
                    <a:p>
                      <a:endParaRPr lang="en-US" dirty="0"/>
                    </a:p>
                  </a:txBody>
                  <a:tcPr>
                    <a:solidFill>
                      <a:srgbClr val="FFFF00"/>
                    </a:solidFill>
                  </a:tcPr>
                </a:tc>
                <a:extLst>
                  <a:ext uri="{0D108BD9-81ED-4DB2-BD59-A6C34878D82A}">
                    <a16:rowId xmlns:a16="http://schemas.microsoft.com/office/drawing/2014/main" val="1996944423"/>
                  </a:ext>
                </a:extLst>
              </a:tr>
            </a:tbl>
          </a:graphicData>
        </a:graphic>
      </p:graphicFrame>
      <p:graphicFrame>
        <p:nvGraphicFramePr>
          <p:cNvPr id="10" name="Table 9">
            <a:extLst>
              <a:ext uri="{FF2B5EF4-FFF2-40B4-BE49-F238E27FC236}">
                <a16:creationId xmlns:a16="http://schemas.microsoft.com/office/drawing/2014/main" id="{494BAFB7-FE1F-E1A9-7A6C-AB4145BD9BA1}"/>
              </a:ext>
            </a:extLst>
          </p:cNvPr>
          <p:cNvGraphicFramePr>
            <a:graphicFrameLocks noGrp="1"/>
          </p:cNvGraphicFramePr>
          <p:nvPr>
            <p:extLst>
              <p:ext uri="{D42A27DB-BD31-4B8C-83A1-F6EECF244321}">
                <p14:modId xmlns:p14="http://schemas.microsoft.com/office/powerpoint/2010/main" val="3376609680"/>
              </p:ext>
            </p:extLst>
          </p:nvPr>
        </p:nvGraphicFramePr>
        <p:xfrm>
          <a:off x="1" y="6478892"/>
          <a:ext cx="12191999" cy="370840"/>
        </p:xfrm>
        <a:graphic>
          <a:graphicData uri="http://schemas.openxmlformats.org/drawingml/2006/table">
            <a:tbl>
              <a:tblPr firstRow="1" bandRow="1">
                <a:tableStyleId>{5C22544A-7EE6-4342-B048-85BDC9FD1C3A}</a:tableStyleId>
              </a:tblPr>
              <a:tblGrid>
                <a:gridCol w="6080165">
                  <a:extLst>
                    <a:ext uri="{9D8B030D-6E8A-4147-A177-3AD203B41FA5}">
                      <a16:colId xmlns:a16="http://schemas.microsoft.com/office/drawing/2014/main" val="2179694530"/>
                    </a:ext>
                  </a:extLst>
                </a:gridCol>
                <a:gridCol w="6111834">
                  <a:extLst>
                    <a:ext uri="{9D8B030D-6E8A-4147-A177-3AD203B41FA5}">
                      <a16:colId xmlns:a16="http://schemas.microsoft.com/office/drawing/2014/main" val="2768207918"/>
                    </a:ext>
                  </a:extLst>
                </a:gridCol>
              </a:tblGrid>
              <a:tr h="370840">
                <a:tc>
                  <a:txBody>
                    <a:bodyPr/>
                    <a:lstStyle/>
                    <a:p>
                      <a:endParaRPr lang="en-US" dirty="0"/>
                    </a:p>
                  </a:txBody>
                  <a:tcPr>
                    <a:solidFill>
                      <a:srgbClr val="FFFF00"/>
                    </a:solidFill>
                  </a:tcPr>
                </a:tc>
                <a:tc>
                  <a:txBody>
                    <a:bodyPr/>
                    <a:lstStyle/>
                    <a:p>
                      <a:pPr algn="r"/>
                      <a:r>
                        <a:rPr lang="en-US" dirty="0">
                          <a:solidFill>
                            <a:schemeClr val="tx1"/>
                          </a:solidFill>
                        </a:rPr>
                        <a:t>47</a:t>
                      </a:r>
                    </a:p>
                  </a:txBody>
                  <a:tcPr>
                    <a:solidFill>
                      <a:srgbClr val="FF85FF"/>
                    </a:solidFill>
                  </a:tcPr>
                </a:tc>
                <a:extLst>
                  <a:ext uri="{0D108BD9-81ED-4DB2-BD59-A6C34878D82A}">
                    <a16:rowId xmlns:a16="http://schemas.microsoft.com/office/drawing/2014/main" val="1996944423"/>
                  </a:ext>
                </a:extLst>
              </a:tr>
            </a:tbl>
          </a:graphicData>
        </a:graphic>
      </p:graphicFrame>
      <p:pic>
        <p:nvPicPr>
          <p:cNvPr id="12" name="Google Shape;187;p25" descr="pngfind.com-kingpin-png-4152286 (1).png">
            <a:extLst>
              <a:ext uri="{FF2B5EF4-FFF2-40B4-BE49-F238E27FC236}">
                <a16:creationId xmlns:a16="http://schemas.microsoft.com/office/drawing/2014/main" id="{2DBF2481-A2DB-F96E-5749-B03DC4F71665}"/>
              </a:ext>
            </a:extLst>
          </p:cNvPr>
          <p:cNvPicPr preferRelativeResize="0"/>
          <p:nvPr/>
        </p:nvPicPr>
        <p:blipFill rotWithShape="1">
          <a:blip r:embed="rId2">
            <a:alphaModFix/>
          </a:blip>
          <a:srcRect/>
          <a:stretch/>
        </p:blipFill>
        <p:spPr>
          <a:xfrm>
            <a:off x="11044052" y="8268"/>
            <a:ext cx="1051261" cy="465287"/>
          </a:xfrm>
          <a:prstGeom prst="rect">
            <a:avLst/>
          </a:prstGeom>
          <a:noFill/>
          <a:ln>
            <a:noFill/>
          </a:ln>
        </p:spPr>
      </p:pic>
      <p:sp>
        <p:nvSpPr>
          <p:cNvPr id="19" name="Rectangle 18">
            <a:extLst>
              <a:ext uri="{FF2B5EF4-FFF2-40B4-BE49-F238E27FC236}">
                <a16:creationId xmlns:a16="http://schemas.microsoft.com/office/drawing/2014/main" id="{A0702E37-2E7E-7262-5E76-F69A817105B3}"/>
              </a:ext>
            </a:extLst>
          </p:cNvPr>
          <p:cNvSpPr/>
          <p:nvPr/>
        </p:nvSpPr>
        <p:spPr>
          <a:xfrm>
            <a:off x="0" y="8268"/>
            <a:ext cx="12192000" cy="6825920"/>
          </a:xfrm>
          <a:prstGeom prst="rect">
            <a:avLst/>
          </a:prstGeom>
          <a:noFill/>
          <a:ln w="38100">
            <a:solidFill>
              <a:srgbClr val="0432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DCB2A3F0-9003-5886-09B4-27925BBE4000}"/>
              </a:ext>
            </a:extLst>
          </p:cNvPr>
          <p:cNvSpPr txBox="1"/>
          <p:nvPr/>
        </p:nvSpPr>
        <p:spPr>
          <a:xfrm>
            <a:off x="0" y="873851"/>
            <a:ext cx="12191999" cy="646331"/>
          </a:xfrm>
          <a:prstGeom prst="rect">
            <a:avLst/>
          </a:prstGeom>
          <a:noFill/>
        </p:spPr>
        <p:txBody>
          <a:bodyPr wrap="square">
            <a:spAutoFit/>
          </a:bodyPr>
          <a:lstStyle/>
          <a:p>
            <a:pPr algn="ctr"/>
            <a:r>
              <a:rPr lang="en-US" sz="3600" b="1" dirty="0">
                <a:effectLst/>
                <a:latin typeface="Calibri" panose="020F0502020204030204" pitchFamily="34" charset="0"/>
                <a:ea typeface="Calibri" panose="020F0502020204030204" pitchFamily="34" charset="0"/>
                <a:cs typeface="Calibri" panose="020F0502020204030204" pitchFamily="34" charset="0"/>
              </a:rPr>
              <a:t>Array Attributes</a:t>
            </a:r>
            <a:endParaRPr lang="en-GB" sz="8800" b="1" cap="none" spc="0" dirty="0">
              <a:ln w="0"/>
              <a:solidFill>
                <a:schemeClr val="tx1"/>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Calibri" panose="020F0502020204030204" pitchFamily="34" charset="0"/>
            </a:endParaRPr>
          </a:p>
        </p:txBody>
      </p:sp>
      <p:sp>
        <p:nvSpPr>
          <p:cNvPr id="5" name="TextBox 4">
            <a:extLst>
              <a:ext uri="{FF2B5EF4-FFF2-40B4-BE49-F238E27FC236}">
                <a16:creationId xmlns:a16="http://schemas.microsoft.com/office/drawing/2014/main" id="{57BF3EEF-553A-D37A-6EF6-B514AF07FC3C}"/>
              </a:ext>
            </a:extLst>
          </p:cNvPr>
          <p:cNvSpPr txBox="1"/>
          <p:nvPr/>
        </p:nvSpPr>
        <p:spPr>
          <a:xfrm>
            <a:off x="1033104" y="1723403"/>
            <a:ext cx="4923747" cy="2172711"/>
          </a:xfrm>
          <a:prstGeom prst="rect">
            <a:avLst/>
          </a:prstGeom>
          <a:noFill/>
          <a:ln w="6350">
            <a:solidFill>
              <a:schemeClr val="tx1"/>
            </a:solidFill>
          </a:ln>
        </p:spPr>
        <p:txBody>
          <a:bodyPr wrap="square">
            <a:spAutoFit/>
          </a:bodyPr>
          <a:lstStyle/>
          <a:p>
            <a:pPr algn="ctr">
              <a:lnSpc>
                <a:spcPct val="150000"/>
              </a:lnSpc>
            </a:pPr>
            <a:r>
              <a:rPr lang="en-IN" sz="2000" b="1" u="sng" dirty="0">
                <a:solidFill>
                  <a:srgbClr val="002060"/>
                </a:solidFill>
                <a:highlight>
                  <a:srgbClr val="FFFFFF"/>
                </a:highlight>
                <a:latin typeface="Calibri" panose="020F0502020204030204" pitchFamily="34" charset="0"/>
                <a:ea typeface="Calibri" panose="020F0502020204030204" pitchFamily="34" charset="0"/>
                <a:cs typeface="Calibri" panose="020F0502020204030204" pitchFamily="34" charset="0"/>
              </a:rPr>
              <a:t>shape</a:t>
            </a:r>
          </a:p>
          <a:p>
            <a:pPr>
              <a:lnSpc>
                <a:spcPct val="150000"/>
              </a:lnSpc>
            </a:pPr>
            <a:r>
              <a:rPr lang="en-US" b="0" i="0" dirty="0">
                <a:effectLst/>
                <a:highlight>
                  <a:srgbClr val="FFFFFF"/>
                </a:highlight>
                <a:latin typeface="Consolas" panose="020B0609020204030204" pitchFamily="49" charset="0"/>
              </a:rPr>
              <a:t>import </a:t>
            </a:r>
            <a:r>
              <a:rPr lang="en-US" b="0" i="0" dirty="0" err="1">
                <a:effectLst/>
                <a:highlight>
                  <a:srgbClr val="FFFFFF"/>
                </a:highlight>
                <a:latin typeface="Consolas" panose="020B0609020204030204" pitchFamily="49" charset="0"/>
              </a:rPr>
              <a:t>numpy</a:t>
            </a:r>
            <a:r>
              <a:rPr lang="en-US" b="0" i="0" dirty="0">
                <a:effectLst/>
                <a:highlight>
                  <a:srgbClr val="FFFFFF"/>
                </a:highlight>
                <a:latin typeface="Consolas" panose="020B0609020204030204" pitchFamily="49" charset="0"/>
              </a:rPr>
              <a:t> as np</a:t>
            </a:r>
          </a:p>
          <a:p>
            <a:pPr>
              <a:lnSpc>
                <a:spcPct val="150000"/>
              </a:lnSpc>
            </a:pPr>
            <a:r>
              <a:rPr lang="en-US" b="0" i="0" dirty="0" err="1">
                <a:effectLst/>
                <a:highlight>
                  <a:srgbClr val="FFFFFF"/>
                </a:highlight>
                <a:latin typeface="Consolas" panose="020B0609020204030204" pitchFamily="49" charset="0"/>
              </a:rPr>
              <a:t>arr</a:t>
            </a:r>
            <a:r>
              <a:rPr lang="en-US" b="0" i="0" dirty="0">
                <a:effectLst/>
                <a:highlight>
                  <a:srgbClr val="FFFFFF"/>
                </a:highlight>
                <a:latin typeface="Consolas" panose="020B0609020204030204" pitchFamily="49" charset="0"/>
              </a:rPr>
              <a:t> = </a:t>
            </a:r>
            <a:r>
              <a:rPr lang="en-US" b="0" i="0" dirty="0" err="1">
                <a:effectLst/>
                <a:highlight>
                  <a:srgbClr val="FFFFFF"/>
                </a:highlight>
                <a:latin typeface="Consolas" panose="020B0609020204030204" pitchFamily="49" charset="0"/>
              </a:rPr>
              <a:t>np.array</a:t>
            </a:r>
            <a:r>
              <a:rPr lang="en-US" b="0" i="0" dirty="0">
                <a:effectLst/>
                <a:highlight>
                  <a:srgbClr val="FFFFFF"/>
                </a:highlight>
                <a:latin typeface="Consolas" panose="020B0609020204030204" pitchFamily="49" charset="0"/>
              </a:rPr>
              <a:t>([[2, 4, 6],[1, 3, 5]])</a:t>
            </a:r>
          </a:p>
          <a:p>
            <a:pPr>
              <a:lnSpc>
                <a:spcPct val="150000"/>
              </a:lnSpc>
            </a:pPr>
            <a:r>
              <a:rPr lang="en-US" b="0" i="0" dirty="0">
                <a:effectLst/>
                <a:highlight>
                  <a:srgbClr val="FFFFFF"/>
                </a:highlight>
                <a:latin typeface="Consolas" panose="020B0609020204030204" pitchFamily="49" charset="0"/>
              </a:rPr>
              <a:t>print(</a:t>
            </a:r>
            <a:r>
              <a:rPr lang="en-US" b="0" i="0" dirty="0" err="1">
                <a:effectLst/>
                <a:highlight>
                  <a:srgbClr val="FFFFFF"/>
                </a:highlight>
                <a:latin typeface="Consolas" panose="020B0609020204030204" pitchFamily="49" charset="0"/>
              </a:rPr>
              <a:t>arr.shape</a:t>
            </a:r>
            <a:r>
              <a:rPr lang="en-US" b="0" i="0" dirty="0">
                <a:effectLst/>
                <a:highlight>
                  <a:srgbClr val="FFFFFF"/>
                </a:highlight>
                <a:latin typeface="Consolas" panose="020B0609020204030204" pitchFamily="49" charset="0"/>
              </a:rPr>
              <a:t>) </a:t>
            </a:r>
          </a:p>
          <a:p>
            <a:pPr>
              <a:lnSpc>
                <a:spcPct val="150000"/>
              </a:lnSpc>
            </a:pPr>
            <a:r>
              <a:rPr lang="en-US" b="0" i="0" dirty="0">
                <a:solidFill>
                  <a:srgbClr val="C00000"/>
                </a:solidFill>
                <a:effectLst/>
                <a:highlight>
                  <a:srgbClr val="FFFFFF"/>
                </a:highlight>
                <a:latin typeface="Consolas" panose="020B0609020204030204" pitchFamily="49" charset="0"/>
              </a:rPr>
              <a:t>Output: (2,3) </a:t>
            </a:r>
            <a:r>
              <a:rPr lang="en-US" b="0" i="0" dirty="0">
                <a:solidFill>
                  <a:srgbClr val="0070C0"/>
                </a:solidFill>
                <a:effectLst/>
                <a:highlight>
                  <a:srgbClr val="FFFFFF"/>
                </a:highlight>
                <a:latin typeface="Consolas" panose="020B0609020204030204" pitchFamily="49" charset="0"/>
              </a:rPr>
              <a:t>#2 rows and 3 columns</a:t>
            </a:r>
            <a:endParaRPr lang="en-US" b="0" i="0" dirty="0">
              <a:solidFill>
                <a:srgbClr val="0070C0"/>
              </a:solidFill>
              <a:effectLst/>
              <a:highlight>
                <a:srgbClr val="FFFFFF"/>
              </a:highlight>
              <a:latin typeface="Calibri" panose="020F0502020204030204" pitchFamily="34" charset="0"/>
              <a:ea typeface="Calibri" panose="020F0502020204030204" pitchFamily="34" charset="0"/>
              <a:cs typeface="Calibri" panose="020F0502020204030204" pitchFamily="34" charset="0"/>
            </a:endParaRPr>
          </a:p>
        </p:txBody>
      </p:sp>
      <p:sp>
        <p:nvSpPr>
          <p:cNvPr id="8" name="TextBox 7">
            <a:extLst>
              <a:ext uri="{FF2B5EF4-FFF2-40B4-BE49-F238E27FC236}">
                <a16:creationId xmlns:a16="http://schemas.microsoft.com/office/drawing/2014/main" id="{AF6E6827-A8A8-3DC8-6C2C-C9A6735AAA1A}"/>
              </a:ext>
            </a:extLst>
          </p:cNvPr>
          <p:cNvSpPr txBox="1"/>
          <p:nvPr/>
        </p:nvSpPr>
        <p:spPr>
          <a:xfrm>
            <a:off x="6095999" y="4101148"/>
            <a:ext cx="3916582" cy="2172711"/>
          </a:xfrm>
          <a:prstGeom prst="rect">
            <a:avLst/>
          </a:prstGeom>
          <a:noFill/>
          <a:ln w="6350">
            <a:solidFill>
              <a:schemeClr val="tx1"/>
            </a:solidFill>
          </a:ln>
        </p:spPr>
        <p:txBody>
          <a:bodyPr wrap="square">
            <a:spAutoFit/>
          </a:bodyPr>
          <a:lstStyle/>
          <a:p>
            <a:pPr algn="ctr">
              <a:lnSpc>
                <a:spcPct val="150000"/>
              </a:lnSpc>
            </a:pPr>
            <a:r>
              <a:rPr lang="en-IN" sz="2000" b="1" u="sng" dirty="0" err="1">
                <a:solidFill>
                  <a:srgbClr val="002060"/>
                </a:solidFill>
                <a:highlight>
                  <a:srgbClr val="FFFFFF"/>
                </a:highlight>
                <a:latin typeface="Calibri" panose="020F0502020204030204" pitchFamily="34" charset="0"/>
                <a:ea typeface="Calibri" panose="020F0502020204030204" pitchFamily="34" charset="0"/>
                <a:cs typeface="Calibri" panose="020F0502020204030204" pitchFamily="34" charset="0"/>
              </a:rPr>
              <a:t>dtype</a:t>
            </a:r>
            <a:endParaRPr lang="en-IN" sz="2000" b="1" u="sng" dirty="0">
              <a:solidFill>
                <a:srgbClr val="002060"/>
              </a:solidFill>
              <a:highlight>
                <a:srgbClr val="FFFFFF"/>
              </a:highlight>
              <a:latin typeface="Calibri" panose="020F0502020204030204" pitchFamily="34" charset="0"/>
              <a:ea typeface="Calibri" panose="020F0502020204030204" pitchFamily="34" charset="0"/>
              <a:cs typeface="Calibri" panose="020F0502020204030204" pitchFamily="34" charset="0"/>
            </a:endParaRPr>
          </a:p>
          <a:p>
            <a:pPr>
              <a:lnSpc>
                <a:spcPct val="150000"/>
              </a:lnSpc>
            </a:pPr>
            <a:r>
              <a:rPr lang="en-US" b="0" i="0" dirty="0">
                <a:effectLst/>
                <a:highlight>
                  <a:srgbClr val="FFFFFF"/>
                </a:highlight>
                <a:latin typeface="Consolas" panose="020B0609020204030204" pitchFamily="49" charset="0"/>
              </a:rPr>
              <a:t>import </a:t>
            </a:r>
            <a:r>
              <a:rPr lang="en-US" b="0" i="0" dirty="0" err="1">
                <a:effectLst/>
                <a:highlight>
                  <a:srgbClr val="FFFFFF"/>
                </a:highlight>
                <a:latin typeface="Consolas" panose="020B0609020204030204" pitchFamily="49" charset="0"/>
              </a:rPr>
              <a:t>numpy</a:t>
            </a:r>
            <a:r>
              <a:rPr lang="en-US" b="0" i="0" dirty="0">
                <a:effectLst/>
                <a:highlight>
                  <a:srgbClr val="FFFFFF"/>
                </a:highlight>
                <a:latin typeface="Consolas" panose="020B0609020204030204" pitchFamily="49" charset="0"/>
              </a:rPr>
              <a:t> as np</a:t>
            </a:r>
          </a:p>
          <a:p>
            <a:pPr>
              <a:lnSpc>
                <a:spcPct val="150000"/>
              </a:lnSpc>
            </a:pPr>
            <a:r>
              <a:rPr lang="en-US" b="0" i="0" dirty="0" err="1">
                <a:effectLst/>
                <a:highlight>
                  <a:srgbClr val="FFFFFF"/>
                </a:highlight>
                <a:latin typeface="Consolas" panose="020B0609020204030204" pitchFamily="49" charset="0"/>
              </a:rPr>
              <a:t>arr</a:t>
            </a:r>
            <a:r>
              <a:rPr lang="en-US" b="0" i="0" dirty="0">
                <a:effectLst/>
                <a:highlight>
                  <a:srgbClr val="FFFFFF"/>
                </a:highlight>
                <a:latin typeface="Consolas" panose="020B0609020204030204" pitchFamily="49" charset="0"/>
              </a:rPr>
              <a:t> = </a:t>
            </a:r>
            <a:r>
              <a:rPr lang="en-US" b="0" i="0" dirty="0" err="1">
                <a:effectLst/>
                <a:highlight>
                  <a:srgbClr val="FFFFFF"/>
                </a:highlight>
                <a:latin typeface="Consolas" panose="020B0609020204030204" pitchFamily="49" charset="0"/>
              </a:rPr>
              <a:t>np.array</a:t>
            </a:r>
            <a:r>
              <a:rPr lang="en-US" b="0" i="0" dirty="0">
                <a:effectLst/>
                <a:highlight>
                  <a:srgbClr val="FFFFFF"/>
                </a:highlight>
                <a:latin typeface="Consolas" panose="020B0609020204030204" pitchFamily="49" charset="0"/>
              </a:rPr>
              <a:t>([6, 7, 8])</a:t>
            </a:r>
          </a:p>
          <a:p>
            <a:pPr>
              <a:lnSpc>
                <a:spcPct val="150000"/>
              </a:lnSpc>
            </a:pPr>
            <a:r>
              <a:rPr lang="en-US" b="0" i="0" dirty="0">
                <a:effectLst/>
                <a:highlight>
                  <a:srgbClr val="FFFFFF"/>
                </a:highlight>
                <a:latin typeface="Consolas" panose="020B0609020204030204" pitchFamily="49" charset="0"/>
              </a:rPr>
              <a:t>print(</a:t>
            </a:r>
            <a:r>
              <a:rPr lang="en-US" b="0" i="0" dirty="0" err="1">
                <a:effectLst/>
                <a:highlight>
                  <a:srgbClr val="FFFFFF"/>
                </a:highlight>
                <a:latin typeface="Consolas" panose="020B0609020204030204" pitchFamily="49" charset="0"/>
              </a:rPr>
              <a:t>arr.dtype</a:t>
            </a:r>
            <a:r>
              <a:rPr lang="en-US" b="0" i="0" dirty="0">
                <a:effectLst/>
                <a:highlight>
                  <a:srgbClr val="FFFFFF"/>
                </a:highlight>
                <a:latin typeface="Consolas" panose="020B0609020204030204" pitchFamily="49" charset="0"/>
              </a:rPr>
              <a:t>) </a:t>
            </a:r>
          </a:p>
          <a:p>
            <a:pPr>
              <a:lnSpc>
                <a:spcPct val="150000"/>
              </a:lnSpc>
            </a:pPr>
            <a:r>
              <a:rPr lang="en-US" b="0" i="0" dirty="0">
                <a:solidFill>
                  <a:srgbClr val="C00000"/>
                </a:solidFill>
                <a:effectLst/>
                <a:highlight>
                  <a:srgbClr val="FFFFFF"/>
                </a:highlight>
                <a:latin typeface="Consolas" panose="020B0609020204030204" pitchFamily="49" charset="0"/>
              </a:rPr>
              <a:t>Output: int64</a:t>
            </a:r>
            <a:endParaRPr lang="en-US" b="0" i="0" dirty="0">
              <a:solidFill>
                <a:srgbClr val="C00000"/>
              </a:solidFill>
              <a:effectLst/>
              <a:highlight>
                <a:srgbClr val="FFFFFF"/>
              </a:highlight>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54305331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Table 8">
            <a:extLst>
              <a:ext uri="{FF2B5EF4-FFF2-40B4-BE49-F238E27FC236}">
                <a16:creationId xmlns:a16="http://schemas.microsoft.com/office/drawing/2014/main" id="{0B6EC464-4750-5FF3-7A5A-15612BA6E293}"/>
              </a:ext>
            </a:extLst>
          </p:cNvPr>
          <p:cNvGraphicFramePr>
            <a:graphicFrameLocks noGrp="1"/>
          </p:cNvGraphicFramePr>
          <p:nvPr/>
        </p:nvGraphicFramePr>
        <p:xfrm>
          <a:off x="0" y="23812"/>
          <a:ext cx="12192000" cy="465287"/>
        </p:xfrm>
        <a:graphic>
          <a:graphicData uri="http://schemas.openxmlformats.org/drawingml/2006/table">
            <a:tbl>
              <a:tblPr firstRow="1" bandRow="1">
                <a:tableStyleId>{5C22544A-7EE6-4342-B048-85BDC9FD1C3A}</a:tableStyleId>
              </a:tblPr>
              <a:tblGrid>
                <a:gridCol w="6092042">
                  <a:extLst>
                    <a:ext uri="{9D8B030D-6E8A-4147-A177-3AD203B41FA5}">
                      <a16:colId xmlns:a16="http://schemas.microsoft.com/office/drawing/2014/main" val="2179694530"/>
                    </a:ext>
                  </a:extLst>
                </a:gridCol>
                <a:gridCol w="6099958">
                  <a:extLst>
                    <a:ext uri="{9D8B030D-6E8A-4147-A177-3AD203B41FA5}">
                      <a16:colId xmlns:a16="http://schemas.microsoft.com/office/drawing/2014/main" val="2768207918"/>
                    </a:ext>
                  </a:extLst>
                </a:gridCol>
              </a:tblGrid>
              <a:tr h="465287">
                <a:tc>
                  <a:txBody>
                    <a:bodyPr/>
                    <a:lstStyle/>
                    <a:p>
                      <a:endParaRPr lang="en-US" dirty="0"/>
                    </a:p>
                  </a:txBody>
                  <a:tcPr>
                    <a:solidFill>
                      <a:srgbClr val="FF85FF"/>
                    </a:solidFill>
                  </a:tcPr>
                </a:tc>
                <a:tc>
                  <a:txBody>
                    <a:bodyPr/>
                    <a:lstStyle/>
                    <a:p>
                      <a:endParaRPr lang="en-US" dirty="0"/>
                    </a:p>
                  </a:txBody>
                  <a:tcPr>
                    <a:solidFill>
                      <a:srgbClr val="FFFF00"/>
                    </a:solidFill>
                  </a:tcPr>
                </a:tc>
                <a:extLst>
                  <a:ext uri="{0D108BD9-81ED-4DB2-BD59-A6C34878D82A}">
                    <a16:rowId xmlns:a16="http://schemas.microsoft.com/office/drawing/2014/main" val="1996944423"/>
                  </a:ext>
                </a:extLst>
              </a:tr>
            </a:tbl>
          </a:graphicData>
        </a:graphic>
      </p:graphicFrame>
      <p:graphicFrame>
        <p:nvGraphicFramePr>
          <p:cNvPr id="10" name="Table 9">
            <a:extLst>
              <a:ext uri="{FF2B5EF4-FFF2-40B4-BE49-F238E27FC236}">
                <a16:creationId xmlns:a16="http://schemas.microsoft.com/office/drawing/2014/main" id="{494BAFB7-FE1F-E1A9-7A6C-AB4145BD9BA1}"/>
              </a:ext>
            </a:extLst>
          </p:cNvPr>
          <p:cNvGraphicFramePr>
            <a:graphicFrameLocks noGrp="1"/>
          </p:cNvGraphicFramePr>
          <p:nvPr>
            <p:extLst>
              <p:ext uri="{D42A27DB-BD31-4B8C-83A1-F6EECF244321}">
                <p14:modId xmlns:p14="http://schemas.microsoft.com/office/powerpoint/2010/main" val="1982617372"/>
              </p:ext>
            </p:extLst>
          </p:nvPr>
        </p:nvGraphicFramePr>
        <p:xfrm>
          <a:off x="1" y="6478892"/>
          <a:ext cx="12191999" cy="370840"/>
        </p:xfrm>
        <a:graphic>
          <a:graphicData uri="http://schemas.openxmlformats.org/drawingml/2006/table">
            <a:tbl>
              <a:tblPr firstRow="1" bandRow="1">
                <a:tableStyleId>{5C22544A-7EE6-4342-B048-85BDC9FD1C3A}</a:tableStyleId>
              </a:tblPr>
              <a:tblGrid>
                <a:gridCol w="6080165">
                  <a:extLst>
                    <a:ext uri="{9D8B030D-6E8A-4147-A177-3AD203B41FA5}">
                      <a16:colId xmlns:a16="http://schemas.microsoft.com/office/drawing/2014/main" val="2179694530"/>
                    </a:ext>
                  </a:extLst>
                </a:gridCol>
                <a:gridCol w="6111834">
                  <a:extLst>
                    <a:ext uri="{9D8B030D-6E8A-4147-A177-3AD203B41FA5}">
                      <a16:colId xmlns:a16="http://schemas.microsoft.com/office/drawing/2014/main" val="2768207918"/>
                    </a:ext>
                  </a:extLst>
                </a:gridCol>
              </a:tblGrid>
              <a:tr h="370840">
                <a:tc>
                  <a:txBody>
                    <a:bodyPr/>
                    <a:lstStyle/>
                    <a:p>
                      <a:endParaRPr lang="en-US" dirty="0"/>
                    </a:p>
                  </a:txBody>
                  <a:tcPr>
                    <a:solidFill>
                      <a:srgbClr val="FFFF00"/>
                    </a:solidFill>
                  </a:tcPr>
                </a:tc>
                <a:tc>
                  <a:txBody>
                    <a:bodyPr/>
                    <a:lstStyle/>
                    <a:p>
                      <a:pPr algn="r"/>
                      <a:r>
                        <a:rPr lang="en-US" dirty="0">
                          <a:solidFill>
                            <a:schemeClr val="tx1"/>
                          </a:solidFill>
                        </a:rPr>
                        <a:t>48</a:t>
                      </a:r>
                    </a:p>
                  </a:txBody>
                  <a:tcPr>
                    <a:solidFill>
                      <a:srgbClr val="FF85FF"/>
                    </a:solidFill>
                  </a:tcPr>
                </a:tc>
                <a:extLst>
                  <a:ext uri="{0D108BD9-81ED-4DB2-BD59-A6C34878D82A}">
                    <a16:rowId xmlns:a16="http://schemas.microsoft.com/office/drawing/2014/main" val="1996944423"/>
                  </a:ext>
                </a:extLst>
              </a:tr>
            </a:tbl>
          </a:graphicData>
        </a:graphic>
      </p:graphicFrame>
      <p:pic>
        <p:nvPicPr>
          <p:cNvPr id="12" name="Google Shape;187;p25" descr="pngfind.com-kingpin-png-4152286 (1).png">
            <a:extLst>
              <a:ext uri="{FF2B5EF4-FFF2-40B4-BE49-F238E27FC236}">
                <a16:creationId xmlns:a16="http://schemas.microsoft.com/office/drawing/2014/main" id="{2DBF2481-A2DB-F96E-5749-B03DC4F71665}"/>
              </a:ext>
            </a:extLst>
          </p:cNvPr>
          <p:cNvPicPr preferRelativeResize="0"/>
          <p:nvPr/>
        </p:nvPicPr>
        <p:blipFill rotWithShape="1">
          <a:blip r:embed="rId2">
            <a:alphaModFix/>
          </a:blip>
          <a:srcRect/>
          <a:stretch/>
        </p:blipFill>
        <p:spPr>
          <a:xfrm>
            <a:off x="11044052" y="8268"/>
            <a:ext cx="1051261" cy="465287"/>
          </a:xfrm>
          <a:prstGeom prst="rect">
            <a:avLst/>
          </a:prstGeom>
          <a:noFill/>
          <a:ln>
            <a:noFill/>
          </a:ln>
        </p:spPr>
      </p:pic>
      <p:sp>
        <p:nvSpPr>
          <p:cNvPr id="19" name="Rectangle 18">
            <a:extLst>
              <a:ext uri="{FF2B5EF4-FFF2-40B4-BE49-F238E27FC236}">
                <a16:creationId xmlns:a16="http://schemas.microsoft.com/office/drawing/2014/main" id="{A0702E37-2E7E-7262-5E76-F69A817105B3}"/>
              </a:ext>
            </a:extLst>
          </p:cNvPr>
          <p:cNvSpPr/>
          <p:nvPr/>
        </p:nvSpPr>
        <p:spPr>
          <a:xfrm>
            <a:off x="0" y="8268"/>
            <a:ext cx="12192000" cy="6825920"/>
          </a:xfrm>
          <a:prstGeom prst="rect">
            <a:avLst/>
          </a:prstGeom>
          <a:noFill/>
          <a:ln w="38100">
            <a:solidFill>
              <a:srgbClr val="0432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DCB2A3F0-9003-5886-09B4-27925BBE4000}"/>
              </a:ext>
            </a:extLst>
          </p:cNvPr>
          <p:cNvSpPr txBox="1"/>
          <p:nvPr/>
        </p:nvSpPr>
        <p:spPr>
          <a:xfrm>
            <a:off x="0" y="873851"/>
            <a:ext cx="12191999" cy="646331"/>
          </a:xfrm>
          <a:prstGeom prst="rect">
            <a:avLst/>
          </a:prstGeom>
          <a:noFill/>
        </p:spPr>
        <p:txBody>
          <a:bodyPr wrap="square">
            <a:spAutoFit/>
          </a:bodyPr>
          <a:lstStyle/>
          <a:p>
            <a:pPr algn="ctr"/>
            <a:r>
              <a:rPr lang="en-US" sz="3600" b="1" dirty="0">
                <a:effectLst/>
                <a:latin typeface="Calibri" panose="020F0502020204030204" pitchFamily="34" charset="0"/>
                <a:ea typeface="Calibri" panose="020F0502020204030204" pitchFamily="34" charset="0"/>
                <a:cs typeface="Calibri" panose="020F0502020204030204" pitchFamily="34" charset="0"/>
              </a:rPr>
              <a:t>Array Attributes</a:t>
            </a:r>
            <a:endParaRPr lang="en-GB" sz="8800" b="1" cap="none" spc="0" dirty="0">
              <a:ln w="0"/>
              <a:solidFill>
                <a:schemeClr val="tx1"/>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Calibri" panose="020F0502020204030204" pitchFamily="34" charset="0"/>
            </a:endParaRPr>
          </a:p>
        </p:txBody>
      </p:sp>
      <p:sp>
        <p:nvSpPr>
          <p:cNvPr id="5" name="TextBox 4">
            <a:extLst>
              <a:ext uri="{FF2B5EF4-FFF2-40B4-BE49-F238E27FC236}">
                <a16:creationId xmlns:a16="http://schemas.microsoft.com/office/drawing/2014/main" id="{57BF3EEF-553A-D37A-6EF6-B514AF07FC3C}"/>
              </a:ext>
            </a:extLst>
          </p:cNvPr>
          <p:cNvSpPr txBox="1"/>
          <p:nvPr/>
        </p:nvSpPr>
        <p:spPr>
          <a:xfrm>
            <a:off x="2653182" y="1674349"/>
            <a:ext cx="6659783" cy="2588209"/>
          </a:xfrm>
          <a:prstGeom prst="rect">
            <a:avLst/>
          </a:prstGeom>
          <a:noFill/>
          <a:ln w="6350">
            <a:solidFill>
              <a:schemeClr val="tx1"/>
            </a:solidFill>
          </a:ln>
        </p:spPr>
        <p:txBody>
          <a:bodyPr wrap="square">
            <a:spAutoFit/>
          </a:bodyPr>
          <a:lstStyle/>
          <a:p>
            <a:pPr algn="ctr">
              <a:lnSpc>
                <a:spcPct val="150000"/>
              </a:lnSpc>
            </a:pPr>
            <a:r>
              <a:rPr lang="en-IN" sz="2000" b="1" u="sng" dirty="0" err="1">
                <a:solidFill>
                  <a:srgbClr val="002060"/>
                </a:solidFill>
                <a:highlight>
                  <a:srgbClr val="FFFFFF"/>
                </a:highlight>
                <a:latin typeface="Calibri" panose="020F0502020204030204" pitchFamily="34" charset="0"/>
                <a:ea typeface="Calibri" panose="020F0502020204030204" pitchFamily="34" charset="0"/>
                <a:cs typeface="Calibri" panose="020F0502020204030204" pitchFamily="34" charset="0"/>
              </a:rPr>
              <a:t>itemsize</a:t>
            </a:r>
            <a:endParaRPr lang="en-IN" sz="2000" b="1" u="sng" dirty="0">
              <a:solidFill>
                <a:srgbClr val="002060"/>
              </a:solidFill>
              <a:highlight>
                <a:srgbClr val="FFFFFF"/>
              </a:highlight>
              <a:latin typeface="Calibri" panose="020F0502020204030204" pitchFamily="34" charset="0"/>
              <a:ea typeface="Calibri" panose="020F0502020204030204" pitchFamily="34" charset="0"/>
              <a:cs typeface="Calibri" panose="020F0502020204030204" pitchFamily="34" charset="0"/>
            </a:endParaRPr>
          </a:p>
          <a:p>
            <a:pPr>
              <a:lnSpc>
                <a:spcPct val="150000"/>
              </a:lnSpc>
            </a:pPr>
            <a:r>
              <a:rPr lang="en-US" b="0" i="0" dirty="0">
                <a:effectLst/>
                <a:highlight>
                  <a:srgbClr val="FFFFFF"/>
                </a:highlight>
                <a:latin typeface="Consolas" panose="020B0609020204030204" pitchFamily="49" charset="0"/>
              </a:rPr>
              <a:t>import </a:t>
            </a:r>
            <a:r>
              <a:rPr lang="en-US" b="0" i="0" dirty="0" err="1">
                <a:effectLst/>
                <a:highlight>
                  <a:srgbClr val="FFFFFF"/>
                </a:highlight>
                <a:latin typeface="Consolas" panose="020B0609020204030204" pitchFamily="49" charset="0"/>
              </a:rPr>
              <a:t>numpy</a:t>
            </a:r>
            <a:r>
              <a:rPr lang="en-US" b="0" i="0" dirty="0">
                <a:effectLst/>
                <a:highlight>
                  <a:srgbClr val="FFFFFF"/>
                </a:highlight>
                <a:latin typeface="Consolas" panose="020B0609020204030204" pitchFamily="49" charset="0"/>
              </a:rPr>
              <a:t> as np</a:t>
            </a:r>
          </a:p>
          <a:p>
            <a:pPr>
              <a:lnSpc>
                <a:spcPct val="150000"/>
              </a:lnSpc>
            </a:pPr>
            <a:r>
              <a:rPr lang="en-US" b="0" i="0" dirty="0">
                <a:effectLst/>
                <a:highlight>
                  <a:srgbClr val="FFFFFF"/>
                </a:highlight>
                <a:latin typeface="Consolas" panose="020B0609020204030204" pitchFamily="49" charset="0"/>
              </a:rPr>
              <a:t>arr1 = </a:t>
            </a:r>
            <a:r>
              <a:rPr lang="en-US" b="0" i="0" dirty="0" err="1">
                <a:effectLst/>
                <a:highlight>
                  <a:srgbClr val="FFFFFF"/>
                </a:highlight>
                <a:latin typeface="Consolas" panose="020B0609020204030204" pitchFamily="49" charset="0"/>
              </a:rPr>
              <a:t>np.array</a:t>
            </a:r>
            <a:r>
              <a:rPr lang="en-US" b="0" i="0" dirty="0">
                <a:effectLst/>
                <a:highlight>
                  <a:srgbClr val="FFFFFF"/>
                </a:highlight>
                <a:latin typeface="Consolas" panose="020B0609020204030204" pitchFamily="49" charset="0"/>
              </a:rPr>
              <a:t>([6, 7, 8, 10, 13])</a:t>
            </a:r>
          </a:p>
          <a:p>
            <a:pPr>
              <a:lnSpc>
                <a:spcPct val="150000"/>
              </a:lnSpc>
            </a:pPr>
            <a:r>
              <a:rPr lang="en-US" b="0" i="0" dirty="0">
                <a:effectLst/>
                <a:highlight>
                  <a:srgbClr val="FFFFFF"/>
                </a:highlight>
                <a:latin typeface="Consolas" panose="020B0609020204030204" pitchFamily="49" charset="0"/>
              </a:rPr>
              <a:t>arr2 = </a:t>
            </a:r>
            <a:r>
              <a:rPr lang="en-US" b="0" i="0" dirty="0" err="1">
                <a:effectLst/>
                <a:highlight>
                  <a:srgbClr val="FFFFFF"/>
                </a:highlight>
                <a:latin typeface="Consolas" panose="020B0609020204030204" pitchFamily="49" charset="0"/>
              </a:rPr>
              <a:t>np.array</a:t>
            </a:r>
            <a:r>
              <a:rPr lang="en-US" b="0" i="0" dirty="0">
                <a:effectLst/>
                <a:highlight>
                  <a:srgbClr val="FFFFFF"/>
                </a:highlight>
                <a:latin typeface="Consolas" panose="020B0609020204030204" pitchFamily="49" charset="0"/>
              </a:rPr>
              <a:t>([6, 7, 8, 10, 13], </a:t>
            </a:r>
            <a:r>
              <a:rPr lang="en-US" b="0" i="0" dirty="0" err="1">
                <a:effectLst/>
                <a:highlight>
                  <a:srgbClr val="FFFFFF"/>
                </a:highlight>
                <a:latin typeface="Consolas" panose="020B0609020204030204" pitchFamily="49" charset="0"/>
              </a:rPr>
              <a:t>dtype</a:t>
            </a:r>
            <a:r>
              <a:rPr lang="en-US" b="0" i="0" dirty="0">
                <a:effectLst/>
                <a:highlight>
                  <a:srgbClr val="FFFFFF"/>
                </a:highlight>
                <a:latin typeface="Consolas" panose="020B0609020204030204" pitchFamily="49" charset="0"/>
              </a:rPr>
              <a:t>=np.int32)</a:t>
            </a:r>
          </a:p>
          <a:p>
            <a:pPr>
              <a:lnSpc>
                <a:spcPct val="150000"/>
              </a:lnSpc>
            </a:pPr>
            <a:r>
              <a:rPr lang="en-US" b="0" i="0" dirty="0">
                <a:effectLst/>
                <a:highlight>
                  <a:srgbClr val="FFFFFF"/>
                </a:highlight>
                <a:latin typeface="Consolas" panose="020B0609020204030204" pitchFamily="49" charset="0"/>
              </a:rPr>
              <a:t>print(arr1.itemsize)  </a:t>
            </a:r>
            <a:r>
              <a:rPr lang="en-US" b="0" i="0" dirty="0">
                <a:solidFill>
                  <a:srgbClr val="C00000"/>
                </a:solidFill>
                <a:effectLst/>
                <a:highlight>
                  <a:srgbClr val="FFFFFF"/>
                </a:highlight>
                <a:latin typeface="Consolas" panose="020B0609020204030204" pitchFamily="49" charset="0"/>
              </a:rPr>
              <a:t># prints 8</a:t>
            </a:r>
          </a:p>
          <a:p>
            <a:pPr>
              <a:lnSpc>
                <a:spcPct val="150000"/>
              </a:lnSpc>
            </a:pPr>
            <a:r>
              <a:rPr lang="en-US" b="0" i="0" dirty="0">
                <a:effectLst/>
                <a:highlight>
                  <a:srgbClr val="FFFFFF"/>
                </a:highlight>
                <a:latin typeface="Consolas" panose="020B0609020204030204" pitchFamily="49" charset="0"/>
              </a:rPr>
              <a:t>print(arr2.itemsize)  </a:t>
            </a:r>
            <a:r>
              <a:rPr lang="en-US" b="0" i="0" dirty="0">
                <a:solidFill>
                  <a:srgbClr val="C00000"/>
                </a:solidFill>
                <a:effectLst/>
                <a:highlight>
                  <a:srgbClr val="FFFFFF"/>
                </a:highlight>
                <a:latin typeface="Consolas" panose="020B0609020204030204" pitchFamily="49" charset="0"/>
              </a:rPr>
              <a:t># prints 4</a:t>
            </a:r>
            <a:endParaRPr lang="en-US" b="0" i="0" dirty="0">
              <a:solidFill>
                <a:srgbClr val="C00000"/>
              </a:solidFill>
              <a:effectLst/>
              <a:highlight>
                <a:srgbClr val="FFFFFF"/>
              </a:highlight>
              <a:latin typeface="Calibri" panose="020F0502020204030204" pitchFamily="34" charset="0"/>
              <a:ea typeface="Calibri" panose="020F0502020204030204" pitchFamily="34" charset="0"/>
              <a:cs typeface="Calibri" panose="020F0502020204030204" pitchFamily="34" charset="0"/>
            </a:endParaRPr>
          </a:p>
        </p:txBody>
      </p:sp>
      <p:sp>
        <p:nvSpPr>
          <p:cNvPr id="6" name="TextBox 5">
            <a:extLst>
              <a:ext uri="{FF2B5EF4-FFF2-40B4-BE49-F238E27FC236}">
                <a16:creationId xmlns:a16="http://schemas.microsoft.com/office/drawing/2014/main" id="{6748F3D9-C3B6-5D7E-4AFD-9EB292ED46C8}"/>
              </a:ext>
            </a:extLst>
          </p:cNvPr>
          <p:cNvSpPr txBox="1"/>
          <p:nvPr/>
        </p:nvSpPr>
        <p:spPr>
          <a:xfrm>
            <a:off x="318052" y="4468667"/>
            <a:ext cx="11171583" cy="1477328"/>
          </a:xfrm>
          <a:prstGeom prst="rect">
            <a:avLst/>
          </a:prstGeom>
          <a:noFill/>
        </p:spPr>
        <p:txBody>
          <a:bodyPr wrap="square" rtlCol="0">
            <a:spAutoFit/>
          </a:bodyPr>
          <a:lstStyle/>
          <a:p>
            <a:pPr marL="285750" indent="-285750">
              <a:buFont typeface="Arial" panose="020B0604020202020204" pitchFamily="34" charset="0"/>
              <a:buChar char="•"/>
            </a:pPr>
            <a:r>
              <a:rPr lang="en-US" b="1" dirty="0"/>
              <a:t>arr1</a:t>
            </a:r>
            <a:r>
              <a:rPr lang="en-US" dirty="0"/>
              <a:t> is an array containing 64-bit integers by default, which uses 8 bytes of memory per element. </a:t>
            </a:r>
          </a:p>
          <a:p>
            <a:r>
              <a:rPr lang="en-US" dirty="0"/>
              <a:t>So, </a:t>
            </a:r>
            <a:r>
              <a:rPr lang="en-US" dirty="0" err="1"/>
              <a:t>itemsize</a:t>
            </a:r>
            <a:r>
              <a:rPr lang="en-US" dirty="0"/>
              <a:t> returns 8 as the size of each element.</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b="1" dirty="0"/>
              <a:t>arr2</a:t>
            </a:r>
            <a:r>
              <a:rPr lang="en-US" dirty="0"/>
              <a:t> is an array of 32-bit integers, so each element in this array uses only 4 bytes of memory. </a:t>
            </a:r>
          </a:p>
          <a:p>
            <a:r>
              <a:rPr lang="en-US" dirty="0"/>
              <a:t>So, </a:t>
            </a:r>
            <a:r>
              <a:rPr lang="en-US" dirty="0" err="1"/>
              <a:t>itemsize</a:t>
            </a:r>
            <a:r>
              <a:rPr lang="en-US" dirty="0"/>
              <a:t> returns 4 as the size of each element. </a:t>
            </a:r>
            <a:endParaRPr lang="en-IN" dirty="0"/>
          </a:p>
        </p:txBody>
      </p:sp>
    </p:spTree>
    <p:extLst>
      <p:ext uri="{BB962C8B-B14F-4D97-AF65-F5344CB8AC3E}">
        <p14:creationId xmlns:p14="http://schemas.microsoft.com/office/powerpoint/2010/main" val="4758373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Table 8">
            <a:extLst>
              <a:ext uri="{FF2B5EF4-FFF2-40B4-BE49-F238E27FC236}">
                <a16:creationId xmlns:a16="http://schemas.microsoft.com/office/drawing/2014/main" id="{0B6EC464-4750-5FF3-7A5A-15612BA6E293}"/>
              </a:ext>
            </a:extLst>
          </p:cNvPr>
          <p:cNvGraphicFramePr>
            <a:graphicFrameLocks noGrp="1"/>
          </p:cNvGraphicFramePr>
          <p:nvPr/>
        </p:nvGraphicFramePr>
        <p:xfrm>
          <a:off x="0" y="23812"/>
          <a:ext cx="12192000" cy="465287"/>
        </p:xfrm>
        <a:graphic>
          <a:graphicData uri="http://schemas.openxmlformats.org/drawingml/2006/table">
            <a:tbl>
              <a:tblPr firstRow="1" bandRow="1">
                <a:tableStyleId>{5C22544A-7EE6-4342-B048-85BDC9FD1C3A}</a:tableStyleId>
              </a:tblPr>
              <a:tblGrid>
                <a:gridCol w="6092042">
                  <a:extLst>
                    <a:ext uri="{9D8B030D-6E8A-4147-A177-3AD203B41FA5}">
                      <a16:colId xmlns:a16="http://schemas.microsoft.com/office/drawing/2014/main" val="2179694530"/>
                    </a:ext>
                  </a:extLst>
                </a:gridCol>
                <a:gridCol w="6099958">
                  <a:extLst>
                    <a:ext uri="{9D8B030D-6E8A-4147-A177-3AD203B41FA5}">
                      <a16:colId xmlns:a16="http://schemas.microsoft.com/office/drawing/2014/main" val="2768207918"/>
                    </a:ext>
                  </a:extLst>
                </a:gridCol>
              </a:tblGrid>
              <a:tr h="465287">
                <a:tc>
                  <a:txBody>
                    <a:bodyPr/>
                    <a:lstStyle/>
                    <a:p>
                      <a:endParaRPr lang="en-US" dirty="0"/>
                    </a:p>
                  </a:txBody>
                  <a:tcPr>
                    <a:solidFill>
                      <a:srgbClr val="FF85FF"/>
                    </a:solidFill>
                  </a:tcPr>
                </a:tc>
                <a:tc>
                  <a:txBody>
                    <a:bodyPr/>
                    <a:lstStyle/>
                    <a:p>
                      <a:endParaRPr lang="en-US" dirty="0"/>
                    </a:p>
                  </a:txBody>
                  <a:tcPr>
                    <a:solidFill>
                      <a:srgbClr val="FFFF00"/>
                    </a:solidFill>
                  </a:tcPr>
                </a:tc>
                <a:extLst>
                  <a:ext uri="{0D108BD9-81ED-4DB2-BD59-A6C34878D82A}">
                    <a16:rowId xmlns:a16="http://schemas.microsoft.com/office/drawing/2014/main" val="1996944423"/>
                  </a:ext>
                </a:extLst>
              </a:tr>
            </a:tbl>
          </a:graphicData>
        </a:graphic>
      </p:graphicFrame>
      <p:graphicFrame>
        <p:nvGraphicFramePr>
          <p:cNvPr id="10" name="Table 9">
            <a:extLst>
              <a:ext uri="{FF2B5EF4-FFF2-40B4-BE49-F238E27FC236}">
                <a16:creationId xmlns:a16="http://schemas.microsoft.com/office/drawing/2014/main" id="{494BAFB7-FE1F-E1A9-7A6C-AB4145BD9BA1}"/>
              </a:ext>
            </a:extLst>
          </p:cNvPr>
          <p:cNvGraphicFramePr>
            <a:graphicFrameLocks noGrp="1"/>
          </p:cNvGraphicFramePr>
          <p:nvPr>
            <p:extLst>
              <p:ext uri="{D42A27DB-BD31-4B8C-83A1-F6EECF244321}">
                <p14:modId xmlns:p14="http://schemas.microsoft.com/office/powerpoint/2010/main" val="933470485"/>
              </p:ext>
            </p:extLst>
          </p:nvPr>
        </p:nvGraphicFramePr>
        <p:xfrm>
          <a:off x="1" y="6478892"/>
          <a:ext cx="12191999" cy="370840"/>
        </p:xfrm>
        <a:graphic>
          <a:graphicData uri="http://schemas.openxmlformats.org/drawingml/2006/table">
            <a:tbl>
              <a:tblPr firstRow="1" bandRow="1">
                <a:tableStyleId>{5C22544A-7EE6-4342-B048-85BDC9FD1C3A}</a:tableStyleId>
              </a:tblPr>
              <a:tblGrid>
                <a:gridCol w="6080165">
                  <a:extLst>
                    <a:ext uri="{9D8B030D-6E8A-4147-A177-3AD203B41FA5}">
                      <a16:colId xmlns:a16="http://schemas.microsoft.com/office/drawing/2014/main" val="2179694530"/>
                    </a:ext>
                  </a:extLst>
                </a:gridCol>
                <a:gridCol w="6111834">
                  <a:extLst>
                    <a:ext uri="{9D8B030D-6E8A-4147-A177-3AD203B41FA5}">
                      <a16:colId xmlns:a16="http://schemas.microsoft.com/office/drawing/2014/main" val="2768207918"/>
                    </a:ext>
                  </a:extLst>
                </a:gridCol>
              </a:tblGrid>
              <a:tr h="370840">
                <a:tc>
                  <a:txBody>
                    <a:bodyPr/>
                    <a:lstStyle/>
                    <a:p>
                      <a:endParaRPr lang="en-US" dirty="0"/>
                    </a:p>
                  </a:txBody>
                  <a:tcPr>
                    <a:solidFill>
                      <a:srgbClr val="FFFF00"/>
                    </a:solidFill>
                  </a:tcPr>
                </a:tc>
                <a:tc>
                  <a:txBody>
                    <a:bodyPr/>
                    <a:lstStyle/>
                    <a:p>
                      <a:pPr algn="r"/>
                      <a:r>
                        <a:rPr lang="en-US" dirty="0">
                          <a:solidFill>
                            <a:schemeClr val="tx1"/>
                          </a:solidFill>
                        </a:rPr>
                        <a:t>49</a:t>
                      </a:r>
                    </a:p>
                  </a:txBody>
                  <a:tcPr>
                    <a:solidFill>
                      <a:srgbClr val="FF85FF"/>
                    </a:solidFill>
                  </a:tcPr>
                </a:tc>
                <a:extLst>
                  <a:ext uri="{0D108BD9-81ED-4DB2-BD59-A6C34878D82A}">
                    <a16:rowId xmlns:a16="http://schemas.microsoft.com/office/drawing/2014/main" val="1996944423"/>
                  </a:ext>
                </a:extLst>
              </a:tr>
            </a:tbl>
          </a:graphicData>
        </a:graphic>
      </p:graphicFrame>
      <p:pic>
        <p:nvPicPr>
          <p:cNvPr id="12" name="Google Shape;187;p25" descr="pngfind.com-kingpin-png-4152286 (1).png">
            <a:extLst>
              <a:ext uri="{FF2B5EF4-FFF2-40B4-BE49-F238E27FC236}">
                <a16:creationId xmlns:a16="http://schemas.microsoft.com/office/drawing/2014/main" id="{2DBF2481-A2DB-F96E-5749-B03DC4F71665}"/>
              </a:ext>
            </a:extLst>
          </p:cNvPr>
          <p:cNvPicPr preferRelativeResize="0"/>
          <p:nvPr/>
        </p:nvPicPr>
        <p:blipFill rotWithShape="1">
          <a:blip r:embed="rId2">
            <a:alphaModFix/>
          </a:blip>
          <a:srcRect/>
          <a:stretch/>
        </p:blipFill>
        <p:spPr>
          <a:xfrm>
            <a:off x="11044052" y="8268"/>
            <a:ext cx="1051261" cy="465287"/>
          </a:xfrm>
          <a:prstGeom prst="rect">
            <a:avLst/>
          </a:prstGeom>
          <a:noFill/>
          <a:ln>
            <a:noFill/>
          </a:ln>
        </p:spPr>
      </p:pic>
      <p:sp>
        <p:nvSpPr>
          <p:cNvPr id="14" name="Rectangle 13">
            <a:extLst>
              <a:ext uri="{FF2B5EF4-FFF2-40B4-BE49-F238E27FC236}">
                <a16:creationId xmlns:a16="http://schemas.microsoft.com/office/drawing/2014/main" id="{6EB9A5F7-B7D7-E008-8229-AD564931BCC6}"/>
              </a:ext>
            </a:extLst>
          </p:cNvPr>
          <p:cNvSpPr/>
          <p:nvPr/>
        </p:nvSpPr>
        <p:spPr>
          <a:xfrm>
            <a:off x="0" y="2967335"/>
            <a:ext cx="12191999" cy="707886"/>
          </a:xfrm>
          <a:prstGeom prst="rect">
            <a:avLst/>
          </a:prstGeom>
          <a:noFill/>
        </p:spPr>
        <p:txBody>
          <a:bodyPr wrap="square" lIns="91440" tIns="45720" rIns="91440" bIns="45720">
            <a:spAutoFit/>
          </a:bodyPr>
          <a:lstStyle/>
          <a:p>
            <a:pPr algn="ctr"/>
            <a:r>
              <a:rPr lang="en-US" sz="4000" b="1" dirty="0">
                <a:effectLst/>
                <a:latin typeface="Calibri" panose="020F0502020204030204" pitchFamily="34" charset="0"/>
                <a:ea typeface="Calibri" panose="020F0502020204030204" pitchFamily="34" charset="0"/>
                <a:cs typeface="Calibri" panose="020F0502020204030204" pitchFamily="34" charset="0"/>
              </a:rPr>
              <a:t>Array Basics Operations</a:t>
            </a:r>
            <a:endParaRPr lang="en-GB" sz="4000" b="1" cap="none" spc="0" dirty="0">
              <a:ln w="0"/>
              <a:solidFill>
                <a:schemeClr val="tx1"/>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Calibri" panose="020F0502020204030204" pitchFamily="34" charset="0"/>
            </a:endParaRPr>
          </a:p>
        </p:txBody>
      </p:sp>
      <p:sp>
        <p:nvSpPr>
          <p:cNvPr id="19" name="Rectangle 18">
            <a:extLst>
              <a:ext uri="{FF2B5EF4-FFF2-40B4-BE49-F238E27FC236}">
                <a16:creationId xmlns:a16="http://schemas.microsoft.com/office/drawing/2014/main" id="{A0702E37-2E7E-7262-5E76-F69A817105B3}"/>
              </a:ext>
            </a:extLst>
          </p:cNvPr>
          <p:cNvSpPr/>
          <p:nvPr/>
        </p:nvSpPr>
        <p:spPr>
          <a:xfrm>
            <a:off x="0" y="8268"/>
            <a:ext cx="12192000" cy="6825920"/>
          </a:xfrm>
          <a:prstGeom prst="rect">
            <a:avLst/>
          </a:prstGeom>
          <a:noFill/>
          <a:ln w="38100">
            <a:solidFill>
              <a:srgbClr val="0432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0110584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Table 8">
            <a:extLst>
              <a:ext uri="{FF2B5EF4-FFF2-40B4-BE49-F238E27FC236}">
                <a16:creationId xmlns:a16="http://schemas.microsoft.com/office/drawing/2014/main" id="{0B6EC464-4750-5FF3-7A5A-15612BA6E293}"/>
              </a:ext>
            </a:extLst>
          </p:cNvPr>
          <p:cNvGraphicFramePr>
            <a:graphicFrameLocks noGrp="1"/>
          </p:cNvGraphicFramePr>
          <p:nvPr/>
        </p:nvGraphicFramePr>
        <p:xfrm>
          <a:off x="0" y="23812"/>
          <a:ext cx="12192000" cy="465287"/>
        </p:xfrm>
        <a:graphic>
          <a:graphicData uri="http://schemas.openxmlformats.org/drawingml/2006/table">
            <a:tbl>
              <a:tblPr firstRow="1" bandRow="1">
                <a:tableStyleId>{5C22544A-7EE6-4342-B048-85BDC9FD1C3A}</a:tableStyleId>
              </a:tblPr>
              <a:tblGrid>
                <a:gridCol w="6092042">
                  <a:extLst>
                    <a:ext uri="{9D8B030D-6E8A-4147-A177-3AD203B41FA5}">
                      <a16:colId xmlns:a16="http://schemas.microsoft.com/office/drawing/2014/main" val="2179694530"/>
                    </a:ext>
                  </a:extLst>
                </a:gridCol>
                <a:gridCol w="6099958">
                  <a:extLst>
                    <a:ext uri="{9D8B030D-6E8A-4147-A177-3AD203B41FA5}">
                      <a16:colId xmlns:a16="http://schemas.microsoft.com/office/drawing/2014/main" val="2768207918"/>
                    </a:ext>
                  </a:extLst>
                </a:gridCol>
              </a:tblGrid>
              <a:tr h="465287">
                <a:tc>
                  <a:txBody>
                    <a:bodyPr/>
                    <a:lstStyle/>
                    <a:p>
                      <a:endParaRPr lang="en-US" dirty="0"/>
                    </a:p>
                  </a:txBody>
                  <a:tcPr>
                    <a:solidFill>
                      <a:srgbClr val="FF85FF"/>
                    </a:solidFill>
                  </a:tcPr>
                </a:tc>
                <a:tc>
                  <a:txBody>
                    <a:bodyPr/>
                    <a:lstStyle/>
                    <a:p>
                      <a:endParaRPr lang="en-US" dirty="0"/>
                    </a:p>
                  </a:txBody>
                  <a:tcPr>
                    <a:solidFill>
                      <a:srgbClr val="FFFF00"/>
                    </a:solidFill>
                  </a:tcPr>
                </a:tc>
                <a:extLst>
                  <a:ext uri="{0D108BD9-81ED-4DB2-BD59-A6C34878D82A}">
                    <a16:rowId xmlns:a16="http://schemas.microsoft.com/office/drawing/2014/main" val="1996944423"/>
                  </a:ext>
                </a:extLst>
              </a:tr>
            </a:tbl>
          </a:graphicData>
        </a:graphic>
      </p:graphicFrame>
      <p:graphicFrame>
        <p:nvGraphicFramePr>
          <p:cNvPr id="10" name="Table 9">
            <a:extLst>
              <a:ext uri="{FF2B5EF4-FFF2-40B4-BE49-F238E27FC236}">
                <a16:creationId xmlns:a16="http://schemas.microsoft.com/office/drawing/2014/main" id="{494BAFB7-FE1F-E1A9-7A6C-AB4145BD9BA1}"/>
              </a:ext>
            </a:extLst>
          </p:cNvPr>
          <p:cNvGraphicFramePr>
            <a:graphicFrameLocks noGrp="1"/>
          </p:cNvGraphicFramePr>
          <p:nvPr>
            <p:extLst>
              <p:ext uri="{D42A27DB-BD31-4B8C-83A1-F6EECF244321}">
                <p14:modId xmlns:p14="http://schemas.microsoft.com/office/powerpoint/2010/main" val="1188812968"/>
              </p:ext>
            </p:extLst>
          </p:nvPr>
        </p:nvGraphicFramePr>
        <p:xfrm>
          <a:off x="1" y="6478892"/>
          <a:ext cx="12191999" cy="370840"/>
        </p:xfrm>
        <a:graphic>
          <a:graphicData uri="http://schemas.openxmlformats.org/drawingml/2006/table">
            <a:tbl>
              <a:tblPr firstRow="1" bandRow="1">
                <a:tableStyleId>{5C22544A-7EE6-4342-B048-85BDC9FD1C3A}</a:tableStyleId>
              </a:tblPr>
              <a:tblGrid>
                <a:gridCol w="6080165">
                  <a:extLst>
                    <a:ext uri="{9D8B030D-6E8A-4147-A177-3AD203B41FA5}">
                      <a16:colId xmlns:a16="http://schemas.microsoft.com/office/drawing/2014/main" val="2179694530"/>
                    </a:ext>
                  </a:extLst>
                </a:gridCol>
                <a:gridCol w="6111834">
                  <a:extLst>
                    <a:ext uri="{9D8B030D-6E8A-4147-A177-3AD203B41FA5}">
                      <a16:colId xmlns:a16="http://schemas.microsoft.com/office/drawing/2014/main" val="2768207918"/>
                    </a:ext>
                  </a:extLst>
                </a:gridCol>
              </a:tblGrid>
              <a:tr h="370840">
                <a:tc>
                  <a:txBody>
                    <a:bodyPr/>
                    <a:lstStyle/>
                    <a:p>
                      <a:endParaRPr lang="en-US" dirty="0"/>
                    </a:p>
                  </a:txBody>
                  <a:tcPr>
                    <a:solidFill>
                      <a:srgbClr val="FFFF00"/>
                    </a:solidFill>
                  </a:tcPr>
                </a:tc>
                <a:tc>
                  <a:txBody>
                    <a:bodyPr/>
                    <a:lstStyle/>
                    <a:p>
                      <a:pPr algn="r"/>
                      <a:r>
                        <a:rPr lang="en-US" dirty="0">
                          <a:solidFill>
                            <a:schemeClr val="tx1"/>
                          </a:solidFill>
                        </a:rPr>
                        <a:t>50</a:t>
                      </a:r>
                    </a:p>
                  </a:txBody>
                  <a:tcPr>
                    <a:solidFill>
                      <a:srgbClr val="FF85FF"/>
                    </a:solidFill>
                  </a:tcPr>
                </a:tc>
                <a:extLst>
                  <a:ext uri="{0D108BD9-81ED-4DB2-BD59-A6C34878D82A}">
                    <a16:rowId xmlns:a16="http://schemas.microsoft.com/office/drawing/2014/main" val="1996944423"/>
                  </a:ext>
                </a:extLst>
              </a:tr>
            </a:tbl>
          </a:graphicData>
        </a:graphic>
      </p:graphicFrame>
      <p:pic>
        <p:nvPicPr>
          <p:cNvPr id="12" name="Google Shape;187;p25" descr="pngfind.com-kingpin-png-4152286 (1).png">
            <a:extLst>
              <a:ext uri="{FF2B5EF4-FFF2-40B4-BE49-F238E27FC236}">
                <a16:creationId xmlns:a16="http://schemas.microsoft.com/office/drawing/2014/main" id="{2DBF2481-A2DB-F96E-5749-B03DC4F71665}"/>
              </a:ext>
            </a:extLst>
          </p:cNvPr>
          <p:cNvPicPr preferRelativeResize="0"/>
          <p:nvPr/>
        </p:nvPicPr>
        <p:blipFill rotWithShape="1">
          <a:blip r:embed="rId2">
            <a:alphaModFix/>
          </a:blip>
          <a:srcRect/>
          <a:stretch/>
        </p:blipFill>
        <p:spPr>
          <a:xfrm>
            <a:off x="11044052" y="8268"/>
            <a:ext cx="1051261" cy="465287"/>
          </a:xfrm>
          <a:prstGeom prst="rect">
            <a:avLst/>
          </a:prstGeom>
          <a:noFill/>
          <a:ln>
            <a:noFill/>
          </a:ln>
        </p:spPr>
      </p:pic>
      <p:sp>
        <p:nvSpPr>
          <p:cNvPr id="19" name="Rectangle 18">
            <a:extLst>
              <a:ext uri="{FF2B5EF4-FFF2-40B4-BE49-F238E27FC236}">
                <a16:creationId xmlns:a16="http://schemas.microsoft.com/office/drawing/2014/main" id="{A0702E37-2E7E-7262-5E76-F69A817105B3}"/>
              </a:ext>
            </a:extLst>
          </p:cNvPr>
          <p:cNvSpPr/>
          <p:nvPr/>
        </p:nvSpPr>
        <p:spPr>
          <a:xfrm>
            <a:off x="0" y="8268"/>
            <a:ext cx="12192000" cy="6825920"/>
          </a:xfrm>
          <a:prstGeom prst="rect">
            <a:avLst/>
          </a:prstGeom>
          <a:noFill/>
          <a:ln w="38100">
            <a:solidFill>
              <a:srgbClr val="0432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DCB2A3F0-9003-5886-09B4-27925BBE4000}"/>
              </a:ext>
            </a:extLst>
          </p:cNvPr>
          <p:cNvSpPr txBox="1"/>
          <p:nvPr/>
        </p:nvSpPr>
        <p:spPr>
          <a:xfrm>
            <a:off x="0" y="873851"/>
            <a:ext cx="12191999" cy="646331"/>
          </a:xfrm>
          <a:prstGeom prst="rect">
            <a:avLst/>
          </a:prstGeom>
          <a:noFill/>
        </p:spPr>
        <p:txBody>
          <a:bodyPr wrap="square">
            <a:spAutoFit/>
          </a:bodyPr>
          <a:lstStyle/>
          <a:p>
            <a:pPr algn="ctr"/>
            <a:r>
              <a:rPr lang="en-US" sz="3600" b="1" dirty="0">
                <a:effectLst/>
                <a:latin typeface="Calibri" panose="020F0502020204030204" pitchFamily="34" charset="0"/>
                <a:ea typeface="Calibri" panose="020F0502020204030204" pitchFamily="34" charset="0"/>
                <a:cs typeface="Calibri" panose="020F0502020204030204" pitchFamily="34" charset="0"/>
              </a:rPr>
              <a:t>Array Basics Operations</a:t>
            </a:r>
            <a:endParaRPr lang="en-GB" sz="3600" b="1" cap="none" spc="0" dirty="0">
              <a:ln w="0"/>
              <a:solidFill>
                <a:schemeClr val="tx1"/>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Calibri" panose="020F0502020204030204" pitchFamily="34" charset="0"/>
            </a:endParaRPr>
          </a:p>
        </p:txBody>
      </p:sp>
      <p:sp>
        <p:nvSpPr>
          <p:cNvPr id="2" name="TextBox 1">
            <a:extLst>
              <a:ext uri="{FF2B5EF4-FFF2-40B4-BE49-F238E27FC236}">
                <a16:creationId xmlns:a16="http://schemas.microsoft.com/office/drawing/2014/main" id="{21E45575-DAAE-3EAB-F793-614AE16CDD43}"/>
              </a:ext>
            </a:extLst>
          </p:cNvPr>
          <p:cNvSpPr txBox="1"/>
          <p:nvPr/>
        </p:nvSpPr>
        <p:spPr>
          <a:xfrm>
            <a:off x="685801" y="1772629"/>
            <a:ext cx="4405565" cy="1711366"/>
          </a:xfrm>
          <a:prstGeom prst="rect">
            <a:avLst/>
          </a:prstGeom>
          <a:noFill/>
        </p:spPr>
        <p:txBody>
          <a:bodyPr wrap="none" rtlCol="0">
            <a:spAutoFit/>
          </a:bodyPr>
          <a:lstStyle/>
          <a:p>
            <a:pPr>
              <a:lnSpc>
                <a:spcPct val="150000"/>
              </a:lnSpc>
            </a:pPr>
            <a:r>
              <a:rPr lang="en-IN" dirty="0">
                <a:latin typeface="Calibri" panose="020F0502020204030204" pitchFamily="34" charset="0"/>
                <a:ea typeface="Calibri" panose="020F0502020204030204" pitchFamily="34" charset="0"/>
                <a:cs typeface="Calibri" panose="020F0502020204030204" pitchFamily="34" charset="0"/>
              </a:rPr>
              <a:t>There are different types of array operations:</a:t>
            </a:r>
          </a:p>
          <a:p>
            <a:pPr marL="285750" indent="-285750">
              <a:lnSpc>
                <a:spcPct val="150000"/>
              </a:lnSpc>
              <a:buFont typeface="Arial" panose="020B0604020202020204" pitchFamily="34" charset="0"/>
              <a:buChar char="•"/>
            </a:pPr>
            <a:r>
              <a:rPr lang="en-IN" dirty="0">
                <a:latin typeface="Calibri" panose="020F0502020204030204" pitchFamily="34" charset="0"/>
                <a:ea typeface="Calibri" panose="020F0502020204030204" pitchFamily="34" charset="0"/>
                <a:cs typeface="Calibri" panose="020F0502020204030204" pitchFamily="34" charset="0"/>
              </a:rPr>
              <a:t>Arithmetic Operations</a:t>
            </a:r>
          </a:p>
          <a:p>
            <a:pPr marL="285750" indent="-285750">
              <a:lnSpc>
                <a:spcPct val="150000"/>
              </a:lnSpc>
              <a:buFont typeface="Arial" panose="020B0604020202020204" pitchFamily="34" charset="0"/>
              <a:buChar char="•"/>
            </a:pPr>
            <a:r>
              <a:rPr lang="en-IN" dirty="0">
                <a:latin typeface="Calibri" panose="020F0502020204030204" pitchFamily="34" charset="0"/>
                <a:ea typeface="Calibri" panose="020F0502020204030204" pitchFamily="34" charset="0"/>
                <a:cs typeface="Calibri" panose="020F0502020204030204" pitchFamily="34" charset="0"/>
              </a:rPr>
              <a:t>Comparison Operations</a:t>
            </a:r>
          </a:p>
          <a:p>
            <a:pPr marL="285750" indent="-285750">
              <a:lnSpc>
                <a:spcPct val="150000"/>
              </a:lnSpc>
              <a:buFont typeface="Arial" panose="020B0604020202020204" pitchFamily="34" charset="0"/>
              <a:buChar char="•"/>
            </a:pPr>
            <a:r>
              <a:rPr lang="en-IN" dirty="0">
                <a:latin typeface="Calibri" panose="020F0502020204030204" pitchFamily="34" charset="0"/>
                <a:ea typeface="Calibri" panose="020F0502020204030204" pitchFamily="34" charset="0"/>
                <a:cs typeface="Calibri" panose="020F0502020204030204" pitchFamily="34" charset="0"/>
              </a:rPr>
              <a:t>Logical Operations</a:t>
            </a:r>
          </a:p>
        </p:txBody>
      </p:sp>
      <p:pic>
        <p:nvPicPr>
          <p:cNvPr id="1028" name="Picture 4" descr="Numpy Array Cookbook: Generating and ...">
            <a:extLst>
              <a:ext uri="{FF2B5EF4-FFF2-40B4-BE49-F238E27FC236}">
                <a16:creationId xmlns:a16="http://schemas.microsoft.com/office/drawing/2014/main" id="{A2A7503C-9DA1-43E5-554F-80E1BA9FE03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77167" y="3090035"/>
            <a:ext cx="4184812" cy="2207522"/>
          </a:xfrm>
          <a:prstGeom prst="rect">
            <a:avLst/>
          </a:prstGeom>
          <a:noFill/>
          <a:ln w="6350">
            <a:solidFill>
              <a:schemeClr val="tx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7267973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Table 8">
            <a:extLst>
              <a:ext uri="{FF2B5EF4-FFF2-40B4-BE49-F238E27FC236}">
                <a16:creationId xmlns:a16="http://schemas.microsoft.com/office/drawing/2014/main" id="{0B6EC464-4750-5FF3-7A5A-15612BA6E293}"/>
              </a:ext>
            </a:extLst>
          </p:cNvPr>
          <p:cNvGraphicFramePr>
            <a:graphicFrameLocks noGrp="1"/>
          </p:cNvGraphicFramePr>
          <p:nvPr/>
        </p:nvGraphicFramePr>
        <p:xfrm>
          <a:off x="0" y="23812"/>
          <a:ext cx="12192000" cy="465287"/>
        </p:xfrm>
        <a:graphic>
          <a:graphicData uri="http://schemas.openxmlformats.org/drawingml/2006/table">
            <a:tbl>
              <a:tblPr firstRow="1" bandRow="1">
                <a:tableStyleId>{5C22544A-7EE6-4342-B048-85BDC9FD1C3A}</a:tableStyleId>
              </a:tblPr>
              <a:tblGrid>
                <a:gridCol w="6092042">
                  <a:extLst>
                    <a:ext uri="{9D8B030D-6E8A-4147-A177-3AD203B41FA5}">
                      <a16:colId xmlns:a16="http://schemas.microsoft.com/office/drawing/2014/main" val="2179694530"/>
                    </a:ext>
                  </a:extLst>
                </a:gridCol>
                <a:gridCol w="6099958">
                  <a:extLst>
                    <a:ext uri="{9D8B030D-6E8A-4147-A177-3AD203B41FA5}">
                      <a16:colId xmlns:a16="http://schemas.microsoft.com/office/drawing/2014/main" val="2768207918"/>
                    </a:ext>
                  </a:extLst>
                </a:gridCol>
              </a:tblGrid>
              <a:tr h="465287">
                <a:tc>
                  <a:txBody>
                    <a:bodyPr/>
                    <a:lstStyle/>
                    <a:p>
                      <a:endParaRPr lang="en-US" dirty="0"/>
                    </a:p>
                  </a:txBody>
                  <a:tcPr>
                    <a:solidFill>
                      <a:srgbClr val="FF85FF"/>
                    </a:solidFill>
                  </a:tcPr>
                </a:tc>
                <a:tc>
                  <a:txBody>
                    <a:bodyPr/>
                    <a:lstStyle/>
                    <a:p>
                      <a:endParaRPr lang="en-US" dirty="0"/>
                    </a:p>
                  </a:txBody>
                  <a:tcPr>
                    <a:solidFill>
                      <a:srgbClr val="FFFF00"/>
                    </a:solidFill>
                  </a:tcPr>
                </a:tc>
                <a:extLst>
                  <a:ext uri="{0D108BD9-81ED-4DB2-BD59-A6C34878D82A}">
                    <a16:rowId xmlns:a16="http://schemas.microsoft.com/office/drawing/2014/main" val="1996944423"/>
                  </a:ext>
                </a:extLst>
              </a:tr>
            </a:tbl>
          </a:graphicData>
        </a:graphic>
      </p:graphicFrame>
      <p:graphicFrame>
        <p:nvGraphicFramePr>
          <p:cNvPr id="10" name="Table 9">
            <a:extLst>
              <a:ext uri="{FF2B5EF4-FFF2-40B4-BE49-F238E27FC236}">
                <a16:creationId xmlns:a16="http://schemas.microsoft.com/office/drawing/2014/main" id="{494BAFB7-FE1F-E1A9-7A6C-AB4145BD9BA1}"/>
              </a:ext>
            </a:extLst>
          </p:cNvPr>
          <p:cNvGraphicFramePr>
            <a:graphicFrameLocks noGrp="1"/>
          </p:cNvGraphicFramePr>
          <p:nvPr>
            <p:extLst>
              <p:ext uri="{D42A27DB-BD31-4B8C-83A1-F6EECF244321}">
                <p14:modId xmlns:p14="http://schemas.microsoft.com/office/powerpoint/2010/main" val="3393156752"/>
              </p:ext>
            </p:extLst>
          </p:nvPr>
        </p:nvGraphicFramePr>
        <p:xfrm>
          <a:off x="1" y="6478892"/>
          <a:ext cx="12191999" cy="370840"/>
        </p:xfrm>
        <a:graphic>
          <a:graphicData uri="http://schemas.openxmlformats.org/drawingml/2006/table">
            <a:tbl>
              <a:tblPr firstRow="1" bandRow="1">
                <a:tableStyleId>{5C22544A-7EE6-4342-B048-85BDC9FD1C3A}</a:tableStyleId>
              </a:tblPr>
              <a:tblGrid>
                <a:gridCol w="6080165">
                  <a:extLst>
                    <a:ext uri="{9D8B030D-6E8A-4147-A177-3AD203B41FA5}">
                      <a16:colId xmlns:a16="http://schemas.microsoft.com/office/drawing/2014/main" val="2179694530"/>
                    </a:ext>
                  </a:extLst>
                </a:gridCol>
                <a:gridCol w="6111834">
                  <a:extLst>
                    <a:ext uri="{9D8B030D-6E8A-4147-A177-3AD203B41FA5}">
                      <a16:colId xmlns:a16="http://schemas.microsoft.com/office/drawing/2014/main" val="2768207918"/>
                    </a:ext>
                  </a:extLst>
                </a:gridCol>
              </a:tblGrid>
              <a:tr h="370840">
                <a:tc>
                  <a:txBody>
                    <a:bodyPr/>
                    <a:lstStyle/>
                    <a:p>
                      <a:endParaRPr lang="en-US" dirty="0"/>
                    </a:p>
                  </a:txBody>
                  <a:tcPr>
                    <a:solidFill>
                      <a:srgbClr val="FFFF00"/>
                    </a:solidFill>
                  </a:tcPr>
                </a:tc>
                <a:tc>
                  <a:txBody>
                    <a:bodyPr/>
                    <a:lstStyle/>
                    <a:p>
                      <a:pPr algn="r"/>
                      <a:r>
                        <a:rPr lang="en-US" dirty="0">
                          <a:solidFill>
                            <a:schemeClr val="tx1"/>
                          </a:solidFill>
                        </a:rPr>
                        <a:t>51</a:t>
                      </a:r>
                    </a:p>
                  </a:txBody>
                  <a:tcPr>
                    <a:solidFill>
                      <a:srgbClr val="FF85FF"/>
                    </a:solidFill>
                  </a:tcPr>
                </a:tc>
                <a:extLst>
                  <a:ext uri="{0D108BD9-81ED-4DB2-BD59-A6C34878D82A}">
                    <a16:rowId xmlns:a16="http://schemas.microsoft.com/office/drawing/2014/main" val="1996944423"/>
                  </a:ext>
                </a:extLst>
              </a:tr>
            </a:tbl>
          </a:graphicData>
        </a:graphic>
      </p:graphicFrame>
      <p:pic>
        <p:nvPicPr>
          <p:cNvPr id="12" name="Google Shape;187;p25" descr="pngfind.com-kingpin-png-4152286 (1).png">
            <a:extLst>
              <a:ext uri="{FF2B5EF4-FFF2-40B4-BE49-F238E27FC236}">
                <a16:creationId xmlns:a16="http://schemas.microsoft.com/office/drawing/2014/main" id="{2DBF2481-A2DB-F96E-5749-B03DC4F71665}"/>
              </a:ext>
            </a:extLst>
          </p:cNvPr>
          <p:cNvPicPr preferRelativeResize="0"/>
          <p:nvPr/>
        </p:nvPicPr>
        <p:blipFill rotWithShape="1">
          <a:blip r:embed="rId2">
            <a:alphaModFix/>
          </a:blip>
          <a:srcRect/>
          <a:stretch/>
        </p:blipFill>
        <p:spPr>
          <a:xfrm>
            <a:off x="11044052" y="8268"/>
            <a:ext cx="1051261" cy="465287"/>
          </a:xfrm>
          <a:prstGeom prst="rect">
            <a:avLst/>
          </a:prstGeom>
          <a:noFill/>
          <a:ln>
            <a:noFill/>
          </a:ln>
        </p:spPr>
      </p:pic>
      <p:sp>
        <p:nvSpPr>
          <p:cNvPr id="19" name="Rectangle 18">
            <a:extLst>
              <a:ext uri="{FF2B5EF4-FFF2-40B4-BE49-F238E27FC236}">
                <a16:creationId xmlns:a16="http://schemas.microsoft.com/office/drawing/2014/main" id="{A0702E37-2E7E-7262-5E76-F69A817105B3}"/>
              </a:ext>
            </a:extLst>
          </p:cNvPr>
          <p:cNvSpPr/>
          <p:nvPr/>
        </p:nvSpPr>
        <p:spPr>
          <a:xfrm>
            <a:off x="0" y="8268"/>
            <a:ext cx="12192000" cy="6825920"/>
          </a:xfrm>
          <a:prstGeom prst="rect">
            <a:avLst/>
          </a:prstGeom>
          <a:noFill/>
          <a:ln w="38100">
            <a:solidFill>
              <a:srgbClr val="0432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DCB2A3F0-9003-5886-09B4-27925BBE4000}"/>
              </a:ext>
            </a:extLst>
          </p:cNvPr>
          <p:cNvSpPr txBox="1"/>
          <p:nvPr/>
        </p:nvSpPr>
        <p:spPr>
          <a:xfrm>
            <a:off x="0" y="873851"/>
            <a:ext cx="12191999" cy="646331"/>
          </a:xfrm>
          <a:prstGeom prst="rect">
            <a:avLst/>
          </a:prstGeom>
          <a:noFill/>
        </p:spPr>
        <p:txBody>
          <a:bodyPr wrap="square">
            <a:spAutoFit/>
          </a:bodyPr>
          <a:lstStyle/>
          <a:p>
            <a:pPr algn="ctr"/>
            <a:r>
              <a:rPr lang="en-US" sz="3600" b="1" dirty="0">
                <a:effectLst/>
                <a:latin typeface="Calibri" panose="020F0502020204030204" pitchFamily="34" charset="0"/>
                <a:ea typeface="Calibri" panose="020F0502020204030204" pitchFamily="34" charset="0"/>
                <a:cs typeface="Calibri" panose="020F0502020204030204" pitchFamily="34" charset="0"/>
              </a:rPr>
              <a:t>Arithmetic Operations</a:t>
            </a:r>
            <a:endParaRPr lang="en-GB" sz="3600" b="1" cap="none" spc="0" dirty="0">
              <a:ln w="0"/>
              <a:solidFill>
                <a:schemeClr val="tx1"/>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Calibri" panose="020F0502020204030204" pitchFamily="34" charset="0"/>
            </a:endParaRPr>
          </a:p>
        </p:txBody>
      </p:sp>
      <p:graphicFrame>
        <p:nvGraphicFramePr>
          <p:cNvPr id="6" name="Table 5">
            <a:extLst>
              <a:ext uri="{FF2B5EF4-FFF2-40B4-BE49-F238E27FC236}">
                <a16:creationId xmlns:a16="http://schemas.microsoft.com/office/drawing/2014/main" id="{22A82813-6937-2047-DD1F-019C01A692DE}"/>
              </a:ext>
            </a:extLst>
          </p:cNvPr>
          <p:cNvGraphicFramePr>
            <a:graphicFrameLocks noGrp="1"/>
          </p:cNvGraphicFramePr>
          <p:nvPr/>
        </p:nvGraphicFramePr>
        <p:xfrm>
          <a:off x="2065682" y="2153412"/>
          <a:ext cx="8060634" cy="3200400"/>
        </p:xfrm>
        <a:graphic>
          <a:graphicData uri="http://schemas.openxmlformats.org/drawingml/2006/table">
            <a:tbl>
              <a:tblPr/>
              <a:tblGrid>
                <a:gridCol w="2686878">
                  <a:extLst>
                    <a:ext uri="{9D8B030D-6E8A-4147-A177-3AD203B41FA5}">
                      <a16:colId xmlns:a16="http://schemas.microsoft.com/office/drawing/2014/main" val="822919272"/>
                    </a:ext>
                  </a:extLst>
                </a:gridCol>
                <a:gridCol w="2686878">
                  <a:extLst>
                    <a:ext uri="{9D8B030D-6E8A-4147-A177-3AD203B41FA5}">
                      <a16:colId xmlns:a16="http://schemas.microsoft.com/office/drawing/2014/main" val="2638291140"/>
                    </a:ext>
                  </a:extLst>
                </a:gridCol>
                <a:gridCol w="2686878">
                  <a:extLst>
                    <a:ext uri="{9D8B030D-6E8A-4147-A177-3AD203B41FA5}">
                      <a16:colId xmlns:a16="http://schemas.microsoft.com/office/drawing/2014/main" val="674821848"/>
                    </a:ext>
                  </a:extLst>
                </a:gridCol>
              </a:tblGrid>
              <a:tr h="0">
                <a:tc>
                  <a:txBody>
                    <a:bodyPr/>
                    <a:lstStyle/>
                    <a:p>
                      <a:pPr algn="ctr"/>
                      <a:r>
                        <a:rPr lang="en-IN" b="1" dirty="0">
                          <a:effectLst/>
                          <a:latin typeface="Calibri" panose="020F0502020204030204" pitchFamily="34" charset="0"/>
                          <a:ea typeface="Calibri" panose="020F0502020204030204" pitchFamily="34" charset="0"/>
                          <a:cs typeface="Calibri" panose="020F0502020204030204" pitchFamily="34" charset="0"/>
                        </a:rPr>
                        <a:t>Element-wise Operation</a:t>
                      </a:r>
                    </a:p>
                  </a:txBody>
                  <a:tcPr marL="182880" marR="182880" marT="91440" marB="91440"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a:noFill/>
                    </a:lnB>
                    <a:solidFill>
                      <a:srgbClr val="F8FAFF"/>
                    </a:solidFill>
                  </a:tcPr>
                </a:tc>
                <a:tc>
                  <a:txBody>
                    <a:bodyPr/>
                    <a:lstStyle/>
                    <a:p>
                      <a:pPr algn="ctr"/>
                      <a:r>
                        <a:rPr lang="en-IN" b="1" dirty="0">
                          <a:effectLst/>
                          <a:latin typeface="Calibri" panose="020F0502020204030204" pitchFamily="34" charset="0"/>
                          <a:ea typeface="Calibri" panose="020F0502020204030204" pitchFamily="34" charset="0"/>
                          <a:cs typeface="Calibri" panose="020F0502020204030204" pitchFamily="34" charset="0"/>
                        </a:rPr>
                        <a:t>Operator</a:t>
                      </a:r>
                    </a:p>
                  </a:txBody>
                  <a:tcPr marL="182880" marR="182880" marT="91440" marB="91440" anchor="ctr">
                    <a:lnL>
                      <a:noFill/>
                    </a:lnL>
                    <a:lnR>
                      <a:noFill/>
                    </a:lnR>
                    <a:lnT w="12700" cap="flat" cmpd="sng" algn="ctr">
                      <a:solidFill>
                        <a:schemeClr val="tx1"/>
                      </a:solidFill>
                      <a:prstDash val="solid"/>
                      <a:round/>
                      <a:headEnd type="none" w="med" len="med"/>
                      <a:tailEnd type="none" w="med" len="med"/>
                    </a:lnT>
                    <a:lnB>
                      <a:noFill/>
                    </a:lnB>
                    <a:solidFill>
                      <a:srgbClr val="F8FAFF"/>
                    </a:solidFill>
                  </a:tcPr>
                </a:tc>
                <a:tc>
                  <a:txBody>
                    <a:bodyPr/>
                    <a:lstStyle/>
                    <a:p>
                      <a:pPr algn="ctr"/>
                      <a:r>
                        <a:rPr lang="en-IN" b="1" dirty="0">
                          <a:effectLst/>
                          <a:latin typeface="Calibri" panose="020F0502020204030204" pitchFamily="34" charset="0"/>
                          <a:ea typeface="Calibri" panose="020F0502020204030204" pitchFamily="34" charset="0"/>
                          <a:cs typeface="Calibri" panose="020F0502020204030204" pitchFamily="34" charset="0"/>
                        </a:rPr>
                        <a:t>Function</a:t>
                      </a:r>
                    </a:p>
                  </a:txBody>
                  <a:tcPr marL="182880" marR="182880" marT="91440" marB="91440"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solidFill>
                      <a:srgbClr val="F8FAFF"/>
                    </a:solidFill>
                  </a:tcPr>
                </a:tc>
                <a:extLst>
                  <a:ext uri="{0D108BD9-81ED-4DB2-BD59-A6C34878D82A}">
                    <a16:rowId xmlns:a16="http://schemas.microsoft.com/office/drawing/2014/main" val="1700290891"/>
                  </a:ext>
                </a:extLst>
              </a:tr>
              <a:tr h="0">
                <a:tc>
                  <a:txBody>
                    <a:bodyPr/>
                    <a:lstStyle/>
                    <a:p>
                      <a:r>
                        <a:rPr lang="en-IN" dirty="0">
                          <a:effectLst/>
                          <a:latin typeface="Calibri" panose="020F0502020204030204" pitchFamily="34" charset="0"/>
                          <a:ea typeface="Calibri" panose="020F0502020204030204" pitchFamily="34" charset="0"/>
                          <a:cs typeface="Calibri" panose="020F0502020204030204" pitchFamily="34" charset="0"/>
                        </a:rPr>
                        <a:t>Addition</a:t>
                      </a:r>
                    </a:p>
                  </a:txBody>
                  <a:tcPr marL="182880" marR="182880" marT="91440" marB="91440" anchor="ctr">
                    <a:lnL w="12700" cap="flat" cmpd="sng" algn="ctr">
                      <a:solidFill>
                        <a:schemeClr val="tx1"/>
                      </a:solidFill>
                      <a:prstDash val="solid"/>
                      <a:round/>
                      <a:headEnd type="none" w="med" len="med"/>
                      <a:tailEnd type="none" w="med" len="med"/>
                    </a:lnL>
                    <a:lnR>
                      <a:noFill/>
                    </a:lnR>
                    <a:lnT>
                      <a:noFill/>
                    </a:lnT>
                    <a:lnB>
                      <a:noFill/>
                    </a:lnB>
                    <a:solidFill>
                      <a:srgbClr val="F8FAFF"/>
                    </a:solidFill>
                  </a:tcPr>
                </a:tc>
                <a:tc>
                  <a:txBody>
                    <a:bodyPr/>
                    <a:lstStyle/>
                    <a:p>
                      <a:pPr algn="ctr"/>
                      <a:r>
                        <a:rPr lang="en-IN" dirty="0">
                          <a:effectLst/>
                          <a:latin typeface="Calibri" panose="020F0502020204030204" pitchFamily="34" charset="0"/>
                          <a:ea typeface="Calibri" panose="020F0502020204030204" pitchFamily="34" charset="0"/>
                          <a:cs typeface="Calibri" panose="020F0502020204030204" pitchFamily="34" charset="0"/>
                        </a:rPr>
                        <a:t>+</a:t>
                      </a:r>
                    </a:p>
                  </a:txBody>
                  <a:tcPr marL="182880" marR="182880" marT="91440" marB="91440" anchor="ctr">
                    <a:lnL>
                      <a:noFill/>
                    </a:lnL>
                    <a:lnR>
                      <a:noFill/>
                    </a:lnR>
                    <a:lnT>
                      <a:noFill/>
                    </a:lnT>
                    <a:lnB>
                      <a:noFill/>
                    </a:lnB>
                    <a:solidFill>
                      <a:srgbClr val="F8FAFF"/>
                    </a:solidFill>
                  </a:tcPr>
                </a:tc>
                <a:tc>
                  <a:txBody>
                    <a:bodyPr/>
                    <a:lstStyle/>
                    <a:p>
                      <a:pPr algn="ctr"/>
                      <a:r>
                        <a:rPr lang="en-IN">
                          <a:effectLst/>
                          <a:latin typeface="Calibri" panose="020F0502020204030204" pitchFamily="34" charset="0"/>
                          <a:ea typeface="Calibri" panose="020F0502020204030204" pitchFamily="34" charset="0"/>
                          <a:cs typeface="Calibri" panose="020F0502020204030204" pitchFamily="34" charset="0"/>
                        </a:rPr>
                        <a:t>add()</a:t>
                      </a:r>
                    </a:p>
                  </a:txBody>
                  <a:tcPr marL="182880" marR="182880" marT="91440" marB="91440" anchor="ctr">
                    <a:lnL>
                      <a:noFill/>
                    </a:lnL>
                    <a:lnR w="12700" cap="flat" cmpd="sng" algn="ctr">
                      <a:solidFill>
                        <a:schemeClr val="tx1"/>
                      </a:solidFill>
                      <a:prstDash val="solid"/>
                      <a:round/>
                      <a:headEnd type="none" w="med" len="med"/>
                      <a:tailEnd type="none" w="med" len="med"/>
                    </a:lnR>
                    <a:lnT>
                      <a:noFill/>
                    </a:lnT>
                    <a:lnB>
                      <a:noFill/>
                    </a:lnB>
                    <a:solidFill>
                      <a:srgbClr val="F8FAFF"/>
                    </a:solidFill>
                  </a:tcPr>
                </a:tc>
                <a:extLst>
                  <a:ext uri="{0D108BD9-81ED-4DB2-BD59-A6C34878D82A}">
                    <a16:rowId xmlns:a16="http://schemas.microsoft.com/office/drawing/2014/main" val="911849478"/>
                  </a:ext>
                </a:extLst>
              </a:tr>
              <a:tr h="0">
                <a:tc>
                  <a:txBody>
                    <a:bodyPr/>
                    <a:lstStyle/>
                    <a:p>
                      <a:r>
                        <a:rPr lang="en-IN" dirty="0">
                          <a:effectLst/>
                          <a:latin typeface="Calibri" panose="020F0502020204030204" pitchFamily="34" charset="0"/>
                          <a:ea typeface="Calibri" panose="020F0502020204030204" pitchFamily="34" charset="0"/>
                          <a:cs typeface="Calibri" panose="020F0502020204030204" pitchFamily="34" charset="0"/>
                        </a:rPr>
                        <a:t>Subtraction</a:t>
                      </a:r>
                    </a:p>
                  </a:txBody>
                  <a:tcPr marL="182880" marR="182880" marT="91440" marB="91440" anchor="ctr">
                    <a:lnL w="12700" cap="flat" cmpd="sng" algn="ctr">
                      <a:solidFill>
                        <a:schemeClr val="tx1"/>
                      </a:solidFill>
                      <a:prstDash val="solid"/>
                      <a:round/>
                      <a:headEnd type="none" w="med" len="med"/>
                      <a:tailEnd type="none" w="med" len="med"/>
                    </a:lnL>
                    <a:lnR>
                      <a:noFill/>
                    </a:lnR>
                    <a:lnT>
                      <a:noFill/>
                    </a:lnT>
                    <a:lnB>
                      <a:noFill/>
                    </a:lnB>
                    <a:solidFill>
                      <a:srgbClr val="F8FAFF"/>
                    </a:solidFill>
                  </a:tcPr>
                </a:tc>
                <a:tc>
                  <a:txBody>
                    <a:bodyPr/>
                    <a:lstStyle/>
                    <a:p>
                      <a:pPr algn="ctr"/>
                      <a:r>
                        <a:rPr lang="en-IN" dirty="0">
                          <a:effectLst/>
                          <a:latin typeface="Calibri" panose="020F0502020204030204" pitchFamily="34" charset="0"/>
                          <a:ea typeface="Calibri" panose="020F0502020204030204" pitchFamily="34" charset="0"/>
                          <a:cs typeface="Calibri" panose="020F0502020204030204" pitchFamily="34" charset="0"/>
                        </a:rPr>
                        <a:t>-</a:t>
                      </a:r>
                    </a:p>
                  </a:txBody>
                  <a:tcPr marL="182880" marR="182880" marT="91440" marB="91440" anchor="ctr">
                    <a:lnL>
                      <a:noFill/>
                    </a:lnL>
                    <a:lnR>
                      <a:noFill/>
                    </a:lnR>
                    <a:lnT>
                      <a:noFill/>
                    </a:lnT>
                    <a:lnB>
                      <a:noFill/>
                    </a:lnB>
                    <a:solidFill>
                      <a:srgbClr val="F8FAFF"/>
                    </a:solidFill>
                  </a:tcPr>
                </a:tc>
                <a:tc>
                  <a:txBody>
                    <a:bodyPr/>
                    <a:lstStyle/>
                    <a:p>
                      <a:pPr algn="ctr"/>
                      <a:r>
                        <a:rPr lang="en-IN">
                          <a:effectLst/>
                          <a:latin typeface="Calibri" panose="020F0502020204030204" pitchFamily="34" charset="0"/>
                          <a:ea typeface="Calibri" panose="020F0502020204030204" pitchFamily="34" charset="0"/>
                          <a:cs typeface="Calibri" panose="020F0502020204030204" pitchFamily="34" charset="0"/>
                        </a:rPr>
                        <a:t>subtract()</a:t>
                      </a:r>
                    </a:p>
                  </a:txBody>
                  <a:tcPr marL="182880" marR="182880" marT="91440" marB="91440" anchor="ctr">
                    <a:lnL>
                      <a:noFill/>
                    </a:lnL>
                    <a:lnR w="12700" cap="flat" cmpd="sng" algn="ctr">
                      <a:solidFill>
                        <a:schemeClr val="tx1"/>
                      </a:solidFill>
                      <a:prstDash val="solid"/>
                      <a:round/>
                      <a:headEnd type="none" w="med" len="med"/>
                      <a:tailEnd type="none" w="med" len="med"/>
                    </a:lnR>
                    <a:lnT>
                      <a:noFill/>
                    </a:lnT>
                    <a:lnB>
                      <a:noFill/>
                    </a:lnB>
                    <a:solidFill>
                      <a:srgbClr val="F8FAFF"/>
                    </a:solidFill>
                  </a:tcPr>
                </a:tc>
                <a:extLst>
                  <a:ext uri="{0D108BD9-81ED-4DB2-BD59-A6C34878D82A}">
                    <a16:rowId xmlns:a16="http://schemas.microsoft.com/office/drawing/2014/main" val="2890779766"/>
                  </a:ext>
                </a:extLst>
              </a:tr>
              <a:tr h="0">
                <a:tc>
                  <a:txBody>
                    <a:bodyPr/>
                    <a:lstStyle/>
                    <a:p>
                      <a:r>
                        <a:rPr lang="en-IN">
                          <a:effectLst/>
                          <a:latin typeface="Calibri" panose="020F0502020204030204" pitchFamily="34" charset="0"/>
                          <a:ea typeface="Calibri" panose="020F0502020204030204" pitchFamily="34" charset="0"/>
                          <a:cs typeface="Calibri" panose="020F0502020204030204" pitchFamily="34" charset="0"/>
                        </a:rPr>
                        <a:t>Multiplication</a:t>
                      </a:r>
                    </a:p>
                  </a:txBody>
                  <a:tcPr marL="182880" marR="182880" marT="91440" marB="91440" anchor="ctr">
                    <a:lnL w="12700" cap="flat" cmpd="sng" algn="ctr">
                      <a:solidFill>
                        <a:schemeClr val="tx1"/>
                      </a:solidFill>
                      <a:prstDash val="solid"/>
                      <a:round/>
                      <a:headEnd type="none" w="med" len="med"/>
                      <a:tailEnd type="none" w="med" len="med"/>
                    </a:lnL>
                    <a:lnR>
                      <a:noFill/>
                    </a:lnR>
                    <a:lnT>
                      <a:noFill/>
                    </a:lnT>
                    <a:lnB>
                      <a:noFill/>
                    </a:lnB>
                    <a:solidFill>
                      <a:srgbClr val="F8FAFF"/>
                    </a:solidFill>
                  </a:tcPr>
                </a:tc>
                <a:tc>
                  <a:txBody>
                    <a:bodyPr/>
                    <a:lstStyle/>
                    <a:p>
                      <a:pPr algn="ctr"/>
                      <a:r>
                        <a:rPr lang="en-IN" dirty="0">
                          <a:effectLst/>
                          <a:latin typeface="Calibri" panose="020F0502020204030204" pitchFamily="34" charset="0"/>
                          <a:ea typeface="Calibri" panose="020F0502020204030204" pitchFamily="34" charset="0"/>
                          <a:cs typeface="Calibri" panose="020F0502020204030204" pitchFamily="34" charset="0"/>
                        </a:rPr>
                        <a:t>*</a:t>
                      </a:r>
                    </a:p>
                  </a:txBody>
                  <a:tcPr marL="182880" marR="182880" marT="91440" marB="91440" anchor="ctr">
                    <a:lnL>
                      <a:noFill/>
                    </a:lnL>
                    <a:lnR>
                      <a:noFill/>
                    </a:lnR>
                    <a:lnT>
                      <a:noFill/>
                    </a:lnT>
                    <a:lnB>
                      <a:noFill/>
                    </a:lnB>
                    <a:solidFill>
                      <a:srgbClr val="F8FAFF"/>
                    </a:solidFill>
                  </a:tcPr>
                </a:tc>
                <a:tc>
                  <a:txBody>
                    <a:bodyPr/>
                    <a:lstStyle/>
                    <a:p>
                      <a:pPr algn="ctr"/>
                      <a:r>
                        <a:rPr lang="en-IN" dirty="0">
                          <a:effectLst/>
                          <a:latin typeface="Calibri" panose="020F0502020204030204" pitchFamily="34" charset="0"/>
                          <a:ea typeface="Calibri" panose="020F0502020204030204" pitchFamily="34" charset="0"/>
                          <a:cs typeface="Calibri" panose="020F0502020204030204" pitchFamily="34" charset="0"/>
                        </a:rPr>
                        <a:t>multiply()</a:t>
                      </a:r>
                    </a:p>
                  </a:txBody>
                  <a:tcPr marL="182880" marR="182880" marT="91440" marB="91440" anchor="ctr">
                    <a:lnL>
                      <a:noFill/>
                    </a:lnL>
                    <a:lnR w="12700" cap="flat" cmpd="sng" algn="ctr">
                      <a:solidFill>
                        <a:schemeClr val="tx1"/>
                      </a:solidFill>
                      <a:prstDash val="solid"/>
                      <a:round/>
                      <a:headEnd type="none" w="med" len="med"/>
                      <a:tailEnd type="none" w="med" len="med"/>
                    </a:lnR>
                    <a:lnT>
                      <a:noFill/>
                    </a:lnT>
                    <a:lnB>
                      <a:noFill/>
                    </a:lnB>
                    <a:solidFill>
                      <a:srgbClr val="F8FAFF"/>
                    </a:solidFill>
                  </a:tcPr>
                </a:tc>
                <a:extLst>
                  <a:ext uri="{0D108BD9-81ED-4DB2-BD59-A6C34878D82A}">
                    <a16:rowId xmlns:a16="http://schemas.microsoft.com/office/drawing/2014/main" val="1768974191"/>
                  </a:ext>
                </a:extLst>
              </a:tr>
              <a:tr h="0">
                <a:tc>
                  <a:txBody>
                    <a:bodyPr/>
                    <a:lstStyle/>
                    <a:p>
                      <a:r>
                        <a:rPr lang="en-IN">
                          <a:effectLst/>
                          <a:latin typeface="Calibri" panose="020F0502020204030204" pitchFamily="34" charset="0"/>
                          <a:ea typeface="Calibri" panose="020F0502020204030204" pitchFamily="34" charset="0"/>
                          <a:cs typeface="Calibri" panose="020F0502020204030204" pitchFamily="34" charset="0"/>
                        </a:rPr>
                        <a:t>Division</a:t>
                      </a:r>
                    </a:p>
                  </a:txBody>
                  <a:tcPr marL="182880" marR="182880" marT="91440" marB="91440" anchor="ctr">
                    <a:lnL w="12700" cap="flat" cmpd="sng" algn="ctr">
                      <a:solidFill>
                        <a:schemeClr val="tx1"/>
                      </a:solidFill>
                      <a:prstDash val="solid"/>
                      <a:round/>
                      <a:headEnd type="none" w="med" len="med"/>
                      <a:tailEnd type="none" w="med" len="med"/>
                    </a:lnL>
                    <a:lnR>
                      <a:noFill/>
                    </a:lnR>
                    <a:lnT>
                      <a:noFill/>
                    </a:lnT>
                    <a:lnB>
                      <a:noFill/>
                    </a:lnB>
                    <a:solidFill>
                      <a:srgbClr val="F8FAFF"/>
                    </a:solidFill>
                  </a:tcPr>
                </a:tc>
                <a:tc>
                  <a:txBody>
                    <a:bodyPr/>
                    <a:lstStyle/>
                    <a:p>
                      <a:pPr algn="ctr"/>
                      <a:r>
                        <a:rPr lang="en-IN" dirty="0">
                          <a:effectLst/>
                          <a:latin typeface="Calibri" panose="020F0502020204030204" pitchFamily="34" charset="0"/>
                          <a:ea typeface="Calibri" panose="020F0502020204030204" pitchFamily="34" charset="0"/>
                          <a:cs typeface="Calibri" panose="020F0502020204030204" pitchFamily="34" charset="0"/>
                        </a:rPr>
                        <a:t>/</a:t>
                      </a:r>
                    </a:p>
                  </a:txBody>
                  <a:tcPr marL="182880" marR="182880" marT="91440" marB="91440" anchor="ctr">
                    <a:lnL>
                      <a:noFill/>
                    </a:lnL>
                    <a:lnR>
                      <a:noFill/>
                    </a:lnR>
                    <a:lnT>
                      <a:noFill/>
                    </a:lnT>
                    <a:lnB>
                      <a:noFill/>
                    </a:lnB>
                    <a:solidFill>
                      <a:srgbClr val="F8FAFF"/>
                    </a:solidFill>
                  </a:tcPr>
                </a:tc>
                <a:tc>
                  <a:txBody>
                    <a:bodyPr/>
                    <a:lstStyle/>
                    <a:p>
                      <a:pPr algn="ctr"/>
                      <a:r>
                        <a:rPr lang="en-IN">
                          <a:effectLst/>
                          <a:latin typeface="Calibri" panose="020F0502020204030204" pitchFamily="34" charset="0"/>
                          <a:ea typeface="Calibri" panose="020F0502020204030204" pitchFamily="34" charset="0"/>
                          <a:cs typeface="Calibri" panose="020F0502020204030204" pitchFamily="34" charset="0"/>
                        </a:rPr>
                        <a:t>divide()</a:t>
                      </a:r>
                    </a:p>
                  </a:txBody>
                  <a:tcPr marL="182880" marR="182880" marT="91440" marB="91440" anchor="ctr">
                    <a:lnL>
                      <a:noFill/>
                    </a:lnL>
                    <a:lnR w="12700" cap="flat" cmpd="sng" algn="ctr">
                      <a:solidFill>
                        <a:schemeClr val="tx1"/>
                      </a:solidFill>
                      <a:prstDash val="solid"/>
                      <a:round/>
                      <a:headEnd type="none" w="med" len="med"/>
                      <a:tailEnd type="none" w="med" len="med"/>
                    </a:lnR>
                    <a:lnT>
                      <a:noFill/>
                    </a:lnT>
                    <a:lnB>
                      <a:noFill/>
                    </a:lnB>
                    <a:solidFill>
                      <a:srgbClr val="F8FAFF"/>
                    </a:solidFill>
                  </a:tcPr>
                </a:tc>
                <a:extLst>
                  <a:ext uri="{0D108BD9-81ED-4DB2-BD59-A6C34878D82A}">
                    <a16:rowId xmlns:a16="http://schemas.microsoft.com/office/drawing/2014/main" val="3465136815"/>
                  </a:ext>
                </a:extLst>
              </a:tr>
              <a:tr h="0">
                <a:tc>
                  <a:txBody>
                    <a:bodyPr/>
                    <a:lstStyle/>
                    <a:p>
                      <a:r>
                        <a:rPr lang="en-IN">
                          <a:effectLst/>
                          <a:latin typeface="Calibri" panose="020F0502020204030204" pitchFamily="34" charset="0"/>
                          <a:ea typeface="Calibri" panose="020F0502020204030204" pitchFamily="34" charset="0"/>
                          <a:cs typeface="Calibri" panose="020F0502020204030204" pitchFamily="34" charset="0"/>
                        </a:rPr>
                        <a:t>Exponentiation</a:t>
                      </a:r>
                    </a:p>
                  </a:txBody>
                  <a:tcPr marL="182880" marR="182880" marT="91440" marB="91440" anchor="ctr">
                    <a:lnL w="12700" cap="flat" cmpd="sng" algn="ctr">
                      <a:solidFill>
                        <a:schemeClr val="tx1"/>
                      </a:solidFill>
                      <a:prstDash val="solid"/>
                      <a:round/>
                      <a:headEnd type="none" w="med" len="med"/>
                      <a:tailEnd type="none" w="med" len="med"/>
                    </a:lnL>
                    <a:lnR>
                      <a:noFill/>
                    </a:lnR>
                    <a:lnT>
                      <a:noFill/>
                    </a:lnT>
                    <a:lnB>
                      <a:noFill/>
                    </a:lnB>
                    <a:solidFill>
                      <a:srgbClr val="F8FAFF"/>
                    </a:solidFill>
                  </a:tcPr>
                </a:tc>
                <a:tc>
                  <a:txBody>
                    <a:bodyPr/>
                    <a:lstStyle/>
                    <a:p>
                      <a:pPr algn="ctr"/>
                      <a:r>
                        <a:rPr lang="en-IN" dirty="0">
                          <a:effectLst/>
                          <a:latin typeface="Calibri" panose="020F0502020204030204" pitchFamily="34" charset="0"/>
                          <a:ea typeface="Calibri" panose="020F0502020204030204" pitchFamily="34" charset="0"/>
                          <a:cs typeface="Calibri" panose="020F0502020204030204" pitchFamily="34" charset="0"/>
                        </a:rPr>
                        <a:t>**</a:t>
                      </a:r>
                    </a:p>
                  </a:txBody>
                  <a:tcPr marL="182880" marR="182880" marT="91440" marB="91440" anchor="ctr">
                    <a:lnL>
                      <a:noFill/>
                    </a:lnL>
                    <a:lnR>
                      <a:noFill/>
                    </a:lnR>
                    <a:lnT>
                      <a:noFill/>
                    </a:lnT>
                    <a:lnB>
                      <a:noFill/>
                    </a:lnB>
                    <a:solidFill>
                      <a:srgbClr val="F8FAFF"/>
                    </a:solidFill>
                  </a:tcPr>
                </a:tc>
                <a:tc>
                  <a:txBody>
                    <a:bodyPr/>
                    <a:lstStyle/>
                    <a:p>
                      <a:pPr algn="ctr"/>
                      <a:r>
                        <a:rPr lang="en-IN" dirty="0">
                          <a:effectLst/>
                          <a:latin typeface="Calibri" panose="020F0502020204030204" pitchFamily="34" charset="0"/>
                          <a:ea typeface="Calibri" panose="020F0502020204030204" pitchFamily="34" charset="0"/>
                          <a:cs typeface="Calibri" panose="020F0502020204030204" pitchFamily="34" charset="0"/>
                        </a:rPr>
                        <a:t>power()</a:t>
                      </a:r>
                    </a:p>
                  </a:txBody>
                  <a:tcPr marL="182880" marR="182880" marT="91440" marB="91440" anchor="ctr">
                    <a:lnL>
                      <a:noFill/>
                    </a:lnL>
                    <a:lnR w="12700" cap="flat" cmpd="sng" algn="ctr">
                      <a:solidFill>
                        <a:schemeClr val="tx1"/>
                      </a:solidFill>
                      <a:prstDash val="solid"/>
                      <a:round/>
                      <a:headEnd type="none" w="med" len="med"/>
                      <a:tailEnd type="none" w="med" len="med"/>
                    </a:lnR>
                    <a:lnT>
                      <a:noFill/>
                    </a:lnT>
                    <a:lnB>
                      <a:noFill/>
                    </a:lnB>
                    <a:solidFill>
                      <a:srgbClr val="F8FAFF"/>
                    </a:solidFill>
                  </a:tcPr>
                </a:tc>
                <a:extLst>
                  <a:ext uri="{0D108BD9-81ED-4DB2-BD59-A6C34878D82A}">
                    <a16:rowId xmlns:a16="http://schemas.microsoft.com/office/drawing/2014/main" val="2507215719"/>
                  </a:ext>
                </a:extLst>
              </a:tr>
              <a:tr h="0">
                <a:tc>
                  <a:txBody>
                    <a:bodyPr/>
                    <a:lstStyle/>
                    <a:p>
                      <a:r>
                        <a:rPr lang="en-IN">
                          <a:effectLst/>
                          <a:latin typeface="Calibri" panose="020F0502020204030204" pitchFamily="34" charset="0"/>
                          <a:ea typeface="Calibri" panose="020F0502020204030204" pitchFamily="34" charset="0"/>
                          <a:cs typeface="Calibri" panose="020F0502020204030204" pitchFamily="34" charset="0"/>
                        </a:rPr>
                        <a:t>Modulus</a:t>
                      </a:r>
                    </a:p>
                  </a:txBody>
                  <a:tcPr marL="182880" marR="182880" marT="91440" marB="91440" anchor="ctr">
                    <a:lnL w="12700" cap="flat" cmpd="sng" algn="ctr">
                      <a:solidFill>
                        <a:schemeClr val="tx1"/>
                      </a:solidFill>
                      <a:prstDash val="solid"/>
                      <a:round/>
                      <a:headEnd type="none" w="med" len="med"/>
                      <a:tailEnd type="none" w="med" len="med"/>
                    </a:lnL>
                    <a:lnR>
                      <a:noFill/>
                    </a:lnR>
                    <a:lnT>
                      <a:noFill/>
                    </a:lnT>
                    <a:lnB w="12700" cap="flat" cmpd="sng" algn="ctr">
                      <a:solidFill>
                        <a:schemeClr val="tx1"/>
                      </a:solidFill>
                      <a:prstDash val="solid"/>
                      <a:round/>
                      <a:headEnd type="none" w="med" len="med"/>
                      <a:tailEnd type="none" w="med" len="med"/>
                    </a:lnB>
                    <a:solidFill>
                      <a:srgbClr val="F8FAFF"/>
                    </a:solidFill>
                  </a:tcPr>
                </a:tc>
                <a:tc>
                  <a:txBody>
                    <a:bodyPr/>
                    <a:lstStyle/>
                    <a:p>
                      <a:pPr algn="ctr"/>
                      <a:r>
                        <a:rPr lang="en-IN" dirty="0">
                          <a:effectLst/>
                          <a:latin typeface="Calibri" panose="020F0502020204030204" pitchFamily="34" charset="0"/>
                          <a:ea typeface="Calibri" panose="020F0502020204030204" pitchFamily="34" charset="0"/>
                          <a:cs typeface="Calibri" panose="020F0502020204030204" pitchFamily="34" charset="0"/>
                        </a:rPr>
                        <a:t>%</a:t>
                      </a:r>
                    </a:p>
                  </a:txBody>
                  <a:tcPr marL="182880" marR="182880" marT="91440" marB="91440" anchor="ctr">
                    <a:lnL>
                      <a:noFill/>
                    </a:lnL>
                    <a:lnR>
                      <a:noFill/>
                    </a:lnR>
                    <a:lnT>
                      <a:noFill/>
                    </a:lnT>
                    <a:lnB w="12700" cap="flat" cmpd="sng" algn="ctr">
                      <a:solidFill>
                        <a:schemeClr val="tx1"/>
                      </a:solidFill>
                      <a:prstDash val="solid"/>
                      <a:round/>
                      <a:headEnd type="none" w="med" len="med"/>
                      <a:tailEnd type="none" w="med" len="med"/>
                    </a:lnB>
                    <a:solidFill>
                      <a:srgbClr val="F8FAFF"/>
                    </a:solidFill>
                  </a:tcPr>
                </a:tc>
                <a:tc>
                  <a:txBody>
                    <a:bodyPr/>
                    <a:lstStyle/>
                    <a:p>
                      <a:pPr algn="ctr"/>
                      <a:r>
                        <a:rPr lang="en-IN" dirty="0">
                          <a:effectLst/>
                          <a:latin typeface="Calibri" panose="020F0502020204030204" pitchFamily="34" charset="0"/>
                          <a:ea typeface="Calibri" panose="020F0502020204030204" pitchFamily="34" charset="0"/>
                          <a:cs typeface="Calibri" panose="020F0502020204030204" pitchFamily="34" charset="0"/>
                        </a:rPr>
                        <a:t>mod()</a:t>
                      </a:r>
                    </a:p>
                  </a:txBody>
                  <a:tcPr marL="182880" marR="182880" marT="91440" marB="91440" anchor="ctr">
                    <a:lnL>
                      <a:noFill/>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solidFill>
                      <a:srgbClr val="F8FAFF"/>
                    </a:solidFill>
                  </a:tcPr>
                </a:tc>
                <a:extLst>
                  <a:ext uri="{0D108BD9-81ED-4DB2-BD59-A6C34878D82A}">
                    <a16:rowId xmlns:a16="http://schemas.microsoft.com/office/drawing/2014/main" val="3234116973"/>
                  </a:ext>
                </a:extLst>
              </a:tr>
            </a:tbl>
          </a:graphicData>
        </a:graphic>
      </p:graphicFrame>
    </p:spTree>
    <p:extLst>
      <p:ext uri="{BB962C8B-B14F-4D97-AF65-F5344CB8AC3E}">
        <p14:creationId xmlns:p14="http://schemas.microsoft.com/office/powerpoint/2010/main" val="222988051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Table 8">
            <a:extLst>
              <a:ext uri="{FF2B5EF4-FFF2-40B4-BE49-F238E27FC236}">
                <a16:creationId xmlns:a16="http://schemas.microsoft.com/office/drawing/2014/main" id="{0B6EC464-4750-5FF3-7A5A-15612BA6E293}"/>
              </a:ext>
            </a:extLst>
          </p:cNvPr>
          <p:cNvGraphicFramePr>
            <a:graphicFrameLocks noGrp="1"/>
          </p:cNvGraphicFramePr>
          <p:nvPr/>
        </p:nvGraphicFramePr>
        <p:xfrm>
          <a:off x="0" y="23812"/>
          <a:ext cx="12192000" cy="465287"/>
        </p:xfrm>
        <a:graphic>
          <a:graphicData uri="http://schemas.openxmlformats.org/drawingml/2006/table">
            <a:tbl>
              <a:tblPr firstRow="1" bandRow="1">
                <a:tableStyleId>{5C22544A-7EE6-4342-B048-85BDC9FD1C3A}</a:tableStyleId>
              </a:tblPr>
              <a:tblGrid>
                <a:gridCol w="6092042">
                  <a:extLst>
                    <a:ext uri="{9D8B030D-6E8A-4147-A177-3AD203B41FA5}">
                      <a16:colId xmlns:a16="http://schemas.microsoft.com/office/drawing/2014/main" val="2179694530"/>
                    </a:ext>
                  </a:extLst>
                </a:gridCol>
                <a:gridCol w="6099958">
                  <a:extLst>
                    <a:ext uri="{9D8B030D-6E8A-4147-A177-3AD203B41FA5}">
                      <a16:colId xmlns:a16="http://schemas.microsoft.com/office/drawing/2014/main" val="2768207918"/>
                    </a:ext>
                  </a:extLst>
                </a:gridCol>
              </a:tblGrid>
              <a:tr h="465287">
                <a:tc>
                  <a:txBody>
                    <a:bodyPr/>
                    <a:lstStyle/>
                    <a:p>
                      <a:endParaRPr lang="en-US" dirty="0"/>
                    </a:p>
                  </a:txBody>
                  <a:tcPr>
                    <a:solidFill>
                      <a:srgbClr val="FF85FF"/>
                    </a:solidFill>
                  </a:tcPr>
                </a:tc>
                <a:tc>
                  <a:txBody>
                    <a:bodyPr/>
                    <a:lstStyle/>
                    <a:p>
                      <a:endParaRPr lang="en-US" dirty="0"/>
                    </a:p>
                  </a:txBody>
                  <a:tcPr>
                    <a:solidFill>
                      <a:srgbClr val="FFFF00"/>
                    </a:solidFill>
                  </a:tcPr>
                </a:tc>
                <a:extLst>
                  <a:ext uri="{0D108BD9-81ED-4DB2-BD59-A6C34878D82A}">
                    <a16:rowId xmlns:a16="http://schemas.microsoft.com/office/drawing/2014/main" val="1996944423"/>
                  </a:ext>
                </a:extLst>
              </a:tr>
            </a:tbl>
          </a:graphicData>
        </a:graphic>
      </p:graphicFrame>
      <p:graphicFrame>
        <p:nvGraphicFramePr>
          <p:cNvPr id="10" name="Table 9">
            <a:extLst>
              <a:ext uri="{FF2B5EF4-FFF2-40B4-BE49-F238E27FC236}">
                <a16:creationId xmlns:a16="http://schemas.microsoft.com/office/drawing/2014/main" id="{494BAFB7-FE1F-E1A9-7A6C-AB4145BD9BA1}"/>
              </a:ext>
            </a:extLst>
          </p:cNvPr>
          <p:cNvGraphicFramePr>
            <a:graphicFrameLocks noGrp="1"/>
          </p:cNvGraphicFramePr>
          <p:nvPr>
            <p:extLst>
              <p:ext uri="{D42A27DB-BD31-4B8C-83A1-F6EECF244321}">
                <p14:modId xmlns:p14="http://schemas.microsoft.com/office/powerpoint/2010/main" val="3399221140"/>
              </p:ext>
            </p:extLst>
          </p:nvPr>
        </p:nvGraphicFramePr>
        <p:xfrm>
          <a:off x="1" y="6478892"/>
          <a:ext cx="12191999" cy="370840"/>
        </p:xfrm>
        <a:graphic>
          <a:graphicData uri="http://schemas.openxmlformats.org/drawingml/2006/table">
            <a:tbl>
              <a:tblPr firstRow="1" bandRow="1">
                <a:tableStyleId>{5C22544A-7EE6-4342-B048-85BDC9FD1C3A}</a:tableStyleId>
              </a:tblPr>
              <a:tblGrid>
                <a:gridCol w="6080165">
                  <a:extLst>
                    <a:ext uri="{9D8B030D-6E8A-4147-A177-3AD203B41FA5}">
                      <a16:colId xmlns:a16="http://schemas.microsoft.com/office/drawing/2014/main" val="2179694530"/>
                    </a:ext>
                  </a:extLst>
                </a:gridCol>
                <a:gridCol w="6111834">
                  <a:extLst>
                    <a:ext uri="{9D8B030D-6E8A-4147-A177-3AD203B41FA5}">
                      <a16:colId xmlns:a16="http://schemas.microsoft.com/office/drawing/2014/main" val="2768207918"/>
                    </a:ext>
                  </a:extLst>
                </a:gridCol>
              </a:tblGrid>
              <a:tr h="370840">
                <a:tc>
                  <a:txBody>
                    <a:bodyPr/>
                    <a:lstStyle/>
                    <a:p>
                      <a:endParaRPr lang="en-US" dirty="0"/>
                    </a:p>
                  </a:txBody>
                  <a:tcPr>
                    <a:solidFill>
                      <a:srgbClr val="FFFF00"/>
                    </a:solidFill>
                  </a:tcPr>
                </a:tc>
                <a:tc>
                  <a:txBody>
                    <a:bodyPr/>
                    <a:lstStyle/>
                    <a:p>
                      <a:pPr algn="r"/>
                      <a:r>
                        <a:rPr lang="en-US" dirty="0">
                          <a:solidFill>
                            <a:schemeClr val="tx1"/>
                          </a:solidFill>
                        </a:rPr>
                        <a:t>52</a:t>
                      </a:r>
                    </a:p>
                  </a:txBody>
                  <a:tcPr>
                    <a:solidFill>
                      <a:srgbClr val="FF85FF"/>
                    </a:solidFill>
                  </a:tcPr>
                </a:tc>
                <a:extLst>
                  <a:ext uri="{0D108BD9-81ED-4DB2-BD59-A6C34878D82A}">
                    <a16:rowId xmlns:a16="http://schemas.microsoft.com/office/drawing/2014/main" val="1996944423"/>
                  </a:ext>
                </a:extLst>
              </a:tr>
            </a:tbl>
          </a:graphicData>
        </a:graphic>
      </p:graphicFrame>
      <p:pic>
        <p:nvPicPr>
          <p:cNvPr id="12" name="Google Shape;187;p25" descr="pngfind.com-kingpin-png-4152286 (1).png">
            <a:extLst>
              <a:ext uri="{FF2B5EF4-FFF2-40B4-BE49-F238E27FC236}">
                <a16:creationId xmlns:a16="http://schemas.microsoft.com/office/drawing/2014/main" id="{2DBF2481-A2DB-F96E-5749-B03DC4F71665}"/>
              </a:ext>
            </a:extLst>
          </p:cNvPr>
          <p:cNvPicPr preferRelativeResize="0"/>
          <p:nvPr/>
        </p:nvPicPr>
        <p:blipFill rotWithShape="1">
          <a:blip r:embed="rId2">
            <a:alphaModFix/>
          </a:blip>
          <a:srcRect/>
          <a:stretch/>
        </p:blipFill>
        <p:spPr>
          <a:xfrm>
            <a:off x="11044052" y="8268"/>
            <a:ext cx="1051261" cy="465287"/>
          </a:xfrm>
          <a:prstGeom prst="rect">
            <a:avLst/>
          </a:prstGeom>
          <a:noFill/>
          <a:ln>
            <a:noFill/>
          </a:ln>
        </p:spPr>
      </p:pic>
      <p:sp>
        <p:nvSpPr>
          <p:cNvPr id="19" name="Rectangle 18">
            <a:extLst>
              <a:ext uri="{FF2B5EF4-FFF2-40B4-BE49-F238E27FC236}">
                <a16:creationId xmlns:a16="http://schemas.microsoft.com/office/drawing/2014/main" id="{A0702E37-2E7E-7262-5E76-F69A817105B3}"/>
              </a:ext>
            </a:extLst>
          </p:cNvPr>
          <p:cNvSpPr/>
          <p:nvPr/>
        </p:nvSpPr>
        <p:spPr>
          <a:xfrm>
            <a:off x="0" y="8268"/>
            <a:ext cx="12192000" cy="6825920"/>
          </a:xfrm>
          <a:prstGeom prst="rect">
            <a:avLst/>
          </a:prstGeom>
          <a:noFill/>
          <a:ln w="38100">
            <a:solidFill>
              <a:srgbClr val="0432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DCB2A3F0-9003-5886-09B4-27925BBE4000}"/>
              </a:ext>
            </a:extLst>
          </p:cNvPr>
          <p:cNvSpPr txBox="1"/>
          <p:nvPr/>
        </p:nvSpPr>
        <p:spPr>
          <a:xfrm>
            <a:off x="0" y="873851"/>
            <a:ext cx="12191999" cy="646331"/>
          </a:xfrm>
          <a:prstGeom prst="rect">
            <a:avLst/>
          </a:prstGeom>
          <a:noFill/>
        </p:spPr>
        <p:txBody>
          <a:bodyPr wrap="square">
            <a:spAutoFit/>
          </a:bodyPr>
          <a:lstStyle/>
          <a:p>
            <a:pPr algn="ctr"/>
            <a:r>
              <a:rPr lang="en-US" sz="3600" b="1" dirty="0">
                <a:effectLst/>
                <a:latin typeface="Calibri" panose="020F0502020204030204" pitchFamily="34" charset="0"/>
                <a:ea typeface="Calibri" panose="020F0502020204030204" pitchFamily="34" charset="0"/>
                <a:cs typeface="Calibri" panose="020F0502020204030204" pitchFamily="34" charset="0"/>
              </a:rPr>
              <a:t>Arithmetic Operations</a:t>
            </a:r>
            <a:endParaRPr lang="en-GB" sz="3600" b="1" cap="none" spc="0" dirty="0">
              <a:ln w="0"/>
              <a:solidFill>
                <a:schemeClr val="tx1"/>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Calibri" panose="020F0502020204030204" pitchFamily="34" charset="0"/>
            </a:endParaRPr>
          </a:p>
        </p:txBody>
      </p:sp>
      <p:pic>
        <p:nvPicPr>
          <p:cNvPr id="4" name="Picture 3">
            <a:extLst>
              <a:ext uri="{FF2B5EF4-FFF2-40B4-BE49-F238E27FC236}">
                <a16:creationId xmlns:a16="http://schemas.microsoft.com/office/drawing/2014/main" id="{694FD26B-CE27-4EDA-8202-6765BB25F3A1}"/>
              </a:ext>
            </a:extLst>
          </p:cNvPr>
          <p:cNvPicPr>
            <a:picLocks noChangeAspect="1"/>
          </p:cNvPicPr>
          <p:nvPr/>
        </p:nvPicPr>
        <p:blipFill>
          <a:blip r:embed="rId3"/>
          <a:stretch>
            <a:fillRect/>
          </a:stretch>
        </p:blipFill>
        <p:spPr>
          <a:xfrm>
            <a:off x="288235" y="1874956"/>
            <a:ext cx="5372933" cy="3492406"/>
          </a:xfrm>
          <a:prstGeom prst="rect">
            <a:avLst/>
          </a:prstGeom>
        </p:spPr>
      </p:pic>
      <p:pic>
        <p:nvPicPr>
          <p:cNvPr id="7" name="Picture 6">
            <a:extLst>
              <a:ext uri="{FF2B5EF4-FFF2-40B4-BE49-F238E27FC236}">
                <a16:creationId xmlns:a16="http://schemas.microsoft.com/office/drawing/2014/main" id="{E392025E-FE2A-0585-6489-129AF6A41326}"/>
              </a:ext>
            </a:extLst>
          </p:cNvPr>
          <p:cNvPicPr>
            <a:picLocks noChangeAspect="1"/>
          </p:cNvPicPr>
          <p:nvPr/>
        </p:nvPicPr>
        <p:blipFill>
          <a:blip r:embed="rId4"/>
          <a:stretch>
            <a:fillRect/>
          </a:stretch>
        </p:blipFill>
        <p:spPr>
          <a:xfrm>
            <a:off x="399005" y="5572299"/>
            <a:ext cx="5147671" cy="759804"/>
          </a:xfrm>
          <a:prstGeom prst="rect">
            <a:avLst/>
          </a:prstGeom>
        </p:spPr>
      </p:pic>
      <p:pic>
        <p:nvPicPr>
          <p:cNvPr id="11" name="Picture 10">
            <a:extLst>
              <a:ext uri="{FF2B5EF4-FFF2-40B4-BE49-F238E27FC236}">
                <a16:creationId xmlns:a16="http://schemas.microsoft.com/office/drawing/2014/main" id="{07C6184C-1A1C-CBF3-E7B1-D90754B15C1E}"/>
              </a:ext>
            </a:extLst>
          </p:cNvPr>
          <p:cNvPicPr>
            <a:picLocks noChangeAspect="1"/>
          </p:cNvPicPr>
          <p:nvPr/>
        </p:nvPicPr>
        <p:blipFill>
          <a:blip r:embed="rId5"/>
          <a:stretch>
            <a:fillRect/>
          </a:stretch>
        </p:blipFill>
        <p:spPr>
          <a:xfrm>
            <a:off x="6233941" y="1874956"/>
            <a:ext cx="5802901" cy="3498011"/>
          </a:xfrm>
          <a:prstGeom prst="rect">
            <a:avLst/>
          </a:prstGeom>
        </p:spPr>
      </p:pic>
      <p:pic>
        <p:nvPicPr>
          <p:cNvPr id="14" name="Picture 13">
            <a:extLst>
              <a:ext uri="{FF2B5EF4-FFF2-40B4-BE49-F238E27FC236}">
                <a16:creationId xmlns:a16="http://schemas.microsoft.com/office/drawing/2014/main" id="{7D806F2D-E807-9B96-FB2B-5332B74E8D49}"/>
              </a:ext>
            </a:extLst>
          </p:cNvPr>
          <p:cNvPicPr>
            <a:picLocks noChangeAspect="1"/>
          </p:cNvPicPr>
          <p:nvPr/>
        </p:nvPicPr>
        <p:blipFill>
          <a:blip r:embed="rId6"/>
          <a:stretch>
            <a:fillRect/>
          </a:stretch>
        </p:blipFill>
        <p:spPr>
          <a:xfrm>
            <a:off x="6296286" y="5588981"/>
            <a:ext cx="5678210" cy="743122"/>
          </a:xfrm>
          <a:prstGeom prst="rect">
            <a:avLst/>
          </a:prstGeom>
        </p:spPr>
      </p:pic>
      <p:sp>
        <p:nvSpPr>
          <p:cNvPr id="15" name="TextBox 14">
            <a:extLst>
              <a:ext uri="{FF2B5EF4-FFF2-40B4-BE49-F238E27FC236}">
                <a16:creationId xmlns:a16="http://schemas.microsoft.com/office/drawing/2014/main" id="{7BC69ECE-F1A1-45AE-794F-EC217D4E0A4A}"/>
              </a:ext>
            </a:extLst>
          </p:cNvPr>
          <p:cNvSpPr txBox="1"/>
          <p:nvPr/>
        </p:nvSpPr>
        <p:spPr>
          <a:xfrm>
            <a:off x="2072602" y="1538554"/>
            <a:ext cx="1069524" cy="369332"/>
          </a:xfrm>
          <a:prstGeom prst="rect">
            <a:avLst/>
          </a:prstGeom>
          <a:noFill/>
        </p:spPr>
        <p:txBody>
          <a:bodyPr wrap="none" rtlCol="0">
            <a:spAutoFit/>
          </a:bodyPr>
          <a:lstStyle/>
          <a:p>
            <a:r>
              <a:rPr lang="en-IN" b="1" dirty="0">
                <a:solidFill>
                  <a:srgbClr val="FF0000"/>
                </a:solidFill>
              </a:rPr>
              <a:t>Addition</a:t>
            </a:r>
          </a:p>
        </p:txBody>
      </p:sp>
      <p:sp>
        <p:nvSpPr>
          <p:cNvPr id="16" name="TextBox 15">
            <a:extLst>
              <a:ext uri="{FF2B5EF4-FFF2-40B4-BE49-F238E27FC236}">
                <a16:creationId xmlns:a16="http://schemas.microsoft.com/office/drawing/2014/main" id="{15467600-6744-FEEC-378F-7F6461D4EBAD}"/>
              </a:ext>
            </a:extLst>
          </p:cNvPr>
          <p:cNvSpPr txBox="1"/>
          <p:nvPr/>
        </p:nvSpPr>
        <p:spPr>
          <a:xfrm>
            <a:off x="8342214" y="1538554"/>
            <a:ext cx="1415324" cy="369332"/>
          </a:xfrm>
          <a:prstGeom prst="rect">
            <a:avLst/>
          </a:prstGeom>
          <a:noFill/>
        </p:spPr>
        <p:txBody>
          <a:bodyPr wrap="none" rtlCol="0">
            <a:spAutoFit/>
          </a:bodyPr>
          <a:lstStyle/>
          <a:p>
            <a:r>
              <a:rPr lang="en-IN" b="1" dirty="0">
                <a:solidFill>
                  <a:srgbClr val="FF0000"/>
                </a:solidFill>
              </a:rPr>
              <a:t>Subtraction</a:t>
            </a:r>
          </a:p>
        </p:txBody>
      </p:sp>
    </p:spTree>
    <p:extLst>
      <p:ext uri="{BB962C8B-B14F-4D97-AF65-F5344CB8AC3E}">
        <p14:creationId xmlns:p14="http://schemas.microsoft.com/office/powerpoint/2010/main" val="407899546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Table 8">
            <a:extLst>
              <a:ext uri="{FF2B5EF4-FFF2-40B4-BE49-F238E27FC236}">
                <a16:creationId xmlns:a16="http://schemas.microsoft.com/office/drawing/2014/main" id="{0B6EC464-4750-5FF3-7A5A-15612BA6E293}"/>
              </a:ext>
            </a:extLst>
          </p:cNvPr>
          <p:cNvGraphicFramePr>
            <a:graphicFrameLocks noGrp="1"/>
          </p:cNvGraphicFramePr>
          <p:nvPr/>
        </p:nvGraphicFramePr>
        <p:xfrm>
          <a:off x="0" y="23812"/>
          <a:ext cx="12192000" cy="465287"/>
        </p:xfrm>
        <a:graphic>
          <a:graphicData uri="http://schemas.openxmlformats.org/drawingml/2006/table">
            <a:tbl>
              <a:tblPr firstRow="1" bandRow="1">
                <a:tableStyleId>{5C22544A-7EE6-4342-B048-85BDC9FD1C3A}</a:tableStyleId>
              </a:tblPr>
              <a:tblGrid>
                <a:gridCol w="6092042">
                  <a:extLst>
                    <a:ext uri="{9D8B030D-6E8A-4147-A177-3AD203B41FA5}">
                      <a16:colId xmlns:a16="http://schemas.microsoft.com/office/drawing/2014/main" val="2179694530"/>
                    </a:ext>
                  </a:extLst>
                </a:gridCol>
                <a:gridCol w="6099958">
                  <a:extLst>
                    <a:ext uri="{9D8B030D-6E8A-4147-A177-3AD203B41FA5}">
                      <a16:colId xmlns:a16="http://schemas.microsoft.com/office/drawing/2014/main" val="2768207918"/>
                    </a:ext>
                  </a:extLst>
                </a:gridCol>
              </a:tblGrid>
              <a:tr h="465287">
                <a:tc>
                  <a:txBody>
                    <a:bodyPr/>
                    <a:lstStyle/>
                    <a:p>
                      <a:endParaRPr lang="en-US" dirty="0"/>
                    </a:p>
                  </a:txBody>
                  <a:tcPr>
                    <a:solidFill>
                      <a:srgbClr val="FF85FF"/>
                    </a:solidFill>
                  </a:tcPr>
                </a:tc>
                <a:tc>
                  <a:txBody>
                    <a:bodyPr/>
                    <a:lstStyle/>
                    <a:p>
                      <a:endParaRPr lang="en-US" dirty="0"/>
                    </a:p>
                  </a:txBody>
                  <a:tcPr>
                    <a:solidFill>
                      <a:srgbClr val="FFFF00"/>
                    </a:solidFill>
                  </a:tcPr>
                </a:tc>
                <a:extLst>
                  <a:ext uri="{0D108BD9-81ED-4DB2-BD59-A6C34878D82A}">
                    <a16:rowId xmlns:a16="http://schemas.microsoft.com/office/drawing/2014/main" val="1996944423"/>
                  </a:ext>
                </a:extLst>
              </a:tr>
            </a:tbl>
          </a:graphicData>
        </a:graphic>
      </p:graphicFrame>
      <p:graphicFrame>
        <p:nvGraphicFramePr>
          <p:cNvPr id="10" name="Table 9">
            <a:extLst>
              <a:ext uri="{FF2B5EF4-FFF2-40B4-BE49-F238E27FC236}">
                <a16:creationId xmlns:a16="http://schemas.microsoft.com/office/drawing/2014/main" id="{494BAFB7-FE1F-E1A9-7A6C-AB4145BD9BA1}"/>
              </a:ext>
            </a:extLst>
          </p:cNvPr>
          <p:cNvGraphicFramePr>
            <a:graphicFrameLocks noGrp="1"/>
          </p:cNvGraphicFramePr>
          <p:nvPr>
            <p:extLst>
              <p:ext uri="{D42A27DB-BD31-4B8C-83A1-F6EECF244321}">
                <p14:modId xmlns:p14="http://schemas.microsoft.com/office/powerpoint/2010/main" val="3139868986"/>
              </p:ext>
            </p:extLst>
          </p:nvPr>
        </p:nvGraphicFramePr>
        <p:xfrm>
          <a:off x="1" y="6478892"/>
          <a:ext cx="12191999" cy="370840"/>
        </p:xfrm>
        <a:graphic>
          <a:graphicData uri="http://schemas.openxmlformats.org/drawingml/2006/table">
            <a:tbl>
              <a:tblPr firstRow="1" bandRow="1">
                <a:tableStyleId>{5C22544A-7EE6-4342-B048-85BDC9FD1C3A}</a:tableStyleId>
              </a:tblPr>
              <a:tblGrid>
                <a:gridCol w="6080165">
                  <a:extLst>
                    <a:ext uri="{9D8B030D-6E8A-4147-A177-3AD203B41FA5}">
                      <a16:colId xmlns:a16="http://schemas.microsoft.com/office/drawing/2014/main" val="2179694530"/>
                    </a:ext>
                  </a:extLst>
                </a:gridCol>
                <a:gridCol w="6111834">
                  <a:extLst>
                    <a:ext uri="{9D8B030D-6E8A-4147-A177-3AD203B41FA5}">
                      <a16:colId xmlns:a16="http://schemas.microsoft.com/office/drawing/2014/main" val="2768207918"/>
                    </a:ext>
                  </a:extLst>
                </a:gridCol>
              </a:tblGrid>
              <a:tr h="370840">
                <a:tc>
                  <a:txBody>
                    <a:bodyPr/>
                    <a:lstStyle/>
                    <a:p>
                      <a:endParaRPr lang="en-US" dirty="0"/>
                    </a:p>
                  </a:txBody>
                  <a:tcPr>
                    <a:solidFill>
                      <a:srgbClr val="FFFF00"/>
                    </a:solidFill>
                  </a:tcPr>
                </a:tc>
                <a:tc>
                  <a:txBody>
                    <a:bodyPr/>
                    <a:lstStyle/>
                    <a:p>
                      <a:pPr algn="r"/>
                      <a:r>
                        <a:rPr lang="en-US" dirty="0">
                          <a:solidFill>
                            <a:schemeClr val="tx1"/>
                          </a:solidFill>
                        </a:rPr>
                        <a:t>53</a:t>
                      </a:r>
                    </a:p>
                  </a:txBody>
                  <a:tcPr>
                    <a:solidFill>
                      <a:srgbClr val="FF85FF"/>
                    </a:solidFill>
                  </a:tcPr>
                </a:tc>
                <a:extLst>
                  <a:ext uri="{0D108BD9-81ED-4DB2-BD59-A6C34878D82A}">
                    <a16:rowId xmlns:a16="http://schemas.microsoft.com/office/drawing/2014/main" val="1996944423"/>
                  </a:ext>
                </a:extLst>
              </a:tr>
            </a:tbl>
          </a:graphicData>
        </a:graphic>
      </p:graphicFrame>
      <p:pic>
        <p:nvPicPr>
          <p:cNvPr id="12" name="Google Shape;187;p25" descr="pngfind.com-kingpin-png-4152286 (1).png">
            <a:extLst>
              <a:ext uri="{FF2B5EF4-FFF2-40B4-BE49-F238E27FC236}">
                <a16:creationId xmlns:a16="http://schemas.microsoft.com/office/drawing/2014/main" id="{2DBF2481-A2DB-F96E-5749-B03DC4F71665}"/>
              </a:ext>
            </a:extLst>
          </p:cNvPr>
          <p:cNvPicPr preferRelativeResize="0"/>
          <p:nvPr/>
        </p:nvPicPr>
        <p:blipFill rotWithShape="1">
          <a:blip r:embed="rId2">
            <a:alphaModFix/>
          </a:blip>
          <a:srcRect/>
          <a:stretch/>
        </p:blipFill>
        <p:spPr>
          <a:xfrm>
            <a:off x="11044052" y="8268"/>
            <a:ext cx="1051261" cy="465287"/>
          </a:xfrm>
          <a:prstGeom prst="rect">
            <a:avLst/>
          </a:prstGeom>
          <a:noFill/>
          <a:ln>
            <a:noFill/>
          </a:ln>
        </p:spPr>
      </p:pic>
      <p:sp>
        <p:nvSpPr>
          <p:cNvPr id="19" name="Rectangle 18">
            <a:extLst>
              <a:ext uri="{FF2B5EF4-FFF2-40B4-BE49-F238E27FC236}">
                <a16:creationId xmlns:a16="http://schemas.microsoft.com/office/drawing/2014/main" id="{A0702E37-2E7E-7262-5E76-F69A817105B3}"/>
              </a:ext>
            </a:extLst>
          </p:cNvPr>
          <p:cNvSpPr/>
          <p:nvPr/>
        </p:nvSpPr>
        <p:spPr>
          <a:xfrm>
            <a:off x="0" y="8268"/>
            <a:ext cx="12192000" cy="6825920"/>
          </a:xfrm>
          <a:prstGeom prst="rect">
            <a:avLst/>
          </a:prstGeom>
          <a:noFill/>
          <a:ln w="38100">
            <a:solidFill>
              <a:srgbClr val="0432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DCB2A3F0-9003-5886-09B4-27925BBE4000}"/>
              </a:ext>
            </a:extLst>
          </p:cNvPr>
          <p:cNvSpPr txBox="1"/>
          <p:nvPr/>
        </p:nvSpPr>
        <p:spPr>
          <a:xfrm>
            <a:off x="0" y="873851"/>
            <a:ext cx="12191999" cy="646331"/>
          </a:xfrm>
          <a:prstGeom prst="rect">
            <a:avLst/>
          </a:prstGeom>
          <a:noFill/>
        </p:spPr>
        <p:txBody>
          <a:bodyPr wrap="square">
            <a:spAutoFit/>
          </a:bodyPr>
          <a:lstStyle/>
          <a:p>
            <a:pPr algn="ctr"/>
            <a:r>
              <a:rPr lang="en-US" sz="3600" b="1" dirty="0">
                <a:effectLst/>
                <a:latin typeface="Calibri" panose="020F0502020204030204" pitchFamily="34" charset="0"/>
                <a:ea typeface="Calibri" panose="020F0502020204030204" pitchFamily="34" charset="0"/>
                <a:cs typeface="Calibri" panose="020F0502020204030204" pitchFamily="34" charset="0"/>
              </a:rPr>
              <a:t>Arithmetic Operations</a:t>
            </a:r>
            <a:endParaRPr lang="en-GB" sz="3600" b="1" cap="none" spc="0" dirty="0">
              <a:ln w="0"/>
              <a:solidFill>
                <a:schemeClr val="tx1"/>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Calibri" panose="020F0502020204030204" pitchFamily="34" charset="0"/>
            </a:endParaRPr>
          </a:p>
        </p:txBody>
      </p:sp>
      <p:sp>
        <p:nvSpPr>
          <p:cNvPr id="15" name="TextBox 14">
            <a:extLst>
              <a:ext uri="{FF2B5EF4-FFF2-40B4-BE49-F238E27FC236}">
                <a16:creationId xmlns:a16="http://schemas.microsoft.com/office/drawing/2014/main" id="{7BC69ECE-F1A1-45AE-794F-EC217D4E0A4A}"/>
              </a:ext>
            </a:extLst>
          </p:cNvPr>
          <p:cNvSpPr txBox="1"/>
          <p:nvPr/>
        </p:nvSpPr>
        <p:spPr>
          <a:xfrm>
            <a:off x="2142105" y="1441867"/>
            <a:ext cx="1648015" cy="369332"/>
          </a:xfrm>
          <a:prstGeom prst="rect">
            <a:avLst/>
          </a:prstGeom>
          <a:noFill/>
        </p:spPr>
        <p:txBody>
          <a:bodyPr wrap="none" rtlCol="0">
            <a:spAutoFit/>
          </a:bodyPr>
          <a:lstStyle/>
          <a:p>
            <a:r>
              <a:rPr lang="en-IN" b="1" dirty="0">
                <a:solidFill>
                  <a:srgbClr val="FF0000"/>
                </a:solidFill>
              </a:rPr>
              <a:t>Multiplication</a:t>
            </a:r>
          </a:p>
        </p:txBody>
      </p:sp>
      <p:sp>
        <p:nvSpPr>
          <p:cNvPr id="16" name="TextBox 15">
            <a:extLst>
              <a:ext uri="{FF2B5EF4-FFF2-40B4-BE49-F238E27FC236}">
                <a16:creationId xmlns:a16="http://schemas.microsoft.com/office/drawing/2014/main" id="{15467600-6744-FEEC-378F-7F6461D4EBAD}"/>
              </a:ext>
            </a:extLst>
          </p:cNvPr>
          <p:cNvSpPr txBox="1"/>
          <p:nvPr/>
        </p:nvSpPr>
        <p:spPr>
          <a:xfrm>
            <a:off x="8836663" y="1441867"/>
            <a:ext cx="1034257" cy="369332"/>
          </a:xfrm>
          <a:prstGeom prst="rect">
            <a:avLst/>
          </a:prstGeom>
          <a:noFill/>
        </p:spPr>
        <p:txBody>
          <a:bodyPr wrap="none" rtlCol="0">
            <a:spAutoFit/>
          </a:bodyPr>
          <a:lstStyle/>
          <a:p>
            <a:r>
              <a:rPr lang="en-IN" b="1" dirty="0">
                <a:solidFill>
                  <a:srgbClr val="FF0000"/>
                </a:solidFill>
              </a:rPr>
              <a:t>Division</a:t>
            </a:r>
          </a:p>
        </p:txBody>
      </p:sp>
      <p:pic>
        <p:nvPicPr>
          <p:cNvPr id="5" name="Picture 4">
            <a:extLst>
              <a:ext uri="{FF2B5EF4-FFF2-40B4-BE49-F238E27FC236}">
                <a16:creationId xmlns:a16="http://schemas.microsoft.com/office/drawing/2014/main" id="{9CC9524B-5881-F1D5-3B4A-B7DF272DD82A}"/>
              </a:ext>
            </a:extLst>
          </p:cNvPr>
          <p:cNvPicPr>
            <a:picLocks noChangeAspect="1"/>
          </p:cNvPicPr>
          <p:nvPr/>
        </p:nvPicPr>
        <p:blipFill>
          <a:blip r:embed="rId3"/>
          <a:stretch>
            <a:fillRect/>
          </a:stretch>
        </p:blipFill>
        <p:spPr>
          <a:xfrm>
            <a:off x="313395" y="1834934"/>
            <a:ext cx="5713389" cy="3527551"/>
          </a:xfrm>
          <a:prstGeom prst="rect">
            <a:avLst/>
          </a:prstGeom>
        </p:spPr>
      </p:pic>
      <p:pic>
        <p:nvPicPr>
          <p:cNvPr id="8" name="Picture 7">
            <a:extLst>
              <a:ext uri="{FF2B5EF4-FFF2-40B4-BE49-F238E27FC236}">
                <a16:creationId xmlns:a16="http://schemas.microsoft.com/office/drawing/2014/main" id="{C74C4238-FA6A-650B-CE16-4FD193CEA305}"/>
              </a:ext>
            </a:extLst>
          </p:cNvPr>
          <p:cNvPicPr>
            <a:picLocks noChangeAspect="1"/>
          </p:cNvPicPr>
          <p:nvPr/>
        </p:nvPicPr>
        <p:blipFill>
          <a:blip r:embed="rId4"/>
          <a:stretch>
            <a:fillRect/>
          </a:stretch>
        </p:blipFill>
        <p:spPr>
          <a:xfrm>
            <a:off x="467126" y="5645934"/>
            <a:ext cx="5559658" cy="644049"/>
          </a:xfrm>
          <a:prstGeom prst="rect">
            <a:avLst/>
          </a:prstGeom>
        </p:spPr>
      </p:pic>
      <p:pic>
        <p:nvPicPr>
          <p:cNvPr id="17" name="Picture 16">
            <a:extLst>
              <a:ext uri="{FF2B5EF4-FFF2-40B4-BE49-F238E27FC236}">
                <a16:creationId xmlns:a16="http://schemas.microsoft.com/office/drawing/2014/main" id="{DA2427CE-2963-D048-11C4-78EF9F64FDF3}"/>
              </a:ext>
            </a:extLst>
          </p:cNvPr>
          <p:cNvPicPr>
            <a:picLocks noChangeAspect="1"/>
          </p:cNvPicPr>
          <p:nvPr/>
        </p:nvPicPr>
        <p:blipFill>
          <a:blip r:embed="rId5"/>
          <a:stretch>
            <a:fillRect/>
          </a:stretch>
        </p:blipFill>
        <p:spPr>
          <a:xfrm>
            <a:off x="6340179" y="1834934"/>
            <a:ext cx="5623044" cy="3509869"/>
          </a:xfrm>
          <a:prstGeom prst="rect">
            <a:avLst/>
          </a:prstGeom>
        </p:spPr>
      </p:pic>
      <p:pic>
        <p:nvPicPr>
          <p:cNvPr id="20" name="Picture 19">
            <a:extLst>
              <a:ext uri="{FF2B5EF4-FFF2-40B4-BE49-F238E27FC236}">
                <a16:creationId xmlns:a16="http://schemas.microsoft.com/office/drawing/2014/main" id="{9AABF7A3-D14D-6454-CD50-8914F29069F8}"/>
              </a:ext>
            </a:extLst>
          </p:cNvPr>
          <p:cNvPicPr>
            <a:picLocks noChangeAspect="1"/>
          </p:cNvPicPr>
          <p:nvPr/>
        </p:nvPicPr>
        <p:blipFill>
          <a:blip r:embed="rId6"/>
          <a:stretch>
            <a:fillRect/>
          </a:stretch>
        </p:blipFill>
        <p:spPr>
          <a:xfrm>
            <a:off x="6475568" y="5639135"/>
            <a:ext cx="5411848" cy="650848"/>
          </a:xfrm>
          <a:prstGeom prst="rect">
            <a:avLst/>
          </a:prstGeom>
        </p:spPr>
      </p:pic>
    </p:spTree>
    <p:extLst>
      <p:ext uri="{BB962C8B-B14F-4D97-AF65-F5344CB8AC3E}">
        <p14:creationId xmlns:p14="http://schemas.microsoft.com/office/powerpoint/2010/main" val="318255984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Table 8">
            <a:extLst>
              <a:ext uri="{FF2B5EF4-FFF2-40B4-BE49-F238E27FC236}">
                <a16:creationId xmlns:a16="http://schemas.microsoft.com/office/drawing/2014/main" id="{0B6EC464-4750-5FF3-7A5A-15612BA6E293}"/>
              </a:ext>
            </a:extLst>
          </p:cNvPr>
          <p:cNvGraphicFramePr>
            <a:graphicFrameLocks noGrp="1"/>
          </p:cNvGraphicFramePr>
          <p:nvPr/>
        </p:nvGraphicFramePr>
        <p:xfrm>
          <a:off x="0" y="23812"/>
          <a:ext cx="12192000" cy="465287"/>
        </p:xfrm>
        <a:graphic>
          <a:graphicData uri="http://schemas.openxmlformats.org/drawingml/2006/table">
            <a:tbl>
              <a:tblPr firstRow="1" bandRow="1">
                <a:tableStyleId>{5C22544A-7EE6-4342-B048-85BDC9FD1C3A}</a:tableStyleId>
              </a:tblPr>
              <a:tblGrid>
                <a:gridCol w="6092042">
                  <a:extLst>
                    <a:ext uri="{9D8B030D-6E8A-4147-A177-3AD203B41FA5}">
                      <a16:colId xmlns:a16="http://schemas.microsoft.com/office/drawing/2014/main" val="2179694530"/>
                    </a:ext>
                  </a:extLst>
                </a:gridCol>
                <a:gridCol w="6099958">
                  <a:extLst>
                    <a:ext uri="{9D8B030D-6E8A-4147-A177-3AD203B41FA5}">
                      <a16:colId xmlns:a16="http://schemas.microsoft.com/office/drawing/2014/main" val="2768207918"/>
                    </a:ext>
                  </a:extLst>
                </a:gridCol>
              </a:tblGrid>
              <a:tr h="465287">
                <a:tc>
                  <a:txBody>
                    <a:bodyPr/>
                    <a:lstStyle/>
                    <a:p>
                      <a:endParaRPr lang="en-US" dirty="0"/>
                    </a:p>
                  </a:txBody>
                  <a:tcPr>
                    <a:solidFill>
                      <a:srgbClr val="FF85FF"/>
                    </a:solidFill>
                  </a:tcPr>
                </a:tc>
                <a:tc>
                  <a:txBody>
                    <a:bodyPr/>
                    <a:lstStyle/>
                    <a:p>
                      <a:endParaRPr lang="en-US" dirty="0"/>
                    </a:p>
                  </a:txBody>
                  <a:tcPr>
                    <a:solidFill>
                      <a:srgbClr val="FFFF00"/>
                    </a:solidFill>
                  </a:tcPr>
                </a:tc>
                <a:extLst>
                  <a:ext uri="{0D108BD9-81ED-4DB2-BD59-A6C34878D82A}">
                    <a16:rowId xmlns:a16="http://schemas.microsoft.com/office/drawing/2014/main" val="1996944423"/>
                  </a:ext>
                </a:extLst>
              </a:tr>
            </a:tbl>
          </a:graphicData>
        </a:graphic>
      </p:graphicFrame>
      <p:graphicFrame>
        <p:nvGraphicFramePr>
          <p:cNvPr id="10" name="Table 9">
            <a:extLst>
              <a:ext uri="{FF2B5EF4-FFF2-40B4-BE49-F238E27FC236}">
                <a16:creationId xmlns:a16="http://schemas.microsoft.com/office/drawing/2014/main" id="{494BAFB7-FE1F-E1A9-7A6C-AB4145BD9BA1}"/>
              </a:ext>
            </a:extLst>
          </p:cNvPr>
          <p:cNvGraphicFramePr>
            <a:graphicFrameLocks noGrp="1"/>
          </p:cNvGraphicFramePr>
          <p:nvPr>
            <p:extLst>
              <p:ext uri="{D42A27DB-BD31-4B8C-83A1-F6EECF244321}">
                <p14:modId xmlns:p14="http://schemas.microsoft.com/office/powerpoint/2010/main" val="2246990954"/>
              </p:ext>
            </p:extLst>
          </p:nvPr>
        </p:nvGraphicFramePr>
        <p:xfrm>
          <a:off x="1" y="6478892"/>
          <a:ext cx="12191999" cy="370840"/>
        </p:xfrm>
        <a:graphic>
          <a:graphicData uri="http://schemas.openxmlformats.org/drawingml/2006/table">
            <a:tbl>
              <a:tblPr firstRow="1" bandRow="1">
                <a:tableStyleId>{5C22544A-7EE6-4342-B048-85BDC9FD1C3A}</a:tableStyleId>
              </a:tblPr>
              <a:tblGrid>
                <a:gridCol w="6080165">
                  <a:extLst>
                    <a:ext uri="{9D8B030D-6E8A-4147-A177-3AD203B41FA5}">
                      <a16:colId xmlns:a16="http://schemas.microsoft.com/office/drawing/2014/main" val="2179694530"/>
                    </a:ext>
                  </a:extLst>
                </a:gridCol>
                <a:gridCol w="6111834">
                  <a:extLst>
                    <a:ext uri="{9D8B030D-6E8A-4147-A177-3AD203B41FA5}">
                      <a16:colId xmlns:a16="http://schemas.microsoft.com/office/drawing/2014/main" val="2768207918"/>
                    </a:ext>
                  </a:extLst>
                </a:gridCol>
              </a:tblGrid>
              <a:tr h="370840">
                <a:tc>
                  <a:txBody>
                    <a:bodyPr/>
                    <a:lstStyle/>
                    <a:p>
                      <a:endParaRPr lang="en-US" dirty="0"/>
                    </a:p>
                  </a:txBody>
                  <a:tcPr>
                    <a:solidFill>
                      <a:srgbClr val="FFFF00"/>
                    </a:solidFill>
                  </a:tcPr>
                </a:tc>
                <a:tc>
                  <a:txBody>
                    <a:bodyPr/>
                    <a:lstStyle/>
                    <a:p>
                      <a:pPr algn="r"/>
                      <a:r>
                        <a:rPr lang="en-US" dirty="0">
                          <a:solidFill>
                            <a:schemeClr val="tx1"/>
                          </a:solidFill>
                        </a:rPr>
                        <a:t>54</a:t>
                      </a:r>
                    </a:p>
                  </a:txBody>
                  <a:tcPr>
                    <a:solidFill>
                      <a:srgbClr val="FF85FF"/>
                    </a:solidFill>
                  </a:tcPr>
                </a:tc>
                <a:extLst>
                  <a:ext uri="{0D108BD9-81ED-4DB2-BD59-A6C34878D82A}">
                    <a16:rowId xmlns:a16="http://schemas.microsoft.com/office/drawing/2014/main" val="1996944423"/>
                  </a:ext>
                </a:extLst>
              </a:tr>
            </a:tbl>
          </a:graphicData>
        </a:graphic>
      </p:graphicFrame>
      <p:pic>
        <p:nvPicPr>
          <p:cNvPr id="12" name="Google Shape;187;p25" descr="pngfind.com-kingpin-png-4152286 (1).png">
            <a:extLst>
              <a:ext uri="{FF2B5EF4-FFF2-40B4-BE49-F238E27FC236}">
                <a16:creationId xmlns:a16="http://schemas.microsoft.com/office/drawing/2014/main" id="{2DBF2481-A2DB-F96E-5749-B03DC4F71665}"/>
              </a:ext>
            </a:extLst>
          </p:cNvPr>
          <p:cNvPicPr preferRelativeResize="0"/>
          <p:nvPr/>
        </p:nvPicPr>
        <p:blipFill rotWithShape="1">
          <a:blip r:embed="rId2">
            <a:alphaModFix/>
          </a:blip>
          <a:srcRect/>
          <a:stretch/>
        </p:blipFill>
        <p:spPr>
          <a:xfrm>
            <a:off x="11044052" y="8268"/>
            <a:ext cx="1051261" cy="465287"/>
          </a:xfrm>
          <a:prstGeom prst="rect">
            <a:avLst/>
          </a:prstGeom>
          <a:noFill/>
          <a:ln>
            <a:noFill/>
          </a:ln>
        </p:spPr>
      </p:pic>
      <p:sp>
        <p:nvSpPr>
          <p:cNvPr id="19" name="Rectangle 18">
            <a:extLst>
              <a:ext uri="{FF2B5EF4-FFF2-40B4-BE49-F238E27FC236}">
                <a16:creationId xmlns:a16="http://schemas.microsoft.com/office/drawing/2014/main" id="{A0702E37-2E7E-7262-5E76-F69A817105B3}"/>
              </a:ext>
            </a:extLst>
          </p:cNvPr>
          <p:cNvSpPr/>
          <p:nvPr/>
        </p:nvSpPr>
        <p:spPr>
          <a:xfrm>
            <a:off x="0" y="8268"/>
            <a:ext cx="12192000" cy="6825920"/>
          </a:xfrm>
          <a:prstGeom prst="rect">
            <a:avLst/>
          </a:prstGeom>
          <a:noFill/>
          <a:ln w="38100">
            <a:solidFill>
              <a:srgbClr val="0432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DCB2A3F0-9003-5886-09B4-27925BBE4000}"/>
              </a:ext>
            </a:extLst>
          </p:cNvPr>
          <p:cNvSpPr txBox="1"/>
          <p:nvPr/>
        </p:nvSpPr>
        <p:spPr>
          <a:xfrm>
            <a:off x="0" y="873851"/>
            <a:ext cx="12191999" cy="646331"/>
          </a:xfrm>
          <a:prstGeom prst="rect">
            <a:avLst/>
          </a:prstGeom>
          <a:noFill/>
        </p:spPr>
        <p:txBody>
          <a:bodyPr wrap="square">
            <a:spAutoFit/>
          </a:bodyPr>
          <a:lstStyle/>
          <a:p>
            <a:pPr algn="ctr"/>
            <a:r>
              <a:rPr lang="en-US" sz="3600" b="1" dirty="0">
                <a:effectLst/>
                <a:latin typeface="Calibri" panose="020F0502020204030204" pitchFamily="34" charset="0"/>
                <a:ea typeface="Calibri" panose="020F0502020204030204" pitchFamily="34" charset="0"/>
                <a:cs typeface="Calibri" panose="020F0502020204030204" pitchFamily="34" charset="0"/>
              </a:rPr>
              <a:t>Arithmetic Operations</a:t>
            </a:r>
            <a:endParaRPr lang="en-GB" sz="3600" b="1" cap="none" spc="0" dirty="0">
              <a:ln w="0"/>
              <a:solidFill>
                <a:schemeClr val="tx1"/>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Calibri" panose="020F0502020204030204" pitchFamily="34" charset="0"/>
            </a:endParaRPr>
          </a:p>
        </p:txBody>
      </p:sp>
      <p:sp>
        <p:nvSpPr>
          <p:cNvPr id="15" name="TextBox 14">
            <a:extLst>
              <a:ext uri="{FF2B5EF4-FFF2-40B4-BE49-F238E27FC236}">
                <a16:creationId xmlns:a16="http://schemas.microsoft.com/office/drawing/2014/main" id="{7BC69ECE-F1A1-45AE-794F-EC217D4E0A4A}"/>
              </a:ext>
            </a:extLst>
          </p:cNvPr>
          <p:cNvSpPr txBox="1"/>
          <p:nvPr/>
        </p:nvSpPr>
        <p:spPr>
          <a:xfrm>
            <a:off x="1999866" y="1480744"/>
            <a:ext cx="1433406" cy="369332"/>
          </a:xfrm>
          <a:prstGeom prst="rect">
            <a:avLst/>
          </a:prstGeom>
          <a:noFill/>
        </p:spPr>
        <p:txBody>
          <a:bodyPr wrap="none" rtlCol="0">
            <a:spAutoFit/>
          </a:bodyPr>
          <a:lstStyle/>
          <a:p>
            <a:r>
              <a:rPr lang="en-IN" b="1" dirty="0">
                <a:solidFill>
                  <a:srgbClr val="FF0000"/>
                </a:solidFill>
              </a:rPr>
              <a:t>Exponential</a:t>
            </a:r>
          </a:p>
        </p:txBody>
      </p:sp>
      <p:sp>
        <p:nvSpPr>
          <p:cNvPr id="16" name="TextBox 15">
            <a:extLst>
              <a:ext uri="{FF2B5EF4-FFF2-40B4-BE49-F238E27FC236}">
                <a16:creationId xmlns:a16="http://schemas.microsoft.com/office/drawing/2014/main" id="{15467600-6744-FEEC-378F-7F6461D4EBAD}"/>
              </a:ext>
            </a:extLst>
          </p:cNvPr>
          <p:cNvSpPr txBox="1"/>
          <p:nvPr/>
        </p:nvSpPr>
        <p:spPr>
          <a:xfrm>
            <a:off x="8758730" y="1467497"/>
            <a:ext cx="1098378" cy="369332"/>
          </a:xfrm>
          <a:prstGeom prst="rect">
            <a:avLst/>
          </a:prstGeom>
          <a:noFill/>
        </p:spPr>
        <p:txBody>
          <a:bodyPr wrap="none" rtlCol="0">
            <a:spAutoFit/>
          </a:bodyPr>
          <a:lstStyle/>
          <a:p>
            <a:r>
              <a:rPr lang="en-IN" b="1" dirty="0">
                <a:solidFill>
                  <a:srgbClr val="FF0000"/>
                </a:solidFill>
              </a:rPr>
              <a:t>Modulus</a:t>
            </a:r>
          </a:p>
        </p:txBody>
      </p:sp>
      <p:pic>
        <p:nvPicPr>
          <p:cNvPr id="4" name="Picture 3">
            <a:extLst>
              <a:ext uri="{FF2B5EF4-FFF2-40B4-BE49-F238E27FC236}">
                <a16:creationId xmlns:a16="http://schemas.microsoft.com/office/drawing/2014/main" id="{D5AB6A07-EB8C-F9C0-DF19-4A25D18CF639}"/>
              </a:ext>
            </a:extLst>
          </p:cNvPr>
          <p:cNvPicPr>
            <a:picLocks noChangeAspect="1"/>
          </p:cNvPicPr>
          <p:nvPr/>
        </p:nvPicPr>
        <p:blipFill>
          <a:blip r:embed="rId3"/>
          <a:stretch>
            <a:fillRect/>
          </a:stretch>
        </p:blipFill>
        <p:spPr>
          <a:xfrm>
            <a:off x="268357" y="1850076"/>
            <a:ext cx="5599042" cy="3413369"/>
          </a:xfrm>
          <a:prstGeom prst="rect">
            <a:avLst/>
          </a:prstGeom>
        </p:spPr>
      </p:pic>
      <p:pic>
        <p:nvPicPr>
          <p:cNvPr id="7" name="Picture 6">
            <a:extLst>
              <a:ext uri="{FF2B5EF4-FFF2-40B4-BE49-F238E27FC236}">
                <a16:creationId xmlns:a16="http://schemas.microsoft.com/office/drawing/2014/main" id="{2CFDC6B2-278A-0BEE-1861-FD29EA896AAA}"/>
              </a:ext>
            </a:extLst>
          </p:cNvPr>
          <p:cNvPicPr>
            <a:picLocks noChangeAspect="1"/>
          </p:cNvPicPr>
          <p:nvPr/>
        </p:nvPicPr>
        <p:blipFill>
          <a:blip r:embed="rId4"/>
          <a:stretch>
            <a:fillRect/>
          </a:stretch>
        </p:blipFill>
        <p:spPr>
          <a:xfrm>
            <a:off x="482459" y="5466643"/>
            <a:ext cx="5152490" cy="824827"/>
          </a:xfrm>
          <a:prstGeom prst="rect">
            <a:avLst/>
          </a:prstGeom>
        </p:spPr>
      </p:pic>
      <p:pic>
        <p:nvPicPr>
          <p:cNvPr id="13" name="Picture 12">
            <a:extLst>
              <a:ext uri="{FF2B5EF4-FFF2-40B4-BE49-F238E27FC236}">
                <a16:creationId xmlns:a16="http://schemas.microsoft.com/office/drawing/2014/main" id="{C1693A53-8F99-D923-6B0F-9C47345A9B48}"/>
              </a:ext>
            </a:extLst>
          </p:cNvPr>
          <p:cNvPicPr>
            <a:picLocks noChangeAspect="1"/>
          </p:cNvPicPr>
          <p:nvPr/>
        </p:nvPicPr>
        <p:blipFill>
          <a:blip r:embed="rId5"/>
          <a:stretch>
            <a:fillRect/>
          </a:stretch>
        </p:blipFill>
        <p:spPr>
          <a:xfrm>
            <a:off x="6753781" y="1857337"/>
            <a:ext cx="5169862" cy="3518379"/>
          </a:xfrm>
          <a:prstGeom prst="rect">
            <a:avLst/>
          </a:prstGeom>
        </p:spPr>
      </p:pic>
      <p:pic>
        <p:nvPicPr>
          <p:cNvPr id="18" name="Picture 17">
            <a:extLst>
              <a:ext uri="{FF2B5EF4-FFF2-40B4-BE49-F238E27FC236}">
                <a16:creationId xmlns:a16="http://schemas.microsoft.com/office/drawing/2014/main" id="{E8ACEFA5-8255-C110-651B-13AF24F6C8DE}"/>
              </a:ext>
            </a:extLst>
          </p:cNvPr>
          <p:cNvPicPr>
            <a:picLocks noChangeAspect="1"/>
          </p:cNvPicPr>
          <p:nvPr/>
        </p:nvPicPr>
        <p:blipFill>
          <a:blip r:embed="rId6"/>
          <a:stretch>
            <a:fillRect/>
          </a:stretch>
        </p:blipFill>
        <p:spPr>
          <a:xfrm>
            <a:off x="6912020" y="5534113"/>
            <a:ext cx="4678464" cy="726147"/>
          </a:xfrm>
          <a:prstGeom prst="rect">
            <a:avLst/>
          </a:prstGeom>
        </p:spPr>
      </p:pic>
    </p:spTree>
    <p:extLst>
      <p:ext uri="{BB962C8B-B14F-4D97-AF65-F5344CB8AC3E}">
        <p14:creationId xmlns:p14="http://schemas.microsoft.com/office/powerpoint/2010/main" val="414771931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Table 8">
            <a:extLst>
              <a:ext uri="{FF2B5EF4-FFF2-40B4-BE49-F238E27FC236}">
                <a16:creationId xmlns:a16="http://schemas.microsoft.com/office/drawing/2014/main" id="{0B6EC464-4750-5FF3-7A5A-15612BA6E293}"/>
              </a:ext>
            </a:extLst>
          </p:cNvPr>
          <p:cNvGraphicFramePr>
            <a:graphicFrameLocks noGrp="1"/>
          </p:cNvGraphicFramePr>
          <p:nvPr/>
        </p:nvGraphicFramePr>
        <p:xfrm>
          <a:off x="0" y="23812"/>
          <a:ext cx="12192000" cy="465287"/>
        </p:xfrm>
        <a:graphic>
          <a:graphicData uri="http://schemas.openxmlformats.org/drawingml/2006/table">
            <a:tbl>
              <a:tblPr firstRow="1" bandRow="1">
                <a:tableStyleId>{5C22544A-7EE6-4342-B048-85BDC9FD1C3A}</a:tableStyleId>
              </a:tblPr>
              <a:tblGrid>
                <a:gridCol w="6092042">
                  <a:extLst>
                    <a:ext uri="{9D8B030D-6E8A-4147-A177-3AD203B41FA5}">
                      <a16:colId xmlns:a16="http://schemas.microsoft.com/office/drawing/2014/main" val="2179694530"/>
                    </a:ext>
                  </a:extLst>
                </a:gridCol>
                <a:gridCol w="6099958">
                  <a:extLst>
                    <a:ext uri="{9D8B030D-6E8A-4147-A177-3AD203B41FA5}">
                      <a16:colId xmlns:a16="http://schemas.microsoft.com/office/drawing/2014/main" val="2768207918"/>
                    </a:ext>
                  </a:extLst>
                </a:gridCol>
              </a:tblGrid>
              <a:tr h="465287">
                <a:tc>
                  <a:txBody>
                    <a:bodyPr/>
                    <a:lstStyle/>
                    <a:p>
                      <a:endParaRPr lang="en-US" dirty="0"/>
                    </a:p>
                  </a:txBody>
                  <a:tcPr>
                    <a:solidFill>
                      <a:srgbClr val="FF85FF"/>
                    </a:solidFill>
                  </a:tcPr>
                </a:tc>
                <a:tc>
                  <a:txBody>
                    <a:bodyPr/>
                    <a:lstStyle/>
                    <a:p>
                      <a:endParaRPr lang="en-US" dirty="0"/>
                    </a:p>
                  </a:txBody>
                  <a:tcPr>
                    <a:solidFill>
                      <a:srgbClr val="FFFF00"/>
                    </a:solidFill>
                  </a:tcPr>
                </a:tc>
                <a:extLst>
                  <a:ext uri="{0D108BD9-81ED-4DB2-BD59-A6C34878D82A}">
                    <a16:rowId xmlns:a16="http://schemas.microsoft.com/office/drawing/2014/main" val="1996944423"/>
                  </a:ext>
                </a:extLst>
              </a:tr>
            </a:tbl>
          </a:graphicData>
        </a:graphic>
      </p:graphicFrame>
      <p:graphicFrame>
        <p:nvGraphicFramePr>
          <p:cNvPr id="10" name="Table 9">
            <a:extLst>
              <a:ext uri="{FF2B5EF4-FFF2-40B4-BE49-F238E27FC236}">
                <a16:creationId xmlns:a16="http://schemas.microsoft.com/office/drawing/2014/main" id="{494BAFB7-FE1F-E1A9-7A6C-AB4145BD9BA1}"/>
              </a:ext>
            </a:extLst>
          </p:cNvPr>
          <p:cNvGraphicFramePr>
            <a:graphicFrameLocks noGrp="1"/>
          </p:cNvGraphicFramePr>
          <p:nvPr>
            <p:extLst>
              <p:ext uri="{D42A27DB-BD31-4B8C-83A1-F6EECF244321}">
                <p14:modId xmlns:p14="http://schemas.microsoft.com/office/powerpoint/2010/main" val="35000725"/>
              </p:ext>
            </p:extLst>
          </p:nvPr>
        </p:nvGraphicFramePr>
        <p:xfrm>
          <a:off x="1" y="6478892"/>
          <a:ext cx="12191999" cy="370840"/>
        </p:xfrm>
        <a:graphic>
          <a:graphicData uri="http://schemas.openxmlformats.org/drawingml/2006/table">
            <a:tbl>
              <a:tblPr firstRow="1" bandRow="1">
                <a:tableStyleId>{5C22544A-7EE6-4342-B048-85BDC9FD1C3A}</a:tableStyleId>
              </a:tblPr>
              <a:tblGrid>
                <a:gridCol w="6080165">
                  <a:extLst>
                    <a:ext uri="{9D8B030D-6E8A-4147-A177-3AD203B41FA5}">
                      <a16:colId xmlns:a16="http://schemas.microsoft.com/office/drawing/2014/main" val="2179694530"/>
                    </a:ext>
                  </a:extLst>
                </a:gridCol>
                <a:gridCol w="6111834">
                  <a:extLst>
                    <a:ext uri="{9D8B030D-6E8A-4147-A177-3AD203B41FA5}">
                      <a16:colId xmlns:a16="http://schemas.microsoft.com/office/drawing/2014/main" val="2768207918"/>
                    </a:ext>
                  </a:extLst>
                </a:gridCol>
              </a:tblGrid>
              <a:tr h="370840">
                <a:tc>
                  <a:txBody>
                    <a:bodyPr/>
                    <a:lstStyle/>
                    <a:p>
                      <a:endParaRPr lang="en-US" dirty="0"/>
                    </a:p>
                  </a:txBody>
                  <a:tcPr>
                    <a:solidFill>
                      <a:srgbClr val="FFFF00"/>
                    </a:solidFill>
                  </a:tcPr>
                </a:tc>
                <a:tc>
                  <a:txBody>
                    <a:bodyPr/>
                    <a:lstStyle/>
                    <a:p>
                      <a:pPr algn="r"/>
                      <a:r>
                        <a:rPr lang="en-US" dirty="0">
                          <a:solidFill>
                            <a:schemeClr val="tx1"/>
                          </a:solidFill>
                        </a:rPr>
                        <a:t>55</a:t>
                      </a:r>
                    </a:p>
                  </a:txBody>
                  <a:tcPr>
                    <a:solidFill>
                      <a:srgbClr val="FF85FF"/>
                    </a:solidFill>
                  </a:tcPr>
                </a:tc>
                <a:extLst>
                  <a:ext uri="{0D108BD9-81ED-4DB2-BD59-A6C34878D82A}">
                    <a16:rowId xmlns:a16="http://schemas.microsoft.com/office/drawing/2014/main" val="1996944423"/>
                  </a:ext>
                </a:extLst>
              </a:tr>
            </a:tbl>
          </a:graphicData>
        </a:graphic>
      </p:graphicFrame>
      <p:pic>
        <p:nvPicPr>
          <p:cNvPr id="12" name="Google Shape;187;p25" descr="pngfind.com-kingpin-png-4152286 (1).png">
            <a:extLst>
              <a:ext uri="{FF2B5EF4-FFF2-40B4-BE49-F238E27FC236}">
                <a16:creationId xmlns:a16="http://schemas.microsoft.com/office/drawing/2014/main" id="{2DBF2481-A2DB-F96E-5749-B03DC4F71665}"/>
              </a:ext>
            </a:extLst>
          </p:cNvPr>
          <p:cNvPicPr preferRelativeResize="0"/>
          <p:nvPr/>
        </p:nvPicPr>
        <p:blipFill rotWithShape="1">
          <a:blip r:embed="rId2">
            <a:alphaModFix/>
          </a:blip>
          <a:srcRect/>
          <a:stretch/>
        </p:blipFill>
        <p:spPr>
          <a:xfrm>
            <a:off x="11044052" y="8268"/>
            <a:ext cx="1051261" cy="465287"/>
          </a:xfrm>
          <a:prstGeom prst="rect">
            <a:avLst/>
          </a:prstGeom>
          <a:noFill/>
          <a:ln>
            <a:noFill/>
          </a:ln>
        </p:spPr>
      </p:pic>
      <p:sp>
        <p:nvSpPr>
          <p:cNvPr id="19" name="Rectangle 18">
            <a:extLst>
              <a:ext uri="{FF2B5EF4-FFF2-40B4-BE49-F238E27FC236}">
                <a16:creationId xmlns:a16="http://schemas.microsoft.com/office/drawing/2014/main" id="{A0702E37-2E7E-7262-5E76-F69A817105B3}"/>
              </a:ext>
            </a:extLst>
          </p:cNvPr>
          <p:cNvSpPr/>
          <p:nvPr/>
        </p:nvSpPr>
        <p:spPr>
          <a:xfrm>
            <a:off x="0" y="8268"/>
            <a:ext cx="12192000" cy="6825920"/>
          </a:xfrm>
          <a:prstGeom prst="rect">
            <a:avLst/>
          </a:prstGeom>
          <a:noFill/>
          <a:ln w="38100">
            <a:solidFill>
              <a:srgbClr val="0432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DCB2A3F0-9003-5886-09B4-27925BBE4000}"/>
              </a:ext>
            </a:extLst>
          </p:cNvPr>
          <p:cNvSpPr txBox="1"/>
          <p:nvPr/>
        </p:nvSpPr>
        <p:spPr>
          <a:xfrm>
            <a:off x="0" y="873851"/>
            <a:ext cx="12191999" cy="646331"/>
          </a:xfrm>
          <a:prstGeom prst="rect">
            <a:avLst/>
          </a:prstGeom>
          <a:noFill/>
        </p:spPr>
        <p:txBody>
          <a:bodyPr wrap="square">
            <a:spAutoFit/>
          </a:bodyPr>
          <a:lstStyle/>
          <a:p>
            <a:pPr algn="ctr"/>
            <a:r>
              <a:rPr lang="en-US" sz="3600" b="1" dirty="0">
                <a:effectLst/>
                <a:latin typeface="Calibri" panose="020F0502020204030204" pitchFamily="34" charset="0"/>
                <a:ea typeface="Calibri" panose="020F0502020204030204" pitchFamily="34" charset="0"/>
                <a:cs typeface="Calibri" panose="020F0502020204030204" pitchFamily="34" charset="0"/>
              </a:rPr>
              <a:t>Comparison Operations</a:t>
            </a:r>
            <a:endParaRPr lang="en-GB" sz="3600" b="1" cap="none" spc="0" dirty="0">
              <a:ln w="0"/>
              <a:solidFill>
                <a:schemeClr val="tx1"/>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Calibri" panose="020F0502020204030204" pitchFamily="34" charset="0"/>
            </a:endParaRPr>
          </a:p>
        </p:txBody>
      </p:sp>
      <p:graphicFrame>
        <p:nvGraphicFramePr>
          <p:cNvPr id="2" name="Table 1">
            <a:extLst>
              <a:ext uri="{FF2B5EF4-FFF2-40B4-BE49-F238E27FC236}">
                <a16:creationId xmlns:a16="http://schemas.microsoft.com/office/drawing/2014/main" id="{B96EB4AA-EDE3-C15A-5380-2B467796DF8A}"/>
              </a:ext>
            </a:extLst>
          </p:cNvPr>
          <p:cNvGraphicFramePr>
            <a:graphicFrameLocks noGrp="1"/>
          </p:cNvGraphicFramePr>
          <p:nvPr/>
        </p:nvGraphicFramePr>
        <p:xfrm>
          <a:off x="775252" y="2213251"/>
          <a:ext cx="10923103" cy="2965036"/>
        </p:xfrm>
        <a:graphic>
          <a:graphicData uri="http://schemas.openxmlformats.org/drawingml/2006/table">
            <a:tbl>
              <a:tblPr/>
              <a:tblGrid>
                <a:gridCol w="2981739">
                  <a:extLst>
                    <a:ext uri="{9D8B030D-6E8A-4147-A177-3AD203B41FA5}">
                      <a16:colId xmlns:a16="http://schemas.microsoft.com/office/drawing/2014/main" val="342157289"/>
                    </a:ext>
                  </a:extLst>
                </a:gridCol>
                <a:gridCol w="7941364">
                  <a:extLst>
                    <a:ext uri="{9D8B030D-6E8A-4147-A177-3AD203B41FA5}">
                      <a16:colId xmlns:a16="http://schemas.microsoft.com/office/drawing/2014/main" val="3225090991"/>
                    </a:ext>
                  </a:extLst>
                </a:gridCol>
              </a:tblGrid>
              <a:tr h="214123">
                <a:tc>
                  <a:txBody>
                    <a:bodyPr/>
                    <a:lstStyle/>
                    <a:p>
                      <a:pPr algn="ctr"/>
                      <a:r>
                        <a:rPr lang="en-IN" sz="1800" b="1" dirty="0">
                          <a:effectLst/>
                          <a:latin typeface="Calibri" panose="020F0502020204030204" pitchFamily="34" charset="0"/>
                          <a:ea typeface="Calibri" panose="020F0502020204030204" pitchFamily="34" charset="0"/>
                          <a:cs typeface="Calibri" panose="020F0502020204030204" pitchFamily="34" charset="0"/>
                        </a:rPr>
                        <a:t>Operators</a:t>
                      </a:r>
                    </a:p>
                  </a:txBody>
                  <a:tcPr marL="104852" marR="104852" marT="52426" marB="52426"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a:noFill/>
                    </a:lnB>
                    <a:solidFill>
                      <a:srgbClr val="F8FAFF"/>
                    </a:solidFill>
                  </a:tcPr>
                </a:tc>
                <a:tc>
                  <a:txBody>
                    <a:bodyPr/>
                    <a:lstStyle/>
                    <a:p>
                      <a:pPr algn="ctr"/>
                      <a:r>
                        <a:rPr lang="en-IN" sz="1800" b="1" dirty="0">
                          <a:effectLst/>
                          <a:latin typeface="Calibri" panose="020F0502020204030204" pitchFamily="34" charset="0"/>
                          <a:ea typeface="Calibri" panose="020F0502020204030204" pitchFamily="34" charset="0"/>
                          <a:cs typeface="Calibri" panose="020F0502020204030204" pitchFamily="34" charset="0"/>
                        </a:rPr>
                        <a:t>Descriptions</a:t>
                      </a:r>
                    </a:p>
                  </a:txBody>
                  <a:tcPr marL="104852" marR="104852" marT="52426" marB="52426"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solidFill>
                      <a:srgbClr val="F8FAFF"/>
                    </a:solidFill>
                  </a:tcPr>
                </a:tc>
                <a:extLst>
                  <a:ext uri="{0D108BD9-81ED-4DB2-BD59-A6C34878D82A}">
                    <a16:rowId xmlns:a16="http://schemas.microsoft.com/office/drawing/2014/main" val="2232077998"/>
                  </a:ext>
                </a:extLst>
              </a:tr>
              <a:tr h="429073">
                <a:tc>
                  <a:txBody>
                    <a:bodyPr/>
                    <a:lstStyle/>
                    <a:p>
                      <a:r>
                        <a:rPr lang="en-IN" sz="1800" dirty="0">
                          <a:effectLst/>
                          <a:latin typeface="Calibri" panose="020F0502020204030204" pitchFamily="34" charset="0"/>
                          <a:ea typeface="Calibri" panose="020F0502020204030204" pitchFamily="34" charset="0"/>
                          <a:cs typeface="Calibri" panose="020F0502020204030204" pitchFamily="34" charset="0"/>
                        </a:rPr>
                        <a:t>&lt; (less than)</a:t>
                      </a:r>
                    </a:p>
                  </a:txBody>
                  <a:tcPr marL="104852" marR="104852" marT="52426" marB="52426" anchor="ctr">
                    <a:lnL w="12700" cap="flat" cmpd="sng" algn="ctr">
                      <a:solidFill>
                        <a:schemeClr val="tx1"/>
                      </a:solidFill>
                      <a:prstDash val="solid"/>
                      <a:round/>
                      <a:headEnd type="none" w="med" len="med"/>
                      <a:tailEnd type="none" w="med" len="med"/>
                    </a:lnL>
                    <a:lnR>
                      <a:noFill/>
                    </a:lnR>
                    <a:lnT>
                      <a:noFill/>
                    </a:lnT>
                    <a:lnB>
                      <a:noFill/>
                    </a:lnB>
                    <a:solidFill>
                      <a:srgbClr val="F8FAFF"/>
                    </a:solidFill>
                  </a:tcPr>
                </a:tc>
                <a:tc>
                  <a:txBody>
                    <a:bodyPr/>
                    <a:lstStyle/>
                    <a:p>
                      <a:r>
                        <a:rPr lang="en-US" sz="1800" dirty="0">
                          <a:effectLst/>
                          <a:latin typeface="Calibri" panose="020F0502020204030204" pitchFamily="34" charset="0"/>
                          <a:ea typeface="Calibri" panose="020F0502020204030204" pitchFamily="34" charset="0"/>
                          <a:cs typeface="Calibri" panose="020F0502020204030204" pitchFamily="34" charset="0"/>
                        </a:rPr>
                        <a:t>returns True if element of the first array is less than the second one</a:t>
                      </a:r>
                    </a:p>
                  </a:txBody>
                  <a:tcPr marL="104852" marR="104852" marT="52426" marB="52426" anchor="ctr">
                    <a:lnL>
                      <a:noFill/>
                    </a:lnL>
                    <a:lnR w="12700" cap="flat" cmpd="sng" algn="ctr">
                      <a:solidFill>
                        <a:schemeClr val="tx1"/>
                      </a:solidFill>
                      <a:prstDash val="solid"/>
                      <a:round/>
                      <a:headEnd type="none" w="med" len="med"/>
                      <a:tailEnd type="none" w="med" len="med"/>
                    </a:lnR>
                    <a:lnT>
                      <a:noFill/>
                    </a:lnT>
                    <a:lnB>
                      <a:noFill/>
                    </a:lnB>
                    <a:solidFill>
                      <a:srgbClr val="F8FAFF"/>
                    </a:solidFill>
                  </a:tcPr>
                </a:tc>
                <a:extLst>
                  <a:ext uri="{0D108BD9-81ED-4DB2-BD59-A6C34878D82A}">
                    <a16:rowId xmlns:a16="http://schemas.microsoft.com/office/drawing/2014/main" val="1137839231"/>
                  </a:ext>
                </a:extLst>
              </a:tr>
              <a:tr h="518311">
                <a:tc>
                  <a:txBody>
                    <a:bodyPr/>
                    <a:lstStyle/>
                    <a:p>
                      <a:r>
                        <a:rPr lang="en-US" sz="1800">
                          <a:effectLst/>
                          <a:latin typeface="Calibri" panose="020F0502020204030204" pitchFamily="34" charset="0"/>
                          <a:ea typeface="Calibri" panose="020F0502020204030204" pitchFamily="34" charset="0"/>
                          <a:cs typeface="Calibri" panose="020F0502020204030204" pitchFamily="34" charset="0"/>
                        </a:rPr>
                        <a:t>&lt;= (less than or equal to)</a:t>
                      </a:r>
                    </a:p>
                  </a:txBody>
                  <a:tcPr marL="104852" marR="104852" marT="52426" marB="52426" anchor="ctr">
                    <a:lnL w="12700" cap="flat" cmpd="sng" algn="ctr">
                      <a:solidFill>
                        <a:schemeClr val="tx1"/>
                      </a:solidFill>
                      <a:prstDash val="solid"/>
                      <a:round/>
                      <a:headEnd type="none" w="med" len="med"/>
                      <a:tailEnd type="none" w="med" len="med"/>
                    </a:lnL>
                    <a:lnR>
                      <a:noFill/>
                    </a:lnR>
                    <a:lnT>
                      <a:noFill/>
                    </a:lnT>
                    <a:lnB>
                      <a:noFill/>
                    </a:lnB>
                    <a:solidFill>
                      <a:srgbClr val="F8FAFF"/>
                    </a:solidFill>
                  </a:tcPr>
                </a:tc>
                <a:tc>
                  <a:txBody>
                    <a:bodyPr/>
                    <a:lstStyle/>
                    <a:p>
                      <a:r>
                        <a:rPr lang="en-US" sz="1800" dirty="0">
                          <a:effectLst/>
                          <a:latin typeface="Calibri" panose="020F0502020204030204" pitchFamily="34" charset="0"/>
                          <a:ea typeface="Calibri" panose="020F0502020204030204" pitchFamily="34" charset="0"/>
                          <a:cs typeface="Calibri" panose="020F0502020204030204" pitchFamily="34" charset="0"/>
                        </a:rPr>
                        <a:t>returns True if element of the first array is less than or equal to the second one</a:t>
                      </a:r>
                    </a:p>
                  </a:txBody>
                  <a:tcPr marL="104852" marR="104852" marT="52426" marB="52426" anchor="ctr">
                    <a:lnL>
                      <a:noFill/>
                    </a:lnL>
                    <a:lnR w="12700" cap="flat" cmpd="sng" algn="ctr">
                      <a:solidFill>
                        <a:schemeClr val="tx1"/>
                      </a:solidFill>
                      <a:prstDash val="solid"/>
                      <a:round/>
                      <a:headEnd type="none" w="med" len="med"/>
                      <a:tailEnd type="none" w="med" len="med"/>
                    </a:lnR>
                    <a:lnT>
                      <a:noFill/>
                    </a:lnT>
                    <a:lnB>
                      <a:noFill/>
                    </a:lnB>
                    <a:solidFill>
                      <a:srgbClr val="F8FAFF"/>
                    </a:solidFill>
                  </a:tcPr>
                </a:tc>
                <a:extLst>
                  <a:ext uri="{0D108BD9-81ED-4DB2-BD59-A6C34878D82A}">
                    <a16:rowId xmlns:a16="http://schemas.microsoft.com/office/drawing/2014/main" val="1231598235"/>
                  </a:ext>
                </a:extLst>
              </a:tr>
              <a:tr h="460211">
                <a:tc>
                  <a:txBody>
                    <a:bodyPr/>
                    <a:lstStyle/>
                    <a:p>
                      <a:r>
                        <a:rPr lang="en-IN" sz="1800" dirty="0">
                          <a:effectLst/>
                          <a:latin typeface="Calibri" panose="020F0502020204030204" pitchFamily="34" charset="0"/>
                          <a:ea typeface="Calibri" panose="020F0502020204030204" pitchFamily="34" charset="0"/>
                          <a:cs typeface="Calibri" panose="020F0502020204030204" pitchFamily="34" charset="0"/>
                        </a:rPr>
                        <a:t>&gt; (greater than)</a:t>
                      </a:r>
                    </a:p>
                  </a:txBody>
                  <a:tcPr marL="104852" marR="104852" marT="52426" marB="52426" anchor="ctr">
                    <a:lnL w="12700" cap="flat" cmpd="sng" algn="ctr">
                      <a:solidFill>
                        <a:schemeClr val="tx1"/>
                      </a:solidFill>
                      <a:prstDash val="solid"/>
                      <a:round/>
                      <a:headEnd type="none" w="med" len="med"/>
                      <a:tailEnd type="none" w="med" len="med"/>
                    </a:lnL>
                    <a:lnR>
                      <a:noFill/>
                    </a:lnR>
                    <a:lnT>
                      <a:noFill/>
                    </a:lnT>
                    <a:lnB>
                      <a:noFill/>
                    </a:lnB>
                    <a:solidFill>
                      <a:srgbClr val="F8FAFF"/>
                    </a:solidFill>
                  </a:tcPr>
                </a:tc>
                <a:tc>
                  <a:txBody>
                    <a:bodyPr/>
                    <a:lstStyle/>
                    <a:p>
                      <a:r>
                        <a:rPr lang="en-US" sz="1800">
                          <a:effectLst/>
                          <a:latin typeface="Calibri" panose="020F0502020204030204" pitchFamily="34" charset="0"/>
                          <a:ea typeface="Calibri" panose="020F0502020204030204" pitchFamily="34" charset="0"/>
                          <a:cs typeface="Calibri" panose="020F0502020204030204" pitchFamily="34" charset="0"/>
                        </a:rPr>
                        <a:t>returns True if element of the first array is greater than the second one</a:t>
                      </a:r>
                    </a:p>
                  </a:txBody>
                  <a:tcPr marL="104852" marR="104852" marT="52426" marB="52426" anchor="ctr">
                    <a:lnL>
                      <a:noFill/>
                    </a:lnL>
                    <a:lnR w="12700" cap="flat" cmpd="sng" algn="ctr">
                      <a:solidFill>
                        <a:schemeClr val="tx1"/>
                      </a:solidFill>
                      <a:prstDash val="solid"/>
                      <a:round/>
                      <a:headEnd type="none" w="med" len="med"/>
                      <a:tailEnd type="none" w="med" len="med"/>
                    </a:lnR>
                    <a:lnT>
                      <a:noFill/>
                    </a:lnT>
                    <a:lnB>
                      <a:noFill/>
                    </a:lnB>
                    <a:solidFill>
                      <a:srgbClr val="F8FAFF"/>
                    </a:solidFill>
                  </a:tcPr>
                </a:tc>
                <a:extLst>
                  <a:ext uri="{0D108BD9-81ED-4DB2-BD59-A6C34878D82A}">
                    <a16:rowId xmlns:a16="http://schemas.microsoft.com/office/drawing/2014/main" val="640276353"/>
                  </a:ext>
                </a:extLst>
              </a:tr>
              <a:tr h="310911">
                <a:tc>
                  <a:txBody>
                    <a:bodyPr/>
                    <a:lstStyle/>
                    <a:p>
                      <a:r>
                        <a:rPr lang="en-US" sz="1800">
                          <a:effectLst/>
                          <a:latin typeface="Calibri" panose="020F0502020204030204" pitchFamily="34" charset="0"/>
                          <a:ea typeface="Calibri" panose="020F0502020204030204" pitchFamily="34" charset="0"/>
                          <a:cs typeface="Calibri" panose="020F0502020204030204" pitchFamily="34" charset="0"/>
                        </a:rPr>
                        <a:t>&gt;= (greater than or equal to)</a:t>
                      </a:r>
                    </a:p>
                  </a:txBody>
                  <a:tcPr marL="104852" marR="104852" marT="52426" marB="52426" anchor="ctr">
                    <a:lnL w="12700" cap="flat" cmpd="sng" algn="ctr">
                      <a:solidFill>
                        <a:schemeClr val="tx1"/>
                      </a:solidFill>
                      <a:prstDash val="solid"/>
                      <a:round/>
                      <a:headEnd type="none" w="med" len="med"/>
                      <a:tailEnd type="none" w="med" len="med"/>
                    </a:lnL>
                    <a:lnR>
                      <a:noFill/>
                    </a:lnR>
                    <a:lnT>
                      <a:noFill/>
                    </a:lnT>
                    <a:lnB>
                      <a:noFill/>
                    </a:lnB>
                    <a:solidFill>
                      <a:srgbClr val="F8FAFF"/>
                    </a:solidFill>
                  </a:tcPr>
                </a:tc>
                <a:tc>
                  <a:txBody>
                    <a:bodyPr/>
                    <a:lstStyle/>
                    <a:p>
                      <a:r>
                        <a:rPr lang="en-US" sz="1800" dirty="0">
                          <a:effectLst/>
                          <a:latin typeface="Calibri" panose="020F0502020204030204" pitchFamily="34" charset="0"/>
                          <a:ea typeface="Calibri" panose="020F0502020204030204" pitchFamily="34" charset="0"/>
                          <a:cs typeface="Calibri" panose="020F0502020204030204" pitchFamily="34" charset="0"/>
                        </a:rPr>
                        <a:t>returns True if element of the first array is greater than or equal to the second one</a:t>
                      </a:r>
                    </a:p>
                  </a:txBody>
                  <a:tcPr marL="104852" marR="104852" marT="52426" marB="52426" anchor="ctr">
                    <a:lnL>
                      <a:noFill/>
                    </a:lnL>
                    <a:lnR w="12700" cap="flat" cmpd="sng" algn="ctr">
                      <a:solidFill>
                        <a:schemeClr val="tx1"/>
                      </a:solidFill>
                      <a:prstDash val="solid"/>
                      <a:round/>
                      <a:headEnd type="none" w="med" len="med"/>
                      <a:tailEnd type="none" w="med" len="med"/>
                    </a:lnR>
                    <a:lnT>
                      <a:noFill/>
                    </a:lnT>
                    <a:lnB>
                      <a:noFill/>
                    </a:lnB>
                    <a:solidFill>
                      <a:srgbClr val="F8FAFF"/>
                    </a:solidFill>
                  </a:tcPr>
                </a:tc>
                <a:extLst>
                  <a:ext uri="{0D108BD9-81ED-4DB2-BD59-A6C34878D82A}">
                    <a16:rowId xmlns:a16="http://schemas.microsoft.com/office/drawing/2014/main" val="2937966267"/>
                  </a:ext>
                </a:extLst>
              </a:tr>
              <a:tr h="0">
                <a:tc>
                  <a:txBody>
                    <a:bodyPr/>
                    <a:lstStyle/>
                    <a:p>
                      <a:r>
                        <a:rPr lang="en-IN" sz="1800">
                          <a:effectLst/>
                          <a:latin typeface="Calibri" panose="020F0502020204030204" pitchFamily="34" charset="0"/>
                          <a:ea typeface="Calibri" panose="020F0502020204030204" pitchFamily="34" charset="0"/>
                          <a:cs typeface="Calibri" panose="020F0502020204030204" pitchFamily="34" charset="0"/>
                        </a:rPr>
                        <a:t>== (equal to)</a:t>
                      </a:r>
                    </a:p>
                  </a:txBody>
                  <a:tcPr marL="104852" marR="104852" marT="52426" marB="52426" anchor="ctr">
                    <a:lnL w="12700" cap="flat" cmpd="sng" algn="ctr">
                      <a:solidFill>
                        <a:schemeClr val="tx1"/>
                      </a:solidFill>
                      <a:prstDash val="solid"/>
                      <a:round/>
                      <a:headEnd type="none" w="med" len="med"/>
                      <a:tailEnd type="none" w="med" len="med"/>
                    </a:lnL>
                    <a:lnR>
                      <a:noFill/>
                    </a:lnR>
                    <a:lnT>
                      <a:noFill/>
                    </a:lnT>
                    <a:lnB>
                      <a:noFill/>
                    </a:lnB>
                    <a:solidFill>
                      <a:srgbClr val="F8FAFF"/>
                    </a:solidFill>
                  </a:tcPr>
                </a:tc>
                <a:tc>
                  <a:txBody>
                    <a:bodyPr/>
                    <a:lstStyle/>
                    <a:p>
                      <a:r>
                        <a:rPr lang="en-US" sz="1800">
                          <a:effectLst/>
                          <a:latin typeface="Calibri" panose="020F0502020204030204" pitchFamily="34" charset="0"/>
                          <a:ea typeface="Calibri" panose="020F0502020204030204" pitchFamily="34" charset="0"/>
                          <a:cs typeface="Calibri" panose="020F0502020204030204" pitchFamily="34" charset="0"/>
                        </a:rPr>
                        <a:t>returns True if the element of the first array is equal to the second one</a:t>
                      </a:r>
                    </a:p>
                  </a:txBody>
                  <a:tcPr marL="104852" marR="104852" marT="52426" marB="52426" anchor="ctr">
                    <a:lnL>
                      <a:noFill/>
                    </a:lnL>
                    <a:lnR w="12700" cap="flat" cmpd="sng" algn="ctr">
                      <a:solidFill>
                        <a:schemeClr val="tx1"/>
                      </a:solidFill>
                      <a:prstDash val="solid"/>
                      <a:round/>
                      <a:headEnd type="none" w="med" len="med"/>
                      <a:tailEnd type="none" w="med" len="med"/>
                    </a:lnR>
                    <a:lnT>
                      <a:noFill/>
                    </a:lnT>
                    <a:lnB>
                      <a:noFill/>
                    </a:lnB>
                    <a:solidFill>
                      <a:srgbClr val="F8FAFF"/>
                    </a:solidFill>
                  </a:tcPr>
                </a:tc>
                <a:extLst>
                  <a:ext uri="{0D108BD9-81ED-4DB2-BD59-A6C34878D82A}">
                    <a16:rowId xmlns:a16="http://schemas.microsoft.com/office/drawing/2014/main" val="3653363847"/>
                  </a:ext>
                </a:extLst>
              </a:tr>
              <a:tr h="419925">
                <a:tc>
                  <a:txBody>
                    <a:bodyPr/>
                    <a:lstStyle/>
                    <a:p>
                      <a:r>
                        <a:rPr lang="en-IN" sz="1800">
                          <a:effectLst/>
                          <a:latin typeface="Calibri" panose="020F0502020204030204" pitchFamily="34" charset="0"/>
                          <a:ea typeface="Calibri" panose="020F0502020204030204" pitchFamily="34" charset="0"/>
                          <a:cs typeface="Calibri" panose="020F0502020204030204" pitchFamily="34" charset="0"/>
                        </a:rPr>
                        <a:t>!= (not equal to)</a:t>
                      </a:r>
                    </a:p>
                  </a:txBody>
                  <a:tcPr marL="104852" marR="104852" marT="52426" marB="52426" anchor="ctr">
                    <a:lnL w="12700" cap="flat" cmpd="sng" algn="ctr">
                      <a:solidFill>
                        <a:schemeClr val="tx1"/>
                      </a:solidFill>
                      <a:prstDash val="solid"/>
                      <a:round/>
                      <a:headEnd type="none" w="med" len="med"/>
                      <a:tailEnd type="none" w="med" len="med"/>
                    </a:lnL>
                    <a:lnR>
                      <a:noFill/>
                    </a:lnR>
                    <a:lnT>
                      <a:noFill/>
                    </a:lnT>
                    <a:lnB w="12700" cap="flat" cmpd="sng" algn="ctr">
                      <a:solidFill>
                        <a:schemeClr val="tx1"/>
                      </a:solidFill>
                      <a:prstDash val="solid"/>
                      <a:round/>
                      <a:headEnd type="none" w="med" len="med"/>
                      <a:tailEnd type="none" w="med" len="med"/>
                    </a:lnB>
                    <a:solidFill>
                      <a:srgbClr val="F8FAFF"/>
                    </a:solidFill>
                  </a:tcPr>
                </a:tc>
                <a:tc>
                  <a:txBody>
                    <a:bodyPr/>
                    <a:lstStyle/>
                    <a:p>
                      <a:r>
                        <a:rPr lang="en-US" sz="1800" dirty="0">
                          <a:effectLst/>
                          <a:latin typeface="Calibri" panose="020F0502020204030204" pitchFamily="34" charset="0"/>
                          <a:ea typeface="Calibri" panose="020F0502020204030204" pitchFamily="34" charset="0"/>
                          <a:cs typeface="Calibri" panose="020F0502020204030204" pitchFamily="34" charset="0"/>
                        </a:rPr>
                        <a:t>returns True if the element of the first array is not equal to the second one</a:t>
                      </a:r>
                    </a:p>
                  </a:txBody>
                  <a:tcPr marL="104852" marR="104852" marT="52426" marB="52426" anchor="ctr">
                    <a:lnL>
                      <a:noFill/>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solidFill>
                      <a:srgbClr val="F8FAFF"/>
                    </a:solidFill>
                  </a:tcPr>
                </a:tc>
                <a:extLst>
                  <a:ext uri="{0D108BD9-81ED-4DB2-BD59-A6C34878D82A}">
                    <a16:rowId xmlns:a16="http://schemas.microsoft.com/office/drawing/2014/main" val="2613569621"/>
                  </a:ext>
                </a:extLst>
              </a:tr>
            </a:tbl>
          </a:graphicData>
        </a:graphic>
      </p:graphicFrame>
    </p:spTree>
    <p:extLst>
      <p:ext uri="{BB962C8B-B14F-4D97-AF65-F5344CB8AC3E}">
        <p14:creationId xmlns:p14="http://schemas.microsoft.com/office/powerpoint/2010/main" val="287292727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Table 8">
            <a:extLst>
              <a:ext uri="{FF2B5EF4-FFF2-40B4-BE49-F238E27FC236}">
                <a16:creationId xmlns:a16="http://schemas.microsoft.com/office/drawing/2014/main" id="{0B6EC464-4750-5FF3-7A5A-15612BA6E293}"/>
              </a:ext>
            </a:extLst>
          </p:cNvPr>
          <p:cNvGraphicFramePr>
            <a:graphicFrameLocks noGrp="1"/>
          </p:cNvGraphicFramePr>
          <p:nvPr/>
        </p:nvGraphicFramePr>
        <p:xfrm>
          <a:off x="0" y="23812"/>
          <a:ext cx="12192000" cy="465287"/>
        </p:xfrm>
        <a:graphic>
          <a:graphicData uri="http://schemas.openxmlformats.org/drawingml/2006/table">
            <a:tbl>
              <a:tblPr firstRow="1" bandRow="1">
                <a:tableStyleId>{5C22544A-7EE6-4342-B048-85BDC9FD1C3A}</a:tableStyleId>
              </a:tblPr>
              <a:tblGrid>
                <a:gridCol w="6092042">
                  <a:extLst>
                    <a:ext uri="{9D8B030D-6E8A-4147-A177-3AD203B41FA5}">
                      <a16:colId xmlns:a16="http://schemas.microsoft.com/office/drawing/2014/main" val="2179694530"/>
                    </a:ext>
                  </a:extLst>
                </a:gridCol>
                <a:gridCol w="6099958">
                  <a:extLst>
                    <a:ext uri="{9D8B030D-6E8A-4147-A177-3AD203B41FA5}">
                      <a16:colId xmlns:a16="http://schemas.microsoft.com/office/drawing/2014/main" val="2768207918"/>
                    </a:ext>
                  </a:extLst>
                </a:gridCol>
              </a:tblGrid>
              <a:tr h="465287">
                <a:tc>
                  <a:txBody>
                    <a:bodyPr/>
                    <a:lstStyle/>
                    <a:p>
                      <a:endParaRPr lang="en-US" dirty="0"/>
                    </a:p>
                  </a:txBody>
                  <a:tcPr>
                    <a:solidFill>
                      <a:srgbClr val="FF85FF"/>
                    </a:solidFill>
                  </a:tcPr>
                </a:tc>
                <a:tc>
                  <a:txBody>
                    <a:bodyPr/>
                    <a:lstStyle/>
                    <a:p>
                      <a:endParaRPr lang="en-US" dirty="0"/>
                    </a:p>
                  </a:txBody>
                  <a:tcPr>
                    <a:solidFill>
                      <a:srgbClr val="FFFF00"/>
                    </a:solidFill>
                  </a:tcPr>
                </a:tc>
                <a:extLst>
                  <a:ext uri="{0D108BD9-81ED-4DB2-BD59-A6C34878D82A}">
                    <a16:rowId xmlns:a16="http://schemas.microsoft.com/office/drawing/2014/main" val="1996944423"/>
                  </a:ext>
                </a:extLst>
              </a:tr>
            </a:tbl>
          </a:graphicData>
        </a:graphic>
      </p:graphicFrame>
      <p:graphicFrame>
        <p:nvGraphicFramePr>
          <p:cNvPr id="10" name="Table 9">
            <a:extLst>
              <a:ext uri="{FF2B5EF4-FFF2-40B4-BE49-F238E27FC236}">
                <a16:creationId xmlns:a16="http://schemas.microsoft.com/office/drawing/2014/main" id="{494BAFB7-FE1F-E1A9-7A6C-AB4145BD9BA1}"/>
              </a:ext>
            </a:extLst>
          </p:cNvPr>
          <p:cNvGraphicFramePr>
            <a:graphicFrameLocks noGrp="1"/>
          </p:cNvGraphicFramePr>
          <p:nvPr>
            <p:extLst>
              <p:ext uri="{D42A27DB-BD31-4B8C-83A1-F6EECF244321}">
                <p14:modId xmlns:p14="http://schemas.microsoft.com/office/powerpoint/2010/main" val="2379434514"/>
              </p:ext>
            </p:extLst>
          </p:nvPr>
        </p:nvGraphicFramePr>
        <p:xfrm>
          <a:off x="1" y="6478892"/>
          <a:ext cx="12191999" cy="370840"/>
        </p:xfrm>
        <a:graphic>
          <a:graphicData uri="http://schemas.openxmlformats.org/drawingml/2006/table">
            <a:tbl>
              <a:tblPr firstRow="1" bandRow="1">
                <a:tableStyleId>{5C22544A-7EE6-4342-B048-85BDC9FD1C3A}</a:tableStyleId>
              </a:tblPr>
              <a:tblGrid>
                <a:gridCol w="6080165">
                  <a:extLst>
                    <a:ext uri="{9D8B030D-6E8A-4147-A177-3AD203B41FA5}">
                      <a16:colId xmlns:a16="http://schemas.microsoft.com/office/drawing/2014/main" val="2179694530"/>
                    </a:ext>
                  </a:extLst>
                </a:gridCol>
                <a:gridCol w="6111834">
                  <a:extLst>
                    <a:ext uri="{9D8B030D-6E8A-4147-A177-3AD203B41FA5}">
                      <a16:colId xmlns:a16="http://schemas.microsoft.com/office/drawing/2014/main" val="2768207918"/>
                    </a:ext>
                  </a:extLst>
                </a:gridCol>
              </a:tblGrid>
              <a:tr h="370840">
                <a:tc>
                  <a:txBody>
                    <a:bodyPr/>
                    <a:lstStyle/>
                    <a:p>
                      <a:endParaRPr lang="en-US" dirty="0"/>
                    </a:p>
                  </a:txBody>
                  <a:tcPr>
                    <a:solidFill>
                      <a:srgbClr val="FFFF00"/>
                    </a:solidFill>
                  </a:tcPr>
                </a:tc>
                <a:tc>
                  <a:txBody>
                    <a:bodyPr/>
                    <a:lstStyle/>
                    <a:p>
                      <a:pPr algn="r"/>
                      <a:r>
                        <a:rPr lang="en-US" dirty="0">
                          <a:solidFill>
                            <a:schemeClr val="tx1"/>
                          </a:solidFill>
                        </a:rPr>
                        <a:t>56</a:t>
                      </a:r>
                    </a:p>
                  </a:txBody>
                  <a:tcPr>
                    <a:solidFill>
                      <a:srgbClr val="FF85FF"/>
                    </a:solidFill>
                  </a:tcPr>
                </a:tc>
                <a:extLst>
                  <a:ext uri="{0D108BD9-81ED-4DB2-BD59-A6C34878D82A}">
                    <a16:rowId xmlns:a16="http://schemas.microsoft.com/office/drawing/2014/main" val="1996944423"/>
                  </a:ext>
                </a:extLst>
              </a:tr>
            </a:tbl>
          </a:graphicData>
        </a:graphic>
      </p:graphicFrame>
      <p:pic>
        <p:nvPicPr>
          <p:cNvPr id="12" name="Google Shape;187;p25" descr="pngfind.com-kingpin-png-4152286 (1).png">
            <a:extLst>
              <a:ext uri="{FF2B5EF4-FFF2-40B4-BE49-F238E27FC236}">
                <a16:creationId xmlns:a16="http://schemas.microsoft.com/office/drawing/2014/main" id="{2DBF2481-A2DB-F96E-5749-B03DC4F71665}"/>
              </a:ext>
            </a:extLst>
          </p:cNvPr>
          <p:cNvPicPr preferRelativeResize="0"/>
          <p:nvPr/>
        </p:nvPicPr>
        <p:blipFill rotWithShape="1">
          <a:blip r:embed="rId2">
            <a:alphaModFix/>
          </a:blip>
          <a:srcRect/>
          <a:stretch/>
        </p:blipFill>
        <p:spPr>
          <a:xfrm>
            <a:off x="11044052" y="8268"/>
            <a:ext cx="1051261" cy="465287"/>
          </a:xfrm>
          <a:prstGeom prst="rect">
            <a:avLst/>
          </a:prstGeom>
          <a:noFill/>
          <a:ln>
            <a:noFill/>
          </a:ln>
        </p:spPr>
      </p:pic>
      <p:sp>
        <p:nvSpPr>
          <p:cNvPr id="19" name="Rectangle 18">
            <a:extLst>
              <a:ext uri="{FF2B5EF4-FFF2-40B4-BE49-F238E27FC236}">
                <a16:creationId xmlns:a16="http://schemas.microsoft.com/office/drawing/2014/main" id="{A0702E37-2E7E-7262-5E76-F69A817105B3}"/>
              </a:ext>
            </a:extLst>
          </p:cNvPr>
          <p:cNvSpPr/>
          <p:nvPr/>
        </p:nvSpPr>
        <p:spPr>
          <a:xfrm>
            <a:off x="0" y="8268"/>
            <a:ext cx="12192000" cy="6825920"/>
          </a:xfrm>
          <a:prstGeom prst="rect">
            <a:avLst/>
          </a:prstGeom>
          <a:noFill/>
          <a:ln w="38100">
            <a:solidFill>
              <a:srgbClr val="0432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DCB2A3F0-9003-5886-09B4-27925BBE4000}"/>
              </a:ext>
            </a:extLst>
          </p:cNvPr>
          <p:cNvSpPr txBox="1"/>
          <p:nvPr/>
        </p:nvSpPr>
        <p:spPr>
          <a:xfrm>
            <a:off x="0" y="873851"/>
            <a:ext cx="12191999" cy="646331"/>
          </a:xfrm>
          <a:prstGeom prst="rect">
            <a:avLst/>
          </a:prstGeom>
          <a:noFill/>
        </p:spPr>
        <p:txBody>
          <a:bodyPr wrap="square">
            <a:spAutoFit/>
          </a:bodyPr>
          <a:lstStyle/>
          <a:p>
            <a:pPr algn="ctr"/>
            <a:r>
              <a:rPr lang="en-US" sz="3600" b="1" dirty="0">
                <a:effectLst/>
                <a:latin typeface="Calibri" panose="020F0502020204030204" pitchFamily="34" charset="0"/>
                <a:ea typeface="Calibri" panose="020F0502020204030204" pitchFamily="34" charset="0"/>
                <a:cs typeface="Calibri" panose="020F0502020204030204" pitchFamily="34" charset="0"/>
              </a:rPr>
              <a:t>Comparison Operations</a:t>
            </a:r>
            <a:endParaRPr lang="en-GB" sz="3600" b="1" cap="none" spc="0" dirty="0">
              <a:ln w="0"/>
              <a:solidFill>
                <a:schemeClr val="tx1"/>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Calibri" panose="020F0502020204030204" pitchFamily="34" charset="0"/>
            </a:endParaRPr>
          </a:p>
        </p:txBody>
      </p:sp>
      <p:pic>
        <p:nvPicPr>
          <p:cNvPr id="5" name="Picture 4">
            <a:extLst>
              <a:ext uri="{FF2B5EF4-FFF2-40B4-BE49-F238E27FC236}">
                <a16:creationId xmlns:a16="http://schemas.microsoft.com/office/drawing/2014/main" id="{1E724688-4340-82FD-3090-779C40333D00}"/>
              </a:ext>
            </a:extLst>
          </p:cNvPr>
          <p:cNvPicPr>
            <a:picLocks noChangeAspect="1"/>
          </p:cNvPicPr>
          <p:nvPr/>
        </p:nvPicPr>
        <p:blipFill rotWithShape="1">
          <a:blip r:embed="rId3"/>
          <a:srcRect r="46020"/>
          <a:stretch/>
        </p:blipFill>
        <p:spPr>
          <a:xfrm>
            <a:off x="1411357" y="1575351"/>
            <a:ext cx="4548918" cy="4788738"/>
          </a:xfrm>
          <a:prstGeom prst="rect">
            <a:avLst/>
          </a:prstGeom>
        </p:spPr>
      </p:pic>
      <p:pic>
        <p:nvPicPr>
          <p:cNvPr id="8" name="Picture 7">
            <a:extLst>
              <a:ext uri="{FF2B5EF4-FFF2-40B4-BE49-F238E27FC236}">
                <a16:creationId xmlns:a16="http://schemas.microsoft.com/office/drawing/2014/main" id="{89C52D54-D877-2A15-EEDB-842F59B8E1C8}"/>
              </a:ext>
            </a:extLst>
          </p:cNvPr>
          <p:cNvPicPr>
            <a:picLocks noChangeAspect="1"/>
          </p:cNvPicPr>
          <p:nvPr/>
        </p:nvPicPr>
        <p:blipFill>
          <a:blip r:embed="rId4"/>
          <a:stretch>
            <a:fillRect/>
          </a:stretch>
        </p:blipFill>
        <p:spPr>
          <a:xfrm>
            <a:off x="6578898" y="3421228"/>
            <a:ext cx="5153751" cy="1091382"/>
          </a:xfrm>
          <a:prstGeom prst="rect">
            <a:avLst/>
          </a:prstGeom>
        </p:spPr>
      </p:pic>
    </p:spTree>
    <p:extLst>
      <p:ext uri="{BB962C8B-B14F-4D97-AF65-F5344CB8AC3E}">
        <p14:creationId xmlns:p14="http://schemas.microsoft.com/office/powerpoint/2010/main" val="417179158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Table 8">
            <a:extLst>
              <a:ext uri="{FF2B5EF4-FFF2-40B4-BE49-F238E27FC236}">
                <a16:creationId xmlns:a16="http://schemas.microsoft.com/office/drawing/2014/main" id="{0B6EC464-4750-5FF3-7A5A-15612BA6E293}"/>
              </a:ext>
            </a:extLst>
          </p:cNvPr>
          <p:cNvGraphicFramePr>
            <a:graphicFrameLocks noGrp="1"/>
          </p:cNvGraphicFramePr>
          <p:nvPr/>
        </p:nvGraphicFramePr>
        <p:xfrm>
          <a:off x="0" y="23812"/>
          <a:ext cx="12192000" cy="465287"/>
        </p:xfrm>
        <a:graphic>
          <a:graphicData uri="http://schemas.openxmlformats.org/drawingml/2006/table">
            <a:tbl>
              <a:tblPr firstRow="1" bandRow="1">
                <a:tableStyleId>{5C22544A-7EE6-4342-B048-85BDC9FD1C3A}</a:tableStyleId>
              </a:tblPr>
              <a:tblGrid>
                <a:gridCol w="6092042">
                  <a:extLst>
                    <a:ext uri="{9D8B030D-6E8A-4147-A177-3AD203B41FA5}">
                      <a16:colId xmlns:a16="http://schemas.microsoft.com/office/drawing/2014/main" val="2179694530"/>
                    </a:ext>
                  </a:extLst>
                </a:gridCol>
                <a:gridCol w="6099958">
                  <a:extLst>
                    <a:ext uri="{9D8B030D-6E8A-4147-A177-3AD203B41FA5}">
                      <a16:colId xmlns:a16="http://schemas.microsoft.com/office/drawing/2014/main" val="2768207918"/>
                    </a:ext>
                  </a:extLst>
                </a:gridCol>
              </a:tblGrid>
              <a:tr h="465287">
                <a:tc>
                  <a:txBody>
                    <a:bodyPr/>
                    <a:lstStyle/>
                    <a:p>
                      <a:endParaRPr lang="en-US" dirty="0"/>
                    </a:p>
                  </a:txBody>
                  <a:tcPr>
                    <a:solidFill>
                      <a:srgbClr val="FF85FF"/>
                    </a:solidFill>
                  </a:tcPr>
                </a:tc>
                <a:tc>
                  <a:txBody>
                    <a:bodyPr/>
                    <a:lstStyle/>
                    <a:p>
                      <a:endParaRPr lang="en-US" dirty="0"/>
                    </a:p>
                  </a:txBody>
                  <a:tcPr>
                    <a:solidFill>
                      <a:srgbClr val="FFFF00"/>
                    </a:solidFill>
                  </a:tcPr>
                </a:tc>
                <a:extLst>
                  <a:ext uri="{0D108BD9-81ED-4DB2-BD59-A6C34878D82A}">
                    <a16:rowId xmlns:a16="http://schemas.microsoft.com/office/drawing/2014/main" val="1996944423"/>
                  </a:ext>
                </a:extLst>
              </a:tr>
            </a:tbl>
          </a:graphicData>
        </a:graphic>
      </p:graphicFrame>
      <p:graphicFrame>
        <p:nvGraphicFramePr>
          <p:cNvPr id="10" name="Table 9">
            <a:extLst>
              <a:ext uri="{FF2B5EF4-FFF2-40B4-BE49-F238E27FC236}">
                <a16:creationId xmlns:a16="http://schemas.microsoft.com/office/drawing/2014/main" id="{494BAFB7-FE1F-E1A9-7A6C-AB4145BD9BA1}"/>
              </a:ext>
            </a:extLst>
          </p:cNvPr>
          <p:cNvGraphicFramePr>
            <a:graphicFrameLocks noGrp="1"/>
          </p:cNvGraphicFramePr>
          <p:nvPr>
            <p:extLst>
              <p:ext uri="{D42A27DB-BD31-4B8C-83A1-F6EECF244321}">
                <p14:modId xmlns:p14="http://schemas.microsoft.com/office/powerpoint/2010/main" val="3209721571"/>
              </p:ext>
            </p:extLst>
          </p:nvPr>
        </p:nvGraphicFramePr>
        <p:xfrm>
          <a:off x="1" y="6478892"/>
          <a:ext cx="12191999" cy="370840"/>
        </p:xfrm>
        <a:graphic>
          <a:graphicData uri="http://schemas.openxmlformats.org/drawingml/2006/table">
            <a:tbl>
              <a:tblPr firstRow="1" bandRow="1">
                <a:tableStyleId>{5C22544A-7EE6-4342-B048-85BDC9FD1C3A}</a:tableStyleId>
              </a:tblPr>
              <a:tblGrid>
                <a:gridCol w="6080165">
                  <a:extLst>
                    <a:ext uri="{9D8B030D-6E8A-4147-A177-3AD203B41FA5}">
                      <a16:colId xmlns:a16="http://schemas.microsoft.com/office/drawing/2014/main" val="2179694530"/>
                    </a:ext>
                  </a:extLst>
                </a:gridCol>
                <a:gridCol w="6111834">
                  <a:extLst>
                    <a:ext uri="{9D8B030D-6E8A-4147-A177-3AD203B41FA5}">
                      <a16:colId xmlns:a16="http://schemas.microsoft.com/office/drawing/2014/main" val="2768207918"/>
                    </a:ext>
                  </a:extLst>
                </a:gridCol>
              </a:tblGrid>
              <a:tr h="370840">
                <a:tc>
                  <a:txBody>
                    <a:bodyPr/>
                    <a:lstStyle/>
                    <a:p>
                      <a:endParaRPr lang="en-US" dirty="0"/>
                    </a:p>
                  </a:txBody>
                  <a:tcPr>
                    <a:solidFill>
                      <a:srgbClr val="FFFF00"/>
                    </a:solidFill>
                  </a:tcPr>
                </a:tc>
                <a:tc>
                  <a:txBody>
                    <a:bodyPr/>
                    <a:lstStyle/>
                    <a:p>
                      <a:pPr algn="r"/>
                      <a:r>
                        <a:rPr lang="en-US" dirty="0">
                          <a:solidFill>
                            <a:schemeClr val="tx1"/>
                          </a:solidFill>
                        </a:rPr>
                        <a:t>57</a:t>
                      </a:r>
                    </a:p>
                  </a:txBody>
                  <a:tcPr>
                    <a:solidFill>
                      <a:srgbClr val="FF85FF"/>
                    </a:solidFill>
                  </a:tcPr>
                </a:tc>
                <a:extLst>
                  <a:ext uri="{0D108BD9-81ED-4DB2-BD59-A6C34878D82A}">
                    <a16:rowId xmlns:a16="http://schemas.microsoft.com/office/drawing/2014/main" val="1996944423"/>
                  </a:ext>
                </a:extLst>
              </a:tr>
            </a:tbl>
          </a:graphicData>
        </a:graphic>
      </p:graphicFrame>
      <p:pic>
        <p:nvPicPr>
          <p:cNvPr id="12" name="Google Shape;187;p25" descr="pngfind.com-kingpin-png-4152286 (1).png">
            <a:extLst>
              <a:ext uri="{FF2B5EF4-FFF2-40B4-BE49-F238E27FC236}">
                <a16:creationId xmlns:a16="http://schemas.microsoft.com/office/drawing/2014/main" id="{2DBF2481-A2DB-F96E-5749-B03DC4F71665}"/>
              </a:ext>
            </a:extLst>
          </p:cNvPr>
          <p:cNvPicPr preferRelativeResize="0"/>
          <p:nvPr/>
        </p:nvPicPr>
        <p:blipFill rotWithShape="1">
          <a:blip r:embed="rId2">
            <a:alphaModFix/>
          </a:blip>
          <a:srcRect/>
          <a:stretch/>
        </p:blipFill>
        <p:spPr>
          <a:xfrm>
            <a:off x="11044052" y="8268"/>
            <a:ext cx="1051261" cy="465287"/>
          </a:xfrm>
          <a:prstGeom prst="rect">
            <a:avLst/>
          </a:prstGeom>
          <a:noFill/>
          <a:ln>
            <a:noFill/>
          </a:ln>
        </p:spPr>
      </p:pic>
      <p:sp>
        <p:nvSpPr>
          <p:cNvPr id="19" name="Rectangle 18">
            <a:extLst>
              <a:ext uri="{FF2B5EF4-FFF2-40B4-BE49-F238E27FC236}">
                <a16:creationId xmlns:a16="http://schemas.microsoft.com/office/drawing/2014/main" id="{A0702E37-2E7E-7262-5E76-F69A817105B3}"/>
              </a:ext>
            </a:extLst>
          </p:cNvPr>
          <p:cNvSpPr/>
          <p:nvPr/>
        </p:nvSpPr>
        <p:spPr>
          <a:xfrm>
            <a:off x="0" y="8268"/>
            <a:ext cx="12192000" cy="6825920"/>
          </a:xfrm>
          <a:prstGeom prst="rect">
            <a:avLst/>
          </a:prstGeom>
          <a:noFill/>
          <a:ln w="38100">
            <a:solidFill>
              <a:srgbClr val="0432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DCB2A3F0-9003-5886-09B4-27925BBE4000}"/>
              </a:ext>
            </a:extLst>
          </p:cNvPr>
          <p:cNvSpPr txBox="1"/>
          <p:nvPr/>
        </p:nvSpPr>
        <p:spPr>
          <a:xfrm>
            <a:off x="-96686" y="504643"/>
            <a:ext cx="12191999" cy="646331"/>
          </a:xfrm>
          <a:prstGeom prst="rect">
            <a:avLst/>
          </a:prstGeom>
          <a:noFill/>
        </p:spPr>
        <p:txBody>
          <a:bodyPr wrap="square">
            <a:spAutoFit/>
          </a:bodyPr>
          <a:lstStyle/>
          <a:p>
            <a:pPr algn="ctr"/>
            <a:r>
              <a:rPr lang="en-US" sz="3600" b="1" dirty="0">
                <a:effectLst/>
                <a:latin typeface="Calibri" panose="020F0502020204030204" pitchFamily="34" charset="0"/>
                <a:ea typeface="Calibri" panose="020F0502020204030204" pitchFamily="34" charset="0"/>
                <a:cs typeface="Calibri" panose="020F0502020204030204" pitchFamily="34" charset="0"/>
              </a:rPr>
              <a:t>Comparison Operations</a:t>
            </a:r>
            <a:endParaRPr lang="en-GB" sz="3600" b="1" cap="none" spc="0" dirty="0">
              <a:ln w="0"/>
              <a:solidFill>
                <a:schemeClr val="tx1"/>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Calibri" panose="020F0502020204030204" pitchFamily="34" charset="0"/>
            </a:endParaRPr>
          </a:p>
        </p:txBody>
      </p:sp>
      <p:pic>
        <p:nvPicPr>
          <p:cNvPr id="4" name="Picture 3">
            <a:extLst>
              <a:ext uri="{FF2B5EF4-FFF2-40B4-BE49-F238E27FC236}">
                <a16:creationId xmlns:a16="http://schemas.microsoft.com/office/drawing/2014/main" id="{F684BA1D-7DD3-91F4-9325-1174A3E67107}"/>
              </a:ext>
            </a:extLst>
          </p:cNvPr>
          <p:cNvPicPr>
            <a:picLocks noChangeAspect="1"/>
          </p:cNvPicPr>
          <p:nvPr/>
        </p:nvPicPr>
        <p:blipFill>
          <a:blip r:embed="rId3"/>
          <a:stretch>
            <a:fillRect/>
          </a:stretch>
        </p:blipFill>
        <p:spPr>
          <a:xfrm>
            <a:off x="3380482" y="1137428"/>
            <a:ext cx="5813214" cy="5325919"/>
          </a:xfrm>
          <a:prstGeom prst="rect">
            <a:avLst/>
          </a:prstGeom>
        </p:spPr>
      </p:pic>
    </p:spTree>
    <p:extLst>
      <p:ext uri="{BB962C8B-B14F-4D97-AF65-F5344CB8AC3E}">
        <p14:creationId xmlns:p14="http://schemas.microsoft.com/office/powerpoint/2010/main" val="346749665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Table 8">
            <a:extLst>
              <a:ext uri="{FF2B5EF4-FFF2-40B4-BE49-F238E27FC236}">
                <a16:creationId xmlns:a16="http://schemas.microsoft.com/office/drawing/2014/main" id="{0B6EC464-4750-5FF3-7A5A-15612BA6E293}"/>
              </a:ext>
            </a:extLst>
          </p:cNvPr>
          <p:cNvGraphicFramePr>
            <a:graphicFrameLocks noGrp="1"/>
          </p:cNvGraphicFramePr>
          <p:nvPr/>
        </p:nvGraphicFramePr>
        <p:xfrm>
          <a:off x="0" y="23812"/>
          <a:ext cx="12192000" cy="465287"/>
        </p:xfrm>
        <a:graphic>
          <a:graphicData uri="http://schemas.openxmlformats.org/drawingml/2006/table">
            <a:tbl>
              <a:tblPr firstRow="1" bandRow="1">
                <a:tableStyleId>{5C22544A-7EE6-4342-B048-85BDC9FD1C3A}</a:tableStyleId>
              </a:tblPr>
              <a:tblGrid>
                <a:gridCol w="6092042">
                  <a:extLst>
                    <a:ext uri="{9D8B030D-6E8A-4147-A177-3AD203B41FA5}">
                      <a16:colId xmlns:a16="http://schemas.microsoft.com/office/drawing/2014/main" val="2179694530"/>
                    </a:ext>
                  </a:extLst>
                </a:gridCol>
                <a:gridCol w="6099958">
                  <a:extLst>
                    <a:ext uri="{9D8B030D-6E8A-4147-A177-3AD203B41FA5}">
                      <a16:colId xmlns:a16="http://schemas.microsoft.com/office/drawing/2014/main" val="2768207918"/>
                    </a:ext>
                  </a:extLst>
                </a:gridCol>
              </a:tblGrid>
              <a:tr h="465287">
                <a:tc>
                  <a:txBody>
                    <a:bodyPr/>
                    <a:lstStyle/>
                    <a:p>
                      <a:endParaRPr lang="en-US" dirty="0"/>
                    </a:p>
                  </a:txBody>
                  <a:tcPr>
                    <a:solidFill>
                      <a:srgbClr val="FF85FF"/>
                    </a:solidFill>
                  </a:tcPr>
                </a:tc>
                <a:tc>
                  <a:txBody>
                    <a:bodyPr/>
                    <a:lstStyle/>
                    <a:p>
                      <a:endParaRPr lang="en-US" dirty="0"/>
                    </a:p>
                  </a:txBody>
                  <a:tcPr>
                    <a:solidFill>
                      <a:srgbClr val="FFFF00"/>
                    </a:solidFill>
                  </a:tcPr>
                </a:tc>
                <a:extLst>
                  <a:ext uri="{0D108BD9-81ED-4DB2-BD59-A6C34878D82A}">
                    <a16:rowId xmlns:a16="http://schemas.microsoft.com/office/drawing/2014/main" val="1996944423"/>
                  </a:ext>
                </a:extLst>
              </a:tr>
            </a:tbl>
          </a:graphicData>
        </a:graphic>
      </p:graphicFrame>
      <p:graphicFrame>
        <p:nvGraphicFramePr>
          <p:cNvPr id="10" name="Table 9">
            <a:extLst>
              <a:ext uri="{FF2B5EF4-FFF2-40B4-BE49-F238E27FC236}">
                <a16:creationId xmlns:a16="http://schemas.microsoft.com/office/drawing/2014/main" id="{494BAFB7-FE1F-E1A9-7A6C-AB4145BD9BA1}"/>
              </a:ext>
            </a:extLst>
          </p:cNvPr>
          <p:cNvGraphicFramePr>
            <a:graphicFrameLocks noGrp="1"/>
          </p:cNvGraphicFramePr>
          <p:nvPr>
            <p:extLst>
              <p:ext uri="{D42A27DB-BD31-4B8C-83A1-F6EECF244321}">
                <p14:modId xmlns:p14="http://schemas.microsoft.com/office/powerpoint/2010/main" val="3279764160"/>
              </p:ext>
            </p:extLst>
          </p:nvPr>
        </p:nvGraphicFramePr>
        <p:xfrm>
          <a:off x="1" y="6478892"/>
          <a:ext cx="12191999" cy="370840"/>
        </p:xfrm>
        <a:graphic>
          <a:graphicData uri="http://schemas.openxmlformats.org/drawingml/2006/table">
            <a:tbl>
              <a:tblPr firstRow="1" bandRow="1">
                <a:tableStyleId>{5C22544A-7EE6-4342-B048-85BDC9FD1C3A}</a:tableStyleId>
              </a:tblPr>
              <a:tblGrid>
                <a:gridCol w="6080165">
                  <a:extLst>
                    <a:ext uri="{9D8B030D-6E8A-4147-A177-3AD203B41FA5}">
                      <a16:colId xmlns:a16="http://schemas.microsoft.com/office/drawing/2014/main" val="2179694530"/>
                    </a:ext>
                  </a:extLst>
                </a:gridCol>
                <a:gridCol w="6111834">
                  <a:extLst>
                    <a:ext uri="{9D8B030D-6E8A-4147-A177-3AD203B41FA5}">
                      <a16:colId xmlns:a16="http://schemas.microsoft.com/office/drawing/2014/main" val="2768207918"/>
                    </a:ext>
                  </a:extLst>
                </a:gridCol>
              </a:tblGrid>
              <a:tr h="370840">
                <a:tc>
                  <a:txBody>
                    <a:bodyPr/>
                    <a:lstStyle/>
                    <a:p>
                      <a:endParaRPr lang="en-US" dirty="0"/>
                    </a:p>
                  </a:txBody>
                  <a:tcPr>
                    <a:solidFill>
                      <a:srgbClr val="FFFF00"/>
                    </a:solidFill>
                  </a:tcPr>
                </a:tc>
                <a:tc>
                  <a:txBody>
                    <a:bodyPr/>
                    <a:lstStyle/>
                    <a:p>
                      <a:pPr algn="r"/>
                      <a:r>
                        <a:rPr lang="en-US" dirty="0">
                          <a:solidFill>
                            <a:schemeClr val="tx1"/>
                          </a:solidFill>
                        </a:rPr>
                        <a:t>58</a:t>
                      </a:r>
                    </a:p>
                  </a:txBody>
                  <a:tcPr>
                    <a:solidFill>
                      <a:srgbClr val="FF85FF"/>
                    </a:solidFill>
                  </a:tcPr>
                </a:tc>
                <a:extLst>
                  <a:ext uri="{0D108BD9-81ED-4DB2-BD59-A6C34878D82A}">
                    <a16:rowId xmlns:a16="http://schemas.microsoft.com/office/drawing/2014/main" val="1996944423"/>
                  </a:ext>
                </a:extLst>
              </a:tr>
            </a:tbl>
          </a:graphicData>
        </a:graphic>
      </p:graphicFrame>
      <p:pic>
        <p:nvPicPr>
          <p:cNvPr id="12" name="Google Shape;187;p25" descr="pngfind.com-kingpin-png-4152286 (1).png">
            <a:extLst>
              <a:ext uri="{FF2B5EF4-FFF2-40B4-BE49-F238E27FC236}">
                <a16:creationId xmlns:a16="http://schemas.microsoft.com/office/drawing/2014/main" id="{2DBF2481-A2DB-F96E-5749-B03DC4F71665}"/>
              </a:ext>
            </a:extLst>
          </p:cNvPr>
          <p:cNvPicPr preferRelativeResize="0"/>
          <p:nvPr/>
        </p:nvPicPr>
        <p:blipFill rotWithShape="1">
          <a:blip r:embed="rId2">
            <a:alphaModFix/>
          </a:blip>
          <a:srcRect/>
          <a:stretch/>
        </p:blipFill>
        <p:spPr>
          <a:xfrm>
            <a:off x="11044052" y="8268"/>
            <a:ext cx="1051261" cy="465287"/>
          </a:xfrm>
          <a:prstGeom prst="rect">
            <a:avLst/>
          </a:prstGeom>
          <a:noFill/>
          <a:ln>
            <a:noFill/>
          </a:ln>
        </p:spPr>
      </p:pic>
      <p:sp>
        <p:nvSpPr>
          <p:cNvPr id="19" name="Rectangle 18">
            <a:extLst>
              <a:ext uri="{FF2B5EF4-FFF2-40B4-BE49-F238E27FC236}">
                <a16:creationId xmlns:a16="http://schemas.microsoft.com/office/drawing/2014/main" id="{A0702E37-2E7E-7262-5E76-F69A817105B3}"/>
              </a:ext>
            </a:extLst>
          </p:cNvPr>
          <p:cNvSpPr/>
          <p:nvPr/>
        </p:nvSpPr>
        <p:spPr>
          <a:xfrm>
            <a:off x="0" y="8268"/>
            <a:ext cx="12192000" cy="6825920"/>
          </a:xfrm>
          <a:prstGeom prst="rect">
            <a:avLst/>
          </a:prstGeom>
          <a:noFill/>
          <a:ln w="38100">
            <a:solidFill>
              <a:srgbClr val="0432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DCB2A3F0-9003-5886-09B4-27925BBE4000}"/>
              </a:ext>
            </a:extLst>
          </p:cNvPr>
          <p:cNvSpPr txBox="1"/>
          <p:nvPr/>
        </p:nvSpPr>
        <p:spPr>
          <a:xfrm>
            <a:off x="0" y="873851"/>
            <a:ext cx="12191999" cy="646331"/>
          </a:xfrm>
          <a:prstGeom prst="rect">
            <a:avLst/>
          </a:prstGeom>
          <a:noFill/>
        </p:spPr>
        <p:txBody>
          <a:bodyPr wrap="square">
            <a:spAutoFit/>
          </a:bodyPr>
          <a:lstStyle/>
          <a:p>
            <a:pPr algn="ctr"/>
            <a:r>
              <a:rPr lang="en-US" sz="3600" b="1" dirty="0">
                <a:effectLst/>
                <a:latin typeface="Calibri" panose="020F0502020204030204" pitchFamily="34" charset="0"/>
                <a:ea typeface="Calibri" panose="020F0502020204030204" pitchFamily="34" charset="0"/>
                <a:cs typeface="Calibri" panose="020F0502020204030204" pitchFamily="34" charset="0"/>
              </a:rPr>
              <a:t>Logical Operations</a:t>
            </a:r>
            <a:endParaRPr lang="en-GB" sz="3600" b="1" cap="none" spc="0" dirty="0">
              <a:ln w="0"/>
              <a:solidFill>
                <a:schemeClr val="tx1"/>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Calibri" panose="020F0502020204030204" pitchFamily="34" charset="0"/>
            </a:endParaRPr>
          </a:p>
        </p:txBody>
      </p:sp>
      <p:graphicFrame>
        <p:nvGraphicFramePr>
          <p:cNvPr id="2" name="Table 1">
            <a:extLst>
              <a:ext uri="{FF2B5EF4-FFF2-40B4-BE49-F238E27FC236}">
                <a16:creationId xmlns:a16="http://schemas.microsoft.com/office/drawing/2014/main" id="{B96EB4AA-EDE3-C15A-5380-2B467796DF8A}"/>
              </a:ext>
            </a:extLst>
          </p:cNvPr>
          <p:cNvGraphicFramePr>
            <a:graphicFrameLocks noGrp="1"/>
          </p:cNvGraphicFramePr>
          <p:nvPr/>
        </p:nvGraphicFramePr>
        <p:xfrm>
          <a:off x="2385392" y="2608590"/>
          <a:ext cx="7732644" cy="1892922"/>
        </p:xfrm>
        <a:graphic>
          <a:graphicData uri="http://schemas.openxmlformats.org/drawingml/2006/table">
            <a:tbl>
              <a:tblPr/>
              <a:tblGrid>
                <a:gridCol w="1669774">
                  <a:extLst>
                    <a:ext uri="{9D8B030D-6E8A-4147-A177-3AD203B41FA5}">
                      <a16:colId xmlns:a16="http://schemas.microsoft.com/office/drawing/2014/main" val="342157289"/>
                    </a:ext>
                  </a:extLst>
                </a:gridCol>
                <a:gridCol w="6062870">
                  <a:extLst>
                    <a:ext uri="{9D8B030D-6E8A-4147-A177-3AD203B41FA5}">
                      <a16:colId xmlns:a16="http://schemas.microsoft.com/office/drawing/2014/main" val="3225090991"/>
                    </a:ext>
                  </a:extLst>
                </a:gridCol>
              </a:tblGrid>
              <a:tr h="243864">
                <a:tc>
                  <a:txBody>
                    <a:bodyPr/>
                    <a:lstStyle/>
                    <a:p>
                      <a:pPr algn="ctr"/>
                      <a:r>
                        <a:rPr lang="en-IN" b="1" dirty="0">
                          <a:effectLst/>
                        </a:rPr>
                        <a:t>Operators</a:t>
                      </a:r>
                    </a:p>
                  </a:txBody>
                  <a:tcPr marL="182880" marR="182880" marT="91440" marB="91440"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a:noFill/>
                    </a:lnB>
                    <a:solidFill>
                      <a:srgbClr val="F8FAFF"/>
                    </a:solidFill>
                  </a:tcPr>
                </a:tc>
                <a:tc>
                  <a:txBody>
                    <a:bodyPr/>
                    <a:lstStyle/>
                    <a:p>
                      <a:pPr algn="ctr"/>
                      <a:r>
                        <a:rPr lang="en-IN" b="1" dirty="0">
                          <a:effectLst/>
                        </a:rPr>
                        <a:t>Descriptions</a:t>
                      </a:r>
                    </a:p>
                  </a:txBody>
                  <a:tcPr marL="182880" marR="182880" marT="91440" marB="91440"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solidFill>
                      <a:srgbClr val="F8FAFF"/>
                    </a:solidFill>
                  </a:tcPr>
                </a:tc>
                <a:extLst>
                  <a:ext uri="{0D108BD9-81ED-4DB2-BD59-A6C34878D82A}">
                    <a16:rowId xmlns:a16="http://schemas.microsoft.com/office/drawing/2014/main" val="2232077998"/>
                  </a:ext>
                </a:extLst>
              </a:tr>
              <a:tr h="429073">
                <a:tc>
                  <a:txBody>
                    <a:bodyPr/>
                    <a:lstStyle/>
                    <a:p>
                      <a:r>
                        <a:rPr lang="en-IN">
                          <a:effectLst/>
                        </a:rPr>
                        <a:t>logical_and</a:t>
                      </a:r>
                    </a:p>
                  </a:txBody>
                  <a:tcPr marL="182880" marR="182880" marT="91440" marB="91440" anchor="ctr">
                    <a:lnL w="12700" cap="flat" cmpd="sng" algn="ctr">
                      <a:solidFill>
                        <a:schemeClr val="tx1"/>
                      </a:solidFill>
                      <a:prstDash val="solid"/>
                      <a:round/>
                      <a:headEnd type="none" w="med" len="med"/>
                      <a:tailEnd type="none" w="med" len="med"/>
                    </a:lnL>
                    <a:lnR>
                      <a:noFill/>
                    </a:lnR>
                    <a:lnT>
                      <a:noFill/>
                    </a:lnT>
                    <a:lnB>
                      <a:noFill/>
                    </a:lnB>
                    <a:solidFill>
                      <a:srgbClr val="F8FAFF"/>
                    </a:solidFill>
                  </a:tcPr>
                </a:tc>
                <a:tc>
                  <a:txBody>
                    <a:bodyPr/>
                    <a:lstStyle/>
                    <a:p>
                      <a:r>
                        <a:rPr lang="en-US">
                          <a:effectLst/>
                        </a:rPr>
                        <a:t>Computes the element-wise truth value of </a:t>
                      </a:r>
                      <a:r>
                        <a:rPr lang="en-US" b="1">
                          <a:effectLst/>
                        </a:rPr>
                        <a:t>x1</a:t>
                      </a:r>
                      <a:r>
                        <a:rPr lang="en-US">
                          <a:effectLst/>
                        </a:rPr>
                        <a:t> AND </a:t>
                      </a:r>
                      <a:r>
                        <a:rPr lang="en-US" b="1">
                          <a:effectLst/>
                        </a:rPr>
                        <a:t>x2</a:t>
                      </a:r>
                      <a:endParaRPr lang="en-US">
                        <a:effectLst/>
                      </a:endParaRPr>
                    </a:p>
                  </a:txBody>
                  <a:tcPr marL="182880" marR="182880" marT="91440" marB="91440" anchor="ctr">
                    <a:lnL>
                      <a:noFill/>
                    </a:lnL>
                    <a:lnR w="12700" cap="flat" cmpd="sng" algn="ctr">
                      <a:solidFill>
                        <a:schemeClr val="tx1"/>
                      </a:solidFill>
                      <a:prstDash val="solid"/>
                      <a:round/>
                      <a:headEnd type="none" w="med" len="med"/>
                      <a:tailEnd type="none" w="med" len="med"/>
                    </a:lnR>
                    <a:lnT>
                      <a:noFill/>
                    </a:lnT>
                    <a:lnB>
                      <a:noFill/>
                    </a:lnB>
                    <a:solidFill>
                      <a:srgbClr val="F8FAFF"/>
                    </a:solidFill>
                  </a:tcPr>
                </a:tc>
                <a:extLst>
                  <a:ext uri="{0D108BD9-81ED-4DB2-BD59-A6C34878D82A}">
                    <a16:rowId xmlns:a16="http://schemas.microsoft.com/office/drawing/2014/main" val="1137839231"/>
                  </a:ext>
                </a:extLst>
              </a:tr>
              <a:tr h="518311">
                <a:tc>
                  <a:txBody>
                    <a:bodyPr/>
                    <a:lstStyle/>
                    <a:p>
                      <a:r>
                        <a:rPr lang="en-IN">
                          <a:effectLst/>
                        </a:rPr>
                        <a:t>logical_or</a:t>
                      </a:r>
                    </a:p>
                  </a:txBody>
                  <a:tcPr marL="182880" marR="182880" marT="91440" marB="91440" anchor="ctr">
                    <a:lnL w="12700" cap="flat" cmpd="sng" algn="ctr">
                      <a:solidFill>
                        <a:schemeClr val="tx1"/>
                      </a:solidFill>
                      <a:prstDash val="solid"/>
                      <a:round/>
                      <a:headEnd type="none" w="med" len="med"/>
                      <a:tailEnd type="none" w="med" len="med"/>
                    </a:lnL>
                    <a:lnR>
                      <a:noFill/>
                    </a:lnR>
                    <a:lnT>
                      <a:noFill/>
                    </a:lnT>
                    <a:lnB>
                      <a:noFill/>
                    </a:lnB>
                    <a:solidFill>
                      <a:srgbClr val="F8FAFF"/>
                    </a:solidFill>
                  </a:tcPr>
                </a:tc>
                <a:tc>
                  <a:txBody>
                    <a:bodyPr/>
                    <a:lstStyle/>
                    <a:p>
                      <a:r>
                        <a:rPr lang="en-US">
                          <a:effectLst/>
                        </a:rPr>
                        <a:t>Computes the element-wise truth value of </a:t>
                      </a:r>
                      <a:r>
                        <a:rPr lang="en-US" b="1">
                          <a:effectLst/>
                        </a:rPr>
                        <a:t>x1</a:t>
                      </a:r>
                      <a:r>
                        <a:rPr lang="en-US">
                          <a:effectLst/>
                        </a:rPr>
                        <a:t> OR </a:t>
                      </a:r>
                      <a:r>
                        <a:rPr lang="en-US" b="1">
                          <a:effectLst/>
                        </a:rPr>
                        <a:t>x2</a:t>
                      </a:r>
                      <a:endParaRPr lang="en-US">
                        <a:effectLst/>
                      </a:endParaRPr>
                    </a:p>
                  </a:txBody>
                  <a:tcPr marL="182880" marR="182880" marT="91440" marB="91440" anchor="ctr">
                    <a:lnL>
                      <a:noFill/>
                    </a:lnL>
                    <a:lnR w="12700" cap="flat" cmpd="sng" algn="ctr">
                      <a:solidFill>
                        <a:schemeClr val="tx1"/>
                      </a:solidFill>
                      <a:prstDash val="solid"/>
                      <a:round/>
                      <a:headEnd type="none" w="med" len="med"/>
                      <a:tailEnd type="none" w="med" len="med"/>
                    </a:lnR>
                    <a:lnT>
                      <a:noFill/>
                    </a:lnT>
                    <a:lnB>
                      <a:noFill/>
                    </a:lnB>
                    <a:solidFill>
                      <a:srgbClr val="F8FAFF"/>
                    </a:solidFill>
                  </a:tcPr>
                </a:tc>
                <a:extLst>
                  <a:ext uri="{0D108BD9-81ED-4DB2-BD59-A6C34878D82A}">
                    <a16:rowId xmlns:a16="http://schemas.microsoft.com/office/drawing/2014/main" val="1231598235"/>
                  </a:ext>
                </a:extLst>
              </a:tr>
              <a:tr h="460211">
                <a:tc>
                  <a:txBody>
                    <a:bodyPr/>
                    <a:lstStyle/>
                    <a:p>
                      <a:r>
                        <a:rPr lang="en-IN">
                          <a:effectLst/>
                        </a:rPr>
                        <a:t>logical_not</a:t>
                      </a:r>
                    </a:p>
                  </a:txBody>
                  <a:tcPr marL="182880" marR="182880" marT="91440" marB="91440" anchor="ctr">
                    <a:lnL w="12700" cap="flat" cmpd="sng" algn="ctr">
                      <a:solidFill>
                        <a:schemeClr val="tx1"/>
                      </a:solidFill>
                      <a:prstDash val="solid"/>
                      <a:round/>
                      <a:headEnd type="none" w="med" len="med"/>
                      <a:tailEnd type="none" w="med" len="med"/>
                    </a:lnL>
                    <a:lnR>
                      <a:noFill/>
                    </a:lnR>
                    <a:lnT>
                      <a:noFill/>
                    </a:lnT>
                    <a:lnB w="12700" cap="flat" cmpd="sng" algn="ctr">
                      <a:solidFill>
                        <a:schemeClr val="tx1"/>
                      </a:solidFill>
                      <a:prstDash val="solid"/>
                      <a:round/>
                      <a:headEnd type="none" w="med" len="med"/>
                      <a:tailEnd type="none" w="med" len="med"/>
                    </a:lnB>
                    <a:solidFill>
                      <a:srgbClr val="F8FAFF"/>
                    </a:solidFill>
                  </a:tcPr>
                </a:tc>
                <a:tc>
                  <a:txBody>
                    <a:bodyPr/>
                    <a:lstStyle/>
                    <a:p>
                      <a:r>
                        <a:rPr lang="en-US" dirty="0">
                          <a:effectLst/>
                        </a:rPr>
                        <a:t>Computes the element-wise truth value of NOT </a:t>
                      </a:r>
                      <a:r>
                        <a:rPr lang="en-US" b="1" dirty="0">
                          <a:effectLst/>
                        </a:rPr>
                        <a:t>x</a:t>
                      </a:r>
                      <a:endParaRPr lang="en-US" dirty="0">
                        <a:effectLst/>
                      </a:endParaRPr>
                    </a:p>
                  </a:txBody>
                  <a:tcPr marL="182880" marR="182880" marT="91440" marB="91440" anchor="ctr">
                    <a:lnL>
                      <a:noFill/>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solidFill>
                      <a:srgbClr val="F8FAFF"/>
                    </a:solidFill>
                  </a:tcPr>
                </a:tc>
                <a:extLst>
                  <a:ext uri="{0D108BD9-81ED-4DB2-BD59-A6C34878D82A}">
                    <a16:rowId xmlns:a16="http://schemas.microsoft.com/office/drawing/2014/main" val="640276353"/>
                  </a:ext>
                </a:extLst>
              </a:tr>
            </a:tbl>
          </a:graphicData>
        </a:graphic>
      </p:graphicFrame>
    </p:spTree>
    <p:extLst>
      <p:ext uri="{BB962C8B-B14F-4D97-AF65-F5344CB8AC3E}">
        <p14:creationId xmlns:p14="http://schemas.microsoft.com/office/powerpoint/2010/main" val="79613854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Table 8">
            <a:extLst>
              <a:ext uri="{FF2B5EF4-FFF2-40B4-BE49-F238E27FC236}">
                <a16:creationId xmlns:a16="http://schemas.microsoft.com/office/drawing/2014/main" id="{0B6EC464-4750-5FF3-7A5A-15612BA6E293}"/>
              </a:ext>
            </a:extLst>
          </p:cNvPr>
          <p:cNvGraphicFramePr>
            <a:graphicFrameLocks noGrp="1"/>
          </p:cNvGraphicFramePr>
          <p:nvPr/>
        </p:nvGraphicFramePr>
        <p:xfrm>
          <a:off x="0" y="23812"/>
          <a:ext cx="12192000" cy="465287"/>
        </p:xfrm>
        <a:graphic>
          <a:graphicData uri="http://schemas.openxmlformats.org/drawingml/2006/table">
            <a:tbl>
              <a:tblPr firstRow="1" bandRow="1">
                <a:tableStyleId>{5C22544A-7EE6-4342-B048-85BDC9FD1C3A}</a:tableStyleId>
              </a:tblPr>
              <a:tblGrid>
                <a:gridCol w="6092042">
                  <a:extLst>
                    <a:ext uri="{9D8B030D-6E8A-4147-A177-3AD203B41FA5}">
                      <a16:colId xmlns:a16="http://schemas.microsoft.com/office/drawing/2014/main" val="2179694530"/>
                    </a:ext>
                  </a:extLst>
                </a:gridCol>
                <a:gridCol w="6099958">
                  <a:extLst>
                    <a:ext uri="{9D8B030D-6E8A-4147-A177-3AD203B41FA5}">
                      <a16:colId xmlns:a16="http://schemas.microsoft.com/office/drawing/2014/main" val="2768207918"/>
                    </a:ext>
                  </a:extLst>
                </a:gridCol>
              </a:tblGrid>
              <a:tr h="465287">
                <a:tc>
                  <a:txBody>
                    <a:bodyPr/>
                    <a:lstStyle/>
                    <a:p>
                      <a:endParaRPr lang="en-US" dirty="0"/>
                    </a:p>
                  </a:txBody>
                  <a:tcPr>
                    <a:solidFill>
                      <a:srgbClr val="FF85FF"/>
                    </a:solidFill>
                  </a:tcPr>
                </a:tc>
                <a:tc>
                  <a:txBody>
                    <a:bodyPr/>
                    <a:lstStyle/>
                    <a:p>
                      <a:endParaRPr lang="en-US" dirty="0"/>
                    </a:p>
                  </a:txBody>
                  <a:tcPr>
                    <a:solidFill>
                      <a:srgbClr val="FFFF00"/>
                    </a:solidFill>
                  </a:tcPr>
                </a:tc>
                <a:extLst>
                  <a:ext uri="{0D108BD9-81ED-4DB2-BD59-A6C34878D82A}">
                    <a16:rowId xmlns:a16="http://schemas.microsoft.com/office/drawing/2014/main" val="1996944423"/>
                  </a:ext>
                </a:extLst>
              </a:tr>
            </a:tbl>
          </a:graphicData>
        </a:graphic>
      </p:graphicFrame>
      <p:graphicFrame>
        <p:nvGraphicFramePr>
          <p:cNvPr id="10" name="Table 9">
            <a:extLst>
              <a:ext uri="{FF2B5EF4-FFF2-40B4-BE49-F238E27FC236}">
                <a16:creationId xmlns:a16="http://schemas.microsoft.com/office/drawing/2014/main" id="{494BAFB7-FE1F-E1A9-7A6C-AB4145BD9BA1}"/>
              </a:ext>
            </a:extLst>
          </p:cNvPr>
          <p:cNvGraphicFramePr>
            <a:graphicFrameLocks noGrp="1"/>
          </p:cNvGraphicFramePr>
          <p:nvPr>
            <p:extLst>
              <p:ext uri="{D42A27DB-BD31-4B8C-83A1-F6EECF244321}">
                <p14:modId xmlns:p14="http://schemas.microsoft.com/office/powerpoint/2010/main" val="1508379888"/>
              </p:ext>
            </p:extLst>
          </p:nvPr>
        </p:nvGraphicFramePr>
        <p:xfrm>
          <a:off x="1" y="6478892"/>
          <a:ext cx="12191999" cy="370840"/>
        </p:xfrm>
        <a:graphic>
          <a:graphicData uri="http://schemas.openxmlformats.org/drawingml/2006/table">
            <a:tbl>
              <a:tblPr firstRow="1" bandRow="1">
                <a:tableStyleId>{5C22544A-7EE6-4342-B048-85BDC9FD1C3A}</a:tableStyleId>
              </a:tblPr>
              <a:tblGrid>
                <a:gridCol w="6080165">
                  <a:extLst>
                    <a:ext uri="{9D8B030D-6E8A-4147-A177-3AD203B41FA5}">
                      <a16:colId xmlns:a16="http://schemas.microsoft.com/office/drawing/2014/main" val="2179694530"/>
                    </a:ext>
                  </a:extLst>
                </a:gridCol>
                <a:gridCol w="6111834">
                  <a:extLst>
                    <a:ext uri="{9D8B030D-6E8A-4147-A177-3AD203B41FA5}">
                      <a16:colId xmlns:a16="http://schemas.microsoft.com/office/drawing/2014/main" val="2768207918"/>
                    </a:ext>
                  </a:extLst>
                </a:gridCol>
              </a:tblGrid>
              <a:tr h="370840">
                <a:tc>
                  <a:txBody>
                    <a:bodyPr/>
                    <a:lstStyle/>
                    <a:p>
                      <a:endParaRPr lang="en-US" dirty="0"/>
                    </a:p>
                  </a:txBody>
                  <a:tcPr>
                    <a:solidFill>
                      <a:srgbClr val="FFFF00"/>
                    </a:solidFill>
                  </a:tcPr>
                </a:tc>
                <a:tc>
                  <a:txBody>
                    <a:bodyPr/>
                    <a:lstStyle/>
                    <a:p>
                      <a:pPr algn="r"/>
                      <a:r>
                        <a:rPr lang="en-US" dirty="0">
                          <a:solidFill>
                            <a:schemeClr val="tx1"/>
                          </a:solidFill>
                        </a:rPr>
                        <a:t>59</a:t>
                      </a:r>
                    </a:p>
                  </a:txBody>
                  <a:tcPr>
                    <a:solidFill>
                      <a:srgbClr val="FF85FF"/>
                    </a:solidFill>
                  </a:tcPr>
                </a:tc>
                <a:extLst>
                  <a:ext uri="{0D108BD9-81ED-4DB2-BD59-A6C34878D82A}">
                    <a16:rowId xmlns:a16="http://schemas.microsoft.com/office/drawing/2014/main" val="1996944423"/>
                  </a:ext>
                </a:extLst>
              </a:tr>
            </a:tbl>
          </a:graphicData>
        </a:graphic>
      </p:graphicFrame>
      <p:pic>
        <p:nvPicPr>
          <p:cNvPr id="12" name="Google Shape;187;p25" descr="pngfind.com-kingpin-png-4152286 (1).png">
            <a:extLst>
              <a:ext uri="{FF2B5EF4-FFF2-40B4-BE49-F238E27FC236}">
                <a16:creationId xmlns:a16="http://schemas.microsoft.com/office/drawing/2014/main" id="{2DBF2481-A2DB-F96E-5749-B03DC4F71665}"/>
              </a:ext>
            </a:extLst>
          </p:cNvPr>
          <p:cNvPicPr preferRelativeResize="0"/>
          <p:nvPr/>
        </p:nvPicPr>
        <p:blipFill rotWithShape="1">
          <a:blip r:embed="rId2">
            <a:alphaModFix/>
          </a:blip>
          <a:srcRect/>
          <a:stretch/>
        </p:blipFill>
        <p:spPr>
          <a:xfrm>
            <a:off x="11044052" y="8268"/>
            <a:ext cx="1051261" cy="465287"/>
          </a:xfrm>
          <a:prstGeom prst="rect">
            <a:avLst/>
          </a:prstGeom>
          <a:noFill/>
          <a:ln>
            <a:noFill/>
          </a:ln>
        </p:spPr>
      </p:pic>
      <p:sp>
        <p:nvSpPr>
          <p:cNvPr id="19" name="Rectangle 18">
            <a:extLst>
              <a:ext uri="{FF2B5EF4-FFF2-40B4-BE49-F238E27FC236}">
                <a16:creationId xmlns:a16="http://schemas.microsoft.com/office/drawing/2014/main" id="{A0702E37-2E7E-7262-5E76-F69A817105B3}"/>
              </a:ext>
            </a:extLst>
          </p:cNvPr>
          <p:cNvSpPr/>
          <p:nvPr/>
        </p:nvSpPr>
        <p:spPr>
          <a:xfrm>
            <a:off x="0" y="8268"/>
            <a:ext cx="12192000" cy="6825920"/>
          </a:xfrm>
          <a:prstGeom prst="rect">
            <a:avLst/>
          </a:prstGeom>
          <a:noFill/>
          <a:ln w="38100">
            <a:solidFill>
              <a:srgbClr val="0432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DCB2A3F0-9003-5886-09B4-27925BBE4000}"/>
              </a:ext>
            </a:extLst>
          </p:cNvPr>
          <p:cNvSpPr txBox="1"/>
          <p:nvPr/>
        </p:nvSpPr>
        <p:spPr>
          <a:xfrm>
            <a:off x="-96686" y="823474"/>
            <a:ext cx="12191999" cy="646331"/>
          </a:xfrm>
          <a:prstGeom prst="rect">
            <a:avLst/>
          </a:prstGeom>
          <a:noFill/>
        </p:spPr>
        <p:txBody>
          <a:bodyPr wrap="square">
            <a:spAutoFit/>
          </a:bodyPr>
          <a:lstStyle/>
          <a:p>
            <a:pPr algn="ctr"/>
            <a:r>
              <a:rPr lang="en-US" sz="3600" b="1" dirty="0">
                <a:effectLst/>
                <a:latin typeface="Calibri" panose="020F0502020204030204" pitchFamily="34" charset="0"/>
                <a:ea typeface="Calibri" panose="020F0502020204030204" pitchFamily="34" charset="0"/>
                <a:cs typeface="Calibri" panose="020F0502020204030204" pitchFamily="34" charset="0"/>
              </a:rPr>
              <a:t>Logical Operations</a:t>
            </a:r>
            <a:endParaRPr lang="en-GB" sz="3600" b="1" cap="none" spc="0" dirty="0">
              <a:ln w="0"/>
              <a:solidFill>
                <a:schemeClr val="tx1"/>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Calibri" panose="020F0502020204030204" pitchFamily="34" charset="0"/>
            </a:endParaRPr>
          </a:p>
        </p:txBody>
      </p:sp>
      <p:pic>
        <p:nvPicPr>
          <p:cNvPr id="5" name="Picture 4">
            <a:extLst>
              <a:ext uri="{FF2B5EF4-FFF2-40B4-BE49-F238E27FC236}">
                <a16:creationId xmlns:a16="http://schemas.microsoft.com/office/drawing/2014/main" id="{C162951A-F5B2-21C5-A28E-34723251C21C}"/>
              </a:ext>
            </a:extLst>
          </p:cNvPr>
          <p:cNvPicPr>
            <a:picLocks noChangeAspect="1"/>
          </p:cNvPicPr>
          <p:nvPr/>
        </p:nvPicPr>
        <p:blipFill>
          <a:blip r:embed="rId3"/>
          <a:stretch>
            <a:fillRect/>
          </a:stretch>
        </p:blipFill>
        <p:spPr>
          <a:xfrm>
            <a:off x="2744905" y="1804180"/>
            <a:ext cx="6702189" cy="3635890"/>
          </a:xfrm>
          <a:prstGeom prst="rect">
            <a:avLst/>
          </a:prstGeom>
        </p:spPr>
      </p:pic>
    </p:spTree>
    <p:extLst>
      <p:ext uri="{BB962C8B-B14F-4D97-AF65-F5344CB8AC3E}">
        <p14:creationId xmlns:p14="http://schemas.microsoft.com/office/powerpoint/2010/main" val="373629626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Table 8">
            <a:extLst>
              <a:ext uri="{FF2B5EF4-FFF2-40B4-BE49-F238E27FC236}">
                <a16:creationId xmlns:a16="http://schemas.microsoft.com/office/drawing/2014/main" id="{0B6EC464-4750-5FF3-7A5A-15612BA6E293}"/>
              </a:ext>
            </a:extLst>
          </p:cNvPr>
          <p:cNvGraphicFramePr>
            <a:graphicFrameLocks noGrp="1"/>
          </p:cNvGraphicFramePr>
          <p:nvPr/>
        </p:nvGraphicFramePr>
        <p:xfrm>
          <a:off x="0" y="23812"/>
          <a:ext cx="12192000" cy="465287"/>
        </p:xfrm>
        <a:graphic>
          <a:graphicData uri="http://schemas.openxmlformats.org/drawingml/2006/table">
            <a:tbl>
              <a:tblPr firstRow="1" bandRow="1">
                <a:tableStyleId>{5C22544A-7EE6-4342-B048-85BDC9FD1C3A}</a:tableStyleId>
              </a:tblPr>
              <a:tblGrid>
                <a:gridCol w="6092042">
                  <a:extLst>
                    <a:ext uri="{9D8B030D-6E8A-4147-A177-3AD203B41FA5}">
                      <a16:colId xmlns:a16="http://schemas.microsoft.com/office/drawing/2014/main" val="2179694530"/>
                    </a:ext>
                  </a:extLst>
                </a:gridCol>
                <a:gridCol w="6099958">
                  <a:extLst>
                    <a:ext uri="{9D8B030D-6E8A-4147-A177-3AD203B41FA5}">
                      <a16:colId xmlns:a16="http://schemas.microsoft.com/office/drawing/2014/main" val="2768207918"/>
                    </a:ext>
                  </a:extLst>
                </a:gridCol>
              </a:tblGrid>
              <a:tr h="465287">
                <a:tc>
                  <a:txBody>
                    <a:bodyPr/>
                    <a:lstStyle/>
                    <a:p>
                      <a:endParaRPr lang="en-US" dirty="0"/>
                    </a:p>
                  </a:txBody>
                  <a:tcPr>
                    <a:solidFill>
                      <a:srgbClr val="FF85FF"/>
                    </a:solidFill>
                  </a:tcPr>
                </a:tc>
                <a:tc>
                  <a:txBody>
                    <a:bodyPr/>
                    <a:lstStyle/>
                    <a:p>
                      <a:endParaRPr lang="en-US" dirty="0"/>
                    </a:p>
                  </a:txBody>
                  <a:tcPr>
                    <a:solidFill>
                      <a:srgbClr val="FFFF00"/>
                    </a:solidFill>
                  </a:tcPr>
                </a:tc>
                <a:extLst>
                  <a:ext uri="{0D108BD9-81ED-4DB2-BD59-A6C34878D82A}">
                    <a16:rowId xmlns:a16="http://schemas.microsoft.com/office/drawing/2014/main" val="1996944423"/>
                  </a:ext>
                </a:extLst>
              </a:tr>
            </a:tbl>
          </a:graphicData>
        </a:graphic>
      </p:graphicFrame>
      <p:graphicFrame>
        <p:nvGraphicFramePr>
          <p:cNvPr id="10" name="Table 9">
            <a:extLst>
              <a:ext uri="{FF2B5EF4-FFF2-40B4-BE49-F238E27FC236}">
                <a16:creationId xmlns:a16="http://schemas.microsoft.com/office/drawing/2014/main" id="{494BAFB7-FE1F-E1A9-7A6C-AB4145BD9BA1}"/>
              </a:ext>
            </a:extLst>
          </p:cNvPr>
          <p:cNvGraphicFramePr>
            <a:graphicFrameLocks noGrp="1"/>
          </p:cNvGraphicFramePr>
          <p:nvPr>
            <p:extLst>
              <p:ext uri="{D42A27DB-BD31-4B8C-83A1-F6EECF244321}">
                <p14:modId xmlns:p14="http://schemas.microsoft.com/office/powerpoint/2010/main" val="2442547751"/>
              </p:ext>
            </p:extLst>
          </p:nvPr>
        </p:nvGraphicFramePr>
        <p:xfrm>
          <a:off x="1" y="6478892"/>
          <a:ext cx="12191999" cy="370840"/>
        </p:xfrm>
        <a:graphic>
          <a:graphicData uri="http://schemas.openxmlformats.org/drawingml/2006/table">
            <a:tbl>
              <a:tblPr firstRow="1" bandRow="1">
                <a:tableStyleId>{5C22544A-7EE6-4342-B048-85BDC9FD1C3A}</a:tableStyleId>
              </a:tblPr>
              <a:tblGrid>
                <a:gridCol w="6080165">
                  <a:extLst>
                    <a:ext uri="{9D8B030D-6E8A-4147-A177-3AD203B41FA5}">
                      <a16:colId xmlns:a16="http://schemas.microsoft.com/office/drawing/2014/main" val="2179694530"/>
                    </a:ext>
                  </a:extLst>
                </a:gridCol>
                <a:gridCol w="6111834">
                  <a:extLst>
                    <a:ext uri="{9D8B030D-6E8A-4147-A177-3AD203B41FA5}">
                      <a16:colId xmlns:a16="http://schemas.microsoft.com/office/drawing/2014/main" val="2768207918"/>
                    </a:ext>
                  </a:extLst>
                </a:gridCol>
              </a:tblGrid>
              <a:tr h="370840">
                <a:tc>
                  <a:txBody>
                    <a:bodyPr/>
                    <a:lstStyle/>
                    <a:p>
                      <a:endParaRPr lang="en-US" dirty="0"/>
                    </a:p>
                  </a:txBody>
                  <a:tcPr>
                    <a:solidFill>
                      <a:srgbClr val="FFFF00"/>
                    </a:solidFill>
                  </a:tcPr>
                </a:tc>
                <a:tc>
                  <a:txBody>
                    <a:bodyPr/>
                    <a:lstStyle/>
                    <a:p>
                      <a:pPr algn="r"/>
                      <a:r>
                        <a:rPr lang="en-US" dirty="0">
                          <a:solidFill>
                            <a:schemeClr val="tx1"/>
                          </a:solidFill>
                        </a:rPr>
                        <a:t>60</a:t>
                      </a:r>
                    </a:p>
                  </a:txBody>
                  <a:tcPr>
                    <a:solidFill>
                      <a:srgbClr val="FF85FF"/>
                    </a:solidFill>
                  </a:tcPr>
                </a:tc>
                <a:extLst>
                  <a:ext uri="{0D108BD9-81ED-4DB2-BD59-A6C34878D82A}">
                    <a16:rowId xmlns:a16="http://schemas.microsoft.com/office/drawing/2014/main" val="1996944423"/>
                  </a:ext>
                </a:extLst>
              </a:tr>
            </a:tbl>
          </a:graphicData>
        </a:graphic>
      </p:graphicFrame>
      <p:pic>
        <p:nvPicPr>
          <p:cNvPr id="12" name="Google Shape;187;p25" descr="pngfind.com-kingpin-png-4152286 (1).png">
            <a:extLst>
              <a:ext uri="{FF2B5EF4-FFF2-40B4-BE49-F238E27FC236}">
                <a16:creationId xmlns:a16="http://schemas.microsoft.com/office/drawing/2014/main" id="{2DBF2481-A2DB-F96E-5749-B03DC4F71665}"/>
              </a:ext>
            </a:extLst>
          </p:cNvPr>
          <p:cNvPicPr preferRelativeResize="0"/>
          <p:nvPr/>
        </p:nvPicPr>
        <p:blipFill rotWithShape="1">
          <a:blip r:embed="rId2">
            <a:alphaModFix/>
          </a:blip>
          <a:srcRect/>
          <a:stretch/>
        </p:blipFill>
        <p:spPr>
          <a:xfrm>
            <a:off x="11044052" y="8268"/>
            <a:ext cx="1051261" cy="465287"/>
          </a:xfrm>
          <a:prstGeom prst="rect">
            <a:avLst/>
          </a:prstGeom>
          <a:noFill/>
          <a:ln>
            <a:noFill/>
          </a:ln>
        </p:spPr>
      </p:pic>
      <p:sp>
        <p:nvSpPr>
          <p:cNvPr id="14" name="Rectangle 13">
            <a:extLst>
              <a:ext uri="{FF2B5EF4-FFF2-40B4-BE49-F238E27FC236}">
                <a16:creationId xmlns:a16="http://schemas.microsoft.com/office/drawing/2014/main" id="{6EB9A5F7-B7D7-E008-8229-AD564931BCC6}"/>
              </a:ext>
            </a:extLst>
          </p:cNvPr>
          <p:cNvSpPr/>
          <p:nvPr/>
        </p:nvSpPr>
        <p:spPr>
          <a:xfrm>
            <a:off x="0" y="2967335"/>
            <a:ext cx="12191999" cy="646331"/>
          </a:xfrm>
          <a:prstGeom prst="rect">
            <a:avLst/>
          </a:prstGeom>
          <a:noFill/>
        </p:spPr>
        <p:txBody>
          <a:bodyPr wrap="square" lIns="91440" tIns="45720" rIns="91440" bIns="45720">
            <a:spAutoFit/>
          </a:bodyPr>
          <a:lstStyle/>
          <a:p>
            <a:pPr algn="ctr"/>
            <a:r>
              <a:rPr lang="en-US" sz="3600" b="1" dirty="0">
                <a:effectLst/>
                <a:latin typeface="Calibri" panose="020F0502020204030204" pitchFamily="34" charset="0"/>
                <a:ea typeface="Calibri" panose="020F0502020204030204" pitchFamily="34" charset="0"/>
                <a:cs typeface="Calibri" panose="020F0502020204030204" pitchFamily="34" charset="0"/>
              </a:rPr>
              <a:t>Indexing, Slicing and Iterating</a:t>
            </a:r>
            <a:endParaRPr lang="en-GB" sz="6600" b="1" cap="none" spc="0" dirty="0">
              <a:ln w="0"/>
              <a:solidFill>
                <a:schemeClr val="tx1"/>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Calibri" panose="020F0502020204030204" pitchFamily="34" charset="0"/>
            </a:endParaRPr>
          </a:p>
        </p:txBody>
      </p:sp>
      <p:sp>
        <p:nvSpPr>
          <p:cNvPr id="19" name="Rectangle 18">
            <a:extLst>
              <a:ext uri="{FF2B5EF4-FFF2-40B4-BE49-F238E27FC236}">
                <a16:creationId xmlns:a16="http://schemas.microsoft.com/office/drawing/2014/main" id="{A0702E37-2E7E-7262-5E76-F69A817105B3}"/>
              </a:ext>
            </a:extLst>
          </p:cNvPr>
          <p:cNvSpPr/>
          <p:nvPr/>
        </p:nvSpPr>
        <p:spPr>
          <a:xfrm>
            <a:off x="0" y="8268"/>
            <a:ext cx="12192000" cy="6825920"/>
          </a:xfrm>
          <a:prstGeom prst="rect">
            <a:avLst/>
          </a:prstGeom>
          <a:noFill/>
          <a:ln w="38100">
            <a:solidFill>
              <a:srgbClr val="0432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8239845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Table 8">
            <a:extLst>
              <a:ext uri="{FF2B5EF4-FFF2-40B4-BE49-F238E27FC236}">
                <a16:creationId xmlns:a16="http://schemas.microsoft.com/office/drawing/2014/main" id="{0B6EC464-4750-5FF3-7A5A-15612BA6E293}"/>
              </a:ext>
            </a:extLst>
          </p:cNvPr>
          <p:cNvGraphicFramePr>
            <a:graphicFrameLocks noGrp="1"/>
          </p:cNvGraphicFramePr>
          <p:nvPr/>
        </p:nvGraphicFramePr>
        <p:xfrm>
          <a:off x="0" y="23812"/>
          <a:ext cx="12192000" cy="465287"/>
        </p:xfrm>
        <a:graphic>
          <a:graphicData uri="http://schemas.openxmlformats.org/drawingml/2006/table">
            <a:tbl>
              <a:tblPr firstRow="1" bandRow="1">
                <a:tableStyleId>{5C22544A-7EE6-4342-B048-85BDC9FD1C3A}</a:tableStyleId>
              </a:tblPr>
              <a:tblGrid>
                <a:gridCol w="6092042">
                  <a:extLst>
                    <a:ext uri="{9D8B030D-6E8A-4147-A177-3AD203B41FA5}">
                      <a16:colId xmlns:a16="http://schemas.microsoft.com/office/drawing/2014/main" val="2179694530"/>
                    </a:ext>
                  </a:extLst>
                </a:gridCol>
                <a:gridCol w="6099958">
                  <a:extLst>
                    <a:ext uri="{9D8B030D-6E8A-4147-A177-3AD203B41FA5}">
                      <a16:colId xmlns:a16="http://schemas.microsoft.com/office/drawing/2014/main" val="2768207918"/>
                    </a:ext>
                  </a:extLst>
                </a:gridCol>
              </a:tblGrid>
              <a:tr h="465287">
                <a:tc>
                  <a:txBody>
                    <a:bodyPr/>
                    <a:lstStyle/>
                    <a:p>
                      <a:endParaRPr lang="en-US" dirty="0"/>
                    </a:p>
                  </a:txBody>
                  <a:tcPr>
                    <a:solidFill>
                      <a:srgbClr val="FF85FF"/>
                    </a:solidFill>
                  </a:tcPr>
                </a:tc>
                <a:tc>
                  <a:txBody>
                    <a:bodyPr/>
                    <a:lstStyle/>
                    <a:p>
                      <a:endParaRPr lang="en-US" dirty="0"/>
                    </a:p>
                  </a:txBody>
                  <a:tcPr>
                    <a:solidFill>
                      <a:srgbClr val="FFFF00"/>
                    </a:solidFill>
                  </a:tcPr>
                </a:tc>
                <a:extLst>
                  <a:ext uri="{0D108BD9-81ED-4DB2-BD59-A6C34878D82A}">
                    <a16:rowId xmlns:a16="http://schemas.microsoft.com/office/drawing/2014/main" val="1996944423"/>
                  </a:ext>
                </a:extLst>
              </a:tr>
            </a:tbl>
          </a:graphicData>
        </a:graphic>
      </p:graphicFrame>
      <p:graphicFrame>
        <p:nvGraphicFramePr>
          <p:cNvPr id="10" name="Table 9">
            <a:extLst>
              <a:ext uri="{FF2B5EF4-FFF2-40B4-BE49-F238E27FC236}">
                <a16:creationId xmlns:a16="http://schemas.microsoft.com/office/drawing/2014/main" id="{494BAFB7-FE1F-E1A9-7A6C-AB4145BD9BA1}"/>
              </a:ext>
            </a:extLst>
          </p:cNvPr>
          <p:cNvGraphicFramePr>
            <a:graphicFrameLocks noGrp="1"/>
          </p:cNvGraphicFramePr>
          <p:nvPr>
            <p:extLst>
              <p:ext uri="{D42A27DB-BD31-4B8C-83A1-F6EECF244321}">
                <p14:modId xmlns:p14="http://schemas.microsoft.com/office/powerpoint/2010/main" val="2374198639"/>
              </p:ext>
            </p:extLst>
          </p:nvPr>
        </p:nvGraphicFramePr>
        <p:xfrm>
          <a:off x="1" y="6478892"/>
          <a:ext cx="12191999" cy="370840"/>
        </p:xfrm>
        <a:graphic>
          <a:graphicData uri="http://schemas.openxmlformats.org/drawingml/2006/table">
            <a:tbl>
              <a:tblPr firstRow="1" bandRow="1">
                <a:tableStyleId>{5C22544A-7EE6-4342-B048-85BDC9FD1C3A}</a:tableStyleId>
              </a:tblPr>
              <a:tblGrid>
                <a:gridCol w="6080165">
                  <a:extLst>
                    <a:ext uri="{9D8B030D-6E8A-4147-A177-3AD203B41FA5}">
                      <a16:colId xmlns:a16="http://schemas.microsoft.com/office/drawing/2014/main" val="2179694530"/>
                    </a:ext>
                  </a:extLst>
                </a:gridCol>
                <a:gridCol w="6111834">
                  <a:extLst>
                    <a:ext uri="{9D8B030D-6E8A-4147-A177-3AD203B41FA5}">
                      <a16:colId xmlns:a16="http://schemas.microsoft.com/office/drawing/2014/main" val="2768207918"/>
                    </a:ext>
                  </a:extLst>
                </a:gridCol>
              </a:tblGrid>
              <a:tr h="370840">
                <a:tc>
                  <a:txBody>
                    <a:bodyPr/>
                    <a:lstStyle/>
                    <a:p>
                      <a:endParaRPr lang="en-US" dirty="0"/>
                    </a:p>
                  </a:txBody>
                  <a:tcPr>
                    <a:solidFill>
                      <a:srgbClr val="FFFF00"/>
                    </a:solidFill>
                  </a:tcPr>
                </a:tc>
                <a:tc>
                  <a:txBody>
                    <a:bodyPr/>
                    <a:lstStyle/>
                    <a:p>
                      <a:pPr algn="r"/>
                      <a:r>
                        <a:rPr lang="en-US" dirty="0">
                          <a:solidFill>
                            <a:schemeClr val="tx1"/>
                          </a:solidFill>
                        </a:rPr>
                        <a:t>61</a:t>
                      </a:r>
                    </a:p>
                  </a:txBody>
                  <a:tcPr>
                    <a:solidFill>
                      <a:srgbClr val="FF85FF"/>
                    </a:solidFill>
                  </a:tcPr>
                </a:tc>
                <a:extLst>
                  <a:ext uri="{0D108BD9-81ED-4DB2-BD59-A6C34878D82A}">
                    <a16:rowId xmlns:a16="http://schemas.microsoft.com/office/drawing/2014/main" val="1996944423"/>
                  </a:ext>
                </a:extLst>
              </a:tr>
            </a:tbl>
          </a:graphicData>
        </a:graphic>
      </p:graphicFrame>
      <p:pic>
        <p:nvPicPr>
          <p:cNvPr id="12" name="Google Shape;187;p25" descr="pngfind.com-kingpin-png-4152286 (1).png">
            <a:extLst>
              <a:ext uri="{FF2B5EF4-FFF2-40B4-BE49-F238E27FC236}">
                <a16:creationId xmlns:a16="http://schemas.microsoft.com/office/drawing/2014/main" id="{2DBF2481-A2DB-F96E-5749-B03DC4F71665}"/>
              </a:ext>
            </a:extLst>
          </p:cNvPr>
          <p:cNvPicPr preferRelativeResize="0"/>
          <p:nvPr/>
        </p:nvPicPr>
        <p:blipFill rotWithShape="1">
          <a:blip r:embed="rId2">
            <a:alphaModFix/>
          </a:blip>
          <a:srcRect/>
          <a:stretch/>
        </p:blipFill>
        <p:spPr>
          <a:xfrm>
            <a:off x="11044052" y="8268"/>
            <a:ext cx="1051261" cy="465287"/>
          </a:xfrm>
          <a:prstGeom prst="rect">
            <a:avLst/>
          </a:prstGeom>
          <a:noFill/>
          <a:ln>
            <a:noFill/>
          </a:ln>
        </p:spPr>
      </p:pic>
      <p:sp>
        <p:nvSpPr>
          <p:cNvPr id="19" name="Rectangle 18">
            <a:extLst>
              <a:ext uri="{FF2B5EF4-FFF2-40B4-BE49-F238E27FC236}">
                <a16:creationId xmlns:a16="http://schemas.microsoft.com/office/drawing/2014/main" id="{A0702E37-2E7E-7262-5E76-F69A817105B3}"/>
              </a:ext>
            </a:extLst>
          </p:cNvPr>
          <p:cNvSpPr/>
          <p:nvPr/>
        </p:nvSpPr>
        <p:spPr>
          <a:xfrm>
            <a:off x="0" y="8268"/>
            <a:ext cx="12192000" cy="6825920"/>
          </a:xfrm>
          <a:prstGeom prst="rect">
            <a:avLst/>
          </a:prstGeom>
          <a:noFill/>
          <a:ln w="38100">
            <a:solidFill>
              <a:srgbClr val="0432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DCB2A3F0-9003-5886-09B4-27925BBE4000}"/>
              </a:ext>
            </a:extLst>
          </p:cNvPr>
          <p:cNvSpPr txBox="1"/>
          <p:nvPr/>
        </p:nvSpPr>
        <p:spPr>
          <a:xfrm>
            <a:off x="0" y="873851"/>
            <a:ext cx="12191999" cy="646331"/>
          </a:xfrm>
          <a:prstGeom prst="rect">
            <a:avLst/>
          </a:prstGeom>
          <a:noFill/>
        </p:spPr>
        <p:txBody>
          <a:bodyPr wrap="square">
            <a:spAutoFit/>
          </a:bodyPr>
          <a:lstStyle/>
          <a:p>
            <a:pPr algn="ctr"/>
            <a:r>
              <a:rPr lang="en-US" sz="3600" b="1" dirty="0">
                <a:effectLst/>
                <a:latin typeface="Calibri" panose="020F0502020204030204" pitchFamily="34" charset="0"/>
                <a:ea typeface="Calibri" panose="020F0502020204030204" pitchFamily="34" charset="0"/>
                <a:cs typeface="Calibri" panose="020F0502020204030204" pitchFamily="34" charset="0"/>
              </a:rPr>
              <a:t>Array Indexing</a:t>
            </a:r>
            <a:endParaRPr lang="en-GB" sz="6600" b="1" cap="none" spc="0" dirty="0">
              <a:ln w="0"/>
              <a:solidFill>
                <a:schemeClr val="tx1"/>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Calibri" panose="020F0502020204030204" pitchFamily="34" charset="0"/>
            </a:endParaRPr>
          </a:p>
        </p:txBody>
      </p:sp>
      <p:sp>
        <p:nvSpPr>
          <p:cNvPr id="11" name="TextBox 10">
            <a:extLst>
              <a:ext uri="{FF2B5EF4-FFF2-40B4-BE49-F238E27FC236}">
                <a16:creationId xmlns:a16="http://schemas.microsoft.com/office/drawing/2014/main" id="{C11BBC61-B926-611F-8358-9DB20CDFEA3B}"/>
              </a:ext>
            </a:extLst>
          </p:cNvPr>
          <p:cNvSpPr txBox="1"/>
          <p:nvPr/>
        </p:nvSpPr>
        <p:spPr>
          <a:xfrm>
            <a:off x="526774" y="1904934"/>
            <a:ext cx="11022496" cy="1295868"/>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NumPy </a:t>
            </a:r>
            <a:r>
              <a:rPr lang="en-US" b="1" dirty="0">
                <a:latin typeface="Calibri" panose="020F0502020204030204" pitchFamily="34" charset="0"/>
                <a:ea typeface="Calibri" panose="020F0502020204030204" pitchFamily="34" charset="0"/>
                <a:cs typeface="Calibri" panose="020F0502020204030204" pitchFamily="34" charset="0"/>
              </a:rPr>
              <a:t>indexing</a:t>
            </a:r>
            <a:r>
              <a:rPr lang="en-US" dirty="0">
                <a:latin typeface="Calibri" panose="020F0502020204030204" pitchFamily="34" charset="0"/>
                <a:ea typeface="Calibri" panose="020F0502020204030204" pitchFamily="34" charset="0"/>
                <a:cs typeface="Calibri" panose="020F0502020204030204" pitchFamily="34" charset="0"/>
              </a:rPr>
              <a:t> is used for accessing an element from an array by giving it an index value that starts from 0.</a:t>
            </a:r>
          </a:p>
          <a:p>
            <a:pPr marL="285750" indent="-285750">
              <a:lnSpc>
                <a:spcPct val="150000"/>
              </a:lnSpc>
              <a:buFont typeface="Arial" panose="020B0604020202020204" pitchFamily="34" charset="0"/>
              <a:buChar char="•"/>
            </a:pPr>
            <a:endParaRPr lang="en-US" dirty="0">
              <a:latin typeface="Calibri" panose="020F0502020204030204" pitchFamily="34" charset="0"/>
              <a:ea typeface="Calibri" panose="020F0502020204030204" pitchFamily="34" charset="0"/>
              <a:cs typeface="Calibri" panose="020F0502020204030204" pitchFamily="34" charset="0"/>
            </a:endParaRPr>
          </a:p>
          <a:p>
            <a:pPr marL="285750" indent="-285750">
              <a:lnSpc>
                <a:spcPct val="150000"/>
              </a:lnSpc>
              <a:buFont typeface="Arial" panose="020B0604020202020204" pitchFamily="34" charset="0"/>
              <a:buChar char="•"/>
            </a:pPr>
            <a:endParaRPr lang="en-IN" dirty="0">
              <a:latin typeface="Calibri" panose="020F0502020204030204" pitchFamily="34" charset="0"/>
              <a:ea typeface="Calibri" panose="020F0502020204030204" pitchFamily="34" charset="0"/>
              <a:cs typeface="Calibri" panose="020F0502020204030204" pitchFamily="34" charset="0"/>
            </a:endParaRPr>
          </a:p>
        </p:txBody>
      </p:sp>
      <p:pic>
        <p:nvPicPr>
          <p:cNvPr id="1031" name="Picture 7" descr="Data Science Practical No. 3.1 Write a ...">
            <a:extLst>
              <a:ext uri="{FF2B5EF4-FFF2-40B4-BE49-F238E27FC236}">
                <a16:creationId xmlns:a16="http://schemas.microsoft.com/office/drawing/2014/main" id="{0DA6996F-F43A-A627-8197-610525CF14E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14082" y="2831060"/>
            <a:ext cx="5230526" cy="2929094"/>
          </a:xfrm>
          <a:prstGeom prst="rect">
            <a:avLst/>
          </a:prstGeom>
          <a:noFill/>
          <a:ln w="6350">
            <a:solidFill>
              <a:schemeClr val="tx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73088169"/>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Table 8">
            <a:extLst>
              <a:ext uri="{FF2B5EF4-FFF2-40B4-BE49-F238E27FC236}">
                <a16:creationId xmlns:a16="http://schemas.microsoft.com/office/drawing/2014/main" id="{0B6EC464-4750-5FF3-7A5A-15612BA6E293}"/>
              </a:ext>
            </a:extLst>
          </p:cNvPr>
          <p:cNvGraphicFramePr>
            <a:graphicFrameLocks noGrp="1"/>
          </p:cNvGraphicFramePr>
          <p:nvPr/>
        </p:nvGraphicFramePr>
        <p:xfrm>
          <a:off x="0" y="23812"/>
          <a:ext cx="12192000" cy="465287"/>
        </p:xfrm>
        <a:graphic>
          <a:graphicData uri="http://schemas.openxmlformats.org/drawingml/2006/table">
            <a:tbl>
              <a:tblPr firstRow="1" bandRow="1">
                <a:tableStyleId>{5C22544A-7EE6-4342-B048-85BDC9FD1C3A}</a:tableStyleId>
              </a:tblPr>
              <a:tblGrid>
                <a:gridCol w="6092042">
                  <a:extLst>
                    <a:ext uri="{9D8B030D-6E8A-4147-A177-3AD203B41FA5}">
                      <a16:colId xmlns:a16="http://schemas.microsoft.com/office/drawing/2014/main" val="2179694530"/>
                    </a:ext>
                  </a:extLst>
                </a:gridCol>
                <a:gridCol w="6099958">
                  <a:extLst>
                    <a:ext uri="{9D8B030D-6E8A-4147-A177-3AD203B41FA5}">
                      <a16:colId xmlns:a16="http://schemas.microsoft.com/office/drawing/2014/main" val="2768207918"/>
                    </a:ext>
                  </a:extLst>
                </a:gridCol>
              </a:tblGrid>
              <a:tr h="465287">
                <a:tc>
                  <a:txBody>
                    <a:bodyPr/>
                    <a:lstStyle/>
                    <a:p>
                      <a:endParaRPr lang="en-US" dirty="0"/>
                    </a:p>
                  </a:txBody>
                  <a:tcPr>
                    <a:solidFill>
                      <a:srgbClr val="FF85FF"/>
                    </a:solidFill>
                  </a:tcPr>
                </a:tc>
                <a:tc>
                  <a:txBody>
                    <a:bodyPr/>
                    <a:lstStyle/>
                    <a:p>
                      <a:endParaRPr lang="en-US" dirty="0"/>
                    </a:p>
                  </a:txBody>
                  <a:tcPr>
                    <a:solidFill>
                      <a:srgbClr val="FFFF00"/>
                    </a:solidFill>
                  </a:tcPr>
                </a:tc>
                <a:extLst>
                  <a:ext uri="{0D108BD9-81ED-4DB2-BD59-A6C34878D82A}">
                    <a16:rowId xmlns:a16="http://schemas.microsoft.com/office/drawing/2014/main" val="1996944423"/>
                  </a:ext>
                </a:extLst>
              </a:tr>
            </a:tbl>
          </a:graphicData>
        </a:graphic>
      </p:graphicFrame>
      <p:graphicFrame>
        <p:nvGraphicFramePr>
          <p:cNvPr id="10" name="Table 9">
            <a:extLst>
              <a:ext uri="{FF2B5EF4-FFF2-40B4-BE49-F238E27FC236}">
                <a16:creationId xmlns:a16="http://schemas.microsoft.com/office/drawing/2014/main" id="{494BAFB7-FE1F-E1A9-7A6C-AB4145BD9BA1}"/>
              </a:ext>
            </a:extLst>
          </p:cNvPr>
          <p:cNvGraphicFramePr>
            <a:graphicFrameLocks noGrp="1"/>
          </p:cNvGraphicFramePr>
          <p:nvPr>
            <p:extLst>
              <p:ext uri="{D42A27DB-BD31-4B8C-83A1-F6EECF244321}">
                <p14:modId xmlns:p14="http://schemas.microsoft.com/office/powerpoint/2010/main" val="3969951859"/>
              </p:ext>
            </p:extLst>
          </p:nvPr>
        </p:nvGraphicFramePr>
        <p:xfrm>
          <a:off x="1" y="6478892"/>
          <a:ext cx="12191999" cy="370840"/>
        </p:xfrm>
        <a:graphic>
          <a:graphicData uri="http://schemas.openxmlformats.org/drawingml/2006/table">
            <a:tbl>
              <a:tblPr firstRow="1" bandRow="1">
                <a:tableStyleId>{5C22544A-7EE6-4342-B048-85BDC9FD1C3A}</a:tableStyleId>
              </a:tblPr>
              <a:tblGrid>
                <a:gridCol w="6080165">
                  <a:extLst>
                    <a:ext uri="{9D8B030D-6E8A-4147-A177-3AD203B41FA5}">
                      <a16:colId xmlns:a16="http://schemas.microsoft.com/office/drawing/2014/main" val="2179694530"/>
                    </a:ext>
                  </a:extLst>
                </a:gridCol>
                <a:gridCol w="6111834">
                  <a:extLst>
                    <a:ext uri="{9D8B030D-6E8A-4147-A177-3AD203B41FA5}">
                      <a16:colId xmlns:a16="http://schemas.microsoft.com/office/drawing/2014/main" val="2768207918"/>
                    </a:ext>
                  </a:extLst>
                </a:gridCol>
              </a:tblGrid>
              <a:tr h="370840">
                <a:tc>
                  <a:txBody>
                    <a:bodyPr/>
                    <a:lstStyle/>
                    <a:p>
                      <a:endParaRPr lang="en-US" dirty="0"/>
                    </a:p>
                  </a:txBody>
                  <a:tcPr>
                    <a:solidFill>
                      <a:srgbClr val="FFFF00"/>
                    </a:solidFill>
                  </a:tcPr>
                </a:tc>
                <a:tc>
                  <a:txBody>
                    <a:bodyPr/>
                    <a:lstStyle/>
                    <a:p>
                      <a:pPr algn="r"/>
                      <a:r>
                        <a:rPr lang="en-US" dirty="0">
                          <a:solidFill>
                            <a:schemeClr val="tx1"/>
                          </a:solidFill>
                        </a:rPr>
                        <a:t>62</a:t>
                      </a:r>
                    </a:p>
                  </a:txBody>
                  <a:tcPr>
                    <a:solidFill>
                      <a:srgbClr val="FF85FF"/>
                    </a:solidFill>
                  </a:tcPr>
                </a:tc>
                <a:extLst>
                  <a:ext uri="{0D108BD9-81ED-4DB2-BD59-A6C34878D82A}">
                    <a16:rowId xmlns:a16="http://schemas.microsoft.com/office/drawing/2014/main" val="1996944423"/>
                  </a:ext>
                </a:extLst>
              </a:tr>
            </a:tbl>
          </a:graphicData>
        </a:graphic>
      </p:graphicFrame>
      <p:pic>
        <p:nvPicPr>
          <p:cNvPr id="12" name="Google Shape;187;p25" descr="pngfind.com-kingpin-png-4152286 (1).png">
            <a:extLst>
              <a:ext uri="{FF2B5EF4-FFF2-40B4-BE49-F238E27FC236}">
                <a16:creationId xmlns:a16="http://schemas.microsoft.com/office/drawing/2014/main" id="{2DBF2481-A2DB-F96E-5749-B03DC4F71665}"/>
              </a:ext>
            </a:extLst>
          </p:cNvPr>
          <p:cNvPicPr preferRelativeResize="0"/>
          <p:nvPr/>
        </p:nvPicPr>
        <p:blipFill rotWithShape="1">
          <a:blip r:embed="rId2">
            <a:alphaModFix/>
          </a:blip>
          <a:srcRect/>
          <a:stretch/>
        </p:blipFill>
        <p:spPr>
          <a:xfrm>
            <a:off x="11044052" y="8268"/>
            <a:ext cx="1051261" cy="465287"/>
          </a:xfrm>
          <a:prstGeom prst="rect">
            <a:avLst/>
          </a:prstGeom>
          <a:noFill/>
          <a:ln>
            <a:noFill/>
          </a:ln>
        </p:spPr>
      </p:pic>
      <p:sp>
        <p:nvSpPr>
          <p:cNvPr id="19" name="Rectangle 18">
            <a:extLst>
              <a:ext uri="{FF2B5EF4-FFF2-40B4-BE49-F238E27FC236}">
                <a16:creationId xmlns:a16="http://schemas.microsoft.com/office/drawing/2014/main" id="{A0702E37-2E7E-7262-5E76-F69A817105B3}"/>
              </a:ext>
            </a:extLst>
          </p:cNvPr>
          <p:cNvSpPr/>
          <p:nvPr/>
        </p:nvSpPr>
        <p:spPr>
          <a:xfrm>
            <a:off x="0" y="8268"/>
            <a:ext cx="12192000" cy="6825920"/>
          </a:xfrm>
          <a:prstGeom prst="rect">
            <a:avLst/>
          </a:prstGeom>
          <a:noFill/>
          <a:ln w="38100">
            <a:solidFill>
              <a:srgbClr val="0432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DCB2A3F0-9003-5886-09B4-27925BBE4000}"/>
              </a:ext>
            </a:extLst>
          </p:cNvPr>
          <p:cNvSpPr txBox="1"/>
          <p:nvPr/>
        </p:nvSpPr>
        <p:spPr>
          <a:xfrm>
            <a:off x="0" y="873851"/>
            <a:ext cx="12191999" cy="646331"/>
          </a:xfrm>
          <a:prstGeom prst="rect">
            <a:avLst/>
          </a:prstGeom>
          <a:noFill/>
        </p:spPr>
        <p:txBody>
          <a:bodyPr wrap="square">
            <a:spAutoFit/>
          </a:bodyPr>
          <a:lstStyle/>
          <a:p>
            <a:pPr algn="ctr"/>
            <a:r>
              <a:rPr lang="en-US" sz="3600" b="1" dirty="0">
                <a:latin typeface="Calibri" panose="020F0502020204030204" pitchFamily="34" charset="0"/>
                <a:ea typeface="Calibri" panose="020F0502020204030204" pitchFamily="34" charset="0"/>
                <a:cs typeface="Calibri" panose="020F0502020204030204" pitchFamily="34" charset="0"/>
              </a:rPr>
              <a:t>One Dimensional Array Indexing</a:t>
            </a:r>
          </a:p>
        </p:txBody>
      </p:sp>
      <p:pic>
        <p:nvPicPr>
          <p:cNvPr id="1029" name="Picture 5" descr="NumPy Array Negative Indexing">
            <a:extLst>
              <a:ext uri="{FF2B5EF4-FFF2-40B4-BE49-F238E27FC236}">
                <a16:creationId xmlns:a16="http://schemas.microsoft.com/office/drawing/2014/main" id="{B26E33FB-5228-CE48-457C-F6EBA75A7049}"/>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4726" t="16978" r="11739" b="20869"/>
          <a:stretch/>
        </p:blipFill>
        <p:spPr bwMode="auto">
          <a:xfrm>
            <a:off x="3432313" y="1624349"/>
            <a:ext cx="5327373" cy="1255503"/>
          </a:xfrm>
          <a:prstGeom prst="rect">
            <a:avLst/>
          </a:prstGeom>
          <a:noFill/>
          <a:ln w="6350">
            <a:solidFill>
              <a:schemeClr val="tx1"/>
            </a:solidFill>
          </a:ln>
          <a:extLst>
            <a:ext uri="{909E8E84-426E-40DD-AFC4-6F175D3DCCD1}">
              <a14:hiddenFill xmlns:a14="http://schemas.microsoft.com/office/drawing/2010/main">
                <a:solidFill>
                  <a:srgbClr val="FFFFFF"/>
                </a:solidFill>
              </a14:hiddenFill>
            </a:ext>
          </a:extLst>
        </p:spPr>
      </p:pic>
      <p:pic>
        <p:nvPicPr>
          <p:cNvPr id="4" name="Picture 3">
            <a:extLst>
              <a:ext uri="{FF2B5EF4-FFF2-40B4-BE49-F238E27FC236}">
                <a16:creationId xmlns:a16="http://schemas.microsoft.com/office/drawing/2014/main" id="{20402F3F-B2D1-141E-9419-4B5D26E06C1D}"/>
              </a:ext>
            </a:extLst>
          </p:cNvPr>
          <p:cNvPicPr>
            <a:picLocks noChangeAspect="1"/>
          </p:cNvPicPr>
          <p:nvPr/>
        </p:nvPicPr>
        <p:blipFill>
          <a:blip r:embed="rId4"/>
          <a:stretch>
            <a:fillRect/>
          </a:stretch>
        </p:blipFill>
        <p:spPr>
          <a:xfrm>
            <a:off x="700523" y="3283184"/>
            <a:ext cx="5082597" cy="2911049"/>
          </a:xfrm>
          <a:prstGeom prst="rect">
            <a:avLst/>
          </a:prstGeom>
        </p:spPr>
      </p:pic>
      <p:pic>
        <p:nvPicPr>
          <p:cNvPr id="6" name="Picture 5">
            <a:extLst>
              <a:ext uri="{FF2B5EF4-FFF2-40B4-BE49-F238E27FC236}">
                <a16:creationId xmlns:a16="http://schemas.microsoft.com/office/drawing/2014/main" id="{0E71DA70-12DF-F951-5727-ED4C01EAB6BA}"/>
              </a:ext>
            </a:extLst>
          </p:cNvPr>
          <p:cNvPicPr>
            <a:picLocks noChangeAspect="1"/>
          </p:cNvPicPr>
          <p:nvPr/>
        </p:nvPicPr>
        <p:blipFill>
          <a:blip r:embed="rId5"/>
          <a:stretch>
            <a:fillRect/>
          </a:stretch>
        </p:blipFill>
        <p:spPr>
          <a:xfrm>
            <a:off x="6442194" y="3283184"/>
            <a:ext cx="4272189" cy="2911049"/>
          </a:xfrm>
          <a:prstGeom prst="rect">
            <a:avLst/>
          </a:prstGeom>
        </p:spPr>
      </p:pic>
    </p:spTree>
    <p:extLst>
      <p:ext uri="{BB962C8B-B14F-4D97-AF65-F5344CB8AC3E}">
        <p14:creationId xmlns:p14="http://schemas.microsoft.com/office/powerpoint/2010/main" val="3954561234"/>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Table 8">
            <a:extLst>
              <a:ext uri="{FF2B5EF4-FFF2-40B4-BE49-F238E27FC236}">
                <a16:creationId xmlns:a16="http://schemas.microsoft.com/office/drawing/2014/main" id="{0B6EC464-4750-5FF3-7A5A-15612BA6E293}"/>
              </a:ext>
            </a:extLst>
          </p:cNvPr>
          <p:cNvGraphicFramePr>
            <a:graphicFrameLocks noGrp="1"/>
          </p:cNvGraphicFramePr>
          <p:nvPr/>
        </p:nvGraphicFramePr>
        <p:xfrm>
          <a:off x="0" y="23812"/>
          <a:ext cx="12192000" cy="465287"/>
        </p:xfrm>
        <a:graphic>
          <a:graphicData uri="http://schemas.openxmlformats.org/drawingml/2006/table">
            <a:tbl>
              <a:tblPr firstRow="1" bandRow="1">
                <a:tableStyleId>{5C22544A-7EE6-4342-B048-85BDC9FD1C3A}</a:tableStyleId>
              </a:tblPr>
              <a:tblGrid>
                <a:gridCol w="6092042">
                  <a:extLst>
                    <a:ext uri="{9D8B030D-6E8A-4147-A177-3AD203B41FA5}">
                      <a16:colId xmlns:a16="http://schemas.microsoft.com/office/drawing/2014/main" val="2179694530"/>
                    </a:ext>
                  </a:extLst>
                </a:gridCol>
                <a:gridCol w="6099958">
                  <a:extLst>
                    <a:ext uri="{9D8B030D-6E8A-4147-A177-3AD203B41FA5}">
                      <a16:colId xmlns:a16="http://schemas.microsoft.com/office/drawing/2014/main" val="2768207918"/>
                    </a:ext>
                  </a:extLst>
                </a:gridCol>
              </a:tblGrid>
              <a:tr h="465287">
                <a:tc>
                  <a:txBody>
                    <a:bodyPr/>
                    <a:lstStyle/>
                    <a:p>
                      <a:endParaRPr lang="en-US" dirty="0"/>
                    </a:p>
                  </a:txBody>
                  <a:tcPr>
                    <a:solidFill>
                      <a:srgbClr val="FF85FF"/>
                    </a:solidFill>
                  </a:tcPr>
                </a:tc>
                <a:tc>
                  <a:txBody>
                    <a:bodyPr/>
                    <a:lstStyle/>
                    <a:p>
                      <a:endParaRPr lang="en-US" dirty="0"/>
                    </a:p>
                  </a:txBody>
                  <a:tcPr>
                    <a:solidFill>
                      <a:srgbClr val="FFFF00"/>
                    </a:solidFill>
                  </a:tcPr>
                </a:tc>
                <a:extLst>
                  <a:ext uri="{0D108BD9-81ED-4DB2-BD59-A6C34878D82A}">
                    <a16:rowId xmlns:a16="http://schemas.microsoft.com/office/drawing/2014/main" val="1996944423"/>
                  </a:ext>
                </a:extLst>
              </a:tr>
            </a:tbl>
          </a:graphicData>
        </a:graphic>
      </p:graphicFrame>
      <p:graphicFrame>
        <p:nvGraphicFramePr>
          <p:cNvPr id="10" name="Table 9">
            <a:extLst>
              <a:ext uri="{FF2B5EF4-FFF2-40B4-BE49-F238E27FC236}">
                <a16:creationId xmlns:a16="http://schemas.microsoft.com/office/drawing/2014/main" id="{494BAFB7-FE1F-E1A9-7A6C-AB4145BD9BA1}"/>
              </a:ext>
            </a:extLst>
          </p:cNvPr>
          <p:cNvGraphicFramePr>
            <a:graphicFrameLocks noGrp="1"/>
          </p:cNvGraphicFramePr>
          <p:nvPr>
            <p:extLst>
              <p:ext uri="{D42A27DB-BD31-4B8C-83A1-F6EECF244321}">
                <p14:modId xmlns:p14="http://schemas.microsoft.com/office/powerpoint/2010/main" val="594377996"/>
              </p:ext>
            </p:extLst>
          </p:nvPr>
        </p:nvGraphicFramePr>
        <p:xfrm>
          <a:off x="1" y="6478892"/>
          <a:ext cx="12191999" cy="370840"/>
        </p:xfrm>
        <a:graphic>
          <a:graphicData uri="http://schemas.openxmlformats.org/drawingml/2006/table">
            <a:tbl>
              <a:tblPr firstRow="1" bandRow="1">
                <a:tableStyleId>{5C22544A-7EE6-4342-B048-85BDC9FD1C3A}</a:tableStyleId>
              </a:tblPr>
              <a:tblGrid>
                <a:gridCol w="6080165">
                  <a:extLst>
                    <a:ext uri="{9D8B030D-6E8A-4147-A177-3AD203B41FA5}">
                      <a16:colId xmlns:a16="http://schemas.microsoft.com/office/drawing/2014/main" val="2179694530"/>
                    </a:ext>
                  </a:extLst>
                </a:gridCol>
                <a:gridCol w="6111834">
                  <a:extLst>
                    <a:ext uri="{9D8B030D-6E8A-4147-A177-3AD203B41FA5}">
                      <a16:colId xmlns:a16="http://schemas.microsoft.com/office/drawing/2014/main" val="2768207918"/>
                    </a:ext>
                  </a:extLst>
                </a:gridCol>
              </a:tblGrid>
              <a:tr h="370840">
                <a:tc>
                  <a:txBody>
                    <a:bodyPr/>
                    <a:lstStyle/>
                    <a:p>
                      <a:endParaRPr lang="en-US" dirty="0"/>
                    </a:p>
                  </a:txBody>
                  <a:tcPr>
                    <a:solidFill>
                      <a:srgbClr val="FFFF00"/>
                    </a:solidFill>
                  </a:tcPr>
                </a:tc>
                <a:tc>
                  <a:txBody>
                    <a:bodyPr/>
                    <a:lstStyle/>
                    <a:p>
                      <a:pPr algn="r"/>
                      <a:r>
                        <a:rPr lang="en-US" dirty="0">
                          <a:solidFill>
                            <a:schemeClr val="tx1"/>
                          </a:solidFill>
                        </a:rPr>
                        <a:t>63</a:t>
                      </a:r>
                    </a:p>
                  </a:txBody>
                  <a:tcPr>
                    <a:solidFill>
                      <a:srgbClr val="FF85FF"/>
                    </a:solidFill>
                  </a:tcPr>
                </a:tc>
                <a:extLst>
                  <a:ext uri="{0D108BD9-81ED-4DB2-BD59-A6C34878D82A}">
                    <a16:rowId xmlns:a16="http://schemas.microsoft.com/office/drawing/2014/main" val="1996944423"/>
                  </a:ext>
                </a:extLst>
              </a:tr>
            </a:tbl>
          </a:graphicData>
        </a:graphic>
      </p:graphicFrame>
      <p:pic>
        <p:nvPicPr>
          <p:cNvPr id="12" name="Google Shape;187;p25" descr="pngfind.com-kingpin-png-4152286 (1).png">
            <a:extLst>
              <a:ext uri="{FF2B5EF4-FFF2-40B4-BE49-F238E27FC236}">
                <a16:creationId xmlns:a16="http://schemas.microsoft.com/office/drawing/2014/main" id="{2DBF2481-A2DB-F96E-5749-B03DC4F71665}"/>
              </a:ext>
            </a:extLst>
          </p:cNvPr>
          <p:cNvPicPr preferRelativeResize="0"/>
          <p:nvPr/>
        </p:nvPicPr>
        <p:blipFill rotWithShape="1">
          <a:blip r:embed="rId2">
            <a:alphaModFix/>
          </a:blip>
          <a:srcRect/>
          <a:stretch/>
        </p:blipFill>
        <p:spPr>
          <a:xfrm>
            <a:off x="11044052" y="8268"/>
            <a:ext cx="1051261" cy="465287"/>
          </a:xfrm>
          <a:prstGeom prst="rect">
            <a:avLst/>
          </a:prstGeom>
          <a:noFill/>
          <a:ln>
            <a:noFill/>
          </a:ln>
        </p:spPr>
      </p:pic>
      <p:sp>
        <p:nvSpPr>
          <p:cNvPr id="19" name="Rectangle 18">
            <a:extLst>
              <a:ext uri="{FF2B5EF4-FFF2-40B4-BE49-F238E27FC236}">
                <a16:creationId xmlns:a16="http://schemas.microsoft.com/office/drawing/2014/main" id="{A0702E37-2E7E-7262-5E76-F69A817105B3}"/>
              </a:ext>
            </a:extLst>
          </p:cNvPr>
          <p:cNvSpPr/>
          <p:nvPr/>
        </p:nvSpPr>
        <p:spPr>
          <a:xfrm>
            <a:off x="0" y="8268"/>
            <a:ext cx="12192000" cy="6825920"/>
          </a:xfrm>
          <a:prstGeom prst="rect">
            <a:avLst/>
          </a:prstGeom>
          <a:noFill/>
          <a:ln w="38100">
            <a:solidFill>
              <a:srgbClr val="0432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DCB2A3F0-9003-5886-09B4-27925BBE4000}"/>
              </a:ext>
            </a:extLst>
          </p:cNvPr>
          <p:cNvSpPr txBox="1"/>
          <p:nvPr/>
        </p:nvSpPr>
        <p:spPr>
          <a:xfrm>
            <a:off x="0" y="598360"/>
            <a:ext cx="12191999" cy="646331"/>
          </a:xfrm>
          <a:prstGeom prst="rect">
            <a:avLst/>
          </a:prstGeom>
          <a:noFill/>
        </p:spPr>
        <p:txBody>
          <a:bodyPr wrap="square">
            <a:spAutoFit/>
          </a:bodyPr>
          <a:lstStyle/>
          <a:p>
            <a:pPr algn="ctr"/>
            <a:r>
              <a:rPr lang="en-US" sz="3600" b="1" dirty="0">
                <a:effectLst/>
                <a:latin typeface="Calibri" panose="020F0502020204030204" pitchFamily="34" charset="0"/>
                <a:ea typeface="Calibri" panose="020F0502020204030204" pitchFamily="34" charset="0"/>
                <a:cs typeface="Calibri" panose="020F0502020204030204" pitchFamily="34" charset="0"/>
              </a:rPr>
              <a:t>Two Dimensional Array Indexing</a:t>
            </a:r>
            <a:endParaRPr lang="en-GB" sz="6600" b="1" cap="none" spc="0" dirty="0">
              <a:ln w="0"/>
              <a:solidFill>
                <a:schemeClr val="tx1"/>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Calibri" panose="020F0502020204030204" pitchFamily="34" charset="0"/>
            </a:endParaRPr>
          </a:p>
        </p:txBody>
      </p:sp>
      <p:pic>
        <p:nvPicPr>
          <p:cNvPr id="14" name="Picture 13">
            <a:extLst>
              <a:ext uri="{FF2B5EF4-FFF2-40B4-BE49-F238E27FC236}">
                <a16:creationId xmlns:a16="http://schemas.microsoft.com/office/drawing/2014/main" id="{746AACCF-C6FF-F683-931E-2501B0D738A8}"/>
              </a:ext>
            </a:extLst>
          </p:cNvPr>
          <p:cNvPicPr>
            <a:picLocks noChangeAspect="1"/>
          </p:cNvPicPr>
          <p:nvPr/>
        </p:nvPicPr>
        <p:blipFill>
          <a:blip r:embed="rId3"/>
          <a:stretch>
            <a:fillRect/>
          </a:stretch>
        </p:blipFill>
        <p:spPr>
          <a:xfrm>
            <a:off x="2596414" y="1317398"/>
            <a:ext cx="6239473" cy="1476977"/>
          </a:xfrm>
          <a:prstGeom prst="rect">
            <a:avLst/>
          </a:prstGeom>
          <a:ln w="6350">
            <a:solidFill>
              <a:schemeClr val="tx1"/>
            </a:solidFill>
          </a:ln>
        </p:spPr>
      </p:pic>
      <p:pic>
        <p:nvPicPr>
          <p:cNvPr id="24" name="Picture 23">
            <a:extLst>
              <a:ext uri="{FF2B5EF4-FFF2-40B4-BE49-F238E27FC236}">
                <a16:creationId xmlns:a16="http://schemas.microsoft.com/office/drawing/2014/main" id="{C825BEB4-55C5-54D3-C02E-8AE81DBAA9FE}"/>
              </a:ext>
            </a:extLst>
          </p:cNvPr>
          <p:cNvPicPr>
            <a:picLocks noChangeAspect="1"/>
          </p:cNvPicPr>
          <p:nvPr/>
        </p:nvPicPr>
        <p:blipFill>
          <a:blip r:embed="rId4"/>
          <a:stretch>
            <a:fillRect/>
          </a:stretch>
        </p:blipFill>
        <p:spPr>
          <a:xfrm>
            <a:off x="3222061" y="2892414"/>
            <a:ext cx="5471881" cy="3570934"/>
          </a:xfrm>
          <a:prstGeom prst="rect">
            <a:avLst/>
          </a:prstGeom>
        </p:spPr>
      </p:pic>
    </p:spTree>
    <p:extLst>
      <p:ext uri="{BB962C8B-B14F-4D97-AF65-F5344CB8AC3E}">
        <p14:creationId xmlns:p14="http://schemas.microsoft.com/office/powerpoint/2010/main" val="1807800627"/>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Table 8">
            <a:extLst>
              <a:ext uri="{FF2B5EF4-FFF2-40B4-BE49-F238E27FC236}">
                <a16:creationId xmlns:a16="http://schemas.microsoft.com/office/drawing/2014/main" id="{0B6EC464-4750-5FF3-7A5A-15612BA6E293}"/>
              </a:ext>
            </a:extLst>
          </p:cNvPr>
          <p:cNvGraphicFramePr>
            <a:graphicFrameLocks noGrp="1"/>
          </p:cNvGraphicFramePr>
          <p:nvPr/>
        </p:nvGraphicFramePr>
        <p:xfrm>
          <a:off x="0" y="23812"/>
          <a:ext cx="12192000" cy="465287"/>
        </p:xfrm>
        <a:graphic>
          <a:graphicData uri="http://schemas.openxmlformats.org/drawingml/2006/table">
            <a:tbl>
              <a:tblPr firstRow="1" bandRow="1">
                <a:tableStyleId>{5C22544A-7EE6-4342-B048-85BDC9FD1C3A}</a:tableStyleId>
              </a:tblPr>
              <a:tblGrid>
                <a:gridCol w="6092042">
                  <a:extLst>
                    <a:ext uri="{9D8B030D-6E8A-4147-A177-3AD203B41FA5}">
                      <a16:colId xmlns:a16="http://schemas.microsoft.com/office/drawing/2014/main" val="2179694530"/>
                    </a:ext>
                  </a:extLst>
                </a:gridCol>
                <a:gridCol w="6099958">
                  <a:extLst>
                    <a:ext uri="{9D8B030D-6E8A-4147-A177-3AD203B41FA5}">
                      <a16:colId xmlns:a16="http://schemas.microsoft.com/office/drawing/2014/main" val="2768207918"/>
                    </a:ext>
                  </a:extLst>
                </a:gridCol>
              </a:tblGrid>
              <a:tr h="465287">
                <a:tc>
                  <a:txBody>
                    <a:bodyPr/>
                    <a:lstStyle/>
                    <a:p>
                      <a:endParaRPr lang="en-US" dirty="0"/>
                    </a:p>
                  </a:txBody>
                  <a:tcPr>
                    <a:solidFill>
                      <a:srgbClr val="FF85FF"/>
                    </a:solidFill>
                  </a:tcPr>
                </a:tc>
                <a:tc>
                  <a:txBody>
                    <a:bodyPr/>
                    <a:lstStyle/>
                    <a:p>
                      <a:endParaRPr lang="en-US" dirty="0"/>
                    </a:p>
                  </a:txBody>
                  <a:tcPr>
                    <a:solidFill>
                      <a:srgbClr val="FFFF00"/>
                    </a:solidFill>
                  </a:tcPr>
                </a:tc>
                <a:extLst>
                  <a:ext uri="{0D108BD9-81ED-4DB2-BD59-A6C34878D82A}">
                    <a16:rowId xmlns:a16="http://schemas.microsoft.com/office/drawing/2014/main" val="1996944423"/>
                  </a:ext>
                </a:extLst>
              </a:tr>
            </a:tbl>
          </a:graphicData>
        </a:graphic>
      </p:graphicFrame>
      <p:graphicFrame>
        <p:nvGraphicFramePr>
          <p:cNvPr id="10" name="Table 9">
            <a:extLst>
              <a:ext uri="{FF2B5EF4-FFF2-40B4-BE49-F238E27FC236}">
                <a16:creationId xmlns:a16="http://schemas.microsoft.com/office/drawing/2014/main" id="{494BAFB7-FE1F-E1A9-7A6C-AB4145BD9BA1}"/>
              </a:ext>
            </a:extLst>
          </p:cNvPr>
          <p:cNvGraphicFramePr>
            <a:graphicFrameLocks noGrp="1"/>
          </p:cNvGraphicFramePr>
          <p:nvPr>
            <p:extLst>
              <p:ext uri="{D42A27DB-BD31-4B8C-83A1-F6EECF244321}">
                <p14:modId xmlns:p14="http://schemas.microsoft.com/office/powerpoint/2010/main" val="2817383417"/>
              </p:ext>
            </p:extLst>
          </p:nvPr>
        </p:nvGraphicFramePr>
        <p:xfrm>
          <a:off x="1" y="6485174"/>
          <a:ext cx="12191999" cy="370840"/>
        </p:xfrm>
        <a:graphic>
          <a:graphicData uri="http://schemas.openxmlformats.org/drawingml/2006/table">
            <a:tbl>
              <a:tblPr firstRow="1" bandRow="1">
                <a:tableStyleId>{5C22544A-7EE6-4342-B048-85BDC9FD1C3A}</a:tableStyleId>
              </a:tblPr>
              <a:tblGrid>
                <a:gridCol w="6080165">
                  <a:extLst>
                    <a:ext uri="{9D8B030D-6E8A-4147-A177-3AD203B41FA5}">
                      <a16:colId xmlns:a16="http://schemas.microsoft.com/office/drawing/2014/main" val="2179694530"/>
                    </a:ext>
                  </a:extLst>
                </a:gridCol>
                <a:gridCol w="6111834">
                  <a:extLst>
                    <a:ext uri="{9D8B030D-6E8A-4147-A177-3AD203B41FA5}">
                      <a16:colId xmlns:a16="http://schemas.microsoft.com/office/drawing/2014/main" val="2768207918"/>
                    </a:ext>
                  </a:extLst>
                </a:gridCol>
              </a:tblGrid>
              <a:tr h="370840">
                <a:tc>
                  <a:txBody>
                    <a:bodyPr/>
                    <a:lstStyle/>
                    <a:p>
                      <a:endParaRPr lang="en-US" dirty="0"/>
                    </a:p>
                  </a:txBody>
                  <a:tcPr>
                    <a:solidFill>
                      <a:srgbClr val="FFFF00"/>
                    </a:solidFill>
                  </a:tcPr>
                </a:tc>
                <a:tc>
                  <a:txBody>
                    <a:bodyPr/>
                    <a:lstStyle/>
                    <a:p>
                      <a:pPr algn="r"/>
                      <a:r>
                        <a:rPr lang="en-US" dirty="0">
                          <a:solidFill>
                            <a:schemeClr val="tx1"/>
                          </a:solidFill>
                        </a:rPr>
                        <a:t>64</a:t>
                      </a:r>
                    </a:p>
                  </a:txBody>
                  <a:tcPr>
                    <a:solidFill>
                      <a:srgbClr val="FF85FF"/>
                    </a:solidFill>
                  </a:tcPr>
                </a:tc>
                <a:extLst>
                  <a:ext uri="{0D108BD9-81ED-4DB2-BD59-A6C34878D82A}">
                    <a16:rowId xmlns:a16="http://schemas.microsoft.com/office/drawing/2014/main" val="1996944423"/>
                  </a:ext>
                </a:extLst>
              </a:tr>
            </a:tbl>
          </a:graphicData>
        </a:graphic>
      </p:graphicFrame>
      <p:pic>
        <p:nvPicPr>
          <p:cNvPr id="12" name="Google Shape;187;p25" descr="pngfind.com-kingpin-png-4152286 (1).png">
            <a:extLst>
              <a:ext uri="{FF2B5EF4-FFF2-40B4-BE49-F238E27FC236}">
                <a16:creationId xmlns:a16="http://schemas.microsoft.com/office/drawing/2014/main" id="{2DBF2481-A2DB-F96E-5749-B03DC4F71665}"/>
              </a:ext>
            </a:extLst>
          </p:cNvPr>
          <p:cNvPicPr preferRelativeResize="0"/>
          <p:nvPr/>
        </p:nvPicPr>
        <p:blipFill rotWithShape="1">
          <a:blip r:embed="rId2">
            <a:alphaModFix/>
          </a:blip>
          <a:srcRect/>
          <a:stretch/>
        </p:blipFill>
        <p:spPr>
          <a:xfrm>
            <a:off x="11044052" y="8268"/>
            <a:ext cx="1051261" cy="465287"/>
          </a:xfrm>
          <a:prstGeom prst="rect">
            <a:avLst/>
          </a:prstGeom>
          <a:noFill/>
          <a:ln>
            <a:noFill/>
          </a:ln>
        </p:spPr>
      </p:pic>
      <p:sp>
        <p:nvSpPr>
          <p:cNvPr id="19" name="Rectangle 18">
            <a:extLst>
              <a:ext uri="{FF2B5EF4-FFF2-40B4-BE49-F238E27FC236}">
                <a16:creationId xmlns:a16="http://schemas.microsoft.com/office/drawing/2014/main" id="{A0702E37-2E7E-7262-5E76-F69A817105B3}"/>
              </a:ext>
            </a:extLst>
          </p:cNvPr>
          <p:cNvSpPr/>
          <p:nvPr/>
        </p:nvSpPr>
        <p:spPr>
          <a:xfrm>
            <a:off x="0" y="8268"/>
            <a:ext cx="12192000" cy="6825920"/>
          </a:xfrm>
          <a:prstGeom prst="rect">
            <a:avLst/>
          </a:prstGeom>
          <a:noFill/>
          <a:ln w="38100">
            <a:solidFill>
              <a:srgbClr val="0432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DCB2A3F0-9003-5886-09B4-27925BBE4000}"/>
              </a:ext>
            </a:extLst>
          </p:cNvPr>
          <p:cNvSpPr txBox="1"/>
          <p:nvPr/>
        </p:nvSpPr>
        <p:spPr>
          <a:xfrm>
            <a:off x="0" y="873851"/>
            <a:ext cx="12191999" cy="1661993"/>
          </a:xfrm>
          <a:prstGeom prst="rect">
            <a:avLst/>
          </a:prstGeom>
          <a:noFill/>
        </p:spPr>
        <p:txBody>
          <a:bodyPr wrap="square">
            <a:spAutoFit/>
          </a:bodyPr>
          <a:lstStyle/>
          <a:p>
            <a:pPr algn="ctr"/>
            <a:r>
              <a:rPr lang="en-US" sz="3600" b="1" dirty="0">
                <a:effectLst/>
                <a:latin typeface="Calibri" panose="020F0502020204030204" pitchFamily="34" charset="0"/>
                <a:ea typeface="Calibri" panose="020F0502020204030204" pitchFamily="34" charset="0"/>
                <a:cs typeface="Calibri" panose="020F0502020204030204" pitchFamily="34" charset="0"/>
              </a:rPr>
              <a:t>Three Dimensional Array Indexing</a:t>
            </a:r>
            <a:endParaRPr lang="en-GB" sz="6600" b="1" cap="none" spc="0" dirty="0">
              <a:ln w="0"/>
              <a:solidFill>
                <a:schemeClr val="tx1"/>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Calibri" panose="020F0502020204030204" pitchFamily="34" charset="0"/>
            </a:endParaRPr>
          </a:p>
          <a:p>
            <a:pPr algn="ctr"/>
            <a:endParaRPr lang="en-GB" sz="6600" b="1" cap="none" spc="0" dirty="0">
              <a:ln w="0"/>
              <a:solidFill>
                <a:schemeClr val="tx1"/>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Calibri" panose="020F0502020204030204" pitchFamily="34" charset="0"/>
            </a:endParaRPr>
          </a:p>
        </p:txBody>
      </p:sp>
      <p:sp>
        <p:nvSpPr>
          <p:cNvPr id="11" name="TextBox 10">
            <a:extLst>
              <a:ext uri="{FF2B5EF4-FFF2-40B4-BE49-F238E27FC236}">
                <a16:creationId xmlns:a16="http://schemas.microsoft.com/office/drawing/2014/main" id="{C11BBC61-B926-611F-8358-9DB20CDFEA3B}"/>
              </a:ext>
            </a:extLst>
          </p:cNvPr>
          <p:cNvSpPr txBox="1"/>
          <p:nvPr/>
        </p:nvSpPr>
        <p:spPr>
          <a:xfrm>
            <a:off x="547186" y="1667171"/>
            <a:ext cx="6032518" cy="3373359"/>
          </a:xfrm>
          <a:prstGeom prst="rect">
            <a:avLst/>
          </a:prstGeom>
          <a:noFill/>
        </p:spPr>
        <p:txBody>
          <a:bodyPr wrap="square">
            <a:spAutoFit/>
          </a:bodyPr>
          <a:lstStyle/>
          <a:p>
            <a:pPr algn="l">
              <a:lnSpc>
                <a:spcPct val="150000"/>
              </a:lnSpc>
            </a:pPr>
            <a:r>
              <a:rPr lang="en-US" dirty="0">
                <a:latin typeface="Calibri" panose="020F0502020204030204" pitchFamily="34" charset="0"/>
                <a:ea typeface="Calibri" panose="020F0502020204030204" pitchFamily="34" charset="0"/>
                <a:cs typeface="Calibri" panose="020F0502020204030204" pitchFamily="34" charset="0"/>
              </a:rPr>
              <a:t>To access an element of a 3D array, we use three indices separated by commas.</a:t>
            </a:r>
          </a:p>
          <a:p>
            <a:pPr marL="285750" indent="-285750" algn="l">
              <a:lnSpc>
                <a:spcPct val="150000"/>
              </a:lnSpc>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The first index refers to the </a:t>
            </a:r>
            <a:r>
              <a:rPr lang="en-US" b="1" dirty="0">
                <a:latin typeface="Calibri" panose="020F0502020204030204" pitchFamily="34" charset="0"/>
                <a:ea typeface="Calibri" panose="020F0502020204030204" pitchFamily="34" charset="0"/>
                <a:cs typeface="Calibri" panose="020F0502020204030204" pitchFamily="34" charset="0"/>
              </a:rPr>
              <a:t>slice</a:t>
            </a:r>
          </a:p>
          <a:p>
            <a:pPr marL="285750" indent="-285750" algn="l">
              <a:lnSpc>
                <a:spcPct val="150000"/>
              </a:lnSpc>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The second index refers to the </a:t>
            </a:r>
            <a:r>
              <a:rPr lang="en-US" b="1" dirty="0">
                <a:latin typeface="Calibri" panose="020F0502020204030204" pitchFamily="34" charset="0"/>
                <a:ea typeface="Calibri" panose="020F0502020204030204" pitchFamily="34" charset="0"/>
                <a:cs typeface="Calibri" panose="020F0502020204030204" pitchFamily="34" charset="0"/>
              </a:rPr>
              <a:t>row</a:t>
            </a:r>
          </a:p>
          <a:p>
            <a:pPr marL="285750" indent="-285750" algn="l">
              <a:lnSpc>
                <a:spcPct val="150000"/>
              </a:lnSpc>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The third index refers to the </a:t>
            </a:r>
            <a:r>
              <a:rPr lang="en-US" b="1" dirty="0">
                <a:latin typeface="Calibri" panose="020F0502020204030204" pitchFamily="34" charset="0"/>
                <a:ea typeface="Calibri" panose="020F0502020204030204" pitchFamily="34" charset="0"/>
                <a:cs typeface="Calibri" panose="020F0502020204030204" pitchFamily="34" charset="0"/>
              </a:rPr>
              <a:t>column</a:t>
            </a:r>
            <a:r>
              <a:rPr lang="en-US" dirty="0">
                <a:latin typeface="Calibri" panose="020F0502020204030204" pitchFamily="34" charset="0"/>
                <a:ea typeface="Calibri" panose="020F0502020204030204" pitchFamily="34" charset="0"/>
                <a:cs typeface="Calibri" panose="020F0502020204030204" pitchFamily="34" charset="0"/>
              </a:rPr>
              <a:t>.</a:t>
            </a:r>
          </a:p>
          <a:p>
            <a:pPr marL="285750" indent="-285750">
              <a:lnSpc>
                <a:spcPct val="150000"/>
              </a:lnSpc>
              <a:buFont typeface="Arial" panose="020B0604020202020204" pitchFamily="34" charset="0"/>
              <a:buChar char="•"/>
            </a:pPr>
            <a:endParaRPr lang="en-US" dirty="0">
              <a:latin typeface="Calibri" panose="020F0502020204030204" pitchFamily="34" charset="0"/>
              <a:ea typeface="Calibri" panose="020F0502020204030204" pitchFamily="34" charset="0"/>
              <a:cs typeface="Calibri" panose="020F0502020204030204" pitchFamily="34" charset="0"/>
            </a:endParaRPr>
          </a:p>
          <a:p>
            <a:pPr marL="285750" indent="-285750">
              <a:lnSpc>
                <a:spcPct val="150000"/>
              </a:lnSpc>
              <a:buFont typeface="Arial" panose="020B0604020202020204" pitchFamily="34" charset="0"/>
              <a:buChar char="•"/>
            </a:pPr>
            <a:endParaRPr lang="en-US" dirty="0">
              <a:latin typeface="Calibri" panose="020F0502020204030204" pitchFamily="34" charset="0"/>
              <a:ea typeface="Calibri" panose="020F0502020204030204" pitchFamily="34" charset="0"/>
              <a:cs typeface="Calibri" panose="020F0502020204030204" pitchFamily="34" charset="0"/>
            </a:endParaRPr>
          </a:p>
          <a:p>
            <a:pPr marL="285750" indent="-285750">
              <a:lnSpc>
                <a:spcPct val="150000"/>
              </a:lnSpc>
              <a:buFont typeface="Arial" panose="020B0604020202020204" pitchFamily="34" charset="0"/>
              <a:buChar char="•"/>
            </a:pPr>
            <a:endParaRPr lang="en-IN" dirty="0">
              <a:latin typeface="Calibri" panose="020F0502020204030204" pitchFamily="34" charset="0"/>
              <a:ea typeface="Calibri" panose="020F0502020204030204" pitchFamily="34" charset="0"/>
              <a:cs typeface="Calibri" panose="020F0502020204030204" pitchFamily="34" charset="0"/>
            </a:endParaRPr>
          </a:p>
        </p:txBody>
      </p:sp>
      <p:pic>
        <p:nvPicPr>
          <p:cNvPr id="4" name="Picture 3">
            <a:extLst>
              <a:ext uri="{FF2B5EF4-FFF2-40B4-BE49-F238E27FC236}">
                <a16:creationId xmlns:a16="http://schemas.microsoft.com/office/drawing/2014/main" id="{9B506325-703B-CDA7-52B5-CAB9BDC3A1FD}"/>
              </a:ext>
            </a:extLst>
          </p:cNvPr>
          <p:cNvPicPr>
            <a:picLocks noChangeAspect="1"/>
          </p:cNvPicPr>
          <p:nvPr/>
        </p:nvPicPr>
        <p:blipFill>
          <a:blip r:embed="rId3"/>
          <a:stretch>
            <a:fillRect/>
          </a:stretch>
        </p:blipFill>
        <p:spPr>
          <a:xfrm>
            <a:off x="6689035" y="1688433"/>
            <a:ext cx="4661453" cy="4774915"/>
          </a:xfrm>
          <a:prstGeom prst="rect">
            <a:avLst/>
          </a:prstGeom>
        </p:spPr>
      </p:pic>
    </p:spTree>
    <p:extLst>
      <p:ext uri="{BB962C8B-B14F-4D97-AF65-F5344CB8AC3E}">
        <p14:creationId xmlns:p14="http://schemas.microsoft.com/office/powerpoint/2010/main" val="3275363527"/>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Table 8">
            <a:extLst>
              <a:ext uri="{FF2B5EF4-FFF2-40B4-BE49-F238E27FC236}">
                <a16:creationId xmlns:a16="http://schemas.microsoft.com/office/drawing/2014/main" id="{0B6EC464-4750-5FF3-7A5A-15612BA6E293}"/>
              </a:ext>
            </a:extLst>
          </p:cNvPr>
          <p:cNvGraphicFramePr>
            <a:graphicFrameLocks noGrp="1"/>
          </p:cNvGraphicFramePr>
          <p:nvPr/>
        </p:nvGraphicFramePr>
        <p:xfrm>
          <a:off x="0" y="23812"/>
          <a:ext cx="12192000" cy="465287"/>
        </p:xfrm>
        <a:graphic>
          <a:graphicData uri="http://schemas.openxmlformats.org/drawingml/2006/table">
            <a:tbl>
              <a:tblPr firstRow="1" bandRow="1">
                <a:tableStyleId>{5C22544A-7EE6-4342-B048-85BDC9FD1C3A}</a:tableStyleId>
              </a:tblPr>
              <a:tblGrid>
                <a:gridCol w="6092042">
                  <a:extLst>
                    <a:ext uri="{9D8B030D-6E8A-4147-A177-3AD203B41FA5}">
                      <a16:colId xmlns:a16="http://schemas.microsoft.com/office/drawing/2014/main" val="2179694530"/>
                    </a:ext>
                  </a:extLst>
                </a:gridCol>
                <a:gridCol w="6099958">
                  <a:extLst>
                    <a:ext uri="{9D8B030D-6E8A-4147-A177-3AD203B41FA5}">
                      <a16:colId xmlns:a16="http://schemas.microsoft.com/office/drawing/2014/main" val="2768207918"/>
                    </a:ext>
                  </a:extLst>
                </a:gridCol>
              </a:tblGrid>
              <a:tr h="465287">
                <a:tc>
                  <a:txBody>
                    <a:bodyPr/>
                    <a:lstStyle/>
                    <a:p>
                      <a:endParaRPr lang="en-US" dirty="0"/>
                    </a:p>
                  </a:txBody>
                  <a:tcPr>
                    <a:solidFill>
                      <a:srgbClr val="FF85FF"/>
                    </a:solidFill>
                  </a:tcPr>
                </a:tc>
                <a:tc>
                  <a:txBody>
                    <a:bodyPr/>
                    <a:lstStyle/>
                    <a:p>
                      <a:endParaRPr lang="en-US" dirty="0"/>
                    </a:p>
                  </a:txBody>
                  <a:tcPr>
                    <a:solidFill>
                      <a:srgbClr val="FFFF00"/>
                    </a:solidFill>
                  </a:tcPr>
                </a:tc>
                <a:extLst>
                  <a:ext uri="{0D108BD9-81ED-4DB2-BD59-A6C34878D82A}">
                    <a16:rowId xmlns:a16="http://schemas.microsoft.com/office/drawing/2014/main" val="1996944423"/>
                  </a:ext>
                </a:extLst>
              </a:tr>
            </a:tbl>
          </a:graphicData>
        </a:graphic>
      </p:graphicFrame>
      <p:graphicFrame>
        <p:nvGraphicFramePr>
          <p:cNvPr id="10" name="Table 9">
            <a:extLst>
              <a:ext uri="{FF2B5EF4-FFF2-40B4-BE49-F238E27FC236}">
                <a16:creationId xmlns:a16="http://schemas.microsoft.com/office/drawing/2014/main" id="{494BAFB7-FE1F-E1A9-7A6C-AB4145BD9BA1}"/>
              </a:ext>
            </a:extLst>
          </p:cNvPr>
          <p:cNvGraphicFramePr>
            <a:graphicFrameLocks noGrp="1"/>
          </p:cNvGraphicFramePr>
          <p:nvPr>
            <p:extLst>
              <p:ext uri="{D42A27DB-BD31-4B8C-83A1-F6EECF244321}">
                <p14:modId xmlns:p14="http://schemas.microsoft.com/office/powerpoint/2010/main" val="814697659"/>
              </p:ext>
            </p:extLst>
          </p:nvPr>
        </p:nvGraphicFramePr>
        <p:xfrm>
          <a:off x="1" y="6478892"/>
          <a:ext cx="12191999" cy="370840"/>
        </p:xfrm>
        <a:graphic>
          <a:graphicData uri="http://schemas.openxmlformats.org/drawingml/2006/table">
            <a:tbl>
              <a:tblPr firstRow="1" bandRow="1">
                <a:tableStyleId>{5C22544A-7EE6-4342-B048-85BDC9FD1C3A}</a:tableStyleId>
              </a:tblPr>
              <a:tblGrid>
                <a:gridCol w="6080165">
                  <a:extLst>
                    <a:ext uri="{9D8B030D-6E8A-4147-A177-3AD203B41FA5}">
                      <a16:colId xmlns:a16="http://schemas.microsoft.com/office/drawing/2014/main" val="2179694530"/>
                    </a:ext>
                  </a:extLst>
                </a:gridCol>
                <a:gridCol w="6111834">
                  <a:extLst>
                    <a:ext uri="{9D8B030D-6E8A-4147-A177-3AD203B41FA5}">
                      <a16:colId xmlns:a16="http://schemas.microsoft.com/office/drawing/2014/main" val="2768207918"/>
                    </a:ext>
                  </a:extLst>
                </a:gridCol>
              </a:tblGrid>
              <a:tr h="370840">
                <a:tc>
                  <a:txBody>
                    <a:bodyPr/>
                    <a:lstStyle/>
                    <a:p>
                      <a:endParaRPr lang="en-US" dirty="0"/>
                    </a:p>
                  </a:txBody>
                  <a:tcPr>
                    <a:solidFill>
                      <a:srgbClr val="FFFF00"/>
                    </a:solidFill>
                  </a:tcPr>
                </a:tc>
                <a:tc>
                  <a:txBody>
                    <a:bodyPr/>
                    <a:lstStyle/>
                    <a:p>
                      <a:pPr algn="r"/>
                      <a:r>
                        <a:rPr lang="en-US" dirty="0">
                          <a:solidFill>
                            <a:schemeClr val="tx1"/>
                          </a:solidFill>
                        </a:rPr>
                        <a:t>65</a:t>
                      </a:r>
                    </a:p>
                  </a:txBody>
                  <a:tcPr>
                    <a:solidFill>
                      <a:srgbClr val="FF85FF"/>
                    </a:solidFill>
                  </a:tcPr>
                </a:tc>
                <a:extLst>
                  <a:ext uri="{0D108BD9-81ED-4DB2-BD59-A6C34878D82A}">
                    <a16:rowId xmlns:a16="http://schemas.microsoft.com/office/drawing/2014/main" val="1996944423"/>
                  </a:ext>
                </a:extLst>
              </a:tr>
            </a:tbl>
          </a:graphicData>
        </a:graphic>
      </p:graphicFrame>
      <p:pic>
        <p:nvPicPr>
          <p:cNvPr id="12" name="Google Shape;187;p25" descr="pngfind.com-kingpin-png-4152286 (1).png">
            <a:extLst>
              <a:ext uri="{FF2B5EF4-FFF2-40B4-BE49-F238E27FC236}">
                <a16:creationId xmlns:a16="http://schemas.microsoft.com/office/drawing/2014/main" id="{2DBF2481-A2DB-F96E-5749-B03DC4F71665}"/>
              </a:ext>
            </a:extLst>
          </p:cNvPr>
          <p:cNvPicPr preferRelativeResize="0"/>
          <p:nvPr/>
        </p:nvPicPr>
        <p:blipFill rotWithShape="1">
          <a:blip r:embed="rId2">
            <a:alphaModFix/>
          </a:blip>
          <a:srcRect/>
          <a:stretch/>
        </p:blipFill>
        <p:spPr>
          <a:xfrm>
            <a:off x="11044052" y="8268"/>
            <a:ext cx="1051261" cy="465287"/>
          </a:xfrm>
          <a:prstGeom prst="rect">
            <a:avLst/>
          </a:prstGeom>
          <a:noFill/>
          <a:ln>
            <a:noFill/>
          </a:ln>
        </p:spPr>
      </p:pic>
      <p:sp>
        <p:nvSpPr>
          <p:cNvPr id="19" name="Rectangle 18">
            <a:extLst>
              <a:ext uri="{FF2B5EF4-FFF2-40B4-BE49-F238E27FC236}">
                <a16:creationId xmlns:a16="http://schemas.microsoft.com/office/drawing/2014/main" id="{A0702E37-2E7E-7262-5E76-F69A817105B3}"/>
              </a:ext>
            </a:extLst>
          </p:cNvPr>
          <p:cNvSpPr/>
          <p:nvPr/>
        </p:nvSpPr>
        <p:spPr>
          <a:xfrm>
            <a:off x="0" y="8268"/>
            <a:ext cx="12192000" cy="6825920"/>
          </a:xfrm>
          <a:prstGeom prst="rect">
            <a:avLst/>
          </a:prstGeom>
          <a:noFill/>
          <a:ln w="38100">
            <a:solidFill>
              <a:srgbClr val="0432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DCB2A3F0-9003-5886-09B4-27925BBE4000}"/>
              </a:ext>
            </a:extLst>
          </p:cNvPr>
          <p:cNvSpPr txBox="1"/>
          <p:nvPr/>
        </p:nvSpPr>
        <p:spPr>
          <a:xfrm>
            <a:off x="0" y="873851"/>
            <a:ext cx="12191999" cy="646331"/>
          </a:xfrm>
          <a:prstGeom prst="rect">
            <a:avLst/>
          </a:prstGeom>
          <a:noFill/>
        </p:spPr>
        <p:txBody>
          <a:bodyPr wrap="square">
            <a:spAutoFit/>
          </a:bodyPr>
          <a:lstStyle/>
          <a:p>
            <a:pPr algn="ctr"/>
            <a:r>
              <a:rPr lang="en-US" sz="3600" b="1" dirty="0">
                <a:effectLst/>
                <a:latin typeface="Calibri" panose="020F0502020204030204" pitchFamily="34" charset="0"/>
                <a:ea typeface="Calibri" panose="020F0502020204030204" pitchFamily="34" charset="0"/>
                <a:cs typeface="Calibri" panose="020F0502020204030204" pitchFamily="34" charset="0"/>
              </a:rPr>
              <a:t>Array Slicing</a:t>
            </a:r>
            <a:endParaRPr lang="en-GB" sz="6600" b="1" cap="none" spc="0" dirty="0">
              <a:ln w="0"/>
              <a:solidFill>
                <a:schemeClr val="tx1"/>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Calibri" panose="020F0502020204030204" pitchFamily="34" charset="0"/>
            </a:endParaRPr>
          </a:p>
        </p:txBody>
      </p:sp>
      <p:sp>
        <p:nvSpPr>
          <p:cNvPr id="11" name="TextBox 10">
            <a:extLst>
              <a:ext uri="{FF2B5EF4-FFF2-40B4-BE49-F238E27FC236}">
                <a16:creationId xmlns:a16="http://schemas.microsoft.com/office/drawing/2014/main" id="{C11BBC61-B926-611F-8358-9DB20CDFEA3B}"/>
              </a:ext>
            </a:extLst>
          </p:cNvPr>
          <p:cNvSpPr txBox="1"/>
          <p:nvPr/>
        </p:nvSpPr>
        <p:spPr>
          <a:xfrm>
            <a:off x="547186" y="1667171"/>
            <a:ext cx="11022496" cy="3373359"/>
          </a:xfrm>
          <a:prstGeom prst="rect">
            <a:avLst/>
          </a:prstGeom>
          <a:noFill/>
        </p:spPr>
        <p:txBody>
          <a:bodyPr wrap="square">
            <a:spAutoFit/>
          </a:bodyPr>
          <a:lstStyle/>
          <a:p>
            <a:pPr marL="285750" indent="-285750" algn="l">
              <a:lnSpc>
                <a:spcPct val="150000"/>
              </a:lnSpc>
              <a:buFont typeface="Arial" panose="020B0604020202020204" pitchFamily="34" charset="0"/>
              <a:buChar char="•"/>
            </a:pPr>
            <a:r>
              <a:rPr lang="en-US" b="1" dirty="0">
                <a:latin typeface="Calibri" panose="020F0502020204030204" pitchFamily="34" charset="0"/>
                <a:ea typeface="Calibri" panose="020F0502020204030204" pitchFamily="34" charset="0"/>
                <a:cs typeface="Calibri" panose="020F0502020204030204" pitchFamily="34" charset="0"/>
              </a:rPr>
              <a:t>Array Slicing </a:t>
            </a:r>
            <a:r>
              <a:rPr lang="en-US" dirty="0">
                <a:latin typeface="Calibri" panose="020F0502020204030204" pitchFamily="34" charset="0"/>
                <a:ea typeface="Calibri" panose="020F0502020204030204" pitchFamily="34" charset="0"/>
                <a:cs typeface="Calibri" panose="020F0502020204030204" pitchFamily="34" charset="0"/>
              </a:rPr>
              <a:t>is the process of extracting a portion of an array.</a:t>
            </a:r>
          </a:p>
          <a:p>
            <a:pPr marL="285750" indent="-285750" algn="l">
              <a:lnSpc>
                <a:spcPct val="150000"/>
              </a:lnSpc>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1D Array Slicing</a:t>
            </a:r>
          </a:p>
          <a:p>
            <a:pPr algn="l">
              <a:lnSpc>
                <a:spcPct val="150000"/>
              </a:lnSpc>
            </a:pPr>
            <a:r>
              <a:rPr lang="en-US" b="1" dirty="0">
                <a:latin typeface="Calibri" panose="020F0502020204030204" pitchFamily="34" charset="0"/>
                <a:ea typeface="Calibri" panose="020F0502020204030204" pitchFamily="34" charset="0"/>
                <a:cs typeface="Calibri" panose="020F0502020204030204" pitchFamily="34" charset="0"/>
              </a:rPr>
              <a:t>                           array[</a:t>
            </a:r>
            <a:r>
              <a:rPr lang="en-US" b="1" dirty="0" err="1">
                <a:latin typeface="Calibri" panose="020F0502020204030204" pitchFamily="34" charset="0"/>
                <a:ea typeface="Calibri" panose="020F0502020204030204" pitchFamily="34" charset="0"/>
                <a:cs typeface="Calibri" panose="020F0502020204030204" pitchFamily="34" charset="0"/>
              </a:rPr>
              <a:t>start:stop:step</a:t>
            </a:r>
            <a:r>
              <a:rPr lang="en-US" b="1" dirty="0">
                <a:latin typeface="Calibri" panose="020F0502020204030204" pitchFamily="34" charset="0"/>
                <a:ea typeface="Calibri" panose="020F0502020204030204" pitchFamily="34" charset="0"/>
                <a:cs typeface="Calibri" panose="020F0502020204030204" pitchFamily="34" charset="0"/>
              </a:rPr>
              <a:t>]</a:t>
            </a:r>
          </a:p>
          <a:p>
            <a:pPr marL="285750" indent="-285750" algn="l">
              <a:lnSpc>
                <a:spcPct val="150000"/>
              </a:lnSpc>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start - index of the first element to be included in the slice</a:t>
            </a:r>
          </a:p>
          <a:p>
            <a:pPr marL="285750" indent="-285750" algn="l">
              <a:lnSpc>
                <a:spcPct val="150000"/>
              </a:lnSpc>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stop - index of the last element (exclusive)</a:t>
            </a:r>
          </a:p>
          <a:p>
            <a:pPr marL="285750" indent="-285750" algn="l">
              <a:lnSpc>
                <a:spcPct val="150000"/>
              </a:lnSpc>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step - step size between each element in the slice</a:t>
            </a:r>
          </a:p>
          <a:p>
            <a:pPr marL="285750" indent="-285750">
              <a:lnSpc>
                <a:spcPct val="150000"/>
              </a:lnSpc>
              <a:buFont typeface="Arial" panose="020B0604020202020204" pitchFamily="34" charset="0"/>
              <a:buChar char="•"/>
            </a:pPr>
            <a:endParaRPr lang="en-US" dirty="0">
              <a:latin typeface="Calibri" panose="020F0502020204030204" pitchFamily="34" charset="0"/>
              <a:ea typeface="Calibri" panose="020F0502020204030204" pitchFamily="34" charset="0"/>
              <a:cs typeface="Calibri" panose="020F0502020204030204" pitchFamily="34" charset="0"/>
            </a:endParaRPr>
          </a:p>
          <a:p>
            <a:pPr marL="285750" indent="-285750">
              <a:lnSpc>
                <a:spcPct val="150000"/>
              </a:lnSpc>
              <a:buFont typeface="Arial" panose="020B0604020202020204" pitchFamily="34" charset="0"/>
              <a:buChar char="•"/>
            </a:pPr>
            <a:endParaRPr lang="en-IN"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020324490"/>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Table 8">
            <a:extLst>
              <a:ext uri="{FF2B5EF4-FFF2-40B4-BE49-F238E27FC236}">
                <a16:creationId xmlns:a16="http://schemas.microsoft.com/office/drawing/2014/main" id="{0B6EC464-4750-5FF3-7A5A-15612BA6E293}"/>
              </a:ext>
            </a:extLst>
          </p:cNvPr>
          <p:cNvGraphicFramePr>
            <a:graphicFrameLocks noGrp="1"/>
          </p:cNvGraphicFramePr>
          <p:nvPr/>
        </p:nvGraphicFramePr>
        <p:xfrm>
          <a:off x="0" y="23812"/>
          <a:ext cx="12192000" cy="465287"/>
        </p:xfrm>
        <a:graphic>
          <a:graphicData uri="http://schemas.openxmlformats.org/drawingml/2006/table">
            <a:tbl>
              <a:tblPr firstRow="1" bandRow="1">
                <a:tableStyleId>{5C22544A-7EE6-4342-B048-85BDC9FD1C3A}</a:tableStyleId>
              </a:tblPr>
              <a:tblGrid>
                <a:gridCol w="6092042">
                  <a:extLst>
                    <a:ext uri="{9D8B030D-6E8A-4147-A177-3AD203B41FA5}">
                      <a16:colId xmlns:a16="http://schemas.microsoft.com/office/drawing/2014/main" val="2179694530"/>
                    </a:ext>
                  </a:extLst>
                </a:gridCol>
                <a:gridCol w="6099958">
                  <a:extLst>
                    <a:ext uri="{9D8B030D-6E8A-4147-A177-3AD203B41FA5}">
                      <a16:colId xmlns:a16="http://schemas.microsoft.com/office/drawing/2014/main" val="2768207918"/>
                    </a:ext>
                  </a:extLst>
                </a:gridCol>
              </a:tblGrid>
              <a:tr h="465287">
                <a:tc>
                  <a:txBody>
                    <a:bodyPr/>
                    <a:lstStyle/>
                    <a:p>
                      <a:endParaRPr lang="en-US" dirty="0"/>
                    </a:p>
                  </a:txBody>
                  <a:tcPr>
                    <a:solidFill>
                      <a:srgbClr val="FF85FF"/>
                    </a:solidFill>
                  </a:tcPr>
                </a:tc>
                <a:tc>
                  <a:txBody>
                    <a:bodyPr/>
                    <a:lstStyle/>
                    <a:p>
                      <a:endParaRPr lang="en-US" dirty="0"/>
                    </a:p>
                  </a:txBody>
                  <a:tcPr>
                    <a:solidFill>
                      <a:srgbClr val="FFFF00"/>
                    </a:solidFill>
                  </a:tcPr>
                </a:tc>
                <a:extLst>
                  <a:ext uri="{0D108BD9-81ED-4DB2-BD59-A6C34878D82A}">
                    <a16:rowId xmlns:a16="http://schemas.microsoft.com/office/drawing/2014/main" val="1996944423"/>
                  </a:ext>
                </a:extLst>
              </a:tr>
            </a:tbl>
          </a:graphicData>
        </a:graphic>
      </p:graphicFrame>
      <p:graphicFrame>
        <p:nvGraphicFramePr>
          <p:cNvPr id="10" name="Table 9">
            <a:extLst>
              <a:ext uri="{FF2B5EF4-FFF2-40B4-BE49-F238E27FC236}">
                <a16:creationId xmlns:a16="http://schemas.microsoft.com/office/drawing/2014/main" id="{494BAFB7-FE1F-E1A9-7A6C-AB4145BD9BA1}"/>
              </a:ext>
            </a:extLst>
          </p:cNvPr>
          <p:cNvGraphicFramePr>
            <a:graphicFrameLocks noGrp="1"/>
          </p:cNvGraphicFramePr>
          <p:nvPr>
            <p:extLst>
              <p:ext uri="{D42A27DB-BD31-4B8C-83A1-F6EECF244321}">
                <p14:modId xmlns:p14="http://schemas.microsoft.com/office/powerpoint/2010/main" val="2687664989"/>
              </p:ext>
            </p:extLst>
          </p:nvPr>
        </p:nvGraphicFramePr>
        <p:xfrm>
          <a:off x="1" y="6478892"/>
          <a:ext cx="12191999" cy="370840"/>
        </p:xfrm>
        <a:graphic>
          <a:graphicData uri="http://schemas.openxmlformats.org/drawingml/2006/table">
            <a:tbl>
              <a:tblPr firstRow="1" bandRow="1">
                <a:tableStyleId>{5C22544A-7EE6-4342-B048-85BDC9FD1C3A}</a:tableStyleId>
              </a:tblPr>
              <a:tblGrid>
                <a:gridCol w="6080165">
                  <a:extLst>
                    <a:ext uri="{9D8B030D-6E8A-4147-A177-3AD203B41FA5}">
                      <a16:colId xmlns:a16="http://schemas.microsoft.com/office/drawing/2014/main" val="2179694530"/>
                    </a:ext>
                  </a:extLst>
                </a:gridCol>
                <a:gridCol w="6111834">
                  <a:extLst>
                    <a:ext uri="{9D8B030D-6E8A-4147-A177-3AD203B41FA5}">
                      <a16:colId xmlns:a16="http://schemas.microsoft.com/office/drawing/2014/main" val="2768207918"/>
                    </a:ext>
                  </a:extLst>
                </a:gridCol>
              </a:tblGrid>
              <a:tr h="370840">
                <a:tc>
                  <a:txBody>
                    <a:bodyPr/>
                    <a:lstStyle/>
                    <a:p>
                      <a:endParaRPr lang="en-US" dirty="0"/>
                    </a:p>
                  </a:txBody>
                  <a:tcPr>
                    <a:solidFill>
                      <a:srgbClr val="FFFF00"/>
                    </a:solidFill>
                  </a:tcPr>
                </a:tc>
                <a:tc>
                  <a:txBody>
                    <a:bodyPr/>
                    <a:lstStyle/>
                    <a:p>
                      <a:pPr algn="r"/>
                      <a:r>
                        <a:rPr lang="en-US" dirty="0">
                          <a:solidFill>
                            <a:schemeClr val="tx1"/>
                          </a:solidFill>
                        </a:rPr>
                        <a:t>66</a:t>
                      </a:r>
                    </a:p>
                  </a:txBody>
                  <a:tcPr>
                    <a:solidFill>
                      <a:srgbClr val="FF85FF"/>
                    </a:solidFill>
                  </a:tcPr>
                </a:tc>
                <a:extLst>
                  <a:ext uri="{0D108BD9-81ED-4DB2-BD59-A6C34878D82A}">
                    <a16:rowId xmlns:a16="http://schemas.microsoft.com/office/drawing/2014/main" val="1996944423"/>
                  </a:ext>
                </a:extLst>
              </a:tr>
            </a:tbl>
          </a:graphicData>
        </a:graphic>
      </p:graphicFrame>
      <p:pic>
        <p:nvPicPr>
          <p:cNvPr id="12" name="Google Shape;187;p25" descr="pngfind.com-kingpin-png-4152286 (1).png">
            <a:extLst>
              <a:ext uri="{FF2B5EF4-FFF2-40B4-BE49-F238E27FC236}">
                <a16:creationId xmlns:a16="http://schemas.microsoft.com/office/drawing/2014/main" id="{2DBF2481-A2DB-F96E-5749-B03DC4F71665}"/>
              </a:ext>
            </a:extLst>
          </p:cNvPr>
          <p:cNvPicPr preferRelativeResize="0"/>
          <p:nvPr/>
        </p:nvPicPr>
        <p:blipFill rotWithShape="1">
          <a:blip r:embed="rId2">
            <a:alphaModFix/>
          </a:blip>
          <a:srcRect/>
          <a:stretch/>
        </p:blipFill>
        <p:spPr>
          <a:xfrm>
            <a:off x="11044052" y="8268"/>
            <a:ext cx="1051261" cy="465287"/>
          </a:xfrm>
          <a:prstGeom prst="rect">
            <a:avLst/>
          </a:prstGeom>
          <a:noFill/>
          <a:ln>
            <a:noFill/>
          </a:ln>
        </p:spPr>
      </p:pic>
      <p:sp>
        <p:nvSpPr>
          <p:cNvPr id="19" name="Rectangle 18">
            <a:extLst>
              <a:ext uri="{FF2B5EF4-FFF2-40B4-BE49-F238E27FC236}">
                <a16:creationId xmlns:a16="http://schemas.microsoft.com/office/drawing/2014/main" id="{A0702E37-2E7E-7262-5E76-F69A817105B3}"/>
              </a:ext>
            </a:extLst>
          </p:cNvPr>
          <p:cNvSpPr/>
          <p:nvPr/>
        </p:nvSpPr>
        <p:spPr>
          <a:xfrm>
            <a:off x="0" y="8268"/>
            <a:ext cx="12192000" cy="6825920"/>
          </a:xfrm>
          <a:prstGeom prst="rect">
            <a:avLst/>
          </a:prstGeom>
          <a:noFill/>
          <a:ln w="38100">
            <a:solidFill>
              <a:srgbClr val="0432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DCB2A3F0-9003-5886-09B4-27925BBE4000}"/>
              </a:ext>
            </a:extLst>
          </p:cNvPr>
          <p:cNvSpPr txBox="1"/>
          <p:nvPr/>
        </p:nvSpPr>
        <p:spPr>
          <a:xfrm>
            <a:off x="0" y="873851"/>
            <a:ext cx="12191999" cy="646331"/>
          </a:xfrm>
          <a:prstGeom prst="rect">
            <a:avLst/>
          </a:prstGeom>
          <a:noFill/>
        </p:spPr>
        <p:txBody>
          <a:bodyPr wrap="square">
            <a:spAutoFit/>
          </a:bodyPr>
          <a:lstStyle/>
          <a:p>
            <a:pPr algn="ctr"/>
            <a:r>
              <a:rPr lang="en-US" sz="3600" b="1" dirty="0">
                <a:effectLst/>
                <a:latin typeface="Calibri" panose="020F0502020204030204" pitchFamily="34" charset="0"/>
                <a:ea typeface="Calibri" panose="020F0502020204030204" pitchFamily="34" charset="0"/>
                <a:cs typeface="Calibri" panose="020F0502020204030204" pitchFamily="34" charset="0"/>
              </a:rPr>
              <a:t>One Dimensional Array Slicing</a:t>
            </a:r>
            <a:endParaRPr lang="en-GB" sz="6600" b="1" cap="none" spc="0" dirty="0">
              <a:ln w="0"/>
              <a:solidFill>
                <a:schemeClr val="tx1"/>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Calibri" panose="020F0502020204030204" pitchFamily="34" charset="0"/>
            </a:endParaRPr>
          </a:p>
        </p:txBody>
      </p:sp>
      <p:pic>
        <p:nvPicPr>
          <p:cNvPr id="4" name="Picture 3">
            <a:extLst>
              <a:ext uri="{FF2B5EF4-FFF2-40B4-BE49-F238E27FC236}">
                <a16:creationId xmlns:a16="http://schemas.microsoft.com/office/drawing/2014/main" id="{B6580B5F-0186-F6E6-868C-17D27530E586}"/>
              </a:ext>
            </a:extLst>
          </p:cNvPr>
          <p:cNvPicPr>
            <a:picLocks noChangeAspect="1"/>
          </p:cNvPicPr>
          <p:nvPr/>
        </p:nvPicPr>
        <p:blipFill>
          <a:blip r:embed="rId3"/>
          <a:stretch>
            <a:fillRect/>
          </a:stretch>
        </p:blipFill>
        <p:spPr>
          <a:xfrm>
            <a:off x="1832753" y="1766579"/>
            <a:ext cx="8526493" cy="4554708"/>
          </a:xfrm>
          <a:prstGeom prst="rect">
            <a:avLst/>
          </a:prstGeom>
        </p:spPr>
      </p:pic>
    </p:spTree>
    <p:extLst>
      <p:ext uri="{BB962C8B-B14F-4D97-AF65-F5344CB8AC3E}">
        <p14:creationId xmlns:p14="http://schemas.microsoft.com/office/powerpoint/2010/main" val="454226993"/>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Table 8">
            <a:extLst>
              <a:ext uri="{FF2B5EF4-FFF2-40B4-BE49-F238E27FC236}">
                <a16:creationId xmlns:a16="http://schemas.microsoft.com/office/drawing/2014/main" id="{0B6EC464-4750-5FF3-7A5A-15612BA6E293}"/>
              </a:ext>
            </a:extLst>
          </p:cNvPr>
          <p:cNvGraphicFramePr>
            <a:graphicFrameLocks noGrp="1"/>
          </p:cNvGraphicFramePr>
          <p:nvPr/>
        </p:nvGraphicFramePr>
        <p:xfrm>
          <a:off x="0" y="23812"/>
          <a:ext cx="12192000" cy="465287"/>
        </p:xfrm>
        <a:graphic>
          <a:graphicData uri="http://schemas.openxmlformats.org/drawingml/2006/table">
            <a:tbl>
              <a:tblPr firstRow="1" bandRow="1">
                <a:tableStyleId>{5C22544A-7EE6-4342-B048-85BDC9FD1C3A}</a:tableStyleId>
              </a:tblPr>
              <a:tblGrid>
                <a:gridCol w="6092042">
                  <a:extLst>
                    <a:ext uri="{9D8B030D-6E8A-4147-A177-3AD203B41FA5}">
                      <a16:colId xmlns:a16="http://schemas.microsoft.com/office/drawing/2014/main" val="2179694530"/>
                    </a:ext>
                  </a:extLst>
                </a:gridCol>
                <a:gridCol w="6099958">
                  <a:extLst>
                    <a:ext uri="{9D8B030D-6E8A-4147-A177-3AD203B41FA5}">
                      <a16:colId xmlns:a16="http://schemas.microsoft.com/office/drawing/2014/main" val="2768207918"/>
                    </a:ext>
                  </a:extLst>
                </a:gridCol>
              </a:tblGrid>
              <a:tr h="465287">
                <a:tc>
                  <a:txBody>
                    <a:bodyPr/>
                    <a:lstStyle/>
                    <a:p>
                      <a:endParaRPr lang="en-US" dirty="0"/>
                    </a:p>
                  </a:txBody>
                  <a:tcPr>
                    <a:solidFill>
                      <a:srgbClr val="FF85FF"/>
                    </a:solidFill>
                  </a:tcPr>
                </a:tc>
                <a:tc>
                  <a:txBody>
                    <a:bodyPr/>
                    <a:lstStyle/>
                    <a:p>
                      <a:endParaRPr lang="en-US" dirty="0"/>
                    </a:p>
                  </a:txBody>
                  <a:tcPr>
                    <a:solidFill>
                      <a:srgbClr val="FFFF00"/>
                    </a:solidFill>
                  </a:tcPr>
                </a:tc>
                <a:extLst>
                  <a:ext uri="{0D108BD9-81ED-4DB2-BD59-A6C34878D82A}">
                    <a16:rowId xmlns:a16="http://schemas.microsoft.com/office/drawing/2014/main" val="1996944423"/>
                  </a:ext>
                </a:extLst>
              </a:tr>
            </a:tbl>
          </a:graphicData>
        </a:graphic>
      </p:graphicFrame>
      <p:graphicFrame>
        <p:nvGraphicFramePr>
          <p:cNvPr id="10" name="Table 9">
            <a:extLst>
              <a:ext uri="{FF2B5EF4-FFF2-40B4-BE49-F238E27FC236}">
                <a16:creationId xmlns:a16="http://schemas.microsoft.com/office/drawing/2014/main" id="{494BAFB7-FE1F-E1A9-7A6C-AB4145BD9BA1}"/>
              </a:ext>
            </a:extLst>
          </p:cNvPr>
          <p:cNvGraphicFramePr>
            <a:graphicFrameLocks noGrp="1"/>
          </p:cNvGraphicFramePr>
          <p:nvPr>
            <p:extLst>
              <p:ext uri="{D42A27DB-BD31-4B8C-83A1-F6EECF244321}">
                <p14:modId xmlns:p14="http://schemas.microsoft.com/office/powerpoint/2010/main" val="1887272770"/>
              </p:ext>
            </p:extLst>
          </p:nvPr>
        </p:nvGraphicFramePr>
        <p:xfrm>
          <a:off x="1" y="6478892"/>
          <a:ext cx="12191999" cy="370840"/>
        </p:xfrm>
        <a:graphic>
          <a:graphicData uri="http://schemas.openxmlformats.org/drawingml/2006/table">
            <a:tbl>
              <a:tblPr firstRow="1" bandRow="1">
                <a:tableStyleId>{5C22544A-7EE6-4342-B048-85BDC9FD1C3A}</a:tableStyleId>
              </a:tblPr>
              <a:tblGrid>
                <a:gridCol w="6080165">
                  <a:extLst>
                    <a:ext uri="{9D8B030D-6E8A-4147-A177-3AD203B41FA5}">
                      <a16:colId xmlns:a16="http://schemas.microsoft.com/office/drawing/2014/main" val="2179694530"/>
                    </a:ext>
                  </a:extLst>
                </a:gridCol>
                <a:gridCol w="6111834">
                  <a:extLst>
                    <a:ext uri="{9D8B030D-6E8A-4147-A177-3AD203B41FA5}">
                      <a16:colId xmlns:a16="http://schemas.microsoft.com/office/drawing/2014/main" val="2768207918"/>
                    </a:ext>
                  </a:extLst>
                </a:gridCol>
              </a:tblGrid>
              <a:tr h="370840">
                <a:tc>
                  <a:txBody>
                    <a:bodyPr/>
                    <a:lstStyle/>
                    <a:p>
                      <a:endParaRPr lang="en-US" dirty="0"/>
                    </a:p>
                  </a:txBody>
                  <a:tcPr>
                    <a:solidFill>
                      <a:srgbClr val="FFFF00"/>
                    </a:solidFill>
                  </a:tcPr>
                </a:tc>
                <a:tc>
                  <a:txBody>
                    <a:bodyPr/>
                    <a:lstStyle/>
                    <a:p>
                      <a:pPr algn="r"/>
                      <a:r>
                        <a:rPr lang="en-US" dirty="0">
                          <a:solidFill>
                            <a:schemeClr val="tx1"/>
                          </a:solidFill>
                        </a:rPr>
                        <a:t>67</a:t>
                      </a:r>
                    </a:p>
                  </a:txBody>
                  <a:tcPr>
                    <a:solidFill>
                      <a:srgbClr val="FF85FF"/>
                    </a:solidFill>
                  </a:tcPr>
                </a:tc>
                <a:extLst>
                  <a:ext uri="{0D108BD9-81ED-4DB2-BD59-A6C34878D82A}">
                    <a16:rowId xmlns:a16="http://schemas.microsoft.com/office/drawing/2014/main" val="1996944423"/>
                  </a:ext>
                </a:extLst>
              </a:tr>
            </a:tbl>
          </a:graphicData>
        </a:graphic>
      </p:graphicFrame>
      <p:pic>
        <p:nvPicPr>
          <p:cNvPr id="12" name="Google Shape;187;p25" descr="pngfind.com-kingpin-png-4152286 (1).png">
            <a:extLst>
              <a:ext uri="{FF2B5EF4-FFF2-40B4-BE49-F238E27FC236}">
                <a16:creationId xmlns:a16="http://schemas.microsoft.com/office/drawing/2014/main" id="{2DBF2481-A2DB-F96E-5749-B03DC4F71665}"/>
              </a:ext>
            </a:extLst>
          </p:cNvPr>
          <p:cNvPicPr preferRelativeResize="0"/>
          <p:nvPr/>
        </p:nvPicPr>
        <p:blipFill rotWithShape="1">
          <a:blip r:embed="rId2">
            <a:alphaModFix/>
          </a:blip>
          <a:srcRect/>
          <a:stretch/>
        </p:blipFill>
        <p:spPr>
          <a:xfrm>
            <a:off x="11044052" y="8268"/>
            <a:ext cx="1051261" cy="465287"/>
          </a:xfrm>
          <a:prstGeom prst="rect">
            <a:avLst/>
          </a:prstGeom>
          <a:noFill/>
          <a:ln>
            <a:noFill/>
          </a:ln>
        </p:spPr>
      </p:pic>
      <p:sp>
        <p:nvSpPr>
          <p:cNvPr id="19" name="Rectangle 18">
            <a:extLst>
              <a:ext uri="{FF2B5EF4-FFF2-40B4-BE49-F238E27FC236}">
                <a16:creationId xmlns:a16="http://schemas.microsoft.com/office/drawing/2014/main" id="{A0702E37-2E7E-7262-5E76-F69A817105B3}"/>
              </a:ext>
            </a:extLst>
          </p:cNvPr>
          <p:cNvSpPr/>
          <p:nvPr/>
        </p:nvSpPr>
        <p:spPr>
          <a:xfrm>
            <a:off x="0" y="8268"/>
            <a:ext cx="12192000" cy="6825920"/>
          </a:xfrm>
          <a:prstGeom prst="rect">
            <a:avLst/>
          </a:prstGeom>
          <a:noFill/>
          <a:ln w="38100">
            <a:solidFill>
              <a:srgbClr val="0432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DCB2A3F0-9003-5886-09B4-27925BBE4000}"/>
              </a:ext>
            </a:extLst>
          </p:cNvPr>
          <p:cNvSpPr txBox="1"/>
          <p:nvPr/>
        </p:nvSpPr>
        <p:spPr>
          <a:xfrm>
            <a:off x="0" y="873851"/>
            <a:ext cx="12191999" cy="646331"/>
          </a:xfrm>
          <a:prstGeom prst="rect">
            <a:avLst/>
          </a:prstGeom>
          <a:noFill/>
        </p:spPr>
        <p:txBody>
          <a:bodyPr wrap="square">
            <a:spAutoFit/>
          </a:bodyPr>
          <a:lstStyle/>
          <a:p>
            <a:pPr algn="ctr"/>
            <a:r>
              <a:rPr lang="en-US" sz="3600" b="1" dirty="0">
                <a:effectLst/>
                <a:latin typeface="Calibri" panose="020F0502020204030204" pitchFamily="34" charset="0"/>
                <a:ea typeface="Calibri" panose="020F0502020204030204" pitchFamily="34" charset="0"/>
                <a:cs typeface="Calibri" panose="020F0502020204030204" pitchFamily="34" charset="0"/>
              </a:rPr>
              <a:t>One Dimensional Array Slicing</a:t>
            </a:r>
            <a:endParaRPr lang="en-GB" sz="6600" b="1" cap="none" spc="0" dirty="0">
              <a:ln w="0"/>
              <a:solidFill>
                <a:schemeClr val="tx1"/>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Calibri" panose="020F0502020204030204" pitchFamily="34" charset="0"/>
            </a:endParaRPr>
          </a:p>
        </p:txBody>
      </p:sp>
      <p:pic>
        <p:nvPicPr>
          <p:cNvPr id="5" name="Picture 4">
            <a:extLst>
              <a:ext uri="{FF2B5EF4-FFF2-40B4-BE49-F238E27FC236}">
                <a16:creationId xmlns:a16="http://schemas.microsoft.com/office/drawing/2014/main" id="{47D18055-B5FC-9CA8-A61E-5FCA5BFC8C6A}"/>
              </a:ext>
            </a:extLst>
          </p:cNvPr>
          <p:cNvPicPr>
            <a:picLocks noChangeAspect="1"/>
          </p:cNvPicPr>
          <p:nvPr/>
        </p:nvPicPr>
        <p:blipFill>
          <a:blip r:embed="rId3"/>
          <a:stretch>
            <a:fillRect/>
          </a:stretch>
        </p:blipFill>
        <p:spPr>
          <a:xfrm>
            <a:off x="2678153" y="1686273"/>
            <a:ext cx="6792000" cy="4635014"/>
          </a:xfrm>
          <a:prstGeom prst="rect">
            <a:avLst/>
          </a:prstGeom>
        </p:spPr>
      </p:pic>
    </p:spTree>
    <p:extLst>
      <p:ext uri="{BB962C8B-B14F-4D97-AF65-F5344CB8AC3E}">
        <p14:creationId xmlns:p14="http://schemas.microsoft.com/office/powerpoint/2010/main" val="1669730372"/>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Table 8">
            <a:extLst>
              <a:ext uri="{FF2B5EF4-FFF2-40B4-BE49-F238E27FC236}">
                <a16:creationId xmlns:a16="http://schemas.microsoft.com/office/drawing/2014/main" id="{0B6EC464-4750-5FF3-7A5A-15612BA6E293}"/>
              </a:ext>
            </a:extLst>
          </p:cNvPr>
          <p:cNvGraphicFramePr>
            <a:graphicFrameLocks noGrp="1"/>
          </p:cNvGraphicFramePr>
          <p:nvPr/>
        </p:nvGraphicFramePr>
        <p:xfrm>
          <a:off x="0" y="23812"/>
          <a:ext cx="12192000" cy="465287"/>
        </p:xfrm>
        <a:graphic>
          <a:graphicData uri="http://schemas.openxmlformats.org/drawingml/2006/table">
            <a:tbl>
              <a:tblPr firstRow="1" bandRow="1">
                <a:tableStyleId>{5C22544A-7EE6-4342-B048-85BDC9FD1C3A}</a:tableStyleId>
              </a:tblPr>
              <a:tblGrid>
                <a:gridCol w="6092042">
                  <a:extLst>
                    <a:ext uri="{9D8B030D-6E8A-4147-A177-3AD203B41FA5}">
                      <a16:colId xmlns:a16="http://schemas.microsoft.com/office/drawing/2014/main" val="2179694530"/>
                    </a:ext>
                  </a:extLst>
                </a:gridCol>
                <a:gridCol w="6099958">
                  <a:extLst>
                    <a:ext uri="{9D8B030D-6E8A-4147-A177-3AD203B41FA5}">
                      <a16:colId xmlns:a16="http://schemas.microsoft.com/office/drawing/2014/main" val="2768207918"/>
                    </a:ext>
                  </a:extLst>
                </a:gridCol>
              </a:tblGrid>
              <a:tr h="465287">
                <a:tc>
                  <a:txBody>
                    <a:bodyPr/>
                    <a:lstStyle/>
                    <a:p>
                      <a:endParaRPr lang="en-US" dirty="0"/>
                    </a:p>
                  </a:txBody>
                  <a:tcPr>
                    <a:solidFill>
                      <a:srgbClr val="FF85FF"/>
                    </a:solidFill>
                  </a:tcPr>
                </a:tc>
                <a:tc>
                  <a:txBody>
                    <a:bodyPr/>
                    <a:lstStyle/>
                    <a:p>
                      <a:endParaRPr lang="en-US" dirty="0"/>
                    </a:p>
                  </a:txBody>
                  <a:tcPr>
                    <a:solidFill>
                      <a:srgbClr val="FFFF00"/>
                    </a:solidFill>
                  </a:tcPr>
                </a:tc>
                <a:extLst>
                  <a:ext uri="{0D108BD9-81ED-4DB2-BD59-A6C34878D82A}">
                    <a16:rowId xmlns:a16="http://schemas.microsoft.com/office/drawing/2014/main" val="1996944423"/>
                  </a:ext>
                </a:extLst>
              </a:tr>
            </a:tbl>
          </a:graphicData>
        </a:graphic>
      </p:graphicFrame>
      <p:graphicFrame>
        <p:nvGraphicFramePr>
          <p:cNvPr id="10" name="Table 9">
            <a:extLst>
              <a:ext uri="{FF2B5EF4-FFF2-40B4-BE49-F238E27FC236}">
                <a16:creationId xmlns:a16="http://schemas.microsoft.com/office/drawing/2014/main" id="{494BAFB7-FE1F-E1A9-7A6C-AB4145BD9BA1}"/>
              </a:ext>
            </a:extLst>
          </p:cNvPr>
          <p:cNvGraphicFramePr>
            <a:graphicFrameLocks noGrp="1"/>
          </p:cNvGraphicFramePr>
          <p:nvPr>
            <p:extLst>
              <p:ext uri="{D42A27DB-BD31-4B8C-83A1-F6EECF244321}">
                <p14:modId xmlns:p14="http://schemas.microsoft.com/office/powerpoint/2010/main" val="4102784925"/>
              </p:ext>
            </p:extLst>
          </p:nvPr>
        </p:nvGraphicFramePr>
        <p:xfrm>
          <a:off x="1" y="6478892"/>
          <a:ext cx="12191999" cy="370840"/>
        </p:xfrm>
        <a:graphic>
          <a:graphicData uri="http://schemas.openxmlformats.org/drawingml/2006/table">
            <a:tbl>
              <a:tblPr firstRow="1" bandRow="1">
                <a:tableStyleId>{5C22544A-7EE6-4342-B048-85BDC9FD1C3A}</a:tableStyleId>
              </a:tblPr>
              <a:tblGrid>
                <a:gridCol w="6080165">
                  <a:extLst>
                    <a:ext uri="{9D8B030D-6E8A-4147-A177-3AD203B41FA5}">
                      <a16:colId xmlns:a16="http://schemas.microsoft.com/office/drawing/2014/main" val="2179694530"/>
                    </a:ext>
                  </a:extLst>
                </a:gridCol>
                <a:gridCol w="6111834">
                  <a:extLst>
                    <a:ext uri="{9D8B030D-6E8A-4147-A177-3AD203B41FA5}">
                      <a16:colId xmlns:a16="http://schemas.microsoft.com/office/drawing/2014/main" val="2768207918"/>
                    </a:ext>
                  </a:extLst>
                </a:gridCol>
              </a:tblGrid>
              <a:tr h="370840">
                <a:tc>
                  <a:txBody>
                    <a:bodyPr/>
                    <a:lstStyle/>
                    <a:p>
                      <a:endParaRPr lang="en-US" dirty="0"/>
                    </a:p>
                  </a:txBody>
                  <a:tcPr>
                    <a:solidFill>
                      <a:srgbClr val="FFFF00"/>
                    </a:solidFill>
                  </a:tcPr>
                </a:tc>
                <a:tc>
                  <a:txBody>
                    <a:bodyPr/>
                    <a:lstStyle/>
                    <a:p>
                      <a:pPr algn="r"/>
                      <a:r>
                        <a:rPr lang="en-US" dirty="0">
                          <a:solidFill>
                            <a:schemeClr val="tx1"/>
                          </a:solidFill>
                        </a:rPr>
                        <a:t>68</a:t>
                      </a:r>
                    </a:p>
                  </a:txBody>
                  <a:tcPr>
                    <a:solidFill>
                      <a:srgbClr val="FF85FF"/>
                    </a:solidFill>
                  </a:tcPr>
                </a:tc>
                <a:extLst>
                  <a:ext uri="{0D108BD9-81ED-4DB2-BD59-A6C34878D82A}">
                    <a16:rowId xmlns:a16="http://schemas.microsoft.com/office/drawing/2014/main" val="1996944423"/>
                  </a:ext>
                </a:extLst>
              </a:tr>
            </a:tbl>
          </a:graphicData>
        </a:graphic>
      </p:graphicFrame>
      <p:pic>
        <p:nvPicPr>
          <p:cNvPr id="12" name="Google Shape;187;p25" descr="pngfind.com-kingpin-png-4152286 (1).png">
            <a:extLst>
              <a:ext uri="{FF2B5EF4-FFF2-40B4-BE49-F238E27FC236}">
                <a16:creationId xmlns:a16="http://schemas.microsoft.com/office/drawing/2014/main" id="{2DBF2481-A2DB-F96E-5749-B03DC4F71665}"/>
              </a:ext>
            </a:extLst>
          </p:cNvPr>
          <p:cNvPicPr preferRelativeResize="0"/>
          <p:nvPr/>
        </p:nvPicPr>
        <p:blipFill rotWithShape="1">
          <a:blip r:embed="rId2">
            <a:alphaModFix/>
          </a:blip>
          <a:srcRect/>
          <a:stretch/>
        </p:blipFill>
        <p:spPr>
          <a:xfrm>
            <a:off x="11044052" y="8268"/>
            <a:ext cx="1051261" cy="465287"/>
          </a:xfrm>
          <a:prstGeom prst="rect">
            <a:avLst/>
          </a:prstGeom>
          <a:noFill/>
          <a:ln>
            <a:noFill/>
          </a:ln>
        </p:spPr>
      </p:pic>
      <p:sp>
        <p:nvSpPr>
          <p:cNvPr id="19" name="Rectangle 18">
            <a:extLst>
              <a:ext uri="{FF2B5EF4-FFF2-40B4-BE49-F238E27FC236}">
                <a16:creationId xmlns:a16="http://schemas.microsoft.com/office/drawing/2014/main" id="{A0702E37-2E7E-7262-5E76-F69A817105B3}"/>
              </a:ext>
            </a:extLst>
          </p:cNvPr>
          <p:cNvSpPr/>
          <p:nvPr/>
        </p:nvSpPr>
        <p:spPr>
          <a:xfrm>
            <a:off x="0" y="8268"/>
            <a:ext cx="12192000" cy="6825920"/>
          </a:xfrm>
          <a:prstGeom prst="rect">
            <a:avLst/>
          </a:prstGeom>
          <a:noFill/>
          <a:ln w="38100">
            <a:solidFill>
              <a:srgbClr val="0432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DCB2A3F0-9003-5886-09B4-27925BBE4000}"/>
              </a:ext>
            </a:extLst>
          </p:cNvPr>
          <p:cNvSpPr txBox="1"/>
          <p:nvPr/>
        </p:nvSpPr>
        <p:spPr>
          <a:xfrm>
            <a:off x="0" y="873851"/>
            <a:ext cx="12191999" cy="646331"/>
          </a:xfrm>
          <a:prstGeom prst="rect">
            <a:avLst/>
          </a:prstGeom>
          <a:noFill/>
        </p:spPr>
        <p:txBody>
          <a:bodyPr wrap="square">
            <a:spAutoFit/>
          </a:bodyPr>
          <a:lstStyle/>
          <a:p>
            <a:pPr algn="ctr"/>
            <a:r>
              <a:rPr lang="en-US" sz="3600" b="1" dirty="0">
                <a:effectLst/>
                <a:latin typeface="Calibri" panose="020F0502020204030204" pitchFamily="34" charset="0"/>
                <a:ea typeface="Calibri" panose="020F0502020204030204" pitchFamily="34" charset="0"/>
                <a:cs typeface="Calibri" panose="020F0502020204030204" pitchFamily="34" charset="0"/>
              </a:rPr>
              <a:t>Two Dimensional Array Slicing</a:t>
            </a:r>
            <a:endParaRPr lang="en-GB" sz="6600" b="1" cap="none" spc="0" dirty="0">
              <a:ln w="0"/>
              <a:solidFill>
                <a:schemeClr val="tx1"/>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Calibri" panose="020F0502020204030204" pitchFamily="34" charset="0"/>
            </a:endParaRPr>
          </a:p>
        </p:txBody>
      </p:sp>
      <p:sp>
        <p:nvSpPr>
          <p:cNvPr id="11" name="TextBox 10">
            <a:extLst>
              <a:ext uri="{FF2B5EF4-FFF2-40B4-BE49-F238E27FC236}">
                <a16:creationId xmlns:a16="http://schemas.microsoft.com/office/drawing/2014/main" id="{C11BBC61-B926-611F-8358-9DB20CDFEA3B}"/>
              </a:ext>
            </a:extLst>
          </p:cNvPr>
          <p:cNvSpPr txBox="1"/>
          <p:nvPr/>
        </p:nvSpPr>
        <p:spPr>
          <a:xfrm>
            <a:off x="547186" y="1667171"/>
            <a:ext cx="11022496" cy="1711366"/>
          </a:xfrm>
          <a:prstGeom prst="rect">
            <a:avLst/>
          </a:prstGeom>
          <a:noFill/>
        </p:spPr>
        <p:txBody>
          <a:bodyPr wrap="square">
            <a:spAutoFit/>
          </a:bodyPr>
          <a:lstStyle/>
          <a:p>
            <a:pPr algn="l">
              <a:lnSpc>
                <a:spcPct val="150000"/>
              </a:lnSpc>
            </a:pPr>
            <a:r>
              <a:rPr lang="en-US" b="1" dirty="0">
                <a:latin typeface="Calibri" panose="020F0502020204030204" pitchFamily="34" charset="0"/>
                <a:ea typeface="Calibri" panose="020F0502020204030204" pitchFamily="34" charset="0"/>
                <a:cs typeface="Calibri" panose="020F0502020204030204" pitchFamily="34" charset="0"/>
              </a:rPr>
              <a:t>                      array[</a:t>
            </a:r>
            <a:r>
              <a:rPr lang="en-US" b="1" dirty="0" err="1">
                <a:latin typeface="Calibri" panose="020F0502020204030204" pitchFamily="34" charset="0"/>
                <a:ea typeface="Calibri" panose="020F0502020204030204" pitchFamily="34" charset="0"/>
                <a:cs typeface="Calibri" panose="020F0502020204030204" pitchFamily="34" charset="0"/>
              </a:rPr>
              <a:t>row_start:row_stop:row_step</a:t>
            </a:r>
            <a:r>
              <a:rPr lang="en-US" b="1" dirty="0">
                <a:latin typeface="Calibri" panose="020F0502020204030204" pitchFamily="34" charset="0"/>
                <a:ea typeface="Calibri" panose="020F0502020204030204" pitchFamily="34" charset="0"/>
                <a:cs typeface="Calibri" panose="020F0502020204030204" pitchFamily="34" charset="0"/>
              </a:rPr>
              <a:t>, </a:t>
            </a:r>
            <a:r>
              <a:rPr lang="en-US" b="1" dirty="0" err="1">
                <a:latin typeface="Calibri" panose="020F0502020204030204" pitchFamily="34" charset="0"/>
                <a:ea typeface="Calibri" panose="020F0502020204030204" pitchFamily="34" charset="0"/>
                <a:cs typeface="Calibri" panose="020F0502020204030204" pitchFamily="34" charset="0"/>
              </a:rPr>
              <a:t>col_start:col_stop:col_step</a:t>
            </a:r>
            <a:r>
              <a:rPr lang="en-US" b="1" dirty="0">
                <a:latin typeface="Calibri" panose="020F0502020204030204" pitchFamily="34" charset="0"/>
                <a:ea typeface="Calibri" panose="020F0502020204030204" pitchFamily="34" charset="0"/>
                <a:cs typeface="Calibri" panose="020F0502020204030204" pitchFamily="34" charset="0"/>
              </a:rPr>
              <a:t>]</a:t>
            </a:r>
          </a:p>
          <a:p>
            <a:pPr marL="285750" indent="-285750" algn="l">
              <a:lnSpc>
                <a:spcPct val="150000"/>
              </a:lnSpc>
              <a:buFont typeface="Arial" panose="020B0604020202020204" pitchFamily="34" charset="0"/>
              <a:buChar char="•"/>
            </a:pPr>
            <a:r>
              <a:rPr lang="en-US" dirty="0" err="1">
                <a:latin typeface="Calibri" panose="020F0502020204030204" pitchFamily="34" charset="0"/>
                <a:ea typeface="Calibri" panose="020F0502020204030204" pitchFamily="34" charset="0"/>
                <a:cs typeface="Calibri" panose="020F0502020204030204" pitchFamily="34" charset="0"/>
              </a:rPr>
              <a:t>row_start,row_stop,row_step</a:t>
            </a:r>
            <a:r>
              <a:rPr lang="en-US" dirty="0">
                <a:latin typeface="Calibri" panose="020F0502020204030204" pitchFamily="34" charset="0"/>
                <a:ea typeface="Calibri" panose="020F0502020204030204" pitchFamily="34" charset="0"/>
                <a:cs typeface="Calibri" panose="020F0502020204030204" pitchFamily="34" charset="0"/>
              </a:rPr>
              <a:t> - specifies starting index, stopping index, and step size for the rows respectively</a:t>
            </a:r>
          </a:p>
          <a:p>
            <a:pPr marL="285750" indent="-285750" algn="l">
              <a:lnSpc>
                <a:spcPct val="150000"/>
              </a:lnSpc>
              <a:buFont typeface="Arial" panose="020B0604020202020204" pitchFamily="34" charset="0"/>
              <a:buChar char="•"/>
            </a:pPr>
            <a:r>
              <a:rPr lang="en-US" dirty="0" err="1">
                <a:latin typeface="Calibri" panose="020F0502020204030204" pitchFamily="34" charset="0"/>
                <a:ea typeface="Calibri" panose="020F0502020204030204" pitchFamily="34" charset="0"/>
                <a:cs typeface="Calibri" panose="020F0502020204030204" pitchFamily="34" charset="0"/>
              </a:rPr>
              <a:t>col_start,col_stop,col_step</a:t>
            </a:r>
            <a:r>
              <a:rPr lang="en-US" dirty="0">
                <a:latin typeface="Calibri" panose="020F0502020204030204" pitchFamily="34" charset="0"/>
                <a:ea typeface="Calibri" panose="020F0502020204030204" pitchFamily="34" charset="0"/>
                <a:cs typeface="Calibri" panose="020F0502020204030204" pitchFamily="34" charset="0"/>
              </a:rPr>
              <a:t> - specifies starting index, stopping index, and step size for the columns respectively</a:t>
            </a:r>
          </a:p>
          <a:p>
            <a:pPr marL="285750" indent="-285750">
              <a:lnSpc>
                <a:spcPct val="150000"/>
              </a:lnSpc>
              <a:buFont typeface="Arial" panose="020B0604020202020204" pitchFamily="34" charset="0"/>
              <a:buChar char="•"/>
            </a:pPr>
            <a:endParaRPr lang="en-IN"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593910469"/>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Table 8">
            <a:extLst>
              <a:ext uri="{FF2B5EF4-FFF2-40B4-BE49-F238E27FC236}">
                <a16:creationId xmlns:a16="http://schemas.microsoft.com/office/drawing/2014/main" id="{0B6EC464-4750-5FF3-7A5A-15612BA6E293}"/>
              </a:ext>
            </a:extLst>
          </p:cNvPr>
          <p:cNvGraphicFramePr>
            <a:graphicFrameLocks noGrp="1"/>
          </p:cNvGraphicFramePr>
          <p:nvPr/>
        </p:nvGraphicFramePr>
        <p:xfrm>
          <a:off x="0" y="23812"/>
          <a:ext cx="12192000" cy="465287"/>
        </p:xfrm>
        <a:graphic>
          <a:graphicData uri="http://schemas.openxmlformats.org/drawingml/2006/table">
            <a:tbl>
              <a:tblPr firstRow="1" bandRow="1">
                <a:tableStyleId>{5C22544A-7EE6-4342-B048-85BDC9FD1C3A}</a:tableStyleId>
              </a:tblPr>
              <a:tblGrid>
                <a:gridCol w="6092042">
                  <a:extLst>
                    <a:ext uri="{9D8B030D-6E8A-4147-A177-3AD203B41FA5}">
                      <a16:colId xmlns:a16="http://schemas.microsoft.com/office/drawing/2014/main" val="2179694530"/>
                    </a:ext>
                  </a:extLst>
                </a:gridCol>
                <a:gridCol w="6099958">
                  <a:extLst>
                    <a:ext uri="{9D8B030D-6E8A-4147-A177-3AD203B41FA5}">
                      <a16:colId xmlns:a16="http://schemas.microsoft.com/office/drawing/2014/main" val="2768207918"/>
                    </a:ext>
                  </a:extLst>
                </a:gridCol>
              </a:tblGrid>
              <a:tr h="465287">
                <a:tc>
                  <a:txBody>
                    <a:bodyPr/>
                    <a:lstStyle/>
                    <a:p>
                      <a:endParaRPr lang="en-US" dirty="0"/>
                    </a:p>
                  </a:txBody>
                  <a:tcPr>
                    <a:solidFill>
                      <a:srgbClr val="FF85FF"/>
                    </a:solidFill>
                  </a:tcPr>
                </a:tc>
                <a:tc>
                  <a:txBody>
                    <a:bodyPr/>
                    <a:lstStyle/>
                    <a:p>
                      <a:endParaRPr lang="en-US" dirty="0"/>
                    </a:p>
                  </a:txBody>
                  <a:tcPr>
                    <a:solidFill>
                      <a:srgbClr val="FFFF00"/>
                    </a:solidFill>
                  </a:tcPr>
                </a:tc>
                <a:extLst>
                  <a:ext uri="{0D108BD9-81ED-4DB2-BD59-A6C34878D82A}">
                    <a16:rowId xmlns:a16="http://schemas.microsoft.com/office/drawing/2014/main" val="1996944423"/>
                  </a:ext>
                </a:extLst>
              </a:tr>
            </a:tbl>
          </a:graphicData>
        </a:graphic>
      </p:graphicFrame>
      <p:graphicFrame>
        <p:nvGraphicFramePr>
          <p:cNvPr id="10" name="Table 9">
            <a:extLst>
              <a:ext uri="{FF2B5EF4-FFF2-40B4-BE49-F238E27FC236}">
                <a16:creationId xmlns:a16="http://schemas.microsoft.com/office/drawing/2014/main" id="{494BAFB7-FE1F-E1A9-7A6C-AB4145BD9BA1}"/>
              </a:ext>
            </a:extLst>
          </p:cNvPr>
          <p:cNvGraphicFramePr>
            <a:graphicFrameLocks noGrp="1"/>
          </p:cNvGraphicFramePr>
          <p:nvPr>
            <p:extLst>
              <p:ext uri="{D42A27DB-BD31-4B8C-83A1-F6EECF244321}">
                <p14:modId xmlns:p14="http://schemas.microsoft.com/office/powerpoint/2010/main" val="974103412"/>
              </p:ext>
            </p:extLst>
          </p:nvPr>
        </p:nvGraphicFramePr>
        <p:xfrm>
          <a:off x="1" y="6478892"/>
          <a:ext cx="12191999" cy="370840"/>
        </p:xfrm>
        <a:graphic>
          <a:graphicData uri="http://schemas.openxmlformats.org/drawingml/2006/table">
            <a:tbl>
              <a:tblPr firstRow="1" bandRow="1">
                <a:tableStyleId>{5C22544A-7EE6-4342-B048-85BDC9FD1C3A}</a:tableStyleId>
              </a:tblPr>
              <a:tblGrid>
                <a:gridCol w="6080165">
                  <a:extLst>
                    <a:ext uri="{9D8B030D-6E8A-4147-A177-3AD203B41FA5}">
                      <a16:colId xmlns:a16="http://schemas.microsoft.com/office/drawing/2014/main" val="2179694530"/>
                    </a:ext>
                  </a:extLst>
                </a:gridCol>
                <a:gridCol w="6111834">
                  <a:extLst>
                    <a:ext uri="{9D8B030D-6E8A-4147-A177-3AD203B41FA5}">
                      <a16:colId xmlns:a16="http://schemas.microsoft.com/office/drawing/2014/main" val="2768207918"/>
                    </a:ext>
                  </a:extLst>
                </a:gridCol>
              </a:tblGrid>
              <a:tr h="370840">
                <a:tc>
                  <a:txBody>
                    <a:bodyPr/>
                    <a:lstStyle/>
                    <a:p>
                      <a:endParaRPr lang="en-US" dirty="0"/>
                    </a:p>
                  </a:txBody>
                  <a:tcPr>
                    <a:solidFill>
                      <a:srgbClr val="FFFF00"/>
                    </a:solidFill>
                  </a:tcPr>
                </a:tc>
                <a:tc>
                  <a:txBody>
                    <a:bodyPr/>
                    <a:lstStyle/>
                    <a:p>
                      <a:pPr algn="r"/>
                      <a:r>
                        <a:rPr lang="en-US" dirty="0">
                          <a:solidFill>
                            <a:schemeClr val="tx1"/>
                          </a:solidFill>
                        </a:rPr>
                        <a:t>69</a:t>
                      </a:r>
                    </a:p>
                  </a:txBody>
                  <a:tcPr>
                    <a:solidFill>
                      <a:srgbClr val="FF85FF"/>
                    </a:solidFill>
                  </a:tcPr>
                </a:tc>
                <a:extLst>
                  <a:ext uri="{0D108BD9-81ED-4DB2-BD59-A6C34878D82A}">
                    <a16:rowId xmlns:a16="http://schemas.microsoft.com/office/drawing/2014/main" val="1996944423"/>
                  </a:ext>
                </a:extLst>
              </a:tr>
            </a:tbl>
          </a:graphicData>
        </a:graphic>
      </p:graphicFrame>
      <p:pic>
        <p:nvPicPr>
          <p:cNvPr id="12" name="Google Shape;187;p25" descr="pngfind.com-kingpin-png-4152286 (1).png">
            <a:extLst>
              <a:ext uri="{FF2B5EF4-FFF2-40B4-BE49-F238E27FC236}">
                <a16:creationId xmlns:a16="http://schemas.microsoft.com/office/drawing/2014/main" id="{2DBF2481-A2DB-F96E-5749-B03DC4F71665}"/>
              </a:ext>
            </a:extLst>
          </p:cNvPr>
          <p:cNvPicPr preferRelativeResize="0"/>
          <p:nvPr/>
        </p:nvPicPr>
        <p:blipFill rotWithShape="1">
          <a:blip r:embed="rId2">
            <a:alphaModFix/>
          </a:blip>
          <a:srcRect/>
          <a:stretch/>
        </p:blipFill>
        <p:spPr>
          <a:xfrm>
            <a:off x="11044052" y="8268"/>
            <a:ext cx="1051261" cy="465287"/>
          </a:xfrm>
          <a:prstGeom prst="rect">
            <a:avLst/>
          </a:prstGeom>
          <a:noFill/>
          <a:ln>
            <a:noFill/>
          </a:ln>
        </p:spPr>
      </p:pic>
      <p:sp>
        <p:nvSpPr>
          <p:cNvPr id="19" name="Rectangle 18">
            <a:extLst>
              <a:ext uri="{FF2B5EF4-FFF2-40B4-BE49-F238E27FC236}">
                <a16:creationId xmlns:a16="http://schemas.microsoft.com/office/drawing/2014/main" id="{A0702E37-2E7E-7262-5E76-F69A817105B3}"/>
              </a:ext>
            </a:extLst>
          </p:cNvPr>
          <p:cNvSpPr/>
          <p:nvPr/>
        </p:nvSpPr>
        <p:spPr>
          <a:xfrm>
            <a:off x="0" y="8268"/>
            <a:ext cx="12192000" cy="6825920"/>
          </a:xfrm>
          <a:prstGeom prst="rect">
            <a:avLst/>
          </a:prstGeom>
          <a:noFill/>
          <a:ln w="38100">
            <a:solidFill>
              <a:srgbClr val="0432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DCB2A3F0-9003-5886-09B4-27925BBE4000}"/>
              </a:ext>
            </a:extLst>
          </p:cNvPr>
          <p:cNvSpPr txBox="1"/>
          <p:nvPr/>
        </p:nvSpPr>
        <p:spPr>
          <a:xfrm>
            <a:off x="0" y="873851"/>
            <a:ext cx="12191999" cy="646331"/>
          </a:xfrm>
          <a:prstGeom prst="rect">
            <a:avLst/>
          </a:prstGeom>
          <a:noFill/>
        </p:spPr>
        <p:txBody>
          <a:bodyPr wrap="square">
            <a:spAutoFit/>
          </a:bodyPr>
          <a:lstStyle/>
          <a:p>
            <a:pPr algn="ctr"/>
            <a:r>
              <a:rPr lang="en-US" sz="3600" b="1" dirty="0">
                <a:effectLst/>
                <a:latin typeface="Calibri" panose="020F0502020204030204" pitchFamily="34" charset="0"/>
                <a:ea typeface="Calibri" panose="020F0502020204030204" pitchFamily="34" charset="0"/>
                <a:cs typeface="Calibri" panose="020F0502020204030204" pitchFamily="34" charset="0"/>
              </a:rPr>
              <a:t>Two Dimensional Array Slicing</a:t>
            </a:r>
            <a:endParaRPr lang="en-GB" sz="6600" b="1" cap="none" spc="0" dirty="0">
              <a:ln w="0"/>
              <a:solidFill>
                <a:schemeClr val="tx1"/>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Calibri" panose="020F0502020204030204" pitchFamily="34" charset="0"/>
            </a:endParaRPr>
          </a:p>
        </p:txBody>
      </p:sp>
      <p:pic>
        <p:nvPicPr>
          <p:cNvPr id="4" name="Picture 3">
            <a:extLst>
              <a:ext uri="{FF2B5EF4-FFF2-40B4-BE49-F238E27FC236}">
                <a16:creationId xmlns:a16="http://schemas.microsoft.com/office/drawing/2014/main" id="{FC32AA81-53B6-57F6-5734-51A66BE56585}"/>
              </a:ext>
            </a:extLst>
          </p:cNvPr>
          <p:cNvPicPr>
            <a:picLocks noChangeAspect="1"/>
          </p:cNvPicPr>
          <p:nvPr/>
        </p:nvPicPr>
        <p:blipFill>
          <a:blip r:embed="rId3"/>
          <a:stretch>
            <a:fillRect/>
          </a:stretch>
        </p:blipFill>
        <p:spPr>
          <a:xfrm>
            <a:off x="771326" y="1557422"/>
            <a:ext cx="6712839" cy="4905925"/>
          </a:xfrm>
          <a:prstGeom prst="rect">
            <a:avLst/>
          </a:prstGeom>
        </p:spPr>
      </p:pic>
      <p:pic>
        <p:nvPicPr>
          <p:cNvPr id="7" name="Picture 6">
            <a:extLst>
              <a:ext uri="{FF2B5EF4-FFF2-40B4-BE49-F238E27FC236}">
                <a16:creationId xmlns:a16="http://schemas.microsoft.com/office/drawing/2014/main" id="{954E7EC6-88F9-50FA-4DE2-89B2A8B7F79C}"/>
              </a:ext>
            </a:extLst>
          </p:cNvPr>
          <p:cNvPicPr>
            <a:picLocks noChangeAspect="1"/>
          </p:cNvPicPr>
          <p:nvPr/>
        </p:nvPicPr>
        <p:blipFill>
          <a:blip r:embed="rId4"/>
          <a:stretch>
            <a:fillRect/>
          </a:stretch>
        </p:blipFill>
        <p:spPr>
          <a:xfrm>
            <a:off x="8039692" y="2987937"/>
            <a:ext cx="3631072" cy="2090958"/>
          </a:xfrm>
          <a:prstGeom prst="rect">
            <a:avLst/>
          </a:prstGeom>
        </p:spPr>
      </p:pic>
    </p:spTree>
    <p:extLst>
      <p:ext uri="{BB962C8B-B14F-4D97-AF65-F5344CB8AC3E}">
        <p14:creationId xmlns:p14="http://schemas.microsoft.com/office/powerpoint/2010/main" val="1192589383"/>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Table 8">
            <a:extLst>
              <a:ext uri="{FF2B5EF4-FFF2-40B4-BE49-F238E27FC236}">
                <a16:creationId xmlns:a16="http://schemas.microsoft.com/office/drawing/2014/main" id="{0B6EC464-4750-5FF3-7A5A-15612BA6E293}"/>
              </a:ext>
            </a:extLst>
          </p:cNvPr>
          <p:cNvGraphicFramePr>
            <a:graphicFrameLocks noGrp="1"/>
          </p:cNvGraphicFramePr>
          <p:nvPr/>
        </p:nvGraphicFramePr>
        <p:xfrm>
          <a:off x="0" y="23812"/>
          <a:ext cx="12192000" cy="465287"/>
        </p:xfrm>
        <a:graphic>
          <a:graphicData uri="http://schemas.openxmlformats.org/drawingml/2006/table">
            <a:tbl>
              <a:tblPr firstRow="1" bandRow="1">
                <a:tableStyleId>{5C22544A-7EE6-4342-B048-85BDC9FD1C3A}</a:tableStyleId>
              </a:tblPr>
              <a:tblGrid>
                <a:gridCol w="6092042">
                  <a:extLst>
                    <a:ext uri="{9D8B030D-6E8A-4147-A177-3AD203B41FA5}">
                      <a16:colId xmlns:a16="http://schemas.microsoft.com/office/drawing/2014/main" val="2179694530"/>
                    </a:ext>
                  </a:extLst>
                </a:gridCol>
                <a:gridCol w="6099958">
                  <a:extLst>
                    <a:ext uri="{9D8B030D-6E8A-4147-A177-3AD203B41FA5}">
                      <a16:colId xmlns:a16="http://schemas.microsoft.com/office/drawing/2014/main" val="2768207918"/>
                    </a:ext>
                  </a:extLst>
                </a:gridCol>
              </a:tblGrid>
              <a:tr h="465287">
                <a:tc>
                  <a:txBody>
                    <a:bodyPr/>
                    <a:lstStyle/>
                    <a:p>
                      <a:endParaRPr lang="en-US" dirty="0"/>
                    </a:p>
                  </a:txBody>
                  <a:tcPr>
                    <a:solidFill>
                      <a:srgbClr val="FF85FF"/>
                    </a:solidFill>
                  </a:tcPr>
                </a:tc>
                <a:tc>
                  <a:txBody>
                    <a:bodyPr/>
                    <a:lstStyle/>
                    <a:p>
                      <a:endParaRPr lang="en-US" dirty="0"/>
                    </a:p>
                  </a:txBody>
                  <a:tcPr>
                    <a:solidFill>
                      <a:srgbClr val="FFFF00"/>
                    </a:solidFill>
                  </a:tcPr>
                </a:tc>
                <a:extLst>
                  <a:ext uri="{0D108BD9-81ED-4DB2-BD59-A6C34878D82A}">
                    <a16:rowId xmlns:a16="http://schemas.microsoft.com/office/drawing/2014/main" val="1996944423"/>
                  </a:ext>
                </a:extLst>
              </a:tr>
            </a:tbl>
          </a:graphicData>
        </a:graphic>
      </p:graphicFrame>
      <p:graphicFrame>
        <p:nvGraphicFramePr>
          <p:cNvPr id="10" name="Table 9">
            <a:extLst>
              <a:ext uri="{FF2B5EF4-FFF2-40B4-BE49-F238E27FC236}">
                <a16:creationId xmlns:a16="http://schemas.microsoft.com/office/drawing/2014/main" id="{494BAFB7-FE1F-E1A9-7A6C-AB4145BD9BA1}"/>
              </a:ext>
            </a:extLst>
          </p:cNvPr>
          <p:cNvGraphicFramePr>
            <a:graphicFrameLocks noGrp="1"/>
          </p:cNvGraphicFramePr>
          <p:nvPr>
            <p:extLst>
              <p:ext uri="{D42A27DB-BD31-4B8C-83A1-F6EECF244321}">
                <p14:modId xmlns:p14="http://schemas.microsoft.com/office/powerpoint/2010/main" val="1837994532"/>
              </p:ext>
            </p:extLst>
          </p:nvPr>
        </p:nvGraphicFramePr>
        <p:xfrm>
          <a:off x="1" y="6478892"/>
          <a:ext cx="12191999" cy="370840"/>
        </p:xfrm>
        <a:graphic>
          <a:graphicData uri="http://schemas.openxmlformats.org/drawingml/2006/table">
            <a:tbl>
              <a:tblPr firstRow="1" bandRow="1">
                <a:tableStyleId>{5C22544A-7EE6-4342-B048-85BDC9FD1C3A}</a:tableStyleId>
              </a:tblPr>
              <a:tblGrid>
                <a:gridCol w="6080165">
                  <a:extLst>
                    <a:ext uri="{9D8B030D-6E8A-4147-A177-3AD203B41FA5}">
                      <a16:colId xmlns:a16="http://schemas.microsoft.com/office/drawing/2014/main" val="2179694530"/>
                    </a:ext>
                  </a:extLst>
                </a:gridCol>
                <a:gridCol w="6111834">
                  <a:extLst>
                    <a:ext uri="{9D8B030D-6E8A-4147-A177-3AD203B41FA5}">
                      <a16:colId xmlns:a16="http://schemas.microsoft.com/office/drawing/2014/main" val="2768207918"/>
                    </a:ext>
                  </a:extLst>
                </a:gridCol>
              </a:tblGrid>
              <a:tr h="370840">
                <a:tc>
                  <a:txBody>
                    <a:bodyPr/>
                    <a:lstStyle/>
                    <a:p>
                      <a:endParaRPr lang="en-US" dirty="0"/>
                    </a:p>
                  </a:txBody>
                  <a:tcPr>
                    <a:solidFill>
                      <a:srgbClr val="FFFF00"/>
                    </a:solidFill>
                  </a:tcPr>
                </a:tc>
                <a:tc>
                  <a:txBody>
                    <a:bodyPr/>
                    <a:lstStyle/>
                    <a:p>
                      <a:pPr algn="r"/>
                      <a:r>
                        <a:rPr lang="en-US" dirty="0">
                          <a:solidFill>
                            <a:schemeClr val="tx1"/>
                          </a:solidFill>
                        </a:rPr>
                        <a:t>70</a:t>
                      </a:r>
                    </a:p>
                  </a:txBody>
                  <a:tcPr>
                    <a:solidFill>
                      <a:srgbClr val="FF85FF"/>
                    </a:solidFill>
                  </a:tcPr>
                </a:tc>
                <a:extLst>
                  <a:ext uri="{0D108BD9-81ED-4DB2-BD59-A6C34878D82A}">
                    <a16:rowId xmlns:a16="http://schemas.microsoft.com/office/drawing/2014/main" val="1996944423"/>
                  </a:ext>
                </a:extLst>
              </a:tr>
            </a:tbl>
          </a:graphicData>
        </a:graphic>
      </p:graphicFrame>
      <p:pic>
        <p:nvPicPr>
          <p:cNvPr id="12" name="Google Shape;187;p25" descr="pngfind.com-kingpin-png-4152286 (1).png">
            <a:extLst>
              <a:ext uri="{FF2B5EF4-FFF2-40B4-BE49-F238E27FC236}">
                <a16:creationId xmlns:a16="http://schemas.microsoft.com/office/drawing/2014/main" id="{2DBF2481-A2DB-F96E-5749-B03DC4F71665}"/>
              </a:ext>
            </a:extLst>
          </p:cNvPr>
          <p:cNvPicPr preferRelativeResize="0"/>
          <p:nvPr/>
        </p:nvPicPr>
        <p:blipFill rotWithShape="1">
          <a:blip r:embed="rId2">
            <a:alphaModFix/>
          </a:blip>
          <a:srcRect/>
          <a:stretch/>
        </p:blipFill>
        <p:spPr>
          <a:xfrm>
            <a:off x="11044052" y="8268"/>
            <a:ext cx="1051261" cy="465287"/>
          </a:xfrm>
          <a:prstGeom prst="rect">
            <a:avLst/>
          </a:prstGeom>
          <a:noFill/>
          <a:ln>
            <a:noFill/>
          </a:ln>
        </p:spPr>
      </p:pic>
      <p:sp>
        <p:nvSpPr>
          <p:cNvPr id="19" name="Rectangle 18">
            <a:extLst>
              <a:ext uri="{FF2B5EF4-FFF2-40B4-BE49-F238E27FC236}">
                <a16:creationId xmlns:a16="http://schemas.microsoft.com/office/drawing/2014/main" id="{A0702E37-2E7E-7262-5E76-F69A817105B3}"/>
              </a:ext>
            </a:extLst>
          </p:cNvPr>
          <p:cNvSpPr/>
          <p:nvPr/>
        </p:nvSpPr>
        <p:spPr>
          <a:xfrm>
            <a:off x="0" y="8268"/>
            <a:ext cx="12192000" cy="6825920"/>
          </a:xfrm>
          <a:prstGeom prst="rect">
            <a:avLst/>
          </a:prstGeom>
          <a:noFill/>
          <a:ln w="38100">
            <a:solidFill>
              <a:srgbClr val="0432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DCB2A3F0-9003-5886-09B4-27925BBE4000}"/>
              </a:ext>
            </a:extLst>
          </p:cNvPr>
          <p:cNvSpPr txBox="1"/>
          <p:nvPr/>
        </p:nvSpPr>
        <p:spPr>
          <a:xfrm>
            <a:off x="0" y="873851"/>
            <a:ext cx="12191999" cy="646331"/>
          </a:xfrm>
          <a:prstGeom prst="rect">
            <a:avLst/>
          </a:prstGeom>
          <a:noFill/>
        </p:spPr>
        <p:txBody>
          <a:bodyPr wrap="square">
            <a:spAutoFit/>
          </a:bodyPr>
          <a:lstStyle/>
          <a:p>
            <a:pPr algn="ctr"/>
            <a:r>
              <a:rPr lang="en-US" sz="3600" b="1" dirty="0">
                <a:effectLst/>
                <a:latin typeface="Calibri" panose="020F0502020204030204" pitchFamily="34" charset="0"/>
                <a:ea typeface="Calibri" panose="020F0502020204030204" pitchFamily="34" charset="0"/>
                <a:cs typeface="Calibri" panose="020F0502020204030204" pitchFamily="34" charset="0"/>
              </a:rPr>
              <a:t>Iterating Array</a:t>
            </a:r>
            <a:endParaRPr lang="en-GB" sz="6600" b="1" cap="none" spc="0" dirty="0">
              <a:ln w="0"/>
              <a:solidFill>
                <a:schemeClr val="tx1"/>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Calibri" panose="020F0502020204030204" pitchFamily="34" charset="0"/>
            </a:endParaRPr>
          </a:p>
        </p:txBody>
      </p:sp>
      <p:sp>
        <p:nvSpPr>
          <p:cNvPr id="11" name="TextBox 10">
            <a:extLst>
              <a:ext uri="{FF2B5EF4-FFF2-40B4-BE49-F238E27FC236}">
                <a16:creationId xmlns:a16="http://schemas.microsoft.com/office/drawing/2014/main" id="{C11BBC61-B926-611F-8358-9DB20CDFEA3B}"/>
              </a:ext>
            </a:extLst>
          </p:cNvPr>
          <p:cNvSpPr txBox="1"/>
          <p:nvPr/>
        </p:nvSpPr>
        <p:spPr>
          <a:xfrm>
            <a:off x="547186" y="1667171"/>
            <a:ext cx="11022496" cy="1711366"/>
          </a:xfrm>
          <a:prstGeom prst="rect">
            <a:avLst/>
          </a:prstGeom>
          <a:noFill/>
        </p:spPr>
        <p:txBody>
          <a:bodyPr wrap="square">
            <a:spAutoFit/>
          </a:bodyPr>
          <a:lstStyle/>
          <a:p>
            <a:pPr marL="285750" indent="-285750" algn="l">
              <a:lnSpc>
                <a:spcPct val="150000"/>
              </a:lnSpc>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Iterating means going through elements one by one.</a:t>
            </a:r>
          </a:p>
          <a:p>
            <a:pPr marL="285750" indent="-285750" algn="l">
              <a:lnSpc>
                <a:spcPct val="150000"/>
              </a:lnSpc>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As we deal with multi-dimensional arrays in NumPy, we can do this using basic for loop of python.</a:t>
            </a:r>
          </a:p>
          <a:p>
            <a:pPr marL="285750" indent="-285750" algn="l">
              <a:lnSpc>
                <a:spcPct val="150000"/>
              </a:lnSpc>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Iterating 1D Array:</a:t>
            </a:r>
          </a:p>
          <a:p>
            <a:pPr algn="l">
              <a:lnSpc>
                <a:spcPct val="150000"/>
              </a:lnSpc>
            </a:pPr>
            <a:endParaRPr lang="en-US" dirty="0">
              <a:latin typeface="Calibri" panose="020F0502020204030204" pitchFamily="34" charset="0"/>
              <a:ea typeface="Calibri" panose="020F0502020204030204" pitchFamily="34" charset="0"/>
              <a:cs typeface="Calibri" panose="020F0502020204030204" pitchFamily="34" charset="0"/>
            </a:endParaRPr>
          </a:p>
        </p:txBody>
      </p:sp>
      <p:sp>
        <p:nvSpPr>
          <p:cNvPr id="6" name="TextBox 5">
            <a:extLst>
              <a:ext uri="{FF2B5EF4-FFF2-40B4-BE49-F238E27FC236}">
                <a16:creationId xmlns:a16="http://schemas.microsoft.com/office/drawing/2014/main" id="{8604819E-FFF0-6405-7AF8-AD3120D8C6AB}"/>
              </a:ext>
            </a:extLst>
          </p:cNvPr>
          <p:cNvSpPr txBox="1"/>
          <p:nvPr/>
        </p:nvSpPr>
        <p:spPr>
          <a:xfrm>
            <a:off x="4283156" y="3327875"/>
            <a:ext cx="3409731" cy="2585323"/>
          </a:xfrm>
          <a:prstGeom prst="rect">
            <a:avLst/>
          </a:prstGeom>
          <a:noFill/>
          <a:ln w="6350">
            <a:solidFill>
              <a:schemeClr val="tx1"/>
            </a:solidFill>
          </a:ln>
        </p:spPr>
        <p:txBody>
          <a:bodyPr wrap="square">
            <a:spAutoFit/>
          </a:bodyPr>
          <a:lstStyle/>
          <a:p>
            <a:pPr algn="l"/>
            <a:r>
              <a:rPr lang="en-US" b="0" i="0" dirty="0">
                <a:solidFill>
                  <a:srgbClr val="0000CD"/>
                </a:solidFill>
                <a:effectLst/>
                <a:highlight>
                  <a:srgbClr val="FFFFFF"/>
                </a:highlight>
                <a:latin typeface="Consolas" panose="020B0609020204030204" pitchFamily="49" charset="0"/>
              </a:rPr>
              <a:t>import</a:t>
            </a:r>
            <a:r>
              <a:rPr lang="en-US" b="0" i="0" dirty="0">
                <a:solidFill>
                  <a:srgbClr val="000000"/>
                </a:solidFill>
                <a:effectLst/>
                <a:highlight>
                  <a:srgbClr val="FFFFFF"/>
                </a:highlight>
                <a:latin typeface="Consolas" panose="020B0609020204030204" pitchFamily="49" charset="0"/>
              </a:rPr>
              <a:t> </a:t>
            </a:r>
            <a:r>
              <a:rPr lang="en-US" b="0" i="0" dirty="0" err="1">
                <a:solidFill>
                  <a:srgbClr val="000000"/>
                </a:solidFill>
                <a:effectLst/>
                <a:highlight>
                  <a:srgbClr val="FFFFFF"/>
                </a:highlight>
                <a:latin typeface="Consolas" panose="020B0609020204030204" pitchFamily="49" charset="0"/>
              </a:rPr>
              <a:t>numpy</a:t>
            </a:r>
            <a:r>
              <a:rPr lang="en-US" b="0" i="0" dirty="0">
                <a:solidFill>
                  <a:srgbClr val="000000"/>
                </a:solidFill>
                <a:effectLst/>
                <a:highlight>
                  <a:srgbClr val="FFFFFF"/>
                </a:highlight>
                <a:latin typeface="Consolas" panose="020B0609020204030204" pitchFamily="49" charset="0"/>
              </a:rPr>
              <a:t> </a:t>
            </a:r>
            <a:r>
              <a:rPr lang="en-US" b="0" i="0" dirty="0">
                <a:solidFill>
                  <a:srgbClr val="0000CD"/>
                </a:solidFill>
                <a:effectLst/>
                <a:highlight>
                  <a:srgbClr val="FFFFFF"/>
                </a:highlight>
                <a:latin typeface="Consolas" panose="020B0609020204030204" pitchFamily="49" charset="0"/>
              </a:rPr>
              <a:t>as</a:t>
            </a:r>
            <a:r>
              <a:rPr lang="en-US" b="0" i="0" dirty="0">
                <a:solidFill>
                  <a:srgbClr val="000000"/>
                </a:solidFill>
                <a:effectLst/>
                <a:highlight>
                  <a:srgbClr val="FFFFFF"/>
                </a:highlight>
                <a:latin typeface="Consolas" panose="020B0609020204030204" pitchFamily="49" charset="0"/>
              </a:rPr>
              <a:t> np</a:t>
            </a:r>
            <a:br>
              <a:rPr lang="en-US" dirty="0"/>
            </a:br>
            <a:r>
              <a:rPr lang="en-US" b="0" i="0" dirty="0" err="1">
                <a:solidFill>
                  <a:srgbClr val="000000"/>
                </a:solidFill>
                <a:effectLst/>
                <a:highlight>
                  <a:srgbClr val="FFFFFF"/>
                </a:highlight>
                <a:latin typeface="Consolas" panose="020B0609020204030204" pitchFamily="49" charset="0"/>
              </a:rPr>
              <a:t>arr</a:t>
            </a:r>
            <a:r>
              <a:rPr lang="en-US" b="0" i="0" dirty="0">
                <a:solidFill>
                  <a:srgbClr val="000000"/>
                </a:solidFill>
                <a:effectLst/>
                <a:highlight>
                  <a:srgbClr val="FFFFFF"/>
                </a:highlight>
                <a:latin typeface="Consolas" panose="020B0609020204030204" pitchFamily="49" charset="0"/>
              </a:rPr>
              <a:t> = </a:t>
            </a:r>
            <a:r>
              <a:rPr lang="en-US" b="0" i="0" dirty="0" err="1">
                <a:solidFill>
                  <a:srgbClr val="000000"/>
                </a:solidFill>
                <a:effectLst/>
                <a:highlight>
                  <a:srgbClr val="FFFFFF"/>
                </a:highlight>
                <a:latin typeface="Consolas" panose="020B0609020204030204" pitchFamily="49" charset="0"/>
              </a:rPr>
              <a:t>np.array</a:t>
            </a:r>
            <a:r>
              <a:rPr lang="en-US" b="0" i="0" dirty="0">
                <a:solidFill>
                  <a:srgbClr val="000000"/>
                </a:solidFill>
                <a:effectLst/>
                <a:highlight>
                  <a:srgbClr val="FFFFFF"/>
                </a:highlight>
                <a:latin typeface="Consolas" panose="020B0609020204030204" pitchFamily="49" charset="0"/>
              </a:rPr>
              <a:t>([</a:t>
            </a:r>
            <a:r>
              <a:rPr lang="en-US" b="0" i="0" dirty="0">
                <a:solidFill>
                  <a:srgbClr val="FF0000"/>
                </a:solidFill>
                <a:effectLst/>
                <a:highlight>
                  <a:srgbClr val="FFFFFF"/>
                </a:highlight>
                <a:latin typeface="Consolas" panose="020B0609020204030204" pitchFamily="49" charset="0"/>
              </a:rPr>
              <a:t>1</a:t>
            </a:r>
            <a:r>
              <a:rPr lang="en-US" b="0" i="0" dirty="0">
                <a:solidFill>
                  <a:srgbClr val="000000"/>
                </a:solidFill>
                <a:effectLst/>
                <a:highlight>
                  <a:srgbClr val="FFFFFF"/>
                </a:highlight>
                <a:latin typeface="Consolas" panose="020B0609020204030204" pitchFamily="49" charset="0"/>
              </a:rPr>
              <a:t>, </a:t>
            </a:r>
            <a:r>
              <a:rPr lang="en-US" b="0" i="0" dirty="0">
                <a:solidFill>
                  <a:srgbClr val="FF0000"/>
                </a:solidFill>
                <a:effectLst/>
                <a:highlight>
                  <a:srgbClr val="FFFFFF"/>
                </a:highlight>
                <a:latin typeface="Consolas" panose="020B0609020204030204" pitchFamily="49" charset="0"/>
              </a:rPr>
              <a:t>2</a:t>
            </a:r>
            <a:r>
              <a:rPr lang="en-US" b="0" i="0" dirty="0">
                <a:solidFill>
                  <a:srgbClr val="000000"/>
                </a:solidFill>
                <a:effectLst/>
                <a:highlight>
                  <a:srgbClr val="FFFFFF"/>
                </a:highlight>
                <a:latin typeface="Consolas" panose="020B0609020204030204" pitchFamily="49" charset="0"/>
              </a:rPr>
              <a:t>, </a:t>
            </a:r>
            <a:r>
              <a:rPr lang="en-US" b="0" i="0" dirty="0">
                <a:solidFill>
                  <a:srgbClr val="FF0000"/>
                </a:solidFill>
                <a:effectLst/>
                <a:highlight>
                  <a:srgbClr val="FFFFFF"/>
                </a:highlight>
                <a:latin typeface="Consolas" panose="020B0609020204030204" pitchFamily="49" charset="0"/>
              </a:rPr>
              <a:t>3</a:t>
            </a:r>
            <a:r>
              <a:rPr lang="en-US" b="0" i="0" dirty="0">
                <a:solidFill>
                  <a:srgbClr val="000000"/>
                </a:solidFill>
                <a:effectLst/>
                <a:highlight>
                  <a:srgbClr val="FFFFFF"/>
                </a:highlight>
                <a:latin typeface="Consolas" panose="020B0609020204030204" pitchFamily="49" charset="0"/>
              </a:rPr>
              <a:t>])</a:t>
            </a:r>
            <a:br>
              <a:rPr lang="en-US" dirty="0"/>
            </a:br>
            <a:r>
              <a:rPr lang="en-US" b="0" i="0" dirty="0">
                <a:solidFill>
                  <a:srgbClr val="0000CD"/>
                </a:solidFill>
                <a:effectLst/>
                <a:highlight>
                  <a:srgbClr val="FFFFFF"/>
                </a:highlight>
                <a:latin typeface="Consolas" panose="020B0609020204030204" pitchFamily="49" charset="0"/>
              </a:rPr>
              <a:t>for</a:t>
            </a:r>
            <a:r>
              <a:rPr lang="en-US" b="0" i="0" dirty="0">
                <a:solidFill>
                  <a:srgbClr val="000000"/>
                </a:solidFill>
                <a:effectLst/>
                <a:highlight>
                  <a:srgbClr val="FFFFFF"/>
                </a:highlight>
                <a:latin typeface="Consolas" panose="020B0609020204030204" pitchFamily="49" charset="0"/>
              </a:rPr>
              <a:t> x </a:t>
            </a:r>
            <a:r>
              <a:rPr lang="en-US" b="0" i="0" dirty="0">
                <a:solidFill>
                  <a:srgbClr val="0000CD"/>
                </a:solidFill>
                <a:effectLst/>
                <a:highlight>
                  <a:srgbClr val="FFFFFF"/>
                </a:highlight>
                <a:latin typeface="Consolas" panose="020B0609020204030204" pitchFamily="49" charset="0"/>
              </a:rPr>
              <a:t>in</a:t>
            </a:r>
            <a:r>
              <a:rPr lang="en-US" b="0" i="0" dirty="0">
                <a:solidFill>
                  <a:srgbClr val="000000"/>
                </a:solidFill>
                <a:effectLst/>
                <a:highlight>
                  <a:srgbClr val="FFFFFF"/>
                </a:highlight>
                <a:latin typeface="Consolas" panose="020B0609020204030204" pitchFamily="49" charset="0"/>
              </a:rPr>
              <a:t> </a:t>
            </a:r>
            <a:r>
              <a:rPr lang="en-US" b="0" i="0" dirty="0" err="1">
                <a:solidFill>
                  <a:srgbClr val="000000"/>
                </a:solidFill>
                <a:effectLst/>
                <a:highlight>
                  <a:srgbClr val="FFFFFF"/>
                </a:highlight>
                <a:latin typeface="Consolas" panose="020B0609020204030204" pitchFamily="49" charset="0"/>
              </a:rPr>
              <a:t>arr</a:t>
            </a:r>
            <a:r>
              <a:rPr lang="en-US" b="0" i="0" dirty="0">
                <a:solidFill>
                  <a:srgbClr val="000000"/>
                </a:solidFill>
                <a:effectLst/>
                <a:highlight>
                  <a:srgbClr val="FFFFFF"/>
                </a:highlight>
                <a:latin typeface="Consolas" panose="020B0609020204030204" pitchFamily="49" charset="0"/>
              </a:rPr>
              <a:t>:</a:t>
            </a:r>
            <a:br>
              <a:rPr lang="en-US" dirty="0"/>
            </a:br>
            <a:r>
              <a:rPr lang="en-US" b="0" i="0" dirty="0">
                <a:solidFill>
                  <a:srgbClr val="000000"/>
                </a:solidFill>
                <a:effectLst/>
                <a:highlight>
                  <a:srgbClr val="FFFFFF"/>
                </a:highlight>
                <a:latin typeface="Consolas" panose="020B0609020204030204" pitchFamily="49" charset="0"/>
              </a:rPr>
              <a:t>  </a:t>
            </a:r>
            <a:r>
              <a:rPr lang="en-US" b="0" i="0" dirty="0">
                <a:solidFill>
                  <a:srgbClr val="0000CD"/>
                </a:solidFill>
                <a:effectLst/>
                <a:highlight>
                  <a:srgbClr val="FFFFFF"/>
                </a:highlight>
                <a:latin typeface="Consolas" panose="020B0609020204030204" pitchFamily="49" charset="0"/>
              </a:rPr>
              <a:t>print</a:t>
            </a:r>
            <a:r>
              <a:rPr lang="en-US" b="0" i="0" dirty="0">
                <a:solidFill>
                  <a:srgbClr val="000000"/>
                </a:solidFill>
                <a:effectLst/>
                <a:highlight>
                  <a:srgbClr val="FFFFFF"/>
                </a:highlight>
                <a:latin typeface="Consolas" panose="020B0609020204030204" pitchFamily="49" charset="0"/>
              </a:rPr>
              <a:t>(x)</a:t>
            </a:r>
          </a:p>
          <a:p>
            <a:pPr algn="l"/>
            <a:endParaRPr lang="en-US" b="0" i="0" dirty="0">
              <a:solidFill>
                <a:srgbClr val="000000"/>
              </a:solidFill>
              <a:effectLst/>
              <a:highlight>
                <a:srgbClr val="FFFFFF"/>
              </a:highlight>
              <a:latin typeface="Consolas" panose="020B0609020204030204" pitchFamily="49" charset="0"/>
            </a:endParaRPr>
          </a:p>
          <a:p>
            <a:pPr algn="l"/>
            <a:r>
              <a:rPr lang="en-US" b="1" dirty="0">
                <a:solidFill>
                  <a:srgbClr val="000000"/>
                </a:solidFill>
                <a:highlight>
                  <a:srgbClr val="FFFFFF"/>
                </a:highlight>
                <a:latin typeface="Consolas" panose="020B0609020204030204" pitchFamily="49" charset="0"/>
                <a:ea typeface="Calibri" panose="020F0502020204030204" pitchFamily="34" charset="0"/>
                <a:cs typeface="Calibri" panose="020F0502020204030204" pitchFamily="34" charset="0"/>
              </a:rPr>
              <a:t>Output:</a:t>
            </a:r>
          </a:p>
          <a:p>
            <a:pPr algn="l"/>
            <a:r>
              <a:rPr lang="en-US" dirty="0">
                <a:solidFill>
                  <a:srgbClr val="000000"/>
                </a:solidFill>
                <a:highlight>
                  <a:srgbClr val="FFFFFF"/>
                </a:highlight>
                <a:latin typeface="Consolas" panose="020B0609020204030204" pitchFamily="49" charset="0"/>
                <a:ea typeface="Calibri" panose="020F0502020204030204" pitchFamily="34" charset="0"/>
                <a:cs typeface="Calibri" panose="020F0502020204030204" pitchFamily="34" charset="0"/>
              </a:rPr>
              <a:t>1</a:t>
            </a:r>
          </a:p>
          <a:p>
            <a:pPr algn="l"/>
            <a:r>
              <a:rPr lang="en-US" dirty="0">
                <a:solidFill>
                  <a:srgbClr val="000000"/>
                </a:solidFill>
                <a:highlight>
                  <a:srgbClr val="FFFFFF"/>
                </a:highlight>
                <a:latin typeface="Consolas" panose="020B0609020204030204" pitchFamily="49" charset="0"/>
                <a:ea typeface="Calibri" panose="020F0502020204030204" pitchFamily="34" charset="0"/>
                <a:cs typeface="Calibri" panose="020F0502020204030204" pitchFamily="34" charset="0"/>
              </a:rPr>
              <a:t>2</a:t>
            </a:r>
          </a:p>
          <a:p>
            <a:pPr algn="l"/>
            <a:r>
              <a:rPr lang="en-US" dirty="0">
                <a:solidFill>
                  <a:srgbClr val="000000"/>
                </a:solidFill>
                <a:highlight>
                  <a:srgbClr val="FFFFFF"/>
                </a:highlight>
                <a:latin typeface="Consolas" panose="020B0609020204030204" pitchFamily="49" charset="0"/>
                <a:ea typeface="Calibri" panose="020F0502020204030204" pitchFamily="34" charset="0"/>
                <a:cs typeface="Calibri" panose="020F0502020204030204" pitchFamily="34" charset="0"/>
              </a:rPr>
              <a:t>3</a:t>
            </a:r>
            <a:endParaRPr lang="en-IN"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355199822"/>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Table 8">
            <a:extLst>
              <a:ext uri="{FF2B5EF4-FFF2-40B4-BE49-F238E27FC236}">
                <a16:creationId xmlns:a16="http://schemas.microsoft.com/office/drawing/2014/main" id="{0B6EC464-4750-5FF3-7A5A-15612BA6E293}"/>
              </a:ext>
            </a:extLst>
          </p:cNvPr>
          <p:cNvGraphicFramePr>
            <a:graphicFrameLocks noGrp="1"/>
          </p:cNvGraphicFramePr>
          <p:nvPr/>
        </p:nvGraphicFramePr>
        <p:xfrm>
          <a:off x="0" y="23812"/>
          <a:ext cx="12192000" cy="465287"/>
        </p:xfrm>
        <a:graphic>
          <a:graphicData uri="http://schemas.openxmlformats.org/drawingml/2006/table">
            <a:tbl>
              <a:tblPr firstRow="1" bandRow="1">
                <a:tableStyleId>{5C22544A-7EE6-4342-B048-85BDC9FD1C3A}</a:tableStyleId>
              </a:tblPr>
              <a:tblGrid>
                <a:gridCol w="6092042">
                  <a:extLst>
                    <a:ext uri="{9D8B030D-6E8A-4147-A177-3AD203B41FA5}">
                      <a16:colId xmlns:a16="http://schemas.microsoft.com/office/drawing/2014/main" val="2179694530"/>
                    </a:ext>
                  </a:extLst>
                </a:gridCol>
                <a:gridCol w="6099958">
                  <a:extLst>
                    <a:ext uri="{9D8B030D-6E8A-4147-A177-3AD203B41FA5}">
                      <a16:colId xmlns:a16="http://schemas.microsoft.com/office/drawing/2014/main" val="2768207918"/>
                    </a:ext>
                  </a:extLst>
                </a:gridCol>
              </a:tblGrid>
              <a:tr h="465287">
                <a:tc>
                  <a:txBody>
                    <a:bodyPr/>
                    <a:lstStyle/>
                    <a:p>
                      <a:endParaRPr lang="en-US" dirty="0"/>
                    </a:p>
                  </a:txBody>
                  <a:tcPr>
                    <a:solidFill>
                      <a:srgbClr val="FF85FF"/>
                    </a:solidFill>
                  </a:tcPr>
                </a:tc>
                <a:tc>
                  <a:txBody>
                    <a:bodyPr/>
                    <a:lstStyle/>
                    <a:p>
                      <a:endParaRPr lang="en-US" dirty="0"/>
                    </a:p>
                  </a:txBody>
                  <a:tcPr>
                    <a:solidFill>
                      <a:srgbClr val="FFFF00"/>
                    </a:solidFill>
                  </a:tcPr>
                </a:tc>
                <a:extLst>
                  <a:ext uri="{0D108BD9-81ED-4DB2-BD59-A6C34878D82A}">
                    <a16:rowId xmlns:a16="http://schemas.microsoft.com/office/drawing/2014/main" val="1996944423"/>
                  </a:ext>
                </a:extLst>
              </a:tr>
            </a:tbl>
          </a:graphicData>
        </a:graphic>
      </p:graphicFrame>
      <p:graphicFrame>
        <p:nvGraphicFramePr>
          <p:cNvPr id="10" name="Table 9">
            <a:extLst>
              <a:ext uri="{FF2B5EF4-FFF2-40B4-BE49-F238E27FC236}">
                <a16:creationId xmlns:a16="http://schemas.microsoft.com/office/drawing/2014/main" id="{494BAFB7-FE1F-E1A9-7A6C-AB4145BD9BA1}"/>
              </a:ext>
            </a:extLst>
          </p:cNvPr>
          <p:cNvGraphicFramePr>
            <a:graphicFrameLocks noGrp="1"/>
          </p:cNvGraphicFramePr>
          <p:nvPr>
            <p:extLst>
              <p:ext uri="{D42A27DB-BD31-4B8C-83A1-F6EECF244321}">
                <p14:modId xmlns:p14="http://schemas.microsoft.com/office/powerpoint/2010/main" val="4052982089"/>
              </p:ext>
            </p:extLst>
          </p:nvPr>
        </p:nvGraphicFramePr>
        <p:xfrm>
          <a:off x="1" y="6478892"/>
          <a:ext cx="12191999" cy="370840"/>
        </p:xfrm>
        <a:graphic>
          <a:graphicData uri="http://schemas.openxmlformats.org/drawingml/2006/table">
            <a:tbl>
              <a:tblPr firstRow="1" bandRow="1">
                <a:tableStyleId>{5C22544A-7EE6-4342-B048-85BDC9FD1C3A}</a:tableStyleId>
              </a:tblPr>
              <a:tblGrid>
                <a:gridCol w="6080165">
                  <a:extLst>
                    <a:ext uri="{9D8B030D-6E8A-4147-A177-3AD203B41FA5}">
                      <a16:colId xmlns:a16="http://schemas.microsoft.com/office/drawing/2014/main" val="2179694530"/>
                    </a:ext>
                  </a:extLst>
                </a:gridCol>
                <a:gridCol w="6111834">
                  <a:extLst>
                    <a:ext uri="{9D8B030D-6E8A-4147-A177-3AD203B41FA5}">
                      <a16:colId xmlns:a16="http://schemas.microsoft.com/office/drawing/2014/main" val="2768207918"/>
                    </a:ext>
                  </a:extLst>
                </a:gridCol>
              </a:tblGrid>
              <a:tr h="370840">
                <a:tc>
                  <a:txBody>
                    <a:bodyPr/>
                    <a:lstStyle/>
                    <a:p>
                      <a:endParaRPr lang="en-US" dirty="0"/>
                    </a:p>
                  </a:txBody>
                  <a:tcPr>
                    <a:solidFill>
                      <a:srgbClr val="FFFF00"/>
                    </a:solidFill>
                  </a:tcPr>
                </a:tc>
                <a:tc>
                  <a:txBody>
                    <a:bodyPr/>
                    <a:lstStyle/>
                    <a:p>
                      <a:pPr algn="r"/>
                      <a:r>
                        <a:rPr lang="en-US" dirty="0">
                          <a:solidFill>
                            <a:schemeClr val="tx1"/>
                          </a:solidFill>
                        </a:rPr>
                        <a:t>71</a:t>
                      </a:r>
                    </a:p>
                  </a:txBody>
                  <a:tcPr>
                    <a:solidFill>
                      <a:srgbClr val="FF85FF"/>
                    </a:solidFill>
                  </a:tcPr>
                </a:tc>
                <a:extLst>
                  <a:ext uri="{0D108BD9-81ED-4DB2-BD59-A6C34878D82A}">
                    <a16:rowId xmlns:a16="http://schemas.microsoft.com/office/drawing/2014/main" val="1996944423"/>
                  </a:ext>
                </a:extLst>
              </a:tr>
            </a:tbl>
          </a:graphicData>
        </a:graphic>
      </p:graphicFrame>
      <p:pic>
        <p:nvPicPr>
          <p:cNvPr id="12" name="Google Shape;187;p25" descr="pngfind.com-kingpin-png-4152286 (1).png">
            <a:extLst>
              <a:ext uri="{FF2B5EF4-FFF2-40B4-BE49-F238E27FC236}">
                <a16:creationId xmlns:a16="http://schemas.microsoft.com/office/drawing/2014/main" id="{2DBF2481-A2DB-F96E-5749-B03DC4F71665}"/>
              </a:ext>
            </a:extLst>
          </p:cNvPr>
          <p:cNvPicPr preferRelativeResize="0"/>
          <p:nvPr/>
        </p:nvPicPr>
        <p:blipFill rotWithShape="1">
          <a:blip r:embed="rId2">
            <a:alphaModFix/>
          </a:blip>
          <a:srcRect/>
          <a:stretch/>
        </p:blipFill>
        <p:spPr>
          <a:xfrm>
            <a:off x="11044052" y="8268"/>
            <a:ext cx="1051261" cy="465287"/>
          </a:xfrm>
          <a:prstGeom prst="rect">
            <a:avLst/>
          </a:prstGeom>
          <a:noFill/>
          <a:ln>
            <a:noFill/>
          </a:ln>
        </p:spPr>
      </p:pic>
      <p:sp>
        <p:nvSpPr>
          <p:cNvPr id="19" name="Rectangle 18">
            <a:extLst>
              <a:ext uri="{FF2B5EF4-FFF2-40B4-BE49-F238E27FC236}">
                <a16:creationId xmlns:a16="http://schemas.microsoft.com/office/drawing/2014/main" id="{A0702E37-2E7E-7262-5E76-F69A817105B3}"/>
              </a:ext>
            </a:extLst>
          </p:cNvPr>
          <p:cNvSpPr/>
          <p:nvPr/>
        </p:nvSpPr>
        <p:spPr>
          <a:xfrm>
            <a:off x="0" y="8268"/>
            <a:ext cx="12192000" cy="6825920"/>
          </a:xfrm>
          <a:prstGeom prst="rect">
            <a:avLst/>
          </a:prstGeom>
          <a:noFill/>
          <a:ln w="38100">
            <a:solidFill>
              <a:srgbClr val="0432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DCB2A3F0-9003-5886-09B4-27925BBE4000}"/>
              </a:ext>
            </a:extLst>
          </p:cNvPr>
          <p:cNvSpPr txBox="1"/>
          <p:nvPr/>
        </p:nvSpPr>
        <p:spPr>
          <a:xfrm>
            <a:off x="0" y="873851"/>
            <a:ext cx="12191999" cy="646331"/>
          </a:xfrm>
          <a:prstGeom prst="rect">
            <a:avLst/>
          </a:prstGeom>
          <a:noFill/>
        </p:spPr>
        <p:txBody>
          <a:bodyPr wrap="square">
            <a:spAutoFit/>
          </a:bodyPr>
          <a:lstStyle/>
          <a:p>
            <a:pPr algn="ctr"/>
            <a:r>
              <a:rPr lang="en-US" sz="3600" b="1" dirty="0">
                <a:effectLst/>
                <a:latin typeface="Calibri" panose="020F0502020204030204" pitchFamily="34" charset="0"/>
                <a:ea typeface="Calibri" panose="020F0502020204030204" pitchFamily="34" charset="0"/>
                <a:cs typeface="Calibri" panose="020F0502020204030204" pitchFamily="34" charset="0"/>
              </a:rPr>
              <a:t>Iterating Array</a:t>
            </a:r>
            <a:endParaRPr lang="en-GB" sz="6600" b="1" cap="none" spc="0" dirty="0">
              <a:ln w="0"/>
              <a:solidFill>
                <a:schemeClr val="tx1"/>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Calibri" panose="020F0502020204030204" pitchFamily="34" charset="0"/>
            </a:endParaRPr>
          </a:p>
        </p:txBody>
      </p:sp>
      <p:sp>
        <p:nvSpPr>
          <p:cNvPr id="11" name="TextBox 10">
            <a:extLst>
              <a:ext uri="{FF2B5EF4-FFF2-40B4-BE49-F238E27FC236}">
                <a16:creationId xmlns:a16="http://schemas.microsoft.com/office/drawing/2014/main" id="{C11BBC61-B926-611F-8358-9DB20CDFEA3B}"/>
              </a:ext>
            </a:extLst>
          </p:cNvPr>
          <p:cNvSpPr txBox="1"/>
          <p:nvPr/>
        </p:nvSpPr>
        <p:spPr>
          <a:xfrm>
            <a:off x="547186" y="1667171"/>
            <a:ext cx="11022496" cy="1295868"/>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Iterating 2D Array:</a:t>
            </a:r>
          </a:p>
          <a:p>
            <a:pPr marL="285750" indent="-285750" algn="l">
              <a:lnSpc>
                <a:spcPct val="150000"/>
              </a:lnSpc>
              <a:buFont typeface="Arial" panose="020B0604020202020204" pitchFamily="34" charset="0"/>
              <a:buChar char="•"/>
            </a:pPr>
            <a:endParaRPr lang="en-US" dirty="0">
              <a:latin typeface="Calibri" panose="020F0502020204030204" pitchFamily="34" charset="0"/>
              <a:ea typeface="Calibri" panose="020F0502020204030204" pitchFamily="34" charset="0"/>
              <a:cs typeface="Calibri" panose="020F0502020204030204" pitchFamily="34" charset="0"/>
            </a:endParaRPr>
          </a:p>
          <a:p>
            <a:pPr algn="l">
              <a:lnSpc>
                <a:spcPct val="150000"/>
              </a:lnSpc>
            </a:pPr>
            <a:endParaRPr lang="en-US" dirty="0">
              <a:latin typeface="Calibri" panose="020F0502020204030204" pitchFamily="34" charset="0"/>
              <a:ea typeface="Calibri" panose="020F0502020204030204" pitchFamily="34" charset="0"/>
              <a:cs typeface="Calibri" panose="020F0502020204030204" pitchFamily="34" charset="0"/>
            </a:endParaRPr>
          </a:p>
        </p:txBody>
      </p:sp>
      <p:sp>
        <p:nvSpPr>
          <p:cNvPr id="7" name="TextBox 6">
            <a:extLst>
              <a:ext uri="{FF2B5EF4-FFF2-40B4-BE49-F238E27FC236}">
                <a16:creationId xmlns:a16="http://schemas.microsoft.com/office/drawing/2014/main" id="{4CD9AB37-E23A-5333-3CF3-EC91991D4862}"/>
              </a:ext>
            </a:extLst>
          </p:cNvPr>
          <p:cNvSpPr txBox="1"/>
          <p:nvPr/>
        </p:nvSpPr>
        <p:spPr>
          <a:xfrm>
            <a:off x="3475612" y="2714595"/>
            <a:ext cx="5165644" cy="2585323"/>
          </a:xfrm>
          <a:prstGeom prst="rect">
            <a:avLst/>
          </a:prstGeom>
          <a:noFill/>
          <a:ln w="6350">
            <a:solidFill>
              <a:schemeClr val="tx1"/>
            </a:solidFill>
          </a:ln>
        </p:spPr>
        <p:txBody>
          <a:bodyPr wrap="square">
            <a:spAutoFit/>
          </a:bodyPr>
          <a:lstStyle/>
          <a:p>
            <a:pPr algn="l"/>
            <a:r>
              <a:rPr lang="en-US" b="0" i="0" dirty="0">
                <a:solidFill>
                  <a:srgbClr val="0000CD"/>
                </a:solidFill>
                <a:effectLst/>
                <a:highlight>
                  <a:srgbClr val="FFFFFF"/>
                </a:highlight>
                <a:latin typeface="Consolas" panose="020B0609020204030204" pitchFamily="49" charset="0"/>
              </a:rPr>
              <a:t>import</a:t>
            </a:r>
            <a:r>
              <a:rPr lang="en-US" b="0" i="0" dirty="0">
                <a:solidFill>
                  <a:srgbClr val="000000"/>
                </a:solidFill>
                <a:effectLst/>
                <a:highlight>
                  <a:srgbClr val="FFFFFF"/>
                </a:highlight>
                <a:latin typeface="Consolas" panose="020B0609020204030204" pitchFamily="49" charset="0"/>
              </a:rPr>
              <a:t> </a:t>
            </a:r>
            <a:r>
              <a:rPr lang="en-US" b="0" i="0" dirty="0" err="1">
                <a:solidFill>
                  <a:srgbClr val="000000"/>
                </a:solidFill>
                <a:effectLst/>
                <a:highlight>
                  <a:srgbClr val="FFFFFF"/>
                </a:highlight>
                <a:latin typeface="Consolas" panose="020B0609020204030204" pitchFamily="49" charset="0"/>
              </a:rPr>
              <a:t>numpy</a:t>
            </a:r>
            <a:r>
              <a:rPr lang="en-US" b="0" i="0" dirty="0">
                <a:solidFill>
                  <a:srgbClr val="000000"/>
                </a:solidFill>
                <a:effectLst/>
                <a:highlight>
                  <a:srgbClr val="FFFFFF"/>
                </a:highlight>
                <a:latin typeface="Consolas" panose="020B0609020204030204" pitchFamily="49" charset="0"/>
              </a:rPr>
              <a:t> </a:t>
            </a:r>
            <a:r>
              <a:rPr lang="en-US" b="0" i="0" dirty="0">
                <a:solidFill>
                  <a:srgbClr val="0000CD"/>
                </a:solidFill>
                <a:effectLst/>
                <a:highlight>
                  <a:srgbClr val="FFFFFF"/>
                </a:highlight>
                <a:latin typeface="Consolas" panose="020B0609020204030204" pitchFamily="49" charset="0"/>
              </a:rPr>
              <a:t>as</a:t>
            </a:r>
            <a:r>
              <a:rPr lang="en-US" b="0" i="0" dirty="0">
                <a:solidFill>
                  <a:srgbClr val="000000"/>
                </a:solidFill>
                <a:effectLst/>
                <a:highlight>
                  <a:srgbClr val="FFFFFF"/>
                </a:highlight>
                <a:latin typeface="Consolas" panose="020B0609020204030204" pitchFamily="49" charset="0"/>
              </a:rPr>
              <a:t> np</a:t>
            </a:r>
            <a:br>
              <a:rPr lang="en-US" b="0" i="0" dirty="0">
                <a:solidFill>
                  <a:srgbClr val="000000"/>
                </a:solidFill>
                <a:effectLst/>
                <a:highlight>
                  <a:srgbClr val="FFFFFF"/>
                </a:highlight>
                <a:latin typeface="Consolas" panose="020B0609020204030204" pitchFamily="49" charset="0"/>
              </a:rPr>
            </a:br>
            <a:r>
              <a:rPr lang="en-US" b="0" i="0" dirty="0" err="1">
                <a:solidFill>
                  <a:srgbClr val="000000"/>
                </a:solidFill>
                <a:effectLst/>
                <a:highlight>
                  <a:srgbClr val="FFFFFF"/>
                </a:highlight>
                <a:latin typeface="Consolas" panose="020B0609020204030204" pitchFamily="49" charset="0"/>
              </a:rPr>
              <a:t>arr</a:t>
            </a:r>
            <a:r>
              <a:rPr lang="en-US" b="0" i="0" dirty="0">
                <a:solidFill>
                  <a:srgbClr val="000000"/>
                </a:solidFill>
                <a:effectLst/>
                <a:highlight>
                  <a:srgbClr val="FFFFFF"/>
                </a:highlight>
                <a:latin typeface="Consolas" panose="020B0609020204030204" pitchFamily="49" charset="0"/>
              </a:rPr>
              <a:t> = </a:t>
            </a:r>
            <a:r>
              <a:rPr lang="en-US" b="0" i="0" dirty="0" err="1">
                <a:solidFill>
                  <a:srgbClr val="000000"/>
                </a:solidFill>
                <a:effectLst/>
                <a:highlight>
                  <a:srgbClr val="FFFFFF"/>
                </a:highlight>
                <a:latin typeface="Consolas" panose="020B0609020204030204" pitchFamily="49" charset="0"/>
              </a:rPr>
              <a:t>np.array</a:t>
            </a:r>
            <a:r>
              <a:rPr lang="en-US" b="0" i="0" dirty="0">
                <a:solidFill>
                  <a:srgbClr val="000000"/>
                </a:solidFill>
                <a:effectLst/>
                <a:highlight>
                  <a:srgbClr val="FFFFFF"/>
                </a:highlight>
                <a:latin typeface="Consolas" panose="020B0609020204030204" pitchFamily="49" charset="0"/>
              </a:rPr>
              <a:t>([[</a:t>
            </a:r>
            <a:r>
              <a:rPr lang="en-US" b="0" i="0" dirty="0">
                <a:solidFill>
                  <a:srgbClr val="FF0000"/>
                </a:solidFill>
                <a:effectLst/>
                <a:highlight>
                  <a:srgbClr val="FFFFFF"/>
                </a:highlight>
                <a:latin typeface="Consolas" panose="020B0609020204030204" pitchFamily="49" charset="0"/>
              </a:rPr>
              <a:t>1</a:t>
            </a:r>
            <a:r>
              <a:rPr lang="en-US" b="0" i="0" dirty="0">
                <a:solidFill>
                  <a:srgbClr val="000000"/>
                </a:solidFill>
                <a:effectLst/>
                <a:highlight>
                  <a:srgbClr val="FFFFFF"/>
                </a:highlight>
                <a:latin typeface="Consolas" panose="020B0609020204030204" pitchFamily="49" charset="0"/>
              </a:rPr>
              <a:t>, </a:t>
            </a:r>
            <a:r>
              <a:rPr lang="en-US" b="0" i="0" dirty="0">
                <a:solidFill>
                  <a:srgbClr val="FF0000"/>
                </a:solidFill>
                <a:effectLst/>
                <a:highlight>
                  <a:srgbClr val="FFFFFF"/>
                </a:highlight>
                <a:latin typeface="Consolas" panose="020B0609020204030204" pitchFamily="49" charset="0"/>
              </a:rPr>
              <a:t>2</a:t>
            </a:r>
            <a:r>
              <a:rPr lang="en-US" b="0" i="0" dirty="0">
                <a:solidFill>
                  <a:srgbClr val="000000"/>
                </a:solidFill>
                <a:effectLst/>
                <a:highlight>
                  <a:srgbClr val="FFFFFF"/>
                </a:highlight>
                <a:latin typeface="Consolas" panose="020B0609020204030204" pitchFamily="49" charset="0"/>
              </a:rPr>
              <a:t>, </a:t>
            </a:r>
            <a:r>
              <a:rPr lang="en-US" b="0" i="0" dirty="0">
                <a:solidFill>
                  <a:srgbClr val="FF0000"/>
                </a:solidFill>
                <a:effectLst/>
                <a:highlight>
                  <a:srgbClr val="FFFFFF"/>
                </a:highlight>
                <a:latin typeface="Consolas" panose="020B0609020204030204" pitchFamily="49" charset="0"/>
              </a:rPr>
              <a:t>3</a:t>
            </a:r>
            <a:r>
              <a:rPr lang="en-US" b="0" i="0" dirty="0">
                <a:solidFill>
                  <a:srgbClr val="000000"/>
                </a:solidFill>
                <a:effectLst/>
                <a:highlight>
                  <a:srgbClr val="FFFFFF"/>
                </a:highlight>
                <a:latin typeface="Consolas" panose="020B0609020204030204" pitchFamily="49" charset="0"/>
              </a:rPr>
              <a:t>], [</a:t>
            </a:r>
            <a:r>
              <a:rPr lang="en-US" b="0" i="0" dirty="0">
                <a:solidFill>
                  <a:srgbClr val="FF0000"/>
                </a:solidFill>
                <a:effectLst/>
                <a:highlight>
                  <a:srgbClr val="FFFFFF"/>
                </a:highlight>
                <a:latin typeface="Consolas" panose="020B0609020204030204" pitchFamily="49" charset="0"/>
              </a:rPr>
              <a:t>4</a:t>
            </a:r>
            <a:r>
              <a:rPr lang="en-US" b="0" i="0" dirty="0">
                <a:solidFill>
                  <a:srgbClr val="000000"/>
                </a:solidFill>
                <a:effectLst/>
                <a:highlight>
                  <a:srgbClr val="FFFFFF"/>
                </a:highlight>
                <a:latin typeface="Consolas" panose="020B0609020204030204" pitchFamily="49" charset="0"/>
              </a:rPr>
              <a:t>, </a:t>
            </a:r>
            <a:r>
              <a:rPr lang="en-US" b="0" i="0" dirty="0">
                <a:solidFill>
                  <a:srgbClr val="FF0000"/>
                </a:solidFill>
                <a:effectLst/>
                <a:highlight>
                  <a:srgbClr val="FFFFFF"/>
                </a:highlight>
                <a:latin typeface="Consolas" panose="020B0609020204030204" pitchFamily="49" charset="0"/>
              </a:rPr>
              <a:t>5</a:t>
            </a:r>
            <a:r>
              <a:rPr lang="en-US" b="0" i="0" dirty="0">
                <a:solidFill>
                  <a:srgbClr val="000000"/>
                </a:solidFill>
                <a:effectLst/>
                <a:highlight>
                  <a:srgbClr val="FFFFFF"/>
                </a:highlight>
                <a:latin typeface="Consolas" panose="020B0609020204030204" pitchFamily="49" charset="0"/>
              </a:rPr>
              <a:t>, </a:t>
            </a:r>
            <a:r>
              <a:rPr lang="en-US" b="0" i="0" dirty="0">
                <a:solidFill>
                  <a:srgbClr val="FF0000"/>
                </a:solidFill>
                <a:effectLst/>
                <a:highlight>
                  <a:srgbClr val="FFFFFF"/>
                </a:highlight>
                <a:latin typeface="Consolas" panose="020B0609020204030204" pitchFamily="49" charset="0"/>
              </a:rPr>
              <a:t>6</a:t>
            </a:r>
            <a:r>
              <a:rPr lang="en-US" b="0" i="0" dirty="0">
                <a:solidFill>
                  <a:srgbClr val="000000"/>
                </a:solidFill>
                <a:effectLst/>
                <a:highlight>
                  <a:srgbClr val="FFFFFF"/>
                </a:highlight>
                <a:latin typeface="Consolas" panose="020B0609020204030204" pitchFamily="49" charset="0"/>
              </a:rPr>
              <a:t>]])</a:t>
            </a:r>
            <a:br>
              <a:rPr lang="en-US" b="0" i="0" dirty="0">
                <a:solidFill>
                  <a:srgbClr val="000000"/>
                </a:solidFill>
                <a:effectLst/>
                <a:highlight>
                  <a:srgbClr val="FFFFFF"/>
                </a:highlight>
                <a:latin typeface="Consolas" panose="020B0609020204030204" pitchFamily="49" charset="0"/>
              </a:rPr>
            </a:br>
            <a:r>
              <a:rPr lang="en-US" b="0" i="0" dirty="0">
                <a:solidFill>
                  <a:srgbClr val="0000CD"/>
                </a:solidFill>
                <a:effectLst/>
                <a:highlight>
                  <a:srgbClr val="FFFFFF"/>
                </a:highlight>
                <a:latin typeface="Consolas" panose="020B0609020204030204" pitchFamily="49" charset="0"/>
              </a:rPr>
              <a:t>for</a:t>
            </a:r>
            <a:r>
              <a:rPr lang="en-US" b="0" i="0" dirty="0">
                <a:solidFill>
                  <a:srgbClr val="000000"/>
                </a:solidFill>
                <a:effectLst/>
                <a:highlight>
                  <a:srgbClr val="FFFFFF"/>
                </a:highlight>
                <a:latin typeface="Consolas" panose="020B0609020204030204" pitchFamily="49" charset="0"/>
              </a:rPr>
              <a:t> x </a:t>
            </a:r>
            <a:r>
              <a:rPr lang="en-US" b="0" i="0" dirty="0">
                <a:solidFill>
                  <a:srgbClr val="0000CD"/>
                </a:solidFill>
                <a:effectLst/>
                <a:highlight>
                  <a:srgbClr val="FFFFFF"/>
                </a:highlight>
                <a:latin typeface="Consolas" panose="020B0609020204030204" pitchFamily="49" charset="0"/>
              </a:rPr>
              <a:t>in</a:t>
            </a:r>
            <a:r>
              <a:rPr lang="en-US" b="0" i="0" dirty="0">
                <a:solidFill>
                  <a:srgbClr val="000000"/>
                </a:solidFill>
                <a:effectLst/>
                <a:highlight>
                  <a:srgbClr val="FFFFFF"/>
                </a:highlight>
                <a:latin typeface="Consolas" panose="020B0609020204030204" pitchFamily="49" charset="0"/>
              </a:rPr>
              <a:t> </a:t>
            </a:r>
            <a:r>
              <a:rPr lang="en-US" b="0" i="0" dirty="0" err="1">
                <a:solidFill>
                  <a:srgbClr val="000000"/>
                </a:solidFill>
                <a:effectLst/>
                <a:highlight>
                  <a:srgbClr val="FFFFFF"/>
                </a:highlight>
                <a:latin typeface="Consolas" panose="020B0609020204030204" pitchFamily="49" charset="0"/>
              </a:rPr>
              <a:t>arr</a:t>
            </a:r>
            <a:r>
              <a:rPr lang="en-US" b="0" i="0" dirty="0">
                <a:solidFill>
                  <a:srgbClr val="000000"/>
                </a:solidFill>
                <a:effectLst/>
                <a:highlight>
                  <a:srgbClr val="FFFFFF"/>
                </a:highlight>
                <a:latin typeface="Consolas" panose="020B0609020204030204" pitchFamily="49" charset="0"/>
              </a:rPr>
              <a:t>:</a:t>
            </a:r>
            <a:br>
              <a:rPr lang="en-US" b="0" i="0" dirty="0">
                <a:solidFill>
                  <a:srgbClr val="000000"/>
                </a:solidFill>
                <a:effectLst/>
                <a:highlight>
                  <a:srgbClr val="FFFFFF"/>
                </a:highlight>
                <a:latin typeface="Consolas" panose="020B0609020204030204" pitchFamily="49" charset="0"/>
              </a:rPr>
            </a:br>
            <a:r>
              <a:rPr lang="en-US" b="0" i="0" dirty="0">
                <a:solidFill>
                  <a:srgbClr val="000000"/>
                </a:solidFill>
                <a:effectLst/>
                <a:highlight>
                  <a:srgbClr val="FFFFFF"/>
                </a:highlight>
                <a:latin typeface="Consolas" panose="020B0609020204030204" pitchFamily="49" charset="0"/>
              </a:rPr>
              <a:t>  </a:t>
            </a:r>
            <a:r>
              <a:rPr lang="en-US" b="0" i="0" dirty="0">
                <a:solidFill>
                  <a:srgbClr val="0000CD"/>
                </a:solidFill>
                <a:effectLst/>
                <a:highlight>
                  <a:srgbClr val="FFFFFF"/>
                </a:highlight>
                <a:latin typeface="Consolas" panose="020B0609020204030204" pitchFamily="49" charset="0"/>
              </a:rPr>
              <a:t>print</a:t>
            </a:r>
            <a:r>
              <a:rPr lang="en-US" b="0" i="0" dirty="0">
                <a:solidFill>
                  <a:srgbClr val="000000"/>
                </a:solidFill>
                <a:effectLst/>
                <a:highlight>
                  <a:srgbClr val="FFFFFF"/>
                </a:highlight>
                <a:latin typeface="Consolas" panose="020B0609020204030204" pitchFamily="49" charset="0"/>
              </a:rPr>
              <a:t>(x)</a:t>
            </a:r>
          </a:p>
          <a:p>
            <a:pPr algn="l"/>
            <a:endParaRPr lang="en-US" b="0" i="0" dirty="0">
              <a:solidFill>
                <a:srgbClr val="000000"/>
              </a:solidFill>
              <a:effectLst/>
              <a:highlight>
                <a:srgbClr val="FFFFFF"/>
              </a:highlight>
              <a:latin typeface="Consolas" panose="020B0609020204030204" pitchFamily="49" charset="0"/>
            </a:endParaRPr>
          </a:p>
          <a:p>
            <a:r>
              <a:rPr lang="en-US" b="1" dirty="0">
                <a:latin typeface="Calibri" panose="020F0502020204030204" pitchFamily="34" charset="0"/>
                <a:ea typeface="Calibri" panose="020F0502020204030204" pitchFamily="34" charset="0"/>
                <a:cs typeface="Calibri" panose="020F0502020204030204" pitchFamily="34" charset="0"/>
              </a:rPr>
              <a:t>Output:</a:t>
            </a:r>
          </a:p>
          <a:p>
            <a:r>
              <a:rPr lang="en-US" dirty="0">
                <a:solidFill>
                  <a:srgbClr val="000000"/>
                </a:solidFill>
                <a:highlight>
                  <a:srgbClr val="FFFFFF"/>
                </a:highlight>
                <a:latin typeface="Consolas" panose="020B0609020204030204" pitchFamily="49" charset="0"/>
                <a:ea typeface="Calibri" panose="020F0502020204030204" pitchFamily="34" charset="0"/>
                <a:cs typeface="Calibri" panose="020F0502020204030204" pitchFamily="34" charset="0"/>
              </a:rPr>
              <a:t>[1 2 3]</a:t>
            </a:r>
          </a:p>
          <a:p>
            <a:r>
              <a:rPr lang="en-US" dirty="0">
                <a:solidFill>
                  <a:srgbClr val="000000"/>
                </a:solidFill>
                <a:highlight>
                  <a:srgbClr val="FFFFFF"/>
                </a:highlight>
                <a:latin typeface="Consolas" panose="020B0609020204030204" pitchFamily="49" charset="0"/>
                <a:ea typeface="Calibri" panose="020F0502020204030204" pitchFamily="34" charset="0"/>
                <a:cs typeface="Calibri" panose="020F0502020204030204" pitchFamily="34" charset="0"/>
              </a:rPr>
              <a:t>[4 5 6]</a:t>
            </a:r>
            <a:br>
              <a:rPr lang="en-US" b="0" i="0" dirty="0">
                <a:solidFill>
                  <a:srgbClr val="000000"/>
                </a:solidFill>
                <a:effectLst/>
                <a:highlight>
                  <a:srgbClr val="FFFFCC"/>
                </a:highlight>
                <a:latin typeface="Verdana" panose="020B0604030504040204" pitchFamily="34" charset="0"/>
              </a:rPr>
            </a:br>
            <a:endParaRPr lang="en-IN"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61532225"/>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Table 8">
            <a:extLst>
              <a:ext uri="{FF2B5EF4-FFF2-40B4-BE49-F238E27FC236}">
                <a16:creationId xmlns:a16="http://schemas.microsoft.com/office/drawing/2014/main" id="{0B6EC464-4750-5FF3-7A5A-15612BA6E293}"/>
              </a:ext>
            </a:extLst>
          </p:cNvPr>
          <p:cNvGraphicFramePr>
            <a:graphicFrameLocks noGrp="1"/>
          </p:cNvGraphicFramePr>
          <p:nvPr/>
        </p:nvGraphicFramePr>
        <p:xfrm>
          <a:off x="0" y="23812"/>
          <a:ext cx="12192000" cy="465287"/>
        </p:xfrm>
        <a:graphic>
          <a:graphicData uri="http://schemas.openxmlformats.org/drawingml/2006/table">
            <a:tbl>
              <a:tblPr firstRow="1" bandRow="1">
                <a:tableStyleId>{5C22544A-7EE6-4342-B048-85BDC9FD1C3A}</a:tableStyleId>
              </a:tblPr>
              <a:tblGrid>
                <a:gridCol w="6092042">
                  <a:extLst>
                    <a:ext uri="{9D8B030D-6E8A-4147-A177-3AD203B41FA5}">
                      <a16:colId xmlns:a16="http://schemas.microsoft.com/office/drawing/2014/main" val="2179694530"/>
                    </a:ext>
                  </a:extLst>
                </a:gridCol>
                <a:gridCol w="6099958">
                  <a:extLst>
                    <a:ext uri="{9D8B030D-6E8A-4147-A177-3AD203B41FA5}">
                      <a16:colId xmlns:a16="http://schemas.microsoft.com/office/drawing/2014/main" val="2768207918"/>
                    </a:ext>
                  </a:extLst>
                </a:gridCol>
              </a:tblGrid>
              <a:tr h="465287">
                <a:tc>
                  <a:txBody>
                    <a:bodyPr/>
                    <a:lstStyle/>
                    <a:p>
                      <a:endParaRPr lang="en-US" dirty="0"/>
                    </a:p>
                  </a:txBody>
                  <a:tcPr>
                    <a:solidFill>
                      <a:srgbClr val="FF85FF"/>
                    </a:solidFill>
                  </a:tcPr>
                </a:tc>
                <a:tc>
                  <a:txBody>
                    <a:bodyPr/>
                    <a:lstStyle/>
                    <a:p>
                      <a:endParaRPr lang="en-US" dirty="0"/>
                    </a:p>
                  </a:txBody>
                  <a:tcPr>
                    <a:solidFill>
                      <a:srgbClr val="FFFF00"/>
                    </a:solidFill>
                  </a:tcPr>
                </a:tc>
                <a:extLst>
                  <a:ext uri="{0D108BD9-81ED-4DB2-BD59-A6C34878D82A}">
                    <a16:rowId xmlns:a16="http://schemas.microsoft.com/office/drawing/2014/main" val="1996944423"/>
                  </a:ext>
                </a:extLst>
              </a:tr>
            </a:tbl>
          </a:graphicData>
        </a:graphic>
      </p:graphicFrame>
      <p:graphicFrame>
        <p:nvGraphicFramePr>
          <p:cNvPr id="10" name="Table 9">
            <a:extLst>
              <a:ext uri="{FF2B5EF4-FFF2-40B4-BE49-F238E27FC236}">
                <a16:creationId xmlns:a16="http://schemas.microsoft.com/office/drawing/2014/main" id="{494BAFB7-FE1F-E1A9-7A6C-AB4145BD9BA1}"/>
              </a:ext>
            </a:extLst>
          </p:cNvPr>
          <p:cNvGraphicFramePr>
            <a:graphicFrameLocks noGrp="1"/>
          </p:cNvGraphicFramePr>
          <p:nvPr>
            <p:extLst>
              <p:ext uri="{D42A27DB-BD31-4B8C-83A1-F6EECF244321}">
                <p14:modId xmlns:p14="http://schemas.microsoft.com/office/powerpoint/2010/main" val="1836643252"/>
              </p:ext>
            </p:extLst>
          </p:nvPr>
        </p:nvGraphicFramePr>
        <p:xfrm>
          <a:off x="1" y="6478892"/>
          <a:ext cx="12191999" cy="370840"/>
        </p:xfrm>
        <a:graphic>
          <a:graphicData uri="http://schemas.openxmlformats.org/drawingml/2006/table">
            <a:tbl>
              <a:tblPr firstRow="1" bandRow="1">
                <a:tableStyleId>{5C22544A-7EE6-4342-B048-85BDC9FD1C3A}</a:tableStyleId>
              </a:tblPr>
              <a:tblGrid>
                <a:gridCol w="6080165">
                  <a:extLst>
                    <a:ext uri="{9D8B030D-6E8A-4147-A177-3AD203B41FA5}">
                      <a16:colId xmlns:a16="http://schemas.microsoft.com/office/drawing/2014/main" val="2179694530"/>
                    </a:ext>
                  </a:extLst>
                </a:gridCol>
                <a:gridCol w="6111834">
                  <a:extLst>
                    <a:ext uri="{9D8B030D-6E8A-4147-A177-3AD203B41FA5}">
                      <a16:colId xmlns:a16="http://schemas.microsoft.com/office/drawing/2014/main" val="2768207918"/>
                    </a:ext>
                  </a:extLst>
                </a:gridCol>
              </a:tblGrid>
              <a:tr h="370840">
                <a:tc>
                  <a:txBody>
                    <a:bodyPr/>
                    <a:lstStyle/>
                    <a:p>
                      <a:endParaRPr lang="en-US" dirty="0"/>
                    </a:p>
                  </a:txBody>
                  <a:tcPr>
                    <a:solidFill>
                      <a:srgbClr val="FFFF00"/>
                    </a:solidFill>
                  </a:tcPr>
                </a:tc>
                <a:tc>
                  <a:txBody>
                    <a:bodyPr/>
                    <a:lstStyle/>
                    <a:p>
                      <a:pPr algn="r"/>
                      <a:r>
                        <a:rPr lang="en-US" dirty="0">
                          <a:solidFill>
                            <a:schemeClr val="tx1"/>
                          </a:solidFill>
                        </a:rPr>
                        <a:t>72</a:t>
                      </a:r>
                    </a:p>
                  </a:txBody>
                  <a:tcPr>
                    <a:solidFill>
                      <a:srgbClr val="FF85FF"/>
                    </a:solidFill>
                  </a:tcPr>
                </a:tc>
                <a:extLst>
                  <a:ext uri="{0D108BD9-81ED-4DB2-BD59-A6C34878D82A}">
                    <a16:rowId xmlns:a16="http://schemas.microsoft.com/office/drawing/2014/main" val="1996944423"/>
                  </a:ext>
                </a:extLst>
              </a:tr>
            </a:tbl>
          </a:graphicData>
        </a:graphic>
      </p:graphicFrame>
      <p:pic>
        <p:nvPicPr>
          <p:cNvPr id="12" name="Google Shape;187;p25" descr="pngfind.com-kingpin-png-4152286 (1).png">
            <a:extLst>
              <a:ext uri="{FF2B5EF4-FFF2-40B4-BE49-F238E27FC236}">
                <a16:creationId xmlns:a16="http://schemas.microsoft.com/office/drawing/2014/main" id="{2DBF2481-A2DB-F96E-5749-B03DC4F71665}"/>
              </a:ext>
            </a:extLst>
          </p:cNvPr>
          <p:cNvPicPr preferRelativeResize="0"/>
          <p:nvPr/>
        </p:nvPicPr>
        <p:blipFill rotWithShape="1">
          <a:blip r:embed="rId2">
            <a:alphaModFix/>
          </a:blip>
          <a:srcRect/>
          <a:stretch/>
        </p:blipFill>
        <p:spPr>
          <a:xfrm>
            <a:off x="11044052" y="8268"/>
            <a:ext cx="1051261" cy="465287"/>
          </a:xfrm>
          <a:prstGeom prst="rect">
            <a:avLst/>
          </a:prstGeom>
          <a:noFill/>
          <a:ln>
            <a:noFill/>
          </a:ln>
        </p:spPr>
      </p:pic>
      <p:sp>
        <p:nvSpPr>
          <p:cNvPr id="19" name="Rectangle 18">
            <a:extLst>
              <a:ext uri="{FF2B5EF4-FFF2-40B4-BE49-F238E27FC236}">
                <a16:creationId xmlns:a16="http://schemas.microsoft.com/office/drawing/2014/main" id="{A0702E37-2E7E-7262-5E76-F69A817105B3}"/>
              </a:ext>
            </a:extLst>
          </p:cNvPr>
          <p:cNvSpPr/>
          <p:nvPr/>
        </p:nvSpPr>
        <p:spPr>
          <a:xfrm>
            <a:off x="0" y="8268"/>
            <a:ext cx="12192000" cy="6825920"/>
          </a:xfrm>
          <a:prstGeom prst="rect">
            <a:avLst/>
          </a:prstGeom>
          <a:noFill/>
          <a:ln w="38100">
            <a:solidFill>
              <a:srgbClr val="0432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DCB2A3F0-9003-5886-09B4-27925BBE4000}"/>
              </a:ext>
            </a:extLst>
          </p:cNvPr>
          <p:cNvSpPr txBox="1"/>
          <p:nvPr/>
        </p:nvSpPr>
        <p:spPr>
          <a:xfrm>
            <a:off x="0" y="873851"/>
            <a:ext cx="12191999" cy="646331"/>
          </a:xfrm>
          <a:prstGeom prst="rect">
            <a:avLst/>
          </a:prstGeom>
          <a:noFill/>
        </p:spPr>
        <p:txBody>
          <a:bodyPr wrap="square">
            <a:spAutoFit/>
          </a:bodyPr>
          <a:lstStyle/>
          <a:p>
            <a:pPr algn="ctr"/>
            <a:r>
              <a:rPr lang="en-US" sz="3600" b="1" dirty="0">
                <a:effectLst/>
                <a:latin typeface="Calibri" panose="020F0502020204030204" pitchFamily="34" charset="0"/>
                <a:ea typeface="Calibri" panose="020F0502020204030204" pitchFamily="34" charset="0"/>
                <a:cs typeface="Calibri" panose="020F0502020204030204" pitchFamily="34" charset="0"/>
              </a:rPr>
              <a:t>Iterating Array</a:t>
            </a:r>
            <a:endParaRPr lang="en-GB" sz="6600" b="1" cap="none" spc="0" dirty="0">
              <a:ln w="0"/>
              <a:solidFill>
                <a:schemeClr val="tx1"/>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Calibri" panose="020F0502020204030204" pitchFamily="34" charset="0"/>
            </a:endParaRPr>
          </a:p>
        </p:txBody>
      </p:sp>
      <p:sp>
        <p:nvSpPr>
          <p:cNvPr id="11" name="TextBox 10">
            <a:extLst>
              <a:ext uri="{FF2B5EF4-FFF2-40B4-BE49-F238E27FC236}">
                <a16:creationId xmlns:a16="http://schemas.microsoft.com/office/drawing/2014/main" id="{C11BBC61-B926-611F-8358-9DB20CDFEA3B}"/>
              </a:ext>
            </a:extLst>
          </p:cNvPr>
          <p:cNvSpPr txBox="1"/>
          <p:nvPr/>
        </p:nvSpPr>
        <p:spPr>
          <a:xfrm>
            <a:off x="547186" y="1667171"/>
            <a:ext cx="11022496" cy="1295868"/>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Iterating 3D Array:</a:t>
            </a:r>
          </a:p>
          <a:p>
            <a:pPr marL="285750" indent="-285750" algn="l">
              <a:lnSpc>
                <a:spcPct val="150000"/>
              </a:lnSpc>
              <a:buFont typeface="Arial" panose="020B0604020202020204" pitchFamily="34" charset="0"/>
              <a:buChar char="•"/>
            </a:pPr>
            <a:endParaRPr lang="en-US" dirty="0">
              <a:latin typeface="Calibri" panose="020F0502020204030204" pitchFamily="34" charset="0"/>
              <a:ea typeface="Calibri" panose="020F0502020204030204" pitchFamily="34" charset="0"/>
              <a:cs typeface="Calibri" panose="020F0502020204030204" pitchFamily="34" charset="0"/>
            </a:endParaRPr>
          </a:p>
          <a:p>
            <a:pPr algn="l">
              <a:lnSpc>
                <a:spcPct val="150000"/>
              </a:lnSpc>
            </a:pPr>
            <a:endParaRPr lang="en-US" dirty="0">
              <a:latin typeface="Calibri" panose="020F0502020204030204" pitchFamily="34" charset="0"/>
              <a:ea typeface="Calibri" panose="020F0502020204030204" pitchFamily="34" charset="0"/>
              <a:cs typeface="Calibri" panose="020F0502020204030204" pitchFamily="34" charset="0"/>
            </a:endParaRPr>
          </a:p>
        </p:txBody>
      </p:sp>
      <p:sp>
        <p:nvSpPr>
          <p:cNvPr id="7" name="TextBox 6">
            <a:extLst>
              <a:ext uri="{FF2B5EF4-FFF2-40B4-BE49-F238E27FC236}">
                <a16:creationId xmlns:a16="http://schemas.microsoft.com/office/drawing/2014/main" id="{4CD9AB37-E23A-5333-3CF3-EC91991D4862}"/>
              </a:ext>
            </a:extLst>
          </p:cNvPr>
          <p:cNvSpPr txBox="1"/>
          <p:nvPr/>
        </p:nvSpPr>
        <p:spPr>
          <a:xfrm>
            <a:off x="1987827" y="2519977"/>
            <a:ext cx="8666921" cy="3139321"/>
          </a:xfrm>
          <a:prstGeom prst="rect">
            <a:avLst/>
          </a:prstGeom>
          <a:noFill/>
          <a:ln w="6350">
            <a:solidFill>
              <a:schemeClr val="tx1"/>
            </a:solidFill>
          </a:ln>
        </p:spPr>
        <p:txBody>
          <a:bodyPr wrap="square">
            <a:spAutoFit/>
          </a:bodyPr>
          <a:lstStyle/>
          <a:p>
            <a:pPr algn="l"/>
            <a:r>
              <a:rPr lang="en-US" b="0" i="0" dirty="0">
                <a:solidFill>
                  <a:srgbClr val="0000CD"/>
                </a:solidFill>
                <a:effectLst/>
                <a:highlight>
                  <a:srgbClr val="FFFFFF"/>
                </a:highlight>
                <a:latin typeface="Consolas" panose="020B0609020204030204" pitchFamily="49" charset="0"/>
              </a:rPr>
              <a:t>import</a:t>
            </a:r>
            <a:r>
              <a:rPr lang="en-US" b="0" i="0" dirty="0">
                <a:solidFill>
                  <a:srgbClr val="000000"/>
                </a:solidFill>
                <a:effectLst/>
                <a:highlight>
                  <a:srgbClr val="FFFFFF"/>
                </a:highlight>
                <a:latin typeface="Consolas" panose="020B0609020204030204" pitchFamily="49" charset="0"/>
              </a:rPr>
              <a:t> </a:t>
            </a:r>
            <a:r>
              <a:rPr lang="en-US" b="0" i="0" dirty="0" err="1">
                <a:solidFill>
                  <a:srgbClr val="000000"/>
                </a:solidFill>
                <a:effectLst/>
                <a:highlight>
                  <a:srgbClr val="FFFFFF"/>
                </a:highlight>
                <a:latin typeface="Consolas" panose="020B0609020204030204" pitchFamily="49" charset="0"/>
              </a:rPr>
              <a:t>numpy</a:t>
            </a:r>
            <a:r>
              <a:rPr lang="en-US" b="0" i="0" dirty="0">
                <a:solidFill>
                  <a:srgbClr val="000000"/>
                </a:solidFill>
                <a:effectLst/>
                <a:highlight>
                  <a:srgbClr val="FFFFFF"/>
                </a:highlight>
                <a:latin typeface="Consolas" panose="020B0609020204030204" pitchFamily="49" charset="0"/>
              </a:rPr>
              <a:t> </a:t>
            </a:r>
            <a:r>
              <a:rPr lang="en-US" b="0" i="0" dirty="0">
                <a:solidFill>
                  <a:srgbClr val="0000CD"/>
                </a:solidFill>
                <a:effectLst/>
                <a:highlight>
                  <a:srgbClr val="FFFFFF"/>
                </a:highlight>
                <a:latin typeface="Consolas" panose="020B0609020204030204" pitchFamily="49" charset="0"/>
              </a:rPr>
              <a:t>as</a:t>
            </a:r>
            <a:r>
              <a:rPr lang="en-US" b="0" i="0" dirty="0">
                <a:solidFill>
                  <a:srgbClr val="000000"/>
                </a:solidFill>
                <a:effectLst/>
                <a:highlight>
                  <a:srgbClr val="FFFFFF"/>
                </a:highlight>
                <a:latin typeface="Consolas" panose="020B0609020204030204" pitchFamily="49" charset="0"/>
              </a:rPr>
              <a:t> np</a:t>
            </a:r>
            <a:br>
              <a:rPr lang="en-US" dirty="0"/>
            </a:br>
            <a:r>
              <a:rPr lang="en-US" b="0" i="0" dirty="0" err="1">
                <a:solidFill>
                  <a:srgbClr val="000000"/>
                </a:solidFill>
                <a:effectLst/>
                <a:highlight>
                  <a:srgbClr val="FFFFFF"/>
                </a:highlight>
                <a:latin typeface="Consolas" panose="020B0609020204030204" pitchFamily="49" charset="0"/>
              </a:rPr>
              <a:t>arr</a:t>
            </a:r>
            <a:r>
              <a:rPr lang="en-US" b="0" i="0" dirty="0">
                <a:solidFill>
                  <a:srgbClr val="000000"/>
                </a:solidFill>
                <a:effectLst/>
                <a:highlight>
                  <a:srgbClr val="FFFFFF"/>
                </a:highlight>
                <a:latin typeface="Consolas" panose="020B0609020204030204" pitchFamily="49" charset="0"/>
              </a:rPr>
              <a:t> = </a:t>
            </a:r>
            <a:r>
              <a:rPr lang="en-US" b="0" i="0" dirty="0" err="1">
                <a:solidFill>
                  <a:srgbClr val="000000"/>
                </a:solidFill>
                <a:effectLst/>
                <a:highlight>
                  <a:srgbClr val="FFFFFF"/>
                </a:highlight>
                <a:latin typeface="Consolas" panose="020B0609020204030204" pitchFamily="49" charset="0"/>
              </a:rPr>
              <a:t>np.array</a:t>
            </a:r>
            <a:r>
              <a:rPr lang="en-US" b="0" i="0" dirty="0">
                <a:solidFill>
                  <a:srgbClr val="000000"/>
                </a:solidFill>
                <a:effectLst/>
                <a:highlight>
                  <a:srgbClr val="FFFFFF"/>
                </a:highlight>
                <a:latin typeface="Consolas" panose="020B0609020204030204" pitchFamily="49" charset="0"/>
              </a:rPr>
              <a:t>([[[</a:t>
            </a:r>
            <a:r>
              <a:rPr lang="en-US" b="0" i="0" dirty="0">
                <a:solidFill>
                  <a:srgbClr val="FF0000"/>
                </a:solidFill>
                <a:effectLst/>
                <a:highlight>
                  <a:srgbClr val="FFFFFF"/>
                </a:highlight>
                <a:latin typeface="Consolas" panose="020B0609020204030204" pitchFamily="49" charset="0"/>
              </a:rPr>
              <a:t>1</a:t>
            </a:r>
            <a:r>
              <a:rPr lang="en-US" b="0" i="0" dirty="0">
                <a:solidFill>
                  <a:srgbClr val="000000"/>
                </a:solidFill>
                <a:effectLst/>
                <a:highlight>
                  <a:srgbClr val="FFFFFF"/>
                </a:highlight>
                <a:latin typeface="Consolas" panose="020B0609020204030204" pitchFamily="49" charset="0"/>
              </a:rPr>
              <a:t>, </a:t>
            </a:r>
            <a:r>
              <a:rPr lang="en-US" b="0" i="0" dirty="0">
                <a:solidFill>
                  <a:srgbClr val="FF0000"/>
                </a:solidFill>
                <a:effectLst/>
                <a:highlight>
                  <a:srgbClr val="FFFFFF"/>
                </a:highlight>
                <a:latin typeface="Consolas" panose="020B0609020204030204" pitchFamily="49" charset="0"/>
              </a:rPr>
              <a:t>2</a:t>
            </a:r>
            <a:r>
              <a:rPr lang="en-US" b="0" i="0" dirty="0">
                <a:solidFill>
                  <a:srgbClr val="000000"/>
                </a:solidFill>
                <a:effectLst/>
                <a:highlight>
                  <a:srgbClr val="FFFFFF"/>
                </a:highlight>
                <a:latin typeface="Consolas" panose="020B0609020204030204" pitchFamily="49" charset="0"/>
              </a:rPr>
              <a:t>, </a:t>
            </a:r>
            <a:r>
              <a:rPr lang="en-US" b="0" i="0" dirty="0">
                <a:solidFill>
                  <a:srgbClr val="FF0000"/>
                </a:solidFill>
                <a:effectLst/>
                <a:highlight>
                  <a:srgbClr val="FFFFFF"/>
                </a:highlight>
                <a:latin typeface="Consolas" panose="020B0609020204030204" pitchFamily="49" charset="0"/>
              </a:rPr>
              <a:t>3</a:t>
            </a:r>
            <a:r>
              <a:rPr lang="en-US" b="0" i="0" dirty="0">
                <a:solidFill>
                  <a:srgbClr val="000000"/>
                </a:solidFill>
                <a:effectLst/>
                <a:highlight>
                  <a:srgbClr val="FFFFFF"/>
                </a:highlight>
                <a:latin typeface="Consolas" panose="020B0609020204030204" pitchFamily="49" charset="0"/>
              </a:rPr>
              <a:t>], [</a:t>
            </a:r>
            <a:r>
              <a:rPr lang="en-US" b="0" i="0" dirty="0">
                <a:solidFill>
                  <a:srgbClr val="FF0000"/>
                </a:solidFill>
                <a:effectLst/>
                <a:highlight>
                  <a:srgbClr val="FFFFFF"/>
                </a:highlight>
                <a:latin typeface="Consolas" panose="020B0609020204030204" pitchFamily="49" charset="0"/>
              </a:rPr>
              <a:t>4</a:t>
            </a:r>
            <a:r>
              <a:rPr lang="en-US" b="0" i="0" dirty="0">
                <a:solidFill>
                  <a:srgbClr val="000000"/>
                </a:solidFill>
                <a:effectLst/>
                <a:highlight>
                  <a:srgbClr val="FFFFFF"/>
                </a:highlight>
                <a:latin typeface="Consolas" panose="020B0609020204030204" pitchFamily="49" charset="0"/>
              </a:rPr>
              <a:t>, </a:t>
            </a:r>
            <a:r>
              <a:rPr lang="en-US" b="0" i="0" dirty="0">
                <a:solidFill>
                  <a:srgbClr val="FF0000"/>
                </a:solidFill>
                <a:effectLst/>
                <a:highlight>
                  <a:srgbClr val="FFFFFF"/>
                </a:highlight>
                <a:latin typeface="Consolas" panose="020B0609020204030204" pitchFamily="49" charset="0"/>
              </a:rPr>
              <a:t>5</a:t>
            </a:r>
            <a:r>
              <a:rPr lang="en-US" b="0" i="0" dirty="0">
                <a:solidFill>
                  <a:srgbClr val="000000"/>
                </a:solidFill>
                <a:effectLst/>
                <a:highlight>
                  <a:srgbClr val="FFFFFF"/>
                </a:highlight>
                <a:latin typeface="Consolas" panose="020B0609020204030204" pitchFamily="49" charset="0"/>
              </a:rPr>
              <a:t>, </a:t>
            </a:r>
            <a:r>
              <a:rPr lang="en-US" b="0" i="0" dirty="0">
                <a:solidFill>
                  <a:srgbClr val="FF0000"/>
                </a:solidFill>
                <a:effectLst/>
                <a:highlight>
                  <a:srgbClr val="FFFFFF"/>
                </a:highlight>
                <a:latin typeface="Consolas" panose="020B0609020204030204" pitchFamily="49" charset="0"/>
              </a:rPr>
              <a:t>6</a:t>
            </a:r>
            <a:r>
              <a:rPr lang="en-US" b="0" i="0" dirty="0">
                <a:solidFill>
                  <a:srgbClr val="000000"/>
                </a:solidFill>
                <a:effectLst/>
                <a:highlight>
                  <a:srgbClr val="FFFFFF"/>
                </a:highlight>
                <a:latin typeface="Consolas" panose="020B0609020204030204" pitchFamily="49" charset="0"/>
              </a:rPr>
              <a:t>]], [[</a:t>
            </a:r>
            <a:r>
              <a:rPr lang="en-US" b="0" i="0" dirty="0">
                <a:solidFill>
                  <a:srgbClr val="FF0000"/>
                </a:solidFill>
                <a:effectLst/>
                <a:highlight>
                  <a:srgbClr val="FFFFFF"/>
                </a:highlight>
                <a:latin typeface="Consolas" panose="020B0609020204030204" pitchFamily="49" charset="0"/>
              </a:rPr>
              <a:t>7</a:t>
            </a:r>
            <a:r>
              <a:rPr lang="en-US" b="0" i="0" dirty="0">
                <a:solidFill>
                  <a:srgbClr val="000000"/>
                </a:solidFill>
                <a:effectLst/>
                <a:highlight>
                  <a:srgbClr val="FFFFFF"/>
                </a:highlight>
                <a:latin typeface="Consolas" panose="020B0609020204030204" pitchFamily="49" charset="0"/>
              </a:rPr>
              <a:t>, </a:t>
            </a:r>
            <a:r>
              <a:rPr lang="en-US" b="0" i="0" dirty="0">
                <a:solidFill>
                  <a:srgbClr val="FF0000"/>
                </a:solidFill>
                <a:effectLst/>
                <a:highlight>
                  <a:srgbClr val="FFFFFF"/>
                </a:highlight>
                <a:latin typeface="Consolas" panose="020B0609020204030204" pitchFamily="49" charset="0"/>
              </a:rPr>
              <a:t>8</a:t>
            </a:r>
            <a:r>
              <a:rPr lang="en-US" b="0" i="0" dirty="0">
                <a:solidFill>
                  <a:srgbClr val="000000"/>
                </a:solidFill>
                <a:effectLst/>
                <a:highlight>
                  <a:srgbClr val="FFFFFF"/>
                </a:highlight>
                <a:latin typeface="Consolas" panose="020B0609020204030204" pitchFamily="49" charset="0"/>
              </a:rPr>
              <a:t>, </a:t>
            </a:r>
            <a:r>
              <a:rPr lang="en-US" b="0" i="0" dirty="0">
                <a:solidFill>
                  <a:srgbClr val="FF0000"/>
                </a:solidFill>
                <a:effectLst/>
                <a:highlight>
                  <a:srgbClr val="FFFFFF"/>
                </a:highlight>
                <a:latin typeface="Consolas" panose="020B0609020204030204" pitchFamily="49" charset="0"/>
              </a:rPr>
              <a:t>9</a:t>
            </a:r>
            <a:r>
              <a:rPr lang="en-US" b="0" i="0" dirty="0">
                <a:solidFill>
                  <a:srgbClr val="000000"/>
                </a:solidFill>
                <a:effectLst/>
                <a:highlight>
                  <a:srgbClr val="FFFFFF"/>
                </a:highlight>
                <a:latin typeface="Consolas" panose="020B0609020204030204" pitchFamily="49" charset="0"/>
              </a:rPr>
              <a:t>], [</a:t>
            </a:r>
            <a:r>
              <a:rPr lang="en-US" b="0" i="0" dirty="0">
                <a:solidFill>
                  <a:srgbClr val="FF0000"/>
                </a:solidFill>
                <a:effectLst/>
                <a:highlight>
                  <a:srgbClr val="FFFFFF"/>
                </a:highlight>
                <a:latin typeface="Consolas" panose="020B0609020204030204" pitchFamily="49" charset="0"/>
              </a:rPr>
              <a:t>10</a:t>
            </a:r>
            <a:r>
              <a:rPr lang="en-US" b="0" i="0" dirty="0">
                <a:solidFill>
                  <a:srgbClr val="000000"/>
                </a:solidFill>
                <a:effectLst/>
                <a:highlight>
                  <a:srgbClr val="FFFFFF"/>
                </a:highlight>
                <a:latin typeface="Consolas" panose="020B0609020204030204" pitchFamily="49" charset="0"/>
              </a:rPr>
              <a:t>, </a:t>
            </a:r>
            <a:r>
              <a:rPr lang="en-US" b="0" i="0" dirty="0">
                <a:solidFill>
                  <a:srgbClr val="FF0000"/>
                </a:solidFill>
                <a:effectLst/>
                <a:highlight>
                  <a:srgbClr val="FFFFFF"/>
                </a:highlight>
                <a:latin typeface="Consolas" panose="020B0609020204030204" pitchFamily="49" charset="0"/>
              </a:rPr>
              <a:t>11</a:t>
            </a:r>
            <a:r>
              <a:rPr lang="en-US" b="0" i="0" dirty="0">
                <a:solidFill>
                  <a:srgbClr val="000000"/>
                </a:solidFill>
                <a:effectLst/>
                <a:highlight>
                  <a:srgbClr val="FFFFFF"/>
                </a:highlight>
                <a:latin typeface="Consolas" panose="020B0609020204030204" pitchFamily="49" charset="0"/>
              </a:rPr>
              <a:t>, </a:t>
            </a:r>
            <a:r>
              <a:rPr lang="en-US" b="0" i="0" dirty="0">
                <a:solidFill>
                  <a:srgbClr val="FF0000"/>
                </a:solidFill>
                <a:effectLst/>
                <a:highlight>
                  <a:srgbClr val="FFFFFF"/>
                </a:highlight>
                <a:latin typeface="Consolas" panose="020B0609020204030204" pitchFamily="49" charset="0"/>
              </a:rPr>
              <a:t>12</a:t>
            </a:r>
            <a:r>
              <a:rPr lang="en-US" b="0" i="0" dirty="0">
                <a:solidFill>
                  <a:srgbClr val="000000"/>
                </a:solidFill>
                <a:effectLst/>
                <a:highlight>
                  <a:srgbClr val="FFFFFF"/>
                </a:highlight>
                <a:latin typeface="Consolas" panose="020B0609020204030204" pitchFamily="49" charset="0"/>
              </a:rPr>
              <a:t>]]])</a:t>
            </a:r>
            <a:br>
              <a:rPr lang="en-US" dirty="0"/>
            </a:br>
            <a:r>
              <a:rPr lang="en-US" b="0" i="0" dirty="0">
                <a:solidFill>
                  <a:srgbClr val="0000CD"/>
                </a:solidFill>
                <a:effectLst/>
                <a:highlight>
                  <a:srgbClr val="FFFFFF"/>
                </a:highlight>
                <a:latin typeface="Consolas" panose="020B0609020204030204" pitchFamily="49" charset="0"/>
              </a:rPr>
              <a:t>for</a:t>
            </a:r>
            <a:r>
              <a:rPr lang="en-US" b="0" i="0" dirty="0">
                <a:solidFill>
                  <a:srgbClr val="000000"/>
                </a:solidFill>
                <a:effectLst/>
                <a:highlight>
                  <a:srgbClr val="FFFFFF"/>
                </a:highlight>
                <a:latin typeface="Consolas" panose="020B0609020204030204" pitchFamily="49" charset="0"/>
              </a:rPr>
              <a:t> x </a:t>
            </a:r>
            <a:r>
              <a:rPr lang="en-US" b="0" i="0" dirty="0">
                <a:solidFill>
                  <a:srgbClr val="0000CD"/>
                </a:solidFill>
                <a:effectLst/>
                <a:highlight>
                  <a:srgbClr val="FFFFFF"/>
                </a:highlight>
                <a:latin typeface="Consolas" panose="020B0609020204030204" pitchFamily="49" charset="0"/>
              </a:rPr>
              <a:t>in</a:t>
            </a:r>
            <a:r>
              <a:rPr lang="en-US" b="0" i="0" dirty="0">
                <a:solidFill>
                  <a:srgbClr val="000000"/>
                </a:solidFill>
                <a:effectLst/>
                <a:highlight>
                  <a:srgbClr val="FFFFFF"/>
                </a:highlight>
                <a:latin typeface="Consolas" panose="020B0609020204030204" pitchFamily="49" charset="0"/>
              </a:rPr>
              <a:t> </a:t>
            </a:r>
            <a:r>
              <a:rPr lang="en-US" b="0" i="0" dirty="0" err="1">
                <a:solidFill>
                  <a:srgbClr val="000000"/>
                </a:solidFill>
                <a:effectLst/>
                <a:highlight>
                  <a:srgbClr val="FFFFFF"/>
                </a:highlight>
                <a:latin typeface="Consolas" panose="020B0609020204030204" pitchFamily="49" charset="0"/>
              </a:rPr>
              <a:t>arr</a:t>
            </a:r>
            <a:r>
              <a:rPr lang="en-US" b="0" i="0" dirty="0">
                <a:solidFill>
                  <a:srgbClr val="000000"/>
                </a:solidFill>
                <a:effectLst/>
                <a:highlight>
                  <a:srgbClr val="FFFFFF"/>
                </a:highlight>
                <a:latin typeface="Consolas" panose="020B0609020204030204" pitchFamily="49" charset="0"/>
              </a:rPr>
              <a:t>:</a:t>
            </a:r>
            <a:br>
              <a:rPr lang="en-US" dirty="0"/>
            </a:br>
            <a:r>
              <a:rPr lang="en-US" b="0" i="0" dirty="0">
                <a:solidFill>
                  <a:srgbClr val="000000"/>
                </a:solidFill>
                <a:effectLst/>
                <a:highlight>
                  <a:srgbClr val="FFFFFF"/>
                </a:highlight>
                <a:latin typeface="Consolas" panose="020B0609020204030204" pitchFamily="49" charset="0"/>
              </a:rPr>
              <a:t>  </a:t>
            </a:r>
            <a:r>
              <a:rPr lang="en-US" b="0" i="0" dirty="0">
                <a:solidFill>
                  <a:srgbClr val="0000CD"/>
                </a:solidFill>
                <a:effectLst/>
                <a:highlight>
                  <a:srgbClr val="FFFFFF"/>
                </a:highlight>
                <a:latin typeface="Consolas" panose="020B0609020204030204" pitchFamily="49" charset="0"/>
              </a:rPr>
              <a:t>print</a:t>
            </a:r>
            <a:r>
              <a:rPr lang="en-US" b="0" i="0" dirty="0">
                <a:solidFill>
                  <a:srgbClr val="000000"/>
                </a:solidFill>
                <a:effectLst/>
                <a:highlight>
                  <a:srgbClr val="FFFFFF"/>
                </a:highlight>
                <a:latin typeface="Consolas" panose="020B0609020204030204" pitchFamily="49" charset="0"/>
              </a:rPr>
              <a:t>(x)</a:t>
            </a:r>
          </a:p>
          <a:p>
            <a:pPr algn="l"/>
            <a:endParaRPr lang="en-US" b="0" i="0" dirty="0">
              <a:solidFill>
                <a:srgbClr val="000000"/>
              </a:solidFill>
              <a:effectLst/>
              <a:highlight>
                <a:srgbClr val="FFFFFF"/>
              </a:highlight>
              <a:latin typeface="Consolas" panose="020B0609020204030204" pitchFamily="49" charset="0"/>
            </a:endParaRPr>
          </a:p>
          <a:p>
            <a:r>
              <a:rPr lang="en-US" b="1" dirty="0">
                <a:latin typeface="Calibri" panose="020F0502020204030204" pitchFamily="34" charset="0"/>
                <a:ea typeface="Calibri" panose="020F0502020204030204" pitchFamily="34" charset="0"/>
                <a:cs typeface="Calibri" panose="020F0502020204030204" pitchFamily="34" charset="0"/>
              </a:rPr>
              <a:t>Output:</a:t>
            </a:r>
          </a:p>
          <a:p>
            <a:r>
              <a:rPr lang="en-US" dirty="0">
                <a:solidFill>
                  <a:srgbClr val="000000"/>
                </a:solidFill>
                <a:highlight>
                  <a:srgbClr val="FFFFFF"/>
                </a:highlight>
                <a:latin typeface="Consolas" panose="020B0609020204030204" pitchFamily="49" charset="0"/>
                <a:ea typeface="Calibri" panose="020F0502020204030204" pitchFamily="34" charset="0"/>
                <a:cs typeface="Calibri" panose="020F0502020204030204" pitchFamily="34" charset="0"/>
              </a:rPr>
              <a:t>[[1 2 3]</a:t>
            </a:r>
          </a:p>
          <a:p>
            <a:r>
              <a:rPr lang="en-US" dirty="0">
                <a:solidFill>
                  <a:srgbClr val="000000"/>
                </a:solidFill>
                <a:highlight>
                  <a:srgbClr val="FFFFFF"/>
                </a:highlight>
                <a:latin typeface="Consolas" panose="020B0609020204030204" pitchFamily="49" charset="0"/>
                <a:ea typeface="Calibri" panose="020F0502020204030204" pitchFamily="34" charset="0"/>
                <a:cs typeface="Calibri" panose="020F0502020204030204" pitchFamily="34" charset="0"/>
              </a:rPr>
              <a:t> [4 5 6]]</a:t>
            </a:r>
          </a:p>
          <a:p>
            <a:r>
              <a:rPr lang="en-US" dirty="0">
                <a:solidFill>
                  <a:srgbClr val="000000"/>
                </a:solidFill>
                <a:highlight>
                  <a:srgbClr val="FFFFFF"/>
                </a:highlight>
                <a:latin typeface="Consolas" panose="020B0609020204030204" pitchFamily="49" charset="0"/>
                <a:ea typeface="Calibri" panose="020F0502020204030204" pitchFamily="34" charset="0"/>
                <a:cs typeface="Calibri" panose="020F0502020204030204" pitchFamily="34" charset="0"/>
              </a:rPr>
              <a:t>[[ 7  8  9]</a:t>
            </a:r>
          </a:p>
          <a:p>
            <a:r>
              <a:rPr lang="en-US" dirty="0">
                <a:solidFill>
                  <a:srgbClr val="000000"/>
                </a:solidFill>
                <a:highlight>
                  <a:srgbClr val="FFFFFF"/>
                </a:highlight>
                <a:latin typeface="Consolas" panose="020B0609020204030204" pitchFamily="49" charset="0"/>
                <a:ea typeface="Calibri" panose="020F0502020204030204" pitchFamily="34" charset="0"/>
                <a:cs typeface="Calibri" panose="020F0502020204030204" pitchFamily="34" charset="0"/>
              </a:rPr>
              <a:t> [10 11 12]]</a:t>
            </a:r>
            <a:br>
              <a:rPr lang="en-US" b="0" i="0" dirty="0">
                <a:solidFill>
                  <a:srgbClr val="000000"/>
                </a:solidFill>
                <a:effectLst/>
                <a:highlight>
                  <a:srgbClr val="FFFFCC"/>
                </a:highlight>
                <a:latin typeface="Verdana" panose="020B0604030504040204" pitchFamily="34" charset="0"/>
              </a:rPr>
            </a:br>
            <a:endParaRPr lang="en-IN"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093211188"/>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Table 8">
            <a:extLst>
              <a:ext uri="{FF2B5EF4-FFF2-40B4-BE49-F238E27FC236}">
                <a16:creationId xmlns:a16="http://schemas.microsoft.com/office/drawing/2014/main" id="{0B6EC464-4750-5FF3-7A5A-15612BA6E293}"/>
              </a:ext>
            </a:extLst>
          </p:cNvPr>
          <p:cNvGraphicFramePr>
            <a:graphicFrameLocks noGrp="1"/>
          </p:cNvGraphicFramePr>
          <p:nvPr/>
        </p:nvGraphicFramePr>
        <p:xfrm>
          <a:off x="0" y="23812"/>
          <a:ext cx="12192000" cy="465287"/>
        </p:xfrm>
        <a:graphic>
          <a:graphicData uri="http://schemas.openxmlformats.org/drawingml/2006/table">
            <a:tbl>
              <a:tblPr firstRow="1" bandRow="1">
                <a:tableStyleId>{5C22544A-7EE6-4342-B048-85BDC9FD1C3A}</a:tableStyleId>
              </a:tblPr>
              <a:tblGrid>
                <a:gridCol w="6092042">
                  <a:extLst>
                    <a:ext uri="{9D8B030D-6E8A-4147-A177-3AD203B41FA5}">
                      <a16:colId xmlns:a16="http://schemas.microsoft.com/office/drawing/2014/main" val="2179694530"/>
                    </a:ext>
                  </a:extLst>
                </a:gridCol>
                <a:gridCol w="6099958">
                  <a:extLst>
                    <a:ext uri="{9D8B030D-6E8A-4147-A177-3AD203B41FA5}">
                      <a16:colId xmlns:a16="http://schemas.microsoft.com/office/drawing/2014/main" val="2768207918"/>
                    </a:ext>
                  </a:extLst>
                </a:gridCol>
              </a:tblGrid>
              <a:tr h="465287">
                <a:tc>
                  <a:txBody>
                    <a:bodyPr/>
                    <a:lstStyle/>
                    <a:p>
                      <a:endParaRPr lang="en-US" dirty="0"/>
                    </a:p>
                  </a:txBody>
                  <a:tcPr>
                    <a:solidFill>
                      <a:srgbClr val="FF85FF"/>
                    </a:solidFill>
                  </a:tcPr>
                </a:tc>
                <a:tc>
                  <a:txBody>
                    <a:bodyPr/>
                    <a:lstStyle/>
                    <a:p>
                      <a:endParaRPr lang="en-US" dirty="0"/>
                    </a:p>
                  </a:txBody>
                  <a:tcPr>
                    <a:solidFill>
                      <a:srgbClr val="FFFF00"/>
                    </a:solidFill>
                  </a:tcPr>
                </a:tc>
                <a:extLst>
                  <a:ext uri="{0D108BD9-81ED-4DB2-BD59-A6C34878D82A}">
                    <a16:rowId xmlns:a16="http://schemas.microsoft.com/office/drawing/2014/main" val="1996944423"/>
                  </a:ext>
                </a:extLst>
              </a:tr>
            </a:tbl>
          </a:graphicData>
        </a:graphic>
      </p:graphicFrame>
      <p:graphicFrame>
        <p:nvGraphicFramePr>
          <p:cNvPr id="10" name="Table 9">
            <a:extLst>
              <a:ext uri="{FF2B5EF4-FFF2-40B4-BE49-F238E27FC236}">
                <a16:creationId xmlns:a16="http://schemas.microsoft.com/office/drawing/2014/main" id="{494BAFB7-FE1F-E1A9-7A6C-AB4145BD9BA1}"/>
              </a:ext>
            </a:extLst>
          </p:cNvPr>
          <p:cNvGraphicFramePr>
            <a:graphicFrameLocks noGrp="1"/>
          </p:cNvGraphicFramePr>
          <p:nvPr>
            <p:extLst>
              <p:ext uri="{D42A27DB-BD31-4B8C-83A1-F6EECF244321}">
                <p14:modId xmlns:p14="http://schemas.microsoft.com/office/powerpoint/2010/main" val="3844782615"/>
              </p:ext>
            </p:extLst>
          </p:nvPr>
        </p:nvGraphicFramePr>
        <p:xfrm>
          <a:off x="1" y="6478892"/>
          <a:ext cx="12191999" cy="370840"/>
        </p:xfrm>
        <a:graphic>
          <a:graphicData uri="http://schemas.openxmlformats.org/drawingml/2006/table">
            <a:tbl>
              <a:tblPr firstRow="1" bandRow="1">
                <a:tableStyleId>{5C22544A-7EE6-4342-B048-85BDC9FD1C3A}</a:tableStyleId>
              </a:tblPr>
              <a:tblGrid>
                <a:gridCol w="6080165">
                  <a:extLst>
                    <a:ext uri="{9D8B030D-6E8A-4147-A177-3AD203B41FA5}">
                      <a16:colId xmlns:a16="http://schemas.microsoft.com/office/drawing/2014/main" val="2179694530"/>
                    </a:ext>
                  </a:extLst>
                </a:gridCol>
                <a:gridCol w="6111834">
                  <a:extLst>
                    <a:ext uri="{9D8B030D-6E8A-4147-A177-3AD203B41FA5}">
                      <a16:colId xmlns:a16="http://schemas.microsoft.com/office/drawing/2014/main" val="2768207918"/>
                    </a:ext>
                  </a:extLst>
                </a:gridCol>
              </a:tblGrid>
              <a:tr h="370840">
                <a:tc>
                  <a:txBody>
                    <a:bodyPr/>
                    <a:lstStyle/>
                    <a:p>
                      <a:endParaRPr lang="en-US" dirty="0"/>
                    </a:p>
                  </a:txBody>
                  <a:tcPr>
                    <a:solidFill>
                      <a:srgbClr val="FFFF00"/>
                    </a:solidFill>
                  </a:tcPr>
                </a:tc>
                <a:tc>
                  <a:txBody>
                    <a:bodyPr/>
                    <a:lstStyle/>
                    <a:p>
                      <a:pPr algn="r"/>
                      <a:r>
                        <a:rPr lang="en-US" dirty="0">
                          <a:solidFill>
                            <a:schemeClr val="tx1"/>
                          </a:solidFill>
                        </a:rPr>
                        <a:t>73</a:t>
                      </a:r>
                    </a:p>
                  </a:txBody>
                  <a:tcPr>
                    <a:solidFill>
                      <a:srgbClr val="FF85FF"/>
                    </a:solidFill>
                  </a:tcPr>
                </a:tc>
                <a:extLst>
                  <a:ext uri="{0D108BD9-81ED-4DB2-BD59-A6C34878D82A}">
                    <a16:rowId xmlns:a16="http://schemas.microsoft.com/office/drawing/2014/main" val="1996944423"/>
                  </a:ext>
                </a:extLst>
              </a:tr>
            </a:tbl>
          </a:graphicData>
        </a:graphic>
      </p:graphicFrame>
      <p:pic>
        <p:nvPicPr>
          <p:cNvPr id="12" name="Google Shape;187;p25" descr="pngfind.com-kingpin-png-4152286 (1).png">
            <a:extLst>
              <a:ext uri="{FF2B5EF4-FFF2-40B4-BE49-F238E27FC236}">
                <a16:creationId xmlns:a16="http://schemas.microsoft.com/office/drawing/2014/main" id="{2DBF2481-A2DB-F96E-5749-B03DC4F71665}"/>
              </a:ext>
            </a:extLst>
          </p:cNvPr>
          <p:cNvPicPr preferRelativeResize="0"/>
          <p:nvPr/>
        </p:nvPicPr>
        <p:blipFill rotWithShape="1">
          <a:blip r:embed="rId2">
            <a:alphaModFix/>
          </a:blip>
          <a:srcRect/>
          <a:stretch/>
        </p:blipFill>
        <p:spPr>
          <a:xfrm>
            <a:off x="11044052" y="8268"/>
            <a:ext cx="1051261" cy="465287"/>
          </a:xfrm>
          <a:prstGeom prst="rect">
            <a:avLst/>
          </a:prstGeom>
          <a:noFill/>
          <a:ln>
            <a:noFill/>
          </a:ln>
        </p:spPr>
      </p:pic>
      <p:sp>
        <p:nvSpPr>
          <p:cNvPr id="14" name="Rectangle 13">
            <a:extLst>
              <a:ext uri="{FF2B5EF4-FFF2-40B4-BE49-F238E27FC236}">
                <a16:creationId xmlns:a16="http://schemas.microsoft.com/office/drawing/2014/main" id="{6EB9A5F7-B7D7-E008-8229-AD564931BCC6}"/>
              </a:ext>
            </a:extLst>
          </p:cNvPr>
          <p:cNvSpPr/>
          <p:nvPr/>
        </p:nvSpPr>
        <p:spPr>
          <a:xfrm>
            <a:off x="0" y="2967335"/>
            <a:ext cx="12191999" cy="1200329"/>
          </a:xfrm>
          <a:prstGeom prst="rect">
            <a:avLst/>
          </a:prstGeom>
          <a:noFill/>
        </p:spPr>
        <p:txBody>
          <a:bodyPr wrap="square" lIns="91440" tIns="45720" rIns="91440" bIns="45720">
            <a:spAutoFit/>
          </a:bodyPr>
          <a:lstStyle/>
          <a:p>
            <a:pPr algn="ctr"/>
            <a:r>
              <a:rPr lang="en-US" sz="3600" b="1" dirty="0">
                <a:effectLst/>
                <a:latin typeface="Calibri" panose="020F0502020204030204" pitchFamily="34" charset="0"/>
                <a:ea typeface="Calibri" panose="020F0502020204030204" pitchFamily="34" charset="0"/>
                <a:cs typeface="Calibri" panose="020F0502020204030204" pitchFamily="34" charset="0"/>
              </a:rPr>
              <a:t>Copying Arrays, Arrays shape Manipulation, </a:t>
            </a:r>
          </a:p>
          <a:p>
            <a:pPr algn="ctr"/>
            <a:r>
              <a:rPr lang="en-US" sz="3600" b="1" dirty="0">
                <a:effectLst/>
                <a:latin typeface="Calibri" panose="020F0502020204030204" pitchFamily="34" charset="0"/>
                <a:ea typeface="Calibri" panose="020F0502020204030204" pitchFamily="34" charset="0"/>
                <a:cs typeface="Calibri" panose="020F0502020204030204" pitchFamily="34" charset="0"/>
              </a:rPr>
              <a:t>Identity Array, eye function</a:t>
            </a:r>
            <a:endParaRPr lang="en-GB" sz="3600" b="1" cap="none" spc="0" dirty="0">
              <a:ln w="0"/>
              <a:solidFill>
                <a:schemeClr val="tx1"/>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Calibri" panose="020F0502020204030204" pitchFamily="34" charset="0"/>
            </a:endParaRPr>
          </a:p>
        </p:txBody>
      </p:sp>
      <p:sp>
        <p:nvSpPr>
          <p:cNvPr id="19" name="Rectangle 18">
            <a:extLst>
              <a:ext uri="{FF2B5EF4-FFF2-40B4-BE49-F238E27FC236}">
                <a16:creationId xmlns:a16="http://schemas.microsoft.com/office/drawing/2014/main" id="{A0702E37-2E7E-7262-5E76-F69A817105B3}"/>
              </a:ext>
            </a:extLst>
          </p:cNvPr>
          <p:cNvSpPr/>
          <p:nvPr/>
        </p:nvSpPr>
        <p:spPr>
          <a:xfrm>
            <a:off x="0" y="8268"/>
            <a:ext cx="12192000" cy="6825920"/>
          </a:xfrm>
          <a:prstGeom prst="rect">
            <a:avLst/>
          </a:prstGeom>
          <a:noFill/>
          <a:ln w="38100">
            <a:solidFill>
              <a:srgbClr val="0432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55345413"/>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Table 8">
            <a:extLst>
              <a:ext uri="{FF2B5EF4-FFF2-40B4-BE49-F238E27FC236}">
                <a16:creationId xmlns:a16="http://schemas.microsoft.com/office/drawing/2014/main" id="{0B6EC464-4750-5FF3-7A5A-15612BA6E293}"/>
              </a:ext>
            </a:extLst>
          </p:cNvPr>
          <p:cNvGraphicFramePr>
            <a:graphicFrameLocks noGrp="1"/>
          </p:cNvGraphicFramePr>
          <p:nvPr/>
        </p:nvGraphicFramePr>
        <p:xfrm>
          <a:off x="0" y="23812"/>
          <a:ext cx="12192000" cy="465287"/>
        </p:xfrm>
        <a:graphic>
          <a:graphicData uri="http://schemas.openxmlformats.org/drawingml/2006/table">
            <a:tbl>
              <a:tblPr firstRow="1" bandRow="1">
                <a:tableStyleId>{5C22544A-7EE6-4342-B048-85BDC9FD1C3A}</a:tableStyleId>
              </a:tblPr>
              <a:tblGrid>
                <a:gridCol w="6092042">
                  <a:extLst>
                    <a:ext uri="{9D8B030D-6E8A-4147-A177-3AD203B41FA5}">
                      <a16:colId xmlns:a16="http://schemas.microsoft.com/office/drawing/2014/main" val="2179694530"/>
                    </a:ext>
                  </a:extLst>
                </a:gridCol>
                <a:gridCol w="6099958">
                  <a:extLst>
                    <a:ext uri="{9D8B030D-6E8A-4147-A177-3AD203B41FA5}">
                      <a16:colId xmlns:a16="http://schemas.microsoft.com/office/drawing/2014/main" val="2768207918"/>
                    </a:ext>
                  </a:extLst>
                </a:gridCol>
              </a:tblGrid>
              <a:tr h="465287">
                <a:tc>
                  <a:txBody>
                    <a:bodyPr/>
                    <a:lstStyle/>
                    <a:p>
                      <a:endParaRPr lang="en-US" dirty="0"/>
                    </a:p>
                  </a:txBody>
                  <a:tcPr>
                    <a:solidFill>
                      <a:srgbClr val="FF85FF"/>
                    </a:solidFill>
                  </a:tcPr>
                </a:tc>
                <a:tc>
                  <a:txBody>
                    <a:bodyPr/>
                    <a:lstStyle/>
                    <a:p>
                      <a:endParaRPr lang="en-US" dirty="0"/>
                    </a:p>
                  </a:txBody>
                  <a:tcPr>
                    <a:solidFill>
                      <a:srgbClr val="FFFF00"/>
                    </a:solidFill>
                  </a:tcPr>
                </a:tc>
                <a:extLst>
                  <a:ext uri="{0D108BD9-81ED-4DB2-BD59-A6C34878D82A}">
                    <a16:rowId xmlns:a16="http://schemas.microsoft.com/office/drawing/2014/main" val="1996944423"/>
                  </a:ext>
                </a:extLst>
              </a:tr>
            </a:tbl>
          </a:graphicData>
        </a:graphic>
      </p:graphicFrame>
      <p:graphicFrame>
        <p:nvGraphicFramePr>
          <p:cNvPr id="10" name="Table 9">
            <a:extLst>
              <a:ext uri="{FF2B5EF4-FFF2-40B4-BE49-F238E27FC236}">
                <a16:creationId xmlns:a16="http://schemas.microsoft.com/office/drawing/2014/main" id="{494BAFB7-FE1F-E1A9-7A6C-AB4145BD9BA1}"/>
              </a:ext>
            </a:extLst>
          </p:cNvPr>
          <p:cNvGraphicFramePr>
            <a:graphicFrameLocks noGrp="1"/>
          </p:cNvGraphicFramePr>
          <p:nvPr>
            <p:extLst>
              <p:ext uri="{D42A27DB-BD31-4B8C-83A1-F6EECF244321}">
                <p14:modId xmlns:p14="http://schemas.microsoft.com/office/powerpoint/2010/main" val="3684612447"/>
              </p:ext>
            </p:extLst>
          </p:nvPr>
        </p:nvGraphicFramePr>
        <p:xfrm>
          <a:off x="1" y="6478892"/>
          <a:ext cx="12191999" cy="370840"/>
        </p:xfrm>
        <a:graphic>
          <a:graphicData uri="http://schemas.openxmlformats.org/drawingml/2006/table">
            <a:tbl>
              <a:tblPr firstRow="1" bandRow="1">
                <a:tableStyleId>{5C22544A-7EE6-4342-B048-85BDC9FD1C3A}</a:tableStyleId>
              </a:tblPr>
              <a:tblGrid>
                <a:gridCol w="6080165">
                  <a:extLst>
                    <a:ext uri="{9D8B030D-6E8A-4147-A177-3AD203B41FA5}">
                      <a16:colId xmlns:a16="http://schemas.microsoft.com/office/drawing/2014/main" val="2179694530"/>
                    </a:ext>
                  </a:extLst>
                </a:gridCol>
                <a:gridCol w="6111834">
                  <a:extLst>
                    <a:ext uri="{9D8B030D-6E8A-4147-A177-3AD203B41FA5}">
                      <a16:colId xmlns:a16="http://schemas.microsoft.com/office/drawing/2014/main" val="2768207918"/>
                    </a:ext>
                  </a:extLst>
                </a:gridCol>
              </a:tblGrid>
              <a:tr h="370840">
                <a:tc>
                  <a:txBody>
                    <a:bodyPr/>
                    <a:lstStyle/>
                    <a:p>
                      <a:endParaRPr lang="en-US" dirty="0"/>
                    </a:p>
                  </a:txBody>
                  <a:tcPr>
                    <a:solidFill>
                      <a:srgbClr val="FFFF00"/>
                    </a:solidFill>
                  </a:tcPr>
                </a:tc>
                <a:tc>
                  <a:txBody>
                    <a:bodyPr/>
                    <a:lstStyle/>
                    <a:p>
                      <a:pPr algn="r"/>
                      <a:r>
                        <a:rPr lang="en-US" dirty="0">
                          <a:solidFill>
                            <a:schemeClr val="tx1"/>
                          </a:solidFill>
                        </a:rPr>
                        <a:t>74</a:t>
                      </a:r>
                    </a:p>
                  </a:txBody>
                  <a:tcPr>
                    <a:solidFill>
                      <a:srgbClr val="FF85FF"/>
                    </a:solidFill>
                  </a:tcPr>
                </a:tc>
                <a:extLst>
                  <a:ext uri="{0D108BD9-81ED-4DB2-BD59-A6C34878D82A}">
                    <a16:rowId xmlns:a16="http://schemas.microsoft.com/office/drawing/2014/main" val="1996944423"/>
                  </a:ext>
                </a:extLst>
              </a:tr>
            </a:tbl>
          </a:graphicData>
        </a:graphic>
      </p:graphicFrame>
      <p:pic>
        <p:nvPicPr>
          <p:cNvPr id="12" name="Google Shape;187;p25" descr="pngfind.com-kingpin-png-4152286 (1).png">
            <a:extLst>
              <a:ext uri="{FF2B5EF4-FFF2-40B4-BE49-F238E27FC236}">
                <a16:creationId xmlns:a16="http://schemas.microsoft.com/office/drawing/2014/main" id="{2DBF2481-A2DB-F96E-5749-B03DC4F71665}"/>
              </a:ext>
            </a:extLst>
          </p:cNvPr>
          <p:cNvPicPr preferRelativeResize="0"/>
          <p:nvPr/>
        </p:nvPicPr>
        <p:blipFill rotWithShape="1">
          <a:blip r:embed="rId2">
            <a:alphaModFix/>
          </a:blip>
          <a:srcRect/>
          <a:stretch/>
        </p:blipFill>
        <p:spPr>
          <a:xfrm>
            <a:off x="11044052" y="8268"/>
            <a:ext cx="1051261" cy="465287"/>
          </a:xfrm>
          <a:prstGeom prst="rect">
            <a:avLst/>
          </a:prstGeom>
          <a:noFill/>
          <a:ln>
            <a:noFill/>
          </a:ln>
        </p:spPr>
      </p:pic>
      <p:sp>
        <p:nvSpPr>
          <p:cNvPr id="19" name="Rectangle 18">
            <a:extLst>
              <a:ext uri="{FF2B5EF4-FFF2-40B4-BE49-F238E27FC236}">
                <a16:creationId xmlns:a16="http://schemas.microsoft.com/office/drawing/2014/main" id="{A0702E37-2E7E-7262-5E76-F69A817105B3}"/>
              </a:ext>
            </a:extLst>
          </p:cNvPr>
          <p:cNvSpPr/>
          <p:nvPr/>
        </p:nvSpPr>
        <p:spPr>
          <a:xfrm>
            <a:off x="0" y="8268"/>
            <a:ext cx="12192000" cy="6825920"/>
          </a:xfrm>
          <a:prstGeom prst="rect">
            <a:avLst/>
          </a:prstGeom>
          <a:noFill/>
          <a:ln w="38100">
            <a:solidFill>
              <a:srgbClr val="0432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DCB2A3F0-9003-5886-09B4-27925BBE4000}"/>
              </a:ext>
            </a:extLst>
          </p:cNvPr>
          <p:cNvSpPr txBox="1"/>
          <p:nvPr/>
        </p:nvSpPr>
        <p:spPr>
          <a:xfrm>
            <a:off x="0" y="873851"/>
            <a:ext cx="12191999" cy="646331"/>
          </a:xfrm>
          <a:prstGeom prst="rect">
            <a:avLst/>
          </a:prstGeom>
          <a:noFill/>
        </p:spPr>
        <p:txBody>
          <a:bodyPr wrap="square">
            <a:spAutoFit/>
          </a:bodyPr>
          <a:lstStyle/>
          <a:p>
            <a:pPr algn="ctr"/>
            <a:r>
              <a:rPr lang="en-US" sz="3600" b="1" dirty="0">
                <a:effectLst/>
                <a:latin typeface="Calibri" panose="020F0502020204030204" pitchFamily="34" charset="0"/>
                <a:ea typeface="Calibri" panose="020F0502020204030204" pitchFamily="34" charset="0"/>
                <a:cs typeface="Calibri" panose="020F0502020204030204" pitchFamily="34" charset="0"/>
              </a:rPr>
              <a:t>Copying Arrays</a:t>
            </a:r>
            <a:endParaRPr lang="en-GB" sz="6600" b="1" cap="none" spc="0" dirty="0">
              <a:ln w="0"/>
              <a:solidFill>
                <a:schemeClr val="tx1"/>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Calibri" panose="020F0502020204030204" pitchFamily="34" charset="0"/>
            </a:endParaRPr>
          </a:p>
        </p:txBody>
      </p:sp>
      <p:sp>
        <p:nvSpPr>
          <p:cNvPr id="11" name="TextBox 10">
            <a:extLst>
              <a:ext uri="{FF2B5EF4-FFF2-40B4-BE49-F238E27FC236}">
                <a16:creationId xmlns:a16="http://schemas.microsoft.com/office/drawing/2014/main" id="{C11BBC61-B926-611F-8358-9DB20CDFEA3B}"/>
              </a:ext>
            </a:extLst>
          </p:cNvPr>
          <p:cNvSpPr txBox="1"/>
          <p:nvPr/>
        </p:nvSpPr>
        <p:spPr>
          <a:xfrm>
            <a:off x="526774" y="1904934"/>
            <a:ext cx="11022496" cy="1295868"/>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US" b="0" dirty="0">
                <a:solidFill>
                  <a:srgbClr val="000000"/>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The copy owns the data and any changes made to the copy will not affect original array, and any changes made to the original array will not affect the copy.</a:t>
            </a:r>
            <a:endParaRPr lang="en-US" dirty="0">
              <a:latin typeface="Calibri" panose="020F0502020204030204" pitchFamily="34" charset="0"/>
              <a:ea typeface="Calibri" panose="020F0502020204030204" pitchFamily="34" charset="0"/>
              <a:cs typeface="Calibri" panose="020F0502020204030204" pitchFamily="34" charset="0"/>
            </a:endParaRPr>
          </a:p>
          <a:p>
            <a:pPr marL="285750" indent="-285750">
              <a:lnSpc>
                <a:spcPct val="150000"/>
              </a:lnSpc>
              <a:buFont typeface="Arial" panose="020B0604020202020204" pitchFamily="34" charset="0"/>
              <a:buChar char="•"/>
            </a:pPr>
            <a:endParaRPr lang="en-IN" dirty="0">
              <a:latin typeface="Calibri" panose="020F0502020204030204" pitchFamily="34" charset="0"/>
              <a:ea typeface="Calibri" panose="020F0502020204030204" pitchFamily="34" charset="0"/>
              <a:cs typeface="Calibri" panose="020F0502020204030204" pitchFamily="34" charset="0"/>
            </a:endParaRPr>
          </a:p>
        </p:txBody>
      </p:sp>
      <p:sp>
        <p:nvSpPr>
          <p:cNvPr id="22" name="TextBox 21">
            <a:extLst>
              <a:ext uri="{FF2B5EF4-FFF2-40B4-BE49-F238E27FC236}">
                <a16:creationId xmlns:a16="http://schemas.microsoft.com/office/drawing/2014/main" id="{4373A862-74CE-1F3F-69AE-184799D818C0}"/>
              </a:ext>
            </a:extLst>
          </p:cNvPr>
          <p:cNvSpPr txBox="1"/>
          <p:nvPr/>
        </p:nvSpPr>
        <p:spPr>
          <a:xfrm>
            <a:off x="3753908" y="3200802"/>
            <a:ext cx="4386240" cy="2862322"/>
          </a:xfrm>
          <a:prstGeom prst="rect">
            <a:avLst/>
          </a:prstGeom>
          <a:noFill/>
          <a:ln w="6350">
            <a:solidFill>
              <a:schemeClr val="tx1"/>
            </a:solidFill>
          </a:ln>
        </p:spPr>
        <p:txBody>
          <a:bodyPr wrap="square">
            <a:spAutoFit/>
          </a:bodyPr>
          <a:lstStyle/>
          <a:p>
            <a:pPr algn="l"/>
            <a:r>
              <a:rPr lang="en-US" b="0" i="0" dirty="0">
                <a:solidFill>
                  <a:srgbClr val="0000CD"/>
                </a:solidFill>
                <a:effectLst/>
                <a:highlight>
                  <a:srgbClr val="FFFFFF"/>
                </a:highlight>
                <a:latin typeface="Consolas" panose="020B0609020204030204" pitchFamily="49" charset="0"/>
              </a:rPr>
              <a:t>import</a:t>
            </a:r>
            <a:r>
              <a:rPr lang="en-US" b="0" i="0" dirty="0">
                <a:solidFill>
                  <a:srgbClr val="000000"/>
                </a:solidFill>
                <a:effectLst/>
                <a:highlight>
                  <a:srgbClr val="FFFFFF"/>
                </a:highlight>
                <a:latin typeface="Consolas" panose="020B0609020204030204" pitchFamily="49" charset="0"/>
              </a:rPr>
              <a:t> </a:t>
            </a:r>
            <a:r>
              <a:rPr lang="en-US" b="0" i="0" dirty="0" err="1">
                <a:solidFill>
                  <a:srgbClr val="000000"/>
                </a:solidFill>
                <a:effectLst/>
                <a:highlight>
                  <a:srgbClr val="FFFFFF"/>
                </a:highlight>
                <a:latin typeface="Consolas" panose="020B0609020204030204" pitchFamily="49" charset="0"/>
              </a:rPr>
              <a:t>numpy</a:t>
            </a:r>
            <a:r>
              <a:rPr lang="en-US" b="0" i="0" dirty="0">
                <a:solidFill>
                  <a:srgbClr val="000000"/>
                </a:solidFill>
                <a:effectLst/>
                <a:highlight>
                  <a:srgbClr val="FFFFFF"/>
                </a:highlight>
                <a:latin typeface="Consolas" panose="020B0609020204030204" pitchFamily="49" charset="0"/>
              </a:rPr>
              <a:t> </a:t>
            </a:r>
            <a:r>
              <a:rPr lang="en-US" b="0" i="0" dirty="0">
                <a:solidFill>
                  <a:srgbClr val="0000CD"/>
                </a:solidFill>
                <a:effectLst/>
                <a:highlight>
                  <a:srgbClr val="FFFFFF"/>
                </a:highlight>
                <a:latin typeface="Consolas" panose="020B0609020204030204" pitchFamily="49" charset="0"/>
              </a:rPr>
              <a:t>as</a:t>
            </a:r>
            <a:r>
              <a:rPr lang="en-US" b="0" i="0" dirty="0">
                <a:solidFill>
                  <a:srgbClr val="000000"/>
                </a:solidFill>
                <a:effectLst/>
                <a:highlight>
                  <a:srgbClr val="FFFFFF"/>
                </a:highlight>
                <a:latin typeface="Consolas" panose="020B0609020204030204" pitchFamily="49" charset="0"/>
              </a:rPr>
              <a:t> np</a:t>
            </a:r>
            <a:br>
              <a:rPr lang="en-US" dirty="0"/>
            </a:br>
            <a:r>
              <a:rPr lang="en-US" b="0" i="0" dirty="0" err="1">
                <a:solidFill>
                  <a:srgbClr val="000000"/>
                </a:solidFill>
                <a:effectLst/>
                <a:highlight>
                  <a:srgbClr val="FFFFFF"/>
                </a:highlight>
                <a:latin typeface="Consolas" panose="020B0609020204030204" pitchFamily="49" charset="0"/>
              </a:rPr>
              <a:t>arr</a:t>
            </a:r>
            <a:r>
              <a:rPr lang="en-US" b="0" i="0" dirty="0">
                <a:solidFill>
                  <a:srgbClr val="000000"/>
                </a:solidFill>
                <a:effectLst/>
                <a:highlight>
                  <a:srgbClr val="FFFFFF"/>
                </a:highlight>
                <a:latin typeface="Consolas" panose="020B0609020204030204" pitchFamily="49" charset="0"/>
              </a:rPr>
              <a:t> = </a:t>
            </a:r>
            <a:r>
              <a:rPr lang="en-US" b="0" i="0" dirty="0" err="1">
                <a:solidFill>
                  <a:srgbClr val="000000"/>
                </a:solidFill>
                <a:effectLst/>
                <a:highlight>
                  <a:srgbClr val="FFFFFF"/>
                </a:highlight>
                <a:latin typeface="Consolas" panose="020B0609020204030204" pitchFamily="49" charset="0"/>
              </a:rPr>
              <a:t>np.array</a:t>
            </a:r>
            <a:r>
              <a:rPr lang="en-US" b="0" i="0" dirty="0">
                <a:solidFill>
                  <a:srgbClr val="000000"/>
                </a:solidFill>
                <a:effectLst/>
                <a:highlight>
                  <a:srgbClr val="FFFFFF"/>
                </a:highlight>
                <a:latin typeface="Consolas" panose="020B0609020204030204" pitchFamily="49" charset="0"/>
              </a:rPr>
              <a:t>([</a:t>
            </a:r>
            <a:r>
              <a:rPr lang="en-US" b="0" i="0" dirty="0">
                <a:solidFill>
                  <a:srgbClr val="FF0000"/>
                </a:solidFill>
                <a:effectLst/>
                <a:highlight>
                  <a:srgbClr val="FFFFFF"/>
                </a:highlight>
                <a:latin typeface="Consolas" panose="020B0609020204030204" pitchFamily="49" charset="0"/>
              </a:rPr>
              <a:t>1</a:t>
            </a:r>
            <a:r>
              <a:rPr lang="en-US" b="0" i="0" dirty="0">
                <a:solidFill>
                  <a:srgbClr val="000000"/>
                </a:solidFill>
                <a:effectLst/>
                <a:highlight>
                  <a:srgbClr val="FFFFFF"/>
                </a:highlight>
                <a:latin typeface="Consolas" panose="020B0609020204030204" pitchFamily="49" charset="0"/>
              </a:rPr>
              <a:t>, </a:t>
            </a:r>
            <a:r>
              <a:rPr lang="en-US" b="0" i="0" dirty="0">
                <a:solidFill>
                  <a:srgbClr val="FF0000"/>
                </a:solidFill>
                <a:effectLst/>
                <a:highlight>
                  <a:srgbClr val="FFFFFF"/>
                </a:highlight>
                <a:latin typeface="Consolas" panose="020B0609020204030204" pitchFamily="49" charset="0"/>
              </a:rPr>
              <a:t>2</a:t>
            </a:r>
            <a:r>
              <a:rPr lang="en-US" b="0" i="0" dirty="0">
                <a:solidFill>
                  <a:srgbClr val="000000"/>
                </a:solidFill>
                <a:effectLst/>
                <a:highlight>
                  <a:srgbClr val="FFFFFF"/>
                </a:highlight>
                <a:latin typeface="Consolas" panose="020B0609020204030204" pitchFamily="49" charset="0"/>
              </a:rPr>
              <a:t>, </a:t>
            </a:r>
            <a:r>
              <a:rPr lang="en-US" b="0" i="0" dirty="0">
                <a:solidFill>
                  <a:srgbClr val="FF0000"/>
                </a:solidFill>
                <a:effectLst/>
                <a:highlight>
                  <a:srgbClr val="FFFFFF"/>
                </a:highlight>
                <a:latin typeface="Consolas" panose="020B0609020204030204" pitchFamily="49" charset="0"/>
              </a:rPr>
              <a:t>3</a:t>
            </a:r>
            <a:r>
              <a:rPr lang="en-US" b="0" i="0" dirty="0">
                <a:solidFill>
                  <a:srgbClr val="000000"/>
                </a:solidFill>
                <a:effectLst/>
                <a:highlight>
                  <a:srgbClr val="FFFFFF"/>
                </a:highlight>
                <a:latin typeface="Consolas" panose="020B0609020204030204" pitchFamily="49" charset="0"/>
              </a:rPr>
              <a:t>, </a:t>
            </a:r>
            <a:r>
              <a:rPr lang="en-US" b="0" i="0" dirty="0">
                <a:solidFill>
                  <a:srgbClr val="FF0000"/>
                </a:solidFill>
                <a:effectLst/>
                <a:highlight>
                  <a:srgbClr val="FFFFFF"/>
                </a:highlight>
                <a:latin typeface="Consolas" panose="020B0609020204030204" pitchFamily="49" charset="0"/>
              </a:rPr>
              <a:t>4</a:t>
            </a:r>
            <a:r>
              <a:rPr lang="en-US" b="0" i="0" dirty="0">
                <a:solidFill>
                  <a:srgbClr val="000000"/>
                </a:solidFill>
                <a:effectLst/>
                <a:highlight>
                  <a:srgbClr val="FFFFFF"/>
                </a:highlight>
                <a:latin typeface="Consolas" panose="020B0609020204030204" pitchFamily="49" charset="0"/>
              </a:rPr>
              <a:t>, </a:t>
            </a:r>
            <a:r>
              <a:rPr lang="en-US" b="0" i="0" dirty="0">
                <a:solidFill>
                  <a:srgbClr val="FF0000"/>
                </a:solidFill>
                <a:effectLst/>
                <a:highlight>
                  <a:srgbClr val="FFFFFF"/>
                </a:highlight>
                <a:latin typeface="Consolas" panose="020B0609020204030204" pitchFamily="49" charset="0"/>
              </a:rPr>
              <a:t>5</a:t>
            </a:r>
            <a:r>
              <a:rPr lang="en-US" b="0" i="0" dirty="0">
                <a:solidFill>
                  <a:srgbClr val="000000"/>
                </a:solidFill>
                <a:effectLst/>
                <a:highlight>
                  <a:srgbClr val="FFFFFF"/>
                </a:highlight>
                <a:latin typeface="Consolas" panose="020B0609020204030204" pitchFamily="49" charset="0"/>
              </a:rPr>
              <a:t>])</a:t>
            </a:r>
            <a:br>
              <a:rPr lang="en-US" dirty="0"/>
            </a:br>
            <a:r>
              <a:rPr lang="en-US" b="0" i="0" dirty="0">
                <a:solidFill>
                  <a:srgbClr val="000000"/>
                </a:solidFill>
                <a:effectLst/>
                <a:highlight>
                  <a:srgbClr val="FFFFFF"/>
                </a:highlight>
                <a:latin typeface="Consolas" panose="020B0609020204030204" pitchFamily="49" charset="0"/>
              </a:rPr>
              <a:t>x = </a:t>
            </a:r>
            <a:r>
              <a:rPr lang="en-US" b="0" i="0" dirty="0" err="1">
                <a:solidFill>
                  <a:srgbClr val="000000"/>
                </a:solidFill>
                <a:effectLst/>
                <a:highlight>
                  <a:srgbClr val="FFFFFF"/>
                </a:highlight>
                <a:latin typeface="Consolas" panose="020B0609020204030204" pitchFamily="49" charset="0"/>
              </a:rPr>
              <a:t>arr.copy</a:t>
            </a:r>
            <a:r>
              <a:rPr lang="en-US" b="0" i="0" dirty="0">
                <a:solidFill>
                  <a:srgbClr val="000000"/>
                </a:solidFill>
                <a:effectLst/>
                <a:highlight>
                  <a:srgbClr val="FFFFFF"/>
                </a:highlight>
                <a:latin typeface="Consolas" panose="020B0609020204030204" pitchFamily="49" charset="0"/>
              </a:rPr>
              <a:t>()</a:t>
            </a:r>
            <a:br>
              <a:rPr lang="en-US" dirty="0"/>
            </a:br>
            <a:r>
              <a:rPr lang="en-US" b="0" i="0" dirty="0" err="1">
                <a:solidFill>
                  <a:srgbClr val="000000"/>
                </a:solidFill>
                <a:effectLst/>
                <a:highlight>
                  <a:srgbClr val="FFFFFF"/>
                </a:highlight>
                <a:latin typeface="Consolas" panose="020B0609020204030204" pitchFamily="49" charset="0"/>
              </a:rPr>
              <a:t>arr</a:t>
            </a:r>
            <a:r>
              <a:rPr lang="en-US" b="0" i="0" dirty="0">
                <a:solidFill>
                  <a:srgbClr val="000000"/>
                </a:solidFill>
                <a:effectLst/>
                <a:highlight>
                  <a:srgbClr val="FFFFFF"/>
                </a:highlight>
                <a:latin typeface="Consolas" panose="020B0609020204030204" pitchFamily="49" charset="0"/>
              </a:rPr>
              <a:t>[</a:t>
            </a:r>
            <a:r>
              <a:rPr lang="en-US" b="0" i="0" dirty="0">
                <a:solidFill>
                  <a:srgbClr val="FF0000"/>
                </a:solidFill>
                <a:effectLst/>
                <a:highlight>
                  <a:srgbClr val="FFFFFF"/>
                </a:highlight>
                <a:latin typeface="Consolas" panose="020B0609020204030204" pitchFamily="49" charset="0"/>
              </a:rPr>
              <a:t>0</a:t>
            </a:r>
            <a:r>
              <a:rPr lang="en-US" b="0" i="0" dirty="0">
                <a:solidFill>
                  <a:srgbClr val="000000"/>
                </a:solidFill>
                <a:effectLst/>
                <a:highlight>
                  <a:srgbClr val="FFFFFF"/>
                </a:highlight>
                <a:latin typeface="Consolas" panose="020B0609020204030204" pitchFamily="49" charset="0"/>
              </a:rPr>
              <a:t>] = </a:t>
            </a:r>
            <a:r>
              <a:rPr lang="en-US" b="0" i="0" dirty="0">
                <a:solidFill>
                  <a:srgbClr val="FF0000"/>
                </a:solidFill>
                <a:effectLst/>
                <a:highlight>
                  <a:srgbClr val="FFFFFF"/>
                </a:highlight>
                <a:latin typeface="Consolas" panose="020B0609020204030204" pitchFamily="49" charset="0"/>
              </a:rPr>
              <a:t>42</a:t>
            </a:r>
            <a:br>
              <a:rPr lang="en-US" dirty="0"/>
            </a:br>
            <a:r>
              <a:rPr lang="en-US" b="0" i="0" dirty="0">
                <a:solidFill>
                  <a:srgbClr val="0000CD"/>
                </a:solidFill>
                <a:effectLst/>
                <a:highlight>
                  <a:srgbClr val="FFFFFF"/>
                </a:highlight>
                <a:latin typeface="Consolas" panose="020B0609020204030204" pitchFamily="49" charset="0"/>
              </a:rPr>
              <a:t>print</a:t>
            </a:r>
            <a:r>
              <a:rPr lang="en-US" b="0" i="0" dirty="0">
                <a:solidFill>
                  <a:srgbClr val="000000"/>
                </a:solidFill>
                <a:effectLst/>
                <a:highlight>
                  <a:srgbClr val="FFFFFF"/>
                </a:highlight>
                <a:latin typeface="Consolas" panose="020B0609020204030204" pitchFamily="49" charset="0"/>
              </a:rPr>
              <a:t>(</a:t>
            </a:r>
            <a:r>
              <a:rPr lang="en-US" b="0" i="0" dirty="0" err="1">
                <a:solidFill>
                  <a:srgbClr val="000000"/>
                </a:solidFill>
                <a:effectLst/>
                <a:highlight>
                  <a:srgbClr val="FFFFFF"/>
                </a:highlight>
                <a:latin typeface="Consolas" panose="020B0609020204030204" pitchFamily="49" charset="0"/>
              </a:rPr>
              <a:t>arr</a:t>
            </a:r>
            <a:r>
              <a:rPr lang="en-US" b="0" i="0" dirty="0">
                <a:solidFill>
                  <a:srgbClr val="000000"/>
                </a:solidFill>
                <a:effectLst/>
                <a:highlight>
                  <a:srgbClr val="FFFFFF"/>
                </a:highlight>
                <a:latin typeface="Consolas" panose="020B0609020204030204" pitchFamily="49" charset="0"/>
              </a:rPr>
              <a:t>)</a:t>
            </a:r>
            <a:br>
              <a:rPr lang="en-US" dirty="0"/>
            </a:br>
            <a:r>
              <a:rPr lang="en-US" b="0" i="0" dirty="0">
                <a:solidFill>
                  <a:srgbClr val="0000CD"/>
                </a:solidFill>
                <a:effectLst/>
                <a:highlight>
                  <a:srgbClr val="FFFFFF"/>
                </a:highlight>
                <a:latin typeface="Consolas" panose="020B0609020204030204" pitchFamily="49" charset="0"/>
              </a:rPr>
              <a:t>print</a:t>
            </a:r>
            <a:r>
              <a:rPr lang="en-US" b="0" i="0" dirty="0">
                <a:solidFill>
                  <a:srgbClr val="000000"/>
                </a:solidFill>
                <a:effectLst/>
                <a:highlight>
                  <a:srgbClr val="FFFFFF"/>
                </a:highlight>
                <a:latin typeface="Consolas" panose="020B0609020204030204" pitchFamily="49" charset="0"/>
              </a:rPr>
              <a:t>(x)</a:t>
            </a:r>
          </a:p>
          <a:p>
            <a:pPr algn="l"/>
            <a:endParaRPr lang="en-US" b="0" i="0" dirty="0">
              <a:solidFill>
                <a:srgbClr val="000000"/>
              </a:solidFill>
              <a:effectLst/>
              <a:highlight>
                <a:srgbClr val="FFFFFF"/>
              </a:highlight>
              <a:latin typeface="Consolas" panose="020B0609020204030204" pitchFamily="49" charset="0"/>
            </a:endParaRPr>
          </a:p>
          <a:p>
            <a:r>
              <a:rPr lang="en-US" b="1" dirty="0">
                <a:latin typeface="Calibri" panose="020F0502020204030204" pitchFamily="34" charset="0"/>
                <a:ea typeface="Calibri" panose="020F0502020204030204" pitchFamily="34" charset="0"/>
                <a:cs typeface="Calibri" panose="020F0502020204030204" pitchFamily="34" charset="0"/>
              </a:rPr>
              <a:t>Output:</a:t>
            </a:r>
          </a:p>
          <a:p>
            <a:r>
              <a:rPr lang="en-US" dirty="0">
                <a:solidFill>
                  <a:srgbClr val="000000"/>
                </a:solidFill>
                <a:highlight>
                  <a:srgbClr val="FFFFFF"/>
                </a:highlight>
                <a:latin typeface="Consolas" panose="020B0609020204030204" pitchFamily="49" charset="0"/>
                <a:ea typeface="Calibri" panose="020F0502020204030204" pitchFamily="34" charset="0"/>
                <a:cs typeface="Calibri" panose="020F0502020204030204" pitchFamily="34" charset="0"/>
              </a:rPr>
              <a:t>[42  2  3  4  5]</a:t>
            </a:r>
          </a:p>
          <a:p>
            <a:r>
              <a:rPr lang="en-US" dirty="0">
                <a:solidFill>
                  <a:srgbClr val="000000"/>
                </a:solidFill>
                <a:highlight>
                  <a:srgbClr val="FFFFFF"/>
                </a:highlight>
                <a:latin typeface="Consolas" panose="020B0609020204030204" pitchFamily="49" charset="0"/>
                <a:ea typeface="Calibri" panose="020F0502020204030204" pitchFamily="34" charset="0"/>
                <a:cs typeface="Calibri" panose="020F0502020204030204" pitchFamily="34" charset="0"/>
              </a:rPr>
              <a:t>[1 2 3 4 5]</a:t>
            </a:r>
            <a:endParaRPr lang="en-IN"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733035802"/>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Table 8">
            <a:extLst>
              <a:ext uri="{FF2B5EF4-FFF2-40B4-BE49-F238E27FC236}">
                <a16:creationId xmlns:a16="http://schemas.microsoft.com/office/drawing/2014/main" id="{0B6EC464-4750-5FF3-7A5A-15612BA6E293}"/>
              </a:ext>
            </a:extLst>
          </p:cNvPr>
          <p:cNvGraphicFramePr>
            <a:graphicFrameLocks noGrp="1"/>
          </p:cNvGraphicFramePr>
          <p:nvPr/>
        </p:nvGraphicFramePr>
        <p:xfrm>
          <a:off x="0" y="23812"/>
          <a:ext cx="12192000" cy="465287"/>
        </p:xfrm>
        <a:graphic>
          <a:graphicData uri="http://schemas.openxmlformats.org/drawingml/2006/table">
            <a:tbl>
              <a:tblPr firstRow="1" bandRow="1">
                <a:tableStyleId>{5C22544A-7EE6-4342-B048-85BDC9FD1C3A}</a:tableStyleId>
              </a:tblPr>
              <a:tblGrid>
                <a:gridCol w="6092042">
                  <a:extLst>
                    <a:ext uri="{9D8B030D-6E8A-4147-A177-3AD203B41FA5}">
                      <a16:colId xmlns:a16="http://schemas.microsoft.com/office/drawing/2014/main" val="2179694530"/>
                    </a:ext>
                  </a:extLst>
                </a:gridCol>
                <a:gridCol w="6099958">
                  <a:extLst>
                    <a:ext uri="{9D8B030D-6E8A-4147-A177-3AD203B41FA5}">
                      <a16:colId xmlns:a16="http://schemas.microsoft.com/office/drawing/2014/main" val="2768207918"/>
                    </a:ext>
                  </a:extLst>
                </a:gridCol>
              </a:tblGrid>
              <a:tr h="465287">
                <a:tc>
                  <a:txBody>
                    <a:bodyPr/>
                    <a:lstStyle/>
                    <a:p>
                      <a:endParaRPr lang="en-US" dirty="0"/>
                    </a:p>
                  </a:txBody>
                  <a:tcPr>
                    <a:solidFill>
                      <a:srgbClr val="FF85FF"/>
                    </a:solidFill>
                  </a:tcPr>
                </a:tc>
                <a:tc>
                  <a:txBody>
                    <a:bodyPr/>
                    <a:lstStyle/>
                    <a:p>
                      <a:endParaRPr lang="en-US" dirty="0"/>
                    </a:p>
                  </a:txBody>
                  <a:tcPr>
                    <a:solidFill>
                      <a:srgbClr val="FFFF00"/>
                    </a:solidFill>
                  </a:tcPr>
                </a:tc>
                <a:extLst>
                  <a:ext uri="{0D108BD9-81ED-4DB2-BD59-A6C34878D82A}">
                    <a16:rowId xmlns:a16="http://schemas.microsoft.com/office/drawing/2014/main" val="1996944423"/>
                  </a:ext>
                </a:extLst>
              </a:tr>
            </a:tbl>
          </a:graphicData>
        </a:graphic>
      </p:graphicFrame>
      <p:graphicFrame>
        <p:nvGraphicFramePr>
          <p:cNvPr id="10" name="Table 9">
            <a:extLst>
              <a:ext uri="{FF2B5EF4-FFF2-40B4-BE49-F238E27FC236}">
                <a16:creationId xmlns:a16="http://schemas.microsoft.com/office/drawing/2014/main" id="{494BAFB7-FE1F-E1A9-7A6C-AB4145BD9BA1}"/>
              </a:ext>
            </a:extLst>
          </p:cNvPr>
          <p:cNvGraphicFramePr>
            <a:graphicFrameLocks noGrp="1"/>
          </p:cNvGraphicFramePr>
          <p:nvPr>
            <p:extLst>
              <p:ext uri="{D42A27DB-BD31-4B8C-83A1-F6EECF244321}">
                <p14:modId xmlns:p14="http://schemas.microsoft.com/office/powerpoint/2010/main" val="3135330527"/>
              </p:ext>
            </p:extLst>
          </p:nvPr>
        </p:nvGraphicFramePr>
        <p:xfrm>
          <a:off x="1" y="6478892"/>
          <a:ext cx="12191999" cy="370840"/>
        </p:xfrm>
        <a:graphic>
          <a:graphicData uri="http://schemas.openxmlformats.org/drawingml/2006/table">
            <a:tbl>
              <a:tblPr firstRow="1" bandRow="1">
                <a:tableStyleId>{5C22544A-7EE6-4342-B048-85BDC9FD1C3A}</a:tableStyleId>
              </a:tblPr>
              <a:tblGrid>
                <a:gridCol w="6080165">
                  <a:extLst>
                    <a:ext uri="{9D8B030D-6E8A-4147-A177-3AD203B41FA5}">
                      <a16:colId xmlns:a16="http://schemas.microsoft.com/office/drawing/2014/main" val="2179694530"/>
                    </a:ext>
                  </a:extLst>
                </a:gridCol>
                <a:gridCol w="6111834">
                  <a:extLst>
                    <a:ext uri="{9D8B030D-6E8A-4147-A177-3AD203B41FA5}">
                      <a16:colId xmlns:a16="http://schemas.microsoft.com/office/drawing/2014/main" val="2768207918"/>
                    </a:ext>
                  </a:extLst>
                </a:gridCol>
              </a:tblGrid>
              <a:tr h="370840">
                <a:tc>
                  <a:txBody>
                    <a:bodyPr/>
                    <a:lstStyle/>
                    <a:p>
                      <a:endParaRPr lang="en-US" dirty="0"/>
                    </a:p>
                  </a:txBody>
                  <a:tcPr>
                    <a:solidFill>
                      <a:srgbClr val="FFFF00"/>
                    </a:solidFill>
                  </a:tcPr>
                </a:tc>
                <a:tc>
                  <a:txBody>
                    <a:bodyPr/>
                    <a:lstStyle/>
                    <a:p>
                      <a:pPr algn="r"/>
                      <a:r>
                        <a:rPr lang="en-US" dirty="0">
                          <a:solidFill>
                            <a:schemeClr val="tx1"/>
                          </a:solidFill>
                        </a:rPr>
                        <a:t>75</a:t>
                      </a:r>
                    </a:p>
                  </a:txBody>
                  <a:tcPr>
                    <a:solidFill>
                      <a:srgbClr val="FF85FF"/>
                    </a:solidFill>
                  </a:tcPr>
                </a:tc>
                <a:extLst>
                  <a:ext uri="{0D108BD9-81ED-4DB2-BD59-A6C34878D82A}">
                    <a16:rowId xmlns:a16="http://schemas.microsoft.com/office/drawing/2014/main" val="1996944423"/>
                  </a:ext>
                </a:extLst>
              </a:tr>
            </a:tbl>
          </a:graphicData>
        </a:graphic>
      </p:graphicFrame>
      <p:pic>
        <p:nvPicPr>
          <p:cNvPr id="12" name="Google Shape;187;p25" descr="pngfind.com-kingpin-png-4152286 (1).png">
            <a:extLst>
              <a:ext uri="{FF2B5EF4-FFF2-40B4-BE49-F238E27FC236}">
                <a16:creationId xmlns:a16="http://schemas.microsoft.com/office/drawing/2014/main" id="{2DBF2481-A2DB-F96E-5749-B03DC4F71665}"/>
              </a:ext>
            </a:extLst>
          </p:cNvPr>
          <p:cNvPicPr preferRelativeResize="0"/>
          <p:nvPr/>
        </p:nvPicPr>
        <p:blipFill rotWithShape="1">
          <a:blip r:embed="rId2">
            <a:alphaModFix/>
          </a:blip>
          <a:srcRect/>
          <a:stretch/>
        </p:blipFill>
        <p:spPr>
          <a:xfrm>
            <a:off x="11044052" y="8268"/>
            <a:ext cx="1051261" cy="465287"/>
          </a:xfrm>
          <a:prstGeom prst="rect">
            <a:avLst/>
          </a:prstGeom>
          <a:noFill/>
          <a:ln>
            <a:noFill/>
          </a:ln>
        </p:spPr>
      </p:pic>
      <p:sp>
        <p:nvSpPr>
          <p:cNvPr id="19" name="Rectangle 18">
            <a:extLst>
              <a:ext uri="{FF2B5EF4-FFF2-40B4-BE49-F238E27FC236}">
                <a16:creationId xmlns:a16="http://schemas.microsoft.com/office/drawing/2014/main" id="{A0702E37-2E7E-7262-5E76-F69A817105B3}"/>
              </a:ext>
            </a:extLst>
          </p:cNvPr>
          <p:cNvSpPr/>
          <p:nvPr/>
        </p:nvSpPr>
        <p:spPr>
          <a:xfrm>
            <a:off x="0" y="8268"/>
            <a:ext cx="12192000" cy="6825920"/>
          </a:xfrm>
          <a:prstGeom prst="rect">
            <a:avLst/>
          </a:prstGeom>
          <a:noFill/>
          <a:ln w="38100">
            <a:solidFill>
              <a:srgbClr val="0432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DCB2A3F0-9003-5886-09B4-27925BBE4000}"/>
              </a:ext>
            </a:extLst>
          </p:cNvPr>
          <p:cNvSpPr txBox="1"/>
          <p:nvPr/>
        </p:nvSpPr>
        <p:spPr>
          <a:xfrm>
            <a:off x="0" y="873851"/>
            <a:ext cx="12191999" cy="646331"/>
          </a:xfrm>
          <a:prstGeom prst="rect">
            <a:avLst/>
          </a:prstGeom>
          <a:noFill/>
        </p:spPr>
        <p:txBody>
          <a:bodyPr wrap="square">
            <a:spAutoFit/>
          </a:bodyPr>
          <a:lstStyle/>
          <a:p>
            <a:pPr algn="ctr"/>
            <a:r>
              <a:rPr lang="en-US" sz="3600" b="1" dirty="0">
                <a:effectLst/>
                <a:latin typeface="Calibri" panose="020F0502020204030204" pitchFamily="34" charset="0"/>
                <a:ea typeface="Calibri" panose="020F0502020204030204" pitchFamily="34" charset="0"/>
                <a:cs typeface="Calibri" panose="020F0502020204030204" pitchFamily="34" charset="0"/>
              </a:rPr>
              <a:t>Arrays shape Manipulation</a:t>
            </a:r>
            <a:endParaRPr lang="en-US" sz="3600" b="1" dirty="0">
              <a:latin typeface="Calibri" panose="020F0502020204030204" pitchFamily="34" charset="0"/>
              <a:ea typeface="Calibri" panose="020F0502020204030204" pitchFamily="34" charset="0"/>
              <a:cs typeface="Calibri" panose="020F0502020204030204" pitchFamily="34" charset="0"/>
            </a:endParaRPr>
          </a:p>
        </p:txBody>
      </p:sp>
      <p:sp>
        <p:nvSpPr>
          <p:cNvPr id="8" name="TextBox 7">
            <a:extLst>
              <a:ext uri="{FF2B5EF4-FFF2-40B4-BE49-F238E27FC236}">
                <a16:creationId xmlns:a16="http://schemas.microsoft.com/office/drawing/2014/main" id="{1D27C92B-CB57-11B4-D725-334A447A4F66}"/>
              </a:ext>
            </a:extLst>
          </p:cNvPr>
          <p:cNvSpPr txBox="1"/>
          <p:nvPr/>
        </p:nvSpPr>
        <p:spPr>
          <a:xfrm>
            <a:off x="596347" y="1668774"/>
            <a:ext cx="10614991" cy="2126864"/>
          </a:xfrm>
          <a:prstGeom prst="rect">
            <a:avLst/>
          </a:prstGeom>
          <a:noFill/>
        </p:spPr>
        <p:txBody>
          <a:bodyPr wrap="square">
            <a:spAutoFit/>
          </a:bodyPr>
          <a:lstStyle/>
          <a:p>
            <a:pPr marL="285750" indent="-285750" algn="l">
              <a:lnSpc>
                <a:spcPct val="150000"/>
              </a:lnSpc>
              <a:buFont typeface="Arial" panose="020B0604020202020204" pitchFamily="34" charset="0"/>
              <a:buChar char="•"/>
            </a:pPr>
            <a:r>
              <a:rPr lang="en-US" b="1" dirty="0">
                <a:latin typeface="Calibri" panose="020F0502020204030204" pitchFamily="34" charset="0"/>
                <a:ea typeface="Calibri" panose="020F0502020204030204" pitchFamily="34" charset="0"/>
                <a:cs typeface="Calibri" panose="020F0502020204030204" pitchFamily="34" charset="0"/>
              </a:rPr>
              <a:t>Reshaping</a:t>
            </a:r>
            <a:r>
              <a:rPr lang="en-US" dirty="0">
                <a:latin typeface="Calibri" panose="020F0502020204030204" pitchFamily="34" charset="0"/>
                <a:ea typeface="Calibri" panose="020F0502020204030204" pitchFamily="34" charset="0"/>
                <a:cs typeface="Calibri" panose="020F0502020204030204" pitchFamily="34" charset="0"/>
              </a:rPr>
              <a:t> means changing the shape of an array.</a:t>
            </a:r>
          </a:p>
          <a:p>
            <a:pPr marL="285750" indent="-285750" algn="l">
              <a:lnSpc>
                <a:spcPct val="150000"/>
              </a:lnSpc>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The shape of an array is the number of elements in each dimension.</a:t>
            </a:r>
          </a:p>
          <a:p>
            <a:pPr marL="285750" indent="-285750" algn="l">
              <a:lnSpc>
                <a:spcPct val="150000"/>
              </a:lnSpc>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By reshaping we can add or remove dimensions or change number of elements in each dimension.</a:t>
            </a:r>
          </a:p>
          <a:p>
            <a:pPr marL="285750" indent="-285750">
              <a:lnSpc>
                <a:spcPct val="150000"/>
              </a:lnSpc>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Reshape From 1-D to 2-D</a:t>
            </a:r>
          </a:p>
          <a:p>
            <a:pPr marL="285750" indent="-285750" algn="l">
              <a:lnSpc>
                <a:spcPct val="150000"/>
              </a:lnSpc>
              <a:buFont typeface="Arial" panose="020B0604020202020204" pitchFamily="34" charset="0"/>
              <a:buChar char="•"/>
            </a:pPr>
            <a:endParaRPr lang="en-US" dirty="0">
              <a:latin typeface="Calibri" panose="020F0502020204030204" pitchFamily="34" charset="0"/>
              <a:ea typeface="Calibri" panose="020F0502020204030204" pitchFamily="34" charset="0"/>
              <a:cs typeface="Calibri" panose="020F0502020204030204" pitchFamily="34" charset="0"/>
            </a:endParaRPr>
          </a:p>
        </p:txBody>
      </p:sp>
      <p:sp>
        <p:nvSpPr>
          <p:cNvPr id="14" name="TextBox 13">
            <a:extLst>
              <a:ext uri="{FF2B5EF4-FFF2-40B4-BE49-F238E27FC236}">
                <a16:creationId xmlns:a16="http://schemas.microsoft.com/office/drawing/2014/main" id="{AFC35A2C-34A9-1563-F944-B52BBD61E7B7}"/>
              </a:ext>
            </a:extLst>
          </p:cNvPr>
          <p:cNvSpPr txBox="1"/>
          <p:nvPr/>
        </p:nvSpPr>
        <p:spPr>
          <a:xfrm>
            <a:off x="2493064" y="3429000"/>
            <a:ext cx="7205869" cy="2862322"/>
          </a:xfrm>
          <a:prstGeom prst="rect">
            <a:avLst/>
          </a:prstGeom>
          <a:noFill/>
          <a:ln w="6350">
            <a:solidFill>
              <a:schemeClr val="tx1"/>
            </a:solidFill>
          </a:ln>
        </p:spPr>
        <p:txBody>
          <a:bodyPr wrap="square">
            <a:spAutoFit/>
          </a:bodyPr>
          <a:lstStyle/>
          <a:p>
            <a:r>
              <a:rPr lang="en-IN" b="0" i="0" dirty="0">
                <a:solidFill>
                  <a:srgbClr val="0000CD"/>
                </a:solidFill>
                <a:effectLst/>
                <a:highlight>
                  <a:srgbClr val="FFFFFF"/>
                </a:highlight>
                <a:latin typeface="Consolas" panose="020B0609020204030204" pitchFamily="49" charset="0"/>
              </a:rPr>
              <a:t>import</a:t>
            </a:r>
            <a:r>
              <a:rPr lang="en-IN" b="0" i="0" dirty="0">
                <a:solidFill>
                  <a:srgbClr val="000000"/>
                </a:solidFill>
                <a:effectLst/>
                <a:highlight>
                  <a:srgbClr val="FFFFFF"/>
                </a:highlight>
                <a:latin typeface="Consolas" panose="020B0609020204030204" pitchFamily="49" charset="0"/>
              </a:rPr>
              <a:t> </a:t>
            </a:r>
            <a:r>
              <a:rPr lang="en-IN" b="0" i="0" dirty="0" err="1">
                <a:solidFill>
                  <a:srgbClr val="000000"/>
                </a:solidFill>
                <a:effectLst/>
                <a:highlight>
                  <a:srgbClr val="FFFFFF"/>
                </a:highlight>
                <a:latin typeface="Consolas" panose="020B0609020204030204" pitchFamily="49" charset="0"/>
              </a:rPr>
              <a:t>numpy</a:t>
            </a:r>
            <a:r>
              <a:rPr lang="en-IN" b="0" i="0" dirty="0">
                <a:solidFill>
                  <a:srgbClr val="000000"/>
                </a:solidFill>
                <a:effectLst/>
                <a:highlight>
                  <a:srgbClr val="FFFFFF"/>
                </a:highlight>
                <a:latin typeface="Consolas" panose="020B0609020204030204" pitchFamily="49" charset="0"/>
              </a:rPr>
              <a:t> </a:t>
            </a:r>
            <a:r>
              <a:rPr lang="en-IN" b="0" i="0" dirty="0">
                <a:solidFill>
                  <a:srgbClr val="0000CD"/>
                </a:solidFill>
                <a:effectLst/>
                <a:highlight>
                  <a:srgbClr val="FFFFFF"/>
                </a:highlight>
                <a:latin typeface="Consolas" panose="020B0609020204030204" pitchFamily="49" charset="0"/>
              </a:rPr>
              <a:t>as</a:t>
            </a:r>
            <a:r>
              <a:rPr lang="en-IN" b="0" i="0" dirty="0">
                <a:solidFill>
                  <a:srgbClr val="000000"/>
                </a:solidFill>
                <a:effectLst/>
                <a:highlight>
                  <a:srgbClr val="FFFFFF"/>
                </a:highlight>
                <a:latin typeface="Consolas" panose="020B0609020204030204" pitchFamily="49" charset="0"/>
              </a:rPr>
              <a:t> np</a:t>
            </a:r>
            <a:br>
              <a:rPr lang="en-IN" dirty="0"/>
            </a:br>
            <a:r>
              <a:rPr lang="en-IN" b="0" i="0" dirty="0" err="1">
                <a:solidFill>
                  <a:srgbClr val="000000"/>
                </a:solidFill>
                <a:effectLst/>
                <a:highlight>
                  <a:srgbClr val="FFFFFF"/>
                </a:highlight>
                <a:latin typeface="Consolas" panose="020B0609020204030204" pitchFamily="49" charset="0"/>
              </a:rPr>
              <a:t>arr</a:t>
            </a:r>
            <a:r>
              <a:rPr lang="en-IN" b="0" i="0" dirty="0">
                <a:solidFill>
                  <a:srgbClr val="000000"/>
                </a:solidFill>
                <a:effectLst/>
                <a:highlight>
                  <a:srgbClr val="FFFFFF"/>
                </a:highlight>
                <a:latin typeface="Consolas" panose="020B0609020204030204" pitchFamily="49" charset="0"/>
              </a:rPr>
              <a:t> = </a:t>
            </a:r>
            <a:r>
              <a:rPr lang="en-IN" b="0" i="0" dirty="0" err="1">
                <a:solidFill>
                  <a:srgbClr val="000000"/>
                </a:solidFill>
                <a:effectLst/>
                <a:highlight>
                  <a:srgbClr val="FFFFFF"/>
                </a:highlight>
                <a:latin typeface="Consolas" panose="020B0609020204030204" pitchFamily="49" charset="0"/>
              </a:rPr>
              <a:t>np.array</a:t>
            </a:r>
            <a:r>
              <a:rPr lang="en-IN" b="0" i="0" dirty="0">
                <a:solidFill>
                  <a:srgbClr val="000000"/>
                </a:solidFill>
                <a:effectLst/>
                <a:highlight>
                  <a:srgbClr val="FFFFFF"/>
                </a:highlight>
                <a:latin typeface="Consolas" panose="020B0609020204030204" pitchFamily="49" charset="0"/>
              </a:rPr>
              <a:t>([</a:t>
            </a:r>
            <a:r>
              <a:rPr lang="en-IN" b="0" i="0" dirty="0">
                <a:solidFill>
                  <a:srgbClr val="FF0000"/>
                </a:solidFill>
                <a:effectLst/>
                <a:highlight>
                  <a:srgbClr val="FFFFFF"/>
                </a:highlight>
                <a:latin typeface="Consolas" panose="020B0609020204030204" pitchFamily="49" charset="0"/>
              </a:rPr>
              <a:t>1</a:t>
            </a:r>
            <a:r>
              <a:rPr lang="en-IN" b="0" i="0" dirty="0">
                <a:solidFill>
                  <a:srgbClr val="000000"/>
                </a:solidFill>
                <a:effectLst/>
                <a:highlight>
                  <a:srgbClr val="FFFFFF"/>
                </a:highlight>
                <a:latin typeface="Consolas" panose="020B0609020204030204" pitchFamily="49" charset="0"/>
              </a:rPr>
              <a:t>, </a:t>
            </a:r>
            <a:r>
              <a:rPr lang="en-IN" b="0" i="0" dirty="0">
                <a:solidFill>
                  <a:srgbClr val="FF0000"/>
                </a:solidFill>
                <a:effectLst/>
                <a:highlight>
                  <a:srgbClr val="FFFFFF"/>
                </a:highlight>
                <a:latin typeface="Consolas" panose="020B0609020204030204" pitchFamily="49" charset="0"/>
              </a:rPr>
              <a:t>2</a:t>
            </a:r>
            <a:r>
              <a:rPr lang="en-IN" b="0" i="0" dirty="0">
                <a:solidFill>
                  <a:srgbClr val="000000"/>
                </a:solidFill>
                <a:effectLst/>
                <a:highlight>
                  <a:srgbClr val="FFFFFF"/>
                </a:highlight>
                <a:latin typeface="Consolas" panose="020B0609020204030204" pitchFamily="49" charset="0"/>
              </a:rPr>
              <a:t>, </a:t>
            </a:r>
            <a:r>
              <a:rPr lang="en-IN" b="0" i="0" dirty="0">
                <a:solidFill>
                  <a:srgbClr val="FF0000"/>
                </a:solidFill>
                <a:effectLst/>
                <a:highlight>
                  <a:srgbClr val="FFFFFF"/>
                </a:highlight>
                <a:latin typeface="Consolas" panose="020B0609020204030204" pitchFamily="49" charset="0"/>
              </a:rPr>
              <a:t>3</a:t>
            </a:r>
            <a:r>
              <a:rPr lang="en-IN" b="0" i="0" dirty="0">
                <a:solidFill>
                  <a:srgbClr val="000000"/>
                </a:solidFill>
                <a:effectLst/>
                <a:highlight>
                  <a:srgbClr val="FFFFFF"/>
                </a:highlight>
                <a:latin typeface="Consolas" panose="020B0609020204030204" pitchFamily="49" charset="0"/>
              </a:rPr>
              <a:t>, </a:t>
            </a:r>
            <a:r>
              <a:rPr lang="en-IN" b="0" i="0" dirty="0">
                <a:solidFill>
                  <a:srgbClr val="FF0000"/>
                </a:solidFill>
                <a:effectLst/>
                <a:highlight>
                  <a:srgbClr val="FFFFFF"/>
                </a:highlight>
                <a:latin typeface="Consolas" panose="020B0609020204030204" pitchFamily="49" charset="0"/>
              </a:rPr>
              <a:t>4</a:t>
            </a:r>
            <a:r>
              <a:rPr lang="en-IN" b="0" i="0" dirty="0">
                <a:solidFill>
                  <a:srgbClr val="000000"/>
                </a:solidFill>
                <a:effectLst/>
                <a:highlight>
                  <a:srgbClr val="FFFFFF"/>
                </a:highlight>
                <a:latin typeface="Consolas" panose="020B0609020204030204" pitchFamily="49" charset="0"/>
              </a:rPr>
              <a:t>, </a:t>
            </a:r>
            <a:r>
              <a:rPr lang="en-IN" b="0" i="0" dirty="0">
                <a:solidFill>
                  <a:srgbClr val="FF0000"/>
                </a:solidFill>
                <a:effectLst/>
                <a:highlight>
                  <a:srgbClr val="FFFFFF"/>
                </a:highlight>
                <a:latin typeface="Consolas" panose="020B0609020204030204" pitchFamily="49" charset="0"/>
              </a:rPr>
              <a:t>5</a:t>
            </a:r>
            <a:r>
              <a:rPr lang="en-IN" b="0" i="0" dirty="0">
                <a:solidFill>
                  <a:srgbClr val="000000"/>
                </a:solidFill>
                <a:effectLst/>
                <a:highlight>
                  <a:srgbClr val="FFFFFF"/>
                </a:highlight>
                <a:latin typeface="Consolas" panose="020B0609020204030204" pitchFamily="49" charset="0"/>
              </a:rPr>
              <a:t>, </a:t>
            </a:r>
            <a:r>
              <a:rPr lang="en-IN" b="0" i="0" dirty="0">
                <a:solidFill>
                  <a:srgbClr val="FF0000"/>
                </a:solidFill>
                <a:effectLst/>
                <a:highlight>
                  <a:srgbClr val="FFFFFF"/>
                </a:highlight>
                <a:latin typeface="Consolas" panose="020B0609020204030204" pitchFamily="49" charset="0"/>
              </a:rPr>
              <a:t>6</a:t>
            </a:r>
            <a:r>
              <a:rPr lang="en-IN" b="0" i="0" dirty="0">
                <a:solidFill>
                  <a:srgbClr val="000000"/>
                </a:solidFill>
                <a:effectLst/>
                <a:highlight>
                  <a:srgbClr val="FFFFFF"/>
                </a:highlight>
                <a:latin typeface="Consolas" panose="020B0609020204030204" pitchFamily="49" charset="0"/>
              </a:rPr>
              <a:t>, </a:t>
            </a:r>
            <a:r>
              <a:rPr lang="en-IN" b="0" i="0" dirty="0">
                <a:solidFill>
                  <a:srgbClr val="FF0000"/>
                </a:solidFill>
                <a:effectLst/>
                <a:highlight>
                  <a:srgbClr val="FFFFFF"/>
                </a:highlight>
                <a:latin typeface="Consolas" panose="020B0609020204030204" pitchFamily="49" charset="0"/>
              </a:rPr>
              <a:t>7</a:t>
            </a:r>
            <a:r>
              <a:rPr lang="en-IN" b="0" i="0" dirty="0">
                <a:solidFill>
                  <a:srgbClr val="000000"/>
                </a:solidFill>
                <a:effectLst/>
                <a:highlight>
                  <a:srgbClr val="FFFFFF"/>
                </a:highlight>
                <a:latin typeface="Consolas" panose="020B0609020204030204" pitchFamily="49" charset="0"/>
              </a:rPr>
              <a:t>, </a:t>
            </a:r>
            <a:r>
              <a:rPr lang="en-IN" b="0" i="0" dirty="0">
                <a:solidFill>
                  <a:srgbClr val="FF0000"/>
                </a:solidFill>
                <a:effectLst/>
                <a:highlight>
                  <a:srgbClr val="FFFFFF"/>
                </a:highlight>
                <a:latin typeface="Consolas" panose="020B0609020204030204" pitchFamily="49" charset="0"/>
              </a:rPr>
              <a:t>8</a:t>
            </a:r>
            <a:r>
              <a:rPr lang="en-IN" b="0" i="0" dirty="0">
                <a:solidFill>
                  <a:srgbClr val="000000"/>
                </a:solidFill>
                <a:effectLst/>
                <a:highlight>
                  <a:srgbClr val="FFFFFF"/>
                </a:highlight>
                <a:latin typeface="Consolas" panose="020B0609020204030204" pitchFamily="49" charset="0"/>
              </a:rPr>
              <a:t>, </a:t>
            </a:r>
            <a:r>
              <a:rPr lang="en-IN" b="0" i="0" dirty="0">
                <a:solidFill>
                  <a:srgbClr val="FF0000"/>
                </a:solidFill>
                <a:effectLst/>
                <a:highlight>
                  <a:srgbClr val="FFFFFF"/>
                </a:highlight>
                <a:latin typeface="Consolas" panose="020B0609020204030204" pitchFamily="49" charset="0"/>
              </a:rPr>
              <a:t>9</a:t>
            </a:r>
            <a:r>
              <a:rPr lang="en-IN" b="0" i="0" dirty="0">
                <a:solidFill>
                  <a:srgbClr val="000000"/>
                </a:solidFill>
                <a:effectLst/>
                <a:highlight>
                  <a:srgbClr val="FFFFFF"/>
                </a:highlight>
                <a:latin typeface="Consolas" panose="020B0609020204030204" pitchFamily="49" charset="0"/>
              </a:rPr>
              <a:t>, </a:t>
            </a:r>
            <a:r>
              <a:rPr lang="en-IN" b="0" i="0" dirty="0">
                <a:solidFill>
                  <a:srgbClr val="FF0000"/>
                </a:solidFill>
                <a:effectLst/>
                <a:highlight>
                  <a:srgbClr val="FFFFFF"/>
                </a:highlight>
                <a:latin typeface="Consolas" panose="020B0609020204030204" pitchFamily="49" charset="0"/>
              </a:rPr>
              <a:t>10</a:t>
            </a:r>
            <a:r>
              <a:rPr lang="en-IN" b="0" i="0" dirty="0">
                <a:solidFill>
                  <a:srgbClr val="000000"/>
                </a:solidFill>
                <a:effectLst/>
                <a:highlight>
                  <a:srgbClr val="FFFFFF"/>
                </a:highlight>
                <a:latin typeface="Consolas" panose="020B0609020204030204" pitchFamily="49" charset="0"/>
              </a:rPr>
              <a:t>, </a:t>
            </a:r>
            <a:r>
              <a:rPr lang="en-IN" b="0" i="0" dirty="0">
                <a:solidFill>
                  <a:srgbClr val="FF0000"/>
                </a:solidFill>
                <a:effectLst/>
                <a:highlight>
                  <a:srgbClr val="FFFFFF"/>
                </a:highlight>
                <a:latin typeface="Consolas" panose="020B0609020204030204" pitchFamily="49" charset="0"/>
              </a:rPr>
              <a:t>11</a:t>
            </a:r>
            <a:r>
              <a:rPr lang="en-IN" b="0" i="0" dirty="0">
                <a:solidFill>
                  <a:srgbClr val="000000"/>
                </a:solidFill>
                <a:effectLst/>
                <a:highlight>
                  <a:srgbClr val="FFFFFF"/>
                </a:highlight>
                <a:latin typeface="Consolas" panose="020B0609020204030204" pitchFamily="49" charset="0"/>
              </a:rPr>
              <a:t>, </a:t>
            </a:r>
            <a:r>
              <a:rPr lang="en-IN" b="0" i="0" dirty="0">
                <a:solidFill>
                  <a:srgbClr val="FF0000"/>
                </a:solidFill>
                <a:effectLst/>
                <a:highlight>
                  <a:srgbClr val="FFFFFF"/>
                </a:highlight>
                <a:latin typeface="Consolas" panose="020B0609020204030204" pitchFamily="49" charset="0"/>
              </a:rPr>
              <a:t>12</a:t>
            </a:r>
            <a:r>
              <a:rPr lang="en-IN" b="0" i="0" dirty="0">
                <a:solidFill>
                  <a:srgbClr val="000000"/>
                </a:solidFill>
                <a:effectLst/>
                <a:highlight>
                  <a:srgbClr val="FFFFFF"/>
                </a:highlight>
                <a:latin typeface="Consolas" panose="020B0609020204030204" pitchFamily="49" charset="0"/>
              </a:rPr>
              <a:t>])</a:t>
            </a:r>
            <a:br>
              <a:rPr lang="en-IN" dirty="0"/>
            </a:br>
            <a:r>
              <a:rPr lang="en-IN" b="0" i="0" dirty="0" err="1">
                <a:solidFill>
                  <a:srgbClr val="000000"/>
                </a:solidFill>
                <a:effectLst/>
                <a:highlight>
                  <a:srgbClr val="FFFFFF"/>
                </a:highlight>
                <a:latin typeface="Consolas" panose="020B0609020204030204" pitchFamily="49" charset="0"/>
              </a:rPr>
              <a:t>newarr</a:t>
            </a:r>
            <a:r>
              <a:rPr lang="en-IN" b="0" i="0" dirty="0">
                <a:solidFill>
                  <a:srgbClr val="000000"/>
                </a:solidFill>
                <a:effectLst/>
                <a:highlight>
                  <a:srgbClr val="FFFFFF"/>
                </a:highlight>
                <a:latin typeface="Consolas" panose="020B0609020204030204" pitchFamily="49" charset="0"/>
              </a:rPr>
              <a:t> = </a:t>
            </a:r>
            <a:r>
              <a:rPr lang="en-IN" b="0" i="0" dirty="0" err="1">
                <a:solidFill>
                  <a:srgbClr val="000000"/>
                </a:solidFill>
                <a:effectLst/>
                <a:highlight>
                  <a:srgbClr val="FFFFFF"/>
                </a:highlight>
                <a:latin typeface="Consolas" panose="020B0609020204030204" pitchFamily="49" charset="0"/>
              </a:rPr>
              <a:t>arr.reshape</a:t>
            </a:r>
            <a:r>
              <a:rPr lang="en-IN" b="0" i="0" dirty="0">
                <a:solidFill>
                  <a:srgbClr val="000000"/>
                </a:solidFill>
                <a:effectLst/>
                <a:highlight>
                  <a:srgbClr val="FFFFFF"/>
                </a:highlight>
                <a:latin typeface="Consolas" panose="020B0609020204030204" pitchFamily="49" charset="0"/>
              </a:rPr>
              <a:t>(</a:t>
            </a:r>
            <a:r>
              <a:rPr lang="en-IN" b="0" i="0" dirty="0">
                <a:solidFill>
                  <a:srgbClr val="FF0000"/>
                </a:solidFill>
                <a:effectLst/>
                <a:highlight>
                  <a:srgbClr val="FFFFFF"/>
                </a:highlight>
                <a:latin typeface="Consolas" panose="020B0609020204030204" pitchFamily="49" charset="0"/>
              </a:rPr>
              <a:t>4</a:t>
            </a:r>
            <a:r>
              <a:rPr lang="en-IN" b="0" i="0" dirty="0">
                <a:solidFill>
                  <a:srgbClr val="000000"/>
                </a:solidFill>
                <a:effectLst/>
                <a:highlight>
                  <a:srgbClr val="FFFFFF"/>
                </a:highlight>
                <a:latin typeface="Consolas" panose="020B0609020204030204" pitchFamily="49" charset="0"/>
              </a:rPr>
              <a:t>, </a:t>
            </a:r>
            <a:r>
              <a:rPr lang="en-IN" b="0" i="0" dirty="0">
                <a:solidFill>
                  <a:srgbClr val="FF0000"/>
                </a:solidFill>
                <a:effectLst/>
                <a:highlight>
                  <a:srgbClr val="FFFFFF"/>
                </a:highlight>
                <a:latin typeface="Consolas" panose="020B0609020204030204" pitchFamily="49" charset="0"/>
              </a:rPr>
              <a:t>3</a:t>
            </a:r>
            <a:r>
              <a:rPr lang="en-IN" b="0" i="0" dirty="0">
                <a:solidFill>
                  <a:srgbClr val="000000"/>
                </a:solidFill>
                <a:effectLst/>
                <a:highlight>
                  <a:srgbClr val="FFFFFF"/>
                </a:highlight>
                <a:latin typeface="Consolas" panose="020B0609020204030204" pitchFamily="49" charset="0"/>
              </a:rPr>
              <a:t>)</a:t>
            </a:r>
            <a:br>
              <a:rPr lang="en-IN" dirty="0"/>
            </a:br>
            <a:r>
              <a:rPr lang="en-IN" b="0" i="0" dirty="0">
                <a:solidFill>
                  <a:srgbClr val="0000CD"/>
                </a:solidFill>
                <a:effectLst/>
                <a:highlight>
                  <a:srgbClr val="FFFFFF"/>
                </a:highlight>
                <a:latin typeface="Consolas" panose="020B0609020204030204" pitchFamily="49" charset="0"/>
              </a:rPr>
              <a:t>print</a:t>
            </a:r>
            <a:r>
              <a:rPr lang="en-IN" b="0" i="0" dirty="0">
                <a:solidFill>
                  <a:srgbClr val="000000"/>
                </a:solidFill>
                <a:effectLst/>
                <a:highlight>
                  <a:srgbClr val="FFFFFF"/>
                </a:highlight>
                <a:latin typeface="Consolas" panose="020B0609020204030204" pitchFamily="49" charset="0"/>
              </a:rPr>
              <a:t>(</a:t>
            </a:r>
            <a:r>
              <a:rPr lang="en-IN" b="0" i="0" dirty="0" err="1">
                <a:solidFill>
                  <a:srgbClr val="000000"/>
                </a:solidFill>
                <a:effectLst/>
                <a:highlight>
                  <a:srgbClr val="FFFFFF"/>
                </a:highlight>
                <a:latin typeface="Consolas" panose="020B0609020204030204" pitchFamily="49" charset="0"/>
              </a:rPr>
              <a:t>newarr</a:t>
            </a:r>
            <a:r>
              <a:rPr lang="en-IN" b="0" i="0" dirty="0">
                <a:solidFill>
                  <a:srgbClr val="000000"/>
                </a:solidFill>
                <a:effectLst/>
                <a:highlight>
                  <a:srgbClr val="FFFFFF"/>
                </a:highlight>
                <a:latin typeface="Consolas" panose="020B0609020204030204" pitchFamily="49" charset="0"/>
              </a:rPr>
              <a:t>)</a:t>
            </a:r>
          </a:p>
          <a:p>
            <a:endParaRPr lang="en-IN" dirty="0">
              <a:solidFill>
                <a:srgbClr val="000000"/>
              </a:solidFill>
              <a:highlight>
                <a:srgbClr val="FFFFFF"/>
              </a:highlight>
              <a:latin typeface="Consolas" panose="020B0609020204030204" pitchFamily="49" charset="0"/>
            </a:endParaRPr>
          </a:p>
          <a:p>
            <a:r>
              <a:rPr lang="en-IN" b="1" dirty="0">
                <a:solidFill>
                  <a:srgbClr val="000000"/>
                </a:solidFill>
                <a:highlight>
                  <a:srgbClr val="FFFFFF"/>
                </a:highlight>
                <a:latin typeface="Consolas" panose="020B0609020204030204" pitchFamily="49" charset="0"/>
              </a:rPr>
              <a:t>Output:</a:t>
            </a:r>
          </a:p>
          <a:p>
            <a:r>
              <a:rPr lang="en-IN" dirty="0"/>
              <a:t>[[ 1  2  3]</a:t>
            </a:r>
          </a:p>
          <a:p>
            <a:r>
              <a:rPr lang="en-IN" dirty="0"/>
              <a:t> [ 4  5  6]</a:t>
            </a:r>
          </a:p>
          <a:p>
            <a:r>
              <a:rPr lang="en-IN" dirty="0"/>
              <a:t> [ 7  8  9]</a:t>
            </a:r>
          </a:p>
          <a:p>
            <a:r>
              <a:rPr lang="en-IN" dirty="0"/>
              <a:t> [10 11 12]]</a:t>
            </a:r>
          </a:p>
        </p:txBody>
      </p:sp>
    </p:spTree>
    <p:extLst>
      <p:ext uri="{BB962C8B-B14F-4D97-AF65-F5344CB8AC3E}">
        <p14:creationId xmlns:p14="http://schemas.microsoft.com/office/powerpoint/2010/main" val="3936152581"/>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Table 8">
            <a:extLst>
              <a:ext uri="{FF2B5EF4-FFF2-40B4-BE49-F238E27FC236}">
                <a16:creationId xmlns:a16="http://schemas.microsoft.com/office/drawing/2014/main" id="{0B6EC464-4750-5FF3-7A5A-15612BA6E293}"/>
              </a:ext>
            </a:extLst>
          </p:cNvPr>
          <p:cNvGraphicFramePr>
            <a:graphicFrameLocks noGrp="1"/>
          </p:cNvGraphicFramePr>
          <p:nvPr/>
        </p:nvGraphicFramePr>
        <p:xfrm>
          <a:off x="0" y="23812"/>
          <a:ext cx="12192000" cy="465287"/>
        </p:xfrm>
        <a:graphic>
          <a:graphicData uri="http://schemas.openxmlformats.org/drawingml/2006/table">
            <a:tbl>
              <a:tblPr firstRow="1" bandRow="1">
                <a:tableStyleId>{5C22544A-7EE6-4342-B048-85BDC9FD1C3A}</a:tableStyleId>
              </a:tblPr>
              <a:tblGrid>
                <a:gridCol w="6092042">
                  <a:extLst>
                    <a:ext uri="{9D8B030D-6E8A-4147-A177-3AD203B41FA5}">
                      <a16:colId xmlns:a16="http://schemas.microsoft.com/office/drawing/2014/main" val="2179694530"/>
                    </a:ext>
                  </a:extLst>
                </a:gridCol>
                <a:gridCol w="6099958">
                  <a:extLst>
                    <a:ext uri="{9D8B030D-6E8A-4147-A177-3AD203B41FA5}">
                      <a16:colId xmlns:a16="http://schemas.microsoft.com/office/drawing/2014/main" val="2768207918"/>
                    </a:ext>
                  </a:extLst>
                </a:gridCol>
              </a:tblGrid>
              <a:tr h="465287">
                <a:tc>
                  <a:txBody>
                    <a:bodyPr/>
                    <a:lstStyle/>
                    <a:p>
                      <a:endParaRPr lang="en-US" dirty="0"/>
                    </a:p>
                  </a:txBody>
                  <a:tcPr>
                    <a:solidFill>
                      <a:srgbClr val="FF85FF"/>
                    </a:solidFill>
                  </a:tcPr>
                </a:tc>
                <a:tc>
                  <a:txBody>
                    <a:bodyPr/>
                    <a:lstStyle/>
                    <a:p>
                      <a:endParaRPr lang="en-US" dirty="0"/>
                    </a:p>
                  </a:txBody>
                  <a:tcPr>
                    <a:solidFill>
                      <a:srgbClr val="FFFF00"/>
                    </a:solidFill>
                  </a:tcPr>
                </a:tc>
                <a:extLst>
                  <a:ext uri="{0D108BD9-81ED-4DB2-BD59-A6C34878D82A}">
                    <a16:rowId xmlns:a16="http://schemas.microsoft.com/office/drawing/2014/main" val="1996944423"/>
                  </a:ext>
                </a:extLst>
              </a:tr>
            </a:tbl>
          </a:graphicData>
        </a:graphic>
      </p:graphicFrame>
      <p:graphicFrame>
        <p:nvGraphicFramePr>
          <p:cNvPr id="10" name="Table 9">
            <a:extLst>
              <a:ext uri="{FF2B5EF4-FFF2-40B4-BE49-F238E27FC236}">
                <a16:creationId xmlns:a16="http://schemas.microsoft.com/office/drawing/2014/main" id="{494BAFB7-FE1F-E1A9-7A6C-AB4145BD9BA1}"/>
              </a:ext>
            </a:extLst>
          </p:cNvPr>
          <p:cNvGraphicFramePr>
            <a:graphicFrameLocks noGrp="1"/>
          </p:cNvGraphicFramePr>
          <p:nvPr>
            <p:extLst>
              <p:ext uri="{D42A27DB-BD31-4B8C-83A1-F6EECF244321}">
                <p14:modId xmlns:p14="http://schemas.microsoft.com/office/powerpoint/2010/main" val="19601108"/>
              </p:ext>
            </p:extLst>
          </p:nvPr>
        </p:nvGraphicFramePr>
        <p:xfrm>
          <a:off x="1" y="6478892"/>
          <a:ext cx="12191999" cy="370840"/>
        </p:xfrm>
        <a:graphic>
          <a:graphicData uri="http://schemas.openxmlformats.org/drawingml/2006/table">
            <a:tbl>
              <a:tblPr firstRow="1" bandRow="1">
                <a:tableStyleId>{5C22544A-7EE6-4342-B048-85BDC9FD1C3A}</a:tableStyleId>
              </a:tblPr>
              <a:tblGrid>
                <a:gridCol w="6080165">
                  <a:extLst>
                    <a:ext uri="{9D8B030D-6E8A-4147-A177-3AD203B41FA5}">
                      <a16:colId xmlns:a16="http://schemas.microsoft.com/office/drawing/2014/main" val="2179694530"/>
                    </a:ext>
                  </a:extLst>
                </a:gridCol>
                <a:gridCol w="6111834">
                  <a:extLst>
                    <a:ext uri="{9D8B030D-6E8A-4147-A177-3AD203B41FA5}">
                      <a16:colId xmlns:a16="http://schemas.microsoft.com/office/drawing/2014/main" val="2768207918"/>
                    </a:ext>
                  </a:extLst>
                </a:gridCol>
              </a:tblGrid>
              <a:tr h="370840">
                <a:tc>
                  <a:txBody>
                    <a:bodyPr/>
                    <a:lstStyle/>
                    <a:p>
                      <a:endParaRPr lang="en-US" dirty="0"/>
                    </a:p>
                  </a:txBody>
                  <a:tcPr>
                    <a:solidFill>
                      <a:srgbClr val="FFFF00"/>
                    </a:solidFill>
                  </a:tcPr>
                </a:tc>
                <a:tc>
                  <a:txBody>
                    <a:bodyPr/>
                    <a:lstStyle/>
                    <a:p>
                      <a:pPr algn="r"/>
                      <a:r>
                        <a:rPr lang="en-US" dirty="0">
                          <a:solidFill>
                            <a:schemeClr val="tx1"/>
                          </a:solidFill>
                        </a:rPr>
                        <a:t>76</a:t>
                      </a:r>
                    </a:p>
                  </a:txBody>
                  <a:tcPr>
                    <a:solidFill>
                      <a:srgbClr val="FF85FF"/>
                    </a:solidFill>
                  </a:tcPr>
                </a:tc>
                <a:extLst>
                  <a:ext uri="{0D108BD9-81ED-4DB2-BD59-A6C34878D82A}">
                    <a16:rowId xmlns:a16="http://schemas.microsoft.com/office/drawing/2014/main" val="1996944423"/>
                  </a:ext>
                </a:extLst>
              </a:tr>
            </a:tbl>
          </a:graphicData>
        </a:graphic>
      </p:graphicFrame>
      <p:pic>
        <p:nvPicPr>
          <p:cNvPr id="12" name="Google Shape;187;p25" descr="pngfind.com-kingpin-png-4152286 (1).png">
            <a:extLst>
              <a:ext uri="{FF2B5EF4-FFF2-40B4-BE49-F238E27FC236}">
                <a16:creationId xmlns:a16="http://schemas.microsoft.com/office/drawing/2014/main" id="{2DBF2481-A2DB-F96E-5749-B03DC4F71665}"/>
              </a:ext>
            </a:extLst>
          </p:cNvPr>
          <p:cNvPicPr preferRelativeResize="0"/>
          <p:nvPr/>
        </p:nvPicPr>
        <p:blipFill rotWithShape="1">
          <a:blip r:embed="rId2">
            <a:alphaModFix/>
          </a:blip>
          <a:srcRect/>
          <a:stretch/>
        </p:blipFill>
        <p:spPr>
          <a:xfrm>
            <a:off x="11044052" y="8268"/>
            <a:ext cx="1051261" cy="465287"/>
          </a:xfrm>
          <a:prstGeom prst="rect">
            <a:avLst/>
          </a:prstGeom>
          <a:noFill/>
          <a:ln>
            <a:noFill/>
          </a:ln>
        </p:spPr>
      </p:pic>
      <p:sp>
        <p:nvSpPr>
          <p:cNvPr id="19" name="Rectangle 18">
            <a:extLst>
              <a:ext uri="{FF2B5EF4-FFF2-40B4-BE49-F238E27FC236}">
                <a16:creationId xmlns:a16="http://schemas.microsoft.com/office/drawing/2014/main" id="{A0702E37-2E7E-7262-5E76-F69A817105B3}"/>
              </a:ext>
            </a:extLst>
          </p:cNvPr>
          <p:cNvSpPr/>
          <p:nvPr/>
        </p:nvSpPr>
        <p:spPr>
          <a:xfrm>
            <a:off x="0" y="8268"/>
            <a:ext cx="12192000" cy="6825920"/>
          </a:xfrm>
          <a:prstGeom prst="rect">
            <a:avLst/>
          </a:prstGeom>
          <a:noFill/>
          <a:ln w="38100">
            <a:solidFill>
              <a:srgbClr val="0432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DCB2A3F0-9003-5886-09B4-27925BBE4000}"/>
              </a:ext>
            </a:extLst>
          </p:cNvPr>
          <p:cNvSpPr txBox="1"/>
          <p:nvPr/>
        </p:nvSpPr>
        <p:spPr>
          <a:xfrm>
            <a:off x="0" y="873851"/>
            <a:ext cx="12191999" cy="646331"/>
          </a:xfrm>
          <a:prstGeom prst="rect">
            <a:avLst/>
          </a:prstGeom>
          <a:noFill/>
        </p:spPr>
        <p:txBody>
          <a:bodyPr wrap="square">
            <a:spAutoFit/>
          </a:bodyPr>
          <a:lstStyle/>
          <a:p>
            <a:pPr algn="ctr"/>
            <a:r>
              <a:rPr lang="en-US" sz="3600" b="1" dirty="0">
                <a:effectLst/>
                <a:latin typeface="Calibri" panose="020F0502020204030204" pitchFamily="34" charset="0"/>
                <a:ea typeface="Calibri" panose="020F0502020204030204" pitchFamily="34" charset="0"/>
                <a:cs typeface="Calibri" panose="020F0502020204030204" pitchFamily="34" charset="0"/>
              </a:rPr>
              <a:t>Arrays shape Manipulation</a:t>
            </a:r>
            <a:endParaRPr lang="en-US" sz="3600" b="1" dirty="0">
              <a:latin typeface="Calibri" panose="020F0502020204030204" pitchFamily="34" charset="0"/>
              <a:ea typeface="Calibri" panose="020F0502020204030204" pitchFamily="34" charset="0"/>
              <a:cs typeface="Calibri" panose="020F0502020204030204" pitchFamily="34" charset="0"/>
            </a:endParaRPr>
          </a:p>
        </p:txBody>
      </p:sp>
      <p:sp>
        <p:nvSpPr>
          <p:cNvPr id="8" name="TextBox 7">
            <a:extLst>
              <a:ext uri="{FF2B5EF4-FFF2-40B4-BE49-F238E27FC236}">
                <a16:creationId xmlns:a16="http://schemas.microsoft.com/office/drawing/2014/main" id="{1D27C92B-CB57-11B4-D725-334A447A4F66}"/>
              </a:ext>
            </a:extLst>
          </p:cNvPr>
          <p:cNvSpPr txBox="1"/>
          <p:nvPr/>
        </p:nvSpPr>
        <p:spPr>
          <a:xfrm>
            <a:off x="596347" y="1668774"/>
            <a:ext cx="10614991" cy="880369"/>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Reshape From 1-D to 3-D</a:t>
            </a:r>
          </a:p>
          <a:p>
            <a:pPr marL="285750" indent="-285750" algn="l">
              <a:lnSpc>
                <a:spcPct val="150000"/>
              </a:lnSpc>
              <a:buFont typeface="Arial" panose="020B0604020202020204" pitchFamily="34" charset="0"/>
              <a:buChar char="•"/>
            </a:pPr>
            <a:endParaRPr lang="en-US" dirty="0">
              <a:latin typeface="Calibri" panose="020F0502020204030204" pitchFamily="34" charset="0"/>
              <a:ea typeface="Calibri" panose="020F0502020204030204" pitchFamily="34" charset="0"/>
              <a:cs typeface="Calibri" panose="020F0502020204030204" pitchFamily="34" charset="0"/>
            </a:endParaRPr>
          </a:p>
        </p:txBody>
      </p:sp>
      <p:sp>
        <p:nvSpPr>
          <p:cNvPr id="14" name="TextBox 13">
            <a:extLst>
              <a:ext uri="{FF2B5EF4-FFF2-40B4-BE49-F238E27FC236}">
                <a16:creationId xmlns:a16="http://schemas.microsoft.com/office/drawing/2014/main" id="{AFC35A2C-34A9-1563-F944-B52BBD61E7B7}"/>
              </a:ext>
            </a:extLst>
          </p:cNvPr>
          <p:cNvSpPr txBox="1"/>
          <p:nvPr/>
        </p:nvSpPr>
        <p:spPr>
          <a:xfrm>
            <a:off x="2493064" y="2290830"/>
            <a:ext cx="7205869" cy="3693319"/>
          </a:xfrm>
          <a:prstGeom prst="rect">
            <a:avLst/>
          </a:prstGeom>
          <a:noFill/>
          <a:ln w="6350">
            <a:solidFill>
              <a:schemeClr val="tx1"/>
            </a:solidFill>
          </a:ln>
        </p:spPr>
        <p:txBody>
          <a:bodyPr wrap="square">
            <a:spAutoFit/>
          </a:bodyPr>
          <a:lstStyle/>
          <a:p>
            <a:r>
              <a:rPr lang="en-IN" b="0" i="0" dirty="0">
                <a:solidFill>
                  <a:srgbClr val="0000CD"/>
                </a:solidFill>
                <a:effectLst/>
                <a:highlight>
                  <a:srgbClr val="FFFFFF"/>
                </a:highlight>
                <a:latin typeface="Consolas" panose="020B0609020204030204" pitchFamily="49" charset="0"/>
              </a:rPr>
              <a:t>import</a:t>
            </a:r>
            <a:r>
              <a:rPr lang="en-IN" b="0" i="0" dirty="0">
                <a:solidFill>
                  <a:srgbClr val="000000"/>
                </a:solidFill>
                <a:effectLst/>
                <a:highlight>
                  <a:srgbClr val="FFFFFF"/>
                </a:highlight>
                <a:latin typeface="Consolas" panose="020B0609020204030204" pitchFamily="49" charset="0"/>
              </a:rPr>
              <a:t> </a:t>
            </a:r>
            <a:r>
              <a:rPr lang="en-IN" b="0" i="0" dirty="0" err="1">
                <a:solidFill>
                  <a:srgbClr val="000000"/>
                </a:solidFill>
                <a:effectLst/>
                <a:highlight>
                  <a:srgbClr val="FFFFFF"/>
                </a:highlight>
                <a:latin typeface="Consolas" panose="020B0609020204030204" pitchFamily="49" charset="0"/>
              </a:rPr>
              <a:t>numpy</a:t>
            </a:r>
            <a:r>
              <a:rPr lang="en-IN" b="0" i="0" dirty="0">
                <a:solidFill>
                  <a:srgbClr val="000000"/>
                </a:solidFill>
                <a:effectLst/>
                <a:highlight>
                  <a:srgbClr val="FFFFFF"/>
                </a:highlight>
                <a:latin typeface="Consolas" panose="020B0609020204030204" pitchFamily="49" charset="0"/>
              </a:rPr>
              <a:t> </a:t>
            </a:r>
            <a:r>
              <a:rPr lang="en-IN" b="0" i="0" dirty="0">
                <a:solidFill>
                  <a:srgbClr val="0000CD"/>
                </a:solidFill>
                <a:effectLst/>
                <a:highlight>
                  <a:srgbClr val="FFFFFF"/>
                </a:highlight>
                <a:latin typeface="Consolas" panose="020B0609020204030204" pitchFamily="49" charset="0"/>
              </a:rPr>
              <a:t>as</a:t>
            </a:r>
            <a:r>
              <a:rPr lang="en-IN" b="0" i="0" dirty="0">
                <a:solidFill>
                  <a:srgbClr val="000000"/>
                </a:solidFill>
                <a:effectLst/>
                <a:highlight>
                  <a:srgbClr val="FFFFFF"/>
                </a:highlight>
                <a:latin typeface="Consolas" panose="020B0609020204030204" pitchFamily="49" charset="0"/>
              </a:rPr>
              <a:t> np</a:t>
            </a:r>
            <a:br>
              <a:rPr lang="en-IN" dirty="0"/>
            </a:br>
            <a:r>
              <a:rPr lang="en-IN" b="0" i="0" dirty="0" err="1">
                <a:solidFill>
                  <a:srgbClr val="000000"/>
                </a:solidFill>
                <a:effectLst/>
                <a:highlight>
                  <a:srgbClr val="FFFFFF"/>
                </a:highlight>
                <a:latin typeface="Consolas" panose="020B0609020204030204" pitchFamily="49" charset="0"/>
              </a:rPr>
              <a:t>arr</a:t>
            </a:r>
            <a:r>
              <a:rPr lang="en-IN" b="0" i="0" dirty="0">
                <a:solidFill>
                  <a:srgbClr val="000000"/>
                </a:solidFill>
                <a:effectLst/>
                <a:highlight>
                  <a:srgbClr val="FFFFFF"/>
                </a:highlight>
                <a:latin typeface="Consolas" panose="020B0609020204030204" pitchFamily="49" charset="0"/>
              </a:rPr>
              <a:t> = </a:t>
            </a:r>
            <a:r>
              <a:rPr lang="en-IN" b="0" i="0" dirty="0" err="1">
                <a:solidFill>
                  <a:srgbClr val="000000"/>
                </a:solidFill>
                <a:effectLst/>
                <a:highlight>
                  <a:srgbClr val="FFFFFF"/>
                </a:highlight>
                <a:latin typeface="Consolas" panose="020B0609020204030204" pitchFamily="49" charset="0"/>
              </a:rPr>
              <a:t>np.array</a:t>
            </a:r>
            <a:r>
              <a:rPr lang="en-IN" b="0" i="0" dirty="0">
                <a:solidFill>
                  <a:srgbClr val="000000"/>
                </a:solidFill>
                <a:effectLst/>
                <a:highlight>
                  <a:srgbClr val="FFFFFF"/>
                </a:highlight>
                <a:latin typeface="Consolas" panose="020B0609020204030204" pitchFamily="49" charset="0"/>
              </a:rPr>
              <a:t>([</a:t>
            </a:r>
            <a:r>
              <a:rPr lang="en-IN" b="0" i="0" dirty="0">
                <a:solidFill>
                  <a:srgbClr val="FF0000"/>
                </a:solidFill>
                <a:effectLst/>
                <a:highlight>
                  <a:srgbClr val="FFFFFF"/>
                </a:highlight>
                <a:latin typeface="Consolas" panose="020B0609020204030204" pitchFamily="49" charset="0"/>
              </a:rPr>
              <a:t>1</a:t>
            </a:r>
            <a:r>
              <a:rPr lang="en-IN" b="0" i="0" dirty="0">
                <a:solidFill>
                  <a:srgbClr val="000000"/>
                </a:solidFill>
                <a:effectLst/>
                <a:highlight>
                  <a:srgbClr val="FFFFFF"/>
                </a:highlight>
                <a:latin typeface="Consolas" panose="020B0609020204030204" pitchFamily="49" charset="0"/>
              </a:rPr>
              <a:t>, </a:t>
            </a:r>
            <a:r>
              <a:rPr lang="en-IN" b="0" i="0" dirty="0">
                <a:solidFill>
                  <a:srgbClr val="FF0000"/>
                </a:solidFill>
                <a:effectLst/>
                <a:highlight>
                  <a:srgbClr val="FFFFFF"/>
                </a:highlight>
                <a:latin typeface="Consolas" panose="020B0609020204030204" pitchFamily="49" charset="0"/>
              </a:rPr>
              <a:t>2</a:t>
            </a:r>
            <a:r>
              <a:rPr lang="en-IN" b="0" i="0" dirty="0">
                <a:solidFill>
                  <a:srgbClr val="000000"/>
                </a:solidFill>
                <a:effectLst/>
                <a:highlight>
                  <a:srgbClr val="FFFFFF"/>
                </a:highlight>
                <a:latin typeface="Consolas" panose="020B0609020204030204" pitchFamily="49" charset="0"/>
              </a:rPr>
              <a:t>, </a:t>
            </a:r>
            <a:r>
              <a:rPr lang="en-IN" b="0" i="0" dirty="0">
                <a:solidFill>
                  <a:srgbClr val="FF0000"/>
                </a:solidFill>
                <a:effectLst/>
                <a:highlight>
                  <a:srgbClr val="FFFFFF"/>
                </a:highlight>
                <a:latin typeface="Consolas" panose="020B0609020204030204" pitchFamily="49" charset="0"/>
              </a:rPr>
              <a:t>3</a:t>
            </a:r>
            <a:r>
              <a:rPr lang="en-IN" b="0" i="0" dirty="0">
                <a:solidFill>
                  <a:srgbClr val="000000"/>
                </a:solidFill>
                <a:effectLst/>
                <a:highlight>
                  <a:srgbClr val="FFFFFF"/>
                </a:highlight>
                <a:latin typeface="Consolas" panose="020B0609020204030204" pitchFamily="49" charset="0"/>
              </a:rPr>
              <a:t>, </a:t>
            </a:r>
            <a:r>
              <a:rPr lang="en-IN" b="0" i="0" dirty="0">
                <a:solidFill>
                  <a:srgbClr val="FF0000"/>
                </a:solidFill>
                <a:effectLst/>
                <a:highlight>
                  <a:srgbClr val="FFFFFF"/>
                </a:highlight>
                <a:latin typeface="Consolas" panose="020B0609020204030204" pitchFamily="49" charset="0"/>
              </a:rPr>
              <a:t>4</a:t>
            </a:r>
            <a:r>
              <a:rPr lang="en-IN" b="0" i="0" dirty="0">
                <a:solidFill>
                  <a:srgbClr val="000000"/>
                </a:solidFill>
                <a:effectLst/>
                <a:highlight>
                  <a:srgbClr val="FFFFFF"/>
                </a:highlight>
                <a:latin typeface="Consolas" panose="020B0609020204030204" pitchFamily="49" charset="0"/>
              </a:rPr>
              <a:t>, </a:t>
            </a:r>
            <a:r>
              <a:rPr lang="en-IN" b="0" i="0" dirty="0">
                <a:solidFill>
                  <a:srgbClr val="FF0000"/>
                </a:solidFill>
                <a:effectLst/>
                <a:highlight>
                  <a:srgbClr val="FFFFFF"/>
                </a:highlight>
                <a:latin typeface="Consolas" panose="020B0609020204030204" pitchFamily="49" charset="0"/>
              </a:rPr>
              <a:t>5</a:t>
            </a:r>
            <a:r>
              <a:rPr lang="en-IN" b="0" i="0" dirty="0">
                <a:solidFill>
                  <a:srgbClr val="000000"/>
                </a:solidFill>
                <a:effectLst/>
                <a:highlight>
                  <a:srgbClr val="FFFFFF"/>
                </a:highlight>
                <a:latin typeface="Consolas" panose="020B0609020204030204" pitchFamily="49" charset="0"/>
              </a:rPr>
              <a:t>, </a:t>
            </a:r>
            <a:r>
              <a:rPr lang="en-IN" b="0" i="0" dirty="0">
                <a:solidFill>
                  <a:srgbClr val="FF0000"/>
                </a:solidFill>
                <a:effectLst/>
                <a:highlight>
                  <a:srgbClr val="FFFFFF"/>
                </a:highlight>
                <a:latin typeface="Consolas" panose="020B0609020204030204" pitchFamily="49" charset="0"/>
              </a:rPr>
              <a:t>6</a:t>
            </a:r>
            <a:r>
              <a:rPr lang="en-IN" b="0" i="0" dirty="0">
                <a:solidFill>
                  <a:srgbClr val="000000"/>
                </a:solidFill>
                <a:effectLst/>
                <a:highlight>
                  <a:srgbClr val="FFFFFF"/>
                </a:highlight>
                <a:latin typeface="Consolas" panose="020B0609020204030204" pitchFamily="49" charset="0"/>
              </a:rPr>
              <a:t>, </a:t>
            </a:r>
            <a:r>
              <a:rPr lang="en-IN" b="0" i="0" dirty="0">
                <a:solidFill>
                  <a:srgbClr val="FF0000"/>
                </a:solidFill>
                <a:effectLst/>
                <a:highlight>
                  <a:srgbClr val="FFFFFF"/>
                </a:highlight>
                <a:latin typeface="Consolas" panose="020B0609020204030204" pitchFamily="49" charset="0"/>
              </a:rPr>
              <a:t>7</a:t>
            </a:r>
            <a:r>
              <a:rPr lang="en-IN" b="0" i="0" dirty="0">
                <a:solidFill>
                  <a:srgbClr val="000000"/>
                </a:solidFill>
                <a:effectLst/>
                <a:highlight>
                  <a:srgbClr val="FFFFFF"/>
                </a:highlight>
                <a:latin typeface="Consolas" panose="020B0609020204030204" pitchFamily="49" charset="0"/>
              </a:rPr>
              <a:t>, </a:t>
            </a:r>
            <a:r>
              <a:rPr lang="en-IN" b="0" i="0" dirty="0">
                <a:solidFill>
                  <a:srgbClr val="FF0000"/>
                </a:solidFill>
                <a:effectLst/>
                <a:highlight>
                  <a:srgbClr val="FFFFFF"/>
                </a:highlight>
                <a:latin typeface="Consolas" panose="020B0609020204030204" pitchFamily="49" charset="0"/>
              </a:rPr>
              <a:t>8</a:t>
            </a:r>
            <a:r>
              <a:rPr lang="en-IN" b="0" i="0" dirty="0">
                <a:solidFill>
                  <a:srgbClr val="000000"/>
                </a:solidFill>
                <a:effectLst/>
                <a:highlight>
                  <a:srgbClr val="FFFFFF"/>
                </a:highlight>
                <a:latin typeface="Consolas" panose="020B0609020204030204" pitchFamily="49" charset="0"/>
              </a:rPr>
              <a:t>, </a:t>
            </a:r>
            <a:r>
              <a:rPr lang="en-IN" b="0" i="0" dirty="0">
                <a:solidFill>
                  <a:srgbClr val="FF0000"/>
                </a:solidFill>
                <a:effectLst/>
                <a:highlight>
                  <a:srgbClr val="FFFFFF"/>
                </a:highlight>
                <a:latin typeface="Consolas" panose="020B0609020204030204" pitchFamily="49" charset="0"/>
              </a:rPr>
              <a:t>9</a:t>
            </a:r>
            <a:r>
              <a:rPr lang="en-IN" b="0" i="0" dirty="0">
                <a:solidFill>
                  <a:srgbClr val="000000"/>
                </a:solidFill>
                <a:effectLst/>
                <a:highlight>
                  <a:srgbClr val="FFFFFF"/>
                </a:highlight>
                <a:latin typeface="Consolas" panose="020B0609020204030204" pitchFamily="49" charset="0"/>
              </a:rPr>
              <a:t>, </a:t>
            </a:r>
            <a:r>
              <a:rPr lang="en-IN" b="0" i="0" dirty="0">
                <a:solidFill>
                  <a:srgbClr val="FF0000"/>
                </a:solidFill>
                <a:effectLst/>
                <a:highlight>
                  <a:srgbClr val="FFFFFF"/>
                </a:highlight>
                <a:latin typeface="Consolas" panose="020B0609020204030204" pitchFamily="49" charset="0"/>
              </a:rPr>
              <a:t>10</a:t>
            </a:r>
            <a:r>
              <a:rPr lang="en-IN" b="0" i="0" dirty="0">
                <a:solidFill>
                  <a:srgbClr val="000000"/>
                </a:solidFill>
                <a:effectLst/>
                <a:highlight>
                  <a:srgbClr val="FFFFFF"/>
                </a:highlight>
                <a:latin typeface="Consolas" panose="020B0609020204030204" pitchFamily="49" charset="0"/>
              </a:rPr>
              <a:t>, </a:t>
            </a:r>
            <a:r>
              <a:rPr lang="en-IN" b="0" i="0" dirty="0">
                <a:solidFill>
                  <a:srgbClr val="FF0000"/>
                </a:solidFill>
                <a:effectLst/>
                <a:highlight>
                  <a:srgbClr val="FFFFFF"/>
                </a:highlight>
                <a:latin typeface="Consolas" panose="020B0609020204030204" pitchFamily="49" charset="0"/>
              </a:rPr>
              <a:t>11</a:t>
            </a:r>
            <a:r>
              <a:rPr lang="en-IN" b="0" i="0" dirty="0">
                <a:solidFill>
                  <a:srgbClr val="000000"/>
                </a:solidFill>
                <a:effectLst/>
                <a:highlight>
                  <a:srgbClr val="FFFFFF"/>
                </a:highlight>
                <a:latin typeface="Consolas" panose="020B0609020204030204" pitchFamily="49" charset="0"/>
              </a:rPr>
              <a:t>, </a:t>
            </a:r>
            <a:r>
              <a:rPr lang="en-IN" b="0" i="0" dirty="0">
                <a:solidFill>
                  <a:srgbClr val="FF0000"/>
                </a:solidFill>
                <a:effectLst/>
                <a:highlight>
                  <a:srgbClr val="FFFFFF"/>
                </a:highlight>
                <a:latin typeface="Consolas" panose="020B0609020204030204" pitchFamily="49" charset="0"/>
              </a:rPr>
              <a:t>12</a:t>
            </a:r>
            <a:r>
              <a:rPr lang="en-IN" b="0" i="0" dirty="0">
                <a:solidFill>
                  <a:srgbClr val="000000"/>
                </a:solidFill>
                <a:effectLst/>
                <a:highlight>
                  <a:srgbClr val="FFFFFF"/>
                </a:highlight>
                <a:latin typeface="Consolas" panose="020B0609020204030204" pitchFamily="49" charset="0"/>
              </a:rPr>
              <a:t>])</a:t>
            </a:r>
            <a:br>
              <a:rPr lang="en-IN" dirty="0"/>
            </a:br>
            <a:r>
              <a:rPr lang="en-IN" b="0" i="0" dirty="0" err="1">
                <a:solidFill>
                  <a:srgbClr val="000000"/>
                </a:solidFill>
                <a:effectLst/>
                <a:highlight>
                  <a:srgbClr val="FFFFFF"/>
                </a:highlight>
                <a:latin typeface="Consolas" panose="020B0609020204030204" pitchFamily="49" charset="0"/>
              </a:rPr>
              <a:t>newarr</a:t>
            </a:r>
            <a:r>
              <a:rPr lang="en-IN" b="0" i="0" dirty="0">
                <a:solidFill>
                  <a:srgbClr val="000000"/>
                </a:solidFill>
                <a:effectLst/>
                <a:highlight>
                  <a:srgbClr val="FFFFFF"/>
                </a:highlight>
                <a:latin typeface="Consolas" panose="020B0609020204030204" pitchFamily="49" charset="0"/>
              </a:rPr>
              <a:t> = </a:t>
            </a:r>
            <a:r>
              <a:rPr lang="en-IN" b="0" i="0" dirty="0" err="1">
                <a:solidFill>
                  <a:srgbClr val="000000"/>
                </a:solidFill>
                <a:effectLst/>
                <a:highlight>
                  <a:srgbClr val="FFFFFF"/>
                </a:highlight>
                <a:latin typeface="Consolas" panose="020B0609020204030204" pitchFamily="49" charset="0"/>
              </a:rPr>
              <a:t>arr.reshape</a:t>
            </a:r>
            <a:r>
              <a:rPr lang="en-IN" b="0" i="0" dirty="0">
                <a:solidFill>
                  <a:srgbClr val="000000"/>
                </a:solidFill>
                <a:effectLst/>
                <a:highlight>
                  <a:srgbClr val="FFFFFF"/>
                </a:highlight>
                <a:latin typeface="Consolas" panose="020B0609020204030204" pitchFamily="49" charset="0"/>
              </a:rPr>
              <a:t>(</a:t>
            </a:r>
            <a:r>
              <a:rPr lang="en-IN" b="0" i="0" dirty="0">
                <a:solidFill>
                  <a:srgbClr val="FF0000"/>
                </a:solidFill>
                <a:effectLst/>
                <a:highlight>
                  <a:srgbClr val="FFFFFF"/>
                </a:highlight>
                <a:latin typeface="Consolas" panose="020B0609020204030204" pitchFamily="49" charset="0"/>
              </a:rPr>
              <a:t>2</a:t>
            </a:r>
            <a:r>
              <a:rPr lang="en-IN" b="0" i="0" dirty="0">
                <a:solidFill>
                  <a:srgbClr val="000000"/>
                </a:solidFill>
                <a:effectLst/>
                <a:highlight>
                  <a:srgbClr val="FFFFFF"/>
                </a:highlight>
                <a:latin typeface="Consolas" panose="020B0609020204030204" pitchFamily="49" charset="0"/>
              </a:rPr>
              <a:t>, </a:t>
            </a:r>
            <a:r>
              <a:rPr lang="en-IN" b="0" i="0" dirty="0">
                <a:solidFill>
                  <a:srgbClr val="FF0000"/>
                </a:solidFill>
                <a:effectLst/>
                <a:highlight>
                  <a:srgbClr val="FFFFFF"/>
                </a:highlight>
                <a:latin typeface="Consolas" panose="020B0609020204030204" pitchFamily="49" charset="0"/>
              </a:rPr>
              <a:t>3</a:t>
            </a:r>
            <a:r>
              <a:rPr lang="en-IN" b="0" i="0" dirty="0">
                <a:solidFill>
                  <a:srgbClr val="000000"/>
                </a:solidFill>
                <a:effectLst/>
                <a:highlight>
                  <a:srgbClr val="FFFFFF"/>
                </a:highlight>
                <a:latin typeface="Consolas" panose="020B0609020204030204" pitchFamily="49" charset="0"/>
              </a:rPr>
              <a:t>, </a:t>
            </a:r>
            <a:r>
              <a:rPr lang="en-IN" b="0" i="0" dirty="0">
                <a:solidFill>
                  <a:srgbClr val="FF0000"/>
                </a:solidFill>
                <a:effectLst/>
                <a:highlight>
                  <a:srgbClr val="FFFFFF"/>
                </a:highlight>
                <a:latin typeface="Consolas" panose="020B0609020204030204" pitchFamily="49" charset="0"/>
              </a:rPr>
              <a:t>2</a:t>
            </a:r>
            <a:r>
              <a:rPr lang="en-IN" b="0" i="0" dirty="0">
                <a:solidFill>
                  <a:srgbClr val="000000"/>
                </a:solidFill>
                <a:effectLst/>
                <a:highlight>
                  <a:srgbClr val="FFFFFF"/>
                </a:highlight>
                <a:latin typeface="Consolas" panose="020B0609020204030204" pitchFamily="49" charset="0"/>
              </a:rPr>
              <a:t>)</a:t>
            </a:r>
            <a:br>
              <a:rPr lang="en-IN" dirty="0"/>
            </a:br>
            <a:r>
              <a:rPr lang="en-IN" b="0" i="0" dirty="0">
                <a:solidFill>
                  <a:srgbClr val="0000CD"/>
                </a:solidFill>
                <a:effectLst/>
                <a:highlight>
                  <a:srgbClr val="FFFFFF"/>
                </a:highlight>
                <a:latin typeface="Consolas" panose="020B0609020204030204" pitchFamily="49" charset="0"/>
              </a:rPr>
              <a:t>print</a:t>
            </a:r>
            <a:r>
              <a:rPr lang="en-IN" b="0" i="0" dirty="0">
                <a:solidFill>
                  <a:srgbClr val="000000"/>
                </a:solidFill>
                <a:effectLst/>
                <a:highlight>
                  <a:srgbClr val="FFFFFF"/>
                </a:highlight>
                <a:latin typeface="Consolas" panose="020B0609020204030204" pitchFamily="49" charset="0"/>
              </a:rPr>
              <a:t>(</a:t>
            </a:r>
            <a:r>
              <a:rPr lang="en-IN" b="0" i="0" dirty="0" err="1">
                <a:solidFill>
                  <a:srgbClr val="000000"/>
                </a:solidFill>
                <a:effectLst/>
                <a:highlight>
                  <a:srgbClr val="FFFFFF"/>
                </a:highlight>
                <a:latin typeface="Consolas" panose="020B0609020204030204" pitchFamily="49" charset="0"/>
              </a:rPr>
              <a:t>newarr</a:t>
            </a:r>
            <a:r>
              <a:rPr lang="en-IN" b="0" i="0" dirty="0">
                <a:solidFill>
                  <a:srgbClr val="000000"/>
                </a:solidFill>
                <a:effectLst/>
                <a:highlight>
                  <a:srgbClr val="FFFFFF"/>
                </a:highlight>
                <a:latin typeface="Consolas" panose="020B0609020204030204" pitchFamily="49" charset="0"/>
              </a:rPr>
              <a:t>)</a:t>
            </a:r>
          </a:p>
          <a:p>
            <a:endParaRPr lang="en-IN" dirty="0">
              <a:solidFill>
                <a:srgbClr val="000000"/>
              </a:solidFill>
              <a:highlight>
                <a:srgbClr val="FFFFFF"/>
              </a:highlight>
              <a:latin typeface="Consolas" panose="020B0609020204030204" pitchFamily="49" charset="0"/>
            </a:endParaRPr>
          </a:p>
          <a:p>
            <a:r>
              <a:rPr lang="en-IN" b="1" dirty="0">
                <a:solidFill>
                  <a:srgbClr val="000000"/>
                </a:solidFill>
                <a:highlight>
                  <a:srgbClr val="FFFFFF"/>
                </a:highlight>
                <a:latin typeface="Consolas" panose="020B0609020204030204" pitchFamily="49" charset="0"/>
              </a:rPr>
              <a:t>Output:</a:t>
            </a:r>
          </a:p>
          <a:p>
            <a:r>
              <a:rPr lang="en-IN" dirty="0"/>
              <a:t>[[[ 1  2]</a:t>
            </a:r>
          </a:p>
          <a:p>
            <a:r>
              <a:rPr lang="en-IN" dirty="0"/>
              <a:t>  [ 3  4]</a:t>
            </a:r>
          </a:p>
          <a:p>
            <a:r>
              <a:rPr lang="en-IN" dirty="0"/>
              <a:t>  [ 5  6]]</a:t>
            </a:r>
          </a:p>
          <a:p>
            <a:endParaRPr lang="en-IN" dirty="0"/>
          </a:p>
          <a:p>
            <a:r>
              <a:rPr lang="en-IN" dirty="0"/>
              <a:t> [[ 7  8]</a:t>
            </a:r>
          </a:p>
          <a:p>
            <a:r>
              <a:rPr lang="en-IN" dirty="0"/>
              <a:t>  [ 9 10]</a:t>
            </a:r>
          </a:p>
          <a:p>
            <a:r>
              <a:rPr lang="en-IN" dirty="0"/>
              <a:t>  [11 12]]]</a:t>
            </a:r>
          </a:p>
        </p:txBody>
      </p:sp>
    </p:spTree>
    <p:extLst>
      <p:ext uri="{BB962C8B-B14F-4D97-AF65-F5344CB8AC3E}">
        <p14:creationId xmlns:p14="http://schemas.microsoft.com/office/powerpoint/2010/main" val="1054622075"/>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Table 8">
            <a:extLst>
              <a:ext uri="{FF2B5EF4-FFF2-40B4-BE49-F238E27FC236}">
                <a16:creationId xmlns:a16="http://schemas.microsoft.com/office/drawing/2014/main" id="{0B6EC464-4750-5FF3-7A5A-15612BA6E293}"/>
              </a:ext>
            </a:extLst>
          </p:cNvPr>
          <p:cNvGraphicFramePr>
            <a:graphicFrameLocks noGrp="1"/>
          </p:cNvGraphicFramePr>
          <p:nvPr/>
        </p:nvGraphicFramePr>
        <p:xfrm>
          <a:off x="0" y="23812"/>
          <a:ext cx="12192000" cy="465287"/>
        </p:xfrm>
        <a:graphic>
          <a:graphicData uri="http://schemas.openxmlformats.org/drawingml/2006/table">
            <a:tbl>
              <a:tblPr firstRow="1" bandRow="1">
                <a:tableStyleId>{5C22544A-7EE6-4342-B048-85BDC9FD1C3A}</a:tableStyleId>
              </a:tblPr>
              <a:tblGrid>
                <a:gridCol w="6092042">
                  <a:extLst>
                    <a:ext uri="{9D8B030D-6E8A-4147-A177-3AD203B41FA5}">
                      <a16:colId xmlns:a16="http://schemas.microsoft.com/office/drawing/2014/main" val="2179694530"/>
                    </a:ext>
                  </a:extLst>
                </a:gridCol>
                <a:gridCol w="6099958">
                  <a:extLst>
                    <a:ext uri="{9D8B030D-6E8A-4147-A177-3AD203B41FA5}">
                      <a16:colId xmlns:a16="http://schemas.microsoft.com/office/drawing/2014/main" val="2768207918"/>
                    </a:ext>
                  </a:extLst>
                </a:gridCol>
              </a:tblGrid>
              <a:tr h="465287">
                <a:tc>
                  <a:txBody>
                    <a:bodyPr/>
                    <a:lstStyle/>
                    <a:p>
                      <a:endParaRPr lang="en-US" dirty="0"/>
                    </a:p>
                  </a:txBody>
                  <a:tcPr>
                    <a:solidFill>
                      <a:srgbClr val="FF85FF"/>
                    </a:solidFill>
                  </a:tcPr>
                </a:tc>
                <a:tc>
                  <a:txBody>
                    <a:bodyPr/>
                    <a:lstStyle/>
                    <a:p>
                      <a:endParaRPr lang="en-US" dirty="0"/>
                    </a:p>
                  </a:txBody>
                  <a:tcPr>
                    <a:solidFill>
                      <a:srgbClr val="FFFF00"/>
                    </a:solidFill>
                  </a:tcPr>
                </a:tc>
                <a:extLst>
                  <a:ext uri="{0D108BD9-81ED-4DB2-BD59-A6C34878D82A}">
                    <a16:rowId xmlns:a16="http://schemas.microsoft.com/office/drawing/2014/main" val="1996944423"/>
                  </a:ext>
                </a:extLst>
              </a:tr>
            </a:tbl>
          </a:graphicData>
        </a:graphic>
      </p:graphicFrame>
      <p:graphicFrame>
        <p:nvGraphicFramePr>
          <p:cNvPr id="10" name="Table 9">
            <a:extLst>
              <a:ext uri="{FF2B5EF4-FFF2-40B4-BE49-F238E27FC236}">
                <a16:creationId xmlns:a16="http://schemas.microsoft.com/office/drawing/2014/main" id="{494BAFB7-FE1F-E1A9-7A6C-AB4145BD9BA1}"/>
              </a:ext>
            </a:extLst>
          </p:cNvPr>
          <p:cNvGraphicFramePr>
            <a:graphicFrameLocks noGrp="1"/>
          </p:cNvGraphicFramePr>
          <p:nvPr>
            <p:extLst>
              <p:ext uri="{D42A27DB-BD31-4B8C-83A1-F6EECF244321}">
                <p14:modId xmlns:p14="http://schemas.microsoft.com/office/powerpoint/2010/main" val="1539163063"/>
              </p:ext>
            </p:extLst>
          </p:nvPr>
        </p:nvGraphicFramePr>
        <p:xfrm>
          <a:off x="1" y="6478892"/>
          <a:ext cx="12191999" cy="370840"/>
        </p:xfrm>
        <a:graphic>
          <a:graphicData uri="http://schemas.openxmlformats.org/drawingml/2006/table">
            <a:tbl>
              <a:tblPr firstRow="1" bandRow="1">
                <a:tableStyleId>{5C22544A-7EE6-4342-B048-85BDC9FD1C3A}</a:tableStyleId>
              </a:tblPr>
              <a:tblGrid>
                <a:gridCol w="6080165">
                  <a:extLst>
                    <a:ext uri="{9D8B030D-6E8A-4147-A177-3AD203B41FA5}">
                      <a16:colId xmlns:a16="http://schemas.microsoft.com/office/drawing/2014/main" val="2179694530"/>
                    </a:ext>
                  </a:extLst>
                </a:gridCol>
                <a:gridCol w="6111834">
                  <a:extLst>
                    <a:ext uri="{9D8B030D-6E8A-4147-A177-3AD203B41FA5}">
                      <a16:colId xmlns:a16="http://schemas.microsoft.com/office/drawing/2014/main" val="2768207918"/>
                    </a:ext>
                  </a:extLst>
                </a:gridCol>
              </a:tblGrid>
              <a:tr h="370840">
                <a:tc>
                  <a:txBody>
                    <a:bodyPr/>
                    <a:lstStyle/>
                    <a:p>
                      <a:endParaRPr lang="en-US" dirty="0"/>
                    </a:p>
                  </a:txBody>
                  <a:tcPr>
                    <a:solidFill>
                      <a:srgbClr val="FFFF00"/>
                    </a:solidFill>
                  </a:tcPr>
                </a:tc>
                <a:tc>
                  <a:txBody>
                    <a:bodyPr/>
                    <a:lstStyle/>
                    <a:p>
                      <a:pPr algn="r"/>
                      <a:r>
                        <a:rPr lang="en-US" dirty="0">
                          <a:solidFill>
                            <a:schemeClr val="tx1"/>
                          </a:solidFill>
                        </a:rPr>
                        <a:t>77</a:t>
                      </a:r>
                    </a:p>
                  </a:txBody>
                  <a:tcPr>
                    <a:solidFill>
                      <a:srgbClr val="FF85FF"/>
                    </a:solidFill>
                  </a:tcPr>
                </a:tc>
                <a:extLst>
                  <a:ext uri="{0D108BD9-81ED-4DB2-BD59-A6C34878D82A}">
                    <a16:rowId xmlns:a16="http://schemas.microsoft.com/office/drawing/2014/main" val="1996944423"/>
                  </a:ext>
                </a:extLst>
              </a:tr>
            </a:tbl>
          </a:graphicData>
        </a:graphic>
      </p:graphicFrame>
      <p:pic>
        <p:nvPicPr>
          <p:cNvPr id="12" name="Google Shape;187;p25" descr="pngfind.com-kingpin-png-4152286 (1).png">
            <a:extLst>
              <a:ext uri="{FF2B5EF4-FFF2-40B4-BE49-F238E27FC236}">
                <a16:creationId xmlns:a16="http://schemas.microsoft.com/office/drawing/2014/main" id="{2DBF2481-A2DB-F96E-5749-B03DC4F71665}"/>
              </a:ext>
            </a:extLst>
          </p:cNvPr>
          <p:cNvPicPr preferRelativeResize="0"/>
          <p:nvPr/>
        </p:nvPicPr>
        <p:blipFill rotWithShape="1">
          <a:blip r:embed="rId2">
            <a:alphaModFix/>
          </a:blip>
          <a:srcRect/>
          <a:stretch/>
        </p:blipFill>
        <p:spPr>
          <a:xfrm>
            <a:off x="11044052" y="8268"/>
            <a:ext cx="1051261" cy="465287"/>
          </a:xfrm>
          <a:prstGeom prst="rect">
            <a:avLst/>
          </a:prstGeom>
          <a:noFill/>
          <a:ln>
            <a:noFill/>
          </a:ln>
        </p:spPr>
      </p:pic>
      <p:sp>
        <p:nvSpPr>
          <p:cNvPr id="19" name="Rectangle 18">
            <a:extLst>
              <a:ext uri="{FF2B5EF4-FFF2-40B4-BE49-F238E27FC236}">
                <a16:creationId xmlns:a16="http://schemas.microsoft.com/office/drawing/2014/main" id="{A0702E37-2E7E-7262-5E76-F69A817105B3}"/>
              </a:ext>
            </a:extLst>
          </p:cNvPr>
          <p:cNvSpPr/>
          <p:nvPr/>
        </p:nvSpPr>
        <p:spPr>
          <a:xfrm>
            <a:off x="0" y="8268"/>
            <a:ext cx="12192000" cy="6825920"/>
          </a:xfrm>
          <a:prstGeom prst="rect">
            <a:avLst/>
          </a:prstGeom>
          <a:noFill/>
          <a:ln w="38100">
            <a:solidFill>
              <a:srgbClr val="0432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DCB2A3F0-9003-5886-09B4-27925BBE4000}"/>
              </a:ext>
            </a:extLst>
          </p:cNvPr>
          <p:cNvSpPr txBox="1"/>
          <p:nvPr/>
        </p:nvSpPr>
        <p:spPr>
          <a:xfrm>
            <a:off x="0" y="873851"/>
            <a:ext cx="12191999" cy="646331"/>
          </a:xfrm>
          <a:prstGeom prst="rect">
            <a:avLst/>
          </a:prstGeom>
          <a:noFill/>
        </p:spPr>
        <p:txBody>
          <a:bodyPr wrap="square">
            <a:spAutoFit/>
          </a:bodyPr>
          <a:lstStyle/>
          <a:p>
            <a:pPr algn="ctr"/>
            <a:r>
              <a:rPr lang="en-US" sz="3600" b="1" dirty="0">
                <a:effectLst/>
                <a:latin typeface="Calibri" panose="020F0502020204030204" pitchFamily="34" charset="0"/>
                <a:ea typeface="Calibri" panose="020F0502020204030204" pitchFamily="34" charset="0"/>
                <a:cs typeface="Calibri" panose="020F0502020204030204" pitchFamily="34" charset="0"/>
              </a:rPr>
              <a:t>Arrays shape Manipulation</a:t>
            </a:r>
            <a:endParaRPr lang="en-US" sz="3600" b="1" dirty="0">
              <a:latin typeface="Calibri" panose="020F0502020204030204" pitchFamily="34" charset="0"/>
              <a:ea typeface="Calibri" panose="020F0502020204030204" pitchFamily="34" charset="0"/>
              <a:cs typeface="Calibri" panose="020F0502020204030204" pitchFamily="34" charset="0"/>
            </a:endParaRPr>
          </a:p>
        </p:txBody>
      </p:sp>
      <p:sp>
        <p:nvSpPr>
          <p:cNvPr id="8" name="TextBox 7">
            <a:extLst>
              <a:ext uri="{FF2B5EF4-FFF2-40B4-BE49-F238E27FC236}">
                <a16:creationId xmlns:a16="http://schemas.microsoft.com/office/drawing/2014/main" id="{1D27C92B-CB57-11B4-D725-334A447A4F66}"/>
              </a:ext>
            </a:extLst>
          </p:cNvPr>
          <p:cNvSpPr txBox="1"/>
          <p:nvPr/>
        </p:nvSpPr>
        <p:spPr>
          <a:xfrm>
            <a:off x="596347" y="1668774"/>
            <a:ext cx="10614991" cy="880369"/>
          </a:xfrm>
          <a:prstGeom prst="rect">
            <a:avLst/>
          </a:prstGeom>
          <a:noFill/>
        </p:spPr>
        <p:txBody>
          <a:bodyPr wrap="square">
            <a:spAutoFit/>
          </a:bodyPr>
          <a:lstStyle/>
          <a:p>
            <a:pPr>
              <a:lnSpc>
                <a:spcPct val="150000"/>
              </a:lnSpc>
            </a:pPr>
            <a:r>
              <a:rPr lang="en-US" b="1" dirty="0">
                <a:latin typeface="Calibri" panose="020F0502020204030204" pitchFamily="34" charset="0"/>
                <a:ea typeface="Calibri" panose="020F0502020204030204" pitchFamily="34" charset="0"/>
                <a:cs typeface="Calibri" panose="020F0502020204030204" pitchFamily="34" charset="0"/>
              </a:rPr>
              <a:t>Flattening the arrays:</a:t>
            </a:r>
            <a:r>
              <a:rPr lang="en-US" dirty="0">
                <a:latin typeface="Calibri" panose="020F0502020204030204" pitchFamily="34" charset="0"/>
                <a:ea typeface="Calibri" panose="020F0502020204030204" pitchFamily="34" charset="0"/>
                <a:cs typeface="Calibri" panose="020F0502020204030204" pitchFamily="34" charset="0"/>
              </a:rPr>
              <a:t> converting a multidimensional array into a 1D array.</a:t>
            </a:r>
          </a:p>
          <a:p>
            <a:pPr marL="285750" indent="-285750">
              <a:lnSpc>
                <a:spcPct val="150000"/>
              </a:lnSpc>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We can use reshape(-1) to do this.</a:t>
            </a:r>
          </a:p>
        </p:txBody>
      </p:sp>
      <p:sp>
        <p:nvSpPr>
          <p:cNvPr id="14" name="TextBox 13">
            <a:extLst>
              <a:ext uri="{FF2B5EF4-FFF2-40B4-BE49-F238E27FC236}">
                <a16:creationId xmlns:a16="http://schemas.microsoft.com/office/drawing/2014/main" id="{AFC35A2C-34A9-1563-F944-B52BBD61E7B7}"/>
              </a:ext>
            </a:extLst>
          </p:cNvPr>
          <p:cNvSpPr txBox="1"/>
          <p:nvPr/>
        </p:nvSpPr>
        <p:spPr>
          <a:xfrm>
            <a:off x="2493064" y="3018198"/>
            <a:ext cx="7205869" cy="2031325"/>
          </a:xfrm>
          <a:prstGeom prst="rect">
            <a:avLst/>
          </a:prstGeom>
          <a:noFill/>
          <a:ln w="6350">
            <a:solidFill>
              <a:schemeClr val="tx1"/>
            </a:solidFill>
          </a:ln>
        </p:spPr>
        <p:txBody>
          <a:bodyPr wrap="square">
            <a:spAutoFit/>
          </a:bodyPr>
          <a:lstStyle/>
          <a:p>
            <a:r>
              <a:rPr lang="en-IN" b="0" i="0" dirty="0">
                <a:solidFill>
                  <a:srgbClr val="0000CD"/>
                </a:solidFill>
                <a:effectLst/>
                <a:highlight>
                  <a:srgbClr val="FFFFFF"/>
                </a:highlight>
                <a:latin typeface="Consolas" panose="020B0609020204030204" pitchFamily="49" charset="0"/>
              </a:rPr>
              <a:t>import</a:t>
            </a:r>
            <a:r>
              <a:rPr lang="en-IN" b="0" i="0" dirty="0">
                <a:solidFill>
                  <a:srgbClr val="000000"/>
                </a:solidFill>
                <a:effectLst/>
                <a:highlight>
                  <a:srgbClr val="FFFFFF"/>
                </a:highlight>
                <a:latin typeface="Consolas" panose="020B0609020204030204" pitchFamily="49" charset="0"/>
              </a:rPr>
              <a:t> </a:t>
            </a:r>
            <a:r>
              <a:rPr lang="en-IN" b="0" i="0" dirty="0" err="1">
                <a:solidFill>
                  <a:srgbClr val="000000"/>
                </a:solidFill>
                <a:effectLst/>
                <a:highlight>
                  <a:srgbClr val="FFFFFF"/>
                </a:highlight>
                <a:latin typeface="Consolas" panose="020B0609020204030204" pitchFamily="49" charset="0"/>
              </a:rPr>
              <a:t>numpy</a:t>
            </a:r>
            <a:r>
              <a:rPr lang="en-IN" b="0" i="0" dirty="0">
                <a:solidFill>
                  <a:srgbClr val="000000"/>
                </a:solidFill>
                <a:effectLst/>
                <a:highlight>
                  <a:srgbClr val="FFFFFF"/>
                </a:highlight>
                <a:latin typeface="Consolas" panose="020B0609020204030204" pitchFamily="49" charset="0"/>
              </a:rPr>
              <a:t> </a:t>
            </a:r>
            <a:r>
              <a:rPr lang="en-IN" b="0" i="0" dirty="0">
                <a:solidFill>
                  <a:srgbClr val="0000CD"/>
                </a:solidFill>
                <a:effectLst/>
                <a:highlight>
                  <a:srgbClr val="FFFFFF"/>
                </a:highlight>
                <a:latin typeface="Consolas" panose="020B0609020204030204" pitchFamily="49" charset="0"/>
              </a:rPr>
              <a:t>as</a:t>
            </a:r>
            <a:r>
              <a:rPr lang="en-IN" b="0" i="0" dirty="0">
                <a:solidFill>
                  <a:srgbClr val="000000"/>
                </a:solidFill>
                <a:effectLst/>
                <a:highlight>
                  <a:srgbClr val="FFFFFF"/>
                </a:highlight>
                <a:latin typeface="Consolas" panose="020B0609020204030204" pitchFamily="49" charset="0"/>
              </a:rPr>
              <a:t> np</a:t>
            </a:r>
            <a:br>
              <a:rPr lang="en-IN" dirty="0"/>
            </a:br>
            <a:r>
              <a:rPr lang="en-IN" b="0" i="0" dirty="0" err="1">
                <a:solidFill>
                  <a:srgbClr val="000000"/>
                </a:solidFill>
                <a:effectLst/>
                <a:highlight>
                  <a:srgbClr val="FFFFFF"/>
                </a:highlight>
                <a:latin typeface="Consolas" panose="020B0609020204030204" pitchFamily="49" charset="0"/>
              </a:rPr>
              <a:t>arr</a:t>
            </a:r>
            <a:r>
              <a:rPr lang="en-IN" b="0" i="0" dirty="0">
                <a:solidFill>
                  <a:srgbClr val="000000"/>
                </a:solidFill>
                <a:effectLst/>
                <a:highlight>
                  <a:srgbClr val="FFFFFF"/>
                </a:highlight>
                <a:latin typeface="Consolas" panose="020B0609020204030204" pitchFamily="49" charset="0"/>
              </a:rPr>
              <a:t> = </a:t>
            </a:r>
            <a:r>
              <a:rPr lang="en-IN" b="0" i="0" dirty="0" err="1">
                <a:solidFill>
                  <a:srgbClr val="000000"/>
                </a:solidFill>
                <a:effectLst/>
                <a:highlight>
                  <a:srgbClr val="FFFFFF"/>
                </a:highlight>
                <a:latin typeface="Consolas" panose="020B0609020204030204" pitchFamily="49" charset="0"/>
              </a:rPr>
              <a:t>np.array</a:t>
            </a:r>
            <a:r>
              <a:rPr lang="en-IN" b="0" i="0" dirty="0">
                <a:solidFill>
                  <a:srgbClr val="000000"/>
                </a:solidFill>
                <a:effectLst/>
                <a:highlight>
                  <a:srgbClr val="FFFFFF"/>
                </a:highlight>
                <a:latin typeface="Consolas" panose="020B0609020204030204" pitchFamily="49" charset="0"/>
              </a:rPr>
              <a:t>([[</a:t>
            </a:r>
            <a:r>
              <a:rPr lang="en-IN" b="0" i="0" dirty="0">
                <a:solidFill>
                  <a:srgbClr val="FF0000"/>
                </a:solidFill>
                <a:effectLst/>
                <a:highlight>
                  <a:srgbClr val="FFFFFF"/>
                </a:highlight>
                <a:latin typeface="Consolas" panose="020B0609020204030204" pitchFamily="49" charset="0"/>
              </a:rPr>
              <a:t>1</a:t>
            </a:r>
            <a:r>
              <a:rPr lang="en-IN" b="0" i="0" dirty="0">
                <a:solidFill>
                  <a:srgbClr val="000000"/>
                </a:solidFill>
                <a:effectLst/>
                <a:highlight>
                  <a:srgbClr val="FFFFFF"/>
                </a:highlight>
                <a:latin typeface="Consolas" panose="020B0609020204030204" pitchFamily="49" charset="0"/>
              </a:rPr>
              <a:t>, </a:t>
            </a:r>
            <a:r>
              <a:rPr lang="en-IN" b="0" i="0" dirty="0">
                <a:solidFill>
                  <a:srgbClr val="FF0000"/>
                </a:solidFill>
                <a:effectLst/>
                <a:highlight>
                  <a:srgbClr val="FFFFFF"/>
                </a:highlight>
                <a:latin typeface="Consolas" panose="020B0609020204030204" pitchFamily="49" charset="0"/>
              </a:rPr>
              <a:t>2</a:t>
            </a:r>
            <a:r>
              <a:rPr lang="en-IN" b="0" i="0" dirty="0">
                <a:solidFill>
                  <a:srgbClr val="000000"/>
                </a:solidFill>
                <a:effectLst/>
                <a:highlight>
                  <a:srgbClr val="FFFFFF"/>
                </a:highlight>
                <a:latin typeface="Consolas" panose="020B0609020204030204" pitchFamily="49" charset="0"/>
              </a:rPr>
              <a:t>, </a:t>
            </a:r>
            <a:r>
              <a:rPr lang="en-IN" b="0" i="0" dirty="0">
                <a:solidFill>
                  <a:srgbClr val="FF0000"/>
                </a:solidFill>
                <a:effectLst/>
                <a:highlight>
                  <a:srgbClr val="FFFFFF"/>
                </a:highlight>
                <a:latin typeface="Consolas" panose="020B0609020204030204" pitchFamily="49" charset="0"/>
              </a:rPr>
              <a:t>3</a:t>
            </a:r>
            <a:r>
              <a:rPr lang="en-IN" b="0" i="0" dirty="0">
                <a:solidFill>
                  <a:srgbClr val="000000"/>
                </a:solidFill>
                <a:effectLst/>
                <a:highlight>
                  <a:srgbClr val="FFFFFF"/>
                </a:highlight>
                <a:latin typeface="Consolas" panose="020B0609020204030204" pitchFamily="49" charset="0"/>
              </a:rPr>
              <a:t>], [</a:t>
            </a:r>
            <a:r>
              <a:rPr lang="en-IN" b="0" i="0" dirty="0">
                <a:solidFill>
                  <a:srgbClr val="FF0000"/>
                </a:solidFill>
                <a:effectLst/>
                <a:highlight>
                  <a:srgbClr val="FFFFFF"/>
                </a:highlight>
                <a:latin typeface="Consolas" panose="020B0609020204030204" pitchFamily="49" charset="0"/>
              </a:rPr>
              <a:t>4</a:t>
            </a:r>
            <a:r>
              <a:rPr lang="en-IN" b="0" i="0" dirty="0">
                <a:solidFill>
                  <a:srgbClr val="000000"/>
                </a:solidFill>
                <a:effectLst/>
                <a:highlight>
                  <a:srgbClr val="FFFFFF"/>
                </a:highlight>
                <a:latin typeface="Consolas" panose="020B0609020204030204" pitchFamily="49" charset="0"/>
              </a:rPr>
              <a:t>, </a:t>
            </a:r>
            <a:r>
              <a:rPr lang="en-IN" b="0" i="0" dirty="0">
                <a:solidFill>
                  <a:srgbClr val="FF0000"/>
                </a:solidFill>
                <a:effectLst/>
                <a:highlight>
                  <a:srgbClr val="FFFFFF"/>
                </a:highlight>
                <a:latin typeface="Consolas" panose="020B0609020204030204" pitchFamily="49" charset="0"/>
              </a:rPr>
              <a:t>5</a:t>
            </a:r>
            <a:r>
              <a:rPr lang="en-IN" b="0" i="0" dirty="0">
                <a:solidFill>
                  <a:srgbClr val="000000"/>
                </a:solidFill>
                <a:effectLst/>
                <a:highlight>
                  <a:srgbClr val="FFFFFF"/>
                </a:highlight>
                <a:latin typeface="Consolas" panose="020B0609020204030204" pitchFamily="49" charset="0"/>
              </a:rPr>
              <a:t>, </a:t>
            </a:r>
            <a:r>
              <a:rPr lang="en-IN" b="0" i="0" dirty="0">
                <a:solidFill>
                  <a:srgbClr val="FF0000"/>
                </a:solidFill>
                <a:effectLst/>
                <a:highlight>
                  <a:srgbClr val="FFFFFF"/>
                </a:highlight>
                <a:latin typeface="Consolas" panose="020B0609020204030204" pitchFamily="49" charset="0"/>
              </a:rPr>
              <a:t>6</a:t>
            </a:r>
            <a:r>
              <a:rPr lang="en-IN" b="0" i="0" dirty="0">
                <a:solidFill>
                  <a:srgbClr val="000000"/>
                </a:solidFill>
                <a:effectLst/>
                <a:highlight>
                  <a:srgbClr val="FFFFFF"/>
                </a:highlight>
                <a:latin typeface="Consolas" panose="020B0609020204030204" pitchFamily="49" charset="0"/>
              </a:rPr>
              <a:t>]])</a:t>
            </a:r>
            <a:br>
              <a:rPr lang="en-IN" dirty="0"/>
            </a:br>
            <a:r>
              <a:rPr lang="en-IN" b="0" i="0" dirty="0" err="1">
                <a:solidFill>
                  <a:srgbClr val="000000"/>
                </a:solidFill>
                <a:effectLst/>
                <a:highlight>
                  <a:srgbClr val="FFFFFF"/>
                </a:highlight>
                <a:latin typeface="Consolas" panose="020B0609020204030204" pitchFamily="49" charset="0"/>
              </a:rPr>
              <a:t>newarr</a:t>
            </a:r>
            <a:r>
              <a:rPr lang="en-IN" b="0" i="0" dirty="0">
                <a:solidFill>
                  <a:srgbClr val="000000"/>
                </a:solidFill>
                <a:effectLst/>
                <a:highlight>
                  <a:srgbClr val="FFFFFF"/>
                </a:highlight>
                <a:latin typeface="Consolas" panose="020B0609020204030204" pitchFamily="49" charset="0"/>
              </a:rPr>
              <a:t> = </a:t>
            </a:r>
            <a:r>
              <a:rPr lang="en-IN" b="0" i="0" dirty="0" err="1">
                <a:solidFill>
                  <a:srgbClr val="000000"/>
                </a:solidFill>
                <a:effectLst/>
                <a:highlight>
                  <a:srgbClr val="FFFFFF"/>
                </a:highlight>
                <a:latin typeface="Consolas" panose="020B0609020204030204" pitchFamily="49" charset="0"/>
              </a:rPr>
              <a:t>arr.reshape</a:t>
            </a:r>
            <a:r>
              <a:rPr lang="en-IN" b="0" i="0" dirty="0">
                <a:solidFill>
                  <a:srgbClr val="000000"/>
                </a:solidFill>
                <a:effectLst/>
                <a:highlight>
                  <a:srgbClr val="FFFFFF"/>
                </a:highlight>
                <a:latin typeface="Consolas" panose="020B0609020204030204" pitchFamily="49" charset="0"/>
              </a:rPr>
              <a:t>(-</a:t>
            </a:r>
            <a:r>
              <a:rPr lang="en-IN" b="0" i="0" dirty="0">
                <a:solidFill>
                  <a:srgbClr val="FF0000"/>
                </a:solidFill>
                <a:effectLst/>
                <a:highlight>
                  <a:srgbClr val="FFFFFF"/>
                </a:highlight>
                <a:latin typeface="Consolas" panose="020B0609020204030204" pitchFamily="49" charset="0"/>
              </a:rPr>
              <a:t>1</a:t>
            </a:r>
            <a:r>
              <a:rPr lang="en-IN" b="0" i="0" dirty="0">
                <a:solidFill>
                  <a:srgbClr val="000000"/>
                </a:solidFill>
                <a:effectLst/>
                <a:highlight>
                  <a:srgbClr val="FFFFFF"/>
                </a:highlight>
                <a:latin typeface="Consolas" panose="020B0609020204030204" pitchFamily="49" charset="0"/>
              </a:rPr>
              <a:t>)</a:t>
            </a:r>
            <a:br>
              <a:rPr lang="en-IN" dirty="0"/>
            </a:br>
            <a:r>
              <a:rPr lang="en-IN" b="0" i="0" dirty="0">
                <a:solidFill>
                  <a:srgbClr val="0000CD"/>
                </a:solidFill>
                <a:effectLst/>
                <a:highlight>
                  <a:srgbClr val="FFFFFF"/>
                </a:highlight>
                <a:latin typeface="Consolas" panose="020B0609020204030204" pitchFamily="49" charset="0"/>
              </a:rPr>
              <a:t>print</a:t>
            </a:r>
            <a:r>
              <a:rPr lang="en-IN" b="0" i="0" dirty="0">
                <a:solidFill>
                  <a:srgbClr val="000000"/>
                </a:solidFill>
                <a:effectLst/>
                <a:highlight>
                  <a:srgbClr val="FFFFFF"/>
                </a:highlight>
                <a:latin typeface="Consolas" panose="020B0609020204030204" pitchFamily="49" charset="0"/>
              </a:rPr>
              <a:t>(</a:t>
            </a:r>
            <a:r>
              <a:rPr lang="en-IN" b="0" i="0" dirty="0" err="1">
                <a:solidFill>
                  <a:srgbClr val="000000"/>
                </a:solidFill>
                <a:effectLst/>
                <a:highlight>
                  <a:srgbClr val="FFFFFF"/>
                </a:highlight>
                <a:latin typeface="Consolas" panose="020B0609020204030204" pitchFamily="49" charset="0"/>
              </a:rPr>
              <a:t>newarr</a:t>
            </a:r>
            <a:r>
              <a:rPr lang="en-IN" b="0" i="0" dirty="0">
                <a:solidFill>
                  <a:srgbClr val="000000"/>
                </a:solidFill>
                <a:effectLst/>
                <a:highlight>
                  <a:srgbClr val="FFFFFF"/>
                </a:highlight>
                <a:latin typeface="Consolas" panose="020B0609020204030204" pitchFamily="49" charset="0"/>
              </a:rPr>
              <a:t>)</a:t>
            </a:r>
          </a:p>
          <a:p>
            <a:endParaRPr lang="en-IN" dirty="0">
              <a:solidFill>
                <a:srgbClr val="000000"/>
              </a:solidFill>
              <a:highlight>
                <a:srgbClr val="FFFFFF"/>
              </a:highlight>
              <a:latin typeface="Consolas" panose="020B0609020204030204" pitchFamily="49" charset="0"/>
            </a:endParaRPr>
          </a:p>
          <a:p>
            <a:r>
              <a:rPr lang="en-IN" b="1" dirty="0">
                <a:solidFill>
                  <a:srgbClr val="000000"/>
                </a:solidFill>
                <a:highlight>
                  <a:srgbClr val="FFFFFF"/>
                </a:highlight>
                <a:latin typeface="Consolas" panose="020B0609020204030204" pitchFamily="49" charset="0"/>
              </a:rPr>
              <a:t>Output:</a:t>
            </a:r>
          </a:p>
          <a:p>
            <a:r>
              <a:rPr lang="en-IN" dirty="0"/>
              <a:t>[1 2 3 4 5 6]</a:t>
            </a:r>
          </a:p>
        </p:txBody>
      </p:sp>
    </p:spTree>
    <p:extLst>
      <p:ext uri="{BB962C8B-B14F-4D97-AF65-F5344CB8AC3E}">
        <p14:creationId xmlns:p14="http://schemas.microsoft.com/office/powerpoint/2010/main" val="1647203502"/>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Table 8">
            <a:extLst>
              <a:ext uri="{FF2B5EF4-FFF2-40B4-BE49-F238E27FC236}">
                <a16:creationId xmlns:a16="http://schemas.microsoft.com/office/drawing/2014/main" id="{0B6EC464-4750-5FF3-7A5A-15612BA6E293}"/>
              </a:ext>
            </a:extLst>
          </p:cNvPr>
          <p:cNvGraphicFramePr>
            <a:graphicFrameLocks noGrp="1"/>
          </p:cNvGraphicFramePr>
          <p:nvPr/>
        </p:nvGraphicFramePr>
        <p:xfrm>
          <a:off x="0" y="23812"/>
          <a:ext cx="12192000" cy="465287"/>
        </p:xfrm>
        <a:graphic>
          <a:graphicData uri="http://schemas.openxmlformats.org/drawingml/2006/table">
            <a:tbl>
              <a:tblPr firstRow="1" bandRow="1">
                <a:tableStyleId>{5C22544A-7EE6-4342-B048-85BDC9FD1C3A}</a:tableStyleId>
              </a:tblPr>
              <a:tblGrid>
                <a:gridCol w="6092042">
                  <a:extLst>
                    <a:ext uri="{9D8B030D-6E8A-4147-A177-3AD203B41FA5}">
                      <a16:colId xmlns:a16="http://schemas.microsoft.com/office/drawing/2014/main" val="2179694530"/>
                    </a:ext>
                  </a:extLst>
                </a:gridCol>
                <a:gridCol w="6099958">
                  <a:extLst>
                    <a:ext uri="{9D8B030D-6E8A-4147-A177-3AD203B41FA5}">
                      <a16:colId xmlns:a16="http://schemas.microsoft.com/office/drawing/2014/main" val="2768207918"/>
                    </a:ext>
                  </a:extLst>
                </a:gridCol>
              </a:tblGrid>
              <a:tr h="465287">
                <a:tc>
                  <a:txBody>
                    <a:bodyPr/>
                    <a:lstStyle/>
                    <a:p>
                      <a:endParaRPr lang="en-US" dirty="0"/>
                    </a:p>
                  </a:txBody>
                  <a:tcPr>
                    <a:solidFill>
                      <a:srgbClr val="FF85FF"/>
                    </a:solidFill>
                  </a:tcPr>
                </a:tc>
                <a:tc>
                  <a:txBody>
                    <a:bodyPr/>
                    <a:lstStyle/>
                    <a:p>
                      <a:endParaRPr lang="en-US" dirty="0"/>
                    </a:p>
                  </a:txBody>
                  <a:tcPr>
                    <a:solidFill>
                      <a:srgbClr val="FFFF00"/>
                    </a:solidFill>
                  </a:tcPr>
                </a:tc>
                <a:extLst>
                  <a:ext uri="{0D108BD9-81ED-4DB2-BD59-A6C34878D82A}">
                    <a16:rowId xmlns:a16="http://schemas.microsoft.com/office/drawing/2014/main" val="1996944423"/>
                  </a:ext>
                </a:extLst>
              </a:tr>
            </a:tbl>
          </a:graphicData>
        </a:graphic>
      </p:graphicFrame>
      <p:graphicFrame>
        <p:nvGraphicFramePr>
          <p:cNvPr id="10" name="Table 9">
            <a:extLst>
              <a:ext uri="{FF2B5EF4-FFF2-40B4-BE49-F238E27FC236}">
                <a16:creationId xmlns:a16="http://schemas.microsoft.com/office/drawing/2014/main" id="{494BAFB7-FE1F-E1A9-7A6C-AB4145BD9BA1}"/>
              </a:ext>
            </a:extLst>
          </p:cNvPr>
          <p:cNvGraphicFramePr>
            <a:graphicFrameLocks noGrp="1"/>
          </p:cNvGraphicFramePr>
          <p:nvPr>
            <p:extLst>
              <p:ext uri="{D42A27DB-BD31-4B8C-83A1-F6EECF244321}">
                <p14:modId xmlns:p14="http://schemas.microsoft.com/office/powerpoint/2010/main" val="3041330964"/>
              </p:ext>
            </p:extLst>
          </p:nvPr>
        </p:nvGraphicFramePr>
        <p:xfrm>
          <a:off x="1" y="6478892"/>
          <a:ext cx="12191999" cy="370840"/>
        </p:xfrm>
        <a:graphic>
          <a:graphicData uri="http://schemas.openxmlformats.org/drawingml/2006/table">
            <a:tbl>
              <a:tblPr firstRow="1" bandRow="1">
                <a:tableStyleId>{5C22544A-7EE6-4342-B048-85BDC9FD1C3A}</a:tableStyleId>
              </a:tblPr>
              <a:tblGrid>
                <a:gridCol w="6080165">
                  <a:extLst>
                    <a:ext uri="{9D8B030D-6E8A-4147-A177-3AD203B41FA5}">
                      <a16:colId xmlns:a16="http://schemas.microsoft.com/office/drawing/2014/main" val="2179694530"/>
                    </a:ext>
                  </a:extLst>
                </a:gridCol>
                <a:gridCol w="6111834">
                  <a:extLst>
                    <a:ext uri="{9D8B030D-6E8A-4147-A177-3AD203B41FA5}">
                      <a16:colId xmlns:a16="http://schemas.microsoft.com/office/drawing/2014/main" val="2768207918"/>
                    </a:ext>
                  </a:extLst>
                </a:gridCol>
              </a:tblGrid>
              <a:tr h="370840">
                <a:tc>
                  <a:txBody>
                    <a:bodyPr/>
                    <a:lstStyle/>
                    <a:p>
                      <a:endParaRPr lang="en-US" dirty="0"/>
                    </a:p>
                  </a:txBody>
                  <a:tcPr>
                    <a:solidFill>
                      <a:srgbClr val="FFFF00"/>
                    </a:solidFill>
                  </a:tcPr>
                </a:tc>
                <a:tc>
                  <a:txBody>
                    <a:bodyPr/>
                    <a:lstStyle/>
                    <a:p>
                      <a:pPr algn="r"/>
                      <a:r>
                        <a:rPr lang="en-US" dirty="0">
                          <a:solidFill>
                            <a:schemeClr val="tx1"/>
                          </a:solidFill>
                        </a:rPr>
                        <a:t>78</a:t>
                      </a:r>
                    </a:p>
                  </a:txBody>
                  <a:tcPr>
                    <a:solidFill>
                      <a:srgbClr val="FF85FF"/>
                    </a:solidFill>
                  </a:tcPr>
                </a:tc>
                <a:extLst>
                  <a:ext uri="{0D108BD9-81ED-4DB2-BD59-A6C34878D82A}">
                    <a16:rowId xmlns:a16="http://schemas.microsoft.com/office/drawing/2014/main" val="1996944423"/>
                  </a:ext>
                </a:extLst>
              </a:tr>
            </a:tbl>
          </a:graphicData>
        </a:graphic>
      </p:graphicFrame>
      <p:pic>
        <p:nvPicPr>
          <p:cNvPr id="12" name="Google Shape;187;p25" descr="pngfind.com-kingpin-png-4152286 (1).png">
            <a:extLst>
              <a:ext uri="{FF2B5EF4-FFF2-40B4-BE49-F238E27FC236}">
                <a16:creationId xmlns:a16="http://schemas.microsoft.com/office/drawing/2014/main" id="{2DBF2481-A2DB-F96E-5749-B03DC4F71665}"/>
              </a:ext>
            </a:extLst>
          </p:cNvPr>
          <p:cNvPicPr preferRelativeResize="0"/>
          <p:nvPr/>
        </p:nvPicPr>
        <p:blipFill rotWithShape="1">
          <a:blip r:embed="rId2">
            <a:alphaModFix/>
          </a:blip>
          <a:srcRect/>
          <a:stretch/>
        </p:blipFill>
        <p:spPr>
          <a:xfrm>
            <a:off x="11044052" y="8268"/>
            <a:ext cx="1051261" cy="465287"/>
          </a:xfrm>
          <a:prstGeom prst="rect">
            <a:avLst/>
          </a:prstGeom>
          <a:noFill/>
          <a:ln>
            <a:noFill/>
          </a:ln>
        </p:spPr>
      </p:pic>
      <p:sp>
        <p:nvSpPr>
          <p:cNvPr id="19" name="Rectangle 18">
            <a:extLst>
              <a:ext uri="{FF2B5EF4-FFF2-40B4-BE49-F238E27FC236}">
                <a16:creationId xmlns:a16="http://schemas.microsoft.com/office/drawing/2014/main" id="{A0702E37-2E7E-7262-5E76-F69A817105B3}"/>
              </a:ext>
            </a:extLst>
          </p:cNvPr>
          <p:cNvSpPr/>
          <p:nvPr/>
        </p:nvSpPr>
        <p:spPr>
          <a:xfrm>
            <a:off x="0" y="8268"/>
            <a:ext cx="12192000" cy="6825920"/>
          </a:xfrm>
          <a:prstGeom prst="rect">
            <a:avLst/>
          </a:prstGeom>
          <a:noFill/>
          <a:ln w="38100">
            <a:solidFill>
              <a:srgbClr val="0432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DCB2A3F0-9003-5886-09B4-27925BBE4000}"/>
              </a:ext>
            </a:extLst>
          </p:cNvPr>
          <p:cNvSpPr txBox="1"/>
          <p:nvPr/>
        </p:nvSpPr>
        <p:spPr>
          <a:xfrm>
            <a:off x="0" y="873851"/>
            <a:ext cx="12191999" cy="646331"/>
          </a:xfrm>
          <a:prstGeom prst="rect">
            <a:avLst/>
          </a:prstGeom>
          <a:noFill/>
        </p:spPr>
        <p:txBody>
          <a:bodyPr wrap="square">
            <a:spAutoFit/>
          </a:bodyPr>
          <a:lstStyle/>
          <a:p>
            <a:pPr algn="ctr"/>
            <a:r>
              <a:rPr lang="en-US" sz="3600" b="1" dirty="0">
                <a:effectLst/>
                <a:latin typeface="Calibri" panose="020F0502020204030204" pitchFamily="34" charset="0"/>
                <a:ea typeface="Calibri" panose="020F0502020204030204" pitchFamily="34" charset="0"/>
                <a:cs typeface="Calibri" panose="020F0502020204030204" pitchFamily="34" charset="0"/>
              </a:rPr>
              <a:t>Identity Array</a:t>
            </a:r>
            <a:endParaRPr lang="en-US" sz="3600" b="1" dirty="0">
              <a:latin typeface="Calibri" panose="020F0502020204030204" pitchFamily="34" charset="0"/>
              <a:ea typeface="Calibri" panose="020F0502020204030204" pitchFamily="34" charset="0"/>
              <a:cs typeface="Calibri" panose="020F0502020204030204" pitchFamily="34" charset="0"/>
            </a:endParaRPr>
          </a:p>
        </p:txBody>
      </p:sp>
      <p:sp>
        <p:nvSpPr>
          <p:cNvPr id="8" name="TextBox 7">
            <a:extLst>
              <a:ext uri="{FF2B5EF4-FFF2-40B4-BE49-F238E27FC236}">
                <a16:creationId xmlns:a16="http://schemas.microsoft.com/office/drawing/2014/main" id="{1D27C92B-CB57-11B4-D725-334A447A4F66}"/>
              </a:ext>
            </a:extLst>
          </p:cNvPr>
          <p:cNvSpPr txBox="1"/>
          <p:nvPr/>
        </p:nvSpPr>
        <p:spPr>
          <a:xfrm>
            <a:off x="596347" y="1668774"/>
            <a:ext cx="10614991" cy="3373359"/>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US" b="0" i="0" dirty="0">
                <a:effectLst/>
                <a:highlight>
                  <a:srgbClr val="FFFFFF"/>
                </a:highlight>
                <a:latin typeface="Calibri" panose="020F0502020204030204" pitchFamily="34" charset="0"/>
                <a:ea typeface="Calibri" panose="020F0502020204030204" pitchFamily="34" charset="0"/>
                <a:cs typeface="Calibri" panose="020F0502020204030204" pitchFamily="34" charset="0"/>
              </a:rPr>
              <a:t>An identity matrix is a square matrix in which all the elements of the main diagonal are equal to 1 and all other elements are equal to 0.</a:t>
            </a:r>
          </a:p>
          <a:p>
            <a:pPr>
              <a:lnSpc>
                <a:spcPct val="150000"/>
              </a:lnSpc>
            </a:pPr>
            <a:r>
              <a:rPr lang="en-US" b="1" dirty="0">
                <a:latin typeface="Calibri" panose="020F0502020204030204" pitchFamily="34" charset="0"/>
                <a:ea typeface="Calibri" panose="020F0502020204030204" pitchFamily="34" charset="0"/>
                <a:cs typeface="Calibri" panose="020F0502020204030204" pitchFamily="34" charset="0"/>
              </a:rPr>
              <a:t>                Syntax: </a:t>
            </a:r>
            <a:r>
              <a:rPr lang="en-US" b="1" dirty="0" err="1">
                <a:latin typeface="Calibri" panose="020F0502020204030204" pitchFamily="34" charset="0"/>
                <a:ea typeface="Calibri" panose="020F0502020204030204" pitchFamily="34" charset="0"/>
                <a:cs typeface="Calibri" panose="020F0502020204030204" pitchFamily="34" charset="0"/>
              </a:rPr>
              <a:t>numpy.identity</a:t>
            </a:r>
            <a:r>
              <a:rPr lang="en-US" b="1" dirty="0">
                <a:latin typeface="Calibri" panose="020F0502020204030204" pitchFamily="34" charset="0"/>
                <a:ea typeface="Calibri" panose="020F0502020204030204" pitchFamily="34" charset="0"/>
                <a:cs typeface="Calibri" panose="020F0502020204030204" pitchFamily="34" charset="0"/>
              </a:rPr>
              <a:t>(n, </a:t>
            </a:r>
            <a:r>
              <a:rPr lang="en-US" b="1" dirty="0" err="1">
                <a:latin typeface="Calibri" panose="020F0502020204030204" pitchFamily="34" charset="0"/>
                <a:ea typeface="Calibri" panose="020F0502020204030204" pitchFamily="34" charset="0"/>
                <a:cs typeface="Calibri" panose="020F0502020204030204" pitchFamily="34" charset="0"/>
              </a:rPr>
              <a:t>dtype</a:t>
            </a:r>
            <a:r>
              <a:rPr lang="en-US" b="1" dirty="0">
                <a:latin typeface="Calibri" panose="020F0502020204030204" pitchFamily="34" charset="0"/>
                <a:ea typeface="Calibri" panose="020F0502020204030204" pitchFamily="34" charset="0"/>
                <a:cs typeface="Calibri" panose="020F0502020204030204" pitchFamily="34" charset="0"/>
              </a:rPr>
              <a:t>=None)</a:t>
            </a:r>
          </a:p>
          <a:p>
            <a:pPr marL="285750" indent="-285750">
              <a:lnSpc>
                <a:spcPct val="150000"/>
              </a:lnSpc>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n-</a:t>
            </a:r>
            <a:r>
              <a:rPr lang="en-US" b="0" i="0" dirty="0">
                <a:effectLst/>
                <a:highlight>
                  <a:srgbClr val="FFFFFF"/>
                </a:highlight>
                <a:latin typeface="Calibri" panose="020F0502020204030204" pitchFamily="34" charset="0"/>
                <a:ea typeface="Calibri" panose="020F0502020204030204" pitchFamily="34" charset="0"/>
                <a:cs typeface="Calibri" panose="020F0502020204030204" pitchFamily="34" charset="0"/>
              </a:rPr>
              <a:t>Number of rows (and columns) in n x n output.</a:t>
            </a:r>
          </a:p>
          <a:p>
            <a:pPr marL="285750" indent="-285750">
              <a:lnSpc>
                <a:spcPct val="150000"/>
              </a:lnSpc>
              <a:buFont typeface="Arial" panose="020B0604020202020204" pitchFamily="34" charset="0"/>
              <a:buChar char="•"/>
            </a:pPr>
            <a:r>
              <a:rPr lang="en-US" dirty="0" err="1">
                <a:highlight>
                  <a:srgbClr val="FFFFFF"/>
                </a:highlight>
                <a:latin typeface="Calibri" panose="020F0502020204030204" pitchFamily="34" charset="0"/>
                <a:ea typeface="Calibri" panose="020F0502020204030204" pitchFamily="34" charset="0"/>
                <a:cs typeface="Calibri" panose="020F0502020204030204" pitchFamily="34" charset="0"/>
              </a:rPr>
              <a:t>Dtype</a:t>
            </a:r>
            <a:r>
              <a:rPr lang="en-US" dirty="0">
                <a:highlight>
                  <a:srgbClr val="FFFFFF"/>
                </a:highlight>
                <a:latin typeface="Calibri" panose="020F0502020204030204" pitchFamily="34" charset="0"/>
                <a:ea typeface="Calibri" panose="020F0502020204030204" pitchFamily="34" charset="0"/>
                <a:cs typeface="Calibri" panose="020F0502020204030204" pitchFamily="34" charset="0"/>
              </a:rPr>
              <a:t>-</a:t>
            </a:r>
            <a:r>
              <a:rPr lang="en-US" b="0" i="0" dirty="0">
                <a:effectLst/>
                <a:highlight>
                  <a:srgbClr val="FFFFFF"/>
                </a:highlight>
                <a:latin typeface="Calibri" panose="020F0502020204030204" pitchFamily="34" charset="0"/>
                <a:ea typeface="Calibri" panose="020F0502020204030204" pitchFamily="34" charset="0"/>
                <a:cs typeface="Calibri" panose="020F0502020204030204" pitchFamily="34" charset="0"/>
              </a:rPr>
              <a:t>Data-type of the output. Defaults to float.</a:t>
            </a:r>
            <a:endParaRPr lang="en-US" dirty="0">
              <a:highlight>
                <a:srgbClr val="FFFFFF"/>
              </a:highlight>
              <a:latin typeface="Calibri" panose="020F0502020204030204" pitchFamily="34" charset="0"/>
              <a:ea typeface="Calibri" panose="020F0502020204030204" pitchFamily="34" charset="0"/>
              <a:cs typeface="Calibri" panose="020F0502020204030204" pitchFamily="34" charset="0"/>
            </a:endParaRPr>
          </a:p>
          <a:p>
            <a:pPr marL="285750" indent="-285750">
              <a:lnSpc>
                <a:spcPct val="150000"/>
              </a:lnSpc>
              <a:buFont typeface="Arial" panose="020B0604020202020204" pitchFamily="34" charset="0"/>
              <a:buChar char="•"/>
            </a:pPr>
            <a:endParaRPr lang="en-US" b="0" i="0" dirty="0">
              <a:effectLst/>
              <a:highlight>
                <a:srgbClr val="FFFFFF"/>
              </a:highlight>
              <a:latin typeface="Calibri" panose="020F0502020204030204" pitchFamily="34" charset="0"/>
              <a:ea typeface="Calibri" panose="020F0502020204030204" pitchFamily="34" charset="0"/>
              <a:cs typeface="Calibri" panose="020F0502020204030204" pitchFamily="34" charset="0"/>
            </a:endParaRPr>
          </a:p>
          <a:p>
            <a:pPr marL="285750" indent="-285750">
              <a:lnSpc>
                <a:spcPct val="150000"/>
              </a:lnSpc>
              <a:buFont typeface="Arial" panose="020B0604020202020204" pitchFamily="34" charset="0"/>
              <a:buChar char="•"/>
            </a:pPr>
            <a:endParaRPr lang="en-US" dirty="0">
              <a:latin typeface="Calibri" panose="020F0502020204030204" pitchFamily="34" charset="0"/>
              <a:ea typeface="Calibri" panose="020F0502020204030204" pitchFamily="34" charset="0"/>
              <a:cs typeface="Calibri" panose="020F0502020204030204" pitchFamily="34" charset="0"/>
            </a:endParaRPr>
          </a:p>
          <a:p>
            <a:pPr marL="285750" indent="-285750">
              <a:lnSpc>
                <a:spcPct val="150000"/>
              </a:lnSpc>
              <a:buFont typeface="Arial" panose="020B0604020202020204" pitchFamily="34" charset="0"/>
              <a:buChar char="•"/>
            </a:pPr>
            <a:endParaRPr lang="en-US" dirty="0">
              <a:latin typeface="Calibri" panose="020F0502020204030204" pitchFamily="34" charset="0"/>
              <a:ea typeface="Calibri" panose="020F0502020204030204" pitchFamily="34" charset="0"/>
              <a:cs typeface="Calibri" panose="020F0502020204030204" pitchFamily="34" charset="0"/>
            </a:endParaRPr>
          </a:p>
        </p:txBody>
      </p:sp>
      <p:sp>
        <p:nvSpPr>
          <p:cNvPr id="14" name="TextBox 13">
            <a:extLst>
              <a:ext uri="{FF2B5EF4-FFF2-40B4-BE49-F238E27FC236}">
                <a16:creationId xmlns:a16="http://schemas.microsoft.com/office/drawing/2014/main" id="{AFC35A2C-34A9-1563-F944-B52BBD61E7B7}"/>
              </a:ext>
            </a:extLst>
          </p:cNvPr>
          <p:cNvSpPr txBox="1"/>
          <p:nvPr/>
        </p:nvSpPr>
        <p:spPr>
          <a:xfrm>
            <a:off x="980662" y="4173459"/>
            <a:ext cx="2933701" cy="1754326"/>
          </a:xfrm>
          <a:prstGeom prst="rect">
            <a:avLst/>
          </a:prstGeom>
          <a:noFill/>
          <a:ln w="6350">
            <a:solidFill>
              <a:schemeClr val="tx1"/>
            </a:solidFill>
          </a:ln>
        </p:spPr>
        <p:txBody>
          <a:bodyPr wrap="square">
            <a:spAutoFit/>
          </a:bodyPr>
          <a:lstStyle/>
          <a:p>
            <a:r>
              <a:rPr lang="en-US" dirty="0">
                <a:solidFill>
                  <a:srgbClr val="0000CD"/>
                </a:solidFill>
                <a:highlight>
                  <a:srgbClr val="FFFFFF"/>
                </a:highlight>
                <a:latin typeface="Consolas" panose="020B0609020204030204" pitchFamily="49" charset="0"/>
              </a:rPr>
              <a:t>import</a:t>
            </a:r>
            <a:r>
              <a:rPr lang="en-US" b="0" i="0" dirty="0">
                <a:solidFill>
                  <a:srgbClr val="000000"/>
                </a:solidFill>
                <a:effectLst/>
                <a:highlight>
                  <a:srgbClr val="FDFDFD"/>
                </a:highlight>
                <a:latin typeface="Consolas" panose="020B0609020204030204" pitchFamily="49" charset="0"/>
              </a:rPr>
              <a:t> </a:t>
            </a:r>
            <a:r>
              <a:rPr lang="en-US" b="0" i="0" dirty="0" err="1">
                <a:solidFill>
                  <a:srgbClr val="000000"/>
                </a:solidFill>
                <a:effectLst/>
                <a:highlight>
                  <a:srgbClr val="FDFDFD"/>
                </a:highlight>
                <a:latin typeface="Consolas" panose="020B0609020204030204" pitchFamily="49" charset="0"/>
              </a:rPr>
              <a:t>numpy</a:t>
            </a:r>
            <a:r>
              <a:rPr lang="en-US" b="0" i="0" dirty="0">
                <a:solidFill>
                  <a:srgbClr val="000000"/>
                </a:solidFill>
                <a:effectLst/>
                <a:highlight>
                  <a:srgbClr val="FDFDFD"/>
                </a:highlight>
                <a:latin typeface="Consolas" panose="020B0609020204030204" pitchFamily="49" charset="0"/>
              </a:rPr>
              <a:t> </a:t>
            </a:r>
            <a:r>
              <a:rPr lang="en-US" dirty="0">
                <a:solidFill>
                  <a:srgbClr val="0000CD"/>
                </a:solidFill>
                <a:highlight>
                  <a:srgbClr val="FFFFFF"/>
                </a:highlight>
                <a:latin typeface="Consolas" panose="020B0609020204030204" pitchFamily="49" charset="0"/>
              </a:rPr>
              <a:t>as</a:t>
            </a:r>
            <a:r>
              <a:rPr lang="en-US" b="0" i="0" dirty="0">
                <a:solidFill>
                  <a:srgbClr val="000000"/>
                </a:solidFill>
                <a:effectLst/>
                <a:highlight>
                  <a:srgbClr val="FDFDFD"/>
                </a:highlight>
                <a:latin typeface="Consolas" panose="020B0609020204030204" pitchFamily="49" charset="0"/>
              </a:rPr>
              <a:t> np </a:t>
            </a:r>
          </a:p>
          <a:p>
            <a:r>
              <a:rPr lang="en-US" b="0" i="0" dirty="0" err="1">
                <a:solidFill>
                  <a:srgbClr val="000000"/>
                </a:solidFill>
                <a:effectLst/>
                <a:highlight>
                  <a:srgbClr val="FDFDFD"/>
                </a:highlight>
                <a:latin typeface="Consolas" panose="020B0609020204030204" pitchFamily="49" charset="0"/>
              </a:rPr>
              <a:t>np</a:t>
            </a:r>
            <a:r>
              <a:rPr lang="en-US" b="0" i="0" dirty="0" err="1">
                <a:solidFill>
                  <a:srgbClr val="5F6364"/>
                </a:solidFill>
                <a:effectLst/>
                <a:latin typeface="Consolas" panose="020B0609020204030204" pitchFamily="49" charset="0"/>
              </a:rPr>
              <a:t>.</a:t>
            </a:r>
            <a:r>
              <a:rPr lang="en-US" b="0" i="0" dirty="0" err="1">
                <a:solidFill>
                  <a:srgbClr val="000000"/>
                </a:solidFill>
                <a:effectLst/>
                <a:highlight>
                  <a:srgbClr val="FDFDFD"/>
                </a:highlight>
                <a:latin typeface="Consolas" panose="020B0609020204030204" pitchFamily="49" charset="0"/>
              </a:rPr>
              <a:t>identity</a:t>
            </a:r>
            <a:r>
              <a:rPr lang="en-US" b="0" i="0" dirty="0">
                <a:solidFill>
                  <a:srgbClr val="5F6364"/>
                </a:solidFill>
                <a:effectLst/>
                <a:latin typeface="Consolas" panose="020B0609020204030204" pitchFamily="49" charset="0"/>
              </a:rPr>
              <a:t>(</a:t>
            </a:r>
            <a:r>
              <a:rPr lang="en-US" b="0" i="0" dirty="0">
                <a:solidFill>
                  <a:srgbClr val="C92C2C"/>
                </a:solidFill>
                <a:effectLst/>
                <a:latin typeface="Consolas" panose="020B0609020204030204" pitchFamily="49" charset="0"/>
              </a:rPr>
              <a:t>2</a:t>
            </a:r>
            <a:r>
              <a:rPr lang="en-US" b="0" i="0" dirty="0">
                <a:solidFill>
                  <a:srgbClr val="5F6364"/>
                </a:solidFill>
                <a:effectLst/>
                <a:latin typeface="Consolas" panose="020B0609020204030204" pitchFamily="49" charset="0"/>
              </a:rPr>
              <a:t>)</a:t>
            </a:r>
            <a:r>
              <a:rPr lang="en-US" b="0" i="0" dirty="0">
                <a:solidFill>
                  <a:srgbClr val="000000"/>
                </a:solidFill>
                <a:effectLst/>
                <a:highlight>
                  <a:srgbClr val="FDFDFD"/>
                </a:highlight>
                <a:latin typeface="Consolas" panose="020B0609020204030204" pitchFamily="49" charset="0"/>
              </a:rPr>
              <a:t> </a:t>
            </a:r>
          </a:p>
          <a:p>
            <a:endParaRPr lang="en-US" b="0" i="0" dirty="0">
              <a:solidFill>
                <a:srgbClr val="000000"/>
              </a:solidFill>
              <a:effectLst/>
              <a:highlight>
                <a:srgbClr val="FDFDFD"/>
              </a:highlight>
              <a:latin typeface="Consolas" panose="020B0609020204030204" pitchFamily="49" charset="0"/>
            </a:endParaRPr>
          </a:p>
          <a:p>
            <a:r>
              <a:rPr lang="en-IN" b="1" dirty="0">
                <a:solidFill>
                  <a:srgbClr val="000000"/>
                </a:solidFill>
                <a:highlight>
                  <a:srgbClr val="FFFFFF"/>
                </a:highlight>
                <a:latin typeface="Consolas" panose="020B0609020204030204" pitchFamily="49" charset="0"/>
              </a:rPr>
              <a:t>Output:</a:t>
            </a:r>
            <a:endParaRPr lang="en-US" b="0" i="0" dirty="0">
              <a:solidFill>
                <a:srgbClr val="000000"/>
              </a:solidFill>
              <a:effectLst/>
              <a:highlight>
                <a:srgbClr val="FDFDFD"/>
              </a:highlight>
              <a:latin typeface="Consolas" panose="020B0609020204030204" pitchFamily="49" charset="0"/>
            </a:endParaRPr>
          </a:p>
          <a:p>
            <a:r>
              <a:rPr lang="en-US" b="0" i="0" dirty="0">
                <a:solidFill>
                  <a:srgbClr val="000000"/>
                </a:solidFill>
                <a:effectLst/>
                <a:highlight>
                  <a:srgbClr val="FDFDFD"/>
                </a:highlight>
                <a:latin typeface="Consolas" panose="020B0609020204030204" pitchFamily="49" charset="0"/>
              </a:rPr>
              <a:t>array</a:t>
            </a:r>
            <a:r>
              <a:rPr lang="en-US" b="0" i="0" dirty="0">
                <a:solidFill>
                  <a:srgbClr val="5F6364"/>
                </a:solidFill>
                <a:effectLst/>
                <a:latin typeface="Consolas" panose="020B0609020204030204" pitchFamily="49" charset="0"/>
              </a:rPr>
              <a:t>([[</a:t>
            </a:r>
            <a:r>
              <a:rPr lang="en-US" b="0" i="0" dirty="0">
                <a:solidFill>
                  <a:srgbClr val="000000"/>
                </a:solidFill>
                <a:effectLst/>
                <a:highlight>
                  <a:srgbClr val="FDFDFD"/>
                </a:highlight>
                <a:latin typeface="Consolas" panose="020B0609020204030204" pitchFamily="49" charset="0"/>
              </a:rPr>
              <a:t> </a:t>
            </a:r>
            <a:r>
              <a:rPr lang="en-US" b="0" i="0" dirty="0">
                <a:solidFill>
                  <a:srgbClr val="C92C2C"/>
                </a:solidFill>
                <a:effectLst/>
                <a:latin typeface="Consolas" panose="020B0609020204030204" pitchFamily="49" charset="0"/>
              </a:rPr>
              <a:t>1</a:t>
            </a:r>
            <a:r>
              <a:rPr lang="en-US" b="0" i="0" dirty="0">
                <a:solidFill>
                  <a:srgbClr val="5F6364"/>
                </a:solidFill>
                <a:effectLst/>
                <a:latin typeface="Consolas" panose="020B0609020204030204" pitchFamily="49" charset="0"/>
              </a:rPr>
              <a:t>.,</a:t>
            </a:r>
            <a:r>
              <a:rPr lang="en-US" b="0" i="0" dirty="0">
                <a:solidFill>
                  <a:srgbClr val="000000"/>
                </a:solidFill>
                <a:effectLst/>
                <a:highlight>
                  <a:srgbClr val="FDFDFD"/>
                </a:highlight>
                <a:latin typeface="Consolas" panose="020B0609020204030204" pitchFamily="49" charset="0"/>
              </a:rPr>
              <a:t> </a:t>
            </a:r>
            <a:r>
              <a:rPr lang="en-US" b="0" i="0" dirty="0">
                <a:solidFill>
                  <a:srgbClr val="C92C2C"/>
                </a:solidFill>
                <a:effectLst/>
                <a:latin typeface="Consolas" panose="020B0609020204030204" pitchFamily="49" charset="0"/>
              </a:rPr>
              <a:t>0</a:t>
            </a:r>
            <a:r>
              <a:rPr lang="en-US" b="0" i="0" dirty="0">
                <a:solidFill>
                  <a:srgbClr val="5F6364"/>
                </a:solidFill>
                <a:effectLst/>
                <a:latin typeface="Consolas" panose="020B0609020204030204" pitchFamily="49" charset="0"/>
              </a:rPr>
              <a:t>.],</a:t>
            </a:r>
            <a:r>
              <a:rPr lang="en-US" b="0" i="0" dirty="0">
                <a:solidFill>
                  <a:srgbClr val="000000"/>
                </a:solidFill>
                <a:effectLst/>
                <a:highlight>
                  <a:srgbClr val="FDFDFD"/>
                </a:highlight>
                <a:latin typeface="Consolas" panose="020B0609020204030204" pitchFamily="49" charset="0"/>
              </a:rPr>
              <a:t> </a:t>
            </a:r>
          </a:p>
          <a:p>
            <a:r>
              <a:rPr lang="en-US" dirty="0">
                <a:solidFill>
                  <a:srgbClr val="000000"/>
                </a:solidFill>
                <a:highlight>
                  <a:srgbClr val="FDFDFD"/>
                </a:highlight>
                <a:latin typeface="Consolas" panose="020B0609020204030204" pitchFamily="49" charset="0"/>
              </a:rPr>
              <a:t>       </a:t>
            </a:r>
            <a:r>
              <a:rPr lang="en-US" b="0" i="0" dirty="0">
                <a:solidFill>
                  <a:srgbClr val="5F6364"/>
                </a:solidFill>
                <a:effectLst/>
                <a:latin typeface="Consolas" panose="020B0609020204030204" pitchFamily="49" charset="0"/>
              </a:rPr>
              <a:t>[</a:t>
            </a:r>
            <a:r>
              <a:rPr lang="en-US" b="0" i="0" dirty="0">
                <a:solidFill>
                  <a:srgbClr val="000000"/>
                </a:solidFill>
                <a:effectLst/>
                <a:highlight>
                  <a:srgbClr val="FDFDFD"/>
                </a:highlight>
                <a:latin typeface="Consolas" panose="020B0609020204030204" pitchFamily="49" charset="0"/>
              </a:rPr>
              <a:t> </a:t>
            </a:r>
            <a:r>
              <a:rPr lang="en-US" b="0" i="0" dirty="0">
                <a:solidFill>
                  <a:srgbClr val="C92C2C"/>
                </a:solidFill>
                <a:effectLst/>
                <a:latin typeface="Consolas" panose="020B0609020204030204" pitchFamily="49" charset="0"/>
              </a:rPr>
              <a:t>0</a:t>
            </a:r>
            <a:r>
              <a:rPr lang="en-US" b="0" i="0" dirty="0">
                <a:solidFill>
                  <a:srgbClr val="5F6364"/>
                </a:solidFill>
                <a:effectLst/>
                <a:latin typeface="Consolas" panose="020B0609020204030204" pitchFamily="49" charset="0"/>
              </a:rPr>
              <a:t>.,</a:t>
            </a:r>
            <a:r>
              <a:rPr lang="en-US" b="0" i="0" dirty="0">
                <a:solidFill>
                  <a:srgbClr val="000000"/>
                </a:solidFill>
                <a:effectLst/>
                <a:highlight>
                  <a:srgbClr val="FDFDFD"/>
                </a:highlight>
                <a:latin typeface="Consolas" panose="020B0609020204030204" pitchFamily="49" charset="0"/>
              </a:rPr>
              <a:t> </a:t>
            </a:r>
            <a:r>
              <a:rPr lang="en-US" b="0" i="0" dirty="0">
                <a:solidFill>
                  <a:srgbClr val="C92C2C"/>
                </a:solidFill>
                <a:effectLst/>
                <a:latin typeface="Consolas" panose="020B0609020204030204" pitchFamily="49" charset="0"/>
              </a:rPr>
              <a:t>1</a:t>
            </a:r>
            <a:r>
              <a:rPr lang="en-US" b="0" i="0" dirty="0">
                <a:solidFill>
                  <a:srgbClr val="5F6364"/>
                </a:solidFill>
                <a:effectLst/>
                <a:latin typeface="Consolas" panose="020B0609020204030204" pitchFamily="49" charset="0"/>
              </a:rPr>
              <a:t>.]])</a:t>
            </a:r>
            <a:endParaRPr lang="en-IN" dirty="0">
              <a:solidFill>
                <a:srgbClr val="000000"/>
              </a:solidFill>
              <a:highlight>
                <a:srgbClr val="FFFFFF"/>
              </a:highlight>
              <a:latin typeface="Consolas" panose="020B0609020204030204" pitchFamily="49" charset="0"/>
            </a:endParaRPr>
          </a:p>
        </p:txBody>
      </p:sp>
      <p:pic>
        <p:nvPicPr>
          <p:cNvPr id="9219" name="Picture 3" descr="NumPy array: identity() function">
            <a:extLst>
              <a:ext uri="{FF2B5EF4-FFF2-40B4-BE49-F238E27FC236}">
                <a16:creationId xmlns:a16="http://schemas.microsoft.com/office/drawing/2014/main" id="{AC61CBBF-F413-567F-FAFE-7E68BBCB6778}"/>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7971"/>
          <a:stretch/>
        </p:blipFill>
        <p:spPr bwMode="auto">
          <a:xfrm>
            <a:off x="9112940" y="2537293"/>
            <a:ext cx="1847850" cy="1893404"/>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582CF450-9BA7-A7AB-A8F8-6187E0B94DB8}"/>
              </a:ext>
            </a:extLst>
          </p:cNvPr>
          <p:cNvSpPr txBox="1"/>
          <p:nvPr/>
        </p:nvSpPr>
        <p:spPr>
          <a:xfrm>
            <a:off x="4895025" y="4034959"/>
            <a:ext cx="3583052" cy="2031325"/>
          </a:xfrm>
          <a:prstGeom prst="rect">
            <a:avLst/>
          </a:prstGeom>
          <a:noFill/>
          <a:ln w="6350">
            <a:solidFill>
              <a:schemeClr val="tx1"/>
            </a:solidFill>
          </a:ln>
        </p:spPr>
        <p:txBody>
          <a:bodyPr wrap="square">
            <a:spAutoFit/>
          </a:bodyPr>
          <a:lstStyle/>
          <a:p>
            <a:r>
              <a:rPr lang="en-US" dirty="0">
                <a:solidFill>
                  <a:srgbClr val="0000CD"/>
                </a:solidFill>
                <a:highlight>
                  <a:srgbClr val="FFFFFF"/>
                </a:highlight>
                <a:latin typeface="Consolas" panose="020B0609020204030204" pitchFamily="49" charset="0"/>
              </a:rPr>
              <a:t>import</a:t>
            </a:r>
            <a:r>
              <a:rPr lang="en-US" b="0" i="0" dirty="0">
                <a:solidFill>
                  <a:srgbClr val="000000"/>
                </a:solidFill>
                <a:effectLst/>
                <a:highlight>
                  <a:srgbClr val="FDFDFD"/>
                </a:highlight>
                <a:latin typeface="Consolas" panose="020B0609020204030204" pitchFamily="49" charset="0"/>
              </a:rPr>
              <a:t> </a:t>
            </a:r>
            <a:r>
              <a:rPr lang="en-US" b="0" i="0" dirty="0" err="1">
                <a:solidFill>
                  <a:srgbClr val="000000"/>
                </a:solidFill>
                <a:effectLst/>
                <a:highlight>
                  <a:srgbClr val="FDFDFD"/>
                </a:highlight>
                <a:latin typeface="Consolas" panose="020B0609020204030204" pitchFamily="49" charset="0"/>
              </a:rPr>
              <a:t>numpy</a:t>
            </a:r>
            <a:r>
              <a:rPr lang="en-US" b="0" i="0" dirty="0">
                <a:solidFill>
                  <a:srgbClr val="000000"/>
                </a:solidFill>
                <a:effectLst/>
                <a:highlight>
                  <a:srgbClr val="FDFDFD"/>
                </a:highlight>
                <a:latin typeface="Consolas" panose="020B0609020204030204" pitchFamily="49" charset="0"/>
              </a:rPr>
              <a:t> </a:t>
            </a:r>
            <a:r>
              <a:rPr lang="en-US" dirty="0">
                <a:solidFill>
                  <a:srgbClr val="0000CD"/>
                </a:solidFill>
                <a:highlight>
                  <a:srgbClr val="FFFFFF"/>
                </a:highlight>
                <a:latin typeface="Consolas" panose="020B0609020204030204" pitchFamily="49" charset="0"/>
              </a:rPr>
              <a:t>as</a:t>
            </a:r>
            <a:r>
              <a:rPr lang="en-US" b="0" i="0" dirty="0">
                <a:solidFill>
                  <a:srgbClr val="000000"/>
                </a:solidFill>
                <a:effectLst/>
                <a:highlight>
                  <a:srgbClr val="FDFDFD"/>
                </a:highlight>
                <a:latin typeface="Consolas" panose="020B0609020204030204" pitchFamily="49" charset="0"/>
              </a:rPr>
              <a:t> np </a:t>
            </a:r>
          </a:p>
          <a:p>
            <a:r>
              <a:rPr lang="en-US" b="0" i="0" dirty="0" err="1">
                <a:solidFill>
                  <a:srgbClr val="000000"/>
                </a:solidFill>
                <a:effectLst/>
                <a:highlight>
                  <a:srgbClr val="FDFDFD"/>
                </a:highlight>
                <a:latin typeface="Consolas" panose="020B0609020204030204" pitchFamily="49" charset="0"/>
              </a:rPr>
              <a:t>np</a:t>
            </a:r>
            <a:r>
              <a:rPr lang="en-US" b="0" i="0" dirty="0" err="1">
                <a:solidFill>
                  <a:srgbClr val="5F6364"/>
                </a:solidFill>
                <a:effectLst/>
                <a:latin typeface="Consolas" panose="020B0609020204030204" pitchFamily="49" charset="0"/>
              </a:rPr>
              <a:t>.</a:t>
            </a:r>
            <a:r>
              <a:rPr lang="en-US" b="0" i="0" dirty="0" err="1">
                <a:solidFill>
                  <a:srgbClr val="000000"/>
                </a:solidFill>
                <a:effectLst/>
                <a:highlight>
                  <a:srgbClr val="FDFDFD"/>
                </a:highlight>
                <a:latin typeface="Consolas" panose="020B0609020204030204" pitchFamily="49" charset="0"/>
              </a:rPr>
              <a:t>identity</a:t>
            </a:r>
            <a:r>
              <a:rPr lang="en-US" b="0" i="0" dirty="0">
                <a:solidFill>
                  <a:srgbClr val="5F6364"/>
                </a:solidFill>
                <a:effectLst/>
                <a:latin typeface="Consolas" panose="020B0609020204030204" pitchFamily="49" charset="0"/>
              </a:rPr>
              <a:t>(</a:t>
            </a:r>
            <a:r>
              <a:rPr lang="en-US" b="0" i="0" dirty="0">
                <a:solidFill>
                  <a:srgbClr val="C92C2C"/>
                </a:solidFill>
                <a:effectLst/>
                <a:latin typeface="Consolas" panose="020B0609020204030204" pitchFamily="49" charset="0"/>
              </a:rPr>
              <a:t>3</a:t>
            </a:r>
            <a:r>
              <a:rPr lang="en-US" b="0" i="0" dirty="0">
                <a:solidFill>
                  <a:srgbClr val="5F6364"/>
                </a:solidFill>
                <a:effectLst/>
                <a:latin typeface="Consolas" panose="020B0609020204030204" pitchFamily="49" charset="0"/>
              </a:rPr>
              <a:t>,</a:t>
            </a:r>
            <a:r>
              <a:rPr lang="en-US" b="0" i="0" dirty="0">
                <a:solidFill>
                  <a:srgbClr val="000000"/>
                </a:solidFill>
                <a:effectLst/>
                <a:highlight>
                  <a:srgbClr val="FDFDFD"/>
                </a:highlight>
                <a:latin typeface="Consolas" panose="020B0609020204030204" pitchFamily="49" charset="0"/>
              </a:rPr>
              <a:t> </a:t>
            </a:r>
            <a:r>
              <a:rPr lang="en-US" b="0" i="0" dirty="0" err="1">
                <a:solidFill>
                  <a:srgbClr val="000000"/>
                </a:solidFill>
                <a:effectLst/>
                <a:highlight>
                  <a:srgbClr val="FDFDFD"/>
                </a:highlight>
                <a:latin typeface="Consolas" panose="020B0609020204030204" pitchFamily="49" charset="0"/>
              </a:rPr>
              <a:t>dtype</a:t>
            </a:r>
            <a:r>
              <a:rPr lang="en-US" b="0" i="0" dirty="0">
                <a:solidFill>
                  <a:srgbClr val="A67F59"/>
                </a:solidFill>
                <a:effectLst/>
                <a:latin typeface="Consolas" panose="020B0609020204030204" pitchFamily="49" charset="0"/>
              </a:rPr>
              <a:t>=</a:t>
            </a:r>
            <a:r>
              <a:rPr lang="en-US" b="0" i="0" dirty="0">
                <a:solidFill>
                  <a:srgbClr val="2F9C0A"/>
                </a:solidFill>
                <a:effectLst/>
                <a:latin typeface="Consolas" panose="020B0609020204030204" pitchFamily="49" charset="0"/>
              </a:rPr>
              <a:t>int</a:t>
            </a:r>
            <a:r>
              <a:rPr lang="en-US" b="0" i="0" dirty="0">
                <a:solidFill>
                  <a:srgbClr val="5F6364"/>
                </a:solidFill>
                <a:effectLst/>
                <a:latin typeface="Consolas" panose="020B0609020204030204" pitchFamily="49" charset="0"/>
              </a:rPr>
              <a:t>)</a:t>
            </a:r>
          </a:p>
          <a:p>
            <a:endParaRPr lang="en-US" dirty="0">
              <a:solidFill>
                <a:srgbClr val="5F6364"/>
              </a:solidFill>
              <a:highlight>
                <a:srgbClr val="FDFDFD"/>
              </a:highlight>
              <a:latin typeface="Consolas" panose="020B0609020204030204" pitchFamily="49" charset="0"/>
            </a:endParaRPr>
          </a:p>
          <a:p>
            <a:r>
              <a:rPr lang="en-US" b="1" dirty="0">
                <a:solidFill>
                  <a:srgbClr val="000000"/>
                </a:solidFill>
                <a:highlight>
                  <a:srgbClr val="FFFFFF"/>
                </a:highlight>
                <a:latin typeface="Consolas" panose="020B0609020204030204" pitchFamily="49" charset="0"/>
              </a:rPr>
              <a:t>Output:</a:t>
            </a:r>
          </a:p>
          <a:p>
            <a:r>
              <a:rPr lang="en-US" b="0" i="0" dirty="0">
                <a:solidFill>
                  <a:srgbClr val="000000"/>
                </a:solidFill>
                <a:effectLst/>
                <a:highlight>
                  <a:srgbClr val="FDFDFD"/>
                </a:highlight>
                <a:latin typeface="Consolas" panose="020B0609020204030204" pitchFamily="49" charset="0"/>
              </a:rPr>
              <a:t>array</a:t>
            </a:r>
            <a:r>
              <a:rPr lang="en-US" b="0" i="0" dirty="0">
                <a:solidFill>
                  <a:srgbClr val="5F6364"/>
                </a:solidFill>
                <a:effectLst/>
                <a:latin typeface="Consolas" panose="020B0609020204030204" pitchFamily="49" charset="0"/>
              </a:rPr>
              <a:t>([[</a:t>
            </a:r>
            <a:r>
              <a:rPr lang="en-US" b="0" i="0" dirty="0">
                <a:solidFill>
                  <a:srgbClr val="C92C2C"/>
                </a:solidFill>
                <a:effectLst/>
                <a:latin typeface="Consolas" panose="020B0609020204030204" pitchFamily="49" charset="0"/>
              </a:rPr>
              <a:t>1</a:t>
            </a:r>
            <a:r>
              <a:rPr lang="en-US" b="0" i="0" dirty="0">
                <a:solidFill>
                  <a:srgbClr val="5F6364"/>
                </a:solidFill>
                <a:effectLst/>
                <a:latin typeface="Consolas" panose="020B0609020204030204" pitchFamily="49" charset="0"/>
              </a:rPr>
              <a:t>,</a:t>
            </a:r>
            <a:r>
              <a:rPr lang="en-US" b="0" i="0" dirty="0">
                <a:solidFill>
                  <a:srgbClr val="000000"/>
                </a:solidFill>
                <a:effectLst/>
                <a:highlight>
                  <a:srgbClr val="FDFDFD"/>
                </a:highlight>
                <a:latin typeface="Consolas" panose="020B0609020204030204" pitchFamily="49" charset="0"/>
              </a:rPr>
              <a:t> </a:t>
            </a:r>
            <a:r>
              <a:rPr lang="en-US" b="0" i="0" dirty="0">
                <a:solidFill>
                  <a:srgbClr val="C92C2C"/>
                </a:solidFill>
                <a:effectLst/>
                <a:latin typeface="Consolas" panose="020B0609020204030204" pitchFamily="49" charset="0"/>
              </a:rPr>
              <a:t>0</a:t>
            </a:r>
            <a:r>
              <a:rPr lang="en-US" b="0" i="0" dirty="0">
                <a:solidFill>
                  <a:srgbClr val="5F6364"/>
                </a:solidFill>
                <a:effectLst/>
                <a:latin typeface="Consolas" panose="020B0609020204030204" pitchFamily="49" charset="0"/>
              </a:rPr>
              <a:t>,</a:t>
            </a:r>
            <a:r>
              <a:rPr lang="en-US" b="0" i="0" dirty="0">
                <a:solidFill>
                  <a:srgbClr val="000000"/>
                </a:solidFill>
                <a:effectLst/>
                <a:highlight>
                  <a:srgbClr val="FDFDFD"/>
                </a:highlight>
                <a:latin typeface="Consolas" panose="020B0609020204030204" pitchFamily="49" charset="0"/>
              </a:rPr>
              <a:t> </a:t>
            </a:r>
            <a:r>
              <a:rPr lang="en-US" b="0" i="0" dirty="0">
                <a:solidFill>
                  <a:srgbClr val="C92C2C"/>
                </a:solidFill>
                <a:effectLst/>
                <a:latin typeface="Consolas" panose="020B0609020204030204" pitchFamily="49" charset="0"/>
              </a:rPr>
              <a:t>0</a:t>
            </a:r>
            <a:r>
              <a:rPr lang="en-US" b="0" i="0" dirty="0">
                <a:solidFill>
                  <a:srgbClr val="5F6364"/>
                </a:solidFill>
                <a:effectLst/>
                <a:latin typeface="Consolas" panose="020B0609020204030204" pitchFamily="49" charset="0"/>
              </a:rPr>
              <a:t>],</a:t>
            </a:r>
            <a:r>
              <a:rPr lang="en-US" b="0" i="0" dirty="0">
                <a:solidFill>
                  <a:srgbClr val="000000"/>
                </a:solidFill>
                <a:effectLst/>
                <a:highlight>
                  <a:srgbClr val="FDFDFD"/>
                </a:highlight>
                <a:latin typeface="Consolas" panose="020B0609020204030204" pitchFamily="49" charset="0"/>
              </a:rPr>
              <a:t> </a:t>
            </a:r>
          </a:p>
          <a:p>
            <a:r>
              <a:rPr lang="en-US" b="0" i="0" dirty="0">
                <a:solidFill>
                  <a:srgbClr val="5F6364"/>
                </a:solidFill>
                <a:effectLst/>
                <a:latin typeface="Consolas" panose="020B0609020204030204" pitchFamily="49" charset="0"/>
              </a:rPr>
              <a:t>       [</a:t>
            </a:r>
            <a:r>
              <a:rPr lang="en-US" b="0" i="0" dirty="0">
                <a:solidFill>
                  <a:srgbClr val="C92C2C"/>
                </a:solidFill>
                <a:effectLst/>
                <a:latin typeface="Consolas" panose="020B0609020204030204" pitchFamily="49" charset="0"/>
              </a:rPr>
              <a:t>0</a:t>
            </a:r>
            <a:r>
              <a:rPr lang="en-US" b="0" i="0" dirty="0">
                <a:solidFill>
                  <a:srgbClr val="5F6364"/>
                </a:solidFill>
                <a:effectLst/>
                <a:latin typeface="Consolas" panose="020B0609020204030204" pitchFamily="49" charset="0"/>
              </a:rPr>
              <a:t>,</a:t>
            </a:r>
            <a:r>
              <a:rPr lang="en-US" b="0" i="0" dirty="0">
                <a:solidFill>
                  <a:srgbClr val="000000"/>
                </a:solidFill>
                <a:effectLst/>
                <a:highlight>
                  <a:srgbClr val="FDFDFD"/>
                </a:highlight>
                <a:latin typeface="Consolas" panose="020B0609020204030204" pitchFamily="49" charset="0"/>
              </a:rPr>
              <a:t> </a:t>
            </a:r>
            <a:r>
              <a:rPr lang="en-US" b="0" i="0" dirty="0">
                <a:solidFill>
                  <a:srgbClr val="C92C2C"/>
                </a:solidFill>
                <a:effectLst/>
                <a:latin typeface="Consolas" panose="020B0609020204030204" pitchFamily="49" charset="0"/>
              </a:rPr>
              <a:t>1</a:t>
            </a:r>
            <a:r>
              <a:rPr lang="en-US" b="0" i="0" dirty="0">
                <a:solidFill>
                  <a:srgbClr val="5F6364"/>
                </a:solidFill>
                <a:effectLst/>
                <a:latin typeface="Consolas" panose="020B0609020204030204" pitchFamily="49" charset="0"/>
              </a:rPr>
              <a:t>,</a:t>
            </a:r>
            <a:r>
              <a:rPr lang="en-US" b="0" i="0" dirty="0">
                <a:solidFill>
                  <a:srgbClr val="000000"/>
                </a:solidFill>
                <a:effectLst/>
                <a:highlight>
                  <a:srgbClr val="FDFDFD"/>
                </a:highlight>
                <a:latin typeface="Consolas" panose="020B0609020204030204" pitchFamily="49" charset="0"/>
              </a:rPr>
              <a:t> </a:t>
            </a:r>
            <a:r>
              <a:rPr lang="en-US" b="0" i="0" dirty="0">
                <a:solidFill>
                  <a:srgbClr val="C92C2C"/>
                </a:solidFill>
                <a:effectLst/>
                <a:latin typeface="Consolas" panose="020B0609020204030204" pitchFamily="49" charset="0"/>
              </a:rPr>
              <a:t>0</a:t>
            </a:r>
            <a:r>
              <a:rPr lang="en-US" b="0" i="0" dirty="0">
                <a:solidFill>
                  <a:srgbClr val="5F6364"/>
                </a:solidFill>
                <a:effectLst/>
                <a:latin typeface="Consolas" panose="020B0609020204030204" pitchFamily="49" charset="0"/>
              </a:rPr>
              <a:t>],</a:t>
            </a:r>
            <a:r>
              <a:rPr lang="en-US" b="0" i="0" dirty="0">
                <a:solidFill>
                  <a:srgbClr val="000000"/>
                </a:solidFill>
                <a:effectLst/>
                <a:highlight>
                  <a:srgbClr val="FDFDFD"/>
                </a:highlight>
                <a:latin typeface="Consolas" panose="020B0609020204030204" pitchFamily="49" charset="0"/>
              </a:rPr>
              <a:t> </a:t>
            </a:r>
          </a:p>
          <a:p>
            <a:r>
              <a:rPr lang="en-US" b="0" i="0" dirty="0">
                <a:solidFill>
                  <a:srgbClr val="5F6364"/>
                </a:solidFill>
                <a:effectLst/>
                <a:latin typeface="Consolas" panose="020B0609020204030204" pitchFamily="49" charset="0"/>
              </a:rPr>
              <a:t>       [</a:t>
            </a:r>
            <a:r>
              <a:rPr lang="en-US" b="0" i="0" dirty="0">
                <a:solidFill>
                  <a:srgbClr val="C92C2C"/>
                </a:solidFill>
                <a:effectLst/>
                <a:latin typeface="Consolas" panose="020B0609020204030204" pitchFamily="49" charset="0"/>
              </a:rPr>
              <a:t>0</a:t>
            </a:r>
            <a:r>
              <a:rPr lang="en-US" b="0" i="0" dirty="0">
                <a:solidFill>
                  <a:srgbClr val="5F6364"/>
                </a:solidFill>
                <a:effectLst/>
                <a:latin typeface="Consolas" panose="020B0609020204030204" pitchFamily="49" charset="0"/>
              </a:rPr>
              <a:t>,</a:t>
            </a:r>
            <a:r>
              <a:rPr lang="en-US" b="0" i="0" dirty="0">
                <a:solidFill>
                  <a:srgbClr val="000000"/>
                </a:solidFill>
                <a:effectLst/>
                <a:highlight>
                  <a:srgbClr val="FDFDFD"/>
                </a:highlight>
                <a:latin typeface="Consolas" panose="020B0609020204030204" pitchFamily="49" charset="0"/>
              </a:rPr>
              <a:t> </a:t>
            </a:r>
            <a:r>
              <a:rPr lang="en-US" b="0" i="0" dirty="0">
                <a:solidFill>
                  <a:srgbClr val="C92C2C"/>
                </a:solidFill>
                <a:effectLst/>
                <a:latin typeface="Consolas" panose="020B0609020204030204" pitchFamily="49" charset="0"/>
              </a:rPr>
              <a:t>0</a:t>
            </a:r>
            <a:r>
              <a:rPr lang="en-US" b="0" i="0" dirty="0">
                <a:solidFill>
                  <a:srgbClr val="5F6364"/>
                </a:solidFill>
                <a:effectLst/>
                <a:latin typeface="Consolas" panose="020B0609020204030204" pitchFamily="49" charset="0"/>
              </a:rPr>
              <a:t>,</a:t>
            </a:r>
            <a:r>
              <a:rPr lang="en-US" b="0" i="0" dirty="0">
                <a:solidFill>
                  <a:srgbClr val="000000"/>
                </a:solidFill>
                <a:effectLst/>
                <a:highlight>
                  <a:srgbClr val="FDFDFD"/>
                </a:highlight>
                <a:latin typeface="Consolas" panose="020B0609020204030204" pitchFamily="49" charset="0"/>
              </a:rPr>
              <a:t> </a:t>
            </a:r>
            <a:r>
              <a:rPr lang="en-US" b="0" i="0" dirty="0">
                <a:solidFill>
                  <a:srgbClr val="C92C2C"/>
                </a:solidFill>
                <a:effectLst/>
                <a:latin typeface="Consolas" panose="020B0609020204030204" pitchFamily="49" charset="0"/>
              </a:rPr>
              <a:t>1</a:t>
            </a:r>
            <a:r>
              <a:rPr lang="en-US" b="0" i="0" dirty="0">
                <a:solidFill>
                  <a:srgbClr val="5F6364"/>
                </a:solidFill>
                <a:effectLst/>
                <a:latin typeface="Consolas" panose="020B0609020204030204" pitchFamily="49" charset="0"/>
              </a:rPr>
              <a:t>]])</a:t>
            </a:r>
            <a:endParaRPr lang="en-IN" dirty="0"/>
          </a:p>
        </p:txBody>
      </p:sp>
    </p:spTree>
    <p:extLst>
      <p:ext uri="{BB962C8B-B14F-4D97-AF65-F5344CB8AC3E}">
        <p14:creationId xmlns:p14="http://schemas.microsoft.com/office/powerpoint/2010/main" val="2620666231"/>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Table 8">
            <a:extLst>
              <a:ext uri="{FF2B5EF4-FFF2-40B4-BE49-F238E27FC236}">
                <a16:creationId xmlns:a16="http://schemas.microsoft.com/office/drawing/2014/main" id="{0B6EC464-4750-5FF3-7A5A-15612BA6E293}"/>
              </a:ext>
            </a:extLst>
          </p:cNvPr>
          <p:cNvGraphicFramePr>
            <a:graphicFrameLocks noGrp="1"/>
          </p:cNvGraphicFramePr>
          <p:nvPr/>
        </p:nvGraphicFramePr>
        <p:xfrm>
          <a:off x="0" y="23812"/>
          <a:ext cx="12192000" cy="465287"/>
        </p:xfrm>
        <a:graphic>
          <a:graphicData uri="http://schemas.openxmlformats.org/drawingml/2006/table">
            <a:tbl>
              <a:tblPr firstRow="1" bandRow="1">
                <a:tableStyleId>{5C22544A-7EE6-4342-B048-85BDC9FD1C3A}</a:tableStyleId>
              </a:tblPr>
              <a:tblGrid>
                <a:gridCol w="6092042">
                  <a:extLst>
                    <a:ext uri="{9D8B030D-6E8A-4147-A177-3AD203B41FA5}">
                      <a16:colId xmlns:a16="http://schemas.microsoft.com/office/drawing/2014/main" val="2179694530"/>
                    </a:ext>
                  </a:extLst>
                </a:gridCol>
                <a:gridCol w="6099958">
                  <a:extLst>
                    <a:ext uri="{9D8B030D-6E8A-4147-A177-3AD203B41FA5}">
                      <a16:colId xmlns:a16="http://schemas.microsoft.com/office/drawing/2014/main" val="2768207918"/>
                    </a:ext>
                  </a:extLst>
                </a:gridCol>
              </a:tblGrid>
              <a:tr h="465287">
                <a:tc>
                  <a:txBody>
                    <a:bodyPr/>
                    <a:lstStyle/>
                    <a:p>
                      <a:endParaRPr lang="en-US" dirty="0"/>
                    </a:p>
                  </a:txBody>
                  <a:tcPr>
                    <a:solidFill>
                      <a:srgbClr val="FF85FF"/>
                    </a:solidFill>
                  </a:tcPr>
                </a:tc>
                <a:tc>
                  <a:txBody>
                    <a:bodyPr/>
                    <a:lstStyle/>
                    <a:p>
                      <a:endParaRPr lang="en-US" dirty="0"/>
                    </a:p>
                  </a:txBody>
                  <a:tcPr>
                    <a:solidFill>
                      <a:srgbClr val="FFFF00"/>
                    </a:solidFill>
                  </a:tcPr>
                </a:tc>
                <a:extLst>
                  <a:ext uri="{0D108BD9-81ED-4DB2-BD59-A6C34878D82A}">
                    <a16:rowId xmlns:a16="http://schemas.microsoft.com/office/drawing/2014/main" val="1996944423"/>
                  </a:ext>
                </a:extLst>
              </a:tr>
            </a:tbl>
          </a:graphicData>
        </a:graphic>
      </p:graphicFrame>
      <p:graphicFrame>
        <p:nvGraphicFramePr>
          <p:cNvPr id="10" name="Table 9">
            <a:extLst>
              <a:ext uri="{FF2B5EF4-FFF2-40B4-BE49-F238E27FC236}">
                <a16:creationId xmlns:a16="http://schemas.microsoft.com/office/drawing/2014/main" id="{494BAFB7-FE1F-E1A9-7A6C-AB4145BD9BA1}"/>
              </a:ext>
            </a:extLst>
          </p:cNvPr>
          <p:cNvGraphicFramePr>
            <a:graphicFrameLocks noGrp="1"/>
          </p:cNvGraphicFramePr>
          <p:nvPr>
            <p:extLst>
              <p:ext uri="{D42A27DB-BD31-4B8C-83A1-F6EECF244321}">
                <p14:modId xmlns:p14="http://schemas.microsoft.com/office/powerpoint/2010/main" val="2411023187"/>
              </p:ext>
            </p:extLst>
          </p:nvPr>
        </p:nvGraphicFramePr>
        <p:xfrm>
          <a:off x="1" y="6478892"/>
          <a:ext cx="12191999" cy="370840"/>
        </p:xfrm>
        <a:graphic>
          <a:graphicData uri="http://schemas.openxmlformats.org/drawingml/2006/table">
            <a:tbl>
              <a:tblPr firstRow="1" bandRow="1">
                <a:tableStyleId>{5C22544A-7EE6-4342-B048-85BDC9FD1C3A}</a:tableStyleId>
              </a:tblPr>
              <a:tblGrid>
                <a:gridCol w="6080165">
                  <a:extLst>
                    <a:ext uri="{9D8B030D-6E8A-4147-A177-3AD203B41FA5}">
                      <a16:colId xmlns:a16="http://schemas.microsoft.com/office/drawing/2014/main" val="2179694530"/>
                    </a:ext>
                  </a:extLst>
                </a:gridCol>
                <a:gridCol w="6111834">
                  <a:extLst>
                    <a:ext uri="{9D8B030D-6E8A-4147-A177-3AD203B41FA5}">
                      <a16:colId xmlns:a16="http://schemas.microsoft.com/office/drawing/2014/main" val="2768207918"/>
                    </a:ext>
                  </a:extLst>
                </a:gridCol>
              </a:tblGrid>
              <a:tr h="370840">
                <a:tc>
                  <a:txBody>
                    <a:bodyPr/>
                    <a:lstStyle/>
                    <a:p>
                      <a:endParaRPr lang="en-US" dirty="0"/>
                    </a:p>
                  </a:txBody>
                  <a:tcPr>
                    <a:solidFill>
                      <a:srgbClr val="FFFF00"/>
                    </a:solidFill>
                  </a:tcPr>
                </a:tc>
                <a:tc>
                  <a:txBody>
                    <a:bodyPr/>
                    <a:lstStyle/>
                    <a:p>
                      <a:pPr algn="r"/>
                      <a:r>
                        <a:rPr lang="en-US" dirty="0">
                          <a:solidFill>
                            <a:schemeClr val="tx1"/>
                          </a:solidFill>
                        </a:rPr>
                        <a:t>79</a:t>
                      </a:r>
                    </a:p>
                  </a:txBody>
                  <a:tcPr>
                    <a:solidFill>
                      <a:srgbClr val="FF85FF"/>
                    </a:solidFill>
                  </a:tcPr>
                </a:tc>
                <a:extLst>
                  <a:ext uri="{0D108BD9-81ED-4DB2-BD59-A6C34878D82A}">
                    <a16:rowId xmlns:a16="http://schemas.microsoft.com/office/drawing/2014/main" val="1996944423"/>
                  </a:ext>
                </a:extLst>
              </a:tr>
            </a:tbl>
          </a:graphicData>
        </a:graphic>
      </p:graphicFrame>
      <p:pic>
        <p:nvPicPr>
          <p:cNvPr id="12" name="Google Shape;187;p25" descr="pngfind.com-kingpin-png-4152286 (1).png">
            <a:extLst>
              <a:ext uri="{FF2B5EF4-FFF2-40B4-BE49-F238E27FC236}">
                <a16:creationId xmlns:a16="http://schemas.microsoft.com/office/drawing/2014/main" id="{2DBF2481-A2DB-F96E-5749-B03DC4F71665}"/>
              </a:ext>
            </a:extLst>
          </p:cNvPr>
          <p:cNvPicPr preferRelativeResize="0"/>
          <p:nvPr/>
        </p:nvPicPr>
        <p:blipFill rotWithShape="1">
          <a:blip r:embed="rId2">
            <a:alphaModFix/>
          </a:blip>
          <a:srcRect/>
          <a:stretch/>
        </p:blipFill>
        <p:spPr>
          <a:xfrm>
            <a:off x="11044052" y="8268"/>
            <a:ext cx="1051261" cy="465287"/>
          </a:xfrm>
          <a:prstGeom prst="rect">
            <a:avLst/>
          </a:prstGeom>
          <a:noFill/>
          <a:ln>
            <a:noFill/>
          </a:ln>
        </p:spPr>
      </p:pic>
      <p:sp>
        <p:nvSpPr>
          <p:cNvPr id="19" name="Rectangle 18">
            <a:extLst>
              <a:ext uri="{FF2B5EF4-FFF2-40B4-BE49-F238E27FC236}">
                <a16:creationId xmlns:a16="http://schemas.microsoft.com/office/drawing/2014/main" id="{A0702E37-2E7E-7262-5E76-F69A817105B3}"/>
              </a:ext>
            </a:extLst>
          </p:cNvPr>
          <p:cNvSpPr/>
          <p:nvPr/>
        </p:nvSpPr>
        <p:spPr>
          <a:xfrm>
            <a:off x="0" y="8268"/>
            <a:ext cx="12192000" cy="6825920"/>
          </a:xfrm>
          <a:prstGeom prst="rect">
            <a:avLst/>
          </a:prstGeom>
          <a:noFill/>
          <a:ln w="38100">
            <a:solidFill>
              <a:srgbClr val="0432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DCB2A3F0-9003-5886-09B4-27925BBE4000}"/>
              </a:ext>
            </a:extLst>
          </p:cNvPr>
          <p:cNvSpPr txBox="1"/>
          <p:nvPr/>
        </p:nvSpPr>
        <p:spPr>
          <a:xfrm>
            <a:off x="0" y="873851"/>
            <a:ext cx="12191999" cy="646331"/>
          </a:xfrm>
          <a:prstGeom prst="rect">
            <a:avLst/>
          </a:prstGeom>
          <a:noFill/>
        </p:spPr>
        <p:txBody>
          <a:bodyPr wrap="square">
            <a:spAutoFit/>
          </a:bodyPr>
          <a:lstStyle/>
          <a:p>
            <a:pPr algn="ctr"/>
            <a:r>
              <a:rPr lang="en-US" sz="3600" b="1" dirty="0">
                <a:latin typeface="Calibri" panose="020F0502020204030204" pitchFamily="34" charset="0"/>
                <a:ea typeface="Calibri" panose="020F0502020204030204" pitchFamily="34" charset="0"/>
                <a:cs typeface="Calibri" panose="020F0502020204030204" pitchFamily="34" charset="0"/>
              </a:rPr>
              <a:t>e</a:t>
            </a:r>
            <a:r>
              <a:rPr lang="en-US" sz="3600" b="1" dirty="0">
                <a:effectLst/>
                <a:latin typeface="Calibri" panose="020F0502020204030204" pitchFamily="34" charset="0"/>
                <a:ea typeface="Calibri" panose="020F0502020204030204" pitchFamily="34" charset="0"/>
                <a:cs typeface="Calibri" panose="020F0502020204030204" pitchFamily="34" charset="0"/>
              </a:rPr>
              <a:t>ye Function</a:t>
            </a:r>
            <a:endParaRPr lang="en-US" sz="3600" b="1" dirty="0">
              <a:latin typeface="Calibri" panose="020F0502020204030204" pitchFamily="34" charset="0"/>
              <a:ea typeface="Calibri" panose="020F0502020204030204" pitchFamily="34" charset="0"/>
              <a:cs typeface="Calibri" panose="020F0502020204030204" pitchFamily="34" charset="0"/>
            </a:endParaRPr>
          </a:p>
        </p:txBody>
      </p:sp>
      <p:sp>
        <p:nvSpPr>
          <p:cNvPr id="8" name="TextBox 7">
            <a:extLst>
              <a:ext uri="{FF2B5EF4-FFF2-40B4-BE49-F238E27FC236}">
                <a16:creationId xmlns:a16="http://schemas.microsoft.com/office/drawing/2014/main" id="{1D27C92B-CB57-11B4-D725-334A447A4F66}"/>
              </a:ext>
            </a:extLst>
          </p:cNvPr>
          <p:cNvSpPr txBox="1"/>
          <p:nvPr/>
        </p:nvSpPr>
        <p:spPr>
          <a:xfrm>
            <a:off x="596347" y="1668774"/>
            <a:ext cx="10614991" cy="4619854"/>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US" b="0" i="0" dirty="0">
                <a:effectLst/>
                <a:highlight>
                  <a:srgbClr val="FFFFFF"/>
                </a:highlight>
                <a:latin typeface="Calibri" panose="020F0502020204030204" pitchFamily="34" charset="0"/>
                <a:ea typeface="Calibri" panose="020F0502020204030204" pitchFamily="34" charset="0"/>
                <a:cs typeface="Calibri" panose="020F0502020204030204" pitchFamily="34" charset="0"/>
              </a:rPr>
              <a:t>The eye() function is used to create a 2-D array with ones on the diagonal and zeros elsewhere.</a:t>
            </a:r>
          </a:p>
          <a:p>
            <a:pPr>
              <a:lnSpc>
                <a:spcPct val="150000"/>
              </a:lnSpc>
            </a:pPr>
            <a:r>
              <a:rPr lang="en-US" b="1" i="0" dirty="0">
                <a:effectLst/>
                <a:highlight>
                  <a:srgbClr val="FFFFFF"/>
                </a:highlight>
                <a:latin typeface="Calibri" panose="020F0502020204030204" pitchFamily="34" charset="0"/>
                <a:ea typeface="Calibri" panose="020F0502020204030204" pitchFamily="34" charset="0"/>
                <a:cs typeface="Calibri" panose="020F0502020204030204" pitchFamily="34" charset="0"/>
              </a:rPr>
              <a:t>                    Syntax: </a:t>
            </a:r>
            <a:r>
              <a:rPr lang="en-US" b="1" i="0" dirty="0" err="1">
                <a:effectLst/>
                <a:highlight>
                  <a:srgbClr val="FFFFFF"/>
                </a:highlight>
                <a:latin typeface="Calibri" panose="020F0502020204030204" pitchFamily="34" charset="0"/>
                <a:ea typeface="Calibri" panose="020F0502020204030204" pitchFamily="34" charset="0"/>
                <a:cs typeface="Calibri" panose="020F0502020204030204" pitchFamily="34" charset="0"/>
              </a:rPr>
              <a:t>numpy.eye</a:t>
            </a:r>
            <a:r>
              <a:rPr lang="en-US" b="1" i="0" dirty="0">
                <a:effectLst/>
                <a:highlight>
                  <a:srgbClr val="FFFFFF"/>
                </a:highlight>
                <a:latin typeface="Calibri" panose="020F0502020204030204" pitchFamily="34" charset="0"/>
                <a:ea typeface="Calibri" panose="020F0502020204030204" pitchFamily="34" charset="0"/>
                <a:cs typeface="Calibri" panose="020F0502020204030204" pitchFamily="34" charset="0"/>
              </a:rPr>
              <a:t>(n, m=None, k=0, </a:t>
            </a:r>
            <a:r>
              <a:rPr lang="en-US" b="1" i="0" dirty="0" err="1">
                <a:effectLst/>
                <a:highlight>
                  <a:srgbClr val="FFFFFF"/>
                </a:highlight>
                <a:latin typeface="Calibri" panose="020F0502020204030204" pitchFamily="34" charset="0"/>
                <a:ea typeface="Calibri" panose="020F0502020204030204" pitchFamily="34" charset="0"/>
                <a:cs typeface="Calibri" panose="020F0502020204030204" pitchFamily="34" charset="0"/>
              </a:rPr>
              <a:t>dtype</a:t>
            </a:r>
            <a:r>
              <a:rPr lang="en-US" b="1" i="0" dirty="0">
                <a:effectLst/>
                <a:highlight>
                  <a:srgbClr val="FFFFFF"/>
                </a:highlight>
                <a:latin typeface="Calibri" panose="020F0502020204030204" pitchFamily="34" charset="0"/>
                <a:ea typeface="Calibri" panose="020F0502020204030204" pitchFamily="34" charset="0"/>
                <a:cs typeface="Calibri" panose="020F0502020204030204" pitchFamily="34" charset="0"/>
              </a:rPr>
              <a:t>=&lt;class 'float'&gt;, order='C’)</a:t>
            </a:r>
          </a:p>
          <a:p>
            <a:pPr marL="285750" indent="-285750">
              <a:lnSpc>
                <a:spcPct val="150000"/>
              </a:lnSpc>
              <a:buFont typeface="Arial" panose="020B0604020202020204" pitchFamily="34" charset="0"/>
              <a:buChar char="•"/>
            </a:pPr>
            <a:r>
              <a:rPr lang="en-US" b="0" i="0" dirty="0">
                <a:effectLst/>
                <a:highlight>
                  <a:srgbClr val="FFFFFF"/>
                </a:highlight>
                <a:latin typeface="Calibri" panose="020F0502020204030204" pitchFamily="34" charset="0"/>
                <a:ea typeface="Calibri" panose="020F0502020204030204" pitchFamily="34" charset="0"/>
                <a:cs typeface="Calibri" panose="020F0502020204030204" pitchFamily="34" charset="0"/>
              </a:rPr>
              <a:t>n-Number of rows in the output.</a:t>
            </a:r>
            <a:endParaRPr lang="en-US" dirty="0">
              <a:highlight>
                <a:srgbClr val="FFFFFF"/>
              </a:highlight>
              <a:latin typeface="Calibri" panose="020F0502020204030204" pitchFamily="34" charset="0"/>
              <a:ea typeface="Calibri" panose="020F0502020204030204" pitchFamily="34" charset="0"/>
              <a:cs typeface="Calibri" panose="020F0502020204030204" pitchFamily="34" charset="0"/>
            </a:endParaRPr>
          </a:p>
          <a:p>
            <a:pPr marL="285750" indent="-285750">
              <a:lnSpc>
                <a:spcPct val="150000"/>
              </a:lnSpc>
              <a:buFont typeface="Arial" panose="020B0604020202020204" pitchFamily="34" charset="0"/>
              <a:buChar char="•"/>
            </a:pPr>
            <a:r>
              <a:rPr lang="en-US" b="0" i="0" dirty="0">
                <a:effectLst/>
                <a:highlight>
                  <a:srgbClr val="FFFFFF"/>
                </a:highlight>
                <a:latin typeface="Calibri" panose="020F0502020204030204" pitchFamily="34" charset="0"/>
                <a:ea typeface="Calibri" panose="020F0502020204030204" pitchFamily="34" charset="0"/>
                <a:cs typeface="Calibri" panose="020F0502020204030204" pitchFamily="34" charset="0"/>
              </a:rPr>
              <a:t>m-Number of columns in the output. If None, it defaults to N.</a:t>
            </a:r>
          </a:p>
          <a:p>
            <a:pPr marL="285750" indent="-285750">
              <a:lnSpc>
                <a:spcPct val="150000"/>
              </a:lnSpc>
              <a:buFont typeface="Arial" panose="020B0604020202020204" pitchFamily="34" charset="0"/>
              <a:buChar char="•"/>
            </a:pPr>
            <a:r>
              <a:rPr lang="en-US" b="0" i="0" dirty="0">
                <a:effectLst/>
                <a:highlight>
                  <a:srgbClr val="FFFFFF"/>
                </a:highlight>
                <a:latin typeface="Calibri" panose="020F0502020204030204" pitchFamily="34" charset="0"/>
                <a:ea typeface="Calibri" panose="020F0502020204030204" pitchFamily="34" charset="0"/>
                <a:cs typeface="Calibri" panose="020F0502020204030204" pitchFamily="34" charset="0"/>
              </a:rPr>
              <a:t>k-</a:t>
            </a:r>
            <a:r>
              <a:rPr lang="en-US" b="0" i="0" dirty="0" err="1">
                <a:effectLst/>
                <a:highlight>
                  <a:srgbClr val="FFFFFF"/>
                </a:highlight>
                <a:latin typeface="Calibri" panose="020F0502020204030204" pitchFamily="34" charset="0"/>
                <a:ea typeface="Calibri" panose="020F0502020204030204" pitchFamily="34" charset="0"/>
                <a:cs typeface="Calibri" panose="020F0502020204030204" pitchFamily="34" charset="0"/>
              </a:rPr>
              <a:t>ndex</a:t>
            </a:r>
            <a:r>
              <a:rPr lang="en-US" b="0" i="0" dirty="0">
                <a:effectLst/>
                <a:highlight>
                  <a:srgbClr val="FFFFFF"/>
                </a:highlight>
                <a:latin typeface="Calibri" panose="020F0502020204030204" pitchFamily="34" charset="0"/>
                <a:ea typeface="Calibri" panose="020F0502020204030204" pitchFamily="34" charset="0"/>
                <a:cs typeface="Calibri" panose="020F0502020204030204" pitchFamily="34" charset="0"/>
              </a:rPr>
              <a:t> of the diagonal. 0 (default) refers to the main diagonal, a positive value refers to an upper diagonal, and a negative value refers to a lower diagonal.</a:t>
            </a:r>
            <a:endParaRPr lang="en-US" dirty="0">
              <a:highlight>
                <a:srgbClr val="FFFFFF"/>
              </a:highlight>
              <a:latin typeface="Calibri" panose="020F0502020204030204" pitchFamily="34" charset="0"/>
              <a:ea typeface="Calibri" panose="020F0502020204030204" pitchFamily="34" charset="0"/>
              <a:cs typeface="Calibri" panose="020F0502020204030204" pitchFamily="34" charset="0"/>
            </a:endParaRPr>
          </a:p>
          <a:p>
            <a:pPr marL="285750" indent="-285750">
              <a:lnSpc>
                <a:spcPct val="150000"/>
              </a:lnSpc>
              <a:buFont typeface="Arial" panose="020B0604020202020204" pitchFamily="34" charset="0"/>
              <a:buChar char="•"/>
            </a:pPr>
            <a:r>
              <a:rPr lang="en-US" b="0" i="0" dirty="0" err="1">
                <a:effectLst/>
                <a:highlight>
                  <a:srgbClr val="FFFFFF"/>
                </a:highlight>
                <a:latin typeface="Calibri" panose="020F0502020204030204" pitchFamily="34" charset="0"/>
                <a:ea typeface="Calibri" panose="020F0502020204030204" pitchFamily="34" charset="0"/>
                <a:cs typeface="Calibri" panose="020F0502020204030204" pitchFamily="34" charset="0"/>
              </a:rPr>
              <a:t>dtype</a:t>
            </a:r>
            <a:r>
              <a:rPr lang="en-US" b="0" i="0" dirty="0">
                <a:effectLst/>
                <a:highlight>
                  <a:srgbClr val="FFFFFF"/>
                </a:highlight>
                <a:latin typeface="Calibri" panose="020F0502020204030204" pitchFamily="34" charset="0"/>
                <a:ea typeface="Calibri" panose="020F0502020204030204" pitchFamily="34" charset="0"/>
                <a:cs typeface="Calibri" panose="020F0502020204030204" pitchFamily="34" charset="0"/>
              </a:rPr>
              <a:t>-Data type of the returned array.</a:t>
            </a:r>
          </a:p>
          <a:p>
            <a:pPr marL="285750" indent="-285750">
              <a:lnSpc>
                <a:spcPct val="150000"/>
              </a:lnSpc>
              <a:buFont typeface="Arial" panose="020B0604020202020204" pitchFamily="34" charset="0"/>
              <a:buChar char="•"/>
            </a:pPr>
            <a:r>
              <a:rPr lang="en-US" b="0" i="0" dirty="0">
                <a:effectLst/>
                <a:highlight>
                  <a:srgbClr val="FFFFFF"/>
                </a:highlight>
                <a:latin typeface="Calibri" panose="020F0502020204030204" pitchFamily="34" charset="0"/>
                <a:ea typeface="Calibri" panose="020F0502020204030204" pitchFamily="34" charset="0"/>
                <a:cs typeface="Calibri" panose="020F0502020204030204" pitchFamily="34" charset="0"/>
              </a:rPr>
              <a:t>order-Memory layout order of the output array. 'C' for row-major and 'F' for column-major.</a:t>
            </a:r>
          </a:p>
          <a:p>
            <a:pPr marL="285750" indent="-285750">
              <a:lnSpc>
                <a:spcPct val="150000"/>
              </a:lnSpc>
              <a:buFont typeface="Arial" panose="020B0604020202020204" pitchFamily="34" charset="0"/>
              <a:buChar char="•"/>
            </a:pPr>
            <a:endParaRPr lang="en-US" b="0" i="0" dirty="0">
              <a:effectLst/>
              <a:highlight>
                <a:srgbClr val="FFFFFF"/>
              </a:highlight>
              <a:latin typeface="Calibri" panose="020F0502020204030204" pitchFamily="34" charset="0"/>
              <a:ea typeface="Calibri" panose="020F0502020204030204" pitchFamily="34" charset="0"/>
              <a:cs typeface="Calibri" panose="020F0502020204030204" pitchFamily="34" charset="0"/>
            </a:endParaRPr>
          </a:p>
          <a:p>
            <a:pPr marL="285750" indent="-285750">
              <a:lnSpc>
                <a:spcPct val="150000"/>
              </a:lnSpc>
              <a:buFont typeface="Arial" panose="020B0604020202020204" pitchFamily="34" charset="0"/>
              <a:buChar char="•"/>
            </a:pPr>
            <a:endParaRPr lang="en-US" dirty="0">
              <a:latin typeface="Calibri" panose="020F0502020204030204" pitchFamily="34" charset="0"/>
              <a:ea typeface="Calibri" panose="020F0502020204030204" pitchFamily="34" charset="0"/>
              <a:cs typeface="Calibri" panose="020F0502020204030204" pitchFamily="34" charset="0"/>
            </a:endParaRPr>
          </a:p>
          <a:p>
            <a:pPr marL="285750" indent="-285750">
              <a:lnSpc>
                <a:spcPct val="150000"/>
              </a:lnSpc>
              <a:buFont typeface="Arial" panose="020B0604020202020204" pitchFamily="34" charset="0"/>
              <a:buChar char="•"/>
            </a:pPr>
            <a:endParaRPr lang="en-US" dirty="0">
              <a:latin typeface="Calibri" panose="020F0502020204030204" pitchFamily="34" charset="0"/>
              <a:ea typeface="Calibri" panose="020F0502020204030204" pitchFamily="34" charset="0"/>
              <a:cs typeface="Calibri" panose="020F0502020204030204" pitchFamily="34" charset="0"/>
            </a:endParaRPr>
          </a:p>
        </p:txBody>
      </p:sp>
      <p:pic>
        <p:nvPicPr>
          <p:cNvPr id="10243" name="Picture 3" descr="NumPy array: eye() function">
            <a:extLst>
              <a:ext uri="{FF2B5EF4-FFF2-40B4-BE49-F238E27FC236}">
                <a16:creationId xmlns:a16="http://schemas.microsoft.com/office/drawing/2014/main" id="{FFC293E5-5DC0-AD28-6608-1E5B0289EA88}"/>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5393"/>
          <a:stretch/>
        </p:blipFill>
        <p:spPr bwMode="auto">
          <a:xfrm>
            <a:off x="9643147" y="4106897"/>
            <a:ext cx="1847850" cy="194644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14956945"/>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Table 8">
            <a:extLst>
              <a:ext uri="{FF2B5EF4-FFF2-40B4-BE49-F238E27FC236}">
                <a16:creationId xmlns:a16="http://schemas.microsoft.com/office/drawing/2014/main" id="{0B6EC464-4750-5FF3-7A5A-15612BA6E293}"/>
              </a:ext>
            </a:extLst>
          </p:cNvPr>
          <p:cNvGraphicFramePr>
            <a:graphicFrameLocks noGrp="1"/>
          </p:cNvGraphicFramePr>
          <p:nvPr/>
        </p:nvGraphicFramePr>
        <p:xfrm>
          <a:off x="0" y="23812"/>
          <a:ext cx="12192000" cy="465287"/>
        </p:xfrm>
        <a:graphic>
          <a:graphicData uri="http://schemas.openxmlformats.org/drawingml/2006/table">
            <a:tbl>
              <a:tblPr firstRow="1" bandRow="1">
                <a:tableStyleId>{5C22544A-7EE6-4342-B048-85BDC9FD1C3A}</a:tableStyleId>
              </a:tblPr>
              <a:tblGrid>
                <a:gridCol w="6092042">
                  <a:extLst>
                    <a:ext uri="{9D8B030D-6E8A-4147-A177-3AD203B41FA5}">
                      <a16:colId xmlns:a16="http://schemas.microsoft.com/office/drawing/2014/main" val="2179694530"/>
                    </a:ext>
                  </a:extLst>
                </a:gridCol>
                <a:gridCol w="6099958">
                  <a:extLst>
                    <a:ext uri="{9D8B030D-6E8A-4147-A177-3AD203B41FA5}">
                      <a16:colId xmlns:a16="http://schemas.microsoft.com/office/drawing/2014/main" val="2768207918"/>
                    </a:ext>
                  </a:extLst>
                </a:gridCol>
              </a:tblGrid>
              <a:tr h="465287">
                <a:tc>
                  <a:txBody>
                    <a:bodyPr/>
                    <a:lstStyle/>
                    <a:p>
                      <a:endParaRPr lang="en-US" dirty="0"/>
                    </a:p>
                  </a:txBody>
                  <a:tcPr>
                    <a:solidFill>
                      <a:srgbClr val="FF85FF"/>
                    </a:solidFill>
                  </a:tcPr>
                </a:tc>
                <a:tc>
                  <a:txBody>
                    <a:bodyPr/>
                    <a:lstStyle/>
                    <a:p>
                      <a:endParaRPr lang="en-US" dirty="0"/>
                    </a:p>
                  </a:txBody>
                  <a:tcPr>
                    <a:solidFill>
                      <a:srgbClr val="FFFF00"/>
                    </a:solidFill>
                  </a:tcPr>
                </a:tc>
                <a:extLst>
                  <a:ext uri="{0D108BD9-81ED-4DB2-BD59-A6C34878D82A}">
                    <a16:rowId xmlns:a16="http://schemas.microsoft.com/office/drawing/2014/main" val="1996944423"/>
                  </a:ext>
                </a:extLst>
              </a:tr>
            </a:tbl>
          </a:graphicData>
        </a:graphic>
      </p:graphicFrame>
      <p:graphicFrame>
        <p:nvGraphicFramePr>
          <p:cNvPr id="10" name="Table 9">
            <a:extLst>
              <a:ext uri="{FF2B5EF4-FFF2-40B4-BE49-F238E27FC236}">
                <a16:creationId xmlns:a16="http://schemas.microsoft.com/office/drawing/2014/main" id="{494BAFB7-FE1F-E1A9-7A6C-AB4145BD9BA1}"/>
              </a:ext>
            </a:extLst>
          </p:cNvPr>
          <p:cNvGraphicFramePr>
            <a:graphicFrameLocks noGrp="1"/>
          </p:cNvGraphicFramePr>
          <p:nvPr>
            <p:extLst>
              <p:ext uri="{D42A27DB-BD31-4B8C-83A1-F6EECF244321}">
                <p14:modId xmlns:p14="http://schemas.microsoft.com/office/powerpoint/2010/main" val="2002820836"/>
              </p:ext>
            </p:extLst>
          </p:nvPr>
        </p:nvGraphicFramePr>
        <p:xfrm>
          <a:off x="1" y="6478892"/>
          <a:ext cx="12191999" cy="370840"/>
        </p:xfrm>
        <a:graphic>
          <a:graphicData uri="http://schemas.openxmlformats.org/drawingml/2006/table">
            <a:tbl>
              <a:tblPr firstRow="1" bandRow="1">
                <a:tableStyleId>{5C22544A-7EE6-4342-B048-85BDC9FD1C3A}</a:tableStyleId>
              </a:tblPr>
              <a:tblGrid>
                <a:gridCol w="6080165">
                  <a:extLst>
                    <a:ext uri="{9D8B030D-6E8A-4147-A177-3AD203B41FA5}">
                      <a16:colId xmlns:a16="http://schemas.microsoft.com/office/drawing/2014/main" val="2179694530"/>
                    </a:ext>
                  </a:extLst>
                </a:gridCol>
                <a:gridCol w="6111834">
                  <a:extLst>
                    <a:ext uri="{9D8B030D-6E8A-4147-A177-3AD203B41FA5}">
                      <a16:colId xmlns:a16="http://schemas.microsoft.com/office/drawing/2014/main" val="2768207918"/>
                    </a:ext>
                  </a:extLst>
                </a:gridCol>
              </a:tblGrid>
              <a:tr h="370840">
                <a:tc>
                  <a:txBody>
                    <a:bodyPr/>
                    <a:lstStyle/>
                    <a:p>
                      <a:endParaRPr lang="en-US" dirty="0"/>
                    </a:p>
                  </a:txBody>
                  <a:tcPr>
                    <a:solidFill>
                      <a:srgbClr val="FFFF00"/>
                    </a:solidFill>
                  </a:tcPr>
                </a:tc>
                <a:tc>
                  <a:txBody>
                    <a:bodyPr/>
                    <a:lstStyle/>
                    <a:p>
                      <a:pPr algn="r"/>
                      <a:r>
                        <a:rPr lang="en-US" dirty="0">
                          <a:solidFill>
                            <a:schemeClr val="tx1"/>
                          </a:solidFill>
                        </a:rPr>
                        <a:t>80</a:t>
                      </a:r>
                    </a:p>
                  </a:txBody>
                  <a:tcPr>
                    <a:solidFill>
                      <a:srgbClr val="FF85FF"/>
                    </a:solidFill>
                  </a:tcPr>
                </a:tc>
                <a:extLst>
                  <a:ext uri="{0D108BD9-81ED-4DB2-BD59-A6C34878D82A}">
                    <a16:rowId xmlns:a16="http://schemas.microsoft.com/office/drawing/2014/main" val="1996944423"/>
                  </a:ext>
                </a:extLst>
              </a:tr>
            </a:tbl>
          </a:graphicData>
        </a:graphic>
      </p:graphicFrame>
      <p:pic>
        <p:nvPicPr>
          <p:cNvPr id="12" name="Google Shape;187;p25" descr="pngfind.com-kingpin-png-4152286 (1).png">
            <a:extLst>
              <a:ext uri="{FF2B5EF4-FFF2-40B4-BE49-F238E27FC236}">
                <a16:creationId xmlns:a16="http://schemas.microsoft.com/office/drawing/2014/main" id="{2DBF2481-A2DB-F96E-5749-B03DC4F71665}"/>
              </a:ext>
            </a:extLst>
          </p:cNvPr>
          <p:cNvPicPr preferRelativeResize="0"/>
          <p:nvPr/>
        </p:nvPicPr>
        <p:blipFill rotWithShape="1">
          <a:blip r:embed="rId2">
            <a:alphaModFix/>
          </a:blip>
          <a:srcRect/>
          <a:stretch/>
        </p:blipFill>
        <p:spPr>
          <a:xfrm>
            <a:off x="11044052" y="8268"/>
            <a:ext cx="1051261" cy="465287"/>
          </a:xfrm>
          <a:prstGeom prst="rect">
            <a:avLst/>
          </a:prstGeom>
          <a:noFill/>
          <a:ln>
            <a:noFill/>
          </a:ln>
        </p:spPr>
      </p:pic>
      <p:sp>
        <p:nvSpPr>
          <p:cNvPr id="19" name="Rectangle 18">
            <a:extLst>
              <a:ext uri="{FF2B5EF4-FFF2-40B4-BE49-F238E27FC236}">
                <a16:creationId xmlns:a16="http://schemas.microsoft.com/office/drawing/2014/main" id="{A0702E37-2E7E-7262-5E76-F69A817105B3}"/>
              </a:ext>
            </a:extLst>
          </p:cNvPr>
          <p:cNvSpPr/>
          <p:nvPr/>
        </p:nvSpPr>
        <p:spPr>
          <a:xfrm>
            <a:off x="0" y="8268"/>
            <a:ext cx="12192000" cy="6825920"/>
          </a:xfrm>
          <a:prstGeom prst="rect">
            <a:avLst/>
          </a:prstGeom>
          <a:noFill/>
          <a:ln w="38100">
            <a:solidFill>
              <a:srgbClr val="0432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DCB2A3F0-9003-5886-09B4-27925BBE4000}"/>
              </a:ext>
            </a:extLst>
          </p:cNvPr>
          <p:cNvSpPr txBox="1"/>
          <p:nvPr/>
        </p:nvSpPr>
        <p:spPr>
          <a:xfrm>
            <a:off x="0" y="873851"/>
            <a:ext cx="12191999" cy="646331"/>
          </a:xfrm>
          <a:prstGeom prst="rect">
            <a:avLst/>
          </a:prstGeom>
          <a:noFill/>
        </p:spPr>
        <p:txBody>
          <a:bodyPr wrap="square">
            <a:spAutoFit/>
          </a:bodyPr>
          <a:lstStyle/>
          <a:p>
            <a:pPr algn="ctr"/>
            <a:r>
              <a:rPr lang="en-US" sz="3600" b="1" dirty="0">
                <a:latin typeface="Calibri" panose="020F0502020204030204" pitchFamily="34" charset="0"/>
                <a:ea typeface="Calibri" panose="020F0502020204030204" pitchFamily="34" charset="0"/>
                <a:cs typeface="Calibri" panose="020F0502020204030204" pitchFamily="34" charset="0"/>
              </a:rPr>
              <a:t>e</a:t>
            </a:r>
            <a:r>
              <a:rPr lang="en-US" sz="3600" b="1" dirty="0">
                <a:effectLst/>
                <a:latin typeface="Calibri" panose="020F0502020204030204" pitchFamily="34" charset="0"/>
                <a:ea typeface="Calibri" panose="020F0502020204030204" pitchFamily="34" charset="0"/>
                <a:cs typeface="Calibri" panose="020F0502020204030204" pitchFamily="34" charset="0"/>
              </a:rPr>
              <a:t>ye Function</a:t>
            </a:r>
            <a:endParaRPr lang="en-US" sz="3600" b="1" dirty="0">
              <a:latin typeface="Calibri" panose="020F0502020204030204" pitchFamily="34" charset="0"/>
              <a:ea typeface="Calibri" panose="020F0502020204030204" pitchFamily="34" charset="0"/>
              <a:cs typeface="Calibri" panose="020F0502020204030204" pitchFamily="34" charset="0"/>
            </a:endParaRPr>
          </a:p>
        </p:txBody>
      </p:sp>
      <p:sp>
        <p:nvSpPr>
          <p:cNvPr id="8" name="TextBox 7">
            <a:extLst>
              <a:ext uri="{FF2B5EF4-FFF2-40B4-BE49-F238E27FC236}">
                <a16:creationId xmlns:a16="http://schemas.microsoft.com/office/drawing/2014/main" id="{1D27C92B-CB57-11B4-D725-334A447A4F66}"/>
              </a:ext>
            </a:extLst>
          </p:cNvPr>
          <p:cNvSpPr txBox="1"/>
          <p:nvPr/>
        </p:nvSpPr>
        <p:spPr>
          <a:xfrm>
            <a:off x="596347" y="1668774"/>
            <a:ext cx="10614991" cy="1295868"/>
          </a:xfrm>
          <a:prstGeom prst="rect">
            <a:avLst/>
          </a:prstGeom>
          <a:noFill/>
        </p:spPr>
        <p:txBody>
          <a:bodyPr wrap="square">
            <a:spAutoFit/>
          </a:bodyPr>
          <a:lstStyle/>
          <a:p>
            <a:pPr marL="285750" indent="-285750">
              <a:lnSpc>
                <a:spcPct val="150000"/>
              </a:lnSpc>
              <a:buFont typeface="Arial" panose="020B0604020202020204" pitchFamily="34" charset="0"/>
              <a:buChar char="•"/>
            </a:pPr>
            <a:endParaRPr lang="en-US" b="0" i="0" dirty="0">
              <a:effectLst/>
              <a:highlight>
                <a:srgbClr val="FFFFFF"/>
              </a:highlight>
              <a:latin typeface="Calibri" panose="020F0502020204030204" pitchFamily="34" charset="0"/>
              <a:ea typeface="Calibri" panose="020F0502020204030204" pitchFamily="34" charset="0"/>
              <a:cs typeface="Calibri" panose="020F0502020204030204" pitchFamily="34" charset="0"/>
            </a:endParaRPr>
          </a:p>
          <a:p>
            <a:pPr marL="285750" indent="-285750">
              <a:lnSpc>
                <a:spcPct val="150000"/>
              </a:lnSpc>
              <a:buFont typeface="Arial" panose="020B0604020202020204" pitchFamily="34" charset="0"/>
              <a:buChar char="•"/>
            </a:pPr>
            <a:endParaRPr lang="en-US" dirty="0">
              <a:latin typeface="Calibri" panose="020F0502020204030204" pitchFamily="34" charset="0"/>
              <a:ea typeface="Calibri" panose="020F0502020204030204" pitchFamily="34" charset="0"/>
              <a:cs typeface="Calibri" panose="020F0502020204030204" pitchFamily="34" charset="0"/>
            </a:endParaRPr>
          </a:p>
          <a:p>
            <a:pPr marL="285750" indent="-285750">
              <a:lnSpc>
                <a:spcPct val="150000"/>
              </a:lnSpc>
              <a:buFont typeface="Arial" panose="020B0604020202020204" pitchFamily="34" charset="0"/>
              <a:buChar char="•"/>
            </a:pPr>
            <a:endParaRPr lang="en-US" dirty="0">
              <a:latin typeface="Calibri" panose="020F0502020204030204" pitchFamily="34" charset="0"/>
              <a:ea typeface="Calibri" panose="020F0502020204030204" pitchFamily="34" charset="0"/>
              <a:cs typeface="Calibri" panose="020F0502020204030204" pitchFamily="34" charset="0"/>
            </a:endParaRPr>
          </a:p>
        </p:txBody>
      </p:sp>
      <p:sp>
        <p:nvSpPr>
          <p:cNvPr id="14" name="TextBox 13">
            <a:extLst>
              <a:ext uri="{FF2B5EF4-FFF2-40B4-BE49-F238E27FC236}">
                <a16:creationId xmlns:a16="http://schemas.microsoft.com/office/drawing/2014/main" id="{AFC35A2C-34A9-1563-F944-B52BBD61E7B7}"/>
              </a:ext>
            </a:extLst>
          </p:cNvPr>
          <p:cNvSpPr txBox="1"/>
          <p:nvPr/>
        </p:nvSpPr>
        <p:spPr>
          <a:xfrm>
            <a:off x="513524" y="2152877"/>
            <a:ext cx="3134138" cy="3693319"/>
          </a:xfrm>
          <a:prstGeom prst="rect">
            <a:avLst/>
          </a:prstGeom>
          <a:noFill/>
          <a:ln w="6350">
            <a:solidFill>
              <a:schemeClr val="tx1"/>
            </a:solidFill>
          </a:ln>
        </p:spPr>
        <p:txBody>
          <a:bodyPr wrap="square">
            <a:spAutoFit/>
          </a:bodyPr>
          <a:lstStyle/>
          <a:p>
            <a:r>
              <a:rPr lang="en-IN" b="0" i="0" dirty="0">
                <a:solidFill>
                  <a:srgbClr val="1990B8"/>
                </a:solidFill>
                <a:effectLst/>
                <a:latin typeface="Consolas" panose="020B0609020204030204" pitchFamily="49" charset="0"/>
              </a:rPr>
              <a:t>import</a:t>
            </a:r>
            <a:r>
              <a:rPr lang="en-IN" b="0" i="0" dirty="0">
                <a:solidFill>
                  <a:srgbClr val="000000"/>
                </a:solidFill>
                <a:effectLst/>
                <a:highlight>
                  <a:srgbClr val="FDFDFD"/>
                </a:highlight>
                <a:latin typeface="Consolas" panose="020B0609020204030204" pitchFamily="49" charset="0"/>
              </a:rPr>
              <a:t> </a:t>
            </a:r>
            <a:r>
              <a:rPr lang="en-IN" b="0" i="0" dirty="0" err="1">
                <a:solidFill>
                  <a:srgbClr val="000000"/>
                </a:solidFill>
                <a:effectLst/>
                <a:highlight>
                  <a:srgbClr val="FDFDFD"/>
                </a:highlight>
                <a:latin typeface="Consolas" panose="020B0609020204030204" pitchFamily="49" charset="0"/>
              </a:rPr>
              <a:t>numpy</a:t>
            </a:r>
            <a:r>
              <a:rPr lang="en-IN" b="0" i="0" dirty="0">
                <a:solidFill>
                  <a:srgbClr val="000000"/>
                </a:solidFill>
                <a:effectLst/>
                <a:highlight>
                  <a:srgbClr val="FDFDFD"/>
                </a:highlight>
                <a:latin typeface="Consolas" panose="020B0609020204030204" pitchFamily="49" charset="0"/>
              </a:rPr>
              <a:t> </a:t>
            </a:r>
            <a:r>
              <a:rPr lang="en-IN" b="0" i="0" dirty="0">
                <a:solidFill>
                  <a:srgbClr val="1990B8"/>
                </a:solidFill>
                <a:effectLst/>
                <a:latin typeface="Consolas" panose="020B0609020204030204" pitchFamily="49" charset="0"/>
              </a:rPr>
              <a:t>as</a:t>
            </a:r>
            <a:r>
              <a:rPr lang="en-IN" b="0" i="0" dirty="0">
                <a:solidFill>
                  <a:srgbClr val="000000"/>
                </a:solidFill>
                <a:effectLst/>
                <a:highlight>
                  <a:srgbClr val="FDFDFD"/>
                </a:highlight>
                <a:latin typeface="Consolas" panose="020B0609020204030204" pitchFamily="49" charset="0"/>
              </a:rPr>
              <a:t> </a:t>
            </a:r>
          </a:p>
          <a:p>
            <a:r>
              <a:rPr lang="en-IN" b="0" i="0" dirty="0">
                <a:solidFill>
                  <a:srgbClr val="000000"/>
                </a:solidFill>
                <a:effectLst/>
                <a:highlight>
                  <a:srgbClr val="FDFDFD"/>
                </a:highlight>
                <a:latin typeface="Consolas" panose="020B0609020204030204" pitchFamily="49" charset="0"/>
              </a:rPr>
              <a:t>np </a:t>
            </a:r>
            <a:r>
              <a:rPr lang="en-IN" b="0" i="0" dirty="0" err="1">
                <a:solidFill>
                  <a:srgbClr val="000000"/>
                </a:solidFill>
                <a:effectLst/>
                <a:highlight>
                  <a:srgbClr val="FDFDFD"/>
                </a:highlight>
                <a:latin typeface="Consolas" panose="020B0609020204030204" pitchFamily="49" charset="0"/>
              </a:rPr>
              <a:t>np</a:t>
            </a:r>
            <a:r>
              <a:rPr lang="en-IN" b="0" i="0" dirty="0" err="1">
                <a:solidFill>
                  <a:srgbClr val="5F6364"/>
                </a:solidFill>
                <a:effectLst/>
                <a:latin typeface="Consolas" panose="020B0609020204030204" pitchFamily="49" charset="0"/>
              </a:rPr>
              <a:t>.</a:t>
            </a:r>
            <a:r>
              <a:rPr lang="en-IN" b="0" i="0" dirty="0" err="1">
                <a:solidFill>
                  <a:srgbClr val="000000"/>
                </a:solidFill>
                <a:effectLst/>
                <a:highlight>
                  <a:srgbClr val="FDFDFD"/>
                </a:highlight>
                <a:latin typeface="Consolas" panose="020B0609020204030204" pitchFamily="49" charset="0"/>
              </a:rPr>
              <a:t>eye</a:t>
            </a:r>
            <a:r>
              <a:rPr lang="en-IN" b="0" i="0" dirty="0">
                <a:solidFill>
                  <a:srgbClr val="5F6364"/>
                </a:solidFill>
                <a:effectLst/>
                <a:latin typeface="Consolas" panose="020B0609020204030204" pitchFamily="49" charset="0"/>
              </a:rPr>
              <a:t>(</a:t>
            </a:r>
            <a:r>
              <a:rPr lang="en-IN" b="0" i="0" dirty="0">
                <a:solidFill>
                  <a:srgbClr val="C92C2C"/>
                </a:solidFill>
                <a:effectLst/>
                <a:latin typeface="Consolas" panose="020B0609020204030204" pitchFamily="49" charset="0"/>
              </a:rPr>
              <a:t>2</a:t>
            </a:r>
            <a:r>
              <a:rPr lang="en-IN" b="0" i="0" dirty="0">
                <a:solidFill>
                  <a:srgbClr val="5F6364"/>
                </a:solidFill>
                <a:effectLst/>
                <a:latin typeface="Consolas" panose="020B0609020204030204" pitchFamily="49" charset="0"/>
              </a:rPr>
              <a:t>)</a:t>
            </a:r>
            <a:r>
              <a:rPr lang="en-IN" b="0" i="0" dirty="0">
                <a:solidFill>
                  <a:srgbClr val="000000"/>
                </a:solidFill>
                <a:effectLst/>
                <a:highlight>
                  <a:srgbClr val="FDFDFD"/>
                </a:highlight>
                <a:latin typeface="Consolas" panose="020B0609020204030204" pitchFamily="49" charset="0"/>
              </a:rPr>
              <a:t> </a:t>
            </a:r>
          </a:p>
          <a:p>
            <a:endParaRPr lang="en-IN" b="0" i="0" dirty="0">
              <a:solidFill>
                <a:srgbClr val="000000"/>
              </a:solidFill>
              <a:effectLst/>
              <a:highlight>
                <a:srgbClr val="FDFDFD"/>
              </a:highlight>
              <a:latin typeface="Consolas" panose="020B0609020204030204" pitchFamily="49" charset="0"/>
            </a:endParaRPr>
          </a:p>
          <a:p>
            <a:r>
              <a:rPr lang="en-IN" b="1" dirty="0">
                <a:solidFill>
                  <a:srgbClr val="000000"/>
                </a:solidFill>
                <a:highlight>
                  <a:srgbClr val="FDFDFD"/>
                </a:highlight>
                <a:latin typeface="Consolas" panose="020B0609020204030204" pitchFamily="49" charset="0"/>
              </a:rPr>
              <a:t>Output:</a:t>
            </a:r>
            <a:endParaRPr lang="en-IN" b="1" i="0" dirty="0">
              <a:solidFill>
                <a:srgbClr val="000000"/>
              </a:solidFill>
              <a:effectLst/>
              <a:highlight>
                <a:srgbClr val="FDFDFD"/>
              </a:highlight>
              <a:latin typeface="Consolas" panose="020B0609020204030204" pitchFamily="49" charset="0"/>
            </a:endParaRPr>
          </a:p>
          <a:p>
            <a:r>
              <a:rPr lang="en-IN" b="0" i="0" dirty="0">
                <a:solidFill>
                  <a:srgbClr val="000000"/>
                </a:solidFill>
                <a:effectLst/>
                <a:highlight>
                  <a:srgbClr val="FDFDFD"/>
                </a:highlight>
                <a:latin typeface="Consolas" panose="020B0609020204030204" pitchFamily="49" charset="0"/>
              </a:rPr>
              <a:t>array</a:t>
            </a:r>
            <a:r>
              <a:rPr lang="en-IN" b="0" i="0" dirty="0">
                <a:solidFill>
                  <a:srgbClr val="5F6364"/>
                </a:solidFill>
                <a:effectLst/>
                <a:latin typeface="Consolas" panose="020B0609020204030204" pitchFamily="49" charset="0"/>
              </a:rPr>
              <a:t>([[</a:t>
            </a:r>
            <a:r>
              <a:rPr lang="en-IN" b="0" i="0" dirty="0">
                <a:solidFill>
                  <a:srgbClr val="000000"/>
                </a:solidFill>
                <a:effectLst/>
                <a:highlight>
                  <a:srgbClr val="FDFDFD"/>
                </a:highlight>
                <a:latin typeface="Consolas" panose="020B0609020204030204" pitchFamily="49" charset="0"/>
              </a:rPr>
              <a:t> </a:t>
            </a:r>
            <a:r>
              <a:rPr lang="en-IN" b="0" i="0" dirty="0">
                <a:solidFill>
                  <a:srgbClr val="C92C2C"/>
                </a:solidFill>
                <a:effectLst/>
                <a:latin typeface="Consolas" panose="020B0609020204030204" pitchFamily="49" charset="0"/>
              </a:rPr>
              <a:t>1</a:t>
            </a:r>
            <a:r>
              <a:rPr lang="en-IN" b="0" i="0" dirty="0">
                <a:solidFill>
                  <a:srgbClr val="5F6364"/>
                </a:solidFill>
                <a:effectLst/>
                <a:latin typeface="Consolas" panose="020B0609020204030204" pitchFamily="49" charset="0"/>
              </a:rPr>
              <a:t>.,</a:t>
            </a:r>
            <a:r>
              <a:rPr lang="en-IN" b="0" i="0" dirty="0">
                <a:solidFill>
                  <a:srgbClr val="000000"/>
                </a:solidFill>
                <a:effectLst/>
                <a:highlight>
                  <a:srgbClr val="FDFDFD"/>
                </a:highlight>
                <a:latin typeface="Consolas" panose="020B0609020204030204" pitchFamily="49" charset="0"/>
              </a:rPr>
              <a:t> </a:t>
            </a:r>
            <a:r>
              <a:rPr lang="en-IN" b="0" i="0" dirty="0">
                <a:solidFill>
                  <a:srgbClr val="C92C2C"/>
                </a:solidFill>
                <a:effectLst/>
                <a:latin typeface="Consolas" panose="020B0609020204030204" pitchFamily="49" charset="0"/>
              </a:rPr>
              <a:t>0</a:t>
            </a:r>
            <a:r>
              <a:rPr lang="en-IN" b="0" i="0" dirty="0">
                <a:solidFill>
                  <a:srgbClr val="5F6364"/>
                </a:solidFill>
                <a:effectLst/>
                <a:latin typeface="Consolas" panose="020B0609020204030204" pitchFamily="49" charset="0"/>
              </a:rPr>
              <a:t>.],</a:t>
            </a:r>
            <a:r>
              <a:rPr lang="en-IN" b="0" i="0" dirty="0">
                <a:solidFill>
                  <a:srgbClr val="000000"/>
                </a:solidFill>
                <a:effectLst/>
                <a:highlight>
                  <a:srgbClr val="FDFDFD"/>
                </a:highlight>
                <a:latin typeface="Consolas" panose="020B0609020204030204" pitchFamily="49" charset="0"/>
              </a:rPr>
              <a:t> </a:t>
            </a:r>
          </a:p>
          <a:p>
            <a:r>
              <a:rPr lang="en-IN" dirty="0">
                <a:solidFill>
                  <a:srgbClr val="000000"/>
                </a:solidFill>
                <a:highlight>
                  <a:srgbClr val="FDFDFD"/>
                </a:highlight>
                <a:latin typeface="Consolas" panose="020B0609020204030204" pitchFamily="49" charset="0"/>
              </a:rPr>
              <a:t>       </a:t>
            </a:r>
            <a:r>
              <a:rPr lang="en-IN" b="0" i="0" dirty="0">
                <a:solidFill>
                  <a:srgbClr val="5F6364"/>
                </a:solidFill>
                <a:effectLst/>
                <a:latin typeface="Consolas" panose="020B0609020204030204" pitchFamily="49" charset="0"/>
              </a:rPr>
              <a:t>[</a:t>
            </a:r>
            <a:r>
              <a:rPr lang="en-IN" b="0" i="0" dirty="0">
                <a:solidFill>
                  <a:srgbClr val="000000"/>
                </a:solidFill>
                <a:effectLst/>
                <a:highlight>
                  <a:srgbClr val="FDFDFD"/>
                </a:highlight>
                <a:latin typeface="Consolas" panose="020B0609020204030204" pitchFamily="49" charset="0"/>
              </a:rPr>
              <a:t> </a:t>
            </a:r>
            <a:r>
              <a:rPr lang="en-IN" b="0" i="0" dirty="0">
                <a:solidFill>
                  <a:srgbClr val="C92C2C"/>
                </a:solidFill>
                <a:effectLst/>
                <a:latin typeface="Consolas" panose="020B0609020204030204" pitchFamily="49" charset="0"/>
              </a:rPr>
              <a:t>0</a:t>
            </a:r>
            <a:r>
              <a:rPr lang="en-IN" b="0" i="0" dirty="0">
                <a:solidFill>
                  <a:srgbClr val="5F6364"/>
                </a:solidFill>
                <a:effectLst/>
                <a:latin typeface="Consolas" panose="020B0609020204030204" pitchFamily="49" charset="0"/>
              </a:rPr>
              <a:t>.,</a:t>
            </a:r>
            <a:r>
              <a:rPr lang="en-IN" b="0" i="0" dirty="0">
                <a:solidFill>
                  <a:srgbClr val="000000"/>
                </a:solidFill>
                <a:effectLst/>
                <a:highlight>
                  <a:srgbClr val="FDFDFD"/>
                </a:highlight>
                <a:latin typeface="Consolas" panose="020B0609020204030204" pitchFamily="49" charset="0"/>
              </a:rPr>
              <a:t> </a:t>
            </a:r>
            <a:r>
              <a:rPr lang="en-IN" b="0" i="0" dirty="0">
                <a:solidFill>
                  <a:srgbClr val="C92C2C"/>
                </a:solidFill>
                <a:effectLst/>
                <a:latin typeface="Consolas" panose="020B0609020204030204" pitchFamily="49" charset="0"/>
              </a:rPr>
              <a:t>1</a:t>
            </a:r>
            <a:r>
              <a:rPr lang="en-IN" b="0" i="0" dirty="0">
                <a:solidFill>
                  <a:srgbClr val="5F6364"/>
                </a:solidFill>
                <a:effectLst/>
                <a:latin typeface="Consolas" panose="020B0609020204030204" pitchFamily="49" charset="0"/>
              </a:rPr>
              <a:t>.]])</a:t>
            </a:r>
            <a:r>
              <a:rPr lang="en-IN" b="0" i="0" dirty="0">
                <a:solidFill>
                  <a:srgbClr val="000000"/>
                </a:solidFill>
                <a:effectLst/>
                <a:highlight>
                  <a:srgbClr val="FDFDFD"/>
                </a:highlight>
                <a:latin typeface="Consolas" panose="020B0609020204030204" pitchFamily="49" charset="0"/>
              </a:rPr>
              <a:t> </a:t>
            </a:r>
          </a:p>
          <a:p>
            <a:endParaRPr lang="en-IN" b="0" i="0" dirty="0">
              <a:solidFill>
                <a:srgbClr val="000000"/>
              </a:solidFill>
              <a:effectLst/>
              <a:highlight>
                <a:srgbClr val="FDFDFD"/>
              </a:highlight>
              <a:latin typeface="Consolas" panose="020B0609020204030204" pitchFamily="49" charset="0"/>
            </a:endParaRPr>
          </a:p>
          <a:p>
            <a:r>
              <a:rPr lang="en-IN" b="0" i="0" dirty="0" err="1">
                <a:solidFill>
                  <a:srgbClr val="000000"/>
                </a:solidFill>
                <a:effectLst/>
                <a:highlight>
                  <a:srgbClr val="FDFDFD"/>
                </a:highlight>
                <a:latin typeface="Consolas" panose="020B0609020204030204" pitchFamily="49" charset="0"/>
              </a:rPr>
              <a:t>np</a:t>
            </a:r>
            <a:r>
              <a:rPr lang="en-IN" b="0" i="0" dirty="0" err="1">
                <a:solidFill>
                  <a:srgbClr val="5F6364"/>
                </a:solidFill>
                <a:effectLst/>
                <a:latin typeface="Consolas" panose="020B0609020204030204" pitchFamily="49" charset="0"/>
              </a:rPr>
              <a:t>.</a:t>
            </a:r>
            <a:r>
              <a:rPr lang="en-IN" b="0" i="0" dirty="0" err="1">
                <a:solidFill>
                  <a:srgbClr val="000000"/>
                </a:solidFill>
                <a:effectLst/>
                <a:highlight>
                  <a:srgbClr val="FDFDFD"/>
                </a:highlight>
                <a:latin typeface="Consolas" panose="020B0609020204030204" pitchFamily="49" charset="0"/>
              </a:rPr>
              <a:t>eye</a:t>
            </a:r>
            <a:r>
              <a:rPr lang="en-IN" b="0" i="0" dirty="0">
                <a:solidFill>
                  <a:srgbClr val="5F6364"/>
                </a:solidFill>
                <a:effectLst/>
                <a:latin typeface="Consolas" panose="020B0609020204030204" pitchFamily="49" charset="0"/>
              </a:rPr>
              <a:t>(</a:t>
            </a:r>
            <a:r>
              <a:rPr lang="en-IN" b="0" i="0" dirty="0">
                <a:solidFill>
                  <a:srgbClr val="C92C2C"/>
                </a:solidFill>
                <a:effectLst/>
                <a:latin typeface="Consolas" panose="020B0609020204030204" pitchFamily="49" charset="0"/>
              </a:rPr>
              <a:t>3</a:t>
            </a:r>
            <a:r>
              <a:rPr lang="en-IN" b="0" i="0" dirty="0">
                <a:solidFill>
                  <a:srgbClr val="5F6364"/>
                </a:solidFill>
                <a:effectLst/>
                <a:latin typeface="Consolas" panose="020B0609020204030204" pitchFamily="49" charset="0"/>
              </a:rPr>
              <a:t>,</a:t>
            </a:r>
            <a:r>
              <a:rPr lang="en-IN" b="0" i="0" dirty="0">
                <a:solidFill>
                  <a:srgbClr val="000000"/>
                </a:solidFill>
                <a:effectLst/>
                <a:highlight>
                  <a:srgbClr val="FDFDFD"/>
                </a:highlight>
                <a:latin typeface="Consolas" panose="020B0609020204030204" pitchFamily="49" charset="0"/>
              </a:rPr>
              <a:t> </a:t>
            </a:r>
            <a:r>
              <a:rPr lang="en-IN" b="0" i="0" dirty="0">
                <a:solidFill>
                  <a:srgbClr val="C92C2C"/>
                </a:solidFill>
                <a:effectLst/>
                <a:latin typeface="Consolas" panose="020B0609020204030204" pitchFamily="49" charset="0"/>
              </a:rPr>
              <a:t>3</a:t>
            </a:r>
            <a:r>
              <a:rPr lang="en-IN" b="0" i="0" dirty="0">
                <a:solidFill>
                  <a:srgbClr val="5F6364"/>
                </a:solidFill>
                <a:effectLst/>
                <a:latin typeface="Consolas" panose="020B0609020204030204" pitchFamily="49" charset="0"/>
              </a:rPr>
              <a:t>)</a:t>
            </a:r>
            <a:r>
              <a:rPr lang="en-IN" b="0" i="0" dirty="0">
                <a:solidFill>
                  <a:srgbClr val="000000"/>
                </a:solidFill>
                <a:effectLst/>
                <a:highlight>
                  <a:srgbClr val="FDFDFD"/>
                </a:highlight>
                <a:latin typeface="Consolas" panose="020B0609020204030204" pitchFamily="49" charset="0"/>
              </a:rPr>
              <a:t> </a:t>
            </a:r>
          </a:p>
          <a:p>
            <a:endParaRPr lang="en-IN" b="0" i="0" dirty="0">
              <a:solidFill>
                <a:srgbClr val="000000"/>
              </a:solidFill>
              <a:effectLst/>
              <a:highlight>
                <a:srgbClr val="FDFDFD"/>
              </a:highlight>
              <a:latin typeface="Consolas" panose="020B0609020204030204" pitchFamily="49" charset="0"/>
            </a:endParaRPr>
          </a:p>
          <a:p>
            <a:r>
              <a:rPr lang="en-IN" b="1" dirty="0">
                <a:solidFill>
                  <a:srgbClr val="000000"/>
                </a:solidFill>
                <a:highlight>
                  <a:srgbClr val="FDFDFD"/>
                </a:highlight>
                <a:latin typeface="Consolas" panose="020B0609020204030204" pitchFamily="49" charset="0"/>
              </a:rPr>
              <a:t>Output:</a:t>
            </a:r>
            <a:endParaRPr lang="en-IN" b="1" i="0" dirty="0">
              <a:solidFill>
                <a:srgbClr val="000000"/>
              </a:solidFill>
              <a:effectLst/>
              <a:highlight>
                <a:srgbClr val="FDFDFD"/>
              </a:highlight>
              <a:latin typeface="Consolas" panose="020B0609020204030204" pitchFamily="49" charset="0"/>
            </a:endParaRPr>
          </a:p>
          <a:p>
            <a:r>
              <a:rPr lang="en-IN" b="0" i="0" dirty="0">
                <a:solidFill>
                  <a:srgbClr val="000000"/>
                </a:solidFill>
                <a:effectLst/>
                <a:highlight>
                  <a:srgbClr val="FDFDFD"/>
                </a:highlight>
                <a:latin typeface="Consolas" panose="020B0609020204030204" pitchFamily="49" charset="0"/>
              </a:rPr>
              <a:t>array</a:t>
            </a:r>
            <a:r>
              <a:rPr lang="en-IN" b="0" i="0" dirty="0">
                <a:solidFill>
                  <a:srgbClr val="5F6364"/>
                </a:solidFill>
                <a:effectLst/>
                <a:latin typeface="Consolas" panose="020B0609020204030204" pitchFamily="49" charset="0"/>
              </a:rPr>
              <a:t>([[</a:t>
            </a:r>
            <a:r>
              <a:rPr lang="en-IN" b="0" i="0" dirty="0">
                <a:solidFill>
                  <a:srgbClr val="000000"/>
                </a:solidFill>
                <a:effectLst/>
                <a:highlight>
                  <a:srgbClr val="FDFDFD"/>
                </a:highlight>
                <a:latin typeface="Consolas" panose="020B0609020204030204" pitchFamily="49" charset="0"/>
              </a:rPr>
              <a:t> </a:t>
            </a:r>
            <a:r>
              <a:rPr lang="en-IN" b="0" i="0" dirty="0">
                <a:solidFill>
                  <a:srgbClr val="C92C2C"/>
                </a:solidFill>
                <a:effectLst/>
                <a:latin typeface="Consolas" panose="020B0609020204030204" pitchFamily="49" charset="0"/>
              </a:rPr>
              <a:t>1</a:t>
            </a:r>
            <a:r>
              <a:rPr lang="en-IN" b="0" i="0" dirty="0">
                <a:solidFill>
                  <a:srgbClr val="5F6364"/>
                </a:solidFill>
                <a:effectLst/>
                <a:latin typeface="Consolas" panose="020B0609020204030204" pitchFamily="49" charset="0"/>
              </a:rPr>
              <a:t>.,</a:t>
            </a:r>
            <a:r>
              <a:rPr lang="en-IN" b="0" i="0" dirty="0">
                <a:solidFill>
                  <a:srgbClr val="000000"/>
                </a:solidFill>
                <a:effectLst/>
                <a:highlight>
                  <a:srgbClr val="FDFDFD"/>
                </a:highlight>
                <a:latin typeface="Consolas" panose="020B0609020204030204" pitchFamily="49" charset="0"/>
              </a:rPr>
              <a:t> </a:t>
            </a:r>
            <a:r>
              <a:rPr lang="en-IN" b="0" i="0" dirty="0">
                <a:solidFill>
                  <a:srgbClr val="C92C2C"/>
                </a:solidFill>
                <a:effectLst/>
                <a:latin typeface="Consolas" panose="020B0609020204030204" pitchFamily="49" charset="0"/>
              </a:rPr>
              <a:t>0</a:t>
            </a:r>
            <a:r>
              <a:rPr lang="en-IN" b="0" i="0" dirty="0">
                <a:solidFill>
                  <a:srgbClr val="5F6364"/>
                </a:solidFill>
                <a:effectLst/>
                <a:latin typeface="Consolas" panose="020B0609020204030204" pitchFamily="49" charset="0"/>
              </a:rPr>
              <a:t>.,</a:t>
            </a:r>
            <a:r>
              <a:rPr lang="en-IN" b="0" i="0" dirty="0">
                <a:solidFill>
                  <a:srgbClr val="000000"/>
                </a:solidFill>
                <a:effectLst/>
                <a:highlight>
                  <a:srgbClr val="FDFDFD"/>
                </a:highlight>
                <a:latin typeface="Consolas" panose="020B0609020204030204" pitchFamily="49" charset="0"/>
              </a:rPr>
              <a:t> </a:t>
            </a:r>
            <a:r>
              <a:rPr lang="en-IN" b="0" i="0" dirty="0">
                <a:solidFill>
                  <a:srgbClr val="C92C2C"/>
                </a:solidFill>
                <a:effectLst/>
                <a:latin typeface="Consolas" panose="020B0609020204030204" pitchFamily="49" charset="0"/>
              </a:rPr>
              <a:t>0</a:t>
            </a:r>
            <a:r>
              <a:rPr lang="en-IN" b="0" i="0" dirty="0">
                <a:solidFill>
                  <a:srgbClr val="5F6364"/>
                </a:solidFill>
                <a:effectLst/>
                <a:latin typeface="Consolas" panose="020B0609020204030204" pitchFamily="49" charset="0"/>
              </a:rPr>
              <a:t>.],</a:t>
            </a:r>
            <a:r>
              <a:rPr lang="en-IN" b="0" i="0" dirty="0">
                <a:solidFill>
                  <a:srgbClr val="000000"/>
                </a:solidFill>
                <a:effectLst/>
                <a:highlight>
                  <a:srgbClr val="FDFDFD"/>
                </a:highlight>
                <a:latin typeface="Consolas" panose="020B0609020204030204" pitchFamily="49" charset="0"/>
              </a:rPr>
              <a:t> </a:t>
            </a:r>
          </a:p>
          <a:p>
            <a:r>
              <a:rPr lang="en-IN" dirty="0">
                <a:solidFill>
                  <a:srgbClr val="000000"/>
                </a:solidFill>
                <a:highlight>
                  <a:srgbClr val="FDFDFD"/>
                </a:highlight>
                <a:latin typeface="Consolas" panose="020B0609020204030204" pitchFamily="49" charset="0"/>
              </a:rPr>
              <a:t>       </a:t>
            </a:r>
            <a:r>
              <a:rPr lang="en-IN" b="0" i="0" dirty="0">
                <a:solidFill>
                  <a:srgbClr val="5F6364"/>
                </a:solidFill>
                <a:effectLst/>
                <a:latin typeface="Consolas" panose="020B0609020204030204" pitchFamily="49" charset="0"/>
              </a:rPr>
              <a:t>[</a:t>
            </a:r>
            <a:r>
              <a:rPr lang="en-IN" b="0" i="0" dirty="0">
                <a:solidFill>
                  <a:srgbClr val="000000"/>
                </a:solidFill>
                <a:effectLst/>
                <a:highlight>
                  <a:srgbClr val="FDFDFD"/>
                </a:highlight>
                <a:latin typeface="Consolas" panose="020B0609020204030204" pitchFamily="49" charset="0"/>
              </a:rPr>
              <a:t> </a:t>
            </a:r>
            <a:r>
              <a:rPr lang="en-IN" b="0" i="0" dirty="0">
                <a:solidFill>
                  <a:srgbClr val="C92C2C"/>
                </a:solidFill>
                <a:effectLst/>
                <a:latin typeface="Consolas" panose="020B0609020204030204" pitchFamily="49" charset="0"/>
              </a:rPr>
              <a:t>0</a:t>
            </a:r>
            <a:r>
              <a:rPr lang="en-IN" b="0" i="0" dirty="0">
                <a:solidFill>
                  <a:srgbClr val="5F6364"/>
                </a:solidFill>
                <a:effectLst/>
                <a:latin typeface="Consolas" panose="020B0609020204030204" pitchFamily="49" charset="0"/>
              </a:rPr>
              <a:t>.,</a:t>
            </a:r>
            <a:r>
              <a:rPr lang="en-IN" b="0" i="0" dirty="0">
                <a:solidFill>
                  <a:srgbClr val="000000"/>
                </a:solidFill>
                <a:effectLst/>
                <a:highlight>
                  <a:srgbClr val="FDFDFD"/>
                </a:highlight>
                <a:latin typeface="Consolas" panose="020B0609020204030204" pitchFamily="49" charset="0"/>
              </a:rPr>
              <a:t> </a:t>
            </a:r>
            <a:r>
              <a:rPr lang="en-IN" b="0" i="0" dirty="0">
                <a:solidFill>
                  <a:srgbClr val="C92C2C"/>
                </a:solidFill>
                <a:effectLst/>
                <a:latin typeface="Consolas" panose="020B0609020204030204" pitchFamily="49" charset="0"/>
              </a:rPr>
              <a:t>1</a:t>
            </a:r>
            <a:r>
              <a:rPr lang="en-IN" b="0" i="0" dirty="0">
                <a:solidFill>
                  <a:srgbClr val="5F6364"/>
                </a:solidFill>
                <a:effectLst/>
                <a:latin typeface="Consolas" panose="020B0609020204030204" pitchFamily="49" charset="0"/>
              </a:rPr>
              <a:t>.,</a:t>
            </a:r>
            <a:r>
              <a:rPr lang="en-IN" b="0" i="0" dirty="0">
                <a:solidFill>
                  <a:srgbClr val="000000"/>
                </a:solidFill>
                <a:effectLst/>
                <a:highlight>
                  <a:srgbClr val="FDFDFD"/>
                </a:highlight>
                <a:latin typeface="Consolas" panose="020B0609020204030204" pitchFamily="49" charset="0"/>
              </a:rPr>
              <a:t> </a:t>
            </a:r>
            <a:r>
              <a:rPr lang="en-IN" b="0" i="0" dirty="0">
                <a:solidFill>
                  <a:srgbClr val="C92C2C"/>
                </a:solidFill>
                <a:effectLst/>
                <a:latin typeface="Consolas" panose="020B0609020204030204" pitchFamily="49" charset="0"/>
              </a:rPr>
              <a:t>0</a:t>
            </a:r>
            <a:r>
              <a:rPr lang="en-IN" b="0" i="0" dirty="0">
                <a:solidFill>
                  <a:srgbClr val="5F6364"/>
                </a:solidFill>
                <a:effectLst/>
                <a:latin typeface="Consolas" panose="020B0609020204030204" pitchFamily="49" charset="0"/>
              </a:rPr>
              <a:t>.],</a:t>
            </a:r>
            <a:r>
              <a:rPr lang="en-IN" b="0" i="0" dirty="0">
                <a:solidFill>
                  <a:srgbClr val="000000"/>
                </a:solidFill>
                <a:effectLst/>
                <a:highlight>
                  <a:srgbClr val="FDFDFD"/>
                </a:highlight>
                <a:latin typeface="Consolas" panose="020B0609020204030204" pitchFamily="49" charset="0"/>
              </a:rPr>
              <a:t> </a:t>
            </a:r>
          </a:p>
          <a:p>
            <a:r>
              <a:rPr lang="en-IN" dirty="0">
                <a:solidFill>
                  <a:srgbClr val="000000"/>
                </a:solidFill>
                <a:highlight>
                  <a:srgbClr val="FDFDFD"/>
                </a:highlight>
                <a:latin typeface="Consolas" panose="020B0609020204030204" pitchFamily="49" charset="0"/>
              </a:rPr>
              <a:t>       </a:t>
            </a:r>
            <a:r>
              <a:rPr lang="en-IN" b="0" i="0" dirty="0">
                <a:solidFill>
                  <a:srgbClr val="5F6364"/>
                </a:solidFill>
                <a:effectLst/>
                <a:latin typeface="Consolas" panose="020B0609020204030204" pitchFamily="49" charset="0"/>
              </a:rPr>
              <a:t>[</a:t>
            </a:r>
            <a:r>
              <a:rPr lang="en-IN" b="0" i="0" dirty="0">
                <a:solidFill>
                  <a:srgbClr val="000000"/>
                </a:solidFill>
                <a:effectLst/>
                <a:highlight>
                  <a:srgbClr val="FDFDFD"/>
                </a:highlight>
                <a:latin typeface="Consolas" panose="020B0609020204030204" pitchFamily="49" charset="0"/>
              </a:rPr>
              <a:t> </a:t>
            </a:r>
            <a:r>
              <a:rPr lang="en-IN" b="0" i="0" dirty="0">
                <a:solidFill>
                  <a:srgbClr val="C92C2C"/>
                </a:solidFill>
                <a:effectLst/>
                <a:latin typeface="Consolas" panose="020B0609020204030204" pitchFamily="49" charset="0"/>
              </a:rPr>
              <a:t>0</a:t>
            </a:r>
            <a:r>
              <a:rPr lang="en-IN" b="0" i="0" dirty="0">
                <a:solidFill>
                  <a:srgbClr val="5F6364"/>
                </a:solidFill>
                <a:effectLst/>
                <a:latin typeface="Consolas" panose="020B0609020204030204" pitchFamily="49" charset="0"/>
              </a:rPr>
              <a:t>.,</a:t>
            </a:r>
            <a:r>
              <a:rPr lang="en-IN" b="0" i="0" dirty="0">
                <a:solidFill>
                  <a:srgbClr val="000000"/>
                </a:solidFill>
                <a:effectLst/>
                <a:highlight>
                  <a:srgbClr val="FDFDFD"/>
                </a:highlight>
                <a:latin typeface="Consolas" panose="020B0609020204030204" pitchFamily="49" charset="0"/>
              </a:rPr>
              <a:t> </a:t>
            </a:r>
            <a:r>
              <a:rPr lang="en-IN" b="0" i="0" dirty="0">
                <a:solidFill>
                  <a:srgbClr val="C92C2C"/>
                </a:solidFill>
                <a:effectLst/>
                <a:latin typeface="Consolas" panose="020B0609020204030204" pitchFamily="49" charset="0"/>
              </a:rPr>
              <a:t>0</a:t>
            </a:r>
            <a:r>
              <a:rPr lang="en-IN" b="0" i="0" dirty="0">
                <a:solidFill>
                  <a:srgbClr val="5F6364"/>
                </a:solidFill>
                <a:effectLst/>
                <a:latin typeface="Consolas" panose="020B0609020204030204" pitchFamily="49" charset="0"/>
              </a:rPr>
              <a:t>.,</a:t>
            </a:r>
            <a:r>
              <a:rPr lang="en-IN" b="0" i="0" dirty="0">
                <a:solidFill>
                  <a:srgbClr val="000000"/>
                </a:solidFill>
                <a:effectLst/>
                <a:highlight>
                  <a:srgbClr val="FDFDFD"/>
                </a:highlight>
                <a:latin typeface="Consolas" panose="020B0609020204030204" pitchFamily="49" charset="0"/>
              </a:rPr>
              <a:t> </a:t>
            </a:r>
            <a:r>
              <a:rPr lang="en-IN" b="0" i="0" dirty="0">
                <a:solidFill>
                  <a:srgbClr val="C92C2C"/>
                </a:solidFill>
                <a:effectLst/>
                <a:latin typeface="Consolas" panose="020B0609020204030204" pitchFamily="49" charset="0"/>
              </a:rPr>
              <a:t>1</a:t>
            </a:r>
            <a:r>
              <a:rPr lang="en-IN" b="0" i="0" dirty="0">
                <a:solidFill>
                  <a:srgbClr val="5F6364"/>
                </a:solidFill>
                <a:effectLst/>
                <a:latin typeface="Consolas" panose="020B0609020204030204" pitchFamily="49" charset="0"/>
              </a:rPr>
              <a:t>.]])</a:t>
            </a:r>
            <a:endParaRPr lang="en-IN" dirty="0">
              <a:solidFill>
                <a:srgbClr val="000000"/>
              </a:solidFill>
              <a:highlight>
                <a:srgbClr val="FFFFFF"/>
              </a:highlight>
              <a:latin typeface="Consolas" panose="020B0609020204030204" pitchFamily="49" charset="0"/>
            </a:endParaRPr>
          </a:p>
        </p:txBody>
      </p:sp>
      <p:sp>
        <p:nvSpPr>
          <p:cNvPr id="7" name="TextBox 6">
            <a:extLst>
              <a:ext uri="{FF2B5EF4-FFF2-40B4-BE49-F238E27FC236}">
                <a16:creationId xmlns:a16="http://schemas.microsoft.com/office/drawing/2014/main" id="{582CF450-9BA7-A7AB-A8F8-6187E0B94DB8}"/>
              </a:ext>
            </a:extLst>
          </p:cNvPr>
          <p:cNvSpPr txBox="1"/>
          <p:nvPr/>
        </p:nvSpPr>
        <p:spPr>
          <a:xfrm>
            <a:off x="3962611" y="2288942"/>
            <a:ext cx="3047573" cy="3416320"/>
          </a:xfrm>
          <a:prstGeom prst="rect">
            <a:avLst/>
          </a:prstGeom>
          <a:noFill/>
          <a:ln w="6350">
            <a:solidFill>
              <a:schemeClr val="tx1"/>
            </a:solidFill>
          </a:ln>
        </p:spPr>
        <p:txBody>
          <a:bodyPr wrap="square">
            <a:spAutoFit/>
          </a:bodyPr>
          <a:lstStyle/>
          <a:p>
            <a:r>
              <a:rPr lang="en-IN" b="0" i="0" dirty="0">
                <a:solidFill>
                  <a:srgbClr val="1990B8"/>
                </a:solidFill>
                <a:effectLst/>
                <a:latin typeface="Consolas" panose="020B0609020204030204" pitchFamily="49" charset="0"/>
              </a:rPr>
              <a:t>import</a:t>
            </a:r>
            <a:r>
              <a:rPr lang="en-IN" b="0" i="0" dirty="0">
                <a:solidFill>
                  <a:srgbClr val="000000"/>
                </a:solidFill>
                <a:effectLst/>
                <a:highlight>
                  <a:srgbClr val="FDFDFD"/>
                </a:highlight>
                <a:latin typeface="Consolas" panose="020B0609020204030204" pitchFamily="49" charset="0"/>
              </a:rPr>
              <a:t> </a:t>
            </a:r>
            <a:r>
              <a:rPr lang="en-IN" b="0" i="0" dirty="0" err="1">
                <a:solidFill>
                  <a:srgbClr val="000000"/>
                </a:solidFill>
                <a:effectLst/>
                <a:highlight>
                  <a:srgbClr val="FDFDFD"/>
                </a:highlight>
                <a:latin typeface="Consolas" panose="020B0609020204030204" pitchFamily="49" charset="0"/>
              </a:rPr>
              <a:t>numpy</a:t>
            </a:r>
            <a:r>
              <a:rPr lang="en-IN" b="0" i="0" dirty="0">
                <a:solidFill>
                  <a:srgbClr val="000000"/>
                </a:solidFill>
                <a:effectLst/>
                <a:highlight>
                  <a:srgbClr val="FDFDFD"/>
                </a:highlight>
                <a:latin typeface="Consolas" panose="020B0609020204030204" pitchFamily="49" charset="0"/>
              </a:rPr>
              <a:t> </a:t>
            </a:r>
            <a:r>
              <a:rPr lang="en-IN" b="0" i="0" dirty="0">
                <a:solidFill>
                  <a:srgbClr val="1990B8"/>
                </a:solidFill>
                <a:effectLst/>
                <a:latin typeface="Consolas" panose="020B0609020204030204" pitchFamily="49" charset="0"/>
              </a:rPr>
              <a:t>as</a:t>
            </a:r>
            <a:r>
              <a:rPr lang="en-IN" b="0" i="0" dirty="0">
                <a:solidFill>
                  <a:srgbClr val="000000"/>
                </a:solidFill>
                <a:effectLst/>
                <a:highlight>
                  <a:srgbClr val="FDFDFD"/>
                </a:highlight>
                <a:latin typeface="Consolas" panose="020B0609020204030204" pitchFamily="49" charset="0"/>
              </a:rPr>
              <a:t> np </a:t>
            </a:r>
          </a:p>
          <a:p>
            <a:r>
              <a:rPr lang="en-IN" b="0" i="0" dirty="0" err="1">
                <a:solidFill>
                  <a:srgbClr val="000000"/>
                </a:solidFill>
                <a:effectLst/>
                <a:highlight>
                  <a:srgbClr val="FDFDFD"/>
                </a:highlight>
                <a:latin typeface="Consolas" panose="020B0609020204030204" pitchFamily="49" charset="0"/>
              </a:rPr>
              <a:t>np</a:t>
            </a:r>
            <a:r>
              <a:rPr lang="en-IN" b="0" i="0" dirty="0" err="1">
                <a:solidFill>
                  <a:srgbClr val="5F6364"/>
                </a:solidFill>
                <a:effectLst/>
                <a:latin typeface="Consolas" panose="020B0609020204030204" pitchFamily="49" charset="0"/>
              </a:rPr>
              <a:t>.</a:t>
            </a:r>
            <a:r>
              <a:rPr lang="en-IN" b="0" i="0" dirty="0" err="1">
                <a:solidFill>
                  <a:srgbClr val="000000"/>
                </a:solidFill>
                <a:effectLst/>
                <a:highlight>
                  <a:srgbClr val="FDFDFD"/>
                </a:highlight>
                <a:latin typeface="Consolas" panose="020B0609020204030204" pitchFamily="49" charset="0"/>
              </a:rPr>
              <a:t>eye</a:t>
            </a:r>
            <a:r>
              <a:rPr lang="en-IN" b="0" i="0" dirty="0">
                <a:solidFill>
                  <a:srgbClr val="5F6364"/>
                </a:solidFill>
                <a:effectLst/>
                <a:latin typeface="Consolas" panose="020B0609020204030204" pitchFamily="49" charset="0"/>
              </a:rPr>
              <a:t>(</a:t>
            </a:r>
            <a:r>
              <a:rPr lang="en-IN" b="0" i="0" dirty="0">
                <a:solidFill>
                  <a:srgbClr val="C92C2C"/>
                </a:solidFill>
                <a:effectLst/>
                <a:latin typeface="Consolas" panose="020B0609020204030204" pitchFamily="49" charset="0"/>
              </a:rPr>
              <a:t>2</a:t>
            </a:r>
            <a:r>
              <a:rPr lang="en-IN" b="0" i="0" dirty="0">
                <a:solidFill>
                  <a:srgbClr val="5F6364"/>
                </a:solidFill>
                <a:effectLst/>
                <a:latin typeface="Consolas" panose="020B0609020204030204" pitchFamily="49" charset="0"/>
              </a:rPr>
              <a:t>,</a:t>
            </a:r>
            <a:r>
              <a:rPr lang="en-IN" b="0" i="0" dirty="0">
                <a:solidFill>
                  <a:srgbClr val="000000"/>
                </a:solidFill>
                <a:effectLst/>
                <a:highlight>
                  <a:srgbClr val="FDFDFD"/>
                </a:highlight>
                <a:latin typeface="Consolas" panose="020B0609020204030204" pitchFamily="49" charset="0"/>
              </a:rPr>
              <a:t> </a:t>
            </a:r>
            <a:r>
              <a:rPr lang="en-IN" b="0" i="0" dirty="0" err="1">
                <a:solidFill>
                  <a:srgbClr val="000000"/>
                </a:solidFill>
                <a:effectLst/>
                <a:highlight>
                  <a:srgbClr val="FDFDFD"/>
                </a:highlight>
                <a:latin typeface="Consolas" panose="020B0609020204030204" pitchFamily="49" charset="0"/>
              </a:rPr>
              <a:t>dtype</a:t>
            </a:r>
            <a:r>
              <a:rPr lang="en-IN" b="0" i="0" dirty="0">
                <a:solidFill>
                  <a:srgbClr val="A67F59"/>
                </a:solidFill>
                <a:effectLst/>
                <a:latin typeface="Consolas" panose="020B0609020204030204" pitchFamily="49" charset="0"/>
              </a:rPr>
              <a:t>=</a:t>
            </a:r>
            <a:r>
              <a:rPr lang="en-IN" b="0" i="0" dirty="0">
                <a:solidFill>
                  <a:srgbClr val="2F9C0A"/>
                </a:solidFill>
                <a:effectLst/>
                <a:latin typeface="Consolas" panose="020B0609020204030204" pitchFamily="49" charset="0"/>
              </a:rPr>
              <a:t>int</a:t>
            </a:r>
            <a:r>
              <a:rPr lang="en-IN" b="0" i="0" dirty="0">
                <a:solidFill>
                  <a:srgbClr val="5F6364"/>
                </a:solidFill>
                <a:effectLst/>
                <a:latin typeface="Consolas" panose="020B0609020204030204" pitchFamily="49" charset="0"/>
              </a:rPr>
              <a:t>)</a:t>
            </a:r>
          </a:p>
          <a:p>
            <a:endParaRPr lang="en-IN" b="0" i="0" dirty="0">
              <a:solidFill>
                <a:srgbClr val="5F6364"/>
              </a:solidFill>
              <a:effectLst/>
              <a:latin typeface="Consolas" panose="020B0609020204030204" pitchFamily="49" charset="0"/>
            </a:endParaRPr>
          </a:p>
          <a:p>
            <a:r>
              <a:rPr lang="en-IN" b="1" dirty="0">
                <a:solidFill>
                  <a:srgbClr val="000000"/>
                </a:solidFill>
                <a:highlight>
                  <a:srgbClr val="FDFDFD"/>
                </a:highlight>
                <a:latin typeface="Consolas" panose="020B0609020204030204" pitchFamily="49" charset="0"/>
              </a:rPr>
              <a:t>Output</a:t>
            </a:r>
            <a:r>
              <a:rPr lang="en-IN" dirty="0">
                <a:solidFill>
                  <a:srgbClr val="5F6364"/>
                </a:solidFill>
                <a:highlight>
                  <a:srgbClr val="FDFDFD"/>
                </a:highlight>
                <a:latin typeface="Consolas" panose="020B0609020204030204" pitchFamily="49" charset="0"/>
              </a:rPr>
              <a:t>:</a:t>
            </a:r>
          </a:p>
          <a:p>
            <a:r>
              <a:rPr lang="en-IN" b="0" i="0" dirty="0">
                <a:solidFill>
                  <a:srgbClr val="000000"/>
                </a:solidFill>
                <a:effectLst/>
                <a:highlight>
                  <a:srgbClr val="FDFDFD"/>
                </a:highlight>
                <a:latin typeface="Consolas" panose="020B0609020204030204" pitchFamily="49" charset="0"/>
              </a:rPr>
              <a:t>array</a:t>
            </a:r>
            <a:r>
              <a:rPr lang="en-IN" b="0" i="0" dirty="0">
                <a:solidFill>
                  <a:srgbClr val="5F6364"/>
                </a:solidFill>
                <a:effectLst/>
                <a:latin typeface="Consolas" panose="020B0609020204030204" pitchFamily="49" charset="0"/>
              </a:rPr>
              <a:t>([[</a:t>
            </a:r>
            <a:r>
              <a:rPr lang="en-IN" b="0" i="0" dirty="0">
                <a:solidFill>
                  <a:srgbClr val="C92C2C"/>
                </a:solidFill>
                <a:effectLst/>
                <a:latin typeface="Consolas" panose="020B0609020204030204" pitchFamily="49" charset="0"/>
              </a:rPr>
              <a:t>1</a:t>
            </a:r>
            <a:r>
              <a:rPr lang="en-IN" b="0" i="0" dirty="0">
                <a:solidFill>
                  <a:srgbClr val="5F6364"/>
                </a:solidFill>
                <a:effectLst/>
                <a:latin typeface="Consolas" panose="020B0609020204030204" pitchFamily="49" charset="0"/>
              </a:rPr>
              <a:t>,</a:t>
            </a:r>
            <a:r>
              <a:rPr lang="en-IN" b="0" i="0" dirty="0">
                <a:solidFill>
                  <a:srgbClr val="000000"/>
                </a:solidFill>
                <a:effectLst/>
                <a:highlight>
                  <a:srgbClr val="FDFDFD"/>
                </a:highlight>
                <a:latin typeface="Consolas" panose="020B0609020204030204" pitchFamily="49" charset="0"/>
              </a:rPr>
              <a:t> </a:t>
            </a:r>
            <a:r>
              <a:rPr lang="en-IN" b="0" i="0" dirty="0">
                <a:solidFill>
                  <a:srgbClr val="C92C2C"/>
                </a:solidFill>
                <a:effectLst/>
                <a:latin typeface="Consolas" panose="020B0609020204030204" pitchFamily="49" charset="0"/>
              </a:rPr>
              <a:t>0</a:t>
            </a:r>
            <a:r>
              <a:rPr lang="en-IN" b="0" i="0" dirty="0">
                <a:solidFill>
                  <a:srgbClr val="5F6364"/>
                </a:solidFill>
                <a:effectLst/>
                <a:latin typeface="Consolas" panose="020B0609020204030204" pitchFamily="49" charset="0"/>
              </a:rPr>
              <a:t>],</a:t>
            </a:r>
            <a:r>
              <a:rPr lang="en-IN" b="0" i="0" dirty="0">
                <a:solidFill>
                  <a:srgbClr val="000000"/>
                </a:solidFill>
                <a:effectLst/>
                <a:highlight>
                  <a:srgbClr val="FDFDFD"/>
                </a:highlight>
                <a:latin typeface="Consolas" panose="020B0609020204030204" pitchFamily="49" charset="0"/>
              </a:rPr>
              <a:t> </a:t>
            </a:r>
          </a:p>
          <a:p>
            <a:r>
              <a:rPr lang="en-IN" dirty="0">
                <a:solidFill>
                  <a:srgbClr val="000000"/>
                </a:solidFill>
                <a:highlight>
                  <a:srgbClr val="FDFDFD"/>
                </a:highlight>
                <a:latin typeface="Consolas" panose="020B0609020204030204" pitchFamily="49" charset="0"/>
              </a:rPr>
              <a:t>       </a:t>
            </a:r>
            <a:r>
              <a:rPr lang="en-IN" b="0" i="0" dirty="0">
                <a:solidFill>
                  <a:srgbClr val="5F6364"/>
                </a:solidFill>
                <a:effectLst/>
                <a:latin typeface="Consolas" panose="020B0609020204030204" pitchFamily="49" charset="0"/>
              </a:rPr>
              <a:t>[</a:t>
            </a:r>
            <a:r>
              <a:rPr lang="en-IN" b="0" i="0" dirty="0">
                <a:solidFill>
                  <a:srgbClr val="C92C2C"/>
                </a:solidFill>
                <a:effectLst/>
                <a:latin typeface="Consolas" panose="020B0609020204030204" pitchFamily="49" charset="0"/>
              </a:rPr>
              <a:t>0</a:t>
            </a:r>
            <a:r>
              <a:rPr lang="en-IN" b="0" i="0" dirty="0">
                <a:solidFill>
                  <a:srgbClr val="5F6364"/>
                </a:solidFill>
                <a:effectLst/>
                <a:latin typeface="Consolas" panose="020B0609020204030204" pitchFamily="49" charset="0"/>
              </a:rPr>
              <a:t>,</a:t>
            </a:r>
            <a:r>
              <a:rPr lang="en-IN" b="0" i="0" dirty="0">
                <a:solidFill>
                  <a:srgbClr val="000000"/>
                </a:solidFill>
                <a:effectLst/>
                <a:highlight>
                  <a:srgbClr val="FDFDFD"/>
                </a:highlight>
                <a:latin typeface="Consolas" panose="020B0609020204030204" pitchFamily="49" charset="0"/>
              </a:rPr>
              <a:t> </a:t>
            </a:r>
            <a:r>
              <a:rPr lang="en-IN" b="0" i="0" dirty="0">
                <a:solidFill>
                  <a:srgbClr val="C92C2C"/>
                </a:solidFill>
                <a:effectLst/>
                <a:latin typeface="Consolas" panose="020B0609020204030204" pitchFamily="49" charset="0"/>
              </a:rPr>
              <a:t>1</a:t>
            </a:r>
            <a:r>
              <a:rPr lang="en-IN" b="0" i="0" dirty="0">
                <a:solidFill>
                  <a:srgbClr val="5F6364"/>
                </a:solidFill>
                <a:effectLst/>
                <a:latin typeface="Consolas" panose="020B0609020204030204" pitchFamily="49" charset="0"/>
              </a:rPr>
              <a:t>]])</a:t>
            </a:r>
            <a:r>
              <a:rPr lang="en-IN" b="0" i="0" dirty="0">
                <a:solidFill>
                  <a:srgbClr val="000000"/>
                </a:solidFill>
                <a:effectLst/>
                <a:highlight>
                  <a:srgbClr val="FDFDFD"/>
                </a:highlight>
                <a:latin typeface="Consolas" panose="020B0609020204030204" pitchFamily="49" charset="0"/>
              </a:rPr>
              <a:t> </a:t>
            </a:r>
          </a:p>
          <a:p>
            <a:endParaRPr lang="en-IN" dirty="0">
              <a:solidFill>
                <a:srgbClr val="000000"/>
              </a:solidFill>
              <a:highlight>
                <a:srgbClr val="FDFDFD"/>
              </a:highlight>
              <a:latin typeface="Consolas" panose="020B0609020204030204" pitchFamily="49" charset="0"/>
            </a:endParaRPr>
          </a:p>
          <a:p>
            <a:r>
              <a:rPr lang="en-IN" b="0" i="0" dirty="0" err="1">
                <a:solidFill>
                  <a:srgbClr val="000000"/>
                </a:solidFill>
                <a:effectLst/>
                <a:highlight>
                  <a:srgbClr val="FDFDFD"/>
                </a:highlight>
                <a:latin typeface="Consolas" panose="020B0609020204030204" pitchFamily="49" charset="0"/>
              </a:rPr>
              <a:t>np</a:t>
            </a:r>
            <a:r>
              <a:rPr lang="en-IN" b="0" i="0" dirty="0" err="1">
                <a:solidFill>
                  <a:srgbClr val="5F6364"/>
                </a:solidFill>
                <a:effectLst/>
                <a:latin typeface="Consolas" panose="020B0609020204030204" pitchFamily="49" charset="0"/>
              </a:rPr>
              <a:t>.</a:t>
            </a:r>
            <a:r>
              <a:rPr lang="en-IN" b="0" i="0" dirty="0" err="1">
                <a:solidFill>
                  <a:srgbClr val="000000"/>
                </a:solidFill>
                <a:effectLst/>
                <a:highlight>
                  <a:srgbClr val="FDFDFD"/>
                </a:highlight>
                <a:latin typeface="Consolas" panose="020B0609020204030204" pitchFamily="49" charset="0"/>
              </a:rPr>
              <a:t>eye</a:t>
            </a:r>
            <a:r>
              <a:rPr lang="en-IN" b="0" i="0" dirty="0">
                <a:solidFill>
                  <a:srgbClr val="5F6364"/>
                </a:solidFill>
                <a:effectLst/>
                <a:latin typeface="Consolas" panose="020B0609020204030204" pitchFamily="49" charset="0"/>
              </a:rPr>
              <a:t>(</a:t>
            </a:r>
            <a:r>
              <a:rPr lang="en-IN" b="0" i="0" dirty="0">
                <a:solidFill>
                  <a:srgbClr val="C92C2C"/>
                </a:solidFill>
                <a:effectLst/>
                <a:latin typeface="Consolas" panose="020B0609020204030204" pitchFamily="49" charset="0"/>
              </a:rPr>
              <a:t>2</a:t>
            </a:r>
            <a:r>
              <a:rPr lang="en-IN" b="0" i="0" dirty="0">
                <a:solidFill>
                  <a:srgbClr val="5F6364"/>
                </a:solidFill>
                <a:effectLst/>
                <a:latin typeface="Consolas" panose="020B0609020204030204" pitchFamily="49" charset="0"/>
              </a:rPr>
              <a:t>,</a:t>
            </a:r>
            <a:r>
              <a:rPr lang="en-IN" b="0" i="0" dirty="0">
                <a:solidFill>
                  <a:srgbClr val="C92C2C"/>
                </a:solidFill>
                <a:effectLst/>
                <a:latin typeface="Consolas" panose="020B0609020204030204" pitchFamily="49" charset="0"/>
              </a:rPr>
              <a:t>2</a:t>
            </a:r>
            <a:r>
              <a:rPr lang="en-IN" b="0" i="0" dirty="0">
                <a:solidFill>
                  <a:srgbClr val="5F6364"/>
                </a:solidFill>
                <a:effectLst/>
                <a:latin typeface="Consolas" panose="020B0609020204030204" pitchFamily="49" charset="0"/>
              </a:rPr>
              <a:t>,</a:t>
            </a:r>
            <a:r>
              <a:rPr lang="en-IN" b="0" i="0" dirty="0">
                <a:solidFill>
                  <a:srgbClr val="000000"/>
                </a:solidFill>
                <a:effectLst/>
                <a:highlight>
                  <a:srgbClr val="FDFDFD"/>
                </a:highlight>
                <a:latin typeface="Consolas" panose="020B0609020204030204" pitchFamily="49" charset="0"/>
              </a:rPr>
              <a:t> </a:t>
            </a:r>
            <a:r>
              <a:rPr lang="en-IN" b="0" i="0" dirty="0" err="1">
                <a:solidFill>
                  <a:srgbClr val="000000"/>
                </a:solidFill>
                <a:effectLst/>
                <a:highlight>
                  <a:srgbClr val="FDFDFD"/>
                </a:highlight>
                <a:latin typeface="Consolas" panose="020B0609020204030204" pitchFamily="49" charset="0"/>
              </a:rPr>
              <a:t>dtype</a:t>
            </a:r>
            <a:r>
              <a:rPr lang="en-IN" b="0" i="0" dirty="0">
                <a:solidFill>
                  <a:srgbClr val="A67F59"/>
                </a:solidFill>
                <a:effectLst/>
                <a:latin typeface="Consolas" panose="020B0609020204030204" pitchFamily="49" charset="0"/>
              </a:rPr>
              <a:t>=</a:t>
            </a:r>
            <a:r>
              <a:rPr lang="en-IN" b="0" i="0" dirty="0">
                <a:solidFill>
                  <a:srgbClr val="2F9C0A"/>
                </a:solidFill>
                <a:effectLst/>
                <a:latin typeface="Consolas" panose="020B0609020204030204" pitchFamily="49" charset="0"/>
              </a:rPr>
              <a:t>int</a:t>
            </a:r>
            <a:r>
              <a:rPr lang="en-IN" b="0" i="0" dirty="0">
                <a:solidFill>
                  <a:srgbClr val="5F6364"/>
                </a:solidFill>
                <a:effectLst/>
                <a:latin typeface="Consolas" panose="020B0609020204030204" pitchFamily="49" charset="0"/>
              </a:rPr>
              <a:t>)</a:t>
            </a:r>
          </a:p>
          <a:p>
            <a:endParaRPr lang="en-IN" b="0" i="0" dirty="0">
              <a:solidFill>
                <a:srgbClr val="5F6364"/>
              </a:solidFill>
              <a:effectLst/>
              <a:latin typeface="Consolas" panose="020B0609020204030204" pitchFamily="49" charset="0"/>
            </a:endParaRPr>
          </a:p>
          <a:p>
            <a:r>
              <a:rPr lang="en-IN" b="1" dirty="0">
                <a:solidFill>
                  <a:srgbClr val="000000"/>
                </a:solidFill>
                <a:highlight>
                  <a:srgbClr val="FDFDFD"/>
                </a:highlight>
                <a:latin typeface="Consolas" panose="020B0609020204030204" pitchFamily="49" charset="0"/>
              </a:rPr>
              <a:t>Output</a:t>
            </a:r>
            <a:r>
              <a:rPr lang="en-IN" dirty="0">
                <a:solidFill>
                  <a:srgbClr val="5F6364"/>
                </a:solidFill>
                <a:highlight>
                  <a:srgbClr val="FDFDFD"/>
                </a:highlight>
                <a:latin typeface="Consolas" panose="020B0609020204030204" pitchFamily="49" charset="0"/>
              </a:rPr>
              <a:t>:</a:t>
            </a:r>
          </a:p>
          <a:p>
            <a:r>
              <a:rPr lang="en-IN" b="0" i="0" dirty="0">
                <a:solidFill>
                  <a:srgbClr val="000000"/>
                </a:solidFill>
                <a:effectLst/>
                <a:highlight>
                  <a:srgbClr val="FDFDFD"/>
                </a:highlight>
                <a:latin typeface="Consolas" panose="020B0609020204030204" pitchFamily="49" charset="0"/>
              </a:rPr>
              <a:t>array</a:t>
            </a:r>
            <a:r>
              <a:rPr lang="en-IN" b="0" i="0" dirty="0">
                <a:solidFill>
                  <a:srgbClr val="5F6364"/>
                </a:solidFill>
                <a:effectLst/>
                <a:latin typeface="Consolas" panose="020B0609020204030204" pitchFamily="49" charset="0"/>
              </a:rPr>
              <a:t>([[</a:t>
            </a:r>
            <a:r>
              <a:rPr lang="en-IN" b="0" i="0" dirty="0">
                <a:solidFill>
                  <a:srgbClr val="C92C2C"/>
                </a:solidFill>
                <a:effectLst/>
                <a:latin typeface="Consolas" panose="020B0609020204030204" pitchFamily="49" charset="0"/>
              </a:rPr>
              <a:t>1</a:t>
            </a:r>
            <a:r>
              <a:rPr lang="en-IN" b="0" i="0" dirty="0">
                <a:solidFill>
                  <a:srgbClr val="5F6364"/>
                </a:solidFill>
                <a:effectLst/>
                <a:latin typeface="Consolas" panose="020B0609020204030204" pitchFamily="49" charset="0"/>
              </a:rPr>
              <a:t>,</a:t>
            </a:r>
            <a:r>
              <a:rPr lang="en-IN" b="0" i="0" dirty="0">
                <a:solidFill>
                  <a:srgbClr val="000000"/>
                </a:solidFill>
                <a:effectLst/>
                <a:highlight>
                  <a:srgbClr val="FDFDFD"/>
                </a:highlight>
                <a:latin typeface="Consolas" panose="020B0609020204030204" pitchFamily="49" charset="0"/>
              </a:rPr>
              <a:t> </a:t>
            </a:r>
            <a:r>
              <a:rPr lang="en-IN" b="0" i="0" dirty="0">
                <a:solidFill>
                  <a:srgbClr val="C92C2C"/>
                </a:solidFill>
                <a:effectLst/>
                <a:latin typeface="Consolas" panose="020B0609020204030204" pitchFamily="49" charset="0"/>
              </a:rPr>
              <a:t>0</a:t>
            </a:r>
            <a:r>
              <a:rPr lang="en-IN" b="0" i="0" dirty="0">
                <a:solidFill>
                  <a:srgbClr val="5F6364"/>
                </a:solidFill>
                <a:effectLst/>
                <a:latin typeface="Consolas" panose="020B0609020204030204" pitchFamily="49" charset="0"/>
              </a:rPr>
              <a:t>],</a:t>
            </a:r>
            <a:r>
              <a:rPr lang="en-IN" b="0" i="0" dirty="0">
                <a:solidFill>
                  <a:srgbClr val="000000"/>
                </a:solidFill>
                <a:effectLst/>
                <a:highlight>
                  <a:srgbClr val="FDFDFD"/>
                </a:highlight>
                <a:latin typeface="Consolas" panose="020B0609020204030204" pitchFamily="49" charset="0"/>
              </a:rPr>
              <a:t> </a:t>
            </a:r>
          </a:p>
          <a:p>
            <a:r>
              <a:rPr lang="en-IN" dirty="0">
                <a:solidFill>
                  <a:srgbClr val="000000"/>
                </a:solidFill>
                <a:highlight>
                  <a:srgbClr val="FDFDFD"/>
                </a:highlight>
                <a:latin typeface="Consolas" panose="020B0609020204030204" pitchFamily="49" charset="0"/>
              </a:rPr>
              <a:t>       </a:t>
            </a:r>
            <a:r>
              <a:rPr lang="en-IN" b="0" i="0" dirty="0">
                <a:solidFill>
                  <a:srgbClr val="5F6364"/>
                </a:solidFill>
                <a:effectLst/>
                <a:latin typeface="Consolas" panose="020B0609020204030204" pitchFamily="49" charset="0"/>
              </a:rPr>
              <a:t>[</a:t>
            </a:r>
            <a:r>
              <a:rPr lang="en-IN" b="0" i="0" dirty="0">
                <a:solidFill>
                  <a:srgbClr val="C92C2C"/>
                </a:solidFill>
                <a:effectLst/>
                <a:latin typeface="Consolas" panose="020B0609020204030204" pitchFamily="49" charset="0"/>
              </a:rPr>
              <a:t>0</a:t>
            </a:r>
            <a:r>
              <a:rPr lang="en-IN" b="0" i="0" dirty="0">
                <a:solidFill>
                  <a:srgbClr val="5F6364"/>
                </a:solidFill>
                <a:effectLst/>
                <a:latin typeface="Consolas" panose="020B0609020204030204" pitchFamily="49" charset="0"/>
              </a:rPr>
              <a:t>,</a:t>
            </a:r>
            <a:r>
              <a:rPr lang="en-IN" b="0" i="0" dirty="0">
                <a:solidFill>
                  <a:srgbClr val="000000"/>
                </a:solidFill>
                <a:effectLst/>
                <a:highlight>
                  <a:srgbClr val="FDFDFD"/>
                </a:highlight>
                <a:latin typeface="Consolas" panose="020B0609020204030204" pitchFamily="49" charset="0"/>
              </a:rPr>
              <a:t> </a:t>
            </a:r>
            <a:r>
              <a:rPr lang="en-IN" b="0" i="0" dirty="0">
                <a:solidFill>
                  <a:srgbClr val="C92C2C"/>
                </a:solidFill>
                <a:effectLst/>
                <a:latin typeface="Consolas" panose="020B0609020204030204" pitchFamily="49" charset="0"/>
              </a:rPr>
              <a:t>1</a:t>
            </a:r>
            <a:r>
              <a:rPr lang="en-IN" b="0" i="0" dirty="0">
                <a:solidFill>
                  <a:srgbClr val="5F6364"/>
                </a:solidFill>
                <a:effectLst/>
                <a:latin typeface="Consolas" panose="020B0609020204030204" pitchFamily="49" charset="0"/>
              </a:rPr>
              <a:t>]])</a:t>
            </a:r>
            <a:r>
              <a:rPr lang="en-IN" b="0" i="0" dirty="0">
                <a:solidFill>
                  <a:srgbClr val="000000"/>
                </a:solidFill>
                <a:effectLst/>
                <a:highlight>
                  <a:srgbClr val="FDFDFD"/>
                </a:highlight>
                <a:latin typeface="Consolas" panose="020B0609020204030204" pitchFamily="49" charset="0"/>
              </a:rPr>
              <a:t> </a:t>
            </a:r>
            <a:endParaRPr lang="en-IN" dirty="0"/>
          </a:p>
        </p:txBody>
      </p:sp>
      <p:sp>
        <p:nvSpPr>
          <p:cNvPr id="5" name="TextBox 4">
            <a:extLst>
              <a:ext uri="{FF2B5EF4-FFF2-40B4-BE49-F238E27FC236}">
                <a16:creationId xmlns:a16="http://schemas.microsoft.com/office/drawing/2014/main" id="{F1873DD4-635D-ED11-EB4A-64E7B6632242}"/>
              </a:ext>
            </a:extLst>
          </p:cNvPr>
          <p:cNvSpPr txBox="1"/>
          <p:nvPr/>
        </p:nvSpPr>
        <p:spPr>
          <a:xfrm>
            <a:off x="7332178" y="2441554"/>
            <a:ext cx="4369491" cy="3139321"/>
          </a:xfrm>
          <a:prstGeom prst="rect">
            <a:avLst/>
          </a:prstGeom>
          <a:noFill/>
          <a:ln w="6350">
            <a:solidFill>
              <a:schemeClr val="tx1"/>
            </a:solidFill>
          </a:ln>
        </p:spPr>
        <p:txBody>
          <a:bodyPr wrap="square">
            <a:spAutoFit/>
          </a:bodyPr>
          <a:lstStyle/>
          <a:p>
            <a:r>
              <a:rPr lang="en-US" b="0" i="0" dirty="0">
                <a:solidFill>
                  <a:srgbClr val="1990B8"/>
                </a:solidFill>
                <a:effectLst/>
                <a:latin typeface="Consolas" panose="020B0609020204030204" pitchFamily="49" charset="0"/>
              </a:rPr>
              <a:t>import</a:t>
            </a:r>
            <a:r>
              <a:rPr lang="en-US" b="0" i="0" dirty="0">
                <a:solidFill>
                  <a:srgbClr val="000000"/>
                </a:solidFill>
                <a:effectLst/>
                <a:highlight>
                  <a:srgbClr val="FDFDFD"/>
                </a:highlight>
                <a:latin typeface="Consolas" panose="020B0609020204030204" pitchFamily="49" charset="0"/>
              </a:rPr>
              <a:t> </a:t>
            </a:r>
            <a:r>
              <a:rPr lang="en-US" b="0" i="0" dirty="0" err="1">
                <a:solidFill>
                  <a:srgbClr val="000000"/>
                </a:solidFill>
                <a:effectLst/>
                <a:highlight>
                  <a:srgbClr val="FDFDFD"/>
                </a:highlight>
                <a:latin typeface="Consolas" panose="020B0609020204030204" pitchFamily="49" charset="0"/>
              </a:rPr>
              <a:t>numpy</a:t>
            </a:r>
            <a:r>
              <a:rPr lang="en-US" b="0" i="0" dirty="0">
                <a:solidFill>
                  <a:srgbClr val="000000"/>
                </a:solidFill>
                <a:effectLst/>
                <a:highlight>
                  <a:srgbClr val="FDFDFD"/>
                </a:highlight>
                <a:latin typeface="Consolas" panose="020B0609020204030204" pitchFamily="49" charset="0"/>
              </a:rPr>
              <a:t> </a:t>
            </a:r>
            <a:r>
              <a:rPr lang="en-US" b="0" i="0" dirty="0">
                <a:solidFill>
                  <a:srgbClr val="1990B8"/>
                </a:solidFill>
                <a:effectLst/>
                <a:latin typeface="Consolas" panose="020B0609020204030204" pitchFamily="49" charset="0"/>
              </a:rPr>
              <a:t>as</a:t>
            </a:r>
            <a:r>
              <a:rPr lang="en-US" b="0" i="0" dirty="0">
                <a:solidFill>
                  <a:srgbClr val="000000"/>
                </a:solidFill>
                <a:effectLst/>
                <a:highlight>
                  <a:srgbClr val="FDFDFD"/>
                </a:highlight>
                <a:latin typeface="Consolas" panose="020B0609020204030204" pitchFamily="49" charset="0"/>
              </a:rPr>
              <a:t> np </a:t>
            </a:r>
          </a:p>
          <a:p>
            <a:r>
              <a:rPr lang="en-US" b="0" i="0" dirty="0" err="1">
                <a:solidFill>
                  <a:srgbClr val="000000"/>
                </a:solidFill>
                <a:effectLst/>
                <a:highlight>
                  <a:srgbClr val="FDFDFD"/>
                </a:highlight>
                <a:latin typeface="Consolas" panose="020B0609020204030204" pitchFamily="49" charset="0"/>
              </a:rPr>
              <a:t>nums</a:t>
            </a:r>
            <a:r>
              <a:rPr lang="en-US" b="0" i="0" dirty="0">
                <a:solidFill>
                  <a:srgbClr val="000000"/>
                </a:solidFill>
                <a:effectLst/>
                <a:highlight>
                  <a:srgbClr val="FDFDFD"/>
                </a:highlight>
                <a:latin typeface="Consolas" panose="020B0609020204030204" pitchFamily="49" charset="0"/>
              </a:rPr>
              <a:t> </a:t>
            </a:r>
            <a:r>
              <a:rPr lang="en-US" b="0" i="0" dirty="0">
                <a:solidFill>
                  <a:srgbClr val="A67F59"/>
                </a:solidFill>
                <a:effectLst/>
                <a:latin typeface="Consolas" panose="020B0609020204030204" pitchFamily="49" charset="0"/>
              </a:rPr>
              <a:t>=</a:t>
            </a:r>
            <a:r>
              <a:rPr lang="en-US" b="0" i="0" dirty="0">
                <a:solidFill>
                  <a:srgbClr val="000000"/>
                </a:solidFill>
                <a:effectLst/>
                <a:highlight>
                  <a:srgbClr val="FDFDFD"/>
                </a:highlight>
                <a:latin typeface="Consolas" panose="020B0609020204030204" pitchFamily="49" charset="0"/>
              </a:rPr>
              <a:t> </a:t>
            </a:r>
            <a:r>
              <a:rPr lang="en-US" b="0" i="0" dirty="0" err="1">
                <a:solidFill>
                  <a:srgbClr val="000000"/>
                </a:solidFill>
                <a:effectLst/>
                <a:highlight>
                  <a:srgbClr val="FDFDFD"/>
                </a:highlight>
                <a:latin typeface="Consolas" panose="020B0609020204030204" pitchFamily="49" charset="0"/>
              </a:rPr>
              <a:t>np</a:t>
            </a:r>
            <a:r>
              <a:rPr lang="en-US" b="0" i="0" dirty="0" err="1">
                <a:solidFill>
                  <a:srgbClr val="5F6364"/>
                </a:solidFill>
                <a:effectLst/>
                <a:latin typeface="Consolas" panose="020B0609020204030204" pitchFamily="49" charset="0"/>
              </a:rPr>
              <a:t>.</a:t>
            </a:r>
            <a:r>
              <a:rPr lang="en-US" b="0" i="0" dirty="0" err="1">
                <a:solidFill>
                  <a:srgbClr val="000000"/>
                </a:solidFill>
                <a:effectLst/>
                <a:highlight>
                  <a:srgbClr val="FDFDFD"/>
                </a:highlight>
                <a:latin typeface="Consolas" panose="020B0609020204030204" pitchFamily="49" charset="0"/>
              </a:rPr>
              <a:t>eye</a:t>
            </a:r>
            <a:r>
              <a:rPr lang="en-US" b="0" i="0" dirty="0">
                <a:solidFill>
                  <a:srgbClr val="5F6364"/>
                </a:solidFill>
                <a:effectLst/>
                <a:latin typeface="Consolas" panose="020B0609020204030204" pitchFamily="49" charset="0"/>
              </a:rPr>
              <a:t>(</a:t>
            </a:r>
            <a:r>
              <a:rPr lang="en-US" b="0" i="0" dirty="0">
                <a:solidFill>
                  <a:srgbClr val="C92C2C"/>
                </a:solidFill>
                <a:effectLst/>
                <a:latin typeface="Consolas" panose="020B0609020204030204" pitchFamily="49" charset="0"/>
              </a:rPr>
              <a:t>5</a:t>
            </a:r>
            <a:r>
              <a:rPr lang="en-US" b="0" i="0" dirty="0">
                <a:solidFill>
                  <a:srgbClr val="5F6364"/>
                </a:solidFill>
                <a:effectLst/>
                <a:latin typeface="Consolas" panose="020B0609020204030204" pitchFamily="49" charset="0"/>
              </a:rPr>
              <a:t>,</a:t>
            </a:r>
            <a:r>
              <a:rPr lang="en-US" b="0" i="0" dirty="0">
                <a:solidFill>
                  <a:srgbClr val="000000"/>
                </a:solidFill>
                <a:effectLst/>
                <a:highlight>
                  <a:srgbClr val="FDFDFD"/>
                </a:highlight>
                <a:latin typeface="Consolas" panose="020B0609020204030204" pitchFamily="49" charset="0"/>
              </a:rPr>
              <a:t> k</a:t>
            </a:r>
            <a:r>
              <a:rPr lang="en-US" b="0" i="0" dirty="0">
                <a:solidFill>
                  <a:srgbClr val="A67F59"/>
                </a:solidFill>
                <a:effectLst/>
                <a:latin typeface="Consolas" panose="020B0609020204030204" pitchFamily="49" charset="0"/>
              </a:rPr>
              <a:t>=</a:t>
            </a:r>
            <a:r>
              <a:rPr lang="en-US" b="0" i="0" dirty="0">
                <a:solidFill>
                  <a:srgbClr val="C92C2C"/>
                </a:solidFill>
                <a:effectLst/>
                <a:latin typeface="Consolas" panose="020B0609020204030204" pitchFamily="49" charset="0"/>
              </a:rPr>
              <a:t>1</a:t>
            </a:r>
            <a:r>
              <a:rPr lang="en-US" b="0" i="0" dirty="0">
                <a:solidFill>
                  <a:srgbClr val="5F6364"/>
                </a:solidFill>
                <a:effectLst/>
                <a:latin typeface="Consolas" panose="020B0609020204030204" pitchFamily="49" charset="0"/>
              </a:rPr>
              <a:t>,</a:t>
            </a:r>
            <a:r>
              <a:rPr lang="en-US" b="0" i="0" dirty="0">
                <a:solidFill>
                  <a:srgbClr val="000000"/>
                </a:solidFill>
                <a:effectLst/>
                <a:highlight>
                  <a:srgbClr val="FDFDFD"/>
                </a:highlight>
                <a:latin typeface="Consolas" panose="020B0609020204030204" pitchFamily="49" charset="0"/>
              </a:rPr>
              <a:t> </a:t>
            </a:r>
            <a:r>
              <a:rPr lang="en-US" b="0" i="0" dirty="0" err="1">
                <a:solidFill>
                  <a:srgbClr val="000000"/>
                </a:solidFill>
                <a:effectLst/>
                <a:highlight>
                  <a:srgbClr val="FDFDFD"/>
                </a:highlight>
                <a:latin typeface="Consolas" panose="020B0609020204030204" pitchFamily="49" charset="0"/>
              </a:rPr>
              <a:t>dtype</a:t>
            </a:r>
            <a:r>
              <a:rPr lang="en-US" b="0" i="0" dirty="0">
                <a:solidFill>
                  <a:srgbClr val="A67F59"/>
                </a:solidFill>
                <a:effectLst/>
                <a:latin typeface="Consolas" panose="020B0609020204030204" pitchFamily="49" charset="0"/>
              </a:rPr>
              <a:t>=</a:t>
            </a:r>
            <a:r>
              <a:rPr lang="en-US" b="0" i="0" dirty="0">
                <a:solidFill>
                  <a:srgbClr val="2F9C0A"/>
                </a:solidFill>
                <a:effectLst/>
                <a:latin typeface="Consolas" panose="020B0609020204030204" pitchFamily="49" charset="0"/>
              </a:rPr>
              <a:t>int</a:t>
            </a:r>
            <a:r>
              <a:rPr lang="en-US" b="0" i="0" dirty="0">
                <a:solidFill>
                  <a:srgbClr val="5F6364"/>
                </a:solidFill>
                <a:effectLst/>
                <a:latin typeface="Consolas" panose="020B0609020204030204" pitchFamily="49" charset="0"/>
              </a:rPr>
              <a:t>)</a:t>
            </a:r>
          </a:p>
          <a:p>
            <a:r>
              <a:rPr lang="en-US" b="0" i="0" dirty="0">
                <a:solidFill>
                  <a:srgbClr val="1990B8"/>
                </a:solidFill>
                <a:effectLst/>
                <a:latin typeface="Consolas" panose="020B0609020204030204" pitchFamily="49" charset="0"/>
              </a:rPr>
              <a:t>print</a:t>
            </a:r>
            <a:r>
              <a:rPr lang="en-US" b="0" i="0" dirty="0">
                <a:solidFill>
                  <a:srgbClr val="5F6364"/>
                </a:solidFill>
                <a:effectLst/>
                <a:latin typeface="Consolas" panose="020B0609020204030204" pitchFamily="49" charset="0"/>
              </a:rPr>
              <a:t>(</a:t>
            </a:r>
            <a:r>
              <a:rPr lang="en-US" b="0" i="0" dirty="0" err="1">
                <a:solidFill>
                  <a:srgbClr val="000000"/>
                </a:solidFill>
                <a:effectLst/>
                <a:highlight>
                  <a:srgbClr val="FDFDFD"/>
                </a:highlight>
                <a:latin typeface="Consolas" panose="020B0609020204030204" pitchFamily="49" charset="0"/>
              </a:rPr>
              <a:t>nums</a:t>
            </a:r>
            <a:r>
              <a:rPr lang="en-US" b="0" i="0" dirty="0">
                <a:solidFill>
                  <a:srgbClr val="5F6364"/>
                </a:solidFill>
                <a:effectLst/>
                <a:latin typeface="Consolas" panose="020B0609020204030204" pitchFamily="49" charset="0"/>
              </a:rPr>
              <a:t>)</a:t>
            </a:r>
          </a:p>
          <a:p>
            <a:endParaRPr lang="en-US" dirty="0">
              <a:solidFill>
                <a:srgbClr val="5F6364"/>
              </a:solidFill>
              <a:latin typeface="Consolas" panose="020B0609020204030204" pitchFamily="49" charset="0"/>
            </a:endParaRPr>
          </a:p>
          <a:p>
            <a:r>
              <a:rPr lang="en-US" b="1" dirty="0">
                <a:solidFill>
                  <a:srgbClr val="000000"/>
                </a:solidFill>
                <a:highlight>
                  <a:srgbClr val="FDFDFD"/>
                </a:highlight>
                <a:latin typeface="Consolas" panose="020B0609020204030204" pitchFamily="49" charset="0"/>
              </a:rPr>
              <a:t>Output:</a:t>
            </a:r>
          </a:p>
          <a:p>
            <a:r>
              <a:rPr lang="en-US" dirty="0">
                <a:solidFill>
                  <a:srgbClr val="5F6364"/>
                </a:solidFill>
                <a:latin typeface="Consolas" panose="020B0609020204030204" pitchFamily="49" charset="0"/>
              </a:rPr>
              <a:t>[[0 1 0 0 0]</a:t>
            </a:r>
          </a:p>
          <a:p>
            <a:r>
              <a:rPr lang="en-US" dirty="0">
                <a:solidFill>
                  <a:srgbClr val="5F6364"/>
                </a:solidFill>
                <a:latin typeface="Consolas" panose="020B0609020204030204" pitchFamily="49" charset="0"/>
              </a:rPr>
              <a:t> [0 0 1 0 0]</a:t>
            </a:r>
          </a:p>
          <a:p>
            <a:r>
              <a:rPr lang="en-US" dirty="0">
                <a:solidFill>
                  <a:srgbClr val="5F6364"/>
                </a:solidFill>
                <a:latin typeface="Consolas" panose="020B0609020204030204" pitchFamily="49" charset="0"/>
              </a:rPr>
              <a:t> [0 0 0 1 0]</a:t>
            </a:r>
          </a:p>
          <a:p>
            <a:r>
              <a:rPr lang="en-US" dirty="0">
                <a:solidFill>
                  <a:srgbClr val="5F6364"/>
                </a:solidFill>
                <a:latin typeface="Consolas" panose="020B0609020204030204" pitchFamily="49" charset="0"/>
              </a:rPr>
              <a:t> [0 0 0 0 1]</a:t>
            </a:r>
          </a:p>
          <a:p>
            <a:r>
              <a:rPr lang="en-US" dirty="0">
                <a:solidFill>
                  <a:srgbClr val="5F6364"/>
                </a:solidFill>
                <a:latin typeface="Consolas" panose="020B0609020204030204" pitchFamily="49" charset="0"/>
              </a:rPr>
              <a:t> [0 0 0 0 0]]</a:t>
            </a:r>
          </a:p>
          <a:p>
            <a:endParaRPr lang="en-IN" dirty="0"/>
          </a:p>
        </p:txBody>
      </p:sp>
    </p:spTree>
    <p:extLst>
      <p:ext uri="{BB962C8B-B14F-4D97-AF65-F5344CB8AC3E}">
        <p14:creationId xmlns:p14="http://schemas.microsoft.com/office/powerpoint/2010/main" val="2911981561"/>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Table 8">
            <a:extLst>
              <a:ext uri="{FF2B5EF4-FFF2-40B4-BE49-F238E27FC236}">
                <a16:creationId xmlns:a16="http://schemas.microsoft.com/office/drawing/2014/main" id="{0B6EC464-4750-5FF3-7A5A-15612BA6E293}"/>
              </a:ext>
            </a:extLst>
          </p:cNvPr>
          <p:cNvGraphicFramePr>
            <a:graphicFrameLocks noGrp="1"/>
          </p:cNvGraphicFramePr>
          <p:nvPr/>
        </p:nvGraphicFramePr>
        <p:xfrm>
          <a:off x="0" y="23812"/>
          <a:ext cx="12192000" cy="465287"/>
        </p:xfrm>
        <a:graphic>
          <a:graphicData uri="http://schemas.openxmlformats.org/drawingml/2006/table">
            <a:tbl>
              <a:tblPr firstRow="1" bandRow="1">
                <a:tableStyleId>{5C22544A-7EE6-4342-B048-85BDC9FD1C3A}</a:tableStyleId>
              </a:tblPr>
              <a:tblGrid>
                <a:gridCol w="6092042">
                  <a:extLst>
                    <a:ext uri="{9D8B030D-6E8A-4147-A177-3AD203B41FA5}">
                      <a16:colId xmlns:a16="http://schemas.microsoft.com/office/drawing/2014/main" val="2179694530"/>
                    </a:ext>
                  </a:extLst>
                </a:gridCol>
                <a:gridCol w="6099958">
                  <a:extLst>
                    <a:ext uri="{9D8B030D-6E8A-4147-A177-3AD203B41FA5}">
                      <a16:colId xmlns:a16="http://schemas.microsoft.com/office/drawing/2014/main" val="2768207918"/>
                    </a:ext>
                  </a:extLst>
                </a:gridCol>
              </a:tblGrid>
              <a:tr h="465287">
                <a:tc>
                  <a:txBody>
                    <a:bodyPr/>
                    <a:lstStyle/>
                    <a:p>
                      <a:endParaRPr lang="en-US" dirty="0"/>
                    </a:p>
                  </a:txBody>
                  <a:tcPr>
                    <a:solidFill>
                      <a:srgbClr val="FF85FF"/>
                    </a:solidFill>
                  </a:tcPr>
                </a:tc>
                <a:tc>
                  <a:txBody>
                    <a:bodyPr/>
                    <a:lstStyle/>
                    <a:p>
                      <a:endParaRPr lang="en-US" dirty="0"/>
                    </a:p>
                  </a:txBody>
                  <a:tcPr>
                    <a:solidFill>
                      <a:srgbClr val="FFFF00"/>
                    </a:solidFill>
                  </a:tcPr>
                </a:tc>
                <a:extLst>
                  <a:ext uri="{0D108BD9-81ED-4DB2-BD59-A6C34878D82A}">
                    <a16:rowId xmlns:a16="http://schemas.microsoft.com/office/drawing/2014/main" val="1996944423"/>
                  </a:ext>
                </a:extLst>
              </a:tr>
            </a:tbl>
          </a:graphicData>
        </a:graphic>
      </p:graphicFrame>
      <p:graphicFrame>
        <p:nvGraphicFramePr>
          <p:cNvPr id="10" name="Table 9">
            <a:extLst>
              <a:ext uri="{FF2B5EF4-FFF2-40B4-BE49-F238E27FC236}">
                <a16:creationId xmlns:a16="http://schemas.microsoft.com/office/drawing/2014/main" id="{494BAFB7-FE1F-E1A9-7A6C-AB4145BD9BA1}"/>
              </a:ext>
            </a:extLst>
          </p:cNvPr>
          <p:cNvGraphicFramePr>
            <a:graphicFrameLocks noGrp="1"/>
          </p:cNvGraphicFramePr>
          <p:nvPr/>
        </p:nvGraphicFramePr>
        <p:xfrm>
          <a:off x="1" y="6478892"/>
          <a:ext cx="12191999" cy="370840"/>
        </p:xfrm>
        <a:graphic>
          <a:graphicData uri="http://schemas.openxmlformats.org/drawingml/2006/table">
            <a:tbl>
              <a:tblPr firstRow="1" bandRow="1">
                <a:tableStyleId>{5C22544A-7EE6-4342-B048-85BDC9FD1C3A}</a:tableStyleId>
              </a:tblPr>
              <a:tblGrid>
                <a:gridCol w="6080165">
                  <a:extLst>
                    <a:ext uri="{9D8B030D-6E8A-4147-A177-3AD203B41FA5}">
                      <a16:colId xmlns:a16="http://schemas.microsoft.com/office/drawing/2014/main" val="2179694530"/>
                    </a:ext>
                  </a:extLst>
                </a:gridCol>
                <a:gridCol w="6111834">
                  <a:extLst>
                    <a:ext uri="{9D8B030D-6E8A-4147-A177-3AD203B41FA5}">
                      <a16:colId xmlns:a16="http://schemas.microsoft.com/office/drawing/2014/main" val="2768207918"/>
                    </a:ext>
                  </a:extLst>
                </a:gridCol>
              </a:tblGrid>
              <a:tr h="370840">
                <a:tc>
                  <a:txBody>
                    <a:bodyPr/>
                    <a:lstStyle/>
                    <a:p>
                      <a:endParaRPr lang="en-US" dirty="0"/>
                    </a:p>
                  </a:txBody>
                  <a:tcPr>
                    <a:solidFill>
                      <a:srgbClr val="FFFF00"/>
                    </a:solidFill>
                  </a:tcPr>
                </a:tc>
                <a:tc>
                  <a:txBody>
                    <a:bodyPr/>
                    <a:lstStyle/>
                    <a:p>
                      <a:pPr algn="r"/>
                      <a:fld id="{C3A8E79E-7F4B-4E4D-ADE2-9430453E0565}" type="slidenum">
                        <a:rPr lang="en-US" smtClean="0">
                          <a:solidFill>
                            <a:schemeClr val="tx1"/>
                          </a:solidFill>
                        </a:rPr>
                        <a:t>81</a:t>
                      </a:fld>
                      <a:endParaRPr lang="en-US" dirty="0">
                        <a:solidFill>
                          <a:schemeClr val="tx1"/>
                        </a:solidFill>
                      </a:endParaRPr>
                    </a:p>
                  </a:txBody>
                  <a:tcPr>
                    <a:solidFill>
                      <a:srgbClr val="FF85FF"/>
                    </a:solidFill>
                  </a:tcPr>
                </a:tc>
                <a:extLst>
                  <a:ext uri="{0D108BD9-81ED-4DB2-BD59-A6C34878D82A}">
                    <a16:rowId xmlns:a16="http://schemas.microsoft.com/office/drawing/2014/main" val="1996944423"/>
                  </a:ext>
                </a:extLst>
              </a:tr>
            </a:tbl>
          </a:graphicData>
        </a:graphic>
      </p:graphicFrame>
      <p:pic>
        <p:nvPicPr>
          <p:cNvPr id="12" name="Google Shape;187;p25" descr="pngfind.com-kingpin-png-4152286 (1).png">
            <a:extLst>
              <a:ext uri="{FF2B5EF4-FFF2-40B4-BE49-F238E27FC236}">
                <a16:creationId xmlns:a16="http://schemas.microsoft.com/office/drawing/2014/main" id="{2DBF2481-A2DB-F96E-5749-B03DC4F71665}"/>
              </a:ext>
            </a:extLst>
          </p:cNvPr>
          <p:cNvPicPr preferRelativeResize="0"/>
          <p:nvPr/>
        </p:nvPicPr>
        <p:blipFill rotWithShape="1">
          <a:blip r:embed="rId2">
            <a:alphaModFix/>
          </a:blip>
          <a:srcRect/>
          <a:stretch/>
        </p:blipFill>
        <p:spPr>
          <a:xfrm>
            <a:off x="11044052" y="8268"/>
            <a:ext cx="1051261" cy="465287"/>
          </a:xfrm>
          <a:prstGeom prst="rect">
            <a:avLst/>
          </a:prstGeom>
          <a:noFill/>
          <a:ln>
            <a:noFill/>
          </a:ln>
        </p:spPr>
      </p:pic>
      <p:sp>
        <p:nvSpPr>
          <p:cNvPr id="19" name="Rectangle 18">
            <a:extLst>
              <a:ext uri="{FF2B5EF4-FFF2-40B4-BE49-F238E27FC236}">
                <a16:creationId xmlns:a16="http://schemas.microsoft.com/office/drawing/2014/main" id="{A0702E37-2E7E-7262-5E76-F69A817105B3}"/>
              </a:ext>
            </a:extLst>
          </p:cNvPr>
          <p:cNvSpPr/>
          <p:nvPr/>
        </p:nvSpPr>
        <p:spPr>
          <a:xfrm>
            <a:off x="0" y="8268"/>
            <a:ext cx="12192000" cy="6825920"/>
          </a:xfrm>
          <a:prstGeom prst="rect">
            <a:avLst/>
          </a:prstGeom>
          <a:noFill/>
          <a:ln w="38100">
            <a:solidFill>
              <a:srgbClr val="0432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DCB2A3F0-9003-5886-09B4-27925BBE4000}"/>
              </a:ext>
            </a:extLst>
          </p:cNvPr>
          <p:cNvSpPr txBox="1"/>
          <p:nvPr/>
        </p:nvSpPr>
        <p:spPr>
          <a:xfrm>
            <a:off x="1" y="2999768"/>
            <a:ext cx="12191999" cy="646331"/>
          </a:xfrm>
          <a:prstGeom prst="rect">
            <a:avLst/>
          </a:prstGeom>
          <a:noFill/>
        </p:spPr>
        <p:txBody>
          <a:bodyPr wrap="square">
            <a:spAutoFit/>
          </a:bodyPr>
          <a:lstStyle/>
          <a:p>
            <a:pPr marL="0" algn="ctr" rtl="0" eaLnBrk="1" latinLnBrk="0" hangingPunct="1">
              <a:spcBef>
                <a:spcPts val="0"/>
              </a:spcBef>
              <a:spcAft>
                <a:spcPts val="0"/>
              </a:spcAft>
            </a:pPr>
            <a:r>
              <a:rPr lang="en-US" sz="3600" b="1" kern="1200" dirty="0">
                <a:solidFill>
                  <a:srgbClr val="000000"/>
                </a:solidFill>
                <a:effectLst/>
                <a:latin typeface="Calibri" panose="020F0502020204030204" pitchFamily="34" charset="0"/>
                <a:ea typeface="+mn-ea"/>
                <a:cs typeface="Calibri" panose="020F0502020204030204" pitchFamily="34" charset="0"/>
              </a:rPr>
              <a:t>Thank You</a:t>
            </a:r>
            <a:endParaRPr lang="en-IN" sz="6000" dirty="0">
              <a:effectLst/>
            </a:endParaRPr>
          </a:p>
        </p:txBody>
      </p:sp>
    </p:spTree>
    <p:extLst>
      <p:ext uri="{BB962C8B-B14F-4D97-AF65-F5344CB8AC3E}">
        <p14:creationId xmlns:p14="http://schemas.microsoft.com/office/powerpoint/2010/main" val="319515785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382</TotalTime>
  <Words>4702</Words>
  <Application>Microsoft Office PowerPoint</Application>
  <PresentationFormat>Widescreen</PresentationFormat>
  <Paragraphs>548</Paragraphs>
  <Slides>81</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81</vt:i4>
      </vt:variant>
    </vt:vector>
  </HeadingPairs>
  <TitlesOfParts>
    <vt:vector size="90" baseType="lpstr">
      <vt:lpstr>AmazonEmber</vt:lpstr>
      <vt:lpstr>Aptos</vt:lpstr>
      <vt:lpstr>Aptos Display</vt:lpstr>
      <vt:lpstr>Arial</vt:lpstr>
      <vt:lpstr>Calibri</vt:lpstr>
      <vt:lpstr>Consolas</vt:lpstr>
      <vt:lpstr>NewBaskerville-Roman</vt:lpstr>
      <vt:lpstr>Verdana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Vadivu G 100383</dc:creator>
  <cp:lastModifiedBy>vivenan09@outlook.com</cp:lastModifiedBy>
  <cp:revision>40</cp:revision>
  <dcterms:created xsi:type="dcterms:W3CDTF">2024-07-31T05:44:11Z</dcterms:created>
  <dcterms:modified xsi:type="dcterms:W3CDTF">2024-10-14T07:12:58Z</dcterms:modified>
</cp:coreProperties>
</file>