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0058400" cy="7772400"/>
  <p:notesSz cx="10058400" cy="7772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151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643374" y="2861562"/>
            <a:ext cx="2771650" cy="8483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7/22/2018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254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FF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7/22/2018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254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FF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7/22/2018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254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FF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7/22/2018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254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7/22/2018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254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22266" y="1331467"/>
            <a:ext cx="2213867" cy="5740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FF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21732" y="2457702"/>
            <a:ext cx="7614934" cy="18516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7/22/2018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618724" y="6736077"/>
            <a:ext cx="230504" cy="2038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254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43374" y="2861562"/>
            <a:ext cx="269557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-5" dirty="0">
                <a:solidFill>
                  <a:srgbClr val="FF0000"/>
                </a:solidFill>
                <a:latin typeface="Arial"/>
                <a:cs typeface="Arial"/>
              </a:rPr>
              <a:t>Planning</a:t>
            </a:r>
            <a:endParaRPr sz="5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8707116" y="6736077"/>
            <a:ext cx="140335" cy="20383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54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sz="1400" dirty="0">
                <a:latin typeface="Times New Roman"/>
                <a:cs typeface="Times New Roman"/>
              </a:rPr>
              <a:t>2</a:t>
            </a:fld>
            <a:endParaRPr sz="14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62474" y="1331467"/>
            <a:ext cx="193293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</a:t>
            </a:r>
            <a:r>
              <a:rPr spc="-5" dirty="0"/>
              <a:t>v</a:t>
            </a:r>
            <a:r>
              <a:rPr dirty="0"/>
              <a:t>er</a:t>
            </a:r>
            <a:r>
              <a:rPr spc="-5" dirty="0"/>
              <a:t>v</a:t>
            </a:r>
            <a:r>
              <a:rPr dirty="0"/>
              <a:t>iew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819275" y="3117850"/>
          <a:ext cx="2676525" cy="10826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3276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0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B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698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276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0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A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698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C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698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D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698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2821938" y="4440426"/>
            <a:ext cx="5207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5" dirty="0">
                <a:solidFill>
                  <a:srgbClr val="A50020"/>
                </a:solidFill>
                <a:latin typeface="Arial"/>
                <a:cs typeface="Arial"/>
              </a:rPr>
              <a:t>s</a:t>
            </a:r>
            <a:r>
              <a:rPr sz="2000" spc="-5" dirty="0">
                <a:solidFill>
                  <a:srgbClr val="A50020"/>
                </a:solidFill>
                <a:latin typeface="Arial"/>
                <a:cs typeface="Arial"/>
              </a:rPr>
              <a:t>t</a:t>
            </a:r>
            <a:r>
              <a:rPr sz="2000" dirty="0">
                <a:solidFill>
                  <a:srgbClr val="A50020"/>
                </a:solidFill>
                <a:latin typeface="Arial"/>
                <a:cs typeface="Arial"/>
              </a:rPr>
              <a:t>ar</a:t>
            </a:r>
            <a:r>
              <a:rPr sz="2000" spc="-5" dirty="0">
                <a:solidFill>
                  <a:srgbClr val="A50020"/>
                </a:solidFill>
                <a:latin typeface="Arial"/>
                <a:cs typeface="Arial"/>
              </a:rPr>
              <a:t>t</a:t>
            </a:r>
            <a:endParaRPr sz="2000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5553075" y="3117850"/>
          <a:ext cx="2676525" cy="10826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276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9700" algn="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C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698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47320" algn="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B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698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276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47320" algn="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A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698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9700" algn="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D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698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6555737" y="4440426"/>
            <a:ext cx="50736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A50020"/>
                </a:solidFill>
                <a:latin typeface="Arial"/>
                <a:cs typeface="Arial"/>
              </a:rPr>
              <a:t>goa</a:t>
            </a:r>
            <a:r>
              <a:rPr sz="2000" spc="-5" dirty="0">
                <a:solidFill>
                  <a:srgbClr val="A50020"/>
                </a:solidFill>
                <a:latin typeface="Arial"/>
                <a:cs typeface="Arial"/>
              </a:rPr>
              <a:t>l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02739" y="2305303"/>
            <a:ext cx="23133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The blocks</a:t>
            </a:r>
            <a:r>
              <a:rPr sz="2400" spc="-5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world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25111" y="5353301"/>
            <a:ext cx="53289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How </a:t>
            </a:r>
            <a:r>
              <a:rPr sz="2400" spc="-5" dirty="0">
                <a:latin typeface="Arial"/>
                <a:cs typeface="Arial"/>
              </a:rPr>
              <a:t>to achieve the goal from the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start?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8707116" y="6736077"/>
            <a:ext cx="140335" cy="20383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54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sz="1400" dirty="0">
                <a:latin typeface="Times New Roman"/>
                <a:cs typeface="Times New Roman"/>
              </a:rPr>
              <a:t>3</a:t>
            </a:fld>
            <a:endParaRPr sz="14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62474" y="1331467"/>
            <a:ext cx="193293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</a:t>
            </a:r>
            <a:r>
              <a:rPr spc="-5" dirty="0"/>
              <a:t>v</a:t>
            </a:r>
            <a:r>
              <a:rPr dirty="0"/>
              <a:t>er</a:t>
            </a:r>
            <a:r>
              <a:rPr spc="-5" dirty="0"/>
              <a:t>v</a:t>
            </a:r>
            <a:r>
              <a:rPr dirty="0"/>
              <a:t>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1733" y="2457702"/>
            <a:ext cx="7303770" cy="75565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355600" marR="5080" indent="-342900">
              <a:lnSpc>
                <a:spcPts val="2870"/>
              </a:lnSpc>
              <a:spcBef>
                <a:spcPts val="200"/>
              </a:spcBef>
              <a:buClr>
                <a:srgbClr val="000000"/>
              </a:buClr>
              <a:buSzPct val="120833"/>
              <a:buFont typeface="Courier New"/>
              <a:buChar char="•"/>
              <a:tabLst>
                <a:tab pos="355600" algn="l"/>
              </a:tabLst>
            </a:pP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Problem-solving </a:t>
            </a:r>
            <a:r>
              <a:rPr sz="2400" spc="-5" dirty="0">
                <a:latin typeface="Arial"/>
                <a:cs typeface="Arial"/>
              </a:rPr>
              <a:t>is </a:t>
            </a:r>
            <a:r>
              <a:rPr sz="2400" spc="-5" dirty="0">
                <a:solidFill>
                  <a:srgbClr val="CC3200"/>
                </a:solidFill>
                <a:latin typeface="Arial"/>
                <a:cs typeface="Arial"/>
              </a:rPr>
              <a:t>searching </a:t>
            </a:r>
            <a:r>
              <a:rPr sz="2400" spc="-5" dirty="0">
                <a:latin typeface="Arial"/>
                <a:cs typeface="Arial"/>
              </a:rPr>
              <a:t>and </a:t>
            </a:r>
            <a:r>
              <a:rPr sz="2400" spc="-5" dirty="0">
                <a:solidFill>
                  <a:srgbClr val="CC3200"/>
                </a:solidFill>
                <a:latin typeface="Arial"/>
                <a:cs typeface="Arial"/>
              </a:rPr>
              <a:t>moving </a:t>
            </a:r>
            <a:r>
              <a:rPr sz="2400" spc="-5" dirty="0">
                <a:latin typeface="Arial"/>
                <a:cs typeface="Arial"/>
              </a:rPr>
              <a:t>through a  state space.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8707116" y="6736077"/>
            <a:ext cx="140335" cy="20383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54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sz="1400" dirty="0">
                <a:latin typeface="Times New Roman"/>
                <a:cs typeface="Times New Roman"/>
              </a:rPr>
              <a:t>4</a:t>
            </a:fld>
            <a:endParaRPr sz="14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62474" y="1331467"/>
            <a:ext cx="193293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</a:t>
            </a:r>
            <a:r>
              <a:rPr spc="-5" dirty="0"/>
              <a:t>v</a:t>
            </a:r>
            <a:r>
              <a:rPr dirty="0"/>
              <a:t>er</a:t>
            </a:r>
            <a:r>
              <a:rPr spc="-5" dirty="0"/>
              <a:t>v</a:t>
            </a:r>
            <a:r>
              <a:rPr dirty="0"/>
              <a:t>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1732" y="2457702"/>
            <a:ext cx="7303770" cy="185166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355600" marR="5080" indent="-342900">
              <a:lnSpc>
                <a:spcPts val="2870"/>
              </a:lnSpc>
              <a:spcBef>
                <a:spcPts val="200"/>
              </a:spcBef>
              <a:buClr>
                <a:srgbClr val="000000"/>
              </a:buClr>
              <a:buSzPct val="120833"/>
              <a:buFont typeface="Courier New"/>
              <a:buChar char="•"/>
              <a:tabLst>
                <a:tab pos="356235" algn="l"/>
              </a:tabLst>
            </a:pP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Problem-solving </a:t>
            </a:r>
            <a:r>
              <a:rPr sz="2400" spc="-5" dirty="0">
                <a:latin typeface="Arial"/>
                <a:cs typeface="Arial"/>
              </a:rPr>
              <a:t>is </a:t>
            </a:r>
            <a:r>
              <a:rPr sz="2400" spc="-5" dirty="0">
                <a:solidFill>
                  <a:srgbClr val="A50020"/>
                </a:solidFill>
                <a:latin typeface="Arial"/>
                <a:cs typeface="Arial"/>
              </a:rPr>
              <a:t>searching </a:t>
            </a:r>
            <a:r>
              <a:rPr sz="2400" spc="-5" dirty="0">
                <a:latin typeface="Arial"/>
                <a:cs typeface="Arial"/>
              </a:rPr>
              <a:t>and </a:t>
            </a:r>
            <a:r>
              <a:rPr sz="2400" spc="-5" dirty="0">
                <a:solidFill>
                  <a:srgbClr val="A50020"/>
                </a:solidFill>
                <a:latin typeface="Arial"/>
                <a:cs typeface="Arial"/>
              </a:rPr>
              <a:t>moving </a:t>
            </a:r>
            <a:r>
              <a:rPr sz="2400" spc="-5" dirty="0">
                <a:latin typeface="Arial"/>
                <a:cs typeface="Arial"/>
              </a:rPr>
              <a:t>through a  state space.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Courier New"/>
              <a:buChar char="•"/>
            </a:pPr>
            <a:endParaRPr sz="2500">
              <a:latin typeface="Times New Roman"/>
              <a:cs typeface="Times New Roman"/>
            </a:endParaRPr>
          </a:p>
          <a:p>
            <a:pPr marL="355600" marR="40005" indent="-342900">
              <a:lnSpc>
                <a:spcPts val="2870"/>
              </a:lnSpc>
              <a:buClr>
                <a:srgbClr val="000000"/>
              </a:buClr>
              <a:buSzPct val="120833"/>
              <a:buFont typeface="Courier New"/>
              <a:buChar char="•"/>
              <a:tabLst>
                <a:tab pos="356235" algn="l"/>
              </a:tabLst>
            </a:pP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Planning </a:t>
            </a:r>
            <a:r>
              <a:rPr sz="2400" spc="-5" dirty="0">
                <a:latin typeface="Arial"/>
                <a:cs typeface="Arial"/>
              </a:rPr>
              <a:t>is searching for </a:t>
            </a:r>
            <a:r>
              <a:rPr sz="2400" spc="-5" dirty="0">
                <a:solidFill>
                  <a:srgbClr val="A50020"/>
                </a:solidFill>
                <a:latin typeface="Arial"/>
                <a:cs typeface="Arial"/>
              </a:rPr>
              <a:t>sucessful paths </a:t>
            </a:r>
            <a:r>
              <a:rPr sz="2400" spc="-5" dirty="0">
                <a:latin typeface="Arial"/>
                <a:cs typeface="Arial"/>
              </a:rPr>
              <a:t>through a  state space.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8707116" y="6736077"/>
            <a:ext cx="140335" cy="20383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54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sz="1400" dirty="0">
                <a:latin typeface="Times New Roman"/>
                <a:cs typeface="Times New Roman"/>
              </a:rPr>
              <a:t>5</a:t>
            </a:fld>
            <a:endParaRPr sz="14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62474" y="1331467"/>
            <a:ext cx="193293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</a:t>
            </a:r>
            <a:r>
              <a:rPr spc="-5" dirty="0"/>
              <a:t>v</a:t>
            </a:r>
            <a:r>
              <a:rPr dirty="0"/>
              <a:t>er</a:t>
            </a:r>
            <a:r>
              <a:rPr spc="-5" dirty="0"/>
              <a:t>v</a:t>
            </a:r>
            <a:r>
              <a:rPr dirty="0"/>
              <a:t>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1733" y="2457702"/>
            <a:ext cx="7571740" cy="149987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355600" marR="5080" indent="-342900">
              <a:lnSpc>
                <a:spcPts val="2870"/>
              </a:lnSpc>
              <a:spcBef>
                <a:spcPts val="200"/>
              </a:spcBef>
              <a:buClr>
                <a:srgbClr val="000000"/>
              </a:buClr>
              <a:buSzPct val="120833"/>
              <a:buFont typeface="Courier New"/>
              <a:buChar char="•"/>
              <a:tabLst>
                <a:tab pos="355600" algn="l"/>
              </a:tabLst>
            </a:pP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Planning </a:t>
            </a:r>
            <a:r>
              <a:rPr sz="2400" spc="-5" dirty="0">
                <a:latin typeface="Arial"/>
                <a:cs typeface="Arial"/>
              </a:rPr>
              <a:t>is the process of computing </a:t>
            </a:r>
            <a:r>
              <a:rPr sz="2400" dirty="0">
                <a:latin typeface="Arial"/>
                <a:cs typeface="Arial"/>
              </a:rPr>
              <a:t>several </a:t>
            </a:r>
            <a:r>
              <a:rPr sz="2400" spc="-5" dirty="0">
                <a:latin typeface="Arial"/>
                <a:cs typeface="Arial"/>
              </a:rPr>
              <a:t>steps of  a </a:t>
            </a: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problem-solving </a:t>
            </a:r>
            <a:r>
              <a:rPr sz="2400" spc="-5" dirty="0">
                <a:latin typeface="Arial"/>
                <a:cs typeface="Arial"/>
              </a:rPr>
              <a:t>procedure before executing</a:t>
            </a:r>
            <a:r>
              <a:rPr sz="2400" spc="4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them.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Courier New"/>
              <a:buChar char="•"/>
            </a:pP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SzPct val="120833"/>
              <a:buFont typeface="Courier New"/>
              <a:buChar char="•"/>
              <a:tabLst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Planning </a:t>
            </a:r>
            <a:r>
              <a:rPr sz="2400" dirty="0">
                <a:latin typeface="Arial"/>
                <a:cs typeface="Arial"/>
              </a:rPr>
              <a:t>= </a:t>
            </a:r>
            <a:r>
              <a:rPr sz="2400" spc="-5" dirty="0">
                <a:latin typeface="Arial"/>
                <a:cs typeface="Arial"/>
              </a:rPr>
              <a:t>problem sloving 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in</a:t>
            </a:r>
            <a:r>
              <a:rPr sz="2400" spc="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advance</a:t>
            </a:r>
            <a:r>
              <a:rPr sz="2400" spc="-5" dirty="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8707116" y="6736077"/>
            <a:ext cx="140335" cy="20383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54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sz="1400" dirty="0">
                <a:latin typeface="Times New Roman"/>
                <a:cs typeface="Times New Roman"/>
              </a:rPr>
              <a:t>6</a:t>
            </a:fld>
            <a:endParaRPr sz="14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62474" y="1331467"/>
            <a:ext cx="193293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</a:t>
            </a:r>
            <a:r>
              <a:rPr spc="-5" dirty="0"/>
              <a:t>v</a:t>
            </a:r>
            <a:r>
              <a:rPr dirty="0"/>
              <a:t>er</a:t>
            </a:r>
            <a:r>
              <a:rPr spc="-5" dirty="0"/>
              <a:t>v</a:t>
            </a:r>
            <a:r>
              <a:rPr dirty="0"/>
              <a:t>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1727" y="2457702"/>
            <a:ext cx="7402830" cy="1558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SzPct val="120833"/>
              <a:buFont typeface="Courier New"/>
              <a:buChar char="•"/>
              <a:tabLst>
                <a:tab pos="356235" algn="l"/>
              </a:tabLst>
            </a:pPr>
            <a:r>
              <a:rPr sz="2400" spc="-5" dirty="0">
                <a:latin typeface="Arial"/>
                <a:cs typeface="Arial"/>
              </a:rPr>
              <a:t>Planning is important if </a:t>
            </a: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solutions cannot be</a:t>
            </a:r>
            <a:r>
              <a:rPr sz="2400" spc="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undone</a:t>
            </a:r>
            <a:r>
              <a:rPr sz="2400" dirty="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2865"/>
              </a:spcBef>
              <a:buSzPct val="120833"/>
              <a:buFont typeface="Courier New"/>
              <a:buChar char="•"/>
              <a:tabLst>
                <a:tab pos="356235" algn="l"/>
              </a:tabLst>
            </a:pPr>
            <a:r>
              <a:rPr sz="2400" spc="-5" dirty="0">
                <a:latin typeface="Arial"/>
                <a:cs typeface="Arial"/>
              </a:rPr>
              <a:t>If the universe is not predictable, then a </a:t>
            </a: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plan can</a:t>
            </a:r>
            <a:r>
              <a:rPr sz="2400" spc="5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fail</a:t>
            </a:r>
            <a:endParaRPr sz="24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  <a:spcBef>
                <a:spcPts val="565"/>
              </a:spcBef>
            </a:pPr>
            <a:r>
              <a:rPr sz="2400" b="1" spc="360" dirty="0">
                <a:latin typeface="DejaVu Sans"/>
                <a:cs typeface="DejaVu Sans"/>
              </a:rPr>
              <a:t>⇒</a:t>
            </a:r>
            <a:r>
              <a:rPr sz="2400" b="1" spc="-140" dirty="0">
                <a:latin typeface="DejaVu Sans"/>
                <a:cs typeface="DejaVu Sans"/>
              </a:rPr>
              <a:t> </a:t>
            </a:r>
            <a:r>
              <a:rPr sz="2400" spc="-5" dirty="0">
                <a:latin typeface="Arial"/>
                <a:cs typeface="Arial"/>
              </a:rPr>
              <a:t>dynamic </a:t>
            </a:r>
            <a:r>
              <a:rPr sz="2400" spc="-10" dirty="0">
                <a:latin typeface="Arial"/>
                <a:cs typeface="Arial"/>
              </a:rPr>
              <a:t>plan </a:t>
            </a:r>
            <a:r>
              <a:rPr sz="2400" spc="-5" dirty="0">
                <a:latin typeface="Arial"/>
                <a:cs typeface="Arial"/>
              </a:rPr>
              <a:t>revision.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8707116" y="6736077"/>
            <a:ext cx="140335" cy="20383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54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sz="1400" dirty="0">
                <a:latin typeface="Times New Roman"/>
                <a:cs typeface="Times New Roman"/>
              </a:rPr>
              <a:t>7</a:t>
            </a:fld>
            <a:endParaRPr sz="14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24274" y="1331467"/>
            <a:ext cx="36093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The </a:t>
            </a:r>
            <a:r>
              <a:rPr dirty="0"/>
              <a:t>Blocks</a:t>
            </a:r>
            <a:r>
              <a:rPr spc="-70" dirty="0"/>
              <a:t> </a:t>
            </a:r>
            <a:r>
              <a:rPr spc="-5" dirty="0"/>
              <a:t>World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819275" y="2965450"/>
          <a:ext cx="2676525" cy="10826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3276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0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B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698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276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0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A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698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C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698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D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698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2821938" y="4288026"/>
            <a:ext cx="5207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5" dirty="0">
                <a:solidFill>
                  <a:srgbClr val="A50020"/>
                </a:solidFill>
                <a:latin typeface="Arial"/>
                <a:cs typeface="Arial"/>
              </a:rPr>
              <a:t>s</a:t>
            </a:r>
            <a:r>
              <a:rPr sz="2000" spc="-5" dirty="0">
                <a:solidFill>
                  <a:srgbClr val="A50020"/>
                </a:solidFill>
                <a:latin typeface="Arial"/>
                <a:cs typeface="Arial"/>
              </a:rPr>
              <a:t>t</a:t>
            </a:r>
            <a:r>
              <a:rPr sz="2000" dirty="0">
                <a:solidFill>
                  <a:srgbClr val="A50020"/>
                </a:solidFill>
                <a:latin typeface="Arial"/>
                <a:cs typeface="Arial"/>
              </a:rPr>
              <a:t>ar</a:t>
            </a:r>
            <a:r>
              <a:rPr sz="2000" spc="-5" dirty="0">
                <a:solidFill>
                  <a:srgbClr val="A50020"/>
                </a:solidFill>
                <a:latin typeface="Arial"/>
                <a:cs typeface="Arial"/>
              </a:rPr>
              <a:t>t</a:t>
            </a:r>
            <a:endParaRPr sz="2000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5553075" y="2965450"/>
          <a:ext cx="2676525" cy="10826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276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9700" algn="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C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698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47320" algn="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B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698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276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47320" algn="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A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698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9700" algn="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D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698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6555737" y="4288026"/>
            <a:ext cx="50736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A50020"/>
                </a:solidFill>
                <a:latin typeface="Arial"/>
                <a:cs typeface="Arial"/>
              </a:rPr>
              <a:t>goa</a:t>
            </a:r>
            <a:r>
              <a:rPr sz="2000" spc="-5" dirty="0">
                <a:solidFill>
                  <a:srgbClr val="A50020"/>
                </a:solidFill>
                <a:latin typeface="Arial"/>
                <a:cs typeface="Arial"/>
              </a:rPr>
              <a:t>l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31339" y="5353301"/>
            <a:ext cx="6393180" cy="75565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531620" marR="5080" indent="-1519555">
              <a:lnSpc>
                <a:spcPts val="2870"/>
              </a:lnSpc>
              <a:spcBef>
                <a:spcPts val="200"/>
              </a:spcBef>
            </a:pPr>
            <a:r>
              <a:rPr sz="2400" spc="-5" dirty="0">
                <a:latin typeface="Arial"/>
                <a:cs typeface="Arial"/>
              </a:rPr>
              <a:t>Planning </a:t>
            </a:r>
            <a:r>
              <a:rPr sz="2400" dirty="0">
                <a:latin typeface="Arial"/>
                <a:cs typeface="Arial"/>
              </a:rPr>
              <a:t>= </a:t>
            </a:r>
            <a:r>
              <a:rPr sz="2400" spc="-5" dirty="0">
                <a:latin typeface="Arial"/>
                <a:cs typeface="Arial"/>
              </a:rPr>
              <a:t>generating a </a:t>
            </a: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sequence of </a:t>
            </a:r>
            <a:r>
              <a:rPr sz="2400" spc="-10" dirty="0">
                <a:solidFill>
                  <a:srgbClr val="0000FF"/>
                </a:solidFill>
                <a:latin typeface="Arial"/>
                <a:cs typeface="Arial"/>
              </a:rPr>
              <a:t>actions </a:t>
            </a:r>
            <a:r>
              <a:rPr sz="2400" spc="-5" dirty="0">
                <a:latin typeface="Arial"/>
                <a:cs typeface="Arial"/>
              </a:rPr>
              <a:t>to  achieve </a:t>
            </a:r>
            <a:r>
              <a:rPr sz="2400" spc="-10" dirty="0">
                <a:latin typeface="Arial"/>
                <a:cs typeface="Arial"/>
              </a:rPr>
              <a:t>the </a:t>
            </a:r>
            <a:r>
              <a:rPr sz="2400" dirty="0">
                <a:latin typeface="Arial"/>
                <a:cs typeface="Arial"/>
              </a:rPr>
              <a:t>goal </a:t>
            </a:r>
            <a:r>
              <a:rPr sz="2400" spc="-5" dirty="0">
                <a:latin typeface="Arial"/>
                <a:cs typeface="Arial"/>
              </a:rPr>
              <a:t>from the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start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8707116" y="6736077"/>
            <a:ext cx="140335" cy="20383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54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sz="1400" dirty="0">
                <a:latin typeface="Times New Roman"/>
                <a:cs typeface="Times New Roman"/>
              </a:rPr>
              <a:t>8</a:t>
            </a:fld>
            <a:endParaRPr sz="14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24274" y="1331467"/>
            <a:ext cx="36093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The </a:t>
            </a:r>
            <a:r>
              <a:rPr dirty="0"/>
              <a:t>Blocks</a:t>
            </a:r>
            <a:r>
              <a:rPr spc="-70" dirty="0"/>
              <a:t> </a:t>
            </a:r>
            <a:r>
              <a:rPr spc="-5" dirty="0"/>
              <a:t>World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1733" y="2457702"/>
            <a:ext cx="2606040" cy="3324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Actions: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4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SzPct val="120833"/>
              <a:buFont typeface="Courier New"/>
              <a:buChar char="•"/>
              <a:tabLst>
                <a:tab pos="356235" algn="l"/>
              </a:tabLst>
            </a:pPr>
            <a:r>
              <a:rPr sz="2400" spc="-5" dirty="0">
                <a:latin typeface="Arial"/>
                <a:cs typeface="Arial"/>
              </a:rPr>
              <a:t>UNSTACK(A,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B)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2865"/>
              </a:spcBef>
              <a:buSzPct val="120833"/>
              <a:buFont typeface="Courier New"/>
              <a:buChar char="•"/>
              <a:tabLst>
                <a:tab pos="356235" algn="l"/>
              </a:tabLst>
            </a:pPr>
            <a:r>
              <a:rPr sz="2400" spc="-5" dirty="0">
                <a:latin typeface="Arial"/>
                <a:cs typeface="Arial"/>
              </a:rPr>
              <a:t>STACK(A,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B)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2870"/>
              </a:spcBef>
              <a:buSzPct val="120833"/>
              <a:buFont typeface="Courier New"/>
              <a:buChar char="•"/>
              <a:tabLst>
                <a:tab pos="356235" algn="l"/>
              </a:tabLst>
            </a:pPr>
            <a:r>
              <a:rPr sz="2400" spc="-5" dirty="0">
                <a:latin typeface="Arial"/>
                <a:cs typeface="Arial"/>
              </a:rPr>
              <a:t>PICKUP(A)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2870"/>
              </a:spcBef>
              <a:buSzPct val="120833"/>
              <a:buFont typeface="Courier New"/>
              <a:buChar char="•"/>
              <a:tabLst>
                <a:tab pos="356235" algn="l"/>
              </a:tabLst>
            </a:pPr>
            <a:r>
              <a:rPr sz="2400" spc="-5" dirty="0">
                <a:latin typeface="Arial"/>
                <a:cs typeface="Arial"/>
              </a:rPr>
              <a:t>PUTDOWN(A)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8707116" y="6736077"/>
            <a:ext cx="140335" cy="20383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54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sz="1400" dirty="0">
                <a:latin typeface="Times New Roman"/>
                <a:cs typeface="Times New Roman"/>
              </a:rPr>
              <a:t>9</a:t>
            </a:fld>
            <a:endParaRPr sz="14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24274" y="1331467"/>
            <a:ext cx="36093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The </a:t>
            </a:r>
            <a:r>
              <a:rPr dirty="0"/>
              <a:t>Blocks</a:t>
            </a:r>
            <a:r>
              <a:rPr spc="-70" dirty="0"/>
              <a:t> </a:t>
            </a:r>
            <a:r>
              <a:rPr spc="-5" dirty="0"/>
              <a:t>World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1733" y="2457702"/>
            <a:ext cx="3129280" cy="40557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Conditions </a:t>
            </a:r>
            <a:r>
              <a:rPr sz="2400" spc="-10" dirty="0">
                <a:solidFill>
                  <a:srgbClr val="0000FF"/>
                </a:solidFill>
                <a:latin typeface="Arial"/>
                <a:cs typeface="Arial"/>
              </a:rPr>
              <a:t>and </a:t>
            </a: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results: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4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SzPct val="120833"/>
              <a:buFont typeface="Courier New"/>
              <a:buChar char="•"/>
              <a:tabLst>
                <a:tab pos="356235" algn="l"/>
              </a:tabLst>
            </a:pPr>
            <a:r>
              <a:rPr sz="2400" spc="-5" dirty="0">
                <a:latin typeface="Arial"/>
                <a:cs typeface="Arial"/>
              </a:rPr>
              <a:t>ON(A,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B)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2865"/>
              </a:spcBef>
              <a:buSzPct val="120833"/>
              <a:buFont typeface="Courier New"/>
              <a:buChar char="•"/>
              <a:tabLst>
                <a:tab pos="356235" algn="l"/>
              </a:tabLst>
            </a:pPr>
            <a:r>
              <a:rPr sz="2400" spc="-5" dirty="0">
                <a:latin typeface="Arial"/>
                <a:cs typeface="Arial"/>
              </a:rPr>
              <a:t>ONTABLE(A)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2870"/>
              </a:spcBef>
              <a:buSzPct val="120833"/>
              <a:buFont typeface="Courier New"/>
              <a:buChar char="•"/>
              <a:tabLst>
                <a:tab pos="356235" algn="l"/>
              </a:tabLst>
            </a:pPr>
            <a:r>
              <a:rPr sz="2400" spc="-5" dirty="0">
                <a:latin typeface="Arial"/>
                <a:cs typeface="Arial"/>
              </a:rPr>
              <a:t>CLEAR(A)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2870"/>
              </a:spcBef>
              <a:buSzPct val="120833"/>
              <a:buFont typeface="Courier New"/>
              <a:buChar char="•"/>
              <a:tabLst>
                <a:tab pos="356235" algn="l"/>
              </a:tabLst>
            </a:pPr>
            <a:r>
              <a:rPr sz="2400" spc="-5" dirty="0">
                <a:latin typeface="Arial"/>
                <a:cs typeface="Arial"/>
              </a:rPr>
              <a:t>HOLDING(A)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2880"/>
              </a:spcBef>
              <a:buSzPct val="120833"/>
              <a:buFont typeface="Courier New"/>
              <a:buChar char="•"/>
              <a:tabLst>
                <a:tab pos="356235" algn="l"/>
              </a:tabLst>
            </a:pPr>
            <a:r>
              <a:rPr sz="2400" spc="-5" dirty="0">
                <a:latin typeface="Arial"/>
                <a:cs typeface="Arial"/>
              </a:rPr>
              <a:t>ARMEMPTY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54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dirty="0"/>
              <a:t>10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24274" y="1331467"/>
            <a:ext cx="36093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The </a:t>
            </a:r>
            <a:r>
              <a:rPr dirty="0"/>
              <a:t>Blocks</a:t>
            </a:r>
            <a:r>
              <a:rPr spc="-70" dirty="0"/>
              <a:t> </a:t>
            </a:r>
            <a:r>
              <a:rPr spc="-5" dirty="0"/>
              <a:t>World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1729" y="2241080"/>
            <a:ext cx="7445375" cy="4043679"/>
          </a:xfrm>
          <a:prstGeom prst="rect">
            <a:avLst/>
          </a:prstGeom>
        </p:spPr>
        <p:txBody>
          <a:bodyPr vert="horz" wrap="square" lIns="0" tIns="2000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75"/>
              </a:spcBef>
            </a:pP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Specification of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actions: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250">
              <a:latin typeface="Times New Roman"/>
              <a:cs typeface="Times New Roman"/>
            </a:endParaRPr>
          </a:p>
          <a:p>
            <a:pPr marL="355600" marR="5080" indent="-342900">
              <a:lnSpc>
                <a:spcPts val="2590"/>
              </a:lnSpc>
              <a:buSzPct val="120833"/>
              <a:buFont typeface="Courier New"/>
              <a:buChar char="•"/>
              <a:tabLst>
                <a:tab pos="356235" algn="l"/>
              </a:tabLst>
            </a:pPr>
            <a:r>
              <a:rPr sz="2400" spc="-5" dirty="0">
                <a:latin typeface="Arial"/>
                <a:cs typeface="Arial"/>
              </a:rPr>
              <a:t>PRECONDITION: list of predicates that </a:t>
            </a:r>
            <a:r>
              <a:rPr sz="2400" spc="-5" dirty="0">
                <a:solidFill>
                  <a:srgbClr val="A50020"/>
                </a:solidFill>
                <a:latin typeface="Arial"/>
                <a:cs typeface="Arial"/>
              </a:rPr>
              <a:t>must be true </a:t>
            </a:r>
            <a:r>
              <a:rPr sz="2400" spc="-5" dirty="0">
                <a:latin typeface="Arial"/>
                <a:cs typeface="Arial"/>
              </a:rPr>
              <a:t> for an operator to be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applied.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Courier New"/>
              <a:buChar char="•"/>
            </a:pPr>
            <a:endParaRPr sz="1850">
              <a:latin typeface="Times New Roman"/>
              <a:cs typeface="Times New Roman"/>
            </a:endParaRPr>
          </a:p>
          <a:p>
            <a:pPr marL="355600" marR="135890" indent="-342900">
              <a:lnSpc>
                <a:spcPts val="2580"/>
              </a:lnSpc>
              <a:buSzPct val="120833"/>
              <a:buFont typeface="Courier New"/>
              <a:buChar char="•"/>
              <a:tabLst>
                <a:tab pos="356235" algn="l"/>
              </a:tabLst>
            </a:pPr>
            <a:r>
              <a:rPr sz="2400" spc="-5" dirty="0">
                <a:latin typeface="Arial"/>
                <a:cs typeface="Arial"/>
              </a:rPr>
              <a:t>ADD: list of new predicates that an operator causes  to </a:t>
            </a:r>
            <a:r>
              <a:rPr sz="2400" spc="-5" dirty="0">
                <a:solidFill>
                  <a:srgbClr val="A50020"/>
                </a:solidFill>
                <a:latin typeface="Arial"/>
                <a:cs typeface="Arial"/>
              </a:rPr>
              <a:t>become</a:t>
            </a:r>
            <a:r>
              <a:rPr sz="2400" spc="5" dirty="0">
                <a:solidFill>
                  <a:srgbClr val="A5002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A50020"/>
                </a:solidFill>
                <a:latin typeface="Arial"/>
                <a:cs typeface="Arial"/>
              </a:rPr>
              <a:t>true</a:t>
            </a:r>
            <a:r>
              <a:rPr sz="2400" dirty="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Courier New"/>
              <a:buChar char="•"/>
            </a:pPr>
            <a:endParaRPr sz="1850">
              <a:latin typeface="Times New Roman"/>
              <a:cs typeface="Times New Roman"/>
            </a:endParaRPr>
          </a:p>
          <a:p>
            <a:pPr marL="355600" marR="796925" indent="-342900">
              <a:lnSpc>
                <a:spcPts val="2590"/>
              </a:lnSpc>
              <a:buSzPct val="120833"/>
              <a:buFont typeface="Courier New"/>
              <a:buChar char="•"/>
              <a:tabLst>
                <a:tab pos="356235" algn="l"/>
              </a:tabLst>
            </a:pPr>
            <a:r>
              <a:rPr sz="2400" spc="-5" dirty="0">
                <a:latin typeface="Arial"/>
                <a:cs typeface="Arial"/>
              </a:rPr>
              <a:t>DELETE: </a:t>
            </a:r>
            <a:r>
              <a:rPr sz="2400" dirty="0">
                <a:latin typeface="Arial"/>
                <a:cs typeface="Arial"/>
              </a:rPr>
              <a:t>list </a:t>
            </a:r>
            <a:r>
              <a:rPr sz="2400" spc="-5" dirty="0">
                <a:latin typeface="Arial"/>
                <a:cs typeface="Arial"/>
              </a:rPr>
              <a:t>of </a:t>
            </a:r>
            <a:r>
              <a:rPr sz="2400" spc="-10" dirty="0">
                <a:latin typeface="Arial"/>
                <a:cs typeface="Arial"/>
              </a:rPr>
              <a:t>old </a:t>
            </a:r>
            <a:r>
              <a:rPr sz="2400" spc="-5" dirty="0">
                <a:latin typeface="Arial"/>
                <a:cs typeface="Arial"/>
              </a:rPr>
              <a:t>predicates that an operator  causes to </a:t>
            </a:r>
            <a:r>
              <a:rPr sz="2400" spc="-5" dirty="0">
                <a:solidFill>
                  <a:srgbClr val="A50020"/>
                </a:solidFill>
                <a:latin typeface="Arial"/>
                <a:cs typeface="Arial"/>
              </a:rPr>
              <a:t>become</a:t>
            </a:r>
            <a:r>
              <a:rPr sz="2400" spc="10" dirty="0">
                <a:solidFill>
                  <a:srgbClr val="A5002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A50020"/>
                </a:solidFill>
                <a:latin typeface="Arial"/>
                <a:cs typeface="Arial"/>
              </a:rPr>
              <a:t>false</a:t>
            </a:r>
            <a:r>
              <a:rPr sz="2400" spc="-5" dirty="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825"/>
              </a:spcBef>
              <a:buSzPct val="120833"/>
              <a:buFont typeface="Courier New"/>
              <a:buChar char="•"/>
              <a:tabLst>
                <a:tab pos="356235" algn="l"/>
              </a:tabLst>
            </a:pPr>
            <a:r>
              <a:rPr sz="2400" spc="-5" dirty="0">
                <a:latin typeface="Arial"/>
                <a:cs typeface="Arial"/>
              </a:rPr>
              <a:t>Predicates not </a:t>
            </a:r>
            <a:r>
              <a:rPr sz="2400" spc="-10" dirty="0">
                <a:latin typeface="Arial"/>
                <a:cs typeface="Arial"/>
              </a:rPr>
              <a:t>in </a:t>
            </a:r>
            <a:r>
              <a:rPr sz="2400" dirty="0">
                <a:latin typeface="Arial"/>
                <a:cs typeface="Arial"/>
              </a:rPr>
              <a:t>ADD </a:t>
            </a:r>
            <a:r>
              <a:rPr sz="2400" spc="-5" dirty="0">
                <a:latin typeface="Arial"/>
                <a:cs typeface="Arial"/>
              </a:rPr>
              <a:t>nor </a:t>
            </a:r>
            <a:r>
              <a:rPr sz="2400" dirty="0">
                <a:latin typeface="Arial"/>
                <a:cs typeface="Arial"/>
              </a:rPr>
              <a:t>DELETE </a:t>
            </a:r>
            <a:r>
              <a:rPr sz="2400" spc="-5" dirty="0">
                <a:latin typeface="Arial"/>
                <a:cs typeface="Arial"/>
              </a:rPr>
              <a:t>are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A50020"/>
                </a:solidFill>
                <a:latin typeface="Arial"/>
                <a:cs typeface="Arial"/>
              </a:rPr>
              <a:t>unaffacted</a:t>
            </a:r>
            <a:r>
              <a:rPr sz="2400" spc="-5" dirty="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54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dirty="0"/>
              <a:t>11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24274" y="1331467"/>
            <a:ext cx="36093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The </a:t>
            </a:r>
            <a:r>
              <a:rPr dirty="0"/>
              <a:t>Blocks</a:t>
            </a:r>
            <a:r>
              <a:rPr spc="-70" dirty="0"/>
              <a:t> </a:t>
            </a:r>
            <a:r>
              <a:rPr spc="-5" dirty="0"/>
              <a:t>World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1733" y="2457702"/>
            <a:ext cx="5380990" cy="40817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Specification of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actions: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55"/>
              </a:spcBef>
            </a:pPr>
            <a:r>
              <a:rPr sz="2000" spc="-5" dirty="0">
                <a:solidFill>
                  <a:srgbClr val="A50020"/>
                </a:solidFill>
                <a:latin typeface="Arial"/>
                <a:cs typeface="Arial"/>
              </a:rPr>
              <a:t>STACK(x,</a:t>
            </a:r>
            <a:r>
              <a:rPr sz="2000" dirty="0">
                <a:solidFill>
                  <a:srgbClr val="A50020"/>
                </a:solidFill>
                <a:latin typeface="Arial"/>
                <a:cs typeface="Arial"/>
              </a:rPr>
              <a:t> y):</a:t>
            </a:r>
            <a:endParaRPr sz="2000">
              <a:latin typeface="Arial"/>
              <a:cs typeface="Arial"/>
            </a:endParaRPr>
          </a:p>
          <a:p>
            <a:pPr marL="927100" marR="1217930" algn="just">
              <a:lnSpc>
                <a:spcPct val="150000"/>
              </a:lnSpc>
            </a:pPr>
            <a:r>
              <a:rPr sz="2000" spc="-5" dirty="0">
                <a:solidFill>
                  <a:srgbClr val="0000FF"/>
                </a:solidFill>
                <a:latin typeface="Arial"/>
                <a:cs typeface="Arial"/>
              </a:rPr>
              <a:t>P</a:t>
            </a:r>
            <a:r>
              <a:rPr sz="2000" spc="-5" dirty="0">
                <a:latin typeface="Arial"/>
                <a:cs typeface="Arial"/>
              </a:rPr>
              <a:t>: </a:t>
            </a:r>
            <a:r>
              <a:rPr sz="2000" dirty="0">
                <a:latin typeface="Arial"/>
                <a:cs typeface="Arial"/>
              </a:rPr>
              <a:t>CLEAR(y) </a:t>
            </a:r>
            <a:r>
              <a:rPr sz="2000" b="1" dirty="0">
                <a:latin typeface="Symbol"/>
                <a:cs typeface="Symbol"/>
              </a:rPr>
              <a:t></a:t>
            </a:r>
            <a:r>
              <a:rPr sz="2000" b="1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HOLDING(x)  </a:t>
            </a:r>
            <a:r>
              <a:rPr sz="2000" dirty="0">
                <a:solidFill>
                  <a:srgbClr val="0000FF"/>
                </a:solidFill>
                <a:latin typeface="Arial"/>
                <a:cs typeface="Arial"/>
              </a:rPr>
              <a:t>D</a:t>
            </a:r>
            <a:r>
              <a:rPr sz="2000" dirty="0">
                <a:latin typeface="Arial"/>
                <a:cs typeface="Arial"/>
              </a:rPr>
              <a:t>: CLEAR(y) </a:t>
            </a:r>
            <a:r>
              <a:rPr sz="2000" b="1" dirty="0">
                <a:latin typeface="Symbol"/>
                <a:cs typeface="Symbol"/>
              </a:rPr>
              <a:t></a:t>
            </a:r>
            <a:r>
              <a:rPr sz="2000" b="1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HOLDING(x)  </a:t>
            </a:r>
            <a:r>
              <a:rPr sz="2000" spc="-5" dirty="0">
                <a:solidFill>
                  <a:srgbClr val="0000FF"/>
                </a:solidFill>
                <a:latin typeface="Arial"/>
                <a:cs typeface="Arial"/>
              </a:rPr>
              <a:t>A</a:t>
            </a:r>
            <a:r>
              <a:rPr sz="2000" spc="-5" dirty="0">
                <a:latin typeface="Arial"/>
                <a:cs typeface="Arial"/>
              </a:rPr>
              <a:t>: ARMEMPTY </a:t>
            </a:r>
            <a:r>
              <a:rPr sz="2000" b="1" dirty="0">
                <a:latin typeface="Symbol"/>
                <a:cs typeface="Symbol"/>
              </a:rPr>
              <a:t></a:t>
            </a:r>
            <a:r>
              <a:rPr sz="2000" b="1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ON(x,</a:t>
            </a:r>
            <a:r>
              <a:rPr sz="2000" spc="60" dirty="0">
                <a:latin typeface="Arial"/>
                <a:cs typeface="Arial"/>
              </a:rPr>
              <a:t> </a:t>
            </a:r>
            <a:r>
              <a:rPr sz="2000" spc="5" dirty="0">
                <a:latin typeface="Arial"/>
                <a:cs typeface="Arial"/>
              </a:rPr>
              <a:t>y)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spc="-5" dirty="0">
                <a:solidFill>
                  <a:srgbClr val="A50020"/>
                </a:solidFill>
                <a:latin typeface="Arial"/>
                <a:cs typeface="Arial"/>
              </a:rPr>
              <a:t>UNSTACK(x,</a:t>
            </a:r>
            <a:r>
              <a:rPr sz="2000" spc="-10" dirty="0">
                <a:solidFill>
                  <a:srgbClr val="A5002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A50020"/>
                </a:solidFill>
                <a:latin typeface="Arial"/>
                <a:cs typeface="Arial"/>
              </a:rPr>
              <a:t>y):</a:t>
            </a:r>
            <a:endParaRPr sz="2000">
              <a:latin typeface="Arial"/>
              <a:cs typeface="Arial"/>
            </a:endParaRPr>
          </a:p>
          <a:p>
            <a:pPr marL="927100" marR="5080">
              <a:lnSpc>
                <a:spcPct val="150000"/>
              </a:lnSpc>
            </a:pPr>
            <a:r>
              <a:rPr sz="2000" spc="-5" dirty="0">
                <a:solidFill>
                  <a:srgbClr val="0000FF"/>
                </a:solidFill>
                <a:latin typeface="Arial"/>
                <a:cs typeface="Arial"/>
              </a:rPr>
              <a:t>P</a:t>
            </a:r>
            <a:r>
              <a:rPr sz="2000" spc="-5" dirty="0">
                <a:latin typeface="Arial"/>
                <a:cs typeface="Arial"/>
              </a:rPr>
              <a:t>: </a:t>
            </a:r>
            <a:r>
              <a:rPr sz="2000" dirty="0">
                <a:latin typeface="Arial"/>
                <a:cs typeface="Arial"/>
              </a:rPr>
              <a:t>ON(x, </a:t>
            </a:r>
            <a:r>
              <a:rPr sz="2000" spc="5" dirty="0">
                <a:latin typeface="Arial"/>
                <a:cs typeface="Arial"/>
              </a:rPr>
              <a:t>y) </a:t>
            </a:r>
            <a:r>
              <a:rPr sz="2000" b="1" dirty="0">
                <a:latin typeface="Symbol"/>
                <a:cs typeface="Symbol"/>
              </a:rPr>
              <a:t></a:t>
            </a:r>
            <a:r>
              <a:rPr sz="2000" b="1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Arial"/>
                <a:cs typeface="Arial"/>
              </a:rPr>
              <a:t>CLEAR(x) </a:t>
            </a:r>
            <a:r>
              <a:rPr sz="2000" b="1" dirty="0">
                <a:latin typeface="Symbol"/>
                <a:cs typeface="Symbol"/>
              </a:rPr>
              <a:t></a:t>
            </a:r>
            <a:r>
              <a:rPr sz="2000" b="1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Arial"/>
                <a:cs typeface="Arial"/>
              </a:rPr>
              <a:t>ARMEMPTY  </a:t>
            </a:r>
            <a:r>
              <a:rPr sz="2000" dirty="0">
                <a:solidFill>
                  <a:srgbClr val="0000FF"/>
                </a:solidFill>
                <a:latin typeface="Arial"/>
                <a:cs typeface="Arial"/>
              </a:rPr>
              <a:t>D</a:t>
            </a:r>
            <a:r>
              <a:rPr sz="2000" dirty="0">
                <a:latin typeface="Arial"/>
                <a:cs typeface="Arial"/>
              </a:rPr>
              <a:t>: ON(x, </a:t>
            </a:r>
            <a:r>
              <a:rPr sz="2000" spc="5" dirty="0">
                <a:latin typeface="Arial"/>
                <a:cs typeface="Arial"/>
              </a:rPr>
              <a:t>y) </a:t>
            </a:r>
            <a:r>
              <a:rPr sz="2000" b="1" dirty="0">
                <a:latin typeface="Symbol"/>
                <a:cs typeface="Symbol"/>
              </a:rPr>
              <a:t></a:t>
            </a:r>
            <a:r>
              <a:rPr sz="2000" b="1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ARMEMPTY</a:t>
            </a:r>
            <a:endParaRPr sz="2000">
              <a:latin typeface="Arial"/>
              <a:cs typeface="Arial"/>
            </a:endParaRPr>
          </a:p>
          <a:p>
            <a:pPr marL="927100" algn="just">
              <a:lnSpc>
                <a:spcPct val="100000"/>
              </a:lnSpc>
              <a:spcBef>
                <a:spcPts val="1200"/>
              </a:spcBef>
            </a:pPr>
            <a:r>
              <a:rPr sz="2000" spc="-5" dirty="0">
                <a:solidFill>
                  <a:srgbClr val="0000FF"/>
                </a:solidFill>
                <a:latin typeface="Arial"/>
                <a:cs typeface="Arial"/>
              </a:rPr>
              <a:t>A</a:t>
            </a:r>
            <a:r>
              <a:rPr sz="2000" spc="-5" dirty="0">
                <a:latin typeface="Arial"/>
                <a:cs typeface="Arial"/>
              </a:rPr>
              <a:t>: </a:t>
            </a:r>
            <a:r>
              <a:rPr sz="2000" dirty="0">
                <a:latin typeface="Arial"/>
                <a:cs typeface="Arial"/>
              </a:rPr>
              <a:t>HOLDING(x) </a:t>
            </a:r>
            <a:r>
              <a:rPr sz="2000" b="1" dirty="0">
                <a:latin typeface="Symbol"/>
                <a:cs typeface="Symbol"/>
              </a:rPr>
              <a:t></a:t>
            </a:r>
            <a:r>
              <a:rPr sz="2000" b="1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CLEAR(y)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54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dirty="0"/>
              <a:t>12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24274" y="1331467"/>
            <a:ext cx="36093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The </a:t>
            </a:r>
            <a:r>
              <a:rPr dirty="0"/>
              <a:t>Blocks</a:t>
            </a:r>
            <a:r>
              <a:rPr spc="-70" dirty="0"/>
              <a:t> </a:t>
            </a:r>
            <a:r>
              <a:rPr spc="-5" dirty="0"/>
              <a:t>World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1733" y="2457702"/>
            <a:ext cx="5915660" cy="40817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Specification of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actions: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55"/>
              </a:spcBef>
            </a:pPr>
            <a:r>
              <a:rPr sz="2000" dirty="0">
                <a:solidFill>
                  <a:srgbClr val="A50020"/>
                </a:solidFill>
                <a:latin typeface="Arial"/>
                <a:cs typeface="Arial"/>
              </a:rPr>
              <a:t>PICKUP(x):</a:t>
            </a:r>
            <a:endParaRPr sz="2000">
              <a:latin typeface="Arial"/>
              <a:cs typeface="Arial"/>
            </a:endParaRPr>
          </a:p>
          <a:p>
            <a:pPr marL="927100" marR="5080">
              <a:lnSpc>
                <a:spcPct val="150000"/>
              </a:lnSpc>
            </a:pPr>
            <a:r>
              <a:rPr sz="2000" spc="-5" dirty="0">
                <a:solidFill>
                  <a:srgbClr val="0000FF"/>
                </a:solidFill>
                <a:latin typeface="Arial"/>
                <a:cs typeface="Arial"/>
              </a:rPr>
              <a:t>P</a:t>
            </a:r>
            <a:r>
              <a:rPr sz="2000" spc="-5" dirty="0">
                <a:latin typeface="Arial"/>
                <a:cs typeface="Arial"/>
              </a:rPr>
              <a:t>: </a:t>
            </a:r>
            <a:r>
              <a:rPr sz="2000" dirty="0">
                <a:latin typeface="Arial"/>
                <a:cs typeface="Arial"/>
              </a:rPr>
              <a:t>CLEAR(x) </a:t>
            </a:r>
            <a:r>
              <a:rPr sz="2000" b="1" dirty="0">
                <a:latin typeface="Symbol"/>
                <a:cs typeface="Symbol"/>
              </a:rPr>
              <a:t></a:t>
            </a:r>
            <a:r>
              <a:rPr sz="2000" b="1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ONTABLE(x) </a:t>
            </a:r>
            <a:r>
              <a:rPr sz="2000" b="1" dirty="0">
                <a:latin typeface="Symbol"/>
                <a:cs typeface="Symbol"/>
              </a:rPr>
              <a:t></a:t>
            </a:r>
            <a:r>
              <a:rPr sz="2000" b="1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Arial"/>
                <a:cs typeface="Arial"/>
              </a:rPr>
              <a:t>ARMEMPTY  </a:t>
            </a:r>
            <a:r>
              <a:rPr sz="2000" dirty="0">
                <a:solidFill>
                  <a:srgbClr val="0000FF"/>
                </a:solidFill>
                <a:latin typeface="Arial"/>
                <a:cs typeface="Arial"/>
              </a:rPr>
              <a:t>D</a:t>
            </a:r>
            <a:r>
              <a:rPr sz="2000" dirty="0">
                <a:latin typeface="Arial"/>
                <a:cs typeface="Arial"/>
              </a:rPr>
              <a:t>: ONTABLE(x) </a:t>
            </a:r>
            <a:r>
              <a:rPr sz="2000" b="1" dirty="0">
                <a:latin typeface="Symbol"/>
                <a:cs typeface="Symbol"/>
              </a:rPr>
              <a:t></a:t>
            </a:r>
            <a:r>
              <a:rPr sz="2000" b="1" spc="4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Arial"/>
                <a:cs typeface="Arial"/>
              </a:rPr>
              <a:t>ARMEMPTY</a:t>
            </a:r>
            <a:endParaRPr sz="2000">
              <a:latin typeface="Arial"/>
              <a:cs typeface="Arial"/>
            </a:endParaRPr>
          </a:p>
          <a:p>
            <a:pPr marL="12700" marR="3208020" indent="914400">
              <a:lnSpc>
                <a:spcPct val="150000"/>
              </a:lnSpc>
            </a:pPr>
            <a:r>
              <a:rPr sz="2000" spc="-5" dirty="0">
                <a:solidFill>
                  <a:srgbClr val="0000FF"/>
                </a:solidFill>
                <a:latin typeface="Arial"/>
                <a:cs typeface="Arial"/>
              </a:rPr>
              <a:t>A</a:t>
            </a:r>
            <a:r>
              <a:rPr sz="2000" spc="-5" dirty="0">
                <a:latin typeface="Arial"/>
                <a:cs typeface="Arial"/>
              </a:rPr>
              <a:t>: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HOLDING(x)  </a:t>
            </a:r>
            <a:r>
              <a:rPr sz="2000" spc="-5" dirty="0">
                <a:solidFill>
                  <a:srgbClr val="A50020"/>
                </a:solidFill>
                <a:latin typeface="Arial"/>
                <a:cs typeface="Arial"/>
              </a:rPr>
              <a:t>PUTDOWN(x):</a:t>
            </a:r>
            <a:endParaRPr sz="2000">
              <a:latin typeface="Arial"/>
              <a:cs typeface="Arial"/>
            </a:endParaRPr>
          </a:p>
          <a:p>
            <a:pPr marL="927100" marR="3194685">
              <a:lnSpc>
                <a:spcPct val="150000"/>
              </a:lnSpc>
            </a:pPr>
            <a:r>
              <a:rPr sz="2000" spc="-5" dirty="0">
                <a:solidFill>
                  <a:srgbClr val="0000FF"/>
                </a:solidFill>
                <a:latin typeface="Arial"/>
                <a:cs typeface="Arial"/>
              </a:rPr>
              <a:t>P</a:t>
            </a:r>
            <a:r>
              <a:rPr sz="2000" spc="-5" dirty="0">
                <a:latin typeface="Arial"/>
                <a:cs typeface="Arial"/>
              </a:rPr>
              <a:t>: </a:t>
            </a:r>
            <a:r>
              <a:rPr sz="2000" dirty="0">
                <a:latin typeface="Arial"/>
                <a:cs typeface="Arial"/>
              </a:rPr>
              <a:t>HOLDING(x)  </a:t>
            </a:r>
            <a:r>
              <a:rPr sz="2000" dirty="0">
                <a:solidFill>
                  <a:srgbClr val="0000FF"/>
                </a:solidFill>
                <a:latin typeface="Arial"/>
                <a:cs typeface="Arial"/>
              </a:rPr>
              <a:t>D</a:t>
            </a:r>
            <a:r>
              <a:rPr sz="2000" dirty="0">
                <a:latin typeface="Arial"/>
                <a:cs typeface="Arial"/>
              </a:rPr>
              <a:t>: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HOLDING(x)</a:t>
            </a:r>
            <a:endParaRPr sz="20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1200"/>
              </a:spcBef>
            </a:pPr>
            <a:r>
              <a:rPr sz="2000" spc="-5" dirty="0">
                <a:solidFill>
                  <a:srgbClr val="0000FF"/>
                </a:solidFill>
                <a:latin typeface="Arial"/>
                <a:cs typeface="Arial"/>
              </a:rPr>
              <a:t>A</a:t>
            </a:r>
            <a:r>
              <a:rPr sz="2000" spc="-5" dirty="0">
                <a:latin typeface="Arial"/>
                <a:cs typeface="Arial"/>
              </a:rPr>
              <a:t>: </a:t>
            </a:r>
            <a:r>
              <a:rPr sz="2000" dirty="0">
                <a:latin typeface="Arial"/>
                <a:cs typeface="Arial"/>
              </a:rPr>
              <a:t>ONTABLE(x) </a:t>
            </a:r>
            <a:r>
              <a:rPr sz="2000" b="1" dirty="0">
                <a:latin typeface="Symbol"/>
                <a:cs typeface="Symbol"/>
              </a:rPr>
              <a:t></a:t>
            </a:r>
            <a:r>
              <a:rPr sz="2000" b="1" spc="5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Arial"/>
                <a:cs typeface="Arial"/>
              </a:rPr>
              <a:t>ARMEMPTY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54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dirty="0"/>
              <a:t>13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24274" y="1331467"/>
            <a:ext cx="36093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The </a:t>
            </a:r>
            <a:r>
              <a:rPr dirty="0"/>
              <a:t>Blocks</a:t>
            </a:r>
            <a:r>
              <a:rPr spc="-70" dirty="0"/>
              <a:t> </a:t>
            </a:r>
            <a:r>
              <a:rPr spc="-5" dirty="0"/>
              <a:t>World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819275" y="2965450"/>
          <a:ext cx="2676525" cy="10826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3276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0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B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698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276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0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A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698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C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698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D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698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831339" y="4288026"/>
            <a:ext cx="59118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5" dirty="0">
                <a:solidFill>
                  <a:srgbClr val="A50020"/>
                </a:solidFill>
                <a:latin typeface="Arial"/>
                <a:cs typeface="Arial"/>
              </a:rPr>
              <a:t>s</a:t>
            </a:r>
            <a:r>
              <a:rPr sz="2000" spc="-5" dirty="0">
                <a:solidFill>
                  <a:srgbClr val="A50020"/>
                </a:solidFill>
                <a:latin typeface="Arial"/>
                <a:cs typeface="Arial"/>
              </a:rPr>
              <a:t>t</a:t>
            </a:r>
            <a:r>
              <a:rPr sz="2000" dirty="0">
                <a:solidFill>
                  <a:srgbClr val="A50020"/>
                </a:solidFill>
                <a:latin typeface="Arial"/>
                <a:cs typeface="Arial"/>
              </a:rPr>
              <a:t>ar</a:t>
            </a:r>
            <a:r>
              <a:rPr sz="2000" spc="-5" dirty="0">
                <a:solidFill>
                  <a:srgbClr val="A50020"/>
                </a:solidFill>
                <a:latin typeface="Arial"/>
                <a:cs typeface="Arial"/>
              </a:rPr>
              <a:t>t:</a:t>
            </a:r>
            <a:endParaRPr sz="2000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5553075" y="2965450"/>
          <a:ext cx="2676525" cy="10826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276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9700" algn="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C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698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47320" algn="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B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698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276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47320" algn="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A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698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9700" algn="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D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698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2574286" y="4302936"/>
          <a:ext cx="5563870" cy="17710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009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98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30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7185">
                <a:tc>
                  <a:txBody>
                    <a:bodyPr/>
                    <a:lstStyle/>
                    <a:p>
                      <a:pPr marL="31750">
                        <a:lnSpc>
                          <a:spcPts val="2400"/>
                        </a:lnSpc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ON(B, 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A)</a:t>
                      </a:r>
                      <a:r>
                        <a:rPr sz="2000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latin typeface="Symbol"/>
                          <a:cs typeface="Symbol"/>
                        </a:rPr>
                        <a:t></a:t>
                      </a:r>
                      <a:endParaRPr sz="2000">
                        <a:latin typeface="Symbol"/>
                        <a:cs typeface="Symbo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2615">
                        <a:lnSpc>
                          <a:spcPts val="2385"/>
                        </a:lnSpc>
                      </a:pPr>
                      <a:r>
                        <a:rPr sz="2000" dirty="0">
                          <a:solidFill>
                            <a:srgbClr val="A50020"/>
                          </a:solidFill>
                          <a:latin typeface="Arial"/>
                          <a:cs typeface="Arial"/>
                        </a:rPr>
                        <a:t>goal: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4775">
                        <a:lnSpc>
                          <a:spcPts val="2400"/>
                        </a:lnSpc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ON(C, A)</a:t>
                      </a:r>
                      <a:r>
                        <a:rPr sz="20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latin typeface="Symbol"/>
                          <a:cs typeface="Symbol"/>
                        </a:rPr>
                        <a:t></a:t>
                      </a:r>
                      <a:endParaRPr sz="2000">
                        <a:latin typeface="Symbol"/>
                        <a:cs typeface="Symbo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331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ONTABLE(A)</a:t>
                      </a:r>
                      <a:r>
                        <a:rPr sz="20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latin typeface="Symbol"/>
                          <a:cs typeface="Symbol"/>
                        </a:rPr>
                        <a:t></a:t>
                      </a:r>
                      <a:endParaRPr sz="2000">
                        <a:latin typeface="Symbol"/>
                        <a:cs typeface="Symbol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ONTABLE(C)</a:t>
                      </a:r>
                      <a:r>
                        <a:rPr sz="2000" spc="-1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latin typeface="Symbol"/>
                          <a:cs typeface="Symbol"/>
                        </a:rPr>
                        <a:t></a:t>
                      </a:r>
                      <a:endParaRPr sz="2000">
                        <a:latin typeface="Symbol"/>
                        <a:cs typeface="Symbol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ONTABLE(D)</a:t>
                      </a:r>
                      <a:r>
                        <a:rPr sz="2000" spc="-1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latin typeface="Symbol"/>
                          <a:cs typeface="Symbol"/>
                        </a:rPr>
                        <a:t></a:t>
                      </a:r>
                      <a:endParaRPr sz="2000">
                        <a:latin typeface="Symbol"/>
                        <a:cs typeface="Symbol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ON(B, 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D)</a:t>
                      </a:r>
                      <a:r>
                        <a:rPr sz="20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latin typeface="Symbol"/>
                          <a:cs typeface="Symbol"/>
                        </a:rPr>
                        <a:t></a:t>
                      </a:r>
                      <a:endParaRPr sz="2000">
                        <a:latin typeface="Symbol"/>
                        <a:cs typeface="Symbol"/>
                      </a:endParaRPr>
                    </a:p>
                    <a:p>
                      <a:pPr marL="104139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ONTABLE(A)</a:t>
                      </a:r>
                      <a:r>
                        <a:rPr sz="20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latin typeface="Symbol"/>
                          <a:cs typeface="Symbol"/>
                        </a:rPr>
                        <a:t></a:t>
                      </a:r>
                      <a:endParaRPr sz="2000">
                        <a:latin typeface="Symbol"/>
                        <a:cs typeface="Symbol"/>
                      </a:endParaRPr>
                    </a:p>
                    <a:p>
                      <a:pPr marL="104139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ONTABLE(D)</a:t>
                      </a:r>
                      <a:r>
                        <a:rPr sz="2000" spc="-1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latin typeface="Symbol"/>
                          <a:cs typeface="Symbol"/>
                        </a:rPr>
                        <a:t></a:t>
                      </a:r>
                      <a:endParaRPr sz="2000">
                        <a:latin typeface="Symbol"/>
                        <a:cs typeface="Symbol"/>
                      </a:endParaRPr>
                    </a:p>
                  </a:txBody>
                  <a:tcPr marL="0" marR="0" marT="26669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245">
                <a:tc>
                  <a:txBody>
                    <a:bodyPr/>
                    <a:lstStyle/>
                    <a:p>
                      <a:pPr marL="31750">
                        <a:lnSpc>
                          <a:spcPts val="2335"/>
                        </a:lnSpc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ARMEMPTY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54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dirty="0"/>
              <a:t>14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45382" y="1331467"/>
            <a:ext cx="416750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Goal </a:t>
            </a:r>
            <a:r>
              <a:rPr spc="-5" dirty="0"/>
              <a:t>Stack</a:t>
            </a:r>
            <a:r>
              <a:rPr spc="-80" dirty="0"/>
              <a:t> </a:t>
            </a:r>
            <a:r>
              <a:rPr spc="-5" dirty="0"/>
              <a:t>Planning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33600" y="3200400"/>
            <a:ext cx="1905000" cy="2819400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2250">
              <a:latin typeface="Times New Roman"/>
              <a:cs typeface="Times New Roman"/>
            </a:endParaRPr>
          </a:p>
          <a:p>
            <a:pPr marL="61849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Goals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250">
              <a:latin typeface="Times New Roman"/>
              <a:cs typeface="Times New Roman"/>
            </a:endParaRPr>
          </a:p>
          <a:p>
            <a:pPr marL="210185" marR="272415" algn="ctr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Operators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to  </a:t>
            </a:r>
            <a:r>
              <a:rPr sz="2000" dirty="0">
                <a:latin typeface="Arial"/>
                <a:cs typeface="Arial"/>
              </a:rPr>
              <a:t>satisfy</a:t>
            </a:r>
            <a:endParaRPr sz="2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the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Goals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38800" y="3200400"/>
            <a:ext cx="2286000" cy="2819400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marL="207010">
              <a:lnSpc>
                <a:spcPct val="100000"/>
              </a:lnSpc>
              <a:spcBef>
                <a:spcPts val="1505"/>
              </a:spcBef>
            </a:pPr>
            <a:r>
              <a:rPr sz="2000" spc="-5" dirty="0">
                <a:latin typeface="Arial"/>
                <a:cs typeface="Arial"/>
              </a:rPr>
              <a:t>Current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situation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250">
              <a:latin typeface="Times New Roman"/>
              <a:cs typeface="Times New Roman"/>
            </a:endParaRPr>
          </a:p>
          <a:p>
            <a:pPr marL="123189" marR="118110" indent="118745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Specification </a:t>
            </a:r>
            <a:r>
              <a:rPr sz="2000" spc="-5" dirty="0">
                <a:latin typeface="Arial"/>
                <a:cs typeface="Arial"/>
              </a:rPr>
              <a:t>of  Operators/Actions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69538" y="2686302"/>
            <a:ext cx="787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0000FF"/>
                </a:solidFill>
                <a:latin typeface="Arial"/>
                <a:cs typeface="Arial"/>
              </a:rPr>
              <a:t>S</a:t>
            </a: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2400" spc="-10" dirty="0">
                <a:solidFill>
                  <a:srgbClr val="0000FF"/>
                </a:solidFill>
                <a:latin typeface="Arial"/>
                <a:cs typeface="Arial"/>
              </a:rPr>
              <a:t>a</a:t>
            </a: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ck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98371" y="2686302"/>
            <a:ext cx="13303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0000FF"/>
                </a:solidFill>
                <a:latin typeface="Arial"/>
                <a:cs typeface="Arial"/>
              </a:rPr>
              <a:t>Da</a:t>
            </a: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2400" spc="-10" dirty="0">
                <a:solidFill>
                  <a:srgbClr val="0000FF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srgbClr val="0000FF"/>
                </a:solidFill>
                <a:latin typeface="Arial"/>
                <a:cs typeface="Arial"/>
              </a:rPr>
              <a:t>b</a:t>
            </a:r>
            <a:r>
              <a:rPr sz="2400" spc="-10" dirty="0">
                <a:solidFill>
                  <a:srgbClr val="0000FF"/>
                </a:solidFill>
                <a:latin typeface="Arial"/>
                <a:cs typeface="Arial"/>
              </a:rPr>
              <a:t>a</a:t>
            </a: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se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74538" y="3963414"/>
            <a:ext cx="54800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b="1" spc="5" dirty="0">
                <a:solidFill>
                  <a:srgbClr val="A50020"/>
                </a:solidFill>
                <a:latin typeface="Times New Roman"/>
                <a:cs typeface="Times New Roman"/>
              </a:rPr>
              <a:t>+</a:t>
            </a:r>
            <a:endParaRPr sz="7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54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dirty="0"/>
              <a:t>15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45382" y="1331467"/>
            <a:ext cx="416750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Goal </a:t>
            </a:r>
            <a:r>
              <a:rPr spc="-5" dirty="0"/>
              <a:t>Stack</a:t>
            </a:r>
            <a:r>
              <a:rPr spc="-80" dirty="0"/>
              <a:t> </a:t>
            </a:r>
            <a:r>
              <a:rPr spc="-5" dirty="0"/>
              <a:t>Planning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1733" y="2457702"/>
            <a:ext cx="7301230" cy="3846195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 marR="397510">
              <a:lnSpc>
                <a:spcPts val="2870"/>
              </a:lnSpc>
              <a:spcBef>
                <a:spcPts val="200"/>
              </a:spcBef>
            </a:pP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Push the 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original goal </a:t>
            </a: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to the stack. Repeat until 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the  </a:t>
            </a: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stack is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empty:</a:t>
            </a:r>
            <a:endParaRPr sz="2400">
              <a:latin typeface="Arial"/>
              <a:cs typeface="Arial"/>
            </a:endParaRPr>
          </a:p>
          <a:p>
            <a:pPr marL="756285" marR="716915" indent="-286385">
              <a:lnSpc>
                <a:spcPts val="2400"/>
              </a:lnSpc>
              <a:spcBef>
                <a:spcPts val="1440"/>
              </a:spcBef>
              <a:buSzPct val="120000"/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latin typeface="Arial"/>
                <a:cs typeface="Arial"/>
              </a:rPr>
              <a:t>If stack top is a </a:t>
            </a:r>
            <a:r>
              <a:rPr sz="2000" dirty="0">
                <a:solidFill>
                  <a:srgbClr val="A50020"/>
                </a:solidFill>
                <a:latin typeface="Arial"/>
                <a:cs typeface="Arial"/>
              </a:rPr>
              <a:t>compound </a:t>
            </a:r>
            <a:r>
              <a:rPr sz="2000" spc="-5" dirty="0">
                <a:solidFill>
                  <a:srgbClr val="A50020"/>
                </a:solidFill>
                <a:latin typeface="Arial"/>
                <a:cs typeface="Arial"/>
              </a:rPr>
              <a:t>goal</a:t>
            </a:r>
            <a:r>
              <a:rPr sz="2000" spc="-5" dirty="0">
                <a:latin typeface="Arial"/>
                <a:cs typeface="Arial"/>
              </a:rPr>
              <a:t>, </a:t>
            </a:r>
            <a:r>
              <a:rPr sz="2000" dirty="0">
                <a:latin typeface="Arial"/>
                <a:cs typeface="Arial"/>
              </a:rPr>
              <a:t>push its unsatisfied  subgoals </a:t>
            </a:r>
            <a:r>
              <a:rPr sz="2000" spc="-5" dirty="0">
                <a:latin typeface="Arial"/>
                <a:cs typeface="Arial"/>
              </a:rPr>
              <a:t>to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stack.</a:t>
            </a:r>
            <a:endParaRPr sz="2000">
              <a:latin typeface="Arial"/>
              <a:cs typeface="Arial"/>
            </a:endParaRPr>
          </a:p>
          <a:p>
            <a:pPr marL="756285" marR="323215" indent="-286385" algn="just">
              <a:lnSpc>
                <a:spcPts val="2400"/>
              </a:lnSpc>
              <a:spcBef>
                <a:spcPts val="1200"/>
              </a:spcBef>
              <a:buSzPct val="120000"/>
              <a:buChar char="–"/>
              <a:tabLst>
                <a:tab pos="756920" algn="l"/>
              </a:tabLst>
            </a:pPr>
            <a:r>
              <a:rPr sz="2000" dirty="0">
                <a:latin typeface="Arial"/>
                <a:cs typeface="Arial"/>
              </a:rPr>
              <a:t>If stack top is a </a:t>
            </a:r>
            <a:r>
              <a:rPr sz="2000" dirty="0">
                <a:solidFill>
                  <a:srgbClr val="A50020"/>
                </a:solidFill>
                <a:latin typeface="Arial"/>
                <a:cs typeface="Arial"/>
              </a:rPr>
              <a:t>single unsatisfied goal</a:t>
            </a:r>
            <a:r>
              <a:rPr sz="2000" dirty="0">
                <a:latin typeface="Arial"/>
                <a:cs typeface="Arial"/>
              </a:rPr>
              <a:t>, replace </a:t>
            </a:r>
            <a:r>
              <a:rPr sz="2000" spc="-5" dirty="0">
                <a:latin typeface="Arial"/>
                <a:cs typeface="Arial"/>
              </a:rPr>
              <a:t>it </a:t>
            </a:r>
            <a:r>
              <a:rPr sz="2000" spc="5" dirty="0">
                <a:latin typeface="Arial"/>
                <a:cs typeface="Arial"/>
              </a:rPr>
              <a:t>by </a:t>
            </a:r>
            <a:r>
              <a:rPr sz="2000" dirty="0">
                <a:latin typeface="Arial"/>
                <a:cs typeface="Arial"/>
              </a:rPr>
              <a:t>an  operator </a:t>
            </a:r>
            <a:r>
              <a:rPr sz="2000" spc="-5" dirty="0">
                <a:latin typeface="Arial"/>
                <a:cs typeface="Arial"/>
              </a:rPr>
              <a:t>that </a:t>
            </a:r>
            <a:r>
              <a:rPr sz="2000" dirty="0">
                <a:latin typeface="Arial"/>
                <a:cs typeface="Arial"/>
              </a:rPr>
              <a:t>makes </a:t>
            </a:r>
            <a:r>
              <a:rPr sz="2000" spc="-5" dirty="0">
                <a:latin typeface="Arial"/>
                <a:cs typeface="Arial"/>
              </a:rPr>
              <a:t>it </a:t>
            </a:r>
            <a:r>
              <a:rPr sz="2000" dirty="0">
                <a:latin typeface="Arial"/>
                <a:cs typeface="Arial"/>
              </a:rPr>
              <a:t>satisfied and push the </a:t>
            </a:r>
            <a:r>
              <a:rPr sz="2000" spc="-5" dirty="0">
                <a:latin typeface="Arial"/>
                <a:cs typeface="Arial"/>
              </a:rPr>
              <a:t>operator’s  precondition </a:t>
            </a:r>
            <a:r>
              <a:rPr sz="2000" dirty="0">
                <a:latin typeface="Arial"/>
                <a:cs typeface="Arial"/>
              </a:rPr>
              <a:t>to the</a:t>
            </a:r>
            <a:r>
              <a:rPr sz="2000" spc="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stack.</a:t>
            </a:r>
            <a:endParaRPr sz="2000">
              <a:latin typeface="Arial"/>
              <a:cs typeface="Arial"/>
            </a:endParaRPr>
          </a:p>
          <a:p>
            <a:pPr marL="756285" marR="5080" indent="-286385">
              <a:lnSpc>
                <a:spcPts val="2400"/>
              </a:lnSpc>
              <a:spcBef>
                <a:spcPts val="1200"/>
              </a:spcBef>
              <a:buSzPct val="120000"/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latin typeface="Arial"/>
                <a:cs typeface="Arial"/>
              </a:rPr>
              <a:t>If stack top is an </a:t>
            </a:r>
            <a:r>
              <a:rPr sz="2000" dirty="0">
                <a:solidFill>
                  <a:srgbClr val="A50020"/>
                </a:solidFill>
                <a:latin typeface="Arial"/>
                <a:cs typeface="Arial"/>
              </a:rPr>
              <a:t>operator</a:t>
            </a:r>
            <a:r>
              <a:rPr sz="2000" dirty="0">
                <a:latin typeface="Arial"/>
                <a:cs typeface="Arial"/>
              </a:rPr>
              <a:t>, pop </a:t>
            </a:r>
            <a:r>
              <a:rPr sz="2000" spc="-5" dirty="0">
                <a:latin typeface="Arial"/>
                <a:cs typeface="Arial"/>
              </a:rPr>
              <a:t>it </a:t>
            </a:r>
            <a:r>
              <a:rPr sz="2000" dirty="0">
                <a:latin typeface="Arial"/>
                <a:cs typeface="Arial"/>
              </a:rPr>
              <a:t>from the stack, execute it  and change the database </a:t>
            </a:r>
            <a:r>
              <a:rPr sz="2000" spc="5" dirty="0">
                <a:latin typeface="Arial"/>
                <a:cs typeface="Arial"/>
              </a:rPr>
              <a:t>by </a:t>
            </a:r>
            <a:r>
              <a:rPr sz="2000" dirty="0">
                <a:latin typeface="Arial"/>
                <a:cs typeface="Arial"/>
              </a:rPr>
              <a:t>the operation’s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affects.</a:t>
            </a:r>
            <a:endParaRPr sz="2000">
              <a:latin typeface="Arial"/>
              <a:cs typeface="Arial"/>
            </a:endParaRPr>
          </a:p>
          <a:p>
            <a:pPr marL="756285" indent="-286385">
              <a:lnSpc>
                <a:spcPct val="100000"/>
              </a:lnSpc>
              <a:spcBef>
                <a:spcPts val="720"/>
              </a:spcBef>
              <a:buSzPct val="120000"/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latin typeface="Arial"/>
                <a:cs typeface="Arial"/>
              </a:rPr>
              <a:t>If stack top is a </a:t>
            </a:r>
            <a:r>
              <a:rPr sz="2000" dirty="0">
                <a:solidFill>
                  <a:srgbClr val="A50020"/>
                </a:solidFill>
                <a:latin typeface="Arial"/>
                <a:cs typeface="Arial"/>
              </a:rPr>
              <a:t>satisfied goal</a:t>
            </a:r>
            <a:r>
              <a:rPr sz="2000" dirty="0">
                <a:latin typeface="Arial"/>
                <a:cs typeface="Arial"/>
              </a:rPr>
              <a:t>, pop it from the</a:t>
            </a:r>
            <a:r>
              <a:rPr sz="2000" spc="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stack.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54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dirty="0"/>
              <a:t>16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45382" y="1331467"/>
            <a:ext cx="416750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Goal </a:t>
            </a:r>
            <a:r>
              <a:rPr spc="-5" dirty="0"/>
              <a:t>Stack</a:t>
            </a:r>
            <a:r>
              <a:rPr spc="-80" dirty="0"/>
              <a:t> </a:t>
            </a:r>
            <a:r>
              <a:rPr spc="-5" dirty="0"/>
              <a:t>Planning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819275" y="2965450"/>
          <a:ext cx="2676525" cy="10826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3276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0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B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698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276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0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A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698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C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698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D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698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831339" y="4288026"/>
            <a:ext cx="59118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5" dirty="0">
                <a:solidFill>
                  <a:srgbClr val="A50020"/>
                </a:solidFill>
                <a:latin typeface="Arial"/>
                <a:cs typeface="Arial"/>
              </a:rPr>
              <a:t>s</a:t>
            </a:r>
            <a:r>
              <a:rPr sz="2000" spc="-5" dirty="0">
                <a:solidFill>
                  <a:srgbClr val="A50020"/>
                </a:solidFill>
                <a:latin typeface="Arial"/>
                <a:cs typeface="Arial"/>
              </a:rPr>
              <a:t>t</a:t>
            </a:r>
            <a:r>
              <a:rPr sz="2000" dirty="0">
                <a:solidFill>
                  <a:srgbClr val="A50020"/>
                </a:solidFill>
                <a:latin typeface="Arial"/>
                <a:cs typeface="Arial"/>
              </a:rPr>
              <a:t>ar</a:t>
            </a:r>
            <a:r>
              <a:rPr sz="2000" spc="-5" dirty="0">
                <a:solidFill>
                  <a:srgbClr val="A50020"/>
                </a:solidFill>
                <a:latin typeface="Arial"/>
                <a:cs typeface="Arial"/>
              </a:rPr>
              <a:t>t:</a:t>
            </a:r>
            <a:endParaRPr sz="2000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5553075" y="2965450"/>
          <a:ext cx="2676525" cy="10826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276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9700" algn="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C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698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47320" algn="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B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698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276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47320" algn="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A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698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9700" algn="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D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698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2574286" y="4302936"/>
          <a:ext cx="5563870" cy="17710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009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98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30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7185">
                <a:tc>
                  <a:txBody>
                    <a:bodyPr/>
                    <a:lstStyle/>
                    <a:p>
                      <a:pPr marL="31750">
                        <a:lnSpc>
                          <a:spcPts val="2400"/>
                        </a:lnSpc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ON(B, 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A)</a:t>
                      </a:r>
                      <a:r>
                        <a:rPr sz="2000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latin typeface="Symbol"/>
                          <a:cs typeface="Symbol"/>
                        </a:rPr>
                        <a:t></a:t>
                      </a:r>
                      <a:endParaRPr sz="2000">
                        <a:latin typeface="Symbol"/>
                        <a:cs typeface="Symbo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2615">
                        <a:lnSpc>
                          <a:spcPts val="2385"/>
                        </a:lnSpc>
                      </a:pPr>
                      <a:r>
                        <a:rPr sz="2000" dirty="0">
                          <a:solidFill>
                            <a:srgbClr val="A50020"/>
                          </a:solidFill>
                          <a:latin typeface="Arial"/>
                          <a:cs typeface="Arial"/>
                        </a:rPr>
                        <a:t>goal: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4775">
                        <a:lnSpc>
                          <a:spcPts val="2400"/>
                        </a:lnSpc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ON(C, A)</a:t>
                      </a:r>
                      <a:r>
                        <a:rPr sz="20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latin typeface="Symbol"/>
                          <a:cs typeface="Symbol"/>
                        </a:rPr>
                        <a:t></a:t>
                      </a:r>
                      <a:endParaRPr sz="2000">
                        <a:latin typeface="Symbol"/>
                        <a:cs typeface="Symbo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331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ONTABLE(A)</a:t>
                      </a:r>
                      <a:r>
                        <a:rPr sz="20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latin typeface="Symbol"/>
                          <a:cs typeface="Symbol"/>
                        </a:rPr>
                        <a:t></a:t>
                      </a:r>
                      <a:endParaRPr sz="2000">
                        <a:latin typeface="Symbol"/>
                        <a:cs typeface="Symbol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ONTABLE(C)</a:t>
                      </a:r>
                      <a:r>
                        <a:rPr sz="2000" spc="-1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latin typeface="Symbol"/>
                          <a:cs typeface="Symbol"/>
                        </a:rPr>
                        <a:t></a:t>
                      </a:r>
                      <a:endParaRPr sz="2000">
                        <a:latin typeface="Symbol"/>
                        <a:cs typeface="Symbol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ONTABLE(D)</a:t>
                      </a:r>
                      <a:r>
                        <a:rPr sz="2000" spc="-1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latin typeface="Symbol"/>
                          <a:cs typeface="Symbol"/>
                        </a:rPr>
                        <a:t></a:t>
                      </a:r>
                      <a:endParaRPr sz="2000">
                        <a:latin typeface="Symbol"/>
                        <a:cs typeface="Symbol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ON(B, 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D)</a:t>
                      </a:r>
                      <a:r>
                        <a:rPr sz="20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latin typeface="Symbol"/>
                          <a:cs typeface="Symbol"/>
                        </a:rPr>
                        <a:t></a:t>
                      </a:r>
                      <a:endParaRPr sz="2000">
                        <a:latin typeface="Symbol"/>
                        <a:cs typeface="Symbol"/>
                      </a:endParaRPr>
                    </a:p>
                    <a:p>
                      <a:pPr marL="104139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ONTABLE(A)</a:t>
                      </a:r>
                      <a:r>
                        <a:rPr sz="20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latin typeface="Symbol"/>
                          <a:cs typeface="Symbol"/>
                        </a:rPr>
                        <a:t></a:t>
                      </a:r>
                      <a:endParaRPr sz="2000">
                        <a:latin typeface="Symbol"/>
                        <a:cs typeface="Symbol"/>
                      </a:endParaRPr>
                    </a:p>
                    <a:p>
                      <a:pPr marL="104139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ONTABLE(D)</a:t>
                      </a:r>
                      <a:r>
                        <a:rPr sz="2000" spc="-1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latin typeface="Symbol"/>
                          <a:cs typeface="Symbol"/>
                        </a:rPr>
                        <a:t></a:t>
                      </a:r>
                      <a:endParaRPr sz="2000">
                        <a:latin typeface="Symbol"/>
                        <a:cs typeface="Symbol"/>
                      </a:endParaRPr>
                    </a:p>
                  </a:txBody>
                  <a:tcPr marL="0" marR="0" marT="26669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245">
                <a:tc>
                  <a:txBody>
                    <a:bodyPr/>
                    <a:lstStyle/>
                    <a:p>
                      <a:pPr marL="31750">
                        <a:lnSpc>
                          <a:spcPts val="2335"/>
                        </a:lnSpc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ARMEMPTY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45382" y="1331467"/>
            <a:ext cx="416750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Goal </a:t>
            </a:r>
            <a:r>
              <a:rPr spc="-5" dirty="0"/>
              <a:t>Stack</a:t>
            </a:r>
            <a:r>
              <a:rPr spc="-80" dirty="0"/>
              <a:t> </a:t>
            </a:r>
            <a:r>
              <a:rPr spc="-5" dirty="0"/>
              <a:t>Planning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55139" y="2706724"/>
            <a:ext cx="3421379" cy="1118235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sz="2000" dirty="0">
                <a:latin typeface="Arial"/>
                <a:cs typeface="Arial"/>
              </a:rPr>
              <a:t>ON(C,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A)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2000" spc="-5" dirty="0">
                <a:latin typeface="Arial"/>
                <a:cs typeface="Arial"/>
              </a:rPr>
              <a:t>ON(B,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D)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2000" dirty="0">
                <a:latin typeface="Arial"/>
                <a:cs typeface="Arial"/>
              </a:rPr>
              <a:t>ON(C, A) </a:t>
            </a:r>
            <a:r>
              <a:rPr sz="2000" b="1" dirty="0">
                <a:latin typeface="Symbol"/>
                <a:cs typeface="Symbol"/>
              </a:rPr>
              <a:t></a:t>
            </a:r>
            <a:r>
              <a:rPr sz="2000" b="1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ON(B, D) </a:t>
            </a:r>
            <a:r>
              <a:rPr sz="2000" b="1" dirty="0">
                <a:latin typeface="Symbol"/>
                <a:cs typeface="Symbol"/>
              </a:rPr>
              <a:t></a:t>
            </a:r>
            <a:r>
              <a:rPr sz="2000" b="1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OTAD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55138" y="4535523"/>
            <a:ext cx="3421379" cy="22142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884045">
              <a:lnSpc>
                <a:spcPct val="119500"/>
              </a:lnSpc>
              <a:spcBef>
                <a:spcPts val="100"/>
              </a:spcBef>
            </a:pPr>
            <a:r>
              <a:rPr sz="2000" dirty="0">
                <a:latin typeface="Arial"/>
                <a:cs typeface="Arial"/>
              </a:rPr>
              <a:t>CLEAR(A)  HOLD</a:t>
            </a:r>
            <a:r>
              <a:rPr sz="2000" spc="-5" dirty="0">
                <a:latin typeface="Arial"/>
                <a:cs typeface="Arial"/>
              </a:rPr>
              <a:t>I</a:t>
            </a:r>
            <a:r>
              <a:rPr sz="2000" dirty="0">
                <a:latin typeface="Arial"/>
                <a:cs typeface="Arial"/>
              </a:rPr>
              <a:t>NG(C</a:t>
            </a:r>
            <a:r>
              <a:rPr sz="2000" spc="5" dirty="0">
                <a:latin typeface="Arial"/>
                <a:cs typeface="Arial"/>
              </a:rPr>
              <a:t>)</a:t>
            </a:r>
            <a:endParaRPr sz="2000">
              <a:latin typeface="Arial"/>
              <a:cs typeface="Arial"/>
            </a:endParaRPr>
          </a:p>
          <a:p>
            <a:pPr marL="12700" marR="399415">
              <a:lnSpc>
                <a:spcPct val="120000"/>
              </a:lnSpc>
            </a:pPr>
            <a:r>
              <a:rPr sz="2000" dirty="0">
                <a:latin typeface="Arial"/>
                <a:cs typeface="Arial"/>
              </a:rPr>
              <a:t>CLEAR(A) </a:t>
            </a:r>
            <a:r>
              <a:rPr sz="2000" b="1" dirty="0">
                <a:latin typeface="Symbol"/>
                <a:cs typeface="Symbol"/>
              </a:rPr>
              <a:t></a:t>
            </a:r>
            <a:r>
              <a:rPr sz="2000" b="1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HOLDING(C)  </a:t>
            </a:r>
            <a:r>
              <a:rPr sz="2000" spc="-5" dirty="0">
                <a:solidFill>
                  <a:srgbClr val="A50020"/>
                </a:solidFill>
                <a:latin typeface="Arial"/>
                <a:cs typeface="Arial"/>
              </a:rPr>
              <a:t>STACK(C,</a:t>
            </a:r>
            <a:r>
              <a:rPr sz="2000" spc="15" dirty="0">
                <a:solidFill>
                  <a:srgbClr val="A5002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A50020"/>
                </a:solidFill>
                <a:latin typeface="Arial"/>
                <a:cs typeface="Arial"/>
              </a:rPr>
              <a:t>A)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2000" spc="-5" dirty="0">
                <a:latin typeface="Arial"/>
                <a:cs typeface="Arial"/>
              </a:rPr>
              <a:t>ON(B, </a:t>
            </a:r>
            <a:r>
              <a:rPr sz="2000" dirty="0">
                <a:latin typeface="Arial"/>
                <a:cs typeface="Arial"/>
              </a:rPr>
              <a:t>D)</a:t>
            </a:r>
            <a:r>
              <a:rPr sz="2000" spc="5" dirty="0">
                <a:latin typeface="Arial"/>
                <a:cs typeface="Arial"/>
              </a:rPr>
              <a:t> </a:t>
            </a:r>
            <a:r>
              <a:rPr sz="2000" b="1" dirty="0">
                <a:latin typeface="Symbol"/>
                <a:cs typeface="Symbol"/>
              </a:rPr>
              <a:t></a:t>
            </a:r>
            <a:endParaRPr sz="2000">
              <a:latin typeface="Symbol"/>
              <a:cs typeface="Symbol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2000" dirty="0">
                <a:latin typeface="Arial"/>
                <a:cs typeface="Arial"/>
              </a:rPr>
              <a:t>ON(C, A) </a:t>
            </a:r>
            <a:r>
              <a:rPr sz="2000" b="1" dirty="0">
                <a:latin typeface="Symbol"/>
                <a:cs typeface="Symbol"/>
              </a:rPr>
              <a:t></a:t>
            </a:r>
            <a:r>
              <a:rPr sz="2000" b="1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ON(B, D) </a:t>
            </a:r>
            <a:r>
              <a:rPr sz="2000" b="1" dirty="0">
                <a:latin typeface="Symbol"/>
                <a:cs typeface="Symbol"/>
              </a:rPr>
              <a:t></a:t>
            </a:r>
            <a:r>
              <a:rPr sz="2000" b="1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OTAD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31921" y="4611723"/>
            <a:ext cx="1467485" cy="1118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9500"/>
              </a:lnSpc>
              <a:spcBef>
                <a:spcPts val="100"/>
              </a:spcBef>
            </a:pPr>
            <a:r>
              <a:rPr sz="2000" spc="-5" dirty="0">
                <a:latin typeface="Arial"/>
                <a:cs typeface="Arial"/>
              </a:rPr>
              <a:t>ON(B, </a:t>
            </a:r>
            <a:r>
              <a:rPr sz="2000" dirty="0">
                <a:latin typeface="Arial"/>
                <a:cs typeface="Arial"/>
              </a:rPr>
              <a:t>A)  OTACD  </a:t>
            </a:r>
            <a:r>
              <a:rPr sz="2000" spc="-5" dirty="0">
                <a:latin typeface="Arial"/>
                <a:cs typeface="Arial"/>
              </a:rPr>
              <a:t>A</a:t>
            </a:r>
            <a:r>
              <a:rPr sz="2000" dirty="0">
                <a:latin typeface="Arial"/>
                <a:cs typeface="Arial"/>
              </a:rPr>
              <a:t>RM</a:t>
            </a:r>
            <a:r>
              <a:rPr sz="2000" spc="-5" dirty="0">
                <a:latin typeface="Arial"/>
                <a:cs typeface="Arial"/>
              </a:rPr>
              <a:t>E</a:t>
            </a:r>
            <a:r>
              <a:rPr sz="2000" dirty="0">
                <a:latin typeface="Arial"/>
                <a:cs typeface="Arial"/>
              </a:rPr>
              <a:t>M</a:t>
            </a:r>
            <a:r>
              <a:rPr sz="2000" spc="-5" dirty="0">
                <a:latin typeface="Arial"/>
                <a:cs typeface="Arial"/>
              </a:rPr>
              <a:t>PT</a:t>
            </a:r>
            <a:r>
              <a:rPr sz="2000" spc="10" dirty="0">
                <a:latin typeface="Arial"/>
                <a:cs typeface="Arial"/>
              </a:rPr>
              <a:t>Y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55139" y="2152903"/>
            <a:ext cx="787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0000FF"/>
                </a:solidFill>
                <a:latin typeface="Arial"/>
                <a:cs typeface="Arial"/>
              </a:rPr>
              <a:t>S</a:t>
            </a: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2400" spc="-10" dirty="0">
                <a:solidFill>
                  <a:srgbClr val="0000FF"/>
                </a:solidFill>
                <a:latin typeface="Arial"/>
                <a:cs typeface="Arial"/>
              </a:rPr>
              <a:t>a</a:t>
            </a: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ck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31916" y="2024686"/>
            <a:ext cx="1467485" cy="1800225"/>
          </a:xfrm>
          <a:prstGeom prst="rect">
            <a:avLst/>
          </a:prstGeom>
        </p:spPr>
        <p:txBody>
          <a:bodyPr vert="horz" wrap="square" lIns="0" tIns="2171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10"/>
              </a:spcBef>
            </a:pP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Database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19500"/>
              </a:lnSpc>
              <a:spcBef>
                <a:spcPts val="880"/>
              </a:spcBef>
            </a:pPr>
            <a:r>
              <a:rPr sz="2000" spc="-5" dirty="0">
                <a:latin typeface="Arial"/>
                <a:cs typeface="Arial"/>
              </a:rPr>
              <a:t>ON(B, </a:t>
            </a:r>
            <a:r>
              <a:rPr sz="2000" dirty="0">
                <a:latin typeface="Arial"/>
                <a:cs typeface="Arial"/>
              </a:rPr>
              <a:t>A)  OTACD  </a:t>
            </a:r>
            <a:r>
              <a:rPr sz="2000" spc="-5" dirty="0">
                <a:latin typeface="Arial"/>
                <a:cs typeface="Arial"/>
              </a:rPr>
              <a:t>A</a:t>
            </a:r>
            <a:r>
              <a:rPr sz="2000" dirty="0">
                <a:latin typeface="Arial"/>
                <a:cs typeface="Arial"/>
              </a:rPr>
              <a:t>RM</a:t>
            </a:r>
            <a:r>
              <a:rPr sz="2000" spc="-5" dirty="0">
                <a:latin typeface="Arial"/>
                <a:cs typeface="Arial"/>
              </a:rPr>
              <a:t>E</a:t>
            </a:r>
            <a:r>
              <a:rPr sz="2000" dirty="0">
                <a:latin typeface="Arial"/>
                <a:cs typeface="Arial"/>
              </a:rPr>
              <a:t>M</a:t>
            </a:r>
            <a:r>
              <a:rPr sz="2000" spc="-5" dirty="0">
                <a:latin typeface="Arial"/>
                <a:cs typeface="Arial"/>
              </a:rPr>
              <a:t>PT</a:t>
            </a:r>
            <a:r>
              <a:rPr sz="2000" spc="10" dirty="0">
                <a:latin typeface="Arial"/>
                <a:cs typeface="Arial"/>
              </a:rPr>
              <a:t>Y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124200" y="3962400"/>
            <a:ext cx="457200" cy="533400"/>
          </a:xfrm>
          <a:custGeom>
            <a:avLst/>
            <a:gdLst/>
            <a:ahLst/>
            <a:cxnLst/>
            <a:rect l="l" t="t" r="r" b="b"/>
            <a:pathLst>
              <a:path w="457200" h="533400">
                <a:moveTo>
                  <a:pt x="457200" y="399288"/>
                </a:moveTo>
                <a:lnTo>
                  <a:pt x="342900" y="399288"/>
                </a:lnTo>
                <a:lnTo>
                  <a:pt x="342900" y="0"/>
                </a:lnTo>
                <a:lnTo>
                  <a:pt x="114300" y="0"/>
                </a:lnTo>
                <a:lnTo>
                  <a:pt x="114300" y="399288"/>
                </a:lnTo>
                <a:lnTo>
                  <a:pt x="0" y="399288"/>
                </a:lnTo>
                <a:lnTo>
                  <a:pt x="228600" y="533400"/>
                </a:lnTo>
                <a:lnTo>
                  <a:pt x="457200" y="399288"/>
                </a:lnTo>
                <a:close/>
              </a:path>
            </a:pathLst>
          </a:custGeom>
          <a:solidFill>
            <a:srgbClr val="A400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124200" y="3962400"/>
            <a:ext cx="457200" cy="533400"/>
          </a:xfrm>
          <a:custGeom>
            <a:avLst/>
            <a:gdLst/>
            <a:ahLst/>
            <a:cxnLst/>
            <a:rect l="l" t="t" r="r" b="b"/>
            <a:pathLst>
              <a:path w="457200" h="533400">
                <a:moveTo>
                  <a:pt x="0" y="399287"/>
                </a:moveTo>
                <a:lnTo>
                  <a:pt x="114299" y="399287"/>
                </a:lnTo>
                <a:lnTo>
                  <a:pt x="114299" y="0"/>
                </a:lnTo>
                <a:lnTo>
                  <a:pt x="342899" y="0"/>
                </a:lnTo>
                <a:lnTo>
                  <a:pt x="342899" y="399287"/>
                </a:lnTo>
                <a:lnTo>
                  <a:pt x="457199" y="399287"/>
                </a:lnTo>
                <a:lnTo>
                  <a:pt x="228599" y="533399"/>
                </a:lnTo>
                <a:lnTo>
                  <a:pt x="0" y="399287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54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dirty="0"/>
              <a:t>17</a:t>
            </a:fld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54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dirty="0"/>
              <a:t>18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45382" y="1331467"/>
            <a:ext cx="416750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Goal </a:t>
            </a:r>
            <a:r>
              <a:rPr spc="-5" dirty="0"/>
              <a:t>Stack</a:t>
            </a:r>
            <a:r>
              <a:rPr spc="-80" dirty="0"/>
              <a:t> </a:t>
            </a:r>
            <a:r>
              <a:rPr spc="-5" dirty="0"/>
              <a:t>Planning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55139" y="2152903"/>
            <a:ext cx="2176780" cy="20377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Plan</a:t>
            </a:r>
            <a:endParaRPr sz="2400">
              <a:latin typeface="Arial"/>
              <a:cs typeface="Arial"/>
            </a:endParaRPr>
          </a:p>
          <a:p>
            <a:pPr marL="294640" indent="-281940">
              <a:lnSpc>
                <a:spcPct val="100000"/>
              </a:lnSpc>
              <a:spcBef>
                <a:spcPts val="1945"/>
              </a:spcBef>
              <a:buAutoNum type="arabicPeriod"/>
              <a:tabLst>
                <a:tab pos="295275" algn="l"/>
              </a:tabLst>
            </a:pPr>
            <a:r>
              <a:rPr sz="2000" dirty="0">
                <a:latin typeface="Arial"/>
                <a:cs typeface="Arial"/>
              </a:rPr>
              <a:t>UNSTACK(B,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A)</a:t>
            </a:r>
            <a:endParaRPr sz="2000">
              <a:latin typeface="Arial"/>
              <a:cs typeface="Arial"/>
            </a:endParaRPr>
          </a:p>
          <a:p>
            <a:pPr marL="295910" indent="-283210">
              <a:lnSpc>
                <a:spcPct val="100000"/>
              </a:lnSpc>
              <a:spcBef>
                <a:spcPts val="470"/>
              </a:spcBef>
              <a:buAutoNum type="arabicPeriod"/>
              <a:tabLst>
                <a:tab pos="296545" algn="l"/>
              </a:tabLst>
            </a:pPr>
            <a:r>
              <a:rPr sz="2000" spc="-5" dirty="0">
                <a:latin typeface="Arial"/>
                <a:cs typeface="Arial"/>
              </a:rPr>
              <a:t>STACK(B,</a:t>
            </a:r>
            <a:r>
              <a:rPr sz="2000" spc="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D)</a:t>
            </a:r>
            <a:endParaRPr sz="2000">
              <a:latin typeface="Arial"/>
              <a:cs typeface="Arial"/>
            </a:endParaRPr>
          </a:p>
          <a:p>
            <a:pPr marL="295910" indent="-283210">
              <a:lnSpc>
                <a:spcPct val="100000"/>
              </a:lnSpc>
              <a:spcBef>
                <a:spcPts val="480"/>
              </a:spcBef>
              <a:buAutoNum type="arabicPeriod"/>
              <a:tabLst>
                <a:tab pos="296545" algn="l"/>
              </a:tabLst>
            </a:pPr>
            <a:r>
              <a:rPr sz="2000" dirty="0">
                <a:latin typeface="Arial"/>
                <a:cs typeface="Arial"/>
              </a:rPr>
              <a:t>PICKUP(C)</a:t>
            </a:r>
            <a:endParaRPr sz="2000">
              <a:latin typeface="Arial"/>
              <a:cs typeface="Arial"/>
            </a:endParaRPr>
          </a:p>
          <a:p>
            <a:pPr marL="295910" indent="-283210">
              <a:lnSpc>
                <a:spcPct val="100000"/>
              </a:lnSpc>
              <a:spcBef>
                <a:spcPts val="465"/>
              </a:spcBef>
              <a:buAutoNum type="arabicPeriod"/>
              <a:tabLst>
                <a:tab pos="296545" algn="l"/>
              </a:tabLst>
            </a:pPr>
            <a:r>
              <a:rPr sz="2000" dirty="0">
                <a:latin typeface="Arial"/>
                <a:cs typeface="Arial"/>
              </a:rPr>
              <a:t>STACK(C, A)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45382" y="1331467"/>
            <a:ext cx="416750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Goal </a:t>
            </a:r>
            <a:r>
              <a:rPr spc="-5" dirty="0"/>
              <a:t>Stack</a:t>
            </a:r>
            <a:r>
              <a:rPr spc="-80" dirty="0"/>
              <a:t> </a:t>
            </a:r>
            <a:r>
              <a:rPr spc="-5" dirty="0"/>
              <a:t>Planning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819275" y="2965450"/>
          <a:ext cx="2676525" cy="10826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276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9700" algn="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C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698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276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47320" algn="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A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698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399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B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698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831339" y="4288026"/>
            <a:ext cx="59118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5" dirty="0">
                <a:solidFill>
                  <a:srgbClr val="A50020"/>
                </a:solidFill>
                <a:latin typeface="Arial"/>
                <a:cs typeface="Arial"/>
              </a:rPr>
              <a:t>s</a:t>
            </a:r>
            <a:r>
              <a:rPr sz="2000" spc="-5" dirty="0">
                <a:solidFill>
                  <a:srgbClr val="A50020"/>
                </a:solidFill>
                <a:latin typeface="Arial"/>
                <a:cs typeface="Arial"/>
              </a:rPr>
              <a:t>t</a:t>
            </a:r>
            <a:r>
              <a:rPr sz="2000" dirty="0">
                <a:solidFill>
                  <a:srgbClr val="A50020"/>
                </a:solidFill>
                <a:latin typeface="Arial"/>
                <a:cs typeface="Arial"/>
              </a:rPr>
              <a:t>ar</a:t>
            </a:r>
            <a:r>
              <a:rPr sz="2000" spc="-5" dirty="0">
                <a:solidFill>
                  <a:srgbClr val="A50020"/>
                </a:solidFill>
                <a:latin typeface="Arial"/>
                <a:cs typeface="Arial"/>
              </a:rPr>
              <a:t>t: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29400" y="2438400"/>
            <a:ext cx="533400" cy="533400"/>
          </a:xfrm>
          <a:prstGeom prst="rect">
            <a:avLst/>
          </a:prstGeom>
          <a:ln w="12699">
            <a:solidFill>
              <a:srgbClr val="000000"/>
            </a:solidFill>
          </a:ln>
        </p:spPr>
        <p:txBody>
          <a:bodyPr vert="horz" wrap="square" lIns="0" tIns="69850" rIns="0" bIns="0" rtlCol="0">
            <a:spAutoFit/>
          </a:bodyPr>
          <a:lstStyle/>
          <a:p>
            <a:pPr marL="164465">
              <a:lnSpc>
                <a:spcPct val="100000"/>
              </a:lnSpc>
              <a:spcBef>
                <a:spcPts val="550"/>
              </a:spcBef>
            </a:pPr>
            <a:r>
              <a:rPr sz="2400" spc="5" dirty="0">
                <a:latin typeface="Arial"/>
                <a:cs typeface="Arial"/>
              </a:rPr>
              <a:t>A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562600" y="4038600"/>
            <a:ext cx="2667000" cy="0"/>
          </a:xfrm>
          <a:custGeom>
            <a:avLst/>
            <a:gdLst/>
            <a:ahLst/>
            <a:cxnLst/>
            <a:rect l="l" t="t" r="r" b="b"/>
            <a:pathLst>
              <a:path w="2667000">
                <a:moveTo>
                  <a:pt x="0" y="0"/>
                </a:moveTo>
                <a:lnTo>
                  <a:pt x="2666999" y="0"/>
                </a:lnTo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432034" y="4289550"/>
            <a:ext cx="1797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Symbol"/>
                <a:cs typeface="Symbol"/>
              </a:rPr>
              <a:t></a:t>
            </a:r>
            <a:endParaRPr sz="2000">
              <a:latin typeface="Symbol"/>
              <a:cs typeface="Symbo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629400" y="35052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0"/>
                </a:moveTo>
                <a:lnTo>
                  <a:pt x="0" y="533399"/>
                </a:lnTo>
                <a:lnTo>
                  <a:pt x="533399" y="533399"/>
                </a:lnTo>
                <a:lnTo>
                  <a:pt x="533399" y="0"/>
                </a:lnTo>
                <a:lnTo>
                  <a:pt x="0" y="0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635750" y="3562602"/>
            <a:ext cx="5207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8590">
              <a:lnSpc>
                <a:spcPct val="100000"/>
              </a:lnSpc>
              <a:spcBef>
                <a:spcPts val="100"/>
              </a:spcBef>
            </a:pPr>
            <a:r>
              <a:rPr sz="2400" spc="5" dirty="0">
                <a:latin typeface="Arial"/>
                <a:cs typeface="Arial"/>
              </a:rPr>
              <a:t>C</a:t>
            </a:r>
            <a:endParaRPr sz="2400">
              <a:latin typeface="Arial"/>
              <a:cs typeface="Arial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54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dirty="0"/>
              <a:t>19</a:t>
            </a:fld>
            <a:endParaRPr dirty="0"/>
          </a:p>
        </p:txBody>
      </p:sp>
      <p:sp>
        <p:nvSpPr>
          <p:cNvPr id="10" name="object 10"/>
          <p:cNvSpPr txBox="1"/>
          <p:nvPr/>
        </p:nvSpPr>
        <p:spPr>
          <a:xfrm>
            <a:off x="6629400" y="2971800"/>
            <a:ext cx="533400" cy="533400"/>
          </a:xfrm>
          <a:prstGeom prst="rect">
            <a:avLst/>
          </a:prstGeom>
          <a:ln w="12699">
            <a:solidFill>
              <a:srgbClr val="000000"/>
            </a:solidFill>
          </a:ln>
        </p:spPr>
        <p:txBody>
          <a:bodyPr vert="horz" wrap="square" lIns="0" tIns="69850" rIns="0" bIns="0" rtlCol="0">
            <a:spAutoFit/>
          </a:bodyPr>
          <a:lstStyle/>
          <a:p>
            <a:pPr marL="164465">
              <a:lnSpc>
                <a:spcPct val="100000"/>
              </a:lnSpc>
              <a:spcBef>
                <a:spcPts val="550"/>
              </a:spcBef>
            </a:pPr>
            <a:r>
              <a:rPr sz="2400" spc="5" dirty="0">
                <a:latin typeface="Arial"/>
                <a:cs typeface="Arial"/>
              </a:rPr>
              <a:t>B</a:t>
            </a:r>
            <a:endParaRPr sz="2400">
              <a:latin typeface="Arial"/>
              <a:cs typeface="Arial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2574285" y="4302936"/>
          <a:ext cx="4844415" cy="1405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93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6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36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7185">
                <a:tc>
                  <a:txBody>
                    <a:bodyPr/>
                    <a:lstStyle/>
                    <a:p>
                      <a:pPr marL="31750">
                        <a:lnSpc>
                          <a:spcPts val="2400"/>
                        </a:lnSpc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ON(C, A)</a:t>
                      </a:r>
                      <a:r>
                        <a:rPr sz="20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latin typeface="Symbol"/>
                          <a:cs typeface="Symbol"/>
                        </a:rPr>
                        <a:t></a:t>
                      </a:r>
                      <a:endParaRPr sz="2000">
                        <a:latin typeface="Symbol"/>
                        <a:cs typeface="Symbo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0">
                        <a:lnSpc>
                          <a:spcPts val="2385"/>
                        </a:lnSpc>
                      </a:pPr>
                      <a:r>
                        <a:rPr sz="2000" dirty="0">
                          <a:solidFill>
                            <a:srgbClr val="A50020"/>
                          </a:solidFill>
                          <a:latin typeface="Arial"/>
                          <a:cs typeface="Arial"/>
                        </a:rPr>
                        <a:t>goal: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100" algn="r">
                        <a:lnSpc>
                          <a:spcPts val="2400"/>
                        </a:lnSpc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ON(A,</a:t>
                      </a:r>
                      <a:r>
                        <a:rPr sz="2000" spc="-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B)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755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ONTABLE(A)</a:t>
                      </a:r>
                      <a:r>
                        <a:rPr sz="20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latin typeface="Symbol"/>
                          <a:cs typeface="Symbol"/>
                        </a:rPr>
                        <a:t></a:t>
                      </a:r>
                      <a:endParaRPr sz="2000">
                        <a:latin typeface="Symbol"/>
                        <a:cs typeface="Symbol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ONTABLE(B)</a:t>
                      </a:r>
                      <a:r>
                        <a:rPr sz="20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latin typeface="Symbol"/>
                          <a:cs typeface="Symbol"/>
                        </a:rPr>
                        <a:t></a:t>
                      </a:r>
                      <a:endParaRPr sz="2000">
                        <a:latin typeface="Symbol"/>
                        <a:cs typeface="Symbol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ON(B,</a:t>
                      </a:r>
                      <a:r>
                        <a:rPr sz="2000" spc="-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C)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6669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245">
                <a:tc>
                  <a:txBody>
                    <a:bodyPr/>
                    <a:lstStyle/>
                    <a:p>
                      <a:pPr marL="31750">
                        <a:lnSpc>
                          <a:spcPts val="2335"/>
                        </a:lnSpc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ARMEMPTY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3355338" y="6039101"/>
            <a:ext cx="35344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Sussman Anomaly</a:t>
            </a:r>
            <a:r>
              <a:rPr sz="2400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(1975)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54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dirty="0"/>
              <a:t>20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45382" y="1331467"/>
            <a:ext cx="416750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Goal </a:t>
            </a:r>
            <a:r>
              <a:rPr spc="-5" dirty="0"/>
              <a:t>Stack</a:t>
            </a:r>
            <a:r>
              <a:rPr spc="-80" dirty="0"/>
              <a:t> </a:t>
            </a:r>
            <a:r>
              <a:rPr spc="-5" dirty="0"/>
              <a:t>Planning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55139" y="2152903"/>
            <a:ext cx="2407285" cy="4227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Plan</a:t>
            </a:r>
            <a:endParaRPr sz="2400">
              <a:latin typeface="Arial"/>
              <a:cs typeface="Arial"/>
            </a:endParaRPr>
          </a:p>
          <a:p>
            <a:pPr marL="509270" indent="-496570">
              <a:lnSpc>
                <a:spcPct val="100000"/>
              </a:lnSpc>
              <a:spcBef>
                <a:spcPts val="1945"/>
              </a:spcBef>
              <a:buAutoNum type="arabicPeriod"/>
              <a:tabLst>
                <a:tab pos="509270" algn="l"/>
                <a:tab pos="509905" algn="l"/>
              </a:tabLst>
            </a:pPr>
            <a:r>
              <a:rPr sz="2000" dirty="0">
                <a:latin typeface="Arial"/>
                <a:cs typeface="Arial"/>
              </a:rPr>
              <a:t>UNSTACK(C,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A)</a:t>
            </a:r>
            <a:endParaRPr sz="2000">
              <a:latin typeface="Arial"/>
              <a:cs typeface="Arial"/>
            </a:endParaRPr>
          </a:p>
          <a:p>
            <a:pPr marL="511175" indent="-498475">
              <a:lnSpc>
                <a:spcPct val="100000"/>
              </a:lnSpc>
              <a:spcBef>
                <a:spcPts val="470"/>
              </a:spcBef>
              <a:buAutoNum type="arabicPeriod"/>
              <a:tabLst>
                <a:tab pos="511175" algn="l"/>
                <a:tab pos="511809" algn="l"/>
              </a:tabLst>
            </a:pPr>
            <a:r>
              <a:rPr sz="2000" spc="-5" dirty="0">
                <a:latin typeface="Arial"/>
                <a:cs typeface="Arial"/>
              </a:rPr>
              <a:t>PUTDOWN(C)</a:t>
            </a:r>
            <a:endParaRPr sz="2000">
              <a:latin typeface="Arial"/>
              <a:cs typeface="Arial"/>
            </a:endParaRPr>
          </a:p>
          <a:p>
            <a:pPr marL="511175" indent="-498475">
              <a:lnSpc>
                <a:spcPct val="100000"/>
              </a:lnSpc>
              <a:spcBef>
                <a:spcPts val="480"/>
              </a:spcBef>
              <a:buAutoNum type="arabicPeriod"/>
              <a:tabLst>
                <a:tab pos="511175" algn="l"/>
                <a:tab pos="511809" algn="l"/>
              </a:tabLst>
            </a:pPr>
            <a:r>
              <a:rPr sz="2000" dirty="0">
                <a:latin typeface="Arial"/>
                <a:cs typeface="Arial"/>
              </a:rPr>
              <a:t>PICKUP(A)</a:t>
            </a:r>
            <a:endParaRPr sz="2000">
              <a:latin typeface="Arial"/>
              <a:cs typeface="Arial"/>
            </a:endParaRPr>
          </a:p>
          <a:p>
            <a:pPr marL="511175" indent="-498475">
              <a:lnSpc>
                <a:spcPct val="100000"/>
              </a:lnSpc>
              <a:spcBef>
                <a:spcPts val="480"/>
              </a:spcBef>
              <a:buAutoNum type="arabicPeriod"/>
              <a:tabLst>
                <a:tab pos="511175" algn="l"/>
                <a:tab pos="511809" algn="l"/>
              </a:tabLst>
            </a:pPr>
            <a:r>
              <a:rPr sz="2000" spc="-5" dirty="0">
                <a:latin typeface="Arial"/>
                <a:cs typeface="Arial"/>
              </a:rPr>
              <a:t>STACK(A,</a:t>
            </a:r>
            <a:r>
              <a:rPr sz="2000" spc="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B)</a:t>
            </a:r>
            <a:endParaRPr sz="2000">
              <a:latin typeface="Arial"/>
              <a:cs typeface="Arial"/>
            </a:endParaRPr>
          </a:p>
          <a:p>
            <a:pPr marL="509270" indent="-496570">
              <a:lnSpc>
                <a:spcPct val="100000"/>
              </a:lnSpc>
              <a:spcBef>
                <a:spcPts val="465"/>
              </a:spcBef>
              <a:buAutoNum type="arabicPeriod"/>
              <a:tabLst>
                <a:tab pos="509270" algn="l"/>
                <a:tab pos="509905" algn="l"/>
              </a:tabLst>
            </a:pPr>
            <a:r>
              <a:rPr sz="2000" dirty="0">
                <a:latin typeface="Arial"/>
                <a:cs typeface="Arial"/>
              </a:rPr>
              <a:t>UNSTACK(A,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B)</a:t>
            </a:r>
            <a:endParaRPr sz="2000">
              <a:latin typeface="Arial"/>
              <a:cs typeface="Arial"/>
            </a:endParaRPr>
          </a:p>
          <a:p>
            <a:pPr marL="511175" indent="-498475">
              <a:lnSpc>
                <a:spcPct val="100000"/>
              </a:lnSpc>
              <a:spcBef>
                <a:spcPts val="480"/>
              </a:spcBef>
              <a:buAutoNum type="arabicPeriod"/>
              <a:tabLst>
                <a:tab pos="511175" algn="l"/>
                <a:tab pos="511809" algn="l"/>
              </a:tabLst>
            </a:pPr>
            <a:r>
              <a:rPr sz="2000" spc="-5" dirty="0">
                <a:latin typeface="Arial"/>
                <a:cs typeface="Arial"/>
              </a:rPr>
              <a:t>PUTDOWN(A)</a:t>
            </a:r>
            <a:endParaRPr sz="2000">
              <a:latin typeface="Arial"/>
              <a:cs typeface="Arial"/>
            </a:endParaRPr>
          </a:p>
          <a:p>
            <a:pPr marL="511175" indent="-498475">
              <a:lnSpc>
                <a:spcPct val="100000"/>
              </a:lnSpc>
              <a:spcBef>
                <a:spcPts val="470"/>
              </a:spcBef>
              <a:buAutoNum type="arabicPeriod"/>
              <a:tabLst>
                <a:tab pos="511175" algn="l"/>
                <a:tab pos="511809" algn="l"/>
              </a:tabLst>
            </a:pPr>
            <a:r>
              <a:rPr sz="2000" dirty="0">
                <a:latin typeface="Arial"/>
                <a:cs typeface="Arial"/>
              </a:rPr>
              <a:t>PICKUP(B)</a:t>
            </a:r>
            <a:endParaRPr sz="2000">
              <a:latin typeface="Arial"/>
              <a:cs typeface="Arial"/>
            </a:endParaRPr>
          </a:p>
          <a:p>
            <a:pPr marL="511175" indent="-498475">
              <a:lnSpc>
                <a:spcPct val="100000"/>
              </a:lnSpc>
              <a:spcBef>
                <a:spcPts val="480"/>
              </a:spcBef>
              <a:buAutoNum type="arabicPeriod"/>
              <a:tabLst>
                <a:tab pos="511175" algn="l"/>
                <a:tab pos="511809" algn="l"/>
              </a:tabLst>
            </a:pPr>
            <a:r>
              <a:rPr sz="2000" spc="-5" dirty="0">
                <a:latin typeface="Arial"/>
                <a:cs typeface="Arial"/>
              </a:rPr>
              <a:t>STACK(B, </a:t>
            </a:r>
            <a:r>
              <a:rPr sz="2000" dirty="0">
                <a:latin typeface="Arial"/>
                <a:cs typeface="Arial"/>
              </a:rPr>
              <a:t>C)</a:t>
            </a:r>
            <a:endParaRPr sz="2000">
              <a:latin typeface="Arial"/>
              <a:cs typeface="Arial"/>
            </a:endParaRPr>
          </a:p>
          <a:p>
            <a:pPr marL="511175" indent="-498475">
              <a:lnSpc>
                <a:spcPct val="100000"/>
              </a:lnSpc>
              <a:spcBef>
                <a:spcPts val="470"/>
              </a:spcBef>
              <a:buAutoNum type="arabicPeriod"/>
              <a:tabLst>
                <a:tab pos="511175" algn="l"/>
                <a:tab pos="511809" algn="l"/>
              </a:tabLst>
            </a:pPr>
            <a:r>
              <a:rPr sz="2000" dirty="0">
                <a:latin typeface="Arial"/>
                <a:cs typeface="Arial"/>
              </a:rPr>
              <a:t>PICKUP(A)</a:t>
            </a:r>
            <a:endParaRPr sz="2000">
              <a:latin typeface="Arial"/>
              <a:cs typeface="Arial"/>
            </a:endParaRPr>
          </a:p>
          <a:p>
            <a:pPr marL="508000" indent="-495300">
              <a:lnSpc>
                <a:spcPct val="100000"/>
              </a:lnSpc>
              <a:spcBef>
                <a:spcPts val="465"/>
              </a:spcBef>
              <a:buAutoNum type="arabicPeriod"/>
              <a:tabLst>
                <a:tab pos="508000" algn="l"/>
                <a:tab pos="508634" algn="l"/>
              </a:tabLst>
            </a:pPr>
            <a:r>
              <a:rPr sz="2000" dirty="0">
                <a:latin typeface="Arial"/>
                <a:cs typeface="Arial"/>
              </a:rPr>
              <a:t>STACK(A,</a:t>
            </a:r>
            <a:r>
              <a:rPr sz="2000" spc="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B)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54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dirty="0"/>
              <a:t>21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45382" y="1331467"/>
            <a:ext cx="416750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Goal </a:t>
            </a:r>
            <a:r>
              <a:rPr spc="-5" dirty="0"/>
              <a:t>Stack</a:t>
            </a:r>
            <a:r>
              <a:rPr spc="-80" dirty="0"/>
              <a:t> </a:t>
            </a:r>
            <a:r>
              <a:rPr spc="-5" dirty="0"/>
              <a:t>Planning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55139" y="2152903"/>
            <a:ext cx="2407285" cy="4227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Plan</a:t>
            </a:r>
            <a:endParaRPr sz="2400">
              <a:latin typeface="Arial"/>
              <a:cs typeface="Arial"/>
            </a:endParaRPr>
          </a:p>
          <a:p>
            <a:pPr marL="509270" indent="-496570">
              <a:lnSpc>
                <a:spcPct val="100000"/>
              </a:lnSpc>
              <a:spcBef>
                <a:spcPts val="1945"/>
              </a:spcBef>
              <a:buAutoNum type="arabicPeriod"/>
              <a:tabLst>
                <a:tab pos="509270" algn="l"/>
                <a:tab pos="509905" algn="l"/>
              </a:tabLst>
            </a:pPr>
            <a:r>
              <a:rPr sz="2000" dirty="0">
                <a:latin typeface="Arial"/>
                <a:cs typeface="Arial"/>
              </a:rPr>
              <a:t>UNSTACK(C,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A)</a:t>
            </a:r>
            <a:endParaRPr sz="2000">
              <a:latin typeface="Arial"/>
              <a:cs typeface="Arial"/>
            </a:endParaRPr>
          </a:p>
          <a:p>
            <a:pPr marL="511175" indent="-498475">
              <a:lnSpc>
                <a:spcPct val="100000"/>
              </a:lnSpc>
              <a:spcBef>
                <a:spcPts val="470"/>
              </a:spcBef>
              <a:buAutoNum type="arabicPeriod"/>
              <a:tabLst>
                <a:tab pos="511175" algn="l"/>
                <a:tab pos="511809" algn="l"/>
              </a:tabLst>
            </a:pPr>
            <a:r>
              <a:rPr sz="2000" spc="-5" dirty="0">
                <a:latin typeface="Arial"/>
                <a:cs typeface="Arial"/>
              </a:rPr>
              <a:t>PUTDOWN(C)</a:t>
            </a:r>
            <a:endParaRPr sz="2000">
              <a:latin typeface="Arial"/>
              <a:cs typeface="Arial"/>
            </a:endParaRPr>
          </a:p>
          <a:p>
            <a:pPr marL="511175" indent="-498475">
              <a:lnSpc>
                <a:spcPct val="100000"/>
              </a:lnSpc>
              <a:spcBef>
                <a:spcPts val="480"/>
              </a:spcBef>
              <a:buAutoNum type="arabicPeriod"/>
              <a:tabLst>
                <a:tab pos="511175" algn="l"/>
                <a:tab pos="511809" algn="l"/>
              </a:tabLst>
            </a:pPr>
            <a:r>
              <a:rPr sz="2000" dirty="0">
                <a:solidFill>
                  <a:srgbClr val="FF9900"/>
                </a:solidFill>
                <a:latin typeface="Arial"/>
                <a:cs typeface="Arial"/>
              </a:rPr>
              <a:t>PICKUP(A)</a:t>
            </a:r>
            <a:endParaRPr sz="2000">
              <a:latin typeface="Arial"/>
              <a:cs typeface="Arial"/>
            </a:endParaRPr>
          </a:p>
          <a:p>
            <a:pPr marL="511175" indent="-498475">
              <a:lnSpc>
                <a:spcPct val="100000"/>
              </a:lnSpc>
              <a:spcBef>
                <a:spcPts val="480"/>
              </a:spcBef>
              <a:buAutoNum type="arabicPeriod"/>
              <a:tabLst>
                <a:tab pos="511175" algn="l"/>
                <a:tab pos="511809" algn="l"/>
              </a:tabLst>
            </a:pPr>
            <a:r>
              <a:rPr sz="2000" spc="-5" dirty="0">
                <a:solidFill>
                  <a:srgbClr val="A50020"/>
                </a:solidFill>
                <a:latin typeface="Arial"/>
                <a:cs typeface="Arial"/>
              </a:rPr>
              <a:t>STACK(A,</a:t>
            </a:r>
            <a:r>
              <a:rPr sz="2000" spc="5" dirty="0">
                <a:solidFill>
                  <a:srgbClr val="A5002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A50020"/>
                </a:solidFill>
                <a:latin typeface="Arial"/>
                <a:cs typeface="Arial"/>
              </a:rPr>
              <a:t>B)</a:t>
            </a:r>
            <a:endParaRPr sz="2000">
              <a:latin typeface="Arial"/>
              <a:cs typeface="Arial"/>
            </a:endParaRPr>
          </a:p>
          <a:p>
            <a:pPr marL="509270" indent="-496570">
              <a:lnSpc>
                <a:spcPct val="100000"/>
              </a:lnSpc>
              <a:spcBef>
                <a:spcPts val="465"/>
              </a:spcBef>
              <a:buAutoNum type="arabicPeriod"/>
              <a:tabLst>
                <a:tab pos="509270" algn="l"/>
                <a:tab pos="509905" algn="l"/>
              </a:tabLst>
            </a:pPr>
            <a:r>
              <a:rPr sz="2000" dirty="0">
                <a:solidFill>
                  <a:srgbClr val="A50020"/>
                </a:solidFill>
                <a:latin typeface="Arial"/>
                <a:cs typeface="Arial"/>
              </a:rPr>
              <a:t>UNSTACK(A,</a:t>
            </a:r>
            <a:r>
              <a:rPr sz="2000" spc="-55" dirty="0">
                <a:solidFill>
                  <a:srgbClr val="A5002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A50020"/>
                </a:solidFill>
                <a:latin typeface="Arial"/>
                <a:cs typeface="Arial"/>
              </a:rPr>
              <a:t>B)</a:t>
            </a:r>
            <a:endParaRPr sz="2000">
              <a:latin typeface="Arial"/>
              <a:cs typeface="Arial"/>
            </a:endParaRPr>
          </a:p>
          <a:p>
            <a:pPr marL="511175" indent="-498475">
              <a:lnSpc>
                <a:spcPct val="100000"/>
              </a:lnSpc>
              <a:spcBef>
                <a:spcPts val="480"/>
              </a:spcBef>
              <a:buAutoNum type="arabicPeriod"/>
              <a:tabLst>
                <a:tab pos="511175" algn="l"/>
                <a:tab pos="511809" algn="l"/>
              </a:tabLst>
            </a:pPr>
            <a:r>
              <a:rPr sz="2000" spc="-5" dirty="0">
                <a:solidFill>
                  <a:srgbClr val="FF9900"/>
                </a:solidFill>
                <a:latin typeface="Arial"/>
                <a:cs typeface="Arial"/>
              </a:rPr>
              <a:t>PUTDOWN(A)</a:t>
            </a:r>
            <a:endParaRPr sz="2000">
              <a:latin typeface="Arial"/>
              <a:cs typeface="Arial"/>
            </a:endParaRPr>
          </a:p>
          <a:p>
            <a:pPr marL="511175" indent="-498475">
              <a:lnSpc>
                <a:spcPct val="100000"/>
              </a:lnSpc>
              <a:spcBef>
                <a:spcPts val="470"/>
              </a:spcBef>
              <a:buAutoNum type="arabicPeriod"/>
              <a:tabLst>
                <a:tab pos="511175" algn="l"/>
                <a:tab pos="511809" algn="l"/>
              </a:tabLst>
            </a:pPr>
            <a:r>
              <a:rPr sz="2000" dirty="0">
                <a:latin typeface="Arial"/>
                <a:cs typeface="Arial"/>
              </a:rPr>
              <a:t>PICKUP(B)</a:t>
            </a:r>
            <a:endParaRPr sz="2000">
              <a:latin typeface="Arial"/>
              <a:cs typeface="Arial"/>
            </a:endParaRPr>
          </a:p>
          <a:p>
            <a:pPr marL="511175" indent="-498475">
              <a:lnSpc>
                <a:spcPct val="100000"/>
              </a:lnSpc>
              <a:spcBef>
                <a:spcPts val="480"/>
              </a:spcBef>
              <a:buAutoNum type="arabicPeriod"/>
              <a:tabLst>
                <a:tab pos="511175" algn="l"/>
                <a:tab pos="511809" algn="l"/>
              </a:tabLst>
            </a:pPr>
            <a:r>
              <a:rPr sz="2000" spc="-5" dirty="0">
                <a:latin typeface="Arial"/>
                <a:cs typeface="Arial"/>
              </a:rPr>
              <a:t>STACK(B, </a:t>
            </a:r>
            <a:r>
              <a:rPr sz="2000" dirty="0">
                <a:latin typeface="Arial"/>
                <a:cs typeface="Arial"/>
              </a:rPr>
              <a:t>C)</a:t>
            </a:r>
            <a:endParaRPr sz="2000">
              <a:latin typeface="Arial"/>
              <a:cs typeface="Arial"/>
            </a:endParaRPr>
          </a:p>
          <a:p>
            <a:pPr marL="511175" indent="-498475">
              <a:lnSpc>
                <a:spcPct val="100000"/>
              </a:lnSpc>
              <a:spcBef>
                <a:spcPts val="470"/>
              </a:spcBef>
              <a:buAutoNum type="arabicPeriod"/>
              <a:tabLst>
                <a:tab pos="511175" algn="l"/>
                <a:tab pos="511809" algn="l"/>
              </a:tabLst>
            </a:pPr>
            <a:r>
              <a:rPr sz="2000" dirty="0">
                <a:latin typeface="Arial"/>
                <a:cs typeface="Arial"/>
              </a:rPr>
              <a:t>PICKUP(A)</a:t>
            </a:r>
            <a:endParaRPr sz="2000">
              <a:latin typeface="Arial"/>
              <a:cs typeface="Arial"/>
            </a:endParaRPr>
          </a:p>
          <a:p>
            <a:pPr marL="508000" indent="-495300">
              <a:lnSpc>
                <a:spcPct val="100000"/>
              </a:lnSpc>
              <a:spcBef>
                <a:spcPts val="465"/>
              </a:spcBef>
              <a:buAutoNum type="arabicPeriod"/>
              <a:tabLst>
                <a:tab pos="508000" algn="l"/>
                <a:tab pos="508634" algn="l"/>
              </a:tabLst>
            </a:pPr>
            <a:r>
              <a:rPr sz="2000" dirty="0">
                <a:latin typeface="Arial"/>
                <a:cs typeface="Arial"/>
              </a:rPr>
              <a:t>STACK(A,</a:t>
            </a:r>
            <a:r>
              <a:rPr sz="2000" spc="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B)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54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dirty="0"/>
              <a:t>22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86274" y="1331467"/>
            <a:ext cx="20847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Questions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1727" y="2457702"/>
            <a:ext cx="7233920" cy="2230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SzPct val="120833"/>
              <a:buFont typeface="Courier New"/>
              <a:buChar char="•"/>
              <a:tabLst>
                <a:tab pos="356235" algn="l"/>
              </a:tabLst>
            </a:pPr>
            <a:r>
              <a:rPr sz="2400" spc="-5" dirty="0">
                <a:latin typeface="Arial"/>
                <a:cs typeface="Arial"/>
              </a:rPr>
              <a:t>Why </a:t>
            </a: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stacks</a:t>
            </a:r>
            <a:r>
              <a:rPr sz="2400" spc="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used?</a:t>
            </a:r>
            <a:endParaRPr sz="24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2865"/>
              </a:spcBef>
              <a:buSzPct val="120833"/>
              <a:buFont typeface="Courier New"/>
              <a:buChar char="•"/>
              <a:tabLst>
                <a:tab pos="356235" algn="l"/>
              </a:tabLst>
            </a:pPr>
            <a:r>
              <a:rPr sz="2400" spc="-5" dirty="0">
                <a:latin typeface="Arial"/>
                <a:cs typeface="Arial"/>
              </a:rPr>
              <a:t>Why a </a:t>
            </a: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compound 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goal </a:t>
            </a: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retained </a:t>
            </a:r>
            <a:r>
              <a:rPr sz="2400" dirty="0">
                <a:latin typeface="Arial"/>
                <a:cs typeface="Arial"/>
              </a:rPr>
              <a:t>in </a:t>
            </a:r>
            <a:r>
              <a:rPr sz="2400" spc="-5" dirty="0">
                <a:latin typeface="Arial"/>
                <a:cs typeface="Arial"/>
              </a:rPr>
              <a:t>the stack with its  subgoals?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Courier New"/>
              <a:buChar char="•"/>
            </a:pPr>
            <a:endParaRPr sz="24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SzPct val="120833"/>
              <a:buFont typeface="Courier New"/>
              <a:buChar char="•"/>
              <a:tabLst>
                <a:tab pos="356235" algn="l"/>
              </a:tabLst>
            </a:pPr>
            <a:r>
              <a:rPr sz="2400" spc="-5" dirty="0">
                <a:latin typeface="Arial"/>
                <a:cs typeface="Arial"/>
              </a:rPr>
              <a:t>Does the </a:t>
            </a: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order of subgoals </a:t>
            </a:r>
            <a:r>
              <a:rPr sz="2400" dirty="0">
                <a:latin typeface="Arial"/>
                <a:cs typeface="Arial"/>
              </a:rPr>
              <a:t>in </a:t>
            </a:r>
            <a:r>
              <a:rPr sz="2400" spc="-10" dirty="0">
                <a:latin typeface="Arial"/>
                <a:cs typeface="Arial"/>
              </a:rPr>
              <a:t>the </a:t>
            </a:r>
            <a:r>
              <a:rPr sz="2400" spc="-5" dirty="0">
                <a:latin typeface="Arial"/>
                <a:cs typeface="Arial"/>
              </a:rPr>
              <a:t>stack</a:t>
            </a:r>
            <a:r>
              <a:rPr sz="2400" spc="2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matter?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54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dirty="0"/>
              <a:t>23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77059" y="1331467"/>
            <a:ext cx="63036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Linear </a:t>
            </a:r>
            <a:r>
              <a:rPr dirty="0"/>
              <a:t>vs. </a:t>
            </a:r>
            <a:r>
              <a:rPr spc="-5" dirty="0"/>
              <a:t>Non-Linear</a:t>
            </a:r>
            <a:r>
              <a:rPr spc="-30" dirty="0"/>
              <a:t> </a:t>
            </a:r>
            <a:r>
              <a:rPr spc="-5" dirty="0"/>
              <a:t>Planning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1732" y="2457702"/>
            <a:ext cx="6847205" cy="185166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355600" marR="41910" indent="-342900">
              <a:lnSpc>
                <a:spcPts val="2870"/>
              </a:lnSpc>
              <a:spcBef>
                <a:spcPts val="200"/>
              </a:spcBef>
              <a:buSzPct val="120833"/>
              <a:buFont typeface="Courier New"/>
              <a:buChar char="•"/>
              <a:tabLst>
                <a:tab pos="356235" algn="l"/>
              </a:tabLst>
            </a:pPr>
            <a:r>
              <a:rPr sz="2400" spc="-5" dirty="0">
                <a:latin typeface="Arial"/>
                <a:cs typeface="Arial"/>
              </a:rPr>
              <a:t>Goal Stack planning is </a:t>
            </a: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linear</a:t>
            </a:r>
            <a:r>
              <a:rPr sz="2400" spc="-5" dirty="0">
                <a:latin typeface="Arial"/>
                <a:cs typeface="Arial"/>
              </a:rPr>
              <a:t>: satisfies subgoals  sequentially, </a:t>
            </a:r>
            <a:r>
              <a:rPr sz="2400" spc="-10" dirty="0">
                <a:latin typeface="Arial"/>
                <a:cs typeface="Arial"/>
              </a:rPr>
              <a:t>one </a:t>
            </a:r>
            <a:r>
              <a:rPr sz="2400" spc="-5" dirty="0">
                <a:latin typeface="Arial"/>
                <a:cs typeface="Arial"/>
              </a:rPr>
              <a:t>after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another.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Courier New"/>
              <a:buChar char="•"/>
            </a:pPr>
            <a:endParaRPr sz="2500">
              <a:latin typeface="Times New Roman"/>
              <a:cs typeface="Times New Roman"/>
            </a:endParaRPr>
          </a:p>
          <a:p>
            <a:pPr marL="355600" marR="5080" indent="-342900">
              <a:lnSpc>
                <a:spcPts val="2870"/>
              </a:lnSpc>
              <a:buClr>
                <a:srgbClr val="000000"/>
              </a:buClr>
              <a:buSzPct val="120833"/>
              <a:buFont typeface="Courier New"/>
              <a:buChar char="•"/>
              <a:tabLst>
                <a:tab pos="356235" algn="l"/>
              </a:tabLst>
            </a:pP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Non-linear planning</a:t>
            </a:r>
            <a:r>
              <a:rPr sz="2400" spc="-5" dirty="0">
                <a:latin typeface="Arial"/>
                <a:cs typeface="Arial"/>
              </a:rPr>
              <a:t>: consider interaction among  subgoals.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54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dirty="0"/>
              <a:t>24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22266" y="1331467"/>
            <a:ext cx="22117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Homework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1733" y="2457702"/>
            <a:ext cx="4772660" cy="1003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Excercises: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5"/>
              </a:spcBef>
            </a:pPr>
            <a:r>
              <a:rPr sz="2000" dirty="0">
                <a:latin typeface="Arial"/>
                <a:cs typeface="Arial"/>
              </a:rPr>
              <a:t>1-4, Chapter 13, Rich&amp;Knight </a:t>
            </a:r>
            <a:r>
              <a:rPr sz="2000" spc="-5" dirty="0">
                <a:latin typeface="Arial"/>
                <a:cs typeface="Arial"/>
              </a:rPr>
              <a:t>AI </a:t>
            </a:r>
            <a:r>
              <a:rPr sz="2000" dirty="0">
                <a:latin typeface="Arial"/>
                <a:cs typeface="Arial"/>
              </a:rPr>
              <a:t>Textbook  Chapter 7 </a:t>
            </a:r>
            <a:r>
              <a:rPr sz="2000" spc="-5" dirty="0">
                <a:latin typeface="Arial"/>
                <a:cs typeface="Arial"/>
              </a:rPr>
              <a:t>of </a:t>
            </a:r>
            <a:r>
              <a:rPr sz="2000" dirty="0">
                <a:latin typeface="Arial"/>
                <a:cs typeface="Arial"/>
              </a:rPr>
              <a:t>the Vietnamese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Textbook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1009</Words>
  <Application>Microsoft Office PowerPoint</Application>
  <PresentationFormat>Custom</PresentationFormat>
  <Paragraphs>235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Calibri</vt:lpstr>
      <vt:lpstr>Courier New</vt:lpstr>
      <vt:lpstr>DejaVu Sans</vt:lpstr>
      <vt:lpstr>Symbol</vt:lpstr>
      <vt:lpstr>Times New Roman</vt:lpstr>
      <vt:lpstr>Office Theme</vt:lpstr>
      <vt:lpstr>PowerPoint Presentation</vt:lpstr>
      <vt:lpstr>Overview</vt:lpstr>
      <vt:lpstr>Overview</vt:lpstr>
      <vt:lpstr>Overview</vt:lpstr>
      <vt:lpstr>Overview</vt:lpstr>
      <vt:lpstr>Overview</vt:lpstr>
      <vt:lpstr>The Blocks World</vt:lpstr>
      <vt:lpstr>The Blocks World</vt:lpstr>
      <vt:lpstr>The Blocks World</vt:lpstr>
      <vt:lpstr>The Blocks World</vt:lpstr>
      <vt:lpstr>The Blocks World</vt:lpstr>
      <vt:lpstr>The Blocks World</vt:lpstr>
      <vt:lpstr>The Blocks World</vt:lpstr>
      <vt:lpstr>Goal Stack Planning</vt:lpstr>
      <vt:lpstr>Goal Stack Planning</vt:lpstr>
      <vt:lpstr>Goal Stack Planning</vt:lpstr>
      <vt:lpstr>Goal Stack Planning</vt:lpstr>
      <vt:lpstr>Goal Stack Planning</vt:lpstr>
      <vt:lpstr>Goal Stack Planning</vt:lpstr>
      <vt:lpstr>Goal Stack Planning</vt:lpstr>
      <vt:lpstr>Goal Stack Planning</vt:lpstr>
      <vt:lpstr>Questions</vt:lpstr>
      <vt:lpstr>Linear vs. Non-Linear Planning</vt:lpstr>
      <vt:lpstr>Homework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chapter10.ppt</dc:title>
  <dc:creator>Tru</dc:creator>
  <cp:lastModifiedBy>Dipti</cp:lastModifiedBy>
  <cp:revision>2</cp:revision>
  <dcterms:created xsi:type="dcterms:W3CDTF">2018-07-22T08:31:50Z</dcterms:created>
  <dcterms:modified xsi:type="dcterms:W3CDTF">2018-07-22T08:32:47Z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2009-04-29T00:00:00Z</vt:filetime>
  </property>
  <property fmtid="{D5CDD505-2E9C-101B-9397-08002B2CF9AE}" pid="3" name="Creator">
    <vt:lpwstr>PScript5.dll Version 5.2.2</vt:lpwstr>
  </property>
  <property fmtid="{D5CDD505-2E9C-101B-9397-08002B2CF9AE}" pid="4" name="LastSaved">
    <vt:filetime>2018-07-22T00:00:00Z</vt:filetime>
  </property>
</Properties>
</file>