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3"/>
  </p:notesMasterIdLst>
  <p:sldIdLst>
    <p:sldId id="256" r:id="rId2"/>
    <p:sldId id="346" r:id="rId3"/>
    <p:sldId id="273" r:id="rId4"/>
    <p:sldId id="257" r:id="rId5"/>
    <p:sldId id="271" r:id="rId6"/>
    <p:sldId id="272" r:id="rId7"/>
    <p:sldId id="267" r:id="rId8"/>
    <p:sldId id="268" r:id="rId9"/>
    <p:sldId id="269" r:id="rId10"/>
    <p:sldId id="270"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 id="291" r:id="rId29"/>
    <p:sldId id="292" r:id="rId30"/>
    <p:sldId id="293" r:id="rId31"/>
    <p:sldId id="294" r:id="rId32"/>
    <p:sldId id="295" r:id="rId33"/>
    <p:sldId id="258" r:id="rId34"/>
    <p:sldId id="259" r:id="rId35"/>
    <p:sldId id="260" r:id="rId36"/>
    <p:sldId id="261" r:id="rId37"/>
    <p:sldId id="262" r:id="rId38"/>
    <p:sldId id="263" r:id="rId39"/>
    <p:sldId id="264" r:id="rId40"/>
    <p:sldId id="26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266" r:id="rId9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FF85FF"/>
    <a:srgbClr val="943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6"/>
  </p:normalViewPr>
  <p:slideViewPr>
    <p:cSldViewPr snapToGrid="0">
      <p:cViewPr varScale="1">
        <p:scale>
          <a:sx n="77" d="100"/>
          <a:sy n="77" d="100"/>
        </p:scale>
        <p:origin x="80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EB64CF-DC56-A348-9517-947624F4107E}" type="datetimeFigureOut">
              <a:rPr lang="en-US" smtClean="0"/>
              <a:t>10/21/2024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1CA64A-D38C-6E4B-A26A-872295F0555B}" type="slidenum">
              <a:rPr lang="en-US" smtClean="0"/>
              <a:t>‹#›</a:t>
            </a:fld>
            <a:endParaRPr lang="en-US"/>
          </a:p>
        </p:txBody>
      </p:sp>
    </p:spTree>
    <p:extLst>
      <p:ext uri="{BB962C8B-B14F-4D97-AF65-F5344CB8AC3E}">
        <p14:creationId xmlns:p14="http://schemas.microsoft.com/office/powerpoint/2010/main" val="3880904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6111A-96D7-AF4F-0350-B04FA159713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A745627C-17D6-F33D-91D6-82185EAFFF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28C62B8F-8A88-2584-BAC9-9FCD7E9CFA9D}"/>
              </a:ext>
            </a:extLst>
          </p:cNvPr>
          <p:cNvSpPr>
            <a:spLocks noGrp="1"/>
          </p:cNvSpPr>
          <p:nvPr>
            <p:ph type="dt" sz="half" idx="10"/>
          </p:nvPr>
        </p:nvSpPr>
        <p:spPr/>
        <p:txBody>
          <a:bodyPr/>
          <a:lstStyle/>
          <a:p>
            <a:fld id="{512BDABB-1608-6044-ACA8-7FBBA5DBE893}" type="datetime1">
              <a:rPr lang="en-IN" smtClean="0"/>
              <a:t>21-10-2024</a:t>
            </a:fld>
            <a:endParaRPr lang="en-US"/>
          </a:p>
        </p:txBody>
      </p:sp>
      <p:sp>
        <p:nvSpPr>
          <p:cNvPr id="5" name="Footer Placeholder 4">
            <a:extLst>
              <a:ext uri="{FF2B5EF4-FFF2-40B4-BE49-F238E27FC236}">
                <a16:creationId xmlns:a16="http://schemas.microsoft.com/office/drawing/2014/main" id="{7E7DFC9C-58C8-D60B-305A-943F7C043B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145697-19C3-BCF4-7861-944ACB264660}"/>
              </a:ext>
            </a:extLst>
          </p:cNvPr>
          <p:cNvSpPr>
            <a:spLocks noGrp="1"/>
          </p:cNvSpPr>
          <p:nvPr>
            <p:ph type="sldNum" sz="quarter" idx="12"/>
          </p:nvPr>
        </p:nvSpPr>
        <p:spPr/>
        <p:txBody>
          <a:bodyPr/>
          <a:lstStyle/>
          <a:p>
            <a:fld id="{645DDD17-9A15-AE4D-9CC4-9253E384646F}" type="slidenum">
              <a:rPr lang="en-US" smtClean="0"/>
              <a:t>‹#›</a:t>
            </a:fld>
            <a:endParaRPr lang="en-US"/>
          </a:p>
        </p:txBody>
      </p:sp>
    </p:spTree>
    <p:extLst>
      <p:ext uri="{BB962C8B-B14F-4D97-AF65-F5344CB8AC3E}">
        <p14:creationId xmlns:p14="http://schemas.microsoft.com/office/powerpoint/2010/main" val="2830390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22C7A-1F17-684F-A567-5458319BE36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E2A59E7-2A6A-3D42-A386-40FEEA04D95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33B68B5-7400-8699-E5E3-47B6FEF67E8B}"/>
              </a:ext>
            </a:extLst>
          </p:cNvPr>
          <p:cNvSpPr>
            <a:spLocks noGrp="1"/>
          </p:cNvSpPr>
          <p:nvPr>
            <p:ph type="dt" sz="half" idx="10"/>
          </p:nvPr>
        </p:nvSpPr>
        <p:spPr/>
        <p:txBody>
          <a:bodyPr/>
          <a:lstStyle/>
          <a:p>
            <a:fld id="{A9148C48-2640-1D46-AAAE-1E2694619CDB}" type="datetime1">
              <a:rPr lang="en-IN" smtClean="0"/>
              <a:t>21-10-2024</a:t>
            </a:fld>
            <a:endParaRPr lang="en-US"/>
          </a:p>
        </p:txBody>
      </p:sp>
      <p:sp>
        <p:nvSpPr>
          <p:cNvPr id="5" name="Footer Placeholder 4">
            <a:extLst>
              <a:ext uri="{FF2B5EF4-FFF2-40B4-BE49-F238E27FC236}">
                <a16:creationId xmlns:a16="http://schemas.microsoft.com/office/drawing/2014/main" id="{4CF449BC-B809-60C8-B00D-12FB737BB2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02CFAB-4044-5C0E-A281-52B38D2626D4}"/>
              </a:ext>
            </a:extLst>
          </p:cNvPr>
          <p:cNvSpPr>
            <a:spLocks noGrp="1"/>
          </p:cNvSpPr>
          <p:nvPr>
            <p:ph type="sldNum" sz="quarter" idx="12"/>
          </p:nvPr>
        </p:nvSpPr>
        <p:spPr/>
        <p:txBody>
          <a:bodyPr/>
          <a:lstStyle/>
          <a:p>
            <a:fld id="{645DDD17-9A15-AE4D-9CC4-9253E384646F}" type="slidenum">
              <a:rPr lang="en-US" smtClean="0"/>
              <a:t>‹#›</a:t>
            </a:fld>
            <a:endParaRPr lang="en-US"/>
          </a:p>
        </p:txBody>
      </p:sp>
    </p:spTree>
    <p:extLst>
      <p:ext uri="{BB962C8B-B14F-4D97-AF65-F5344CB8AC3E}">
        <p14:creationId xmlns:p14="http://schemas.microsoft.com/office/powerpoint/2010/main" val="76219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0E1FF-D693-D3EF-BFBC-15C80DA4DC5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1CCFFAF-F30E-E4CD-3A10-74C41683A0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8BF7050-A147-F22C-FF97-DBCE95622063}"/>
              </a:ext>
            </a:extLst>
          </p:cNvPr>
          <p:cNvSpPr>
            <a:spLocks noGrp="1"/>
          </p:cNvSpPr>
          <p:nvPr>
            <p:ph type="dt" sz="half" idx="10"/>
          </p:nvPr>
        </p:nvSpPr>
        <p:spPr/>
        <p:txBody>
          <a:bodyPr/>
          <a:lstStyle/>
          <a:p>
            <a:fld id="{A32C7E3D-C1CB-374F-B767-E900F4EB7E16}" type="datetime1">
              <a:rPr lang="en-IN" smtClean="0"/>
              <a:t>21-10-2024</a:t>
            </a:fld>
            <a:endParaRPr lang="en-US"/>
          </a:p>
        </p:txBody>
      </p:sp>
      <p:sp>
        <p:nvSpPr>
          <p:cNvPr id="5" name="Footer Placeholder 4">
            <a:extLst>
              <a:ext uri="{FF2B5EF4-FFF2-40B4-BE49-F238E27FC236}">
                <a16:creationId xmlns:a16="http://schemas.microsoft.com/office/drawing/2014/main" id="{F1C53718-98A8-2777-5A92-816E003535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685E70-8F39-8F2C-8EED-6F7A7221E1B6}"/>
              </a:ext>
            </a:extLst>
          </p:cNvPr>
          <p:cNvSpPr>
            <a:spLocks noGrp="1"/>
          </p:cNvSpPr>
          <p:nvPr>
            <p:ph type="sldNum" sz="quarter" idx="12"/>
          </p:nvPr>
        </p:nvSpPr>
        <p:spPr/>
        <p:txBody>
          <a:bodyPr/>
          <a:lstStyle/>
          <a:p>
            <a:fld id="{645DDD17-9A15-AE4D-9CC4-9253E384646F}" type="slidenum">
              <a:rPr lang="en-US" smtClean="0"/>
              <a:t>‹#›</a:t>
            </a:fld>
            <a:endParaRPr lang="en-US"/>
          </a:p>
        </p:txBody>
      </p:sp>
    </p:spTree>
    <p:extLst>
      <p:ext uri="{BB962C8B-B14F-4D97-AF65-F5344CB8AC3E}">
        <p14:creationId xmlns:p14="http://schemas.microsoft.com/office/powerpoint/2010/main" val="262628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07D4D-81CA-78F1-4174-A65D99D4053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7BCEBD8-AC94-6E57-E4A0-FAAD433CBCA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ED6C45D-2CE5-8C81-73A8-4847D94A22C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140C77F-7C88-A124-A1AF-7866C4DF2EDB}"/>
              </a:ext>
            </a:extLst>
          </p:cNvPr>
          <p:cNvSpPr>
            <a:spLocks noGrp="1"/>
          </p:cNvSpPr>
          <p:nvPr>
            <p:ph type="dt" sz="half" idx="10"/>
          </p:nvPr>
        </p:nvSpPr>
        <p:spPr/>
        <p:txBody>
          <a:bodyPr/>
          <a:lstStyle/>
          <a:p>
            <a:fld id="{98B4967A-D4C4-1747-9227-13C7BB3B6539}" type="datetime1">
              <a:rPr lang="en-IN" smtClean="0"/>
              <a:t>21-10-2024</a:t>
            </a:fld>
            <a:endParaRPr lang="en-US"/>
          </a:p>
        </p:txBody>
      </p:sp>
      <p:sp>
        <p:nvSpPr>
          <p:cNvPr id="6" name="Footer Placeholder 5">
            <a:extLst>
              <a:ext uri="{FF2B5EF4-FFF2-40B4-BE49-F238E27FC236}">
                <a16:creationId xmlns:a16="http://schemas.microsoft.com/office/drawing/2014/main" id="{8DDB83C7-C041-0E4F-0C34-70B625092E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59C06B-BEA8-4E5D-AF8A-9AC13CF1932A}"/>
              </a:ext>
            </a:extLst>
          </p:cNvPr>
          <p:cNvSpPr>
            <a:spLocks noGrp="1"/>
          </p:cNvSpPr>
          <p:nvPr>
            <p:ph type="sldNum" sz="quarter" idx="12"/>
          </p:nvPr>
        </p:nvSpPr>
        <p:spPr/>
        <p:txBody>
          <a:bodyPr/>
          <a:lstStyle/>
          <a:p>
            <a:fld id="{645DDD17-9A15-AE4D-9CC4-9253E384646F}" type="slidenum">
              <a:rPr lang="en-US" smtClean="0"/>
              <a:t>‹#›</a:t>
            </a:fld>
            <a:endParaRPr lang="en-US"/>
          </a:p>
        </p:txBody>
      </p:sp>
    </p:spTree>
    <p:extLst>
      <p:ext uri="{BB962C8B-B14F-4D97-AF65-F5344CB8AC3E}">
        <p14:creationId xmlns:p14="http://schemas.microsoft.com/office/powerpoint/2010/main" val="3286811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CF02B-1FC6-83B9-CD58-0D728639418F}"/>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86353AC-5BEA-F2EE-8C65-02D834BAC7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9427A11-F7B1-F560-8983-A51F8DD6453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2787804F-7483-F2E7-6B90-694A7AE4DA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35660BC-C312-A56B-DA96-48CFBC9DE7F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CFBA3355-6315-F031-C71C-3E549F6FB2F5}"/>
              </a:ext>
            </a:extLst>
          </p:cNvPr>
          <p:cNvSpPr>
            <a:spLocks noGrp="1"/>
          </p:cNvSpPr>
          <p:nvPr>
            <p:ph type="dt" sz="half" idx="10"/>
          </p:nvPr>
        </p:nvSpPr>
        <p:spPr/>
        <p:txBody>
          <a:bodyPr/>
          <a:lstStyle/>
          <a:p>
            <a:fld id="{ACE93595-1A09-EB4A-A225-887473FE6819}" type="datetime1">
              <a:rPr lang="en-IN" smtClean="0"/>
              <a:t>21-10-2024</a:t>
            </a:fld>
            <a:endParaRPr lang="en-US"/>
          </a:p>
        </p:txBody>
      </p:sp>
      <p:sp>
        <p:nvSpPr>
          <p:cNvPr id="8" name="Footer Placeholder 7">
            <a:extLst>
              <a:ext uri="{FF2B5EF4-FFF2-40B4-BE49-F238E27FC236}">
                <a16:creationId xmlns:a16="http://schemas.microsoft.com/office/drawing/2014/main" id="{27574883-9798-9AB4-EAFE-14BFD1715AD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F63650-F761-8339-2CFB-25FBADBE156D}"/>
              </a:ext>
            </a:extLst>
          </p:cNvPr>
          <p:cNvSpPr>
            <a:spLocks noGrp="1"/>
          </p:cNvSpPr>
          <p:nvPr>
            <p:ph type="sldNum" sz="quarter" idx="12"/>
          </p:nvPr>
        </p:nvSpPr>
        <p:spPr/>
        <p:txBody>
          <a:bodyPr/>
          <a:lstStyle/>
          <a:p>
            <a:fld id="{645DDD17-9A15-AE4D-9CC4-9253E384646F}" type="slidenum">
              <a:rPr lang="en-US" smtClean="0"/>
              <a:t>‹#›</a:t>
            </a:fld>
            <a:endParaRPr lang="en-US"/>
          </a:p>
        </p:txBody>
      </p:sp>
    </p:spTree>
    <p:extLst>
      <p:ext uri="{BB962C8B-B14F-4D97-AF65-F5344CB8AC3E}">
        <p14:creationId xmlns:p14="http://schemas.microsoft.com/office/powerpoint/2010/main" val="2984347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AF49A-4B0A-E0EE-5360-B8368B534B2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977CF363-959F-53B5-81DC-E6FDAC34CC52}"/>
              </a:ext>
            </a:extLst>
          </p:cNvPr>
          <p:cNvSpPr>
            <a:spLocks noGrp="1"/>
          </p:cNvSpPr>
          <p:nvPr>
            <p:ph type="dt" sz="half" idx="10"/>
          </p:nvPr>
        </p:nvSpPr>
        <p:spPr/>
        <p:txBody>
          <a:bodyPr/>
          <a:lstStyle/>
          <a:p>
            <a:fld id="{6B0259A4-EF85-B449-9500-6EB39D2A60C3}" type="datetime1">
              <a:rPr lang="en-IN" smtClean="0"/>
              <a:t>21-10-2024</a:t>
            </a:fld>
            <a:endParaRPr lang="en-US"/>
          </a:p>
        </p:txBody>
      </p:sp>
      <p:sp>
        <p:nvSpPr>
          <p:cNvPr id="4" name="Footer Placeholder 3">
            <a:extLst>
              <a:ext uri="{FF2B5EF4-FFF2-40B4-BE49-F238E27FC236}">
                <a16:creationId xmlns:a16="http://schemas.microsoft.com/office/drawing/2014/main" id="{1D0D0F39-D15D-CEE0-FE2F-029A752C339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87ACBE-0137-C26C-7024-9C06A3ABC8F9}"/>
              </a:ext>
            </a:extLst>
          </p:cNvPr>
          <p:cNvSpPr>
            <a:spLocks noGrp="1"/>
          </p:cNvSpPr>
          <p:nvPr>
            <p:ph type="sldNum" sz="quarter" idx="12"/>
          </p:nvPr>
        </p:nvSpPr>
        <p:spPr/>
        <p:txBody>
          <a:bodyPr/>
          <a:lstStyle/>
          <a:p>
            <a:fld id="{645DDD17-9A15-AE4D-9CC4-9253E384646F}" type="slidenum">
              <a:rPr lang="en-US" smtClean="0"/>
              <a:t>‹#›</a:t>
            </a:fld>
            <a:endParaRPr lang="en-US"/>
          </a:p>
        </p:txBody>
      </p:sp>
    </p:spTree>
    <p:extLst>
      <p:ext uri="{BB962C8B-B14F-4D97-AF65-F5344CB8AC3E}">
        <p14:creationId xmlns:p14="http://schemas.microsoft.com/office/powerpoint/2010/main" val="2509133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946FC1-9072-6E7C-C146-6A2CB4DA66A1}"/>
              </a:ext>
            </a:extLst>
          </p:cNvPr>
          <p:cNvSpPr>
            <a:spLocks noGrp="1"/>
          </p:cNvSpPr>
          <p:nvPr>
            <p:ph type="dt" sz="half" idx="10"/>
          </p:nvPr>
        </p:nvSpPr>
        <p:spPr/>
        <p:txBody>
          <a:bodyPr/>
          <a:lstStyle/>
          <a:p>
            <a:fld id="{4F7DBE19-107C-7948-B4F0-F2B7E29DD5A8}" type="datetime1">
              <a:rPr lang="en-IN" smtClean="0"/>
              <a:t>21-10-2024</a:t>
            </a:fld>
            <a:endParaRPr lang="en-US"/>
          </a:p>
        </p:txBody>
      </p:sp>
      <p:sp>
        <p:nvSpPr>
          <p:cNvPr id="3" name="Footer Placeholder 2">
            <a:extLst>
              <a:ext uri="{FF2B5EF4-FFF2-40B4-BE49-F238E27FC236}">
                <a16:creationId xmlns:a16="http://schemas.microsoft.com/office/drawing/2014/main" id="{5B771D0B-BFD4-554B-BD00-6FF39B4D11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B36A4A-2F27-5CB8-0764-99338C07111E}"/>
              </a:ext>
            </a:extLst>
          </p:cNvPr>
          <p:cNvSpPr>
            <a:spLocks noGrp="1"/>
          </p:cNvSpPr>
          <p:nvPr>
            <p:ph type="sldNum" sz="quarter" idx="12"/>
          </p:nvPr>
        </p:nvSpPr>
        <p:spPr/>
        <p:txBody>
          <a:bodyPr/>
          <a:lstStyle/>
          <a:p>
            <a:fld id="{645DDD17-9A15-AE4D-9CC4-9253E384646F}" type="slidenum">
              <a:rPr lang="en-US" smtClean="0"/>
              <a:t>‹#›</a:t>
            </a:fld>
            <a:endParaRPr lang="en-US"/>
          </a:p>
        </p:txBody>
      </p:sp>
    </p:spTree>
    <p:extLst>
      <p:ext uri="{BB962C8B-B14F-4D97-AF65-F5344CB8AC3E}">
        <p14:creationId xmlns:p14="http://schemas.microsoft.com/office/powerpoint/2010/main" val="2754631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7F2CF-AD25-255F-EAB6-C70A9532ED0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75E34C4C-3DB9-31F3-0F7B-9CB35CCBCD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979ADA3E-7FF1-8DAD-8CDE-02038CFB0B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1E4C516-170A-93CA-7672-60AB39B37098}"/>
              </a:ext>
            </a:extLst>
          </p:cNvPr>
          <p:cNvSpPr>
            <a:spLocks noGrp="1"/>
          </p:cNvSpPr>
          <p:nvPr>
            <p:ph type="dt" sz="half" idx="10"/>
          </p:nvPr>
        </p:nvSpPr>
        <p:spPr/>
        <p:txBody>
          <a:bodyPr/>
          <a:lstStyle/>
          <a:p>
            <a:fld id="{B0520936-B6F1-654F-9D2E-1969A804BB3F}" type="datetime1">
              <a:rPr lang="en-IN" smtClean="0"/>
              <a:t>21-10-2024</a:t>
            </a:fld>
            <a:endParaRPr lang="en-US"/>
          </a:p>
        </p:txBody>
      </p:sp>
      <p:sp>
        <p:nvSpPr>
          <p:cNvPr id="6" name="Footer Placeholder 5">
            <a:extLst>
              <a:ext uri="{FF2B5EF4-FFF2-40B4-BE49-F238E27FC236}">
                <a16:creationId xmlns:a16="http://schemas.microsoft.com/office/drawing/2014/main" id="{7FE22CE4-1C10-9CDB-F3DC-7AF92D6100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21B017-AC47-A2EA-3F06-DB7D4EA7D000}"/>
              </a:ext>
            </a:extLst>
          </p:cNvPr>
          <p:cNvSpPr>
            <a:spLocks noGrp="1"/>
          </p:cNvSpPr>
          <p:nvPr>
            <p:ph type="sldNum" sz="quarter" idx="12"/>
          </p:nvPr>
        </p:nvSpPr>
        <p:spPr/>
        <p:txBody>
          <a:bodyPr/>
          <a:lstStyle/>
          <a:p>
            <a:fld id="{645DDD17-9A15-AE4D-9CC4-9253E384646F}" type="slidenum">
              <a:rPr lang="en-US" smtClean="0"/>
              <a:t>‹#›</a:t>
            </a:fld>
            <a:endParaRPr lang="en-US"/>
          </a:p>
        </p:txBody>
      </p:sp>
    </p:spTree>
    <p:extLst>
      <p:ext uri="{BB962C8B-B14F-4D97-AF65-F5344CB8AC3E}">
        <p14:creationId xmlns:p14="http://schemas.microsoft.com/office/powerpoint/2010/main" val="2881473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5EA3E-0D7E-9297-205D-96F3AECC39B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F36429F-ABD9-7670-D510-B33C41D7A2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CCC3A4E-465E-CF1A-E3CD-D5E4BF5EE4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C311E22-0485-9DD9-F22B-A8711A116B80}"/>
              </a:ext>
            </a:extLst>
          </p:cNvPr>
          <p:cNvSpPr>
            <a:spLocks noGrp="1"/>
          </p:cNvSpPr>
          <p:nvPr>
            <p:ph type="dt" sz="half" idx="10"/>
          </p:nvPr>
        </p:nvSpPr>
        <p:spPr/>
        <p:txBody>
          <a:bodyPr/>
          <a:lstStyle/>
          <a:p>
            <a:fld id="{51B4211E-0D9F-F04B-AE3F-96E3773FA521}" type="datetime1">
              <a:rPr lang="en-IN" smtClean="0"/>
              <a:t>21-10-2024</a:t>
            </a:fld>
            <a:endParaRPr lang="en-US"/>
          </a:p>
        </p:txBody>
      </p:sp>
      <p:sp>
        <p:nvSpPr>
          <p:cNvPr id="6" name="Footer Placeholder 5">
            <a:extLst>
              <a:ext uri="{FF2B5EF4-FFF2-40B4-BE49-F238E27FC236}">
                <a16:creationId xmlns:a16="http://schemas.microsoft.com/office/drawing/2014/main" id="{9F5D5A1B-40EB-665C-B3B5-68F94772DF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525538-A492-3047-67A2-296FA4BC1262}"/>
              </a:ext>
            </a:extLst>
          </p:cNvPr>
          <p:cNvSpPr>
            <a:spLocks noGrp="1"/>
          </p:cNvSpPr>
          <p:nvPr>
            <p:ph type="sldNum" sz="quarter" idx="12"/>
          </p:nvPr>
        </p:nvSpPr>
        <p:spPr/>
        <p:txBody>
          <a:bodyPr/>
          <a:lstStyle/>
          <a:p>
            <a:fld id="{645DDD17-9A15-AE4D-9CC4-9253E384646F}" type="slidenum">
              <a:rPr lang="en-US" smtClean="0"/>
              <a:t>‹#›</a:t>
            </a:fld>
            <a:endParaRPr lang="en-US"/>
          </a:p>
        </p:txBody>
      </p:sp>
    </p:spTree>
    <p:extLst>
      <p:ext uri="{BB962C8B-B14F-4D97-AF65-F5344CB8AC3E}">
        <p14:creationId xmlns:p14="http://schemas.microsoft.com/office/powerpoint/2010/main" val="3013555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2076C-2832-377A-4DC0-6ADE575D4208}"/>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EB1F7DC-6BE6-4213-2EE7-3A72722C24F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DA6498D-886C-E31C-371E-BC3CC909C53C}"/>
              </a:ext>
            </a:extLst>
          </p:cNvPr>
          <p:cNvSpPr>
            <a:spLocks noGrp="1"/>
          </p:cNvSpPr>
          <p:nvPr>
            <p:ph type="dt" sz="half" idx="10"/>
          </p:nvPr>
        </p:nvSpPr>
        <p:spPr/>
        <p:txBody>
          <a:bodyPr/>
          <a:lstStyle/>
          <a:p>
            <a:fld id="{0945531C-4005-E340-9943-48BC31015A71}" type="datetime1">
              <a:rPr lang="en-IN" smtClean="0"/>
              <a:t>21-10-2024</a:t>
            </a:fld>
            <a:endParaRPr lang="en-US"/>
          </a:p>
        </p:txBody>
      </p:sp>
      <p:sp>
        <p:nvSpPr>
          <p:cNvPr id="5" name="Footer Placeholder 4">
            <a:extLst>
              <a:ext uri="{FF2B5EF4-FFF2-40B4-BE49-F238E27FC236}">
                <a16:creationId xmlns:a16="http://schemas.microsoft.com/office/drawing/2014/main" id="{E4D81B6A-145B-B4E8-AF5D-358D9213C4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31CF47-6C71-EF08-4126-7A27744CE14F}"/>
              </a:ext>
            </a:extLst>
          </p:cNvPr>
          <p:cNvSpPr>
            <a:spLocks noGrp="1"/>
          </p:cNvSpPr>
          <p:nvPr>
            <p:ph type="sldNum" sz="quarter" idx="12"/>
          </p:nvPr>
        </p:nvSpPr>
        <p:spPr/>
        <p:txBody>
          <a:bodyPr/>
          <a:lstStyle/>
          <a:p>
            <a:fld id="{645DDD17-9A15-AE4D-9CC4-9253E384646F}" type="slidenum">
              <a:rPr lang="en-US" smtClean="0"/>
              <a:t>‹#›</a:t>
            </a:fld>
            <a:endParaRPr lang="en-US"/>
          </a:p>
        </p:txBody>
      </p:sp>
    </p:spTree>
    <p:extLst>
      <p:ext uri="{BB962C8B-B14F-4D97-AF65-F5344CB8AC3E}">
        <p14:creationId xmlns:p14="http://schemas.microsoft.com/office/powerpoint/2010/main" val="33771649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236BE2-F550-8821-3E55-7ADD65BE278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193331E-C685-CC4D-0684-40992A2868A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0886792-B735-52EB-2E13-6438872AF49F}"/>
              </a:ext>
            </a:extLst>
          </p:cNvPr>
          <p:cNvSpPr>
            <a:spLocks noGrp="1"/>
          </p:cNvSpPr>
          <p:nvPr>
            <p:ph type="dt" sz="half" idx="10"/>
          </p:nvPr>
        </p:nvSpPr>
        <p:spPr/>
        <p:txBody>
          <a:bodyPr/>
          <a:lstStyle/>
          <a:p>
            <a:fld id="{1BFDC6EA-EB7A-2041-8C96-E78D3B94553D}" type="datetime1">
              <a:rPr lang="en-IN" smtClean="0"/>
              <a:t>21-10-2024</a:t>
            </a:fld>
            <a:endParaRPr lang="en-US"/>
          </a:p>
        </p:txBody>
      </p:sp>
      <p:sp>
        <p:nvSpPr>
          <p:cNvPr id="5" name="Footer Placeholder 4">
            <a:extLst>
              <a:ext uri="{FF2B5EF4-FFF2-40B4-BE49-F238E27FC236}">
                <a16:creationId xmlns:a16="http://schemas.microsoft.com/office/drawing/2014/main" id="{2C11D7B6-8600-F369-8EE3-7F7AAD2A44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703DD9-8AFF-8931-4F8D-C894BEF8674F}"/>
              </a:ext>
            </a:extLst>
          </p:cNvPr>
          <p:cNvSpPr>
            <a:spLocks noGrp="1"/>
          </p:cNvSpPr>
          <p:nvPr>
            <p:ph type="sldNum" sz="quarter" idx="12"/>
          </p:nvPr>
        </p:nvSpPr>
        <p:spPr/>
        <p:txBody>
          <a:bodyPr/>
          <a:lstStyle/>
          <a:p>
            <a:fld id="{645DDD17-9A15-AE4D-9CC4-9253E384646F}" type="slidenum">
              <a:rPr lang="en-US" smtClean="0"/>
              <a:t>‹#›</a:t>
            </a:fld>
            <a:endParaRPr lang="en-US"/>
          </a:p>
        </p:txBody>
      </p:sp>
    </p:spTree>
    <p:extLst>
      <p:ext uri="{BB962C8B-B14F-4D97-AF65-F5344CB8AC3E}">
        <p14:creationId xmlns:p14="http://schemas.microsoft.com/office/powerpoint/2010/main" val="354059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F46684-8573-26DB-A8DD-25D5A09EE5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D6B7962-74E3-E471-4530-289DAC5357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F23D2FE-CF94-6895-88F3-DFFDDD3D7A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32290F-9FA5-BF43-860B-6D959DBB4F43}" type="datetime1">
              <a:rPr lang="en-IN" smtClean="0"/>
              <a:t>21-10-2024</a:t>
            </a:fld>
            <a:endParaRPr lang="en-US"/>
          </a:p>
        </p:txBody>
      </p:sp>
      <p:sp>
        <p:nvSpPr>
          <p:cNvPr id="5" name="Footer Placeholder 4">
            <a:extLst>
              <a:ext uri="{FF2B5EF4-FFF2-40B4-BE49-F238E27FC236}">
                <a16:creationId xmlns:a16="http://schemas.microsoft.com/office/drawing/2014/main" id="{60CB65B8-4701-9BA4-D961-33737D32BD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F5D6ED0-BC9B-70A2-148D-B16370B1DC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45DDD17-9A15-AE4D-9CC4-9253E384646F}" type="slidenum">
              <a:rPr lang="en-US" smtClean="0"/>
              <a:t>‹#›</a:t>
            </a:fld>
            <a:endParaRPr lang="en-US"/>
          </a:p>
        </p:txBody>
      </p:sp>
    </p:spTree>
    <p:extLst>
      <p:ext uri="{BB962C8B-B14F-4D97-AF65-F5344CB8AC3E}">
        <p14:creationId xmlns:p14="http://schemas.microsoft.com/office/powerpoint/2010/main" val="9358060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9.gif"/></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6.gif"/></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39.gif"/></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41.gif"/></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43.gif"/></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45.gi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54.gi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8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extLst>
              <p:ext uri="{D42A27DB-BD31-4B8C-83A1-F6EECF244321}">
                <p14:modId xmlns:p14="http://schemas.microsoft.com/office/powerpoint/2010/main" val="1962575310"/>
              </p:ext>
            </p:extLst>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3077651733"/>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1</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4" name="Rectangle 13">
            <a:extLst>
              <a:ext uri="{FF2B5EF4-FFF2-40B4-BE49-F238E27FC236}">
                <a16:creationId xmlns:a16="http://schemas.microsoft.com/office/drawing/2014/main" id="{6EB9A5F7-B7D7-E008-8229-AD564931BCC6}"/>
              </a:ext>
            </a:extLst>
          </p:cNvPr>
          <p:cNvSpPr/>
          <p:nvPr/>
        </p:nvSpPr>
        <p:spPr>
          <a:xfrm>
            <a:off x="5073925" y="2266937"/>
            <a:ext cx="2044149" cy="707886"/>
          </a:xfrm>
          <a:prstGeom prst="rect">
            <a:avLst/>
          </a:prstGeom>
          <a:noFill/>
        </p:spPr>
        <p:txBody>
          <a:bodyPr wrap="none" lIns="91440" tIns="45720" rIns="91440" bIns="45720">
            <a:spAutoFit/>
          </a:bodyPr>
          <a:lstStyle/>
          <a:p>
            <a:pPr algn="ctr"/>
            <a:r>
              <a:rPr lang="en-US" sz="4000" b="1" dirty="0">
                <a:effectLst/>
                <a:latin typeface="Calibri" panose="020F0502020204030204" pitchFamily="34" charset="0"/>
                <a:ea typeface="Calibri" panose="020F0502020204030204" pitchFamily="34" charset="0"/>
                <a:cs typeface="Calibri" panose="020F0502020204030204" pitchFamily="34" charset="0"/>
              </a:rPr>
              <a:t>UNIT - III</a:t>
            </a:r>
          </a:p>
        </p:txBody>
      </p:sp>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3C672B72-677B-3722-05F6-F1016D5FFCCB}"/>
              </a:ext>
            </a:extLst>
          </p:cNvPr>
          <p:cNvSpPr txBox="1"/>
          <p:nvPr/>
        </p:nvSpPr>
        <p:spPr>
          <a:xfrm>
            <a:off x="4850599" y="4484915"/>
            <a:ext cx="2678682" cy="1200329"/>
          </a:xfrm>
          <a:prstGeom prst="rect">
            <a:avLst/>
          </a:prstGeom>
          <a:noFill/>
        </p:spPr>
        <p:txBody>
          <a:bodyPr wrap="none" rtlCol="0">
            <a:spAutoFit/>
          </a:bodyPr>
          <a:lstStyle/>
          <a:p>
            <a:pPr algn="ctr"/>
            <a:r>
              <a:rPr lang="en-US" sz="2400" b="1" dirty="0">
                <a:latin typeface="Calibri" panose="020F0502020204030204" pitchFamily="34" charset="0"/>
                <a:ea typeface="Calibri" panose="020F0502020204030204" pitchFamily="34" charset="0"/>
                <a:cs typeface="Calibri" panose="020F0502020204030204" pitchFamily="34" charset="0"/>
              </a:rPr>
              <a:t>Dr. V. Vijayalakshmi</a:t>
            </a:r>
          </a:p>
          <a:p>
            <a:pPr algn="ctr"/>
            <a:r>
              <a:rPr lang="en-US" sz="2400" b="1" dirty="0">
                <a:latin typeface="Calibri" panose="020F0502020204030204" pitchFamily="34" charset="0"/>
                <a:ea typeface="Calibri" panose="020F0502020204030204" pitchFamily="34" charset="0"/>
                <a:cs typeface="Calibri" panose="020F0502020204030204" pitchFamily="34" charset="0"/>
              </a:rPr>
              <a:t>Assistant Professor</a:t>
            </a:r>
          </a:p>
          <a:p>
            <a:pPr algn="ctr"/>
            <a:r>
              <a:rPr lang="en-US" sz="2400" b="1" dirty="0">
                <a:latin typeface="Calibri" panose="020F0502020204030204" pitchFamily="34" charset="0"/>
                <a:ea typeface="Calibri" panose="020F0502020204030204" pitchFamily="34" charset="0"/>
                <a:cs typeface="Calibri" panose="020F0502020204030204" pitchFamily="34" charset="0"/>
              </a:rPr>
              <a:t>SRMIST</a:t>
            </a:r>
            <a:endParaRPr lang="en-IN" sz="24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17413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1</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4" name="Rectangle 13">
            <a:extLst>
              <a:ext uri="{FF2B5EF4-FFF2-40B4-BE49-F238E27FC236}">
                <a16:creationId xmlns:a16="http://schemas.microsoft.com/office/drawing/2014/main" id="{6EB9A5F7-B7D7-E008-8229-AD564931BCC6}"/>
              </a:ext>
            </a:extLst>
          </p:cNvPr>
          <p:cNvSpPr/>
          <p:nvPr/>
        </p:nvSpPr>
        <p:spPr>
          <a:xfrm>
            <a:off x="1437951" y="1072575"/>
            <a:ext cx="6093976" cy="4832092"/>
          </a:xfrm>
          <a:prstGeom prst="rect">
            <a:avLst/>
          </a:prstGeom>
          <a:noFill/>
        </p:spPr>
        <p:txBody>
          <a:bodyPr wrap="none" lIns="91440" tIns="45720" rIns="91440" bIns="45720">
            <a:spAutoFit/>
          </a:bodyPr>
          <a:lstStyle/>
          <a:p>
            <a:pPr marL="457200" indent="-457200" algn="just">
              <a:buFont typeface="Arial" panose="020B0604020202020204" pitchFamily="34" charset="0"/>
              <a:buChar char="•"/>
            </a:pPr>
            <a:r>
              <a:rPr lang="en-US" sz="2800" dirty="0">
                <a:effectLst/>
                <a:latin typeface="Calibri" panose="020F0502020204030204" pitchFamily="34" charset="0"/>
                <a:ea typeface="Calibri" panose="020F0502020204030204" pitchFamily="34" charset="0"/>
                <a:cs typeface="Calibri" panose="020F0502020204030204" pitchFamily="34" charset="0"/>
              </a:rPr>
              <a:t>Introduction to Matplotlib library</a:t>
            </a:r>
          </a:p>
          <a:p>
            <a:pPr marL="457200" indent="-457200" algn="just">
              <a:buFont typeface="Arial" panose="020B0604020202020204" pitchFamily="34" charset="0"/>
              <a:buChar char="•"/>
            </a:pPr>
            <a:r>
              <a:rPr lang="en-US" sz="2800" dirty="0">
                <a:effectLst/>
                <a:latin typeface="Calibri" panose="020F0502020204030204" pitchFamily="34" charset="0"/>
                <a:ea typeface="Calibri" panose="020F0502020204030204" pitchFamily="34" charset="0"/>
                <a:cs typeface="Calibri" panose="020F0502020204030204" pitchFamily="34" charset="0"/>
              </a:rPr>
              <a:t>Subplots</a:t>
            </a:r>
          </a:p>
          <a:p>
            <a:pPr marL="457200" indent="-457200" algn="just">
              <a:buFont typeface="Arial" panose="020B0604020202020204" pitchFamily="34" charset="0"/>
              <a:buChar char="•"/>
            </a:pPr>
            <a:r>
              <a:rPr lang="en-US" sz="2800" dirty="0">
                <a:effectLst/>
                <a:latin typeface="Calibri" panose="020F0502020204030204" pitchFamily="34" charset="0"/>
                <a:ea typeface="Calibri" panose="020F0502020204030204" pitchFamily="34" charset="0"/>
                <a:cs typeface="Calibri" panose="020F0502020204030204" pitchFamily="34" charset="0"/>
              </a:rPr>
              <a:t>Controlling axes, ticks, labels, legends</a:t>
            </a:r>
          </a:p>
          <a:p>
            <a:pPr marL="457200" indent="-457200" algn="just">
              <a:buFont typeface="Arial" panose="020B0604020202020204" pitchFamily="34" charset="0"/>
              <a:buChar char="•"/>
            </a:pPr>
            <a:r>
              <a:rPr lang="en-US" sz="2800" dirty="0">
                <a:effectLst/>
                <a:latin typeface="Calibri" panose="020F0502020204030204" pitchFamily="34" charset="0"/>
                <a:ea typeface="Calibri" panose="020F0502020204030204" pitchFamily="34" charset="0"/>
                <a:cs typeface="Calibri" panose="020F0502020204030204" pitchFamily="34" charset="0"/>
              </a:rPr>
              <a:t>Annotations, saving plots</a:t>
            </a:r>
          </a:p>
          <a:p>
            <a:pPr marL="457200" indent="-457200" algn="just">
              <a:buFont typeface="Arial" panose="020B0604020202020204" pitchFamily="34" charset="0"/>
              <a:buChar char="•"/>
            </a:pPr>
            <a:r>
              <a:rPr lang="en-US" sz="2800" dirty="0">
                <a:effectLst/>
                <a:latin typeface="Calibri" panose="020F0502020204030204" pitchFamily="34" charset="0"/>
                <a:ea typeface="Calibri" panose="020F0502020204030204" pitchFamily="34" charset="0"/>
                <a:cs typeface="Calibri" panose="020F0502020204030204" pitchFamily="34" charset="0"/>
              </a:rPr>
              <a:t>Seaborn library</a:t>
            </a:r>
          </a:p>
          <a:p>
            <a:pPr marL="457200" indent="-457200" algn="just">
              <a:buFont typeface="Arial" panose="020B0604020202020204" pitchFamily="34" charset="0"/>
              <a:buChar char="•"/>
            </a:pPr>
            <a:r>
              <a:rPr lang="en-US" sz="2800" dirty="0">
                <a:effectLst/>
                <a:latin typeface="Calibri" panose="020F0502020204030204" pitchFamily="34" charset="0"/>
                <a:ea typeface="Calibri" panose="020F0502020204030204" pitchFamily="34" charset="0"/>
                <a:cs typeface="Calibri" panose="020F0502020204030204" pitchFamily="34" charset="0"/>
              </a:rPr>
              <a:t>Multiple plots</a:t>
            </a:r>
          </a:p>
          <a:p>
            <a:pPr marL="457200" indent="-457200" algn="just">
              <a:buFont typeface="Arial" panose="020B0604020202020204" pitchFamily="34" charset="0"/>
              <a:buChar char="•"/>
            </a:pPr>
            <a:r>
              <a:rPr lang="en-US" sz="2800" dirty="0">
                <a:effectLst/>
                <a:latin typeface="Calibri" panose="020F0502020204030204" pitchFamily="34" charset="0"/>
                <a:ea typeface="Calibri" panose="020F0502020204030204" pitchFamily="34" charset="0"/>
                <a:cs typeface="Calibri" panose="020F0502020204030204" pitchFamily="34" charset="0"/>
              </a:rPr>
              <a:t>Scatter plot, line plot, histogram</a:t>
            </a:r>
          </a:p>
          <a:p>
            <a:pPr marL="457200" indent="-457200" algn="just">
              <a:buFont typeface="Arial" panose="020B0604020202020204" pitchFamily="34" charset="0"/>
              <a:buChar char="•"/>
            </a:pPr>
            <a:r>
              <a:rPr lang="en-US" sz="2800" dirty="0">
                <a:effectLst/>
                <a:latin typeface="Calibri" panose="020F0502020204030204" pitchFamily="34" charset="0"/>
                <a:ea typeface="Calibri" panose="020F0502020204030204" pitchFamily="34" charset="0"/>
                <a:cs typeface="Calibri" panose="020F0502020204030204" pitchFamily="34" charset="0"/>
              </a:rPr>
              <a:t>Boxplot</a:t>
            </a:r>
          </a:p>
          <a:p>
            <a:pPr marL="457200" indent="-457200" algn="just">
              <a:buFont typeface="Arial" panose="020B0604020202020204" pitchFamily="34" charset="0"/>
              <a:buChar char="•"/>
            </a:pPr>
            <a:r>
              <a:rPr lang="en-US" sz="2800" dirty="0">
                <a:effectLst/>
                <a:latin typeface="Calibri" panose="020F0502020204030204" pitchFamily="34" charset="0"/>
                <a:ea typeface="Calibri" panose="020F0502020204030204" pitchFamily="34" charset="0"/>
                <a:cs typeface="Calibri" panose="020F0502020204030204" pitchFamily="34" charset="0"/>
              </a:rPr>
              <a:t>Pari plot</a:t>
            </a:r>
          </a:p>
          <a:p>
            <a:pPr marL="457200" indent="-457200" algn="just">
              <a:buFont typeface="Arial" panose="020B0604020202020204" pitchFamily="34" charset="0"/>
              <a:buChar char="•"/>
            </a:pPr>
            <a:r>
              <a:rPr lang="en-US" sz="2800" dirty="0">
                <a:effectLst/>
                <a:latin typeface="Calibri" panose="020F0502020204030204" pitchFamily="34" charset="0"/>
                <a:ea typeface="Calibri" panose="020F0502020204030204" pitchFamily="34" charset="0"/>
                <a:cs typeface="Calibri" panose="020F0502020204030204" pitchFamily="34" charset="0"/>
              </a:rPr>
              <a:t>Playing with text</a:t>
            </a:r>
          </a:p>
          <a:p>
            <a:pPr marL="457200" indent="-457200" algn="just">
              <a:buFont typeface="Arial" panose="020B0604020202020204" pitchFamily="34" charset="0"/>
              <a:buChar char="•"/>
            </a:pPr>
            <a:r>
              <a:rPr lang="en-US" sz="2800" dirty="0">
                <a:effectLst/>
                <a:latin typeface="Calibri" panose="020F0502020204030204" pitchFamily="34" charset="0"/>
                <a:ea typeface="Calibri" panose="020F0502020204030204" pitchFamily="34" charset="0"/>
                <a:cs typeface="Calibri" panose="020F0502020204030204" pitchFamily="34" charset="0"/>
              </a:rPr>
              <a:t>3D plot</a:t>
            </a:r>
            <a:endParaRPr lang="en-GB" sz="2800"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190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1</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4" name="Rectangle 13">
            <a:extLst>
              <a:ext uri="{FF2B5EF4-FFF2-40B4-BE49-F238E27FC236}">
                <a16:creationId xmlns:a16="http://schemas.microsoft.com/office/drawing/2014/main" id="{6EB9A5F7-B7D7-E008-8229-AD564931BCC6}"/>
              </a:ext>
            </a:extLst>
          </p:cNvPr>
          <p:cNvSpPr/>
          <p:nvPr/>
        </p:nvSpPr>
        <p:spPr>
          <a:xfrm>
            <a:off x="2410242" y="2967335"/>
            <a:ext cx="7371570" cy="707886"/>
          </a:xfrm>
          <a:prstGeom prst="rect">
            <a:avLst/>
          </a:prstGeom>
          <a:noFill/>
        </p:spPr>
        <p:txBody>
          <a:bodyPr wrap="none" lIns="91440" tIns="45720" rIns="91440" bIns="45720">
            <a:spAutoFit/>
          </a:bodyPr>
          <a:lstStyle/>
          <a:p>
            <a:pPr algn="ctr"/>
            <a:r>
              <a:rPr lang="en-US" sz="4000" b="1" dirty="0">
                <a:effectLst/>
                <a:latin typeface="Calibri" panose="020F0502020204030204" pitchFamily="34" charset="0"/>
                <a:ea typeface="Calibri" panose="020F0502020204030204" pitchFamily="34" charset="0"/>
                <a:cs typeface="Calibri" panose="020F0502020204030204" pitchFamily="34" charset="0"/>
              </a:rPr>
              <a:t>Introduction to Matplotlib Library</a:t>
            </a:r>
            <a:endParaRPr lang="en-GB"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6785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3537609493"/>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2</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74340"/>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Introduction to Matplotlib Library</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420435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b="1" i="0" dirty="0">
                <a:effectLst/>
                <a:latin typeface="Calibri" panose="020F0502020204030204" pitchFamily="34" charset="0"/>
                <a:ea typeface="Calibri" panose="020F0502020204030204" pitchFamily="34" charset="0"/>
                <a:cs typeface="Calibri" panose="020F0502020204030204" pitchFamily="34" charset="0"/>
              </a:rPr>
              <a:t>Matplotlib</a:t>
            </a:r>
            <a:r>
              <a:rPr lang="en-US" b="0" i="0" dirty="0">
                <a:effectLst/>
                <a:latin typeface="Calibri" panose="020F0502020204030204" pitchFamily="34" charset="0"/>
                <a:ea typeface="Calibri" panose="020F0502020204030204" pitchFamily="34" charset="0"/>
                <a:cs typeface="Calibri" panose="020F0502020204030204" pitchFamily="34" charset="0"/>
              </a:rPr>
              <a:t> is a powerful plotting library in Python used for creating static, animated, and interactive visualizations. </a:t>
            </a:r>
          </a:p>
          <a:p>
            <a:pPr marL="285750" indent="-285750" algn="just">
              <a:lnSpc>
                <a:spcPct val="150000"/>
              </a:lnSpc>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Matplotlib’s primary purpose is to provide users with the tools and functionality to represent data graphically, making it easier to analyze and understand. </a:t>
            </a:r>
          </a:p>
          <a:p>
            <a:pPr marL="285750" indent="-285750" algn="just">
              <a:lnSpc>
                <a:spcPct val="150000"/>
              </a:lnSpc>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It was originally developed by John D. Hunter in 2003 and is now maintained by a large community of developers.</a:t>
            </a:r>
          </a:p>
          <a:p>
            <a:pPr algn="just">
              <a:lnSpc>
                <a:spcPct val="150000"/>
              </a:lnSpc>
            </a:pPr>
            <a:br>
              <a:rPr lang="en-US" dirty="0">
                <a:latin typeface="Calibri" panose="020F0502020204030204" pitchFamily="34" charset="0"/>
                <a:ea typeface="Calibri" panose="020F0502020204030204" pitchFamily="34" charset="0"/>
                <a:cs typeface="Calibri" panose="020F0502020204030204" pitchFamily="34" charset="0"/>
              </a:rPr>
            </a:b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a:t>
            </a:r>
            <a:br>
              <a:rPr lang="en-US" dirty="0">
                <a:latin typeface="Calibri" panose="020F0502020204030204" pitchFamily="34" charset="0"/>
                <a:ea typeface="Calibri" panose="020F0502020204030204" pitchFamily="34" charset="0"/>
                <a:cs typeface="Calibri" panose="020F0502020204030204" pitchFamily="34" charset="0"/>
              </a:rPr>
            </a:br>
            <a:endPar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1028" name="Picture 4" descr="Matplotlib python libraray ...">
            <a:extLst>
              <a:ext uri="{FF2B5EF4-FFF2-40B4-BE49-F238E27FC236}">
                <a16:creationId xmlns:a16="http://schemas.microsoft.com/office/drawing/2014/main" id="{BF1A9AE9-03AB-33A5-C33E-E7FD3D7BD8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9648" y="3776125"/>
            <a:ext cx="2307535" cy="2307535"/>
          </a:xfrm>
          <a:prstGeom prst="rect">
            <a:avLst/>
          </a:prstGeom>
          <a:noFill/>
          <a:ln w="635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86580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191775687"/>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3</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74340"/>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Features of Matplotlib</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3788858"/>
          </a:xfrm>
          <a:prstGeom prst="rect">
            <a:avLst/>
          </a:prstGeom>
          <a:noFill/>
        </p:spPr>
        <p:txBody>
          <a:bodyPr wrap="square">
            <a:spAutoFit/>
          </a:bodyPr>
          <a:lstStyle/>
          <a:p>
            <a:pPr marL="285750" indent="-285750" algn="just" fontAlgn="base">
              <a:lnSpc>
                <a:spcPct val="150000"/>
              </a:lnSpc>
              <a:buFont typeface="Arial" panose="020B0604020202020204" pitchFamily="34" charset="0"/>
              <a:buChar char="•"/>
            </a:pPr>
            <a:r>
              <a:rPr lang="en-US" b="1" i="0" dirty="0">
                <a:effectLst/>
                <a:latin typeface="Calibri" panose="020F0502020204030204" pitchFamily="34" charset="0"/>
                <a:ea typeface="Calibri" panose="020F0502020204030204" pitchFamily="34" charset="0"/>
                <a:cs typeface="Calibri" panose="020F0502020204030204" pitchFamily="34" charset="0"/>
              </a:rPr>
              <a:t>Versatility</a:t>
            </a:r>
            <a:r>
              <a:rPr lang="en-US" b="0" i="0" dirty="0">
                <a:effectLst/>
                <a:latin typeface="Calibri" panose="020F0502020204030204" pitchFamily="34" charset="0"/>
                <a:ea typeface="Calibri" panose="020F0502020204030204" pitchFamily="34" charset="0"/>
                <a:cs typeface="Calibri" panose="020F0502020204030204" pitchFamily="34" charset="0"/>
              </a:rPr>
              <a:t>: Matplotlib can generate a wide range of plots, including line plots, scatter plots, bar plots, histograms, pie charts, and more.</a:t>
            </a:r>
          </a:p>
          <a:p>
            <a:pPr marL="285750" indent="-285750" algn="just" fontAlgn="base">
              <a:lnSpc>
                <a:spcPct val="150000"/>
              </a:lnSpc>
              <a:buFont typeface="Arial" panose="020B0604020202020204" pitchFamily="34" charset="0"/>
              <a:buChar char="•"/>
            </a:pPr>
            <a:r>
              <a:rPr lang="en-US" b="1" i="0" dirty="0">
                <a:effectLst/>
                <a:latin typeface="Calibri" panose="020F0502020204030204" pitchFamily="34" charset="0"/>
                <a:ea typeface="Calibri" panose="020F0502020204030204" pitchFamily="34" charset="0"/>
                <a:cs typeface="Calibri" panose="020F0502020204030204" pitchFamily="34" charset="0"/>
              </a:rPr>
              <a:t>Customization</a:t>
            </a:r>
            <a:r>
              <a:rPr lang="en-US" b="0" i="0" dirty="0">
                <a:effectLst/>
                <a:latin typeface="Calibri" panose="020F0502020204030204" pitchFamily="34" charset="0"/>
                <a:ea typeface="Calibri" panose="020F0502020204030204" pitchFamily="34" charset="0"/>
                <a:cs typeface="Calibri" panose="020F0502020204030204" pitchFamily="34" charset="0"/>
              </a:rPr>
              <a:t>: It offers extensive customization options to control every aspect of the plot, such as line styles, colors, markers, labels, and annotations.</a:t>
            </a:r>
          </a:p>
          <a:p>
            <a:pPr marL="285750" indent="-285750" algn="just" fontAlgn="base">
              <a:lnSpc>
                <a:spcPct val="150000"/>
              </a:lnSpc>
              <a:buFont typeface="Arial" panose="020B0604020202020204" pitchFamily="34" charset="0"/>
              <a:buChar char="•"/>
            </a:pPr>
            <a:r>
              <a:rPr lang="en-US" b="1" i="0" dirty="0">
                <a:effectLst/>
                <a:latin typeface="Calibri" panose="020F0502020204030204" pitchFamily="34" charset="0"/>
                <a:ea typeface="Calibri" panose="020F0502020204030204" pitchFamily="34" charset="0"/>
                <a:cs typeface="Calibri" panose="020F0502020204030204" pitchFamily="34" charset="0"/>
              </a:rPr>
              <a:t>Integration with NumPy</a:t>
            </a:r>
            <a:r>
              <a:rPr lang="en-US" b="0" i="0" dirty="0">
                <a:effectLst/>
                <a:latin typeface="Calibri" panose="020F0502020204030204" pitchFamily="34" charset="0"/>
                <a:ea typeface="Calibri" panose="020F0502020204030204" pitchFamily="34" charset="0"/>
                <a:cs typeface="Calibri" panose="020F0502020204030204" pitchFamily="34" charset="0"/>
              </a:rPr>
              <a:t>: Matplotlib integrates with NumPy, making it easy to plot data arrays directly.</a:t>
            </a:r>
          </a:p>
          <a:p>
            <a:pPr marL="285750" indent="-285750" algn="just" fontAlgn="base">
              <a:lnSpc>
                <a:spcPct val="150000"/>
              </a:lnSpc>
              <a:buFont typeface="Arial" panose="020B0604020202020204" pitchFamily="34" charset="0"/>
              <a:buChar char="•"/>
            </a:pPr>
            <a:r>
              <a:rPr lang="en-US" b="1" i="0" dirty="0">
                <a:effectLst/>
                <a:latin typeface="Calibri" panose="020F0502020204030204" pitchFamily="34" charset="0"/>
                <a:ea typeface="Calibri" panose="020F0502020204030204" pitchFamily="34" charset="0"/>
                <a:cs typeface="Calibri" panose="020F0502020204030204" pitchFamily="34" charset="0"/>
              </a:rPr>
              <a:t>Publication Quality</a:t>
            </a:r>
            <a:r>
              <a:rPr lang="en-US" b="0" i="0" dirty="0">
                <a:effectLst/>
                <a:latin typeface="Calibri" panose="020F0502020204030204" pitchFamily="34" charset="0"/>
                <a:ea typeface="Calibri" panose="020F0502020204030204" pitchFamily="34" charset="0"/>
                <a:cs typeface="Calibri" panose="020F0502020204030204" pitchFamily="34" charset="0"/>
              </a:rPr>
              <a:t>: Matplotlib produces high-quality plots suitable for publication with fine-grained control over the plot aesthetics.</a:t>
            </a:r>
          </a:p>
          <a:p>
            <a:pPr algn="just" fontAlgn="base">
              <a:lnSpc>
                <a:spcPct val="150000"/>
              </a:lnSpc>
            </a:pPr>
            <a:r>
              <a:rPr lang="en-US" dirty="0">
                <a:latin typeface="Calibri" panose="020F0502020204030204" pitchFamily="34" charset="0"/>
                <a:ea typeface="Calibri" panose="020F0502020204030204" pitchFamily="34" charset="0"/>
                <a:cs typeface="Calibri" panose="020F0502020204030204" pitchFamily="34" charset="0"/>
              </a:rPr>
              <a:t> </a:t>
            </a:r>
            <a:br>
              <a:rPr lang="en-US" dirty="0">
                <a:latin typeface="Calibri" panose="020F0502020204030204" pitchFamily="34" charset="0"/>
                <a:ea typeface="Calibri" panose="020F0502020204030204" pitchFamily="34" charset="0"/>
                <a:cs typeface="Calibri" panose="020F0502020204030204" pitchFamily="34" charset="0"/>
              </a:rPr>
            </a:br>
            <a:endPar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4098" name="Picture 2" descr="numpy is better than lists or arrays ...">
            <a:extLst>
              <a:ext uri="{FF2B5EF4-FFF2-40B4-BE49-F238E27FC236}">
                <a16:creationId xmlns:a16="http://schemas.microsoft.com/office/drawing/2014/main" id="{0127BD2A-1F8A-E0F4-41A9-A286DDBE863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4825"/>
          <a:stretch/>
        </p:blipFill>
        <p:spPr bwMode="auto">
          <a:xfrm>
            <a:off x="4266164" y="4450434"/>
            <a:ext cx="3477732" cy="1633226"/>
          </a:xfrm>
          <a:prstGeom prst="rect">
            <a:avLst/>
          </a:prstGeom>
          <a:noFill/>
          <a:ln w="635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092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3634893039"/>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4</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74340"/>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Features of Matplotlib</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4204356"/>
          </a:xfrm>
          <a:prstGeom prst="rect">
            <a:avLst/>
          </a:prstGeom>
          <a:noFill/>
        </p:spPr>
        <p:txBody>
          <a:bodyPr wrap="square">
            <a:spAutoFit/>
          </a:bodyPr>
          <a:lstStyle/>
          <a:p>
            <a:pPr marL="285750" indent="-285750" algn="just" fontAlgn="base">
              <a:lnSpc>
                <a:spcPct val="150000"/>
              </a:lnSpc>
              <a:buFont typeface="Arial" panose="020B0604020202020204" pitchFamily="34" charset="0"/>
              <a:buChar char="•"/>
            </a:pPr>
            <a:r>
              <a:rPr lang="en-US"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Extensible</a:t>
            </a: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Matplotlib is highly extensible, with a large ecosystem of add-on toolkits and extensions like Seaborn, Pandas plotting functions, and Basemap for geographical plotting.</a:t>
            </a:r>
          </a:p>
          <a:p>
            <a:pPr marL="285750" indent="-285750" algn="just" fontAlgn="base">
              <a:lnSpc>
                <a:spcPct val="150000"/>
              </a:lnSpc>
              <a:buFont typeface="Arial" panose="020B0604020202020204" pitchFamily="34" charset="0"/>
              <a:buChar char="•"/>
            </a:pPr>
            <a:r>
              <a:rPr lang="en-US"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Cross-Platform</a:t>
            </a: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It is platform-independent and can run on various operating systems, including Windows, macOS, and Linux.</a:t>
            </a:r>
          </a:p>
          <a:p>
            <a:pPr marL="285750" indent="-285750" algn="just" fontAlgn="base">
              <a:lnSpc>
                <a:spcPct val="150000"/>
              </a:lnSpc>
              <a:buFont typeface="Arial" panose="020B0604020202020204" pitchFamily="34" charset="0"/>
              <a:buChar char="•"/>
            </a:pPr>
            <a:r>
              <a:rPr lang="en-US"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Interactive Plots</a:t>
            </a: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Matplotlib supports interactive plotting through the use of widgets and event handling, enabling users to explore data dynamically.</a:t>
            </a:r>
          </a:p>
          <a:p>
            <a:pPr algn="just">
              <a:lnSpc>
                <a:spcPct val="150000"/>
              </a:lnSpc>
            </a:pPr>
            <a:br>
              <a:rPr lang="en-US" dirty="0">
                <a:latin typeface="Calibri" panose="020F0502020204030204" pitchFamily="34" charset="0"/>
                <a:ea typeface="Calibri" panose="020F0502020204030204" pitchFamily="34" charset="0"/>
                <a:cs typeface="Calibri" panose="020F0502020204030204" pitchFamily="34" charset="0"/>
              </a:rPr>
            </a:b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a:t>
            </a:r>
            <a:br>
              <a:rPr lang="en-US" dirty="0">
                <a:latin typeface="Calibri" panose="020F0502020204030204" pitchFamily="34" charset="0"/>
                <a:ea typeface="Calibri" panose="020F0502020204030204" pitchFamily="34" charset="0"/>
                <a:cs typeface="Calibri" panose="020F0502020204030204" pitchFamily="34" charset="0"/>
              </a:rPr>
            </a:br>
            <a:endPar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3074" name="Picture 2" descr="matplotlib : Types of Plots ...">
            <a:extLst>
              <a:ext uri="{FF2B5EF4-FFF2-40B4-BE49-F238E27FC236}">
                <a16:creationId xmlns:a16="http://schemas.microsoft.com/office/drawing/2014/main" id="{1E70A7A0-E17B-AB96-F095-CA997CDB1A6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2680"/>
          <a:stretch/>
        </p:blipFill>
        <p:spPr bwMode="auto">
          <a:xfrm>
            <a:off x="3362533" y="4344427"/>
            <a:ext cx="5825062" cy="1739233"/>
          </a:xfrm>
          <a:prstGeom prst="rect">
            <a:avLst/>
          </a:prstGeom>
          <a:noFill/>
          <a:ln w="635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9650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1113225329"/>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5</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74340"/>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Installation of Matplotlib</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4619854"/>
          </a:xfrm>
          <a:prstGeom prst="rect">
            <a:avLst/>
          </a:prstGeom>
          <a:noFill/>
        </p:spPr>
        <p:txBody>
          <a:bodyPr wrap="square">
            <a:spAutoFit/>
          </a:bodyPr>
          <a:lstStyle/>
          <a:p>
            <a:pPr algn="just">
              <a:lnSpc>
                <a:spcPct val="150000"/>
              </a:lnSpc>
            </a:pPr>
            <a:r>
              <a:rPr lang="en-US" b="1"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Install Matplotlib with pip</a:t>
            </a:r>
            <a:endParaRPr lang="en-US"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endParaRPr>
          </a:p>
          <a:p>
            <a:pPr marL="285750" indent="-285750" algn="just">
              <a:lnSpc>
                <a:spcPct val="150000"/>
              </a:lnSpc>
              <a:buFont typeface="Arial" panose="020B0604020202020204" pitchFamily="34" charset="0"/>
              <a:buChar char="•"/>
            </a:pPr>
            <a:r>
              <a:rPr lang="en-US"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The python package manager pip is also used to install matplotlib. </a:t>
            </a:r>
          </a:p>
          <a:p>
            <a:pPr marL="285750" indent="-285750" algn="just">
              <a:lnSpc>
                <a:spcPct val="150000"/>
              </a:lnSpc>
              <a:buFont typeface="Arial" panose="020B0604020202020204" pitchFamily="34" charset="0"/>
              <a:buChar char="•"/>
            </a:pPr>
            <a:r>
              <a:rPr lang="en-US"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Open the command prompt window, and type the following command:</a:t>
            </a:r>
          </a:p>
          <a:p>
            <a:pPr algn="just">
              <a:lnSpc>
                <a:spcPct val="150000"/>
              </a:lnSpc>
            </a:pPr>
            <a:r>
              <a:rPr lang="en-US"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pip install matplotlib  </a:t>
            </a:r>
          </a:p>
          <a:p>
            <a:pPr algn="just">
              <a:lnSpc>
                <a:spcPct val="150000"/>
              </a:lnSpc>
            </a:pPr>
            <a:r>
              <a:rPr lang="en-US" b="1" dirty="0">
                <a:solidFill>
                  <a:srgbClr val="333333"/>
                </a:solidFill>
                <a:latin typeface="Calibri" panose="020F0502020204030204" pitchFamily="34" charset="0"/>
                <a:ea typeface="Calibri" panose="020F0502020204030204" pitchFamily="34" charset="0"/>
                <a:cs typeface="Calibri" panose="020F0502020204030204" pitchFamily="34" charset="0"/>
              </a:rPr>
              <a:t>Verify the Installation</a:t>
            </a:r>
          </a:p>
          <a:p>
            <a:pPr marL="285750" indent="-285750" algn="just">
              <a:lnSpc>
                <a:spcPct val="150000"/>
              </a:lnSpc>
              <a:buFont typeface="Arial" panose="020B0604020202020204" pitchFamily="34" charset="0"/>
              <a:buChar char="•"/>
            </a:pPr>
            <a:r>
              <a:rPr lang="en-US" b="0" i="0" dirty="0">
                <a:solidFill>
                  <a:srgbClr val="333333"/>
                </a:solidFill>
                <a:effectLst/>
                <a:latin typeface="inter-regular"/>
              </a:rPr>
              <a:t>To verify that matplotlib is installed properly or not, type the following command includes calling .__version __ in the terminal.</a:t>
            </a:r>
          </a:p>
          <a:p>
            <a:pPr lvl="2" algn="just">
              <a:lnSpc>
                <a:spcPct val="150000"/>
              </a:lnSpc>
            </a:pPr>
            <a:r>
              <a:rPr lang="en-US" b="1" i="0" dirty="0">
                <a:solidFill>
                  <a:srgbClr val="006699"/>
                </a:solidFill>
                <a:effectLst/>
                <a:latin typeface="inter-regular"/>
              </a:rPr>
              <a:t>import</a:t>
            </a:r>
            <a:r>
              <a:rPr lang="en-US" b="0" i="0" dirty="0">
                <a:solidFill>
                  <a:srgbClr val="000000"/>
                </a:solidFill>
                <a:effectLst/>
                <a:latin typeface="inter-regular"/>
              </a:rPr>
              <a:t> matplotlib  </a:t>
            </a:r>
          </a:p>
          <a:p>
            <a:pPr lvl="2" algn="just">
              <a:lnSpc>
                <a:spcPct val="150000"/>
              </a:lnSpc>
            </a:pPr>
            <a:r>
              <a:rPr lang="en-US" b="0" i="0" dirty="0" err="1">
                <a:solidFill>
                  <a:srgbClr val="000000"/>
                </a:solidFill>
                <a:effectLst/>
                <a:latin typeface="inter-regular"/>
              </a:rPr>
              <a:t>matplotlib.__version</a:t>
            </a:r>
            <a:r>
              <a:rPr lang="en-US" b="0" i="0" dirty="0">
                <a:solidFill>
                  <a:srgbClr val="000000"/>
                </a:solidFill>
                <a:effectLst/>
                <a:latin typeface="inter-regular"/>
              </a:rPr>
              <a:t>__  </a:t>
            </a:r>
          </a:p>
          <a:p>
            <a:pPr lvl="2" algn="just">
              <a:lnSpc>
                <a:spcPct val="150000"/>
              </a:lnSpc>
            </a:pPr>
            <a:r>
              <a:rPr lang="en-US" b="0" i="0" dirty="0">
                <a:solidFill>
                  <a:srgbClr val="0000FF"/>
                </a:solidFill>
                <a:effectLst/>
                <a:latin typeface="inter-regular"/>
              </a:rPr>
              <a:t>'3.1.1'</a:t>
            </a:r>
            <a:r>
              <a:rPr lang="en-US" b="0" i="0" dirty="0">
                <a:solidFill>
                  <a:srgbClr val="000000"/>
                </a:solidFill>
                <a:effectLst/>
                <a:latin typeface="inter-regular"/>
              </a:rPr>
              <a:t>  </a:t>
            </a:r>
            <a:br>
              <a:rPr lang="en-US" dirty="0">
                <a:latin typeface="Calibri" panose="020F0502020204030204" pitchFamily="34" charset="0"/>
                <a:ea typeface="Calibri" panose="020F0502020204030204" pitchFamily="34" charset="0"/>
                <a:cs typeface="Calibri" panose="020F0502020204030204" pitchFamily="34" charset="0"/>
              </a:rPr>
            </a:br>
            <a:endPar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2633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166702354"/>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6</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74340"/>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Components of Matplotlib</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1711366"/>
          </a:xfrm>
          <a:prstGeom prst="rect">
            <a:avLst/>
          </a:prstGeom>
          <a:noFill/>
        </p:spPr>
        <p:txBody>
          <a:bodyPr wrap="square">
            <a:spAutoFit/>
          </a:bodyPr>
          <a:lstStyle/>
          <a:p>
            <a:pPr algn="just">
              <a:lnSpc>
                <a:spcPct val="150000"/>
              </a:lnSpc>
            </a:pPr>
            <a:br>
              <a:rPr lang="en-US" dirty="0">
                <a:latin typeface="Calibri" panose="020F0502020204030204" pitchFamily="34" charset="0"/>
                <a:ea typeface="Calibri" panose="020F0502020204030204" pitchFamily="34" charset="0"/>
                <a:cs typeface="Calibri" panose="020F0502020204030204" pitchFamily="34" charset="0"/>
              </a:rPr>
            </a:b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a:t>
            </a:r>
            <a:br>
              <a:rPr lang="en-US" dirty="0">
                <a:latin typeface="Calibri" panose="020F0502020204030204" pitchFamily="34" charset="0"/>
                <a:ea typeface="Calibri" panose="020F0502020204030204" pitchFamily="34" charset="0"/>
                <a:cs typeface="Calibri" panose="020F0502020204030204" pitchFamily="34" charset="0"/>
              </a:rPr>
            </a:br>
            <a:endPar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2050" name="Picture 2" descr="Plot Intro">
            <a:extLst>
              <a:ext uri="{FF2B5EF4-FFF2-40B4-BE49-F238E27FC236}">
                <a16:creationId xmlns:a16="http://schemas.microsoft.com/office/drawing/2014/main" id="{B3D990EA-CD8A-1515-C779-35B6F016DB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1581" y="1705912"/>
            <a:ext cx="6667500" cy="4343400"/>
          </a:xfrm>
          <a:prstGeom prst="rect">
            <a:avLst/>
          </a:prstGeom>
          <a:noFill/>
          <a:ln w="635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1679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1278677681"/>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7</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74340"/>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Different types of plots in Matplotlib</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4619854"/>
          </a:xfrm>
          <a:prstGeom prst="rect">
            <a:avLst/>
          </a:prstGeom>
          <a:noFill/>
        </p:spPr>
        <p:txBody>
          <a:bodyPr wrap="square">
            <a:spAutoFit/>
          </a:bodyPr>
          <a:lstStyle/>
          <a:p>
            <a:pPr marL="285750" indent="-285750" algn="l" fontAlgn="base">
              <a:lnSpc>
                <a:spcPct val="150000"/>
              </a:lnSpc>
              <a:buFont typeface="Arial" panose="020B0604020202020204" pitchFamily="34" charset="0"/>
              <a:buChar char="•"/>
            </a:pPr>
            <a:r>
              <a:rPr lang="en-IN" b="0" i="0" dirty="0">
                <a:effectLst/>
                <a:latin typeface="Calibri" panose="020F0502020204030204" pitchFamily="34" charset="0"/>
                <a:ea typeface="Calibri" panose="020F0502020204030204" pitchFamily="34" charset="0"/>
                <a:cs typeface="Calibri" panose="020F0502020204030204" pitchFamily="34" charset="0"/>
              </a:rPr>
              <a:t>Line Graph</a:t>
            </a:r>
          </a:p>
          <a:p>
            <a:pPr marL="285750" indent="-285750" algn="l" fontAlgn="base">
              <a:lnSpc>
                <a:spcPct val="150000"/>
              </a:lnSpc>
              <a:buFont typeface="Arial" panose="020B0604020202020204" pitchFamily="34" charset="0"/>
              <a:buChar char="•"/>
            </a:pPr>
            <a:r>
              <a:rPr lang="en-IN" b="0" i="0" dirty="0">
                <a:effectLst/>
                <a:latin typeface="Calibri" panose="020F0502020204030204" pitchFamily="34" charset="0"/>
                <a:ea typeface="Calibri" panose="020F0502020204030204" pitchFamily="34" charset="0"/>
                <a:cs typeface="Calibri" panose="020F0502020204030204" pitchFamily="34" charset="0"/>
              </a:rPr>
              <a:t>Stem Plot</a:t>
            </a:r>
          </a:p>
          <a:p>
            <a:pPr marL="285750" indent="-285750" algn="l" fontAlgn="base">
              <a:lnSpc>
                <a:spcPct val="150000"/>
              </a:lnSpc>
              <a:buFont typeface="Arial" panose="020B0604020202020204" pitchFamily="34" charset="0"/>
              <a:buChar char="•"/>
            </a:pPr>
            <a:r>
              <a:rPr lang="en-IN" b="0" i="0" dirty="0">
                <a:effectLst/>
                <a:latin typeface="Calibri" panose="020F0502020204030204" pitchFamily="34" charset="0"/>
                <a:ea typeface="Calibri" panose="020F0502020204030204" pitchFamily="34" charset="0"/>
                <a:cs typeface="Calibri" panose="020F0502020204030204" pitchFamily="34" charset="0"/>
              </a:rPr>
              <a:t>Bar chart</a:t>
            </a:r>
          </a:p>
          <a:p>
            <a:pPr marL="285750" indent="-285750" algn="l" fontAlgn="base">
              <a:lnSpc>
                <a:spcPct val="150000"/>
              </a:lnSpc>
              <a:buFont typeface="Arial" panose="020B0604020202020204" pitchFamily="34" charset="0"/>
              <a:buChar char="•"/>
            </a:pPr>
            <a:r>
              <a:rPr lang="en-IN" b="0" i="0" dirty="0">
                <a:effectLst/>
                <a:latin typeface="Calibri" panose="020F0502020204030204" pitchFamily="34" charset="0"/>
                <a:ea typeface="Calibri" panose="020F0502020204030204" pitchFamily="34" charset="0"/>
                <a:cs typeface="Calibri" panose="020F0502020204030204" pitchFamily="34" charset="0"/>
              </a:rPr>
              <a:t>Histograms</a:t>
            </a:r>
          </a:p>
          <a:p>
            <a:pPr marL="285750" indent="-285750" algn="l" fontAlgn="base">
              <a:lnSpc>
                <a:spcPct val="150000"/>
              </a:lnSpc>
              <a:buFont typeface="Arial" panose="020B0604020202020204" pitchFamily="34" charset="0"/>
              <a:buChar char="•"/>
            </a:pPr>
            <a:r>
              <a:rPr lang="en-IN" b="0" i="0" dirty="0">
                <a:effectLst/>
                <a:latin typeface="Calibri" panose="020F0502020204030204" pitchFamily="34" charset="0"/>
                <a:ea typeface="Calibri" panose="020F0502020204030204" pitchFamily="34" charset="0"/>
                <a:cs typeface="Calibri" panose="020F0502020204030204" pitchFamily="34" charset="0"/>
              </a:rPr>
              <a:t>Scatter Plot</a:t>
            </a:r>
          </a:p>
          <a:p>
            <a:pPr marL="285750" indent="-285750" algn="l" fontAlgn="base">
              <a:lnSpc>
                <a:spcPct val="150000"/>
              </a:lnSpc>
              <a:buFont typeface="Arial" panose="020B0604020202020204" pitchFamily="34" charset="0"/>
              <a:buChar char="•"/>
            </a:pPr>
            <a:r>
              <a:rPr lang="en-IN" b="0" i="0" dirty="0">
                <a:effectLst/>
                <a:latin typeface="Calibri" panose="020F0502020204030204" pitchFamily="34" charset="0"/>
                <a:ea typeface="Calibri" panose="020F0502020204030204" pitchFamily="34" charset="0"/>
                <a:cs typeface="Calibri" panose="020F0502020204030204" pitchFamily="34" charset="0"/>
              </a:rPr>
              <a:t>Stack Plot</a:t>
            </a:r>
          </a:p>
          <a:p>
            <a:pPr marL="285750" indent="-285750" algn="l" fontAlgn="base">
              <a:lnSpc>
                <a:spcPct val="150000"/>
              </a:lnSpc>
              <a:buFont typeface="Arial" panose="020B0604020202020204" pitchFamily="34" charset="0"/>
              <a:buChar char="•"/>
            </a:pPr>
            <a:r>
              <a:rPr lang="en-IN" b="0" i="0" dirty="0">
                <a:effectLst/>
                <a:latin typeface="Calibri" panose="020F0502020204030204" pitchFamily="34" charset="0"/>
                <a:ea typeface="Calibri" panose="020F0502020204030204" pitchFamily="34" charset="0"/>
                <a:cs typeface="Calibri" panose="020F0502020204030204" pitchFamily="34" charset="0"/>
              </a:rPr>
              <a:t>Box Plot</a:t>
            </a:r>
          </a:p>
          <a:p>
            <a:pPr marL="285750" indent="-285750" algn="l" fontAlgn="base">
              <a:lnSpc>
                <a:spcPct val="150000"/>
              </a:lnSpc>
              <a:buFont typeface="Arial" panose="020B0604020202020204" pitchFamily="34" charset="0"/>
              <a:buChar char="•"/>
            </a:pPr>
            <a:r>
              <a:rPr lang="en-IN" b="0" i="0" dirty="0">
                <a:effectLst/>
                <a:latin typeface="Calibri" panose="020F0502020204030204" pitchFamily="34" charset="0"/>
                <a:ea typeface="Calibri" panose="020F0502020204030204" pitchFamily="34" charset="0"/>
                <a:cs typeface="Calibri" panose="020F0502020204030204" pitchFamily="34" charset="0"/>
              </a:rPr>
              <a:t>Pie Chart</a:t>
            </a:r>
          </a:p>
          <a:p>
            <a:pPr marL="285750" indent="-285750" algn="l" fontAlgn="base">
              <a:lnSpc>
                <a:spcPct val="150000"/>
              </a:lnSpc>
              <a:buFont typeface="Arial" panose="020B0604020202020204" pitchFamily="34" charset="0"/>
              <a:buChar char="•"/>
            </a:pPr>
            <a:r>
              <a:rPr lang="en-IN" b="0" i="0" dirty="0">
                <a:effectLst/>
                <a:latin typeface="Calibri" panose="020F0502020204030204" pitchFamily="34" charset="0"/>
                <a:ea typeface="Calibri" panose="020F0502020204030204" pitchFamily="34" charset="0"/>
                <a:cs typeface="Calibri" panose="020F0502020204030204" pitchFamily="34" charset="0"/>
              </a:rPr>
              <a:t>Error Plot</a:t>
            </a:r>
          </a:p>
          <a:p>
            <a:pPr marL="285750" indent="-285750" algn="l" fontAlgn="base">
              <a:lnSpc>
                <a:spcPct val="150000"/>
              </a:lnSpc>
              <a:buFont typeface="Arial" panose="020B0604020202020204" pitchFamily="34" charset="0"/>
              <a:buChar char="•"/>
            </a:pPr>
            <a:r>
              <a:rPr lang="en-IN" b="0" i="0" dirty="0">
                <a:effectLst/>
                <a:latin typeface="Calibri" panose="020F0502020204030204" pitchFamily="34" charset="0"/>
                <a:ea typeface="Calibri" panose="020F0502020204030204" pitchFamily="34" charset="0"/>
                <a:cs typeface="Calibri" panose="020F0502020204030204" pitchFamily="34" charset="0"/>
              </a:rPr>
              <a:t>Violin Plot</a:t>
            </a:r>
          </a:p>
          <a:p>
            <a:pPr marL="285750" indent="-285750" algn="l" fontAlgn="base">
              <a:lnSpc>
                <a:spcPct val="150000"/>
              </a:lnSpc>
              <a:buFont typeface="Arial" panose="020B0604020202020204" pitchFamily="34" charset="0"/>
              <a:buChar char="•"/>
            </a:pPr>
            <a:r>
              <a:rPr lang="en-IN" b="0" i="0" dirty="0">
                <a:effectLst/>
                <a:latin typeface="Calibri" panose="020F0502020204030204" pitchFamily="34" charset="0"/>
                <a:ea typeface="Calibri" panose="020F0502020204030204" pitchFamily="34" charset="0"/>
                <a:cs typeface="Calibri" panose="020F0502020204030204" pitchFamily="34" charset="0"/>
              </a:rPr>
              <a:t>3D Plots</a:t>
            </a:r>
            <a:endParaRPr lang="en-US"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5122" name="Picture 2" descr="Types of plots and graphs in python ...">
            <a:extLst>
              <a:ext uri="{FF2B5EF4-FFF2-40B4-BE49-F238E27FC236}">
                <a16:creationId xmlns:a16="http://schemas.microsoft.com/office/drawing/2014/main" id="{1C66E150-B314-0658-4560-529F5178B9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9818" y="2052309"/>
            <a:ext cx="6037853" cy="3424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8195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extLst>
              <p:ext uri="{D42A27DB-BD31-4B8C-83A1-F6EECF244321}">
                <p14:modId xmlns:p14="http://schemas.microsoft.com/office/powerpoint/2010/main" val="1039205311"/>
              </p:ext>
            </p:extLst>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8</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74340"/>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Different plot styles in Matplotlib</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4204356"/>
          </a:xfrm>
          <a:prstGeom prst="rect">
            <a:avLst/>
          </a:prstGeom>
          <a:noFill/>
        </p:spPr>
        <p:txBody>
          <a:bodyPr wrap="square">
            <a:spAutoFit/>
          </a:bodyPr>
          <a:lstStyle/>
          <a:p>
            <a:pPr marL="285750" indent="-285750" algn="l" fontAlgn="base">
              <a:lnSpc>
                <a:spcPct val="150000"/>
              </a:lnSpc>
              <a:buFont typeface="Arial" panose="020B0604020202020204" pitchFamily="34" charset="0"/>
              <a:buChar char="•"/>
            </a:pPr>
            <a:r>
              <a:rPr lang="en-IN" b="0" i="0" dirty="0">
                <a:effectLst/>
                <a:latin typeface="Calibri" panose="020F0502020204030204" pitchFamily="34" charset="0"/>
                <a:ea typeface="Calibri" panose="020F0502020204030204" pitchFamily="34" charset="0"/>
                <a:cs typeface="Calibri" panose="020F0502020204030204" pitchFamily="34" charset="0"/>
              </a:rPr>
              <a:t>Python </a:t>
            </a:r>
            <a:r>
              <a:rPr lang="en-IN" b="0" i="0" dirty="0" err="1">
                <a:effectLst/>
                <a:latin typeface="Calibri" panose="020F0502020204030204" pitchFamily="34" charset="0"/>
                <a:ea typeface="Calibri" panose="020F0502020204030204" pitchFamily="34" charset="0"/>
                <a:cs typeface="Calibri" panose="020F0502020204030204" pitchFamily="34" charset="0"/>
              </a:rPr>
              <a:t>Pyplot</a:t>
            </a:r>
            <a:endParaRPr lang="en-IN" b="0" i="0"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lgn="l" fontAlgn="base">
              <a:lnSpc>
                <a:spcPct val="150000"/>
              </a:lnSpc>
              <a:buFont typeface="Arial" panose="020B0604020202020204" pitchFamily="34" charset="0"/>
              <a:buChar char="•"/>
            </a:pPr>
            <a:r>
              <a:rPr lang="en-IN" b="0" i="0" dirty="0">
                <a:effectLst/>
                <a:latin typeface="Calibri" panose="020F0502020204030204" pitchFamily="34" charset="0"/>
                <a:ea typeface="Calibri" panose="020F0502020204030204" pitchFamily="34" charset="0"/>
                <a:cs typeface="Calibri" panose="020F0502020204030204" pitchFamily="34" charset="0"/>
              </a:rPr>
              <a:t>Matplotlib Figure Class</a:t>
            </a:r>
          </a:p>
          <a:p>
            <a:pPr marL="285750" indent="-285750" algn="l" fontAlgn="base">
              <a:lnSpc>
                <a:spcPct val="150000"/>
              </a:lnSpc>
              <a:buFont typeface="Arial" panose="020B0604020202020204" pitchFamily="34" charset="0"/>
              <a:buChar char="•"/>
            </a:pPr>
            <a:r>
              <a:rPr lang="en-IN" b="0" i="0" dirty="0">
                <a:effectLst/>
                <a:latin typeface="Calibri" panose="020F0502020204030204" pitchFamily="34" charset="0"/>
                <a:ea typeface="Calibri" panose="020F0502020204030204" pitchFamily="34" charset="0"/>
                <a:cs typeface="Calibri" panose="020F0502020204030204" pitchFamily="34" charset="0"/>
              </a:rPr>
              <a:t>Matplotlib Axes Class</a:t>
            </a:r>
          </a:p>
          <a:p>
            <a:pPr marL="285750" indent="-285750" algn="l" fontAlgn="base">
              <a:lnSpc>
                <a:spcPct val="150000"/>
              </a:lnSpc>
              <a:buFont typeface="Arial" panose="020B0604020202020204" pitchFamily="34" charset="0"/>
              <a:buChar char="•"/>
            </a:pPr>
            <a:r>
              <a:rPr lang="en-IN" b="0" i="0" dirty="0">
                <a:effectLst/>
                <a:latin typeface="Calibri" panose="020F0502020204030204" pitchFamily="34" charset="0"/>
                <a:ea typeface="Calibri" panose="020F0502020204030204" pitchFamily="34" charset="0"/>
                <a:cs typeface="Calibri" panose="020F0502020204030204" pitchFamily="34" charset="0"/>
              </a:rPr>
              <a:t>Set </a:t>
            </a:r>
            <a:r>
              <a:rPr lang="en-IN" b="0" i="0" dirty="0" err="1">
                <a:effectLst/>
                <a:latin typeface="Calibri" panose="020F0502020204030204" pitchFamily="34" charset="0"/>
                <a:ea typeface="Calibri" panose="020F0502020204030204" pitchFamily="34" charset="0"/>
                <a:cs typeface="Calibri" panose="020F0502020204030204" pitchFamily="34" charset="0"/>
              </a:rPr>
              <a:t>Colors</a:t>
            </a:r>
            <a:r>
              <a:rPr lang="en-IN" b="0" i="0" dirty="0">
                <a:effectLst/>
                <a:latin typeface="Calibri" panose="020F0502020204030204" pitchFamily="34" charset="0"/>
                <a:ea typeface="Calibri" panose="020F0502020204030204" pitchFamily="34" charset="0"/>
                <a:cs typeface="Calibri" panose="020F0502020204030204" pitchFamily="34" charset="0"/>
              </a:rPr>
              <a:t> in Matplotlib</a:t>
            </a:r>
          </a:p>
          <a:p>
            <a:pPr marL="285750" indent="-285750" algn="l" fontAlgn="base">
              <a:lnSpc>
                <a:spcPct val="150000"/>
              </a:lnSpc>
              <a:buFont typeface="Arial" panose="020B0604020202020204" pitchFamily="34" charset="0"/>
              <a:buChar char="•"/>
            </a:pPr>
            <a:r>
              <a:rPr lang="en-IN" b="0" i="0" dirty="0">
                <a:effectLst/>
                <a:latin typeface="Calibri" panose="020F0502020204030204" pitchFamily="34" charset="0"/>
                <a:ea typeface="Calibri" panose="020F0502020204030204" pitchFamily="34" charset="0"/>
                <a:cs typeface="Calibri" panose="020F0502020204030204" pitchFamily="34" charset="0"/>
              </a:rPr>
              <a:t>Add Text, Font and Grid lines in Matplotlib</a:t>
            </a:r>
          </a:p>
          <a:p>
            <a:pPr marL="285750" indent="-285750" algn="l" fontAlgn="base">
              <a:lnSpc>
                <a:spcPct val="150000"/>
              </a:lnSpc>
              <a:buFont typeface="Arial" panose="020B0604020202020204" pitchFamily="34" charset="0"/>
              <a:buChar char="•"/>
            </a:pPr>
            <a:r>
              <a:rPr lang="en-IN" b="0" i="0" dirty="0">
                <a:effectLst/>
                <a:latin typeface="Calibri" panose="020F0502020204030204" pitchFamily="34" charset="0"/>
                <a:ea typeface="Calibri" panose="020F0502020204030204" pitchFamily="34" charset="0"/>
                <a:cs typeface="Calibri" panose="020F0502020204030204" pitchFamily="34" charset="0"/>
              </a:rPr>
              <a:t>Custom Legends with Matplotlib</a:t>
            </a:r>
          </a:p>
          <a:p>
            <a:pPr marL="285750" indent="-285750" algn="l" fontAlgn="base">
              <a:lnSpc>
                <a:spcPct val="150000"/>
              </a:lnSpc>
              <a:buFont typeface="Arial" panose="020B0604020202020204" pitchFamily="34" charset="0"/>
              <a:buChar char="•"/>
            </a:pPr>
            <a:r>
              <a:rPr lang="en-IN" b="0" i="0" dirty="0">
                <a:effectLst/>
                <a:latin typeface="Calibri" panose="020F0502020204030204" pitchFamily="34" charset="0"/>
                <a:ea typeface="Calibri" panose="020F0502020204030204" pitchFamily="34" charset="0"/>
                <a:cs typeface="Calibri" panose="020F0502020204030204" pitchFamily="34" charset="0"/>
              </a:rPr>
              <a:t>Matplotlib Ticks and Tick Labels</a:t>
            </a:r>
          </a:p>
          <a:p>
            <a:pPr marL="285750" indent="-285750" algn="l" fontAlgn="base">
              <a:lnSpc>
                <a:spcPct val="150000"/>
              </a:lnSpc>
              <a:buFont typeface="Arial" panose="020B0604020202020204" pitchFamily="34" charset="0"/>
              <a:buChar char="•"/>
            </a:pPr>
            <a:r>
              <a:rPr lang="en-IN" b="0" i="0" dirty="0">
                <a:effectLst/>
                <a:latin typeface="Calibri" panose="020F0502020204030204" pitchFamily="34" charset="0"/>
                <a:ea typeface="Calibri" panose="020F0502020204030204" pitchFamily="34" charset="0"/>
                <a:cs typeface="Calibri" panose="020F0502020204030204" pitchFamily="34" charset="0"/>
              </a:rPr>
              <a:t>Style Plots using Matplotlib</a:t>
            </a:r>
          </a:p>
          <a:p>
            <a:pPr marL="285750" indent="-285750" algn="l" fontAlgn="base">
              <a:lnSpc>
                <a:spcPct val="150000"/>
              </a:lnSpc>
              <a:buFont typeface="Arial" panose="020B0604020202020204" pitchFamily="34" charset="0"/>
              <a:buChar char="•"/>
            </a:pPr>
            <a:r>
              <a:rPr lang="en-IN" b="0" i="0" dirty="0">
                <a:effectLst/>
                <a:latin typeface="Calibri" panose="020F0502020204030204" pitchFamily="34" charset="0"/>
                <a:ea typeface="Calibri" panose="020F0502020204030204" pitchFamily="34" charset="0"/>
                <a:cs typeface="Calibri" panose="020F0502020204030204" pitchFamily="34" charset="0"/>
              </a:rPr>
              <a:t>Create Multiple Subplots in Matplotlib</a:t>
            </a:r>
          </a:p>
          <a:p>
            <a:pPr marL="285750" indent="-285750" algn="l" fontAlgn="base">
              <a:lnSpc>
                <a:spcPct val="150000"/>
              </a:lnSpc>
              <a:buFont typeface="Arial" panose="020B0604020202020204" pitchFamily="34" charset="0"/>
              <a:buChar char="•"/>
            </a:pPr>
            <a:r>
              <a:rPr lang="en-IN" b="0" i="0" dirty="0">
                <a:effectLst/>
                <a:latin typeface="Calibri" panose="020F0502020204030204" pitchFamily="34" charset="0"/>
                <a:ea typeface="Calibri" panose="020F0502020204030204" pitchFamily="34" charset="0"/>
                <a:cs typeface="Calibri" panose="020F0502020204030204" pitchFamily="34" charset="0"/>
              </a:rPr>
              <a:t>Working With Images In Matplotlib</a:t>
            </a:r>
          </a:p>
        </p:txBody>
      </p:sp>
      <p:pic>
        <p:nvPicPr>
          <p:cNvPr id="6146" name="Picture 2" descr="matplotlib : Types of Plots ...">
            <a:extLst>
              <a:ext uri="{FF2B5EF4-FFF2-40B4-BE49-F238E27FC236}">
                <a16:creationId xmlns:a16="http://schemas.microsoft.com/office/drawing/2014/main" id="{5E9403DC-68E9-A7C7-6F57-87496E6092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3416" y="2360905"/>
            <a:ext cx="5053573" cy="2632408"/>
          </a:xfrm>
          <a:prstGeom prst="rect">
            <a:avLst/>
          </a:prstGeom>
          <a:noFill/>
          <a:ln w="635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5837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1</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4" name="Rectangle 13">
            <a:extLst>
              <a:ext uri="{FF2B5EF4-FFF2-40B4-BE49-F238E27FC236}">
                <a16:creationId xmlns:a16="http://schemas.microsoft.com/office/drawing/2014/main" id="{6EB9A5F7-B7D7-E008-8229-AD564931BCC6}"/>
              </a:ext>
            </a:extLst>
          </p:cNvPr>
          <p:cNvSpPr/>
          <p:nvPr/>
        </p:nvSpPr>
        <p:spPr>
          <a:xfrm>
            <a:off x="5076359" y="2967335"/>
            <a:ext cx="2039341" cy="707886"/>
          </a:xfrm>
          <a:prstGeom prst="rect">
            <a:avLst/>
          </a:prstGeom>
          <a:noFill/>
        </p:spPr>
        <p:txBody>
          <a:bodyPr wrap="none" lIns="91440" tIns="45720" rIns="91440" bIns="45720">
            <a:spAutoFit/>
          </a:bodyPr>
          <a:lstStyle/>
          <a:p>
            <a:pPr algn="ctr"/>
            <a:r>
              <a:rPr lang="en-US" sz="4000" b="1" dirty="0">
                <a:effectLst/>
                <a:latin typeface="Calibri" panose="020F0502020204030204" pitchFamily="34" charset="0"/>
                <a:ea typeface="Calibri" panose="020F0502020204030204" pitchFamily="34" charset="0"/>
                <a:cs typeface="Calibri" panose="020F0502020204030204" pitchFamily="34" charset="0"/>
              </a:rPr>
              <a:t>Subplots</a:t>
            </a:r>
            <a:endParaRPr lang="en-GB"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0094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2</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74340"/>
            <a:ext cx="12191999" cy="646331"/>
          </a:xfrm>
          <a:prstGeom prst="rect">
            <a:avLst/>
          </a:prstGeom>
          <a:noFill/>
        </p:spPr>
        <p:txBody>
          <a:bodyPr wrap="square">
            <a:spAutoFit/>
          </a:bodyPr>
          <a:lstStyle/>
          <a:p>
            <a:pPr algn="ctr"/>
            <a:r>
              <a:rPr lang="en-US" sz="3600" b="1" dirty="0" err="1">
                <a:effectLst/>
                <a:latin typeface="Calibri" panose="020F0502020204030204" pitchFamily="34" charset="0"/>
                <a:ea typeface="Calibri" panose="020F0502020204030204" pitchFamily="34" charset="0"/>
                <a:cs typeface="Calibri" panose="020F0502020204030204" pitchFamily="34" charset="0"/>
              </a:rPr>
              <a:t>Pyplot</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3788858"/>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The </a:t>
            </a:r>
            <a:r>
              <a:rPr lang="en-US" b="1" i="0" dirty="0" err="1">
                <a:effectLst/>
                <a:latin typeface="Calibri" panose="020F0502020204030204" pitchFamily="34" charset="0"/>
                <a:ea typeface="Calibri" panose="020F0502020204030204" pitchFamily="34" charset="0"/>
                <a:cs typeface="Calibri" panose="020F0502020204030204" pitchFamily="34" charset="0"/>
              </a:rPr>
              <a:t>matplotlib.pyplot</a:t>
            </a:r>
            <a:r>
              <a:rPr lang="en-US" b="0" i="0" dirty="0">
                <a:effectLst/>
                <a:latin typeface="Calibri" panose="020F0502020204030204" pitchFamily="34" charset="0"/>
                <a:ea typeface="Calibri" panose="020F0502020204030204" pitchFamily="34" charset="0"/>
                <a:cs typeface="Calibri" panose="020F0502020204030204" pitchFamily="34" charset="0"/>
              </a:rPr>
              <a:t> is the collection command style functions that make matplotlib feel like working with MATLAB. </a:t>
            </a:r>
          </a:p>
          <a:p>
            <a:pPr marL="285750" indent="-285750" algn="just">
              <a:lnSpc>
                <a:spcPct val="150000"/>
              </a:lnSpc>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The </a:t>
            </a:r>
            <a:r>
              <a:rPr lang="en-US" b="0" i="0" dirty="0" err="1">
                <a:effectLst/>
                <a:latin typeface="Calibri" panose="020F0502020204030204" pitchFamily="34" charset="0"/>
                <a:ea typeface="Calibri" panose="020F0502020204030204" pitchFamily="34" charset="0"/>
                <a:cs typeface="Calibri" panose="020F0502020204030204" pitchFamily="34" charset="0"/>
              </a:rPr>
              <a:t>pyplot</a:t>
            </a:r>
            <a:r>
              <a:rPr lang="en-US" b="0" i="0" dirty="0">
                <a:effectLst/>
                <a:latin typeface="Calibri" panose="020F0502020204030204" pitchFamily="34" charset="0"/>
                <a:ea typeface="Calibri" panose="020F0502020204030204" pitchFamily="34" charset="0"/>
                <a:cs typeface="Calibri" panose="020F0502020204030204" pitchFamily="34" charset="0"/>
              </a:rPr>
              <a:t> functions are used to make some changes to figure such as create a figure, creates a plotting area in a figure, plots some lines in a plotting area, decorates the plot including labels, etc.</a:t>
            </a:r>
          </a:p>
          <a:p>
            <a:pPr marL="285750" indent="-285750" algn="just">
              <a:lnSpc>
                <a:spcPct val="150000"/>
              </a:lnSpc>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The </a:t>
            </a:r>
            <a:r>
              <a:rPr lang="en-US" b="0" i="0" dirty="0" err="1">
                <a:effectLst/>
                <a:latin typeface="Calibri" panose="020F0502020204030204" pitchFamily="34" charset="0"/>
                <a:ea typeface="Calibri" panose="020F0502020204030204" pitchFamily="34" charset="0"/>
                <a:cs typeface="Calibri" panose="020F0502020204030204" pitchFamily="34" charset="0"/>
              </a:rPr>
              <a:t>pyplot</a:t>
            </a:r>
            <a:r>
              <a:rPr lang="en-US" b="0" i="0" dirty="0">
                <a:effectLst/>
                <a:latin typeface="Calibri" panose="020F0502020204030204" pitchFamily="34" charset="0"/>
                <a:ea typeface="Calibri" panose="020F0502020204030204" pitchFamily="34" charset="0"/>
                <a:cs typeface="Calibri" panose="020F0502020204030204" pitchFamily="34" charset="0"/>
              </a:rPr>
              <a:t> module provide the </a:t>
            </a:r>
            <a:r>
              <a:rPr lang="en-US" b="1" i="0" dirty="0">
                <a:effectLst/>
                <a:latin typeface="Calibri" panose="020F0502020204030204" pitchFamily="34" charset="0"/>
                <a:ea typeface="Calibri" panose="020F0502020204030204" pitchFamily="34" charset="0"/>
                <a:cs typeface="Calibri" panose="020F0502020204030204" pitchFamily="34" charset="0"/>
              </a:rPr>
              <a:t>plot()</a:t>
            </a:r>
            <a:r>
              <a:rPr lang="en-US" b="0" i="0" dirty="0">
                <a:effectLst/>
                <a:latin typeface="Calibri" panose="020F0502020204030204" pitchFamily="34" charset="0"/>
                <a:ea typeface="Calibri" panose="020F0502020204030204" pitchFamily="34" charset="0"/>
                <a:cs typeface="Calibri" panose="020F0502020204030204" pitchFamily="34" charset="0"/>
              </a:rPr>
              <a:t> function which is frequently use to plot a graph. </a:t>
            </a:r>
          </a:p>
          <a:p>
            <a:pPr algn="just">
              <a:lnSpc>
                <a:spcPct val="150000"/>
              </a:lnSpc>
            </a:pPr>
            <a:br>
              <a:rPr lang="en-US" dirty="0">
                <a:latin typeface="Calibri" panose="020F0502020204030204" pitchFamily="34" charset="0"/>
                <a:ea typeface="Calibri" panose="020F0502020204030204" pitchFamily="34" charset="0"/>
                <a:cs typeface="Calibri" panose="020F0502020204030204" pitchFamily="34" charset="0"/>
              </a:rPr>
            </a:b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a:t>
            </a:r>
            <a:br>
              <a:rPr lang="en-US" dirty="0">
                <a:latin typeface="Calibri" panose="020F0502020204030204" pitchFamily="34" charset="0"/>
                <a:ea typeface="Calibri" panose="020F0502020204030204" pitchFamily="34" charset="0"/>
                <a:cs typeface="Calibri" panose="020F0502020204030204" pitchFamily="34" charset="0"/>
              </a:rPr>
            </a:br>
            <a:endPar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12830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3</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74340"/>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Import </a:t>
            </a:r>
            <a:r>
              <a:rPr lang="en-US" sz="3600" b="1" dirty="0" err="1">
                <a:effectLst/>
                <a:latin typeface="Calibri" panose="020F0502020204030204" pitchFamily="34" charset="0"/>
                <a:ea typeface="Calibri" panose="020F0502020204030204" pitchFamily="34" charset="0"/>
                <a:cs typeface="Calibri" panose="020F0502020204030204" pitchFamily="34" charset="0"/>
              </a:rPr>
              <a:t>Pyplot</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1295868"/>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Most of the Matplotlib utilities lies under the </a:t>
            </a:r>
            <a:r>
              <a:rPr lang="en-US" b="0" i="0" dirty="0" err="1">
                <a:effectLst/>
                <a:latin typeface="Calibri" panose="020F0502020204030204" pitchFamily="34" charset="0"/>
                <a:ea typeface="Calibri" panose="020F0502020204030204" pitchFamily="34" charset="0"/>
                <a:cs typeface="Calibri" panose="020F0502020204030204" pitchFamily="34" charset="0"/>
              </a:rPr>
              <a:t>pyplot</a:t>
            </a:r>
            <a:r>
              <a:rPr lang="en-US" b="0" i="0" dirty="0">
                <a:effectLst/>
                <a:latin typeface="Calibri" panose="020F0502020204030204" pitchFamily="34" charset="0"/>
                <a:ea typeface="Calibri" panose="020F0502020204030204" pitchFamily="34" charset="0"/>
                <a:cs typeface="Calibri" panose="020F0502020204030204" pitchFamily="34" charset="0"/>
              </a:rPr>
              <a:t> submodule, and are usually imported under the </a:t>
            </a:r>
            <a:r>
              <a:rPr lang="en-US" b="0" i="0" dirty="0" err="1">
                <a:effectLst/>
                <a:latin typeface="Calibri" panose="020F0502020204030204" pitchFamily="34" charset="0"/>
                <a:ea typeface="Calibri" panose="020F0502020204030204" pitchFamily="34" charset="0"/>
                <a:cs typeface="Calibri" panose="020F0502020204030204" pitchFamily="34" charset="0"/>
              </a:rPr>
              <a:t>plt</a:t>
            </a:r>
            <a:r>
              <a:rPr lang="en-US" b="0" i="0" dirty="0">
                <a:effectLst/>
                <a:latin typeface="Calibri" panose="020F0502020204030204" pitchFamily="34" charset="0"/>
                <a:ea typeface="Calibri" panose="020F0502020204030204" pitchFamily="34" charset="0"/>
                <a:cs typeface="Calibri" panose="020F0502020204030204" pitchFamily="34" charset="0"/>
              </a:rPr>
              <a:t> alias:</a:t>
            </a:r>
          </a:p>
          <a:p>
            <a:pPr algn="just">
              <a:lnSpc>
                <a:spcPct val="150000"/>
              </a:lnSpc>
            </a:pPr>
            <a:r>
              <a:rPr lang="en-US" b="0" i="0" dirty="0">
                <a:effectLst/>
                <a:latin typeface="Calibri" panose="020F0502020204030204" pitchFamily="34" charset="0"/>
                <a:ea typeface="Calibri" panose="020F0502020204030204" pitchFamily="34" charset="0"/>
                <a:cs typeface="Calibri" panose="020F0502020204030204" pitchFamily="34" charset="0"/>
              </a:rPr>
              <a:t>                         import </a:t>
            </a:r>
            <a:r>
              <a:rPr lang="en-US" b="0" i="0" dirty="0" err="1">
                <a:effectLst/>
                <a:latin typeface="Calibri" panose="020F0502020204030204" pitchFamily="34" charset="0"/>
                <a:ea typeface="Calibri" panose="020F0502020204030204" pitchFamily="34" charset="0"/>
                <a:cs typeface="Calibri" panose="020F0502020204030204" pitchFamily="34" charset="0"/>
              </a:rPr>
              <a:t>matplotlib.pyplot</a:t>
            </a:r>
            <a:r>
              <a:rPr lang="en-US" b="0" i="0" dirty="0">
                <a:effectLst/>
                <a:latin typeface="Calibri" panose="020F0502020204030204" pitchFamily="34" charset="0"/>
                <a:ea typeface="Calibri" panose="020F0502020204030204" pitchFamily="34" charset="0"/>
                <a:cs typeface="Calibri" panose="020F0502020204030204" pitchFamily="34" charset="0"/>
              </a:rPr>
              <a:t> as </a:t>
            </a:r>
            <a:r>
              <a:rPr lang="en-US" b="0" i="0" dirty="0" err="1">
                <a:effectLst/>
                <a:latin typeface="Calibri" panose="020F0502020204030204" pitchFamily="34" charset="0"/>
                <a:ea typeface="Calibri" panose="020F0502020204030204" pitchFamily="34" charset="0"/>
                <a:cs typeface="Calibri" panose="020F0502020204030204" pitchFamily="34" charset="0"/>
              </a:rPr>
              <a:t>plt</a:t>
            </a: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285750" indent="-285750" algn="just">
              <a:lnSpc>
                <a:spcPct val="150000"/>
              </a:lnSpc>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Now the </a:t>
            </a:r>
            <a:r>
              <a:rPr lang="en-US" b="0" i="0" dirty="0" err="1">
                <a:effectLst/>
                <a:latin typeface="Calibri" panose="020F0502020204030204" pitchFamily="34" charset="0"/>
                <a:ea typeface="Calibri" panose="020F0502020204030204" pitchFamily="34" charset="0"/>
                <a:cs typeface="Calibri" panose="020F0502020204030204" pitchFamily="34" charset="0"/>
              </a:rPr>
              <a:t>Pyplot</a:t>
            </a:r>
            <a:r>
              <a:rPr lang="en-US" b="0" i="0" dirty="0">
                <a:effectLst/>
                <a:latin typeface="Calibri" panose="020F0502020204030204" pitchFamily="34" charset="0"/>
                <a:ea typeface="Calibri" panose="020F0502020204030204" pitchFamily="34" charset="0"/>
                <a:cs typeface="Calibri" panose="020F0502020204030204" pitchFamily="34" charset="0"/>
              </a:rPr>
              <a:t> package can be referred to as </a:t>
            </a:r>
            <a:r>
              <a:rPr lang="en-US" b="0" i="0" dirty="0" err="1">
                <a:effectLst/>
                <a:latin typeface="Calibri" panose="020F0502020204030204" pitchFamily="34" charset="0"/>
                <a:ea typeface="Calibri" panose="020F0502020204030204" pitchFamily="34" charset="0"/>
                <a:cs typeface="Calibri" panose="020F0502020204030204" pitchFamily="34" charset="0"/>
              </a:rPr>
              <a:t>plt</a:t>
            </a:r>
            <a:r>
              <a:rPr lang="en-US" b="0" i="0" dirty="0">
                <a:effectLst/>
                <a:latin typeface="Calibri" panose="020F0502020204030204" pitchFamily="34" charset="0"/>
                <a:ea typeface="Calibri" panose="020F0502020204030204" pitchFamily="34" charset="0"/>
                <a:cs typeface="Calibri" panose="020F0502020204030204" pitchFamily="34" charset="0"/>
              </a:rPr>
              <a:t>.</a:t>
            </a:r>
            <a:endPar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F02AB9F6-F4CF-5106-A388-F68CC2C6D8FB}"/>
              </a:ext>
            </a:extLst>
          </p:cNvPr>
          <p:cNvPicPr>
            <a:picLocks noChangeAspect="1"/>
          </p:cNvPicPr>
          <p:nvPr/>
        </p:nvPicPr>
        <p:blipFill>
          <a:blip r:embed="rId3"/>
          <a:stretch>
            <a:fillRect/>
          </a:stretch>
        </p:blipFill>
        <p:spPr>
          <a:xfrm>
            <a:off x="1088062" y="3429000"/>
            <a:ext cx="3941138" cy="2596784"/>
          </a:xfrm>
          <a:prstGeom prst="rect">
            <a:avLst/>
          </a:prstGeom>
          <a:ln w="6350">
            <a:solidFill>
              <a:schemeClr val="tx1"/>
            </a:solidFill>
          </a:ln>
        </p:spPr>
      </p:pic>
      <p:pic>
        <p:nvPicPr>
          <p:cNvPr id="8" name="Picture 7">
            <a:extLst>
              <a:ext uri="{FF2B5EF4-FFF2-40B4-BE49-F238E27FC236}">
                <a16:creationId xmlns:a16="http://schemas.microsoft.com/office/drawing/2014/main" id="{C2668327-9543-E808-279D-30532810BDB2}"/>
              </a:ext>
            </a:extLst>
          </p:cNvPr>
          <p:cNvPicPr>
            <a:picLocks noChangeAspect="1"/>
          </p:cNvPicPr>
          <p:nvPr/>
        </p:nvPicPr>
        <p:blipFill>
          <a:blip r:embed="rId4"/>
          <a:srcRect l="6044" t="9277" r="8316" b="3473"/>
          <a:stretch/>
        </p:blipFill>
        <p:spPr>
          <a:xfrm>
            <a:off x="7543801" y="3200400"/>
            <a:ext cx="3713186" cy="2825384"/>
          </a:xfrm>
          <a:prstGeom prst="rect">
            <a:avLst/>
          </a:prstGeom>
        </p:spPr>
      </p:pic>
      <p:sp>
        <p:nvSpPr>
          <p:cNvPr id="11" name="Arrow: Right 10">
            <a:extLst>
              <a:ext uri="{FF2B5EF4-FFF2-40B4-BE49-F238E27FC236}">
                <a16:creationId xmlns:a16="http://schemas.microsoft.com/office/drawing/2014/main" id="{64D7A81E-B276-84ED-2200-D80CDD3E67C4}"/>
              </a:ext>
            </a:extLst>
          </p:cNvPr>
          <p:cNvSpPr/>
          <p:nvPr/>
        </p:nvSpPr>
        <p:spPr>
          <a:xfrm>
            <a:off x="5526157" y="4555924"/>
            <a:ext cx="1321904" cy="2446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5422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4</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74340"/>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Subplots </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337303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The Matplotlib </a:t>
            </a:r>
            <a:r>
              <a:rPr lang="en-US" b="1" i="0" dirty="0">
                <a:effectLst/>
                <a:latin typeface="Calibri" panose="020F0502020204030204" pitchFamily="34" charset="0"/>
                <a:ea typeface="Calibri" panose="020F0502020204030204" pitchFamily="34" charset="0"/>
                <a:cs typeface="Calibri" panose="020F0502020204030204" pitchFamily="34" charset="0"/>
              </a:rPr>
              <a:t>subplot()</a:t>
            </a:r>
            <a:r>
              <a:rPr lang="en-US" b="0" i="0" dirty="0">
                <a:effectLst/>
                <a:latin typeface="Calibri" panose="020F0502020204030204" pitchFamily="34" charset="0"/>
                <a:ea typeface="Calibri" panose="020F0502020204030204" pitchFamily="34" charset="0"/>
                <a:cs typeface="Calibri" panose="020F0502020204030204" pitchFamily="34" charset="0"/>
              </a:rPr>
              <a:t> function is defined as to plot two or more plots in one figure. </a:t>
            </a:r>
          </a:p>
          <a:p>
            <a:pPr marL="285750" indent="-285750" algn="just">
              <a:lnSpc>
                <a:spcPct val="150000"/>
              </a:lnSpc>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We can use this method to separate two graphs which plotted in the same axis Matplotlib supports all kinds of subplots, including 2x1 vertical, 2x1 horizontal, or a 2x2 grid.</a:t>
            </a:r>
          </a:p>
          <a:p>
            <a:pPr marL="285750" indent="-285750" algn="just">
              <a:lnSpc>
                <a:spcPct val="150000"/>
              </a:lnSpc>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It accepts the three arguments: they are </a:t>
            </a:r>
            <a:r>
              <a:rPr lang="en-US" b="1" i="0" dirty="0" err="1">
                <a:effectLst/>
                <a:latin typeface="Calibri" panose="020F0502020204030204" pitchFamily="34" charset="0"/>
                <a:ea typeface="Calibri" panose="020F0502020204030204" pitchFamily="34" charset="0"/>
                <a:cs typeface="Calibri" panose="020F0502020204030204" pitchFamily="34" charset="0"/>
              </a:rPr>
              <a:t>nrows</a:t>
            </a:r>
            <a:r>
              <a:rPr lang="en-US" b="1" i="0" dirty="0">
                <a:effectLst/>
                <a:latin typeface="Calibri" panose="020F0502020204030204" pitchFamily="34" charset="0"/>
                <a:ea typeface="Calibri" panose="020F0502020204030204" pitchFamily="34" charset="0"/>
                <a:cs typeface="Calibri" panose="020F0502020204030204" pitchFamily="34" charset="0"/>
              </a:rPr>
              <a:t>, </a:t>
            </a:r>
            <a:r>
              <a:rPr lang="en-US" b="1" i="0" dirty="0" err="1">
                <a:effectLst/>
                <a:latin typeface="Calibri" panose="020F0502020204030204" pitchFamily="34" charset="0"/>
                <a:ea typeface="Calibri" panose="020F0502020204030204" pitchFamily="34" charset="0"/>
                <a:cs typeface="Calibri" panose="020F0502020204030204" pitchFamily="34" charset="0"/>
              </a:rPr>
              <a:t>ncols</a:t>
            </a:r>
            <a:r>
              <a:rPr lang="en-US" b="1" i="0" dirty="0">
                <a:effectLst/>
                <a:latin typeface="Calibri" panose="020F0502020204030204" pitchFamily="34" charset="0"/>
                <a:ea typeface="Calibri" panose="020F0502020204030204" pitchFamily="34" charset="0"/>
                <a:cs typeface="Calibri" panose="020F0502020204030204" pitchFamily="34" charset="0"/>
              </a:rPr>
              <a:t>, and index</a:t>
            </a:r>
            <a:r>
              <a:rPr lang="en-US" b="0" i="0" dirty="0">
                <a:effectLst/>
                <a:latin typeface="Calibri" panose="020F0502020204030204" pitchFamily="34" charset="0"/>
                <a:ea typeface="Calibri" panose="020F0502020204030204" pitchFamily="34" charset="0"/>
                <a:cs typeface="Calibri" panose="020F0502020204030204" pitchFamily="34" charset="0"/>
              </a:rPr>
              <a:t>. </a:t>
            </a:r>
          </a:p>
          <a:p>
            <a:pPr marL="285750" indent="-285750" algn="just">
              <a:lnSpc>
                <a:spcPct val="150000"/>
              </a:lnSpc>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It denote the number of rows, number of columns and the index.</a:t>
            </a:r>
          </a:p>
          <a:p>
            <a:pPr marL="285750" indent="-285750" algn="just">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Example:</a:t>
            </a:r>
          </a:p>
          <a:p>
            <a:pPr marL="285750" indent="-285750">
              <a:lnSpc>
                <a:spcPct val="150000"/>
              </a:lnSpc>
              <a:buFont typeface="Arial" panose="020B0604020202020204" pitchFamily="34" charset="0"/>
              <a:buChar char="•"/>
            </a:pPr>
            <a:r>
              <a:rPr lang="en-US" b="0" i="0" dirty="0" err="1">
                <a:solidFill>
                  <a:srgbClr val="000000"/>
                </a:solidFill>
                <a:effectLst/>
                <a:latin typeface="Consolas" panose="020B0609020204030204" pitchFamily="49" charset="0"/>
              </a:rPr>
              <a:t>plt.subplot</a:t>
            </a:r>
            <a:r>
              <a:rPr lang="en-US" b="0" i="0" dirty="0">
                <a:solidFill>
                  <a:srgbClr val="000000"/>
                </a:solidFill>
                <a:effectLst/>
                <a:latin typeface="Consolas" panose="020B0609020204030204" pitchFamily="49" charset="0"/>
              </a:rPr>
              <a:t>(</a:t>
            </a:r>
            <a:r>
              <a:rPr lang="en-US" b="0" i="0" dirty="0">
                <a:solidFill>
                  <a:srgbClr val="FF0000"/>
                </a:solidFill>
                <a:effectLst/>
                <a:latin typeface="Consolas" panose="020B0609020204030204" pitchFamily="49" charset="0"/>
              </a:rPr>
              <a:t>1</a:t>
            </a:r>
            <a:r>
              <a:rPr lang="en-US" b="0" i="0" dirty="0">
                <a:solidFill>
                  <a:srgbClr val="000000"/>
                </a:solidFill>
                <a:effectLst/>
                <a:latin typeface="Consolas" panose="020B0609020204030204" pitchFamily="49" charset="0"/>
              </a:rPr>
              <a:t>, </a:t>
            </a:r>
            <a:r>
              <a:rPr lang="en-US" b="0" i="0" dirty="0">
                <a:solidFill>
                  <a:srgbClr val="FF0000"/>
                </a:solidFill>
                <a:effectLst/>
                <a:latin typeface="Consolas" panose="020B0609020204030204" pitchFamily="49" charset="0"/>
              </a:rPr>
              <a:t>2</a:t>
            </a:r>
            <a:r>
              <a:rPr lang="en-US" b="0" i="0" dirty="0">
                <a:solidFill>
                  <a:srgbClr val="000000"/>
                </a:solidFill>
                <a:effectLst/>
                <a:latin typeface="Consolas" panose="020B0609020204030204" pitchFamily="49" charset="0"/>
              </a:rPr>
              <a:t>, </a:t>
            </a:r>
            <a:r>
              <a:rPr lang="en-US" b="0" i="0" dirty="0">
                <a:solidFill>
                  <a:srgbClr val="FF0000"/>
                </a:solidFill>
                <a:effectLst/>
                <a:latin typeface="Consolas" panose="020B0609020204030204" pitchFamily="49" charset="0"/>
              </a:rPr>
              <a:t>1</a:t>
            </a:r>
            <a:r>
              <a:rPr lang="en-US" b="0" i="0" dirty="0">
                <a:solidFill>
                  <a:srgbClr val="000000"/>
                </a:solidFill>
                <a:effectLst/>
                <a:latin typeface="Consolas" panose="020B0609020204030204" pitchFamily="49" charset="0"/>
              </a:rPr>
              <a:t>)</a:t>
            </a:r>
            <a:br>
              <a:rPr lang="en-US" dirty="0"/>
            </a:br>
            <a:r>
              <a:rPr lang="en-US" b="0" i="0" dirty="0">
                <a:solidFill>
                  <a:srgbClr val="008000"/>
                </a:solidFill>
                <a:effectLst/>
                <a:latin typeface="Consolas" panose="020B0609020204030204" pitchFamily="49" charset="0"/>
              </a:rPr>
              <a:t>#the figure has 1 row, 2 columns, and this plot is the </a:t>
            </a:r>
            <a:r>
              <a:rPr lang="en-US" b="0" i="1" dirty="0">
                <a:solidFill>
                  <a:srgbClr val="008000"/>
                </a:solidFill>
                <a:effectLst/>
                <a:latin typeface="Consolas" panose="020B0609020204030204" pitchFamily="49" charset="0"/>
              </a:rPr>
              <a:t>first</a:t>
            </a:r>
            <a:r>
              <a:rPr lang="en-US" b="0" i="0" dirty="0">
                <a:solidFill>
                  <a:srgbClr val="008000"/>
                </a:solidFill>
                <a:effectLst/>
                <a:latin typeface="Consolas" panose="020B0609020204030204" pitchFamily="49" charset="0"/>
              </a:rPr>
              <a:t> plot.</a:t>
            </a:r>
            <a:endParaRPr lang="en-US"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57163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5</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74340"/>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Subplots </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1303947"/>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To create multiple plots use </a:t>
            </a:r>
            <a:r>
              <a:rPr lang="en-US" b="1" i="0" dirty="0" err="1">
                <a:solidFill>
                  <a:srgbClr val="273239"/>
                </a:solidFill>
                <a:effectLst/>
                <a:latin typeface="Calibri" panose="020F0502020204030204" pitchFamily="34" charset="0"/>
                <a:ea typeface="Calibri" panose="020F0502020204030204" pitchFamily="34" charset="0"/>
                <a:cs typeface="Calibri" panose="020F0502020204030204" pitchFamily="34" charset="0"/>
              </a:rPr>
              <a:t>matplotlib.pyplot.subplots</a:t>
            </a: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method which </a:t>
            </a:r>
            <a:r>
              <a:rPr lang="en-US"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returns the figure along with the </a:t>
            </a: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objects </a:t>
            </a:r>
            <a:r>
              <a:rPr lang="en-US"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Axes object or array of Axes object. </a:t>
            </a:r>
            <a:r>
              <a:rPr lang="en-US" b="1" i="0" dirty="0" err="1">
                <a:solidFill>
                  <a:srgbClr val="273239"/>
                </a:solidFill>
                <a:effectLst/>
                <a:latin typeface="Calibri" panose="020F0502020204030204" pitchFamily="34" charset="0"/>
                <a:ea typeface="Calibri" panose="020F0502020204030204" pitchFamily="34" charset="0"/>
                <a:cs typeface="Calibri" panose="020F0502020204030204" pitchFamily="34" charset="0"/>
              </a:rPr>
              <a:t>nrows</a:t>
            </a:r>
            <a:r>
              <a:rPr lang="en-US"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a:t>
            </a:r>
            <a:r>
              <a:rPr lang="en-US" b="1" i="0" dirty="0" err="1">
                <a:solidFill>
                  <a:srgbClr val="273239"/>
                </a:solidFill>
                <a:effectLst/>
                <a:latin typeface="Calibri" panose="020F0502020204030204" pitchFamily="34" charset="0"/>
                <a:ea typeface="Calibri" panose="020F0502020204030204" pitchFamily="34" charset="0"/>
                <a:cs typeface="Calibri" panose="020F0502020204030204" pitchFamily="34" charset="0"/>
              </a:rPr>
              <a:t>ncols</a:t>
            </a: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attributes of subplots() method determine the number of rows and columns of the subplot grid.</a:t>
            </a:r>
            <a:endParaRPr lang="en-US"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8194" name="Picture 2">
            <a:extLst>
              <a:ext uri="{FF2B5EF4-FFF2-40B4-BE49-F238E27FC236}">
                <a16:creationId xmlns:a16="http://schemas.microsoft.com/office/drawing/2014/main" id="{385FFB5E-43F2-B487-4BFA-C0BFA7AEEAD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199"/>
          <a:stretch/>
        </p:blipFill>
        <p:spPr bwMode="auto">
          <a:xfrm>
            <a:off x="3717796" y="3261193"/>
            <a:ext cx="4756408" cy="2451185"/>
          </a:xfrm>
          <a:prstGeom prst="rect">
            <a:avLst/>
          </a:prstGeom>
          <a:noFill/>
          <a:ln w="635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4515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6</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74340"/>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Multiple Subplot </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212686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Create Multiple Subplots in Matplotlib in Python</a:t>
            </a:r>
          </a:p>
          <a:p>
            <a:pPr marL="285750" indent="-285750" algn="just">
              <a:lnSpc>
                <a:spcPct val="150000"/>
              </a:lnSpc>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Here, we have various Ways to Matplotlib create subplots in Python. </a:t>
            </a:r>
          </a:p>
          <a:p>
            <a:pPr marL="742950" lvl="1" indent="-285750" algn="just">
              <a:lnSpc>
                <a:spcPct val="150000"/>
              </a:lnSpc>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1-D Array of Subplots</a:t>
            </a:r>
          </a:p>
          <a:p>
            <a:pPr marL="742950" lvl="1" indent="-285750" algn="just">
              <a:lnSpc>
                <a:spcPct val="150000"/>
              </a:lnSpc>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Using </a:t>
            </a:r>
            <a:r>
              <a:rPr lang="en-US" b="0" i="0" dirty="0" err="1">
                <a:effectLst/>
                <a:latin typeface="Calibri" panose="020F0502020204030204" pitchFamily="34" charset="0"/>
                <a:ea typeface="Calibri" panose="020F0502020204030204" pitchFamily="34" charset="0"/>
                <a:cs typeface="Calibri" panose="020F0502020204030204" pitchFamily="34" charset="0"/>
              </a:rPr>
              <a:t>plt.subplots</a:t>
            </a:r>
            <a:r>
              <a:rPr lang="en-US" b="0" i="0" dirty="0">
                <a:effectLst/>
                <a:latin typeface="Calibri" panose="020F0502020204030204" pitchFamily="34" charset="0"/>
                <a:ea typeface="Calibri" panose="020F0502020204030204" pitchFamily="34" charset="0"/>
                <a:cs typeface="Calibri" panose="020F0502020204030204" pitchFamily="34" charset="0"/>
              </a:rPr>
              <a:t> with 2D Array of Subplots</a:t>
            </a:r>
          </a:p>
          <a:p>
            <a:pPr marL="742950" lvl="1" indent="-285750" algn="just">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Multiple Plots</a:t>
            </a:r>
            <a:endParaRPr lang="en-US" b="0" i="0" dirty="0">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76136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7</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74340"/>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1D Array of Subplots</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3693319"/>
          </a:xfrm>
          <a:prstGeom prst="rect">
            <a:avLst/>
          </a:prstGeom>
          <a:noFill/>
        </p:spPr>
        <p:txBody>
          <a:bodyPr wrap="square">
            <a:spAutoFit/>
          </a:bodyPr>
          <a:lstStyle/>
          <a:p>
            <a:r>
              <a:rPr lang="en-IN" b="0" i="0" dirty="0">
                <a:solidFill>
                  <a:srgbClr val="0000CD"/>
                </a:solidFill>
                <a:effectLst/>
                <a:latin typeface="Consolas" panose="020B0609020204030204" pitchFamily="49" charset="0"/>
              </a:rPr>
              <a:t>import</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matplotlib.pyplot</a:t>
            </a:r>
            <a:r>
              <a:rPr lang="en-IN" b="0" i="0" dirty="0">
                <a:solidFill>
                  <a:srgbClr val="000000"/>
                </a:solidFill>
                <a:effectLst/>
                <a:latin typeface="Consolas" panose="020B0609020204030204" pitchFamily="49" charset="0"/>
              </a:rPr>
              <a:t> </a:t>
            </a:r>
            <a:r>
              <a:rPr lang="en-IN" b="0" i="0" dirty="0">
                <a:solidFill>
                  <a:srgbClr val="0000CD"/>
                </a:solidFill>
                <a:effectLst/>
                <a:latin typeface="Consolas" panose="020B0609020204030204" pitchFamily="49" charset="0"/>
              </a:rPr>
              <a:t>as</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plt</a:t>
            </a:r>
            <a:br>
              <a:rPr lang="en-IN" dirty="0"/>
            </a:br>
            <a:r>
              <a:rPr lang="en-IN" b="0" i="0" dirty="0">
                <a:solidFill>
                  <a:srgbClr val="0000CD"/>
                </a:solidFill>
                <a:effectLst/>
                <a:latin typeface="Consolas" panose="020B0609020204030204" pitchFamily="49" charset="0"/>
              </a:rPr>
              <a:t>import</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numpy</a:t>
            </a:r>
            <a:r>
              <a:rPr lang="en-IN" b="0" i="0" dirty="0">
                <a:solidFill>
                  <a:srgbClr val="000000"/>
                </a:solidFill>
                <a:effectLst/>
                <a:latin typeface="Consolas" panose="020B0609020204030204" pitchFamily="49" charset="0"/>
              </a:rPr>
              <a:t> </a:t>
            </a:r>
            <a:r>
              <a:rPr lang="en-IN" b="0" i="0" dirty="0">
                <a:solidFill>
                  <a:srgbClr val="0000CD"/>
                </a:solidFill>
                <a:effectLst/>
                <a:latin typeface="Consolas" panose="020B0609020204030204" pitchFamily="49" charset="0"/>
              </a:rPr>
              <a:t>as</a:t>
            </a:r>
            <a:r>
              <a:rPr lang="en-IN" b="0" i="0" dirty="0">
                <a:solidFill>
                  <a:srgbClr val="000000"/>
                </a:solidFill>
                <a:effectLst/>
                <a:latin typeface="Consolas" panose="020B0609020204030204" pitchFamily="49" charset="0"/>
              </a:rPr>
              <a:t> np</a:t>
            </a:r>
            <a:br>
              <a:rPr lang="en-IN" dirty="0"/>
            </a:br>
            <a:r>
              <a:rPr lang="en-IN" b="0" i="0" dirty="0">
                <a:solidFill>
                  <a:srgbClr val="008000"/>
                </a:solidFill>
                <a:effectLst/>
                <a:latin typeface="Consolas" panose="020B0609020204030204" pitchFamily="49" charset="0"/>
              </a:rPr>
              <a:t>#plot 1:</a:t>
            </a:r>
            <a:br>
              <a:rPr lang="en-IN" b="0" i="0" dirty="0">
                <a:solidFill>
                  <a:srgbClr val="008000"/>
                </a:solidFill>
                <a:effectLst/>
                <a:latin typeface="Consolas" panose="020B0609020204030204" pitchFamily="49" charset="0"/>
              </a:rPr>
            </a:br>
            <a:r>
              <a:rPr lang="en-IN" b="0" i="0" dirty="0">
                <a:solidFill>
                  <a:srgbClr val="000000"/>
                </a:solidFill>
                <a:effectLst/>
                <a:latin typeface="Consolas" panose="020B0609020204030204" pitchFamily="49" charset="0"/>
              </a:rPr>
              <a:t>x = </a:t>
            </a:r>
            <a:r>
              <a:rPr lang="en-IN" b="0" i="0" dirty="0" err="1">
                <a:solidFill>
                  <a:srgbClr val="000000"/>
                </a:solidFill>
                <a:effectLst/>
                <a:latin typeface="Consolas" panose="020B0609020204030204" pitchFamily="49" charset="0"/>
              </a:rPr>
              <a:t>np.array</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0</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1</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2</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3</a:t>
            </a:r>
            <a:r>
              <a:rPr lang="en-IN" b="0" i="0" dirty="0">
                <a:solidFill>
                  <a:srgbClr val="000000"/>
                </a:solidFill>
                <a:effectLst/>
                <a:latin typeface="Consolas" panose="020B0609020204030204" pitchFamily="49" charset="0"/>
              </a:rPr>
              <a:t>])</a:t>
            </a:r>
            <a:br>
              <a:rPr lang="en-IN" dirty="0"/>
            </a:br>
            <a:r>
              <a:rPr lang="en-IN" b="0" i="0" dirty="0">
                <a:solidFill>
                  <a:srgbClr val="000000"/>
                </a:solidFill>
                <a:effectLst/>
                <a:latin typeface="Consolas" panose="020B0609020204030204" pitchFamily="49" charset="0"/>
              </a:rPr>
              <a:t>y = </a:t>
            </a:r>
            <a:r>
              <a:rPr lang="en-IN" b="0" i="0" dirty="0" err="1">
                <a:solidFill>
                  <a:srgbClr val="000000"/>
                </a:solidFill>
                <a:effectLst/>
                <a:latin typeface="Consolas" panose="020B0609020204030204" pitchFamily="49" charset="0"/>
              </a:rPr>
              <a:t>np.array</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3</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8</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1</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10</a:t>
            </a:r>
            <a:r>
              <a:rPr lang="en-IN" b="0" i="0" dirty="0">
                <a:solidFill>
                  <a:srgbClr val="000000"/>
                </a:solidFill>
                <a:effectLst/>
                <a:latin typeface="Consolas" panose="020B0609020204030204" pitchFamily="49" charset="0"/>
              </a:rPr>
              <a:t>])</a:t>
            </a:r>
            <a:br>
              <a:rPr lang="en-IN" dirty="0"/>
            </a:br>
            <a:r>
              <a:rPr lang="en-IN" b="0" i="0" dirty="0" err="1">
                <a:solidFill>
                  <a:srgbClr val="000000"/>
                </a:solidFill>
                <a:effectLst/>
                <a:latin typeface="Consolas" panose="020B0609020204030204" pitchFamily="49" charset="0"/>
              </a:rPr>
              <a:t>plt.subplot</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1</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2</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1</a:t>
            </a:r>
            <a:r>
              <a:rPr lang="en-IN" b="0" i="0" dirty="0">
                <a:solidFill>
                  <a:srgbClr val="000000"/>
                </a:solidFill>
                <a:effectLst/>
                <a:latin typeface="Consolas" panose="020B0609020204030204" pitchFamily="49" charset="0"/>
              </a:rPr>
              <a:t>)</a:t>
            </a:r>
            <a:br>
              <a:rPr lang="en-IN" dirty="0"/>
            </a:br>
            <a:r>
              <a:rPr lang="en-IN" b="0" i="0" dirty="0" err="1">
                <a:solidFill>
                  <a:srgbClr val="000000"/>
                </a:solidFill>
                <a:effectLst/>
                <a:latin typeface="Consolas" panose="020B0609020204030204" pitchFamily="49" charset="0"/>
              </a:rPr>
              <a:t>plt.plot</a:t>
            </a:r>
            <a:r>
              <a:rPr lang="en-IN" b="0" i="0" dirty="0">
                <a:solidFill>
                  <a:srgbClr val="000000"/>
                </a:solidFill>
                <a:effectLst/>
                <a:latin typeface="Consolas" panose="020B0609020204030204" pitchFamily="49" charset="0"/>
              </a:rPr>
              <a:t>(</a:t>
            </a:r>
            <a:r>
              <a:rPr lang="en-IN" b="0" i="0" dirty="0" err="1">
                <a:solidFill>
                  <a:srgbClr val="000000"/>
                </a:solidFill>
                <a:effectLst/>
                <a:latin typeface="Consolas" panose="020B0609020204030204" pitchFamily="49" charset="0"/>
              </a:rPr>
              <a:t>x,y</a:t>
            </a:r>
            <a:r>
              <a:rPr lang="en-IN" b="0" i="0" dirty="0">
                <a:solidFill>
                  <a:srgbClr val="000000"/>
                </a:solidFill>
                <a:effectLst/>
                <a:latin typeface="Consolas" panose="020B0609020204030204" pitchFamily="49" charset="0"/>
              </a:rPr>
              <a:t>)</a:t>
            </a:r>
            <a:br>
              <a:rPr lang="en-IN" dirty="0"/>
            </a:br>
            <a:r>
              <a:rPr lang="en-IN" b="0" i="0" dirty="0">
                <a:solidFill>
                  <a:srgbClr val="008000"/>
                </a:solidFill>
                <a:effectLst/>
                <a:latin typeface="Consolas" panose="020B0609020204030204" pitchFamily="49" charset="0"/>
              </a:rPr>
              <a:t>#plot 2:</a:t>
            </a:r>
            <a:br>
              <a:rPr lang="en-IN" b="0" i="0" dirty="0">
                <a:solidFill>
                  <a:srgbClr val="008000"/>
                </a:solidFill>
                <a:effectLst/>
                <a:latin typeface="Consolas" panose="020B0609020204030204" pitchFamily="49" charset="0"/>
              </a:rPr>
            </a:br>
            <a:r>
              <a:rPr lang="en-IN" b="0" i="0" dirty="0">
                <a:solidFill>
                  <a:srgbClr val="000000"/>
                </a:solidFill>
                <a:effectLst/>
                <a:latin typeface="Consolas" panose="020B0609020204030204" pitchFamily="49" charset="0"/>
              </a:rPr>
              <a:t>x = </a:t>
            </a:r>
            <a:r>
              <a:rPr lang="en-IN" b="0" i="0" dirty="0" err="1">
                <a:solidFill>
                  <a:srgbClr val="000000"/>
                </a:solidFill>
                <a:effectLst/>
                <a:latin typeface="Consolas" panose="020B0609020204030204" pitchFamily="49" charset="0"/>
              </a:rPr>
              <a:t>np.array</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0</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1</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2</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3</a:t>
            </a:r>
            <a:r>
              <a:rPr lang="en-IN" b="0" i="0" dirty="0">
                <a:solidFill>
                  <a:srgbClr val="000000"/>
                </a:solidFill>
                <a:effectLst/>
                <a:latin typeface="Consolas" panose="020B0609020204030204" pitchFamily="49" charset="0"/>
              </a:rPr>
              <a:t>])</a:t>
            </a:r>
            <a:br>
              <a:rPr lang="en-IN" dirty="0"/>
            </a:br>
            <a:r>
              <a:rPr lang="en-IN" b="0" i="0" dirty="0">
                <a:solidFill>
                  <a:srgbClr val="000000"/>
                </a:solidFill>
                <a:effectLst/>
                <a:latin typeface="Consolas" panose="020B0609020204030204" pitchFamily="49" charset="0"/>
              </a:rPr>
              <a:t>y = </a:t>
            </a:r>
            <a:r>
              <a:rPr lang="en-IN" b="0" i="0" dirty="0" err="1">
                <a:solidFill>
                  <a:srgbClr val="000000"/>
                </a:solidFill>
                <a:effectLst/>
                <a:latin typeface="Consolas" panose="020B0609020204030204" pitchFamily="49" charset="0"/>
              </a:rPr>
              <a:t>np.array</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10</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20</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30</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40</a:t>
            </a:r>
            <a:r>
              <a:rPr lang="en-IN" b="0" i="0" dirty="0">
                <a:solidFill>
                  <a:srgbClr val="000000"/>
                </a:solidFill>
                <a:effectLst/>
                <a:latin typeface="Consolas" panose="020B0609020204030204" pitchFamily="49" charset="0"/>
              </a:rPr>
              <a:t>])</a:t>
            </a:r>
            <a:br>
              <a:rPr lang="en-IN" dirty="0"/>
            </a:br>
            <a:r>
              <a:rPr lang="en-IN" b="0" i="0" dirty="0" err="1">
                <a:solidFill>
                  <a:srgbClr val="000000"/>
                </a:solidFill>
                <a:effectLst/>
                <a:latin typeface="Consolas" panose="020B0609020204030204" pitchFamily="49" charset="0"/>
              </a:rPr>
              <a:t>plt.subplot</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1</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2</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2</a:t>
            </a:r>
            <a:r>
              <a:rPr lang="en-IN" b="0" i="0" dirty="0">
                <a:solidFill>
                  <a:srgbClr val="000000"/>
                </a:solidFill>
                <a:effectLst/>
                <a:latin typeface="Consolas" panose="020B0609020204030204" pitchFamily="49" charset="0"/>
              </a:rPr>
              <a:t>)</a:t>
            </a:r>
            <a:br>
              <a:rPr lang="en-IN" dirty="0"/>
            </a:br>
            <a:r>
              <a:rPr lang="en-IN" b="0" i="0" dirty="0" err="1">
                <a:solidFill>
                  <a:srgbClr val="000000"/>
                </a:solidFill>
                <a:effectLst/>
                <a:latin typeface="Consolas" panose="020B0609020204030204" pitchFamily="49" charset="0"/>
              </a:rPr>
              <a:t>plt.plot</a:t>
            </a:r>
            <a:r>
              <a:rPr lang="en-IN" b="0" i="0" dirty="0">
                <a:solidFill>
                  <a:srgbClr val="000000"/>
                </a:solidFill>
                <a:effectLst/>
                <a:latin typeface="Consolas" panose="020B0609020204030204" pitchFamily="49" charset="0"/>
              </a:rPr>
              <a:t>(</a:t>
            </a:r>
            <a:r>
              <a:rPr lang="en-IN" b="0" i="0" dirty="0" err="1">
                <a:solidFill>
                  <a:srgbClr val="000000"/>
                </a:solidFill>
                <a:effectLst/>
                <a:latin typeface="Consolas" panose="020B0609020204030204" pitchFamily="49" charset="0"/>
              </a:rPr>
              <a:t>x,y</a:t>
            </a:r>
            <a:r>
              <a:rPr lang="en-IN" b="0" i="0" dirty="0">
                <a:solidFill>
                  <a:srgbClr val="000000"/>
                </a:solidFill>
                <a:effectLst/>
                <a:latin typeface="Consolas" panose="020B0609020204030204" pitchFamily="49" charset="0"/>
              </a:rPr>
              <a:t>)</a:t>
            </a:r>
            <a:br>
              <a:rPr lang="en-IN" dirty="0"/>
            </a:br>
            <a:r>
              <a:rPr lang="en-IN" b="0" i="0" dirty="0" err="1">
                <a:solidFill>
                  <a:srgbClr val="000000"/>
                </a:solidFill>
                <a:effectLst/>
                <a:latin typeface="Consolas" panose="020B0609020204030204" pitchFamily="49" charset="0"/>
              </a:rPr>
              <a:t>plt.show</a:t>
            </a:r>
            <a:r>
              <a:rPr lang="en-IN" b="0" i="0" dirty="0">
                <a:solidFill>
                  <a:srgbClr val="000000"/>
                </a:solidFill>
                <a:effectLst/>
                <a:latin typeface="Consolas" panose="020B0609020204030204" pitchFamily="49" charset="0"/>
              </a:rPr>
              <a:t>()</a:t>
            </a:r>
            <a:endParaRPr lang="en-US"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10242" name="Picture 2">
            <a:extLst>
              <a:ext uri="{FF2B5EF4-FFF2-40B4-BE49-F238E27FC236}">
                <a16:creationId xmlns:a16="http://schemas.microsoft.com/office/drawing/2014/main" id="{CE402C5F-B013-B90C-8E6E-BC208B7C2DD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250" t="8964" r="7337" b="4808"/>
          <a:stretch/>
        </p:blipFill>
        <p:spPr bwMode="auto">
          <a:xfrm>
            <a:off x="5208104" y="1699741"/>
            <a:ext cx="5267740" cy="3925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2658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8</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74340"/>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1D Array of Subplots</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3693319"/>
          </a:xfrm>
          <a:prstGeom prst="rect">
            <a:avLst/>
          </a:prstGeom>
          <a:noFill/>
        </p:spPr>
        <p:txBody>
          <a:bodyPr wrap="square">
            <a:spAutoFit/>
          </a:bodyPr>
          <a:lstStyle/>
          <a:p>
            <a:r>
              <a:rPr lang="en-IN" b="0" i="0" dirty="0">
                <a:solidFill>
                  <a:srgbClr val="0000CD"/>
                </a:solidFill>
                <a:effectLst/>
                <a:latin typeface="Consolas" panose="020B0609020204030204" pitchFamily="49" charset="0"/>
              </a:rPr>
              <a:t>import</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matplotlib.pyplot</a:t>
            </a:r>
            <a:r>
              <a:rPr lang="en-IN" b="0" i="0" dirty="0">
                <a:solidFill>
                  <a:srgbClr val="000000"/>
                </a:solidFill>
                <a:effectLst/>
                <a:latin typeface="Consolas" panose="020B0609020204030204" pitchFamily="49" charset="0"/>
              </a:rPr>
              <a:t> </a:t>
            </a:r>
            <a:r>
              <a:rPr lang="en-IN" b="0" i="0" dirty="0">
                <a:solidFill>
                  <a:srgbClr val="0000CD"/>
                </a:solidFill>
                <a:effectLst/>
                <a:latin typeface="Consolas" panose="020B0609020204030204" pitchFamily="49" charset="0"/>
              </a:rPr>
              <a:t>as</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plt</a:t>
            </a:r>
            <a:br>
              <a:rPr lang="en-IN" dirty="0"/>
            </a:br>
            <a:r>
              <a:rPr lang="en-IN" b="0" i="0" dirty="0">
                <a:solidFill>
                  <a:srgbClr val="0000CD"/>
                </a:solidFill>
                <a:effectLst/>
                <a:latin typeface="Consolas" panose="020B0609020204030204" pitchFamily="49" charset="0"/>
              </a:rPr>
              <a:t>import</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numpy</a:t>
            </a:r>
            <a:r>
              <a:rPr lang="en-IN" b="0" i="0" dirty="0">
                <a:solidFill>
                  <a:srgbClr val="000000"/>
                </a:solidFill>
                <a:effectLst/>
                <a:latin typeface="Consolas" panose="020B0609020204030204" pitchFamily="49" charset="0"/>
              </a:rPr>
              <a:t> </a:t>
            </a:r>
            <a:r>
              <a:rPr lang="en-IN" b="0" i="0" dirty="0">
                <a:solidFill>
                  <a:srgbClr val="0000CD"/>
                </a:solidFill>
                <a:effectLst/>
                <a:latin typeface="Consolas" panose="020B0609020204030204" pitchFamily="49" charset="0"/>
              </a:rPr>
              <a:t>as</a:t>
            </a:r>
            <a:r>
              <a:rPr lang="en-IN" b="0" i="0" dirty="0">
                <a:solidFill>
                  <a:srgbClr val="000000"/>
                </a:solidFill>
                <a:effectLst/>
                <a:latin typeface="Consolas" panose="020B0609020204030204" pitchFamily="49" charset="0"/>
              </a:rPr>
              <a:t> np</a:t>
            </a:r>
            <a:br>
              <a:rPr lang="en-IN" dirty="0"/>
            </a:br>
            <a:r>
              <a:rPr lang="en-IN" b="0" i="0" dirty="0">
                <a:solidFill>
                  <a:srgbClr val="008000"/>
                </a:solidFill>
                <a:effectLst/>
                <a:latin typeface="Consolas" panose="020B0609020204030204" pitchFamily="49" charset="0"/>
              </a:rPr>
              <a:t>#plot 1:</a:t>
            </a:r>
            <a:br>
              <a:rPr lang="en-IN" b="0" i="0" dirty="0">
                <a:solidFill>
                  <a:srgbClr val="008000"/>
                </a:solidFill>
                <a:effectLst/>
                <a:latin typeface="Consolas" panose="020B0609020204030204" pitchFamily="49" charset="0"/>
              </a:rPr>
            </a:br>
            <a:r>
              <a:rPr lang="en-IN" b="0" i="0" dirty="0">
                <a:solidFill>
                  <a:srgbClr val="000000"/>
                </a:solidFill>
                <a:effectLst/>
                <a:latin typeface="Consolas" panose="020B0609020204030204" pitchFamily="49" charset="0"/>
              </a:rPr>
              <a:t>x = </a:t>
            </a:r>
            <a:r>
              <a:rPr lang="en-IN" b="0" i="0" dirty="0" err="1">
                <a:solidFill>
                  <a:srgbClr val="000000"/>
                </a:solidFill>
                <a:effectLst/>
                <a:latin typeface="Consolas" panose="020B0609020204030204" pitchFamily="49" charset="0"/>
              </a:rPr>
              <a:t>np.array</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0</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1</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2</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3</a:t>
            </a:r>
            <a:r>
              <a:rPr lang="en-IN" b="0" i="0" dirty="0">
                <a:solidFill>
                  <a:srgbClr val="000000"/>
                </a:solidFill>
                <a:effectLst/>
                <a:latin typeface="Consolas" panose="020B0609020204030204" pitchFamily="49" charset="0"/>
              </a:rPr>
              <a:t>])</a:t>
            </a:r>
            <a:br>
              <a:rPr lang="en-IN" dirty="0"/>
            </a:br>
            <a:r>
              <a:rPr lang="en-IN" b="0" i="0" dirty="0">
                <a:solidFill>
                  <a:srgbClr val="000000"/>
                </a:solidFill>
                <a:effectLst/>
                <a:latin typeface="Consolas" panose="020B0609020204030204" pitchFamily="49" charset="0"/>
              </a:rPr>
              <a:t>y = </a:t>
            </a:r>
            <a:r>
              <a:rPr lang="en-IN" b="0" i="0" dirty="0" err="1">
                <a:solidFill>
                  <a:srgbClr val="000000"/>
                </a:solidFill>
                <a:effectLst/>
                <a:latin typeface="Consolas" panose="020B0609020204030204" pitchFamily="49" charset="0"/>
              </a:rPr>
              <a:t>np.array</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3</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8</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1</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10</a:t>
            </a:r>
            <a:r>
              <a:rPr lang="en-IN" b="0" i="0" dirty="0">
                <a:solidFill>
                  <a:srgbClr val="000000"/>
                </a:solidFill>
                <a:effectLst/>
                <a:latin typeface="Consolas" panose="020B0609020204030204" pitchFamily="49" charset="0"/>
              </a:rPr>
              <a:t>])</a:t>
            </a:r>
            <a:br>
              <a:rPr lang="en-IN" dirty="0"/>
            </a:br>
            <a:r>
              <a:rPr lang="en-IN" b="0" i="0" dirty="0" err="1">
                <a:solidFill>
                  <a:srgbClr val="000000"/>
                </a:solidFill>
                <a:effectLst/>
                <a:latin typeface="Consolas" panose="020B0609020204030204" pitchFamily="49" charset="0"/>
              </a:rPr>
              <a:t>plt.subplot</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2</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1</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1</a:t>
            </a:r>
            <a:r>
              <a:rPr lang="en-IN" b="0" i="0" dirty="0">
                <a:solidFill>
                  <a:srgbClr val="000000"/>
                </a:solidFill>
                <a:effectLst/>
                <a:latin typeface="Consolas" panose="020B0609020204030204" pitchFamily="49" charset="0"/>
              </a:rPr>
              <a:t>)</a:t>
            </a:r>
            <a:br>
              <a:rPr lang="en-IN" dirty="0"/>
            </a:br>
            <a:r>
              <a:rPr lang="en-IN" b="0" i="0" dirty="0" err="1">
                <a:solidFill>
                  <a:srgbClr val="000000"/>
                </a:solidFill>
                <a:effectLst/>
                <a:latin typeface="Consolas" panose="020B0609020204030204" pitchFamily="49" charset="0"/>
              </a:rPr>
              <a:t>plt.plot</a:t>
            </a:r>
            <a:r>
              <a:rPr lang="en-IN" b="0" i="0" dirty="0">
                <a:solidFill>
                  <a:srgbClr val="000000"/>
                </a:solidFill>
                <a:effectLst/>
                <a:latin typeface="Consolas" panose="020B0609020204030204" pitchFamily="49" charset="0"/>
              </a:rPr>
              <a:t>(</a:t>
            </a:r>
            <a:r>
              <a:rPr lang="en-IN" b="0" i="0" dirty="0" err="1">
                <a:solidFill>
                  <a:srgbClr val="000000"/>
                </a:solidFill>
                <a:effectLst/>
                <a:latin typeface="Consolas" panose="020B0609020204030204" pitchFamily="49" charset="0"/>
              </a:rPr>
              <a:t>x,y</a:t>
            </a:r>
            <a:r>
              <a:rPr lang="en-IN" b="0" i="0" dirty="0">
                <a:solidFill>
                  <a:srgbClr val="000000"/>
                </a:solidFill>
                <a:effectLst/>
                <a:latin typeface="Consolas" panose="020B0609020204030204" pitchFamily="49" charset="0"/>
              </a:rPr>
              <a:t>)</a:t>
            </a:r>
            <a:br>
              <a:rPr lang="en-IN" dirty="0"/>
            </a:br>
            <a:r>
              <a:rPr lang="en-IN" b="0" i="0" dirty="0">
                <a:solidFill>
                  <a:srgbClr val="008000"/>
                </a:solidFill>
                <a:effectLst/>
                <a:latin typeface="Consolas" panose="020B0609020204030204" pitchFamily="49" charset="0"/>
              </a:rPr>
              <a:t>#plot 2:</a:t>
            </a:r>
            <a:br>
              <a:rPr lang="en-IN" b="0" i="0" dirty="0">
                <a:solidFill>
                  <a:srgbClr val="008000"/>
                </a:solidFill>
                <a:effectLst/>
                <a:latin typeface="Consolas" panose="020B0609020204030204" pitchFamily="49" charset="0"/>
              </a:rPr>
            </a:br>
            <a:r>
              <a:rPr lang="en-IN" b="0" i="0" dirty="0">
                <a:solidFill>
                  <a:srgbClr val="000000"/>
                </a:solidFill>
                <a:effectLst/>
                <a:latin typeface="Consolas" panose="020B0609020204030204" pitchFamily="49" charset="0"/>
              </a:rPr>
              <a:t>x = </a:t>
            </a:r>
            <a:r>
              <a:rPr lang="en-IN" b="0" i="0" dirty="0" err="1">
                <a:solidFill>
                  <a:srgbClr val="000000"/>
                </a:solidFill>
                <a:effectLst/>
                <a:latin typeface="Consolas" panose="020B0609020204030204" pitchFamily="49" charset="0"/>
              </a:rPr>
              <a:t>np.array</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0</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1</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2</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3</a:t>
            </a:r>
            <a:r>
              <a:rPr lang="en-IN" b="0" i="0" dirty="0">
                <a:solidFill>
                  <a:srgbClr val="000000"/>
                </a:solidFill>
                <a:effectLst/>
                <a:latin typeface="Consolas" panose="020B0609020204030204" pitchFamily="49" charset="0"/>
              </a:rPr>
              <a:t>])</a:t>
            </a:r>
            <a:br>
              <a:rPr lang="en-IN" dirty="0"/>
            </a:br>
            <a:r>
              <a:rPr lang="en-IN" b="0" i="0" dirty="0">
                <a:solidFill>
                  <a:srgbClr val="000000"/>
                </a:solidFill>
                <a:effectLst/>
                <a:latin typeface="Consolas" panose="020B0609020204030204" pitchFamily="49" charset="0"/>
              </a:rPr>
              <a:t>y = </a:t>
            </a:r>
            <a:r>
              <a:rPr lang="en-IN" b="0" i="0" dirty="0" err="1">
                <a:solidFill>
                  <a:srgbClr val="000000"/>
                </a:solidFill>
                <a:effectLst/>
                <a:latin typeface="Consolas" panose="020B0609020204030204" pitchFamily="49" charset="0"/>
              </a:rPr>
              <a:t>np.array</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10</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20</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30</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40</a:t>
            </a:r>
            <a:r>
              <a:rPr lang="en-IN" b="0" i="0" dirty="0">
                <a:solidFill>
                  <a:srgbClr val="000000"/>
                </a:solidFill>
                <a:effectLst/>
                <a:latin typeface="Consolas" panose="020B0609020204030204" pitchFamily="49" charset="0"/>
              </a:rPr>
              <a:t>])</a:t>
            </a:r>
            <a:br>
              <a:rPr lang="en-IN" dirty="0"/>
            </a:br>
            <a:r>
              <a:rPr lang="en-IN" b="0" i="0" dirty="0" err="1">
                <a:solidFill>
                  <a:srgbClr val="000000"/>
                </a:solidFill>
                <a:effectLst/>
                <a:latin typeface="Consolas" panose="020B0609020204030204" pitchFamily="49" charset="0"/>
              </a:rPr>
              <a:t>plt.subplot</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2</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1</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2</a:t>
            </a:r>
            <a:r>
              <a:rPr lang="en-IN" b="0" i="0" dirty="0">
                <a:solidFill>
                  <a:srgbClr val="000000"/>
                </a:solidFill>
                <a:effectLst/>
                <a:latin typeface="Consolas" panose="020B0609020204030204" pitchFamily="49" charset="0"/>
              </a:rPr>
              <a:t>)</a:t>
            </a:r>
            <a:br>
              <a:rPr lang="en-IN" dirty="0"/>
            </a:br>
            <a:r>
              <a:rPr lang="en-IN" b="0" i="0" dirty="0" err="1">
                <a:solidFill>
                  <a:srgbClr val="000000"/>
                </a:solidFill>
                <a:effectLst/>
                <a:latin typeface="Consolas" panose="020B0609020204030204" pitchFamily="49" charset="0"/>
              </a:rPr>
              <a:t>plt.plot</a:t>
            </a:r>
            <a:r>
              <a:rPr lang="en-IN" b="0" i="0" dirty="0">
                <a:solidFill>
                  <a:srgbClr val="000000"/>
                </a:solidFill>
                <a:effectLst/>
                <a:latin typeface="Consolas" panose="020B0609020204030204" pitchFamily="49" charset="0"/>
              </a:rPr>
              <a:t>(</a:t>
            </a:r>
            <a:r>
              <a:rPr lang="en-IN" b="0" i="0" dirty="0" err="1">
                <a:solidFill>
                  <a:srgbClr val="000000"/>
                </a:solidFill>
                <a:effectLst/>
                <a:latin typeface="Consolas" panose="020B0609020204030204" pitchFamily="49" charset="0"/>
              </a:rPr>
              <a:t>x,y</a:t>
            </a:r>
            <a:r>
              <a:rPr lang="en-IN" b="0" i="0" dirty="0">
                <a:solidFill>
                  <a:srgbClr val="000000"/>
                </a:solidFill>
                <a:effectLst/>
                <a:latin typeface="Consolas" panose="020B0609020204030204" pitchFamily="49" charset="0"/>
              </a:rPr>
              <a:t>)</a:t>
            </a:r>
            <a:br>
              <a:rPr lang="en-IN" dirty="0"/>
            </a:br>
            <a:r>
              <a:rPr lang="en-IN" b="0" i="0" dirty="0" err="1">
                <a:solidFill>
                  <a:srgbClr val="000000"/>
                </a:solidFill>
                <a:effectLst/>
                <a:latin typeface="Consolas" panose="020B0609020204030204" pitchFamily="49" charset="0"/>
              </a:rPr>
              <a:t>plt.show</a:t>
            </a:r>
            <a:r>
              <a:rPr lang="en-IN" b="0" i="0" dirty="0">
                <a:solidFill>
                  <a:srgbClr val="000000"/>
                </a:solidFill>
                <a:effectLst/>
                <a:latin typeface="Consolas" panose="020B0609020204030204" pitchFamily="49" charset="0"/>
              </a:rPr>
              <a:t>()</a:t>
            </a:r>
            <a:endParaRPr lang="en-US"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11266" name="Picture 2">
            <a:extLst>
              <a:ext uri="{FF2B5EF4-FFF2-40B4-BE49-F238E27FC236}">
                <a16:creationId xmlns:a16="http://schemas.microsoft.com/office/drawing/2014/main" id="{EA382792-27C0-F217-D399-F74488D0E07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598" t="9400" r="7988" b="3061"/>
          <a:stretch/>
        </p:blipFill>
        <p:spPr bwMode="auto">
          <a:xfrm>
            <a:off x="5705060" y="1848677"/>
            <a:ext cx="5267739" cy="3985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37573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9</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74340"/>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2D Array of Subplots</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115128" y="1515527"/>
            <a:ext cx="4462671" cy="4524315"/>
          </a:xfrm>
          <a:prstGeom prst="rect">
            <a:avLst/>
          </a:prstGeom>
          <a:noFill/>
        </p:spPr>
        <p:txBody>
          <a:bodyPr wrap="square">
            <a:spAutoFit/>
          </a:bodyPr>
          <a:lstStyle/>
          <a:p>
            <a:pPr algn="l"/>
            <a:r>
              <a:rPr lang="en-IN" b="0" i="0" dirty="0">
                <a:solidFill>
                  <a:srgbClr val="0000CD"/>
                </a:solidFill>
                <a:effectLst/>
                <a:latin typeface="Consolas" panose="020B0609020204030204" pitchFamily="49" charset="0"/>
              </a:rPr>
              <a:t>import</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matplotlib.pyplot</a:t>
            </a:r>
            <a:r>
              <a:rPr lang="en-IN" b="0" i="0" dirty="0">
                <a:solidFill>
                  <a:srgbClr val="000000"/>
                </a:solidFill>
                <a:effectLst/>
                <a:latin typeface="Consolas" panose="020B0609020204030204" pitchFamily="49" charset="0"/>
              </a:rPr>
              <a:t> </a:t>
            </a:r>
            <a:r>
              <a:rPr lang="en-IN" b="0" i="0" dirty="0">
                <a:solidFill>
                  <a:srgbClr val="0000CD"/>
                </a:solidFill>
                <a:effectLst/>
                <a:latin typeface="Consolas" panose="020B0609020204030204" pitchFamily="49" charset="0"/>
              </a:rPr>
              <a:t>as</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plt</a:t>
            </a:r>
            <a:br>
              <a:rPr lang="en-IN" b="0" i="0" dirty="0">
                <a:solidFill>
                  <a:srgbClr val="000000"/>
                </a:solidFill>
                <a:effectLst/>
                <a:latin typeface="Consolas" panose="020B0609020204030204" pitchFamily="49" charset="0"/>
              </a:rPr>
            </a:br>
            <a:r>
              <a:rPr lang="en-IN" b="0" i="0" dirty="0">
                <a:solidFill>
                  <a:srgbClr val="0000CD"/>
                </a:solidFill>
                <a:effectLst/>
                <a:latin typeface="Consolas" panose="020B0609020204030204" pitchFamily="49" charset="0"/>
              </a:rPr>
              <a:t>import</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numpy</a:t>
            </a:r>
            <a:r>
              <a:rPr lang="en-IN" b="0" i="0" dirty="0">
                <a:solidFill>
                  <a:srgbClr val="000000"/>
                </a:solidFill>
                <a:effectLst/>
                <a:latin typeface="Consolas" panose="020B0609020204030204" pitchFamily="49" charset="0"/>
              </a:rPr>
              <a:t> </a:t>
            </a:r>
            <a:r>
              <a:rPr lang="en-IN" b="0" i="0" dirty="0">
                <a:solidFill>
                  <a:srgbClr val="0000CD"/>
                </a:solidFill>
                <a:effectLst/>
                <a:latin typeface="Consolas" panose="020B0609020204030204" pitchFamily="49" charset="0"/>
              </a:rPr>
              <a:t>as</a:t>
            </a:r>
            <a:r>
              <a:rPr lang="en-IN" b="0" i="0" dirty="0">
                <a:solidFill>
                  <a:srgbClr val="000000"/>
                </a:solidFill>
                <a:effectLst/>
                <a:latin typeface="Consolas" panose="020B0609020204030204" pitchFamily="49" charset="0"/>
              </a:rPr>
              <a:t> np</a:t>
            </a:r>
            <a:br>
              <a:rPr lang="en-IN" b="0" i="0" dirty="0">
                <a:solidFill>
                  <a:srgbClr val="000000"/>
                </a:solidFill>
                <a:effectLst/>
                <a:latin typeface="Consolas" panose="020B0609020204030204" pitchFamily="49" charset="0"/>
              </a:rPr>
            </a:br>
            <a:r>
              <a:rPr lang="en-IN" b="0" i="0" dirty="0">
                <a:solidFill>
                  <a:srgbClr val="000000"/>
                </a:solidFill>
                <a:effectLst/>
                <a:latin typeface="Consolas" panose="020B0609020204030204" pitchFamily="49" charset="0"/>
              </a:rPr>
              <a:t>x = </a:t>
            </a:r>
            <a:r>
              <a:rPr lang="en-IN" b="0" i="0" dirty="0" err="1">
                <a:solidFill>
                  <a:srgbClr val="000000"/>
                </a:solidFill>
                <a:effectLst/>
                <a:latin typeface="Consolas" panose="020B0609020204030204" pitchFamily="49" charset="0"/>
              </a:rPr>
              <a:t>np.array</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0</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1</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2</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3</a:t>
            </a:r>
            <a:r>
              <a:rPr lang="en-IN" b="0" i="0" dirty="0">
                <a:solidFill>
                  <a:srgbClr val="000000"/>
                </a:solidFill>
                <a:effectLst/>
                <a:latin typeface="Consolas" panose="020B0609020204030204" pitchFamily="49" charset="0"/>
              </a:rPr>
              <a:t>])</a:t>
            </a:r>
            <a:br>
              <a:rPr lang="en-IN" b="0" i="0" dirty="0">
                <a:solidFill>
                  <a:srgbClr val="000000"/>
                </a:solidFill>
                <a:effectLst/>
                <a:latin typeface="Consolas" panose="020B0609020204030204" pitchFamily="49" charset="0"/>
              </a:rPr>
            </a:br>
            <a:r>
              <a:rPr lang="en-IN" b="0" i="0" dirty="0">
                <a:solidFill>
                  <a:srgbClr val="000000"/>
                </a:solidFill>
                <a:effectLst/>
                <a:latin typeface="Consolas" panose="020B0609020204030204" pitchFamily="49" charset="0"/>
              </a:rPr>
              <a:t>y = </a:t>
            </a:r>
            <a:r>
              <a:rPr lang="en-IN" b="0" i="0" dirty="0" err="1">
                <a:solidFill>
                  <a:srgbClr val="000000"/>
                </a:solidFill>
                <a:effectLst/>
                <a:latin typeface="Consolas" panose="020B0609020204030204" pitchFamily="49" charset="0"/>
              </a:rPr>
              <a:t>np.array</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3</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8</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1</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10</a:t>
            </a:r>
            <a:r>
              <a:rPr lang="en-IN" b="0" i="0" dirty="0">
                <a:solidFill>
                  <a:srgbClr val="000000"/>
                </a:solidFill>
                <a:effectLst/>
                <a:latin typeface="Consolas" panose="020B0609020204030204" pitchFamily="49" charset="0"/>
              </a:rPr>
              <a:t>])</a:t>
            </a:r>
            <a:br>
              <a:rPr lang="en-IN" b="0" i="0" dirty="0">
                <a:solidFill>
                  <a:srgbClr val="000000"/>
                </a:solidFill>
                <a:effectLst/>
                <a:latin typeface="Consolas" panose="020B0609020204030204" pitchFamily="49" charset="0"/>
              </a:rPr>
            </a:br>
            <a:r>
              <a:rPr lang="en-IN" b="0" i="0" dirty="0" err="1">
                <a:solidFill>
                  <a:srgbClr val="000000"/>
                </a:solidFill>
                <a:effectLst/>
                <a:latin typeface="Consolas" panose="020B0609020204030204" pitchFamily="49" charset="0"/>
              </a:rPr>
              <a:t>plt.subplot</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2</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3</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1</a:t>
            </a:r>
            <a:r>
              <a:rPr lang="en-IN" b="0" i="0" dirty="0">
                <a:solidFill>
                  <a:srgbClr val="000000"/>
                </a:solidFill>
                <a:effectLst/>
                <a:latin typeface="Consolas" panose="020B0609020204030204" pitchFamily="49" charset="0"/>
              </a:rPr>
              <a:t>)</a:t>
            </a:r>
            <a:br>
              <a:rPr lang="en-IN" b="0" i="0" dirty="0">
                <a:solidFill>
                  <a:srgbClr val="000000"/>
                </a:solidFill>
                <a:effectLst/>
                <a:latin typeface="Consolas" panose="020B0609020204030204" pitchFamily="49" charset="0"/>
              </a:rPr>
            </a:br>
            <a:r>
              <a:rPr lang="en-IN" b="0" i="0" dirty="0" err="1">
                <a:solidFill>
                  <a:srgbClr val="000000"/>
                </a:solidFill>
                <a:effectLst/>
                <a:latin typeface="Consolas" panose="020B0609020204030204" pitchFamily="49" charset="0"/>
              </a:rPr>
              <a:t>plt.plot</a:t>
            </a:r>
            <a:r>
              <a:rPr lang="en-IN" b="0" i="0" dirty="0">
                <a:solidFill>
                  <a:srgbClr val="000000"/>
                </a:solidFill>
                <a:effectLst/>
                <a:latin typeface="Consolas" panose="020B0609020204030204" pitchFamily="49" charset="0"/>
              </a:rPr>
              <a:t>(</a:t>
            </a:r>
            <a:r>
              <a:rPr lang="en-IN" b="0" i="0" dirty="0" err="1">
                <a:solidFill>
                  <a:srgbClr val="000000"/>
                </a:solidFill>
                <a:effectLst/>
                <a:latin typeface="Consolas" panose="020B0609020204030204" pitchFamily="49" charset="0"/>
              </a:rPr>
              <a:t>x,y</a:t>
            </a:r>
            <a:r>
              <a:rPr lang="en-IN" b="0" i="0" dirty="0">
                <a:solidFill>
                  <a:srgbClr val="000000"/>
                </a:solidFill>
                <a:effectLst/>
                <a:latin typeface="Consolas" panose="020B0609020204030204" pitchFamily="49" charset="0"/>
              </a:rPr>
              <a:t>)</a:t>
            </a:r>
            <a:br>
              <a:rPr lang="en-IN" b="0" i="0" dirty="0">
                <a:solidFill>
                  <a:srgbClr val="000000"/>
                </a:solidFill>
                <a:effectLst/>
                <a:latin typeface="Consolas" panose="020B0609020204030204" pitchFamily="49" charset="0"/>
              </a:rPr>
            </a:br>
            <a:r>
              <a:rPr lang="en-IN" b="0" i="0" dirty="0">
                <a:solidFill>
                  <a:srgbClr val="000000"/>
                </a:solidFill>
                <a:effectLst/>
                <a:latin typeface="Consolas" panose="020B0609020204030204" pitchFamily="49" charset="0"/>
              </a:rPr>
              <a:t>x = </a:t>
            </a:r>
            <a:r>
              <a:rPr lang="en-IN" b="0" i="0" dirty="0" err="1">
                <a:solidFill>
                  <a:srgbClr val="000000"/>
                </a:solidFill>
                <a:effectLst/>
                <a:latin typeface="Consolas" panose="020B0609020204030204" pitchFamily="49" charset="0"/>
              </a:rPr>
              <a:t>np.array</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0</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1</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2</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3</a:t>
            </a:r>
            <a:r>
              <a:rPr lang="en-IN" b="0" i="0" dirty="0">
                <a:solidFill>
                  <a:srgbClr val="000000"/>
                </a:solidFill>
                <a:effectLst/>
                <a:latin typeface="Consolas" panose="020B0609020204030204" pitchFamily="49" charset="0"/>
              </a:rPr>
              <a:t>])</a:t>
            </a:r>
            <a:br>
              <a:rPr lang="en-IN" b="0" i="0" dirty="0">
                <a:solidFill>
                  <a:srgbClr val="000000"/>
                </a:solidFill>
                <a:effectLst/>
                <a:latin typeface="Consolas" panose="020B0609020204030204" pitchFamily="49" charset="0"/>
              </a:rPr>
            </a:br>
            <a:r>
              <a:rPr lang="en-IN" b="0" i="0" dirty="0">
                <a:solidFill>
                  <a:srgbClr val="000000"/>
                </a:solidFill>
                <a:effectLst/>
                <a:latin typeface="Consolas" panose="020B0609020204030204" pitchFamily="49" charset="0"/>
              </a:rPr>
              <a:t>y = </a:t>
            </a:r>
            <a:r>
              <a:rPr lang="en-IN" b="0" i="0" dirty="0" err="1">
                <a:solidFill>
                  <a:srgbClr val="000000"/>
                </a:solidFill>
                <a:effectLst/>
                <a:latin typeface="Consolas" panose="020B0609020204030204" pitchFamily="49" charset="0"/>
              </a:rPr>
              <a:t>np.array</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10</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20</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30</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40</a:t>
            </a:r>
            <a:r>
              <a:rPr lang="en-IN" b="0" i="0" dirty="0">
                <a:solidFill>
                  <a:srgbClr val="000000"/>
                </a:solidFill>
                <a:effectLst/>
                <a:latin typeface="Consolas" panose="020B0609020204030204" pitchFamily="49" charset="0"/>
              </a:rPr>
              <a:t>])</a:t>
            </a:r>
            <a:br>
              <a:rPr lang="en-IN" b="0" i="0" dirty="0">
                <a:solidFill>
                  <a:srgbClr val="000000"/>
                </a:solidFill>
                <a:effectLst/>
                <a:latin typeface="Consolas" panose="020B0609020204030204" pitchFamily="49" charset="0"/>
              </a:rPr>
            </a:br>
            <a:r>
              <a:rPr lang="en-IN" b="0" i="0" dirty="0" err="1">
                <a:solidFill>
                  <a:srgbClr val="000000"/>
                </a:solidFill>
                <a:effectLst/>
                <a:latin typeface="Consolas" panose="020B0609020204030204" pitchFamily="49" charset="0"/>
              </a:rPr>
              <a:t>plt.subplot</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2</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3</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2</a:t>
            </a:r>
            <a:r>
              <a:rPr lang="en-IN" b="0" i="0" dirty="0">
                <a:solidFill>
                  <a:srgbClr val="000000"/>
                </a:solidFill>
                <a:effectLst/>
                <a:latin typeface="Consolas" panose="020B0609020204030204" pitchFamily="49" charset="0"/>
              </a:rPr>
              <a:t>)</a:t>
            </a:r>
            <a:br>
              <a:rPr lang="en-IN" b="0" i="0" dirty="0">
                <a:solidFill>
                  <a:srgbClr val="000000"/>
                </a:solidFill>
                <a:effectLst/>
                <a:latin typeface="Consolas" panose="020B0609020204030204" pitchFamily="49" charset="0"/>
              </a:rPr>
            </a:br>
            <a:r>
              <a:rPr lang="en-IN" b="0" i="0" dirty="0" err="1">
                <a:solidFill>
                  <a:srgbClr val="000000"/>
                </a:solidFill>
                <a:effectLst/>
                <a:latin typeface="Consolas" panose="020B0609020204030204" pitchFamily="49" charset="0"/>
              </a:rPr>
              <a:t>plt.plot</a:t>
            </a:r>
            <a:r>
              <a:rPr lang="en-IN" b="0" i="0" dirty="0">
                <a:solidFill>
                  <a:srgbClr val="000000"/>
                </a:solidFill>
                <a:effectLst/>
                <a:latin typeface="Consolas" panose="020B0609020204030204" pitchFamily="49" charset="0"/>
              </a:rPr>
              <a:t>(</a:t>
            </a:r>
            <a:r>
              <a:rPr lang="en-IN" b="0" i="0" dirty="0" err="1">
                <a:solidFill>
                  <a:srgbClr val="000000"/>
                </a:solidFill>
                <a:effectLst/>
                <a:latin typeface="Consolas" panose="020B0609020204030204" pitchFamily="49" charset="0"/>
              </a:rPr>
              <a:t>x,y</a:t>
            </a:r>
            <a:r>
              <a:rPr lang="en-IN" b="0" i="0" dirty="0">
                <a:solidFill>
                  <a:srgbClr val="000000"/>
                </a:solidFill>
                <a:effectLst/>
                <a:latin typeface="Consolas" panose="020B0609020204030204" pitchFamily="49" charset="0"/>
              </a:rPr>
              <a:t>)</a:t>
            </a:r>
            <a:br>
              <a:rPr lang="en-IN" b="0" i="0" dirty="0">
                <a:solidFill>
                  <a:srgbClr val="000000"/>
                </a:solidFill>
                <a:effectLst/>
                <a:latin typeface="Consolas" panose="020B0609020204030204" pitchFamily="49" charset="0"/>
              </a:rPr>
            </a:br>
            <a:r>
              <a:rPr lang="en-IN" b="0" i="0" dirty="0">
                <a:solidFill>
                  <a:srgbClr val="000000"/>
                </a:solidFill>
                <a:effectLst/>
                <a:latin typeface="Consolas" panose="020B0609020204030204" pitchFamily="49" charset="0"/>
              </a:rPr>
              <a:t>x = </a:t>
            </a:r>
            <a:r>
              <a:rPr lang="en-IN" b="0" i="0" dirty="0" err="1">
                <a:solidFill>
                  <a:srgbClr val="000000"/>
                </a:solidFill>
                <a:effectLst/>
                <a:latin typeface="Consolas" panose="020B0609020204030204" pitchFamily="49" charset="0"/>
              </a:rPr>
              <a:t>np.array</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0</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1</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2</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3</a:t>
            </a:r>
            <a:r>
              <a:rPr lang="en-IN" b="0" i="0" dirty="0">
                <a:solidFill>
                  <a:srgbClr val="000000"/>
                </a:solidFill>
                <a:effectLst/>
                <a:latin typeface="Consolas" panose="020B0609020204030204" pitchFamily="49" charset="0"/>
              </a:rPr>
              <a:t>])</a:t>
            </a:r>
            <a:br>
              <a:rPr lang="en-IN" b="0" i="0" dirty="0">
                <a:solidFill>
                  <a:srgbClr val="000000"/>
                </a:solidFill>
                <a:effectLst/>
                <a:latin typeface="Consolas" panose="020B0609020204030204" pitchFamily="49" charset="0"/>
              </a:rPr>
            </a:br>
            <a:r>
              <a:rPr lang="en-IN" b="0" i="0" dirty="0">
                <a:solidFill>
                  <a:srgbClr val="000000"/>
                </a:solidFill>
                <a:effectLst/>
                <a:latin typeface="Consolas" panose="020B0609020204030204" pitchFamily="49" charset="0"/>
              </a:rPr>
              <a:t>y = </a:t>
            </a:r>
            <a:r>
              <a:rPr lang="en-IN" b="0" i="0" dirty="0" err="1">
                <a:solidFill>
                  <a:srgbClr val="000000"/>
                </a:solidFill>
                <a:effectLst/>
                <a:latin typeface="Consolas" panose="020B0609020204030204" pitchFamily="49" charset="0"/>
              </a:rPr>
              <a:t>np.array</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3</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8</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1</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10</a:t>
            </a:r>
            <a:r>
              <a:rPr lang="en-IN" b="0" i="0" dirty="0">
                <a:solidFill>
                  <a:srgbClr val="000000"/>
                </a:solidFill>
                <a:effectLst/>
                <a:latin typeface="Consolas" panose="020B0609020204030204" pitchFamily="49" charset="0"/>
              </a:rPr>
              <a:t>])</a:t>
            </a:r>
            <a:br>
              <a:rPr lang="en-IN" b="0" i="0" dirty="0">
                <a:solidFill>
                  <a:srgbClr val="000000"/>
                </a:solidFill>
                <a:effectLst/>
                <a:latin typeface="Consolas" panose="020B0609020204030204" pitchFamily="49" charset="0"/>
              </a:rPr>
            </a:br>
            <a:r>
              <a:rPr lang="en-IN" b="0" i="0" dirty="0" err="1">
                <a:solidFill>
                  <a:srgbClr val="000000"/>
                </a:solidFill>
                <a:effectLst/>
                <a:latin typeface="Consolas" panose="020B0609020204030204" pitchFamily="49" charset="0"/>
              </a:rPr>
              <a:t>plt.subplot</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2</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3</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3</a:t>
            </a:r>
            <a:r>
              <a:rPr lang="en-IN" b="0" i="0" dirty="0">
                <a:solidFill>
                  <a:srgbClr val="000000"/>
                </a:solidFill>
                <a:effectLst/>
                <a:latin typeface="Consolas" panose="020B0609020204030204" pitchFamily="49" charset="0"/>
              </a:rPr>
              <a:t>)</a:t>
            </a:r>
            <a:br>
              <a:rPr lang="en-IN" b="0" i="0" dirty="0">
                <a:solidFill>
                  <a:srgbClr val="000000"/>
                </a:solidFill>
                <a:effectLst/>
                <a:latin typeface="Consolas" panose="020B0609020204030204" pitchFamily="49" charset="0"/>
              </a:rPr>
            </a:br>
            <a:r>
              <a:rPr lang="en-IN" b="0" i="0" dirty="0" err="1">
                <a:solidFill>
                  <a:srgbClr val="000000"/>
                </a:solidFill>
                <a:effectLst/>
                <a:latin typeface="Consolas" panose="020B0609020204030204" pitchFamily="49" charset="0"/>
              </a:rPr>
              <a:t>plt.plot</a:t>
            </a:r>
            <a:r>
              <a:rPr lang="en-IN" b="0" i="0" dirty="0">
                <a:solidFill>
                  <a:srgbClr val="000000"/>
                </a:solidFill>
                <a:effectLst/>
                <a:latin typeface="Consolas" panose="020B0609020204030204" pitchFamily="49" charset="0"/>
              </a:rPr>
              <a:t>(</a:t>
            </a:r>
            <a:r>
              <a:rPr lang="en-IN" b="0" i="0" dirty="0" err="1">
                <a:solidFill>
                  <a:srgbClr val="000000"/>
                </a:solidFill>
                <a:effectLst/>
                <a:latin typeface="Consolas" panose="020B0609020204030204" pitchFamily="49" charset="0"/>
              </a:rPr>
              <a:t>x,y</a:t>
            </a:r>
            <a:r>
              <a:rPr lang="en-IN" b="0" i="0" dirty="0">
                <a:solidFill>
                  <a:srgbClr val="000000"/>
                </a:solidFill>
                <a:effectLst/>
                <a:latin typeface="Consolas" panose="020B0609020204030204" pitchFamily="49" charset="0"/>
              </a:rPr>
              <a:t>)</a:t>
            </a:r>
            <a:br>
              <a:rPr lang="en-IN" b="0" i="0" dirty="0">
                <a:solidFill>
                  <a:srgbClr val="000000"/>
                </a:solidFill>
                <a:effectLst/>
                <a:latin typeface="Consolas" panose="020B0609020204030204" pitchFamily="49" charset="0"/>
              </a:rPr>
            </a:br>
            <a:br>
              <a:rPr lang="en-IN" b="0" i="0" dirty="0">
                <a:solidFill>
                  <a:srgbClr val="000000"/>
                </a:solidFill>
                <a:effectLst/>
                <a:latin typeface="Consolas" panose="020B0609020204030204" pitchFamily="49" charset="0"/>
              </a:rPr>
            </a:br>
            <a:endParaRPr lang="en-US"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CB86C7F-6DA7-5415-B2C7-C4E66C8CAAAA}"/>
              </a:ext>
            </a:extLst>
          </p:cNvPr>
          <p:cNvSpPr txBox="1"/>
          <p:nvPr/>
        </p:nvSpPr>
        <p:spPr>
          <a:xfrm>
            <a:off x="4186625" y="1537985"/>
            <a:ext cx="4462671" cy="4247317"/>
          </a:xfrm>
          <a:prstGeom prst="rect">
            <a:avLst/>
          </a:prstGeom>
          <a:noFill/>
        </p:spPr>
        <p:txBody>
          <a:bodyPr wrap="square">
            <a:spAutoFit/>
          </a:bodyPr>
          <a:lstStyle/>
          <a:p>
            <a:pPr algn="l"/>
            <a:r>
              <a:rPr lang="en-IN" b="0" i="0" dirty="0">
                <a:solidFill>
                  <a:srgbClr val="000000"/>
                </a:solidFill>
                <a:effectLst/>
                <a:latin typeface="Consolas" panose="020B0609020204030204" pitchFamily="49" charset="0"/>
              </a:rPr>
              <a:t>x = </a:t>
            </a:r>
            <a:r>
              <a:rPr lang="en-IN" b="0" i="0" dirty="0" err="1">
                <a:solidFill>
                  <a:srgbClr val="000000"/>
                </a:solidFill>
                <a:effectLst/>
                <a:latin typeface="Consolas" panose="020B0609020204030204" pitchFamily="49" charset="0"/>
              </a:rPr>
              <a:t>np.array</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0</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1</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2</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3</a:t>
            </a:r>
            <a:r>
              <a:rPr lang="en-IN" b="0" i="0" dirty="0">
                <a:solidFill>
                  <a:srgbClr val="000000"/>
                </a:solidFill>
                <a:effectLst/>
                <a:latin typeface="Consolas" panose="020B0609020204030204" pitchFamily="49" charset="0"/>
              </a:rPr>
              <a:t>])</a:t>
            </a:r>
            <a:br>
              <a:rPr lang="en-IN" b="0" i="0" dirty="0">
                <a:solidFill>
                  <a:srgbClr val="000000"/>
                </a:solidFill>
                <a:effectLst/>
                <a:latin typeface="Consolas" panose="020B0609020204030204" pitchFamily="49" charset="0"/>
              </a:rPr>
            </a:br>
            <a:r>
              <a:rPr lang="en-IN" b="0" i="0" dirty="0">
                <a:solidFill>
                  <a:srgbClr val="000000"/>
                </a:solidFill>
                <a:effectLst/>
                <a:latin typeface="Consolas" panose="020B0609020204030204" pitchFamily="49" charset="0"/>
              </a:rPr>
              <a:t>y = </a:t>
            </a:r>
            <a:r>
              <a:rPr lang="en-IN" b="0" i="0" dirty="0" err="1">
                <a:solidFill>
                  <a:srgbClr val="000000"/>
                </a:solidFill>
                <a:effectLst/>
                <a:latin typeface="Consolas" panose="020B0609020204030204" pitchFamily="49" charset="0"/>
              </a:rPr>
              <a:t>np.array</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10</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20</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30</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40</a:t>
            </a:r>
            <a:r>
              <a:rPr lang="en-IN" b="0" i="0" dirty="0">
                <a:solidFill>
                  <a:srgbClr val="000000"/>
                </a:solidFill>
                <a:effectLst/>
                <a:latin typeface="Consolas" panose="020B0609020204030204" pitchFamily="49" charset="0"/>
              </a:rPr>
              <a:t>])</a:t>
            </a:r>
            <a:br>
              <a:rPr lang="en-IN" b="0" i="0" dirty="0">
                <a:solidFill>
                  <a:srgbClr val="000000"/>
                </a:solidFill>
                <a:effectLst/>
                <a:latin typeface="Consolas" panose="020B0609020204030204" pitchFamily="49" charset="0"/>
              </a:rPr>
            </a:br>
            <a:r>
              <a:rPr lang="en-IN" b="0" i="0" dirty="0" err="1">
                <a:solidFill>
                  <a:srgbClr val="000000"/>
                </a:solidFill>
                <a:effectLst/>
                <a:latin typeface="Consolas" panose="020B0609020204030204" pitchFamily="49" charset="0"/>
              </a:rPr>
              <a:t>plt.subplot</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2</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3</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4</a:t>
            </a:r>
            <a:r>
              <a:rPr lang="en-IN" b="0" i="0" dirty="0">
                <a:solidFill>
                  <a:srgbClr val="000000"/>
                </a:solidFill>
                <a:effectLst/>
                <a:latin typeface="Consolas" panose="020B0609020204030204" pitchFamily="49" charset="0"/>
              </a:rPr>
              <a:t>)</a:t>
            </a:r>
            <a:br>
              <a:rPr lang="en-IN" b="0" i="0" dirty="0">
                <a:solidFill>
                  <a:srgbClr val="000000"/>
                </a:solidFill>
                <a:effectLst/>
                <a:latin typeface="Consolas" panose="020B0609020204030204" pitchFamily="49" charset="0"/>
              </a:rPr>
            </a:br>
            <a:r>
              <a:rPr lang="en-IN" b="0" i="0" dirty="0" err="1">
                <a:solidFill>
                  <a:srgbClr val="000000"/>
                </a:solidFill>
                <a:effectLst/>
                <a:latin typeface="Consolas" panose="020B0609020204030204" pitchFamily="49" charset="0"/>
              </a:rPr>
              <a:t>plt.plot</a:t>
            </a:r>
            <a:r>
              <a:rPr lang="en-IN" b="0" i="0" dirty="0">
                <a:solidFill>
                  <a:srgbClr val="000000"/>
                </a:solidFill>
                <a:effectLst/>
                <a:latin typeface="Consolas" panose="020B0609020204030204" pitchFamily="49" charset="0"/>
              </a:rPr>
              <a:t>(</a:t>
            </a:r>
            <a:r>
              <a:rPr lang="en-IN" b="0" i="0" dirty="0" err="1">
                <a:solidFill>
                  <a:srgbClr val="000000"/>
                </a:solidFill>
                <a:effectLst/>
                <a:latin typeface="Consolas" panose="020B0609020204030204" pitchFamily="49" charset="0"/>
              </a:rPr>
              <a:t>x,y</a:t>
            </a:r>
            <a:r>
              <a:rPr lang="en-IN" b="0" i="0" dirty="0">
                <a:solidFill>
                  <a:srgbClr val="000000"/>
                </a:solidFill>
                <a:effectLst/>
                <a:latin typeface="Consolas" panose="020B0609020204030204" pitchFamily="49" charset="0"/>
              </a:rPr>
              <a:t>)</a:t>
            </a:r>
          </a:p>
          <a:p>
            <a:pPr algn="l"/>
            <a:r>
              <a:rPr lang="en-IN" b="0" i="0" dirty="0">
                <a:solidFill>
                  <a:srgbClr val="000000"/>
                </a:solidFill>
                <a:effectLst/>
                <a:latin typeface="Consolas" panose="020B0609020204030204" pitchFamily="49" charset="0"/>
              </a:rPr>
              <a:t>x = </a:t>
            </a:r>
            <a:r>
              <a:rPr lang="en-IN" b="0" i="0" dirty="0" err="1">
                <a:solidFill>
                  <a:srgbClr val="000000"/>
                </a:solidFill>
                <a:effectLst/>
                <a:latin typeface="Consolas" panose="020B0609020204030204" pitchFamily="49" charset="0"/>
              </a:rPr>
              <a:t>np.array</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0</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1</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2</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3</a:t>
            </a:r>
            <a:r>
              <a:rPr lang="en-IN" b="0" i="0" dirty="0">
                <a:solidFill>
                  <a:srgbClr val="000000"/>
                </a:solidFill>
                <a:effectLst/>
                <a:latin typeface="Consolas" panose="020B0609020204030204" pitchFamily="49" charset="0"/>
              </a:rPr>
              <a:t>])</a:t>
            </a:r>
            <a:br>
              <a:rPr lang="en-IN" b="0" i="0" dirty="0">
                <a:solidFill>
                  <a:srgbClr val="000000"/>
                </a:solidFill>
                <a:effectLst/>
                <a:latin typeface="Consolas" panose="020B0609020204030204" pitchFamily="49" charset="0"/>
              </a:rPr>
            </a:br>
            <a:r>
              <a:rPr lang="en-IN" b="0" i="0" dirty="0">
                <a:solidFill>
                  <a:srgbClr val="000000"/>
                </a:solidFill>
                <a:effectLst/>
                <a:latin typeface="Consolas" panose="020B0609020204030204" pitchFamily="49" charset="0"/>
              </a:rPr>
              <a:t>y = </a:t>
            </a:r>
            <a:r>
              <a:rPr lang="en-IN" b="0" i="0" dirty="0" err="1">
                <a:solidFill>
                  <a:srgbClr val="000000"/>
                </a:solidFill>
                <a:effectLst/>
                <a:latin typeface="Consolas" panose="020B0609020204030204" pitchFamily="49" charset="0"/>
              </a:rPr>
              <a:t>np.array</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3</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8</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1</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10</a:t>
            </a:r>
            <a:r>
              <a:rPr lang="en-IN" b="0" i="0" dirty="0">
                <a:solidFill>
                  <a:srgbClr val="000000"/>
                </a:solidFill>
                <a:effectLst/>
                <a:latin typeface="Consolas" panose="020B0609020204030204" pitchFamily="49" charset="0"/>
              </a:rPr>
              <a:t>])</a:t>
            </a:r>
            <a:br>
              <a:rPr lang="en-IN" b="0" i="0" dirty="0">
                <a:solidFill>
                  <a:srgbClr val="000000"/>
                </a:solidFill>
                <a:effectLst/>
                <a:latin typeface="Consolas" panose="020B0609020204030204" pitchFamily="49" charset="0"/>
              </a:rPr>
            </a:br>
            <a:r>
              <a:rPr lang="en-IN" b="0" i="0" dirty="0" err="1">
                <a:solidFill>
                  <a:srgbClr val="000000"/>
                </a:solidFill>
                <a:effectLst/>
                <a:latin typeface="Consolas" panose="020B0609020204030204" pitchFamily="49" charset="0"/>
              </a:rPr>
              <a:t>plt.subplot</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2</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3</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5</a:t>
            </a:r>
            <a:r>
              <a:rPr lang="en-IN" b="0" i="0" dirty="0">
                <a:solidFill>
                  <a:srgbClr val="000000"/>
                </a:solidFill>
                <a:effectLst/>
                <a:latin typeface="Consolas" panose="020B0609020204030204" pitchFamily="49" charset="0"/>
              </a:rPr>
              <a:t>)</a:t>
            </a:r>
            <a:br>
              <a:rPr lang="en-IN" b="0" i="0" dirty="0">
                <a:solidFill>
                  <a:srgbClr val="000000"/>
                </a:solidFill>
                <a:effectLst/>
                <a:latin typeface="Consolas" panose="020B0609020204030204" pitchFamily="49" charset="0"/>
              </a:rPr>
            </a:br>
            <a:r>
              <a:rPr lang="en-IN" b="0" i="0" dirty="0" err="1">
                <a:solidFill>
                  <a:srgbClr val="000000"/>
                </a:solidFill>
                <a:effectLst/>
                <a:latin typeface="Consolas" panose="020B0609020204030204" pitchFamily="49" charset="0"/>
              </a:rPr>
              <a:t>plt.plot</a:t>
            </a:r>
            <a:r>
              <a:rPr lang="en-IN" b="0" i="0" dirty="0">
                <a:solidFill>
                  <a:srgbClr val="000000"/>
                </a:solidFill>
                <a:effectLst/>
                <a:latin typeface="Consolas" panose="020B0609020204030204" pitchFamily="49" charset="0"/>
              </a:rPr>
              <a:t>(</a:t>
            </a:r>
            <a:r>
              <a:rPr lang="en-IN" b="0" i="0" dirty="0" err="1">
                <a:solidFill>
                  <a:srgbClr val="000000"/>
                </a:solidFill>
                <a:effectLst/>
                <a:latin typeface="Consolas" panose="020B0609020204030204" pitchFamily="49" charset="0"/>
              </a:rPr>
              <a:t>x,y</a:t>
            </a:r>
            <a:r>
              <a:rPr lang="en-IN" b="0" i="0" dirty="0">
                <a:solidFill>
                  <a:srgbClr val="000000"/>
                </a:solidFill>
                <a:effectLst/>
                <a:latin typeface="Consolas" panose="020B0609020204030204" pitchFamily="49" charset="0"/>
              </a:rPr>
              <a:t>)</a:t>
            </a:r>
            <a:br>
              <a:rPr lang="en-IN" b="0" i="0" dirty="0">
                <a:solidFill>
                  <a:srgbClr val="000000"/>
                </a:solidFill>
                <a:effectLst/>
                <a:latin typeface="Consolas" panose="020B0609020204030204" pitchFamily="49" charset="0"/>
              </a:rPr>
            </a:br>
            <a:r>
              <a:rPr lang="en-IN" b="0" i="0" dirty="0">
                <a:solidFill>
                  <a:srgbClr val="000000"/>
                </a:solidFill>
                <a:effectLst/>
                <a:latin typeface="Consolas" panose="020B0609020204030204" pitchFamily="49" charset="0"/>
              </a:rPr>
              <a:t>x = </a:t>
            </a:r>
            <a:r>
              <a:rPr lang="en-IN" b="0" i="0" dirty="0" err="1">
                <a:solidFill>
                  <a:srgbClr val="000000"/>
                </a:solidFill>
                <a:effectLst/>
                <a:latin typeface="Consolas" panose="020B0609020204030204" pitchFamily="49" charset="0"/>
              </a:rPr>
              <a:t>np.array</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0</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1</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2</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3</a:t>
            </a:r>
            <a:r>
              <a:rPr lang="en-IN" b="0" i="0" dirty="0">
                <a:solidFill>
                  <a:srgbClr val="000000"/>
                </a:solidFill>
                <a:effectLst/>
                <a:latin typeface="Consolas" panose="020B0609020204030204" pitchFamily="49" charset="0"/>
              </a:rPr>
              <a:t>])</a:t>
            </a:r>
            <a:br>
              <a:rPr lang="en-IN" b="0" i="0" dirty="0">
                <a:solidFill>
                  <a:srgbClr val="000000"/>
                </a:solidFill>
                <a:effectLst/>
                <a:latin typeface="Consolas" panose="020B0609020204030204" pitchFamily="49" charset="0"/>
              </a:rPr>
            </a:br>
            <a:r>
              <a:rPr lang="en-IN" b="0" i="0" dirty="0">
                <a:solidFill>
                  <a:srgbClr val="000000"/>
                </a:solidFill>
                <a:effectLst/>
                <a:latin typeface="Consolas" panose="020B0609020204030204" pitchFamily="49" charset="0"/>
              </a:rPr>
              <a:t>y = </a:t>
            </a:r>
            <a:r>
              <a:rPr lang="en-IN" b="0" i="0" dirty="0" err="1">
                <a:solidFill>
                  <a:srgbClr val="000000"/>
                </a:solidFill>
                <a:effectLst/>
                <a:latin typeface="Consolas" panose="020B0609020204030204" pitchFamily="49" charset="0"/>
              </a:rPr>
              <a:t>np.array</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10</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20</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30</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40</a:t>
            </a:r>
            <a:r>
              <a:rPr lang="en-IN" b="0" i="0" dirty="0">
                <a:solidFill>
                  <a:srgbClr val="000000"/>
                </a:solidFill>
                <a:effectLst/>
                <a:latin typeface="Consolas" panose="020B0609020204030204" pitchFamily="49" charset="0"/>
              </a:rPr>
              <a:t>])</a:t>
            </a:r>
            <a:br>
              <a:rPr lang="en-IN" b="0" i="0" dirty="0">
                <a:solidFill>
                  <a:srgbClr val="000000"/>
                </a:solidFill>
                <a:effectLst/>
                <a:latin typeface="Consolas" panose="020B0609020204030204" pitchFamily="49" charset="0"/>
              </a:rPr>
            </a:br>
            <a:r>
              <a:rPr lang="en-IN" b="0" i="0" dirty="0" err="1">
                <a:solidFill>
                  <a:srgbClr val="000000"/>
                </a:solidFill>
                <a:effectLst/>
                <a:latin typeface="Consolas" panose="020B0609020204030204" pitchFamily="49" charset="0"/>
              </a:rPr>
              <a:t>plt.subplot</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2</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3</a:t>
            </a:r>
            <a:r>
              <a:rPr lang="en-IN" b="0" i="0" dirty="0">
                <a:solidFill>
                  <a:srgbClr val="000000"/>
                </a:solidFill>
                <a:effectLst/>
                <a:latin typeface="Consolas" panose="020B0609020204030204" pitchFamily="49" charset="0"/>
              </a:rPr>
              <a:t>, </a:t>
            </a:r>
            <a:r>
              <a:rPr lang="en-IN" b="0" i="0" dirty="0">
                <a:solidFill>
                  <a:srgbClr val="FF0000"/>
                </a:solidFill>
                <a:effectLst/>
                <a:latin typeface="Consolas" panose="020B0609020204030204" pitchFamily="49" charset="0"/>
              </a:rPr>
              <a:t>6</a:t>
            </a:r>
            <a:r>
              <a:rPr lang="en-IN" b="0" i="0" dirty="0">
                <a:solidFill>
                  <a:srgbClr val="000000"/>
                </a:solidFill>
                <a:effectLst/>
                <a:latin typeface="Consolas" panose="020B0609020204030204" pitchFamily="49" charset="0"/>
              </a:rPr>
              <a:t>)</a:t>
            </a:r>
            <a:br>
              <a:rPr lang="en-IN" b="0" i="0" dirty="0">
                <a:solidFill>
                  <a:srgbClr val="000000"/>
                </a:solidFill>
                <a:effectLst/>
                <a:latin typeface="Consolas" panose="020B0609020204030204" pitchFamily="49" charset="0"/>
              </a:rPr>
            </a:br>
            <a:r>
              <a:rPr lang="en-IN" b="0" i="0" dirty="0" err="1">
                <a:solidFill>
                  <a:srgbClr val="000000"/>
                </a:solidFill>
                <a:effectLst/>
                <a:latin typeface="Consolas" panose="020B0609020204030204" pitchFamily="49" charset="0"/>
              </a:rPr>
              <a:t>plt.plot</a:t>
            </a:r>
            <a:r>
              <a:rPr lang="en-IN" b="0" i="0" dirty="0">
                <a:solidFill>
                  <a:srgbClr val="000000"/>
                </a:solidFill>
                <a:effectLst/>
                <a:latin typeface="Consolas" panose="020B0609020204030204" pitchFamily="49" charset="0"/>
              </a:rPr>
              <a:t>(</a:t>
            </a:r>
            <a:r>
              <a:rPr lang="en-IN" b="0" i="0" dirty="0" err="1">
                <a:solidFill>
                  <a:srgbClr val="000000"/>
                </a:solidFill>
                <a:effectLst/>
                <a:latin typeface="Consolas" panose="020B0609020204030204" pitchFamily="49" charset="0"/>
              </a:rPr>
              <a:t>x,y</a:t>
            </a:r>
            <a:r>
              <a:rPr lang="en-IN" b="0" i="0" dirty="0">
                <a:solidFill>
                  <a:srgbClr val="000000"/>
                </a:solidFill>
                <a:effectLst/>
                <a:latin typeface="Consolas" panose="020B0609020204030204" pitchFamily="49" charset="0"/>
              </a:rPr>
              <a:t>)</a:t>
            </a:r>
            <a:br>
              <a:rPr lang="en-IN" b="0" i="0" dirty="0">
                <a:solidFill>
                  <a:srgbClr val="000000"/>
                </a:solidFill>
                <a:effectLst/>
                <a:latin typeface="Consolas" panose="020B0609020204030204" pitchFamily="49" charset="0"/>
              </a:rPr>
            </a:br>
            <a:r>
              <a:rPr lang="en-IN" b="0" i="0" dirty="0" err="1">
                <a:solidFill>
                  <a:srgbClr val="000000"/>
                </a:solidFill>
                <a:effectLst/>
                <a:latin typeface="Consolas" panose="020B0609020204030204" pitchFamily="49" charset="0"/>
              </a:rPr>
              <a:t>plt.show</a:t>
            </a:r>
            <a:r>
              <a:rPr lang="en-IN" b="0" i="0" dirty="0">
                <a:solidFill>
                  <a:srgbClr val="000000"/>
                </a:solidFill>
                <a:effectLst/>
                <a:latin typeface="Consolas" panose="020B0609020204030204" pitchFamily="49" charset="0"/>
              </a:rPr>
              <a:t>()</a:t>
            </a:r>
          </a:p>
          <a:p>
            <a:br>
              <a:rPr lang="en-IN" dirty="0"/>
            </a:br>
            <a:endParaRPr lang="en-US"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12290" name="Picture 2">
            <a:extLst>
              <a:ext uri="{FF2B5EF4-FFF2-40B4-BE49-F238E27FC236}">
                <a16:creationId xmlns:a16="http://schemas.microsoft.com/office/drawing/2014/main" id="{9499FBE9-CA3F-E75C-7E24-892553165E9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881" t="8817" r="7825" b="5685"/>
          <a:stretch/>
        </p:blipFill>
        <p:spPr bwMode="auto">
          <a:xfrm>
            <a:off x="8209819" y="2390532"/>
            <a:ext cx="3867053" cy="29294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3661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10</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74340"/>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Multiple plots</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53057" y="1498836"/>
            <a:ext cx="7110621" cy="3970318"/>
          </a:xfrm>
          <a:prstGeom prst="rect">
            <a:avLst/>
          </a:prstGeom>
          <a:noFill/>
        </p:spPr>
        <p:txBody>
          <a:bodyPr wrap="square">
            <a:spAutoFit/>
          </a:bodyPr>
          <a:lstStyle/>
          <a:p>
            <a:pPr algn="l"/>
            <a:r>
              <a:rPr lang="en-IN" dirty="0">
                <a:solidFill>
                  <a:srgbClr val="0000CD"/>
                </a:solidFill>
                <a:latin typeface="Consolas" panose="020B0609020204030204" pitchFamily="49" charset="0"/>
              </a:rPr>
              <a:t>import</a:t>
            </a:r>
            <a:r>
              <a:rPr lang="en-IN" b="0" i="0" dirty="0">
                <a:effectLst/>
                <a:latin typeface="Consolas" panose="020B0609020204030204" pitchFamily="49" charset="0"/>
              </a:rPr>
              <a:t> </a:t>
            </a:r>
            <a:r>
              <a:rPr lang="en-IN" b="0" i="0" dirty="0" err="1">
                <a:effectLst/>
                <a:latin typeface="Consolas" panose="020B0609020204030204" pitchFamily="49" charset="0"/>
              </a:rPr>
              <a:t>matplotlib.pyplot</a:t>
            </a:r>
            <a:r>
              <a:rPr lang="en-IN" b="0" i="0" dirty="0">
                <a:effectLst/>
                <a:latin typeface="Consolas" panose="020B0609020204030204" pitchFamily="49" charset="0"/>
              </a:rPr>
              <a:t> </a:t>
            </a:r>
            <a:r>
              <a:rPr lang="en-IN" dirty="0">
                <a:solidFill>
                  <a:srgbClr val="0000CD"/>
                </a:solidFill>
                <a:latin typeface="Consolas" panose="020B0609020204030204" pitchFamily="49" charset="0"/>
              </a:rPr>
              <a:t>as</a:t>
            </a:r>
            <a:r>
              <a:rPr lang="en-IN" b="0" i="0" dirty="0">
                <a:effectLst/>
                <a:latin typeface="Consolas" panose="020B0609020204030204" pitchFamily="49" charset="0"/>
              </a:rPr>
              <a:t> </a:t>
            </a:r>
            <a:r>
              <a:rPr lang="en-IN" b="0" i="0" dirty="0" err="1">
                <a:effectLst/>
                <a:latin typeface="Consolas" panose="020B0609020204030204" pitchFamily="49" charset="0"/>
              </a:rPr>
              <a:t>plt</a:t>
            </a:r>
            <a:endParaRPr lang="en-IN" b="0" i="0" dirty="0">
              <a:effectLst/>
              <a:latin typeface="Consolas" panose="020B0609020204030204" pitchFamily="49" charset="0"/>
            </a:endParaRPr>
          </a:p>
          <a:p>
            <a:pPr algn="l"/>
            <a:endParaRPr lang="en-IN" b="0" i="0" dirty="0">
              <a:effectLst/>
              <a:latin typeface="Consolas" panose="020B0609020204030204" pitchFamily="49" charset="0"/>
            </a:endParaRPr>
          </a:p>
          <a:p>
            <a:pPr algn="l"/>
            <a:r>
              <a:rPr lang="en-IN" b="0" i="0" dirty="0">
                <a:effectLst/>
                <a:latin typeface="Consolas" panose="020B0609020204030204" pitchFamily="49" charset="0"/>
              </a:rPr>
              <a:t># Create a 2x2 grid of subplots</a:t>
            </a:r>
          </a:p>
          <a:p>
            <a:pPr algn="l"/>
            <a:r>
              <a:rPr lang="en-IN" b="0" i="0" dirty="0">
                <a:effectLst/>
                <a:latin typeface="Consolas" panose="020B0609020204030204" pitchFamily="49" charset="0"/>
              </a:rPr>
              <a:t>fig, </a:t>
            </a:r>
            <a:r>
              <a:rPr lang="en-IN" b="0" i="0" dirty="0" err="1">
                <a:effectLst/>
                <a:latin typeface="Consolas" panose="020B0609020204030204" pitchFamily="49" charset="0"/>
              </a:rPr>
              <a:t>axs</a:t>
            </a:r>
            <a:r>
              <a:rPr lang="en-IN" b="0" i="0" dirty="0">
                <a:effectLst/>
                <a:latin typeface="Consolas" panose="020B0609020204030204" pitchFamily="49" charset="0"/>
              </a:rPr>
              <a:t> = </a:t>
            </a:r>
            <a:r>
              <a:rPr lang="en-IN" b="0" i="0" dirty="0" err="1">
                <a:effectLst/>
                <a:latin typeface="Consolas" panose="020B0609020204030204" pitchFamily="49" charset="0"/>
              </a:rPr>
              <a:t>plt.subplots</a:t>
            </a:r>
            <a:r>
              <a:rPr lang="en-IN" b="0" i="0" dirty="0">
                <a:effectLst/>
                <a:latin typeface="Consolas" panose="020B0609020204030204" pitchFamily="49" charset="0"/>
              </a:rPr>
              <a:t>(2, 2)</a:t>
            </a:r>
          </a:p>
          <a:p>
            <a:pPr algn="l"/>
            <a:endParaRPr lang="en-IN" b="0" i="0" dirty="0">
              <a:effectLst/>
              <a:latin typeface="Consolas" panose="020B0609020204030204" pitchFamily="49" charset="0"/>
            </a:endParaRPr>
          </a:p>
          <a:p>
            <a:pPr algn="l"/>
            <a:r>
              <a:rPr lang="en-IN" b="0" i="0" dirty="0" err="1">
                <a:effectLst/>
                <a:latin typeface="Consolas" panose="020B0609020204030204" pitchFamily="49" charset="0"/>
              </a:rPr>
              <a:t>axs</a:t>
            </a:r>
            <a:r>
              <a:rPr lang="en-IN" b="0" i="0" dirty="0">
                <a:effectLst/>
                <a:latin typeface="Consolas" panose="020B0609020204030204" pitchFamily="49" charset="0"/>
              </a:rPr>
              <a:t>[</a:t>
            </a:r>
            <a:r>
              <a:rPr lang="en-IN" b="0" i="0" dirty="0">
                <a:solidFill>
                  <a:srgbClr val="FF0000"/>
                </a:solidFill>
                <a:effectLst/>
                <a:latin typeface="Consolas" panose="020B0609020204030204" pitchFamily="49" charset="0"/>
              </a:rPr>
              <a:t>0</a:t>
            </a:r>
            <a:r>
              <a:rPr lang="en-IN" b="0" i="0" dirty="0">
                <a:effectLst/>
                <a:latin typeface="Consolas" panose="020B0609020204030204" pitchFamily="49" charset="0"/>
              </a:rPr>
              <a:t>, </a:t>
            </a:r>
            <a:r>
              <a:rPr lang="en-IN" b="0" i="0" dirty="0">
                <a:solidFill>
                  <a:srgbClr val="FF0000"/>
                </a:solidFill>
                <a:effectLst/>
                <a:latin typeface="Consolas" panose="020B0609020204030204" pitchFamily="49" charset="0"/>
              </a:rPr>
              <a:t>0</a:t>
            </a:r>
            <a:r>
              <a:rPr lang="en-IN" b="0" i="0" dirty="0">
                <a:effectLst/>
                <a:latin typeface="Consolas" panose="020B0609020204030204" pitchFamily="49" charset="0"/>
              </a:rPr>
              <a:t>].plot([</a:t>
            </a:r>
            <a:r>
              <a:rPr lang="en-IN" b="0" i="0" dirty="0">
                <a:solidFill>
                  <a:srgbClr val="FF0000"/>
                </a:solidFill>
                <a:effectLst/>
                <a:latin typeface="Consolas" panose="020B0609020204030204" pitchFamily="49" charset="0"/>
              </a:rPr>
              <a:t>1, 2, 3</a:t>
            </a:r>
            <a:r>
              <a:rPr lang="en-IN" b="0" i="0" dirty="0">
                <a:effectLst/>
                <a:latin typeface="Consolas" panose="020B0609020204030204" pitchFamily="49" charset="0"/>
              </a:rPr>
              <a:t>], [</a:t>
            </a:r>
            <a:r>
              <a:rPr lang="en-IN" b="0" i="0" dirty="0">
                <a:solidFill>
                  <a:srgbClr val="FF0000"/>
                </a:solidFill>
                <a:effectLst/>
                <a:latin typeface="Consolas" panose="020B0609020204030204" pitchFamily="49" charset="0"/>
              </a:rPr>
              <a:t>4, 5, 6</a:t>
            </a:r>
            <a:r>
              <a:rPr lang="en-IN" b="0" i="0" dirty="0">
                <a:effectLst/>
                <a:latin typeface="Consolas" panose="020B0609020204030204" pitchFamily="49" charset="0"/>
              </a:rPr>
              <a:t>])</a:t>
            </a:r>
          </a:p>
          <a:p>
            <a:pPr algn="l"/>
            <a:r>
              <a:rPr lang="en-IN" b="0" i="0" dirty="0" err="1">
                <a:effectLst/>
                <a:latin typeface="Consolas" panose="020B0609020204030204" pitchFamily="49" charset="0"/>
              </a:rPr>
              <a:t>axs</a:t>
            </a:r>
            <a:r>
              <a:rPr lang="en-IN" b="0" i="0" dirty="0">
                <a:effectLst/>
                <a:latin typeface="Consolas" panose="020B0609020204030204" pitchFamily="49" charset="0"/>
              </a:rPr>
              <a:t>[</a:t>
            </a:r>
            <a:r>
              <a:rPr lang="en-IN" b="0" i="0" dirty="0">
                <a:solidFill>
                  <a:srgbClr val="FF0000"/>
                </a:solidFill>
                <a:effectLst/>
                <a:latin typeface="Consolas" panose="020B0609020204030204" pitchFamily="49" charset="0"/>
              </a:rPr>
              <a:t>0</a:t>
            </a:r>
            <a:r>
              <a:rPr lang="en-IN" b="0" i="0" dirty="0">
                <a:effectLst/>
                <a:latin typeface="Consolas" panose="020B0609020204030204" pitchFamily="49" charset="0"/>
              </a:rPr>
              <a:t>, </a:t>
            </a:r>
            <a:r>
              <a:rPr lang="en-IN" b="0" i="0" dirty="0">
                <a:solidFill>
                  <a:srgbClr val="FF0000"/>
                </a:solidFill>
                <a:effectLst/>
                <a:latin typeface="Consolas" panose="020B0609020204030204" pitchFamily="49" charset="0"/>
              </a:rPr>
              <a:t>1</a:t>
            </a:r>
            <a:r>
              <a:rPr lang="en-IN" b="0" i="0" dirty="0">
                <a:effectLst/>
                <a:latin typeface="Consolas" panose="020B0609020204030204" pitchFamily="49" charset="0"/>
              </a:rPr>
              <a:t>].scatter([</a:t>
            </a:r>
            <a:r>
              <a:rPr lang="en-IN" b="0" i="0" dirty="0">
                <a:solidFill>
                  <a:srgbClr val="FF0000"/>
                </a:solidFill>
                <a:effectLst/>
                <a:latin typeface="Consolas" panose="020B0609020204030204" pitchFamily="49" charset="0"/>
              </a:rPr>
              <a:t>1, 2, 3</a:t>
            </a:r>
            <a:r>
              <a:rPr lang="en-IN" b="0" i="0" dirty="0">
                <a:effectLst/>
                <a:latin typeface="Consolas" panose="020B0609020204030204" pitchFamily="49" charset="0"/>
              </a:rPr>
              <a:t>], [</a:t>
            </a:r>
            <a:r>
              <a:rPr lang="en-IN" b="0" i="0" dirty="0">
                <a:solidFill>
                  <a:srgbClr val="FF0000"/>
                </a:solidFill>
                <a:effectLst/>
                <a:latin typeface="Consolas" panose="020B0609020204030204" pitchFamily="49" charset="0"/>
              </a:rPr>
              <a:t>4, 5, 6</a:t>
            </a:r>
            <a:r>
              <a:rPr lang="en-IN" b="0" i="0" dirty="0">
                <a:effectLst/>
                <a:latin typeface="Consolas" panose="020B0609020204030204" pitchFamily="49" charset="0"/>
              </a:rPr>
              <a:t>])</a:t>
            </a:r>
          </a:p>
          <a:p>
            <a:pPr algn="l"/>
            <a:r>
              <a:rPr lang="en-IN" b="0" i="0" dirty="0" err="1">
                <a:effectLst/>
                <a:latin typeface="Consolas" panose="020B0609020204030204" pitchFamily="49" charset="0"/>
              </a:rPr>
              <a:t>axs</a:t>
            </a:r>
            <a:r>
              <a:rPr lang="en-IN" b="0" i="0" dirty="0">
                <a:effectLst/>
                <a:latin typeface="Consolas" panose="020B0609020204030204" pitchFamily="49" charset="0"/>
              </a:rPr>
              <a:t>[</a:t>
            </a:r>
            <a:r>
              <a:rPr lang="en-IN" b="0" i="0" dirty="0">
                <a:solidFill>
                  <a:srgbClr val="FF0000"/>
                </a:solidFill>
                <a:effectLst/>
                <a:latin typeface="Consolas" panose="020B0609020204030204" pitchFamily="49" charset="0"/>
              </a:rPr>
              <a:t>1</a:t>
            </a:r>
            <a:r>
              <a:rPr lang="en-IN" b="0" i="0" dirty="0">
                <a:effectLst/>
                <a:latin typeface="Consolas" panose="020B0609020204030204" pitchFamily="49" charset="0"/>
              </a:rPr>
              <a:t>, </a:t>
            </a:r>
            <a:r>
              <a:rPr lang="en-IN" b="0" i="0" dirty="0">
                <a:solidFill>
                  <a:srgbClr val="FF0000"/>
                </a:solidFill>
                <a:effectLst/>
                <a:latin typeface="Consolas" panose="020B0609020204030204" pitchFamily="49" charset="0"/>
              </a:rPr>
              <a:t>0</a:t>
            </a:r>
            <a:r>
              <a:rPr lang="en-IN" b="0" i="0" dirty="0">
                <a:effectLst/>
                <a:latin typeface="Consolas" panose="020B0609020204030204" pitchFamily="49" charset="0"/>
              </a:rPr>
              <a:t>].bar([</a:t>
            </a:r>
            <a:r>
              <a:rPr lang="en-IN" b="0" i="0" dirty="0">
                <a:solidFill>
                  <a:srgbClr val="FF0000"/>
                </a:solidFill>
                <a:effectLst/>
                <a:latin typeface="Consolas" panose="020B0609020204030204" pitchFamily="49" charset="0"/>
              </a:rPr>
              <a:t>1, 2, 3</a:t>
            </a:r>
            <a:r>
              <a:rPr lang="en-IN" b="0" i="0" dirty="0">
                <a:effectLst/>
                <a:latin typeface="Consolas" panose="020B0609020204030204" pitchFamily="49" charset="0"/>
              </a:rPr>
              <a:t>], [</a:t>
            </a:r>
            <a:r>
              <a:rPr lang="en-IN" b="0" i="0" dirty="0">
                <a:solidFill>
                  <a:srgbClr val="FF0000"/>
                </a:solidFill>
                <a:effectLst/>
                <a:latin typeface="Consolas" panose="020B0609020204030204" pitchFamily="49" charset="0"/>
              </a:rPr>
              <a:t>4, 5, 6</a:t>
            </a:r>
            <a:r>
              <a:rPr lang="en-IN" b="0" i="0" dirty="0">
                <a:effectLst/>
                <a:latin typeface="Consolas" panose="020B0609020204030204" pitchFamily="49" charset="0"/>
              </a:rPr>
              <a:t>])</a:t>
            </a:r>
          </a:p>
          <a:p>
            <a:pPr algn="l"/>
            <a:r>
              <a:rPr lang="en-IN" b="0" i="0" dirty="0" err="1">
                <a:effectLst/>
                <a:latin typeface="Consolas" panose="020B0609020204030204" pitchFamily="49" charset="0"/>
              </a:rPr>
              <a:t>axs</a:t>
            </a:r>
            <a:r>
              <a:rPr lang="en-IN" b="0" i="0" dirty="0">
                <a:effectLst/>
                <a:latin typeface="Consolas" panose="020B0609020204030204" pitchFamily="49" charset="0"/>
              </a:rPr>
              <a:t>[</a:t>
            </a:r>
            <a:r>
              <a:rPr lang="en-IN" b="0" i="0" dirty="0">
                <a:solidFill>
                  <a:srgbClr val="FF0000"/>
                </a:solidFill>
                <a:effectLst/>
                <a:latin typeface="Consolas" panose="020B0609020204030204" pitchFamily="49" charset="0"/>
              </a:rPr>
              <a:t>1</a:t>
            </a:r>
            <a:r>
              <a:rPr lang="en-IN" b="0" i="0" dirty="0">
                <a:effectLst/>
                <a:latin typeface="Consolas" panose="020B0609020204030204" pitchFamily="49" charset="0"/>
              </a:rPr>
              <a:t>, </a:t>
            </a:r>
            <a:r>
              <a:rPr lang="en-IN" b="0" i="0" dirty="0">
                <a:solidFill>
                  <a:srgbClr val="FF0000"/>
                </a:solidFill>
                <a:effectLst/>
                <a:latin typeface="Consolas" panose="020B0609020204030204" pitchFamily="49" charset="0"/>
              </a:rPr>
              <a:t>1</a:t>
            </a:r>
            <a:r>
              <a:rPr lang="en-IN" b="0" i="0" dirty="0">
                <a:effectLst/>
                <a:latin typeface="Consolas" panose="020B0609020204030204" pitchFamily="49" charset="0"/>
              </a:rPr>
              <a:t>].hist([</a:t>
            </a:r>
            <a:r>
              <a:rPr lang="en-IN" b="0" i="0" dirty="0">
                <a:solidFill>
                  <a:srgbClr val="FF0000"/>
                </a:solidFill>
                <a:effectLst/>
                <a:latin typeface="Consolas" panose="020B0609020204030204" pitchFamily="49" charset="0"/>
              </a:rPr>
              <a:t>1, 2, 2, 3, 3, 3, 3, 3, 3, 4, 4, 5</a:t>
            </a:r>
            <a:r>
              <a:rPr lang="en-IN" b="0" i="0" dirty="0">
                <a:effectLst/>
                <a:latin typeface="Consolas" panose="020B0609020204030204" pitchFamily="49" charset="0"/>
              </a:rPr>
              <a:t>])</a:t>
            </a:r>
          </a:p>
          <a:p>
            <a:pPr algn="l"/>
            <a:endParaRPr lang="en-IN" b="0" i="0" dirty="0">
              <a:effectLst/>
              <a:latin typeface="Consolas" panose="020B0609020204030204" pitchFamily="49" charset="0"/>
            </a:endParaRPr>
          </a:p>
          <a:p>
            <a:pPr algn="l"/>
            <a:r>
              <a:rPr lang="en-IN" b="0" i="0" dirty="0" err="1">
                <a:effectLst/>
                <a:latin typeface="Consolas" panose="020B0609020204030204" pitchFamily="49" charset="0"/>
              </a:rPr>
              <a:t>plt.show</a:t>
            </a:r>
            <a:r>
              <a:rPr lang="en-IN" b="0" i="0" dirty="0">
                <a:effectLst/>
                <a:latin typeface="Consolas" panose="020B0609020204030204" pitchFamily="49" charset="0"/>
              </a:rPr>
              <a:t>()</a:t>
            </a:r>
          </a:p>
          <a:p>
            <a:pPr algn="l"/>
            <a:br>
              <a:rPr lang="en-IN" b="0" i="0" dirty="0">
                <a:solidFill>
                  <a:srgbClr val="000000"/>
                </a:solidFill>
                <a:effectLst/>
                <a:latin typeface="Consolas" panose="020B0609020204030204" pitchFamily="49" charset="0"/>
              </a:rPr>
            </a:br>
            <a:br>
              <a:rPr lang="en-IN" b="0" i="0" dirty="0">
                <a:solidFill>
                  <a:srgbClr val="000000"/>
                </a:solidFill>
                <a:effectLst/>
                <a:latin typeface="Consolas" panose="020B0609020204030204" pitchFamily="49" charset="0"/>
              </a:rPr>
            </a:br>
            <a:endParaRPr lang="en-US"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13316" name="Picture 4" descr="first">
            <a:extLst>
              <a:ext uri="{FF2B5EF4-FFF2-40B4-BE49-F238E27FC236}">
                <a16:creationId xmlns:a16="http://schemas.microsoft.com/office/drawing/2014/main" id="{E8F468C3-53AE-6650-3D62-BC949DA2AC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3518" y="1736123"/>
            <a:ext cx="4981795" cy="37956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61050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1</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4" name="Rectangle 13">
            <a:extLst>
              <a:ext uri="{FF2B5EF4-FFF2-40B4-BE49-F238E27FC236}">
                <a16:creationId xmlns:a16="http://schemas.microsoft.com/office/drawing/2014/main" id="{6EB9A5F7-B7D7-E008-8229-AD564931BCC6}"/>
              </a:ext>
            </a:extLst>
          </p:cNvPr>
          <p:cNvSpPr/>
          <p:nvPr/>
        </p:nvSpPr>
        <p:spPr>
          <a:xfrm>
            <a:off x="2007066" y="2967335"/>
            <a:ext cx="8177944" cy="707886"/>
          </a:xfrm>
          <a:prstGeom prst="rect">
            <a:avLst/>
          </a:prstGeom>
          <a:noFill/>
        </p:spPr>
        <p:txBody>
          <a:bodyPr wrap="none" lIns="91440" tIns="45720" rIns="91440" bIns="45720">
            <a:spAutoFit/>
          </a:bodyPr>
          <a:lstStyle/>
          <a:p>
            <a:pPr algn="ctr"/>
            <a:r>
              <a:rPr lang="en-US" sz="4000" b="1" dirty="0">
                <a:effectLst/>
                <a:latin typeface="Calibri" panose="020F0502020204030204" pitchFamily="34" charset="0"/>
                <a:ea typeface="Calibri" panose="020F0502020204030204" pitchFamily="34" charset="0"/>
                <a:cs typeface="Calibri" panose="020F0502020204030204" pitchFamily="34" charset="0"/>
              </a:rPr>
              <a:t>Controlling axes, ticks, labels, legends</a:t>
            </a:r>
            <a:endParaRPr lang="en-GB" sz="40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73595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2</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74340"/>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Controlling axes</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3788858"/>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800" b="0" i="0" dirty="0">
                <a:solidFill>
                  <a:srgbClr val="000000"/>
                </a:solidFill>
                <a:effectLst/>
                <a:latin typeface="Birka"/>
              </a:rPr>
              <a:t>The </a:t>
            </a:r>
            <a:r>
              <a:rPr lang="en-US" sz="1800" b="0" i="0" dirty="0" err="1">
                <a:solidFill>
                  <a:srgbClr val="000000"/>
                </a:solidFill>
                <a:effectLst/>
                <a:latin typeface="TheSansMonoCd-W5Regular"/>
              </a:rPr>
              <a:t>pyplot</a:t>
            </a:r>
            <a:r>
              <a:rPr lang="en-US" sz="1800" b="0" i="0" dirty="0">
                <a:solidFill>
                  <a:srgbClr val="000000"/>
                </a:solidFill>
                <a:effectLst/>
                <a:latin typeface="TheSansMonoCd-W5Regular"/>
              </a:rPr>
              <a:t> </a:t>
            </a:r>
            <a:r>
              <a:rPr lang="en-US" sz="1800" b="0" i="0" dirty="0">
                <a:solidFill>
                  <a:srgbClr val="000000"/>
                </a:solidFill>
                <a:effectLst/>
                <a:latin typeface="Birka"/>
              </a:rPr>
              <a:t>interface, designed for interactive use, consists of methods like </a:t>
            </a:r>
            <a:r>
              <a:rPr lang="en-US" sz="1800" b="0" i="0" dirty="0" err="1">
                <a:solidFill>
                  <a:srgbClr val="000000"/>
                </a:solidFill>
                <a:effectLst/>
                <a:latin typeface="TheSansMonoCd-W5Regular"/>
              </a:rPr>
              <a:t>xlim</a:t>
            </a:r>
            <a:r>
              <a:rPr lang="en-US" sz="1800" b="0" i="0" dirty="0">
                <a:solidFill>
                  <a:srgbClr val="000000"/>
                </a:solidFill>
                <a:effectLst/>
                <a:latin typeface="TheSansMonoCd-W5Regular"/>
              </a:rPr>
              <a:t>, </a:t>
            </a:r>
            <a:r>
              <a:rPr lang="en-US" sz="1800" b="0" i="0" dirty="0" err="1">
                <a:solidFill>
                  <a:srgbClr val="000000"/>
                </a:solidFill>
                <a:effectLst/>
                <a:latin typeface="TheSansMonoCd-W5Regular"/>
              </a:rPr>
              <a:t>xticks</a:t>
            </a:r>
            <a:r>
              <a:rPr lang="en-US" sz="1800" b="0" i="0" dirty="0">
                <a:solidFill>
                  <a:srgbClr val="000000"/>
                </a:solidFill>
                <a:effectLst/>
                <a:latin typeface="TheSansMonoCd-W5Regular"/>
              </a:rPr>
              <a:t>, </a:t>
            </a:r>
            <a:r>
              <a:rPr lang="en-US" sz="1800" b="0" i="0" dirty="0">
                <a:solidFill>
                  <a:srgbClr val="000000"/>
                </a:solidFill>
                <a:effectLst/>
                <a:latin typeface="Birka"/>
              </a:rPr>
              <a:t>and </a:t>
            </a:r>
            <a:r>
              <a:rPr lang="en-US" sz="1800" b="0" i="0" dirty="0" err="1">
                <a:solidFill>
                  <a:srgbClr val="000000"/>
                </a:solidFill>
                <a:effectLst/>
                <a:latin typeface="TheSansMonoCd-W5Regular"/>
              </a:rPr>
              <a:t>xticklabels</a:t>
            </a:r>
            <a:r>
              <a:rPr lang="en-US" sz="1800" b="0" i="0" dirty="0">
                <a:solidFill>
                  <a:srgbClr val="000000"/>
                </a:solidFill>
                <a:effectLst/>
                <a:latin typeface="Birka"/>
              </a:rPr>
              <a:t>. </a:t>
            </a:r>
          </a:p>
          <a:p>
            <a:pPr marL="285750" indent="-285750" algn="just">
              <a:lnSpc>
                <a:spcPct val="150000"/>
              </a:lnSpc>
              <a:buFont typeface="Arial" panose="020B0604020202020204" pitchFamily="34" charset="0"/>
              <a:buChar char="•"/>
            </a:pPr>
            <a:r>
              <a:rPr lang="en-US" sz="1800" b="0" i="0" dirty="0">
                <a:solidFill>
                  <a:srgbClr val="000000"/>
                </a:solidFill>
                <a:effectLst/>
                <a:latin typeface="Birka"/>
              </a:rPr>
              <a:t>These control the plot range, tick locations, and tick labels, respectively. </a:t>
            </a:r>
          </a:p>
          <a:p>
            <a:pPr marL="285750" indent="-285750" algn="just">
              <a:lnSpc>
                <a:spcPct val="150000"/>
              </a:lnSpc>
              <a:buFont typeface="Arial" panose="020B0604020202020204" pitchFamily="34" charset="0"/>
              <a:buChar char="•"/>
            </a:pPr>
            <a:r>
              <a:rPr lang="en-US" sz="1800" b="0" i="0" dirty="0">
                <a:solidFill>
                  <a:srgbClr val="000000"/>
                </a:solidFill>
                <a:effectLst/>
                <a:latin typeface="Birka"/>
              </a:rPr>
              <a:t>They can be used in two ways:</a:t>
            </a:r>
          </a:p>
          <a:p>
            <a:pPr marL="742950" lvl="1" indent="-285750" algn="just">
              <a:lnSpc>
                <a:spcPct val="150000"/>
              </a:lnSpc>
              <a:buFont typeface="Arial" panose="020B0604020202020204" pitchFamily="34" charset="0"/>
              <a:buChar char="•"/>
            </a:pPr>
            <a:r>
              <a:rPr lang="en-US" b="0" i="0" dirty="0">
                <a:solidFill>
                  <a:srgbClr val="000000"/>
                </a:solidFill>
                <a:effectLst/>
                <a:latin typeface="Birka"/>
              </a:rPr>
              <a:t>Called with no arguments returns the current parameter value. </a:t>
            </a:r>
            <a:r>
              <a:rPr lang="en-US" sz="1800" b="0" i="0" dirty="0">
                <a:solidFill>
                  <a:srgbClr val="000000"/>
                </a:solidFill>
                <a:effectLst/>
                <a:latin typeface="Birka"/>
              </a:rPr>
              <a:t>For example </a:t>
            </a:r>
            <a:r>
              <a:rPr lang="en-US" sz="1800" b="0" i="0" dirty="0" err="1">
                <a:solidFill>
                  <a:srgbClr val="000000"/>
                </a:solidFill>
                <a:effectLst/>
                <a:latin typeface="TheSansMonoCd-W5Regular"/>
              </a:rPr>
              <a:t>plt.xlim</a:t>
            </a:r>
            <a:r>
              <a:rPr lang="en-US" sz="1800" b="0" i="0" dirty="0">
                <a:solidFill>
                  <a:srgbClr val="000000"/>
                </a:solidFill>
                <a:effectLst/>
                <a:latin typeface="TheSansMonoCd-W5Regular"/>
              </a:rPr>
              <a:t>() </a:t>
            </a:r>
            <a:r>
              <a:rPr lang="en-US" sz="1800" b="0" i="0" dirty="0">
                <a:solidFill>
                  <a:srgbClr val="000000"/>
                </a:solidFill>
                <a:effectLst/>
                <a:latin typeface="Birka"/>
              </a:rPr>
              <a:t>returns the current X axis plotting range.</a:t>
            </a:r>
          </a:p>
          <a:p>
            <a:pPr marL="742950" lvl="1" indent="-285750" algn="just">
              <a:lnSpc>
                <a:spcPct val="150000"/>
              </a:lnSpc>
              <a:buFont typeface="Arial" panose="020B0604020202020204" pitchFamily="34" charset="0"/>
              <a:buChar char="•"/>
            </a:pPr>
            <a:r>
              <a:rPr lang="en-US" b="0" i="0" dirty="0">
                <a:solidFill>
                  <a:srgbClr val="000000"/>
                </a:solidFill>
                <a:effectLst/>
                <a:latin typeface="Birka"/>
              </a:rPr>
              <a:t>Called with parameters sets the parameter value. So </a:t>
            </a:r>
            <a:r>
              <a:rPr lang="en-US" b="0" i="0" dirty="0" err="1">
                <a:solidFill>
                  <a:srgbClr val="000000"/>
                </a:solidFill>
                <a:effectLst/>
                <a:latin typeface="TheSansMonoCd-W5Regular"/>
              </a:rPr>
              <a:t>plt.xlim</a:t>
            </a:r>
            <a:r>
              <a:rPr lang="en-US" b="0" i="0" dirty="0">
                <a:solidFill>
                  <a:srgbClr val="000000"/>
                </a:solidFill>
                <a:effectLst/>
                <a:latin typeface="TheSansMonoCd-W5Regular"/>
              </a:rPr>
              <a:t>([0, 10])</a:t>
            </a:r>
            <a:r>
              <a:rPr lang="en-US" b="0" i="0" dirty="0">
                <a:solidFill>
                  <a:srgbClr val="000000"/>
                </a:solidFill>
                <a:effectLst/>
                <a:latin typeface="Birka"/>
              </a:rPr>
              <a:t>, sets the X axis range to 0 to 10</a:t>
            </a:r>
          </a:p>
          <a:p>
            <a:pPr marL="285750" indent="-285750" algn="just">
              <a:lnSpc>
                <a:spcPct val="150000"/>
              </a:lnSpc>
              <a:buFont typeface="Arial" panose="020B0604020202020204" pitchFamily="34" charset="0"/>
              <a:buChar char="•"/>
            </a:pPr>
            <a:r>
              <a:rPr lang="en-US" sz="1800" b="0" i="0" dirty="0">
                <a:solidFill>
                  <a:srgbClr val="000000"/>
                </a:solidFill>
                <a:effectLst/>
                <a:latin typeface="Birka"/>
              </a:rPr>
              <a:t>All such methods act on the active or most recently-created </a:t>
            </a:r>
            <a:r>
              <a:rPr lang="en-US" sz="1800" b="0" i="0" dirty="0" err="1">
                <a:solidFill>
                  <a:srgbClr val="000000"/>
                </a:solidFill>
                <a:effectLst/>
                <a:latin typeface="TheSansMonoCd-W5Regular"/>
              </a:rPr>
              <a:t>AxesSubplot</a:t>
            </a:r>
            <a:r>
              <a:rPr lang="en-US" sz="1800" b="0" i="0" dirty="0">
                <a:solidFill>
                  <a:srgbClr val="000000"/>
                </a:solidFill>
                <a:effectLst/>
                <a:latin typeface="Birka"/>
              </a:rPr>
              <a:t>. </a:t>
            </a:r>
          </a:p>
          <a:p>
            <a:pPr marL="285750" indent="-285750" algn="just">
              <a:lnSpc>
                <a:spcPct val="150000"/>
              </a:lnSpc>
              <a:buFont typeface="Arial" panose="020B0604020202020204" pitchFamily="34" charset="0"/>
              <a:buChar char="•"/>
            </a:pPr>
            <a:r>
              <a:rPr lang="en-US" sz="1800" b="0" i="0" dirty="0">
                <a:solidFill>
                  <a:srgbClr val="000000"/>
                </a:solidFill>
                <a:effectLst/>
                <a:latin typeface="Birka"/>
              </a:rPr>
              <a:t>Each of them corresponds to two methods on the subplot object itself; in the case of </a:t>
            </a:r>
            <a:r>
              <a:rPr lang="en-US" sz="1800" b="0" i="0" dirty="0" err="1">
                <a:solidFill>
                  <a:srgbClr val="000000"/>
                </a:solidFill>
                <a:effectLst/>
                <a:latin typeface="TheSansMonoCd-W5Regular"/>
              </a:rPr>
              <a:t>xlim</a:t>
            </a:r>
            <a:r>
              <a:rPr lang="en-US" sz="1800" b="0" i="0" dirty="0">
                <a:solidFill>
                  <a:srgbClr val="000000"/>
                </a:solidFill>
                <a:effectLst/>
                <a:latin typeface="TheSansMonoCd-W5Regular"/>
              </a:rPr>
              <a:t> </a:t>
            </a:r>
            <a:r>
              <a:rPr lang="en-US" sz="1800" b="0" i="0" dirty="0">
                <a:solidFill>
                  <a:srgbClr val="000000"/>
                </a:solidFill>
                <a:effectLst/>
                <a:latin typeface="Birka"/>
              </a:rPr>
              <a:t>these are </a:t>
            </a:r>
            <a:r>
              <a:rPr lang="en-US" sz="1800" b="0" i="0" dirty="0" err="1">
                <a:solidFill>
                  <a:srgbClr val="000000"/>
                </a:solidFill>
                <a:effectLst/>
                <a:latin typeface="TheSansMonoCd-W5Regular"/>
              </a:rPr>
              <a:t>ax.get_xlim</a:t>
            </a:r>
            <a:r>
              <a:rPr lang="en-US" sz="1800" b="0" i="0" dirty="0">
                <a:solidFill>
                  <a:srgbClr val="000000"/>
                </a:solidFill>
                <a:effectLst/>
                <a:latin typeface="TheSansMonoCd-W5Regular"/>
              </a:rPr>
              <a:t> </a:t>
            </a:r>
            <a:r>
              <a:rPr lang="en-US" sz="1800" b="0" i="0" dirty="0">
                <a:solidFill>
                  <a:srgbClr val="000000"/>
                </a:solidFill>
                <a:effectLst/>
                <a:latin typeface="Birka"/>
              </a:rPr>
              <a:t>and </a:t>
            </a:r>
            <a:r>
              <a:rPr lang="en-US" sz="1800" b="0" i="0" dirty="0" err="1">
                <a:solidFill>
                  <a:srgbClr val="000000"/>
                </a:solidFill>
                <a:effectLst/>
                <a:latin typeface="TheSansMonoCd-W5Regular"/>
              </a:rPr>
              <a:t>ax.set_xlim</a:t>
            </a:r>
            <a:r>
              <a:rPr lang="en-US" sz="1800" b="0" i="0" dirty="0">
                <a:solidFill>
                  <a:srgbClr val="000000"/>
                </a:solidFill>
                <a:effectLst/>
                <a:latin typeface="Birka"/>
              </a:rPr>
              <a:t>.</a:t>
            </a:r>
            <a:endPar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832083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3</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74340"/>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Controlling axes</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2126864"/>
          </a:xfrm>
          <a:prstGeom prst="rect">
            <a:avLst/>
          </a:prstGeom>
          <a:noFill/>
        </p:spPr>
        <p:txBody>
          <a:bodyPr wrap="square">
            <a:spAutoFit/>
          </a:bodyPr>
          <a:lstStyle/>
          <a:p>
            <a:pPr algn="just">
              <a:lnSpc>
                <a:spcPct val="150000"/>
              </a:lnSpc>
            </a:pP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import </a:t>
            </a:r>
            <a:r>
              <a:rPr lang="en-US" b="0"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matplotlib.pyplot</a:t>
            </a: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as </a:t>
            </a:r>
            <a:r>
              <a:rPr lang="en-US" b="0"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plt</a:t>
            </a:r>
            <a:endPar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algn="just">
              <a:lnSpc>
                <a:spcPct val="150000"/>
              </a:lnSpc>
            </a:pPr>
            <a:r>
              <a:rPr lang="en-US" b="0"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plt.plot</a:t>
            </a: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([1, 2, 3, 4], [10, 20, 25, 30])</a:t>
            </a:r>
          </a:p>
          <a:p>
            <a:pPr algn="just">
              <a:lnSpc>
                <a:spcPct val="150000"/>
              </a:lnSpc>
            </a:pPr>
            <a:r>
              <a:rPr lang="en-US" b="0"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plt.xlim</a:t>
            </a: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(0, 5)</a:t>
            </a:r>
          </a:p>
          <a:p>
            <a:pPr algn="just">
              <a:lnSpc>
                <a:spcPct val="150000"/>
              </a:lnSpc>
            </a:pPr>
            <a:r>
              <a:rPr lang="en-US" b="0"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plt.ylim</a:t>
            </a: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(0, 35)</a:t>
            </a:r>
          </a:p>
          <a:p>
            <a:pPr algn="just">
              <a:lnSpc>
                <a:spcPct val="150000"/>
              </a:lnSpc>
            </a:pPr>
            <a:r>
              <a:rPr lang="en-US" b="0"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plt.show</a:t>
            </a: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t>
            </a:r>
          </a:p>
        </p:txBody>
      </p:sp>
      <p:pic>
        <p:nvPicPr>
          <p:cNvPr id="4" name="Picture 3">
            <a:extLst>
              <a:ext uri="{FF2B5EF4-FFF2-40B4-BE49-F238E27FC236}">
                <a16:creationId xmlns:a16="http://schemas.microsoft.com/office/drawing/2014/main" id="{B2685016-D22B-3B3D-C1DA-7E06539E1DFF}"/>
              </a:ext>
            </a:extLst>
          </p:cNvPr>
          <p:cNvPicPr>
            <a:picLocks noChangeAspect="1"/>
          </p:cNvPicPr>
          <p:nvPr/>
        </p:nvPicPr>
        <p:blipFill>
          <a:blip r:embed="rId3"/>
          <a:stretch>
            <a:fillRect/>
          </a:stretch>
        </p:blipFill>
        <p:spPr>
          <a:xfrm>
            <a:off x="5206740" y="1787791"/>
            <a:ext cx="4990808" cy="3743106"/>
          </a:xfrm>
          <a:prstGeom prst="rect">
            <a:avLst/>
          </a:prstGeom>
        </p:spPr>
      </p:pic>
    </p:spTree>
    <p:extLst>
      <p:ext uri="{BB962C8B-B14F-4D97-AF65-F5344CB8AC3E}">
        <p14:creationId xmlns:p14="http://schemas.microsoft.com/office/powerpoint/2010/main" val="17186390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4</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74340"/>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Controlling Ticks</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2957861"/>
          </a:xfrm>
          <a:prstGeom prst="rect">
            <a:avLst/>
          </a:prstGeom>
          <a:noFill/>
        </p:spPr>
        <p:txBody>
          <a:bodyPr wrap="square">
            <a:spAutoFit/>
          </a:bodyPr>
          <a:lstStyle/>
          <a:p>
            <a:pPr algn="just">
              <a:lnSpc>
                <a:spcPct val="150000"/>
              </a:lnSpc>
            </a:pPr>
            <a:r>
              <a:rPr lang="en-US" b="1"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Setting Tick Locations and Labels: </a:t>
            </a:r>
          </a:p>
          <a:p>
            <a:pPr marL="285750" indent="-285750" algn="just">
              <a:lnSpc>
                <a:spcPct val="150000"/>
              </a:lnSpc>
              <a:buFont typeface="Arial" panose="020B0604020202020204" pitchFamily="34" charset="0"/>
              <a:buChar char="•"/>
            </a:pP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You can manually set the locations and labels of ticks using </a:t>
            </a:r>
            <a:r>
              <a:rPr lang="en-US" b="0"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xticks</a:t>
            </a: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and </a:t>
            </a:r>
            <a:r>
              <a:rPr lang="en-US" b="0"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yticks</a:t>
            </a: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t>
            </a:r>
          </a:p>
          <a:p>
            <a:pPr algn="just">
              <a:lnSpc>
                <a:spcPct val="150000"/>
              </a:lnSpc>
            </a:pP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import </a:t>
            </a:r>
            <a:r>
              <a:rPr lang="en-US" b="0"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matplotlib.pyplot</a:t>
            </a: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as </a:t>
            </a:r>
            <a:r>
              <a:rPr lang="en-US" b="0"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plt</a:t>
            </a:r>
            <a:endPar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algn="just">
              <a:lnSpc>
                <a:spcPct val="150000"/>
              </a:lnSpc>
            </a:pPr>
            <a:r>
              <a:rPr lang="en-US" b="0"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plt.plot</a:t>
            </a: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([1, 2, 3, 4], [10, 20, 25, 30])</a:t>
            </a:r>
          </a:p>
          <a:p>
            <a:pPr algn="just">
              <a:lnSpc>
                <a:spcPct val="150000"/>
              </a:lnSpc>
            </a:pPr>
            <a:r>
              <a:rPr lang="en-US" b="0"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plt.xticks</a:t>
            </a: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([1, 2, 3, 4], ['One', 'Two', 'Three', 'Four’])</a:t>
            </a:r>
          </a:p>
          <a:p>
            <a:pPr algn="just">
              <a:lnSpc>
                <a:spcPct val="150000"/>
              </a:lnSpc>
            </a:pPr>
            <a:r>
              <a:rPr lang="en-US" b="0"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plt.yticks</a:t>
            </a: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([10, 20, 30], ['Low', 'Medium', 'High’])</a:t>
            </a:r>
          </a:p>
          <a:p>
            <a:pPr algn="just">
              <a:lnSpc>
                <a:spcPct val="150000"/>
              </a:lnSpc>
            </a:pPr>
            <a:r>
              <a:rPr lang="en-US" b="0"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plt.show</a:t>
            </a: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t>
            </a:r>
          </a:p>
        </p:txBody>
      </p:sp>
      <p:pic>
        <p:nvPicPr>
          <p:cNvPr id="7" name="Picture 6">
            <a:extLst>
              <a:ext uri="{FF2B5EF4-FFF2-40B4-BE49-F238E27FC236}">
                <a16:creationId xmlns:a16="http://schemas.microsoft.com/office/drawing/2014/main" id="{B4D72A2D-81E0-68DC-F3D9-C8A325ED6C5A}"/>
              </a:ext>
            </a:extLst>
          </p:cNvPr>
          <p:cNvPicPr>
            <a:picLocks noChangeAspect="1"/>
          </p:cNvPicPr>
          <p:nvPr/>
        </p:nvPicPr>
        <p:blipFill>
          <a:blip r:embed="rId3"/>
          <a:stretch>
            <a:fillRect/>
          </a:stretch>
        </p:blipFill>
        <p:spPr>
          <a:xfrm>
            <a:off x="6559827" y="2435199"/>
            <a:ext cx="5145158" cy="3858868"/>
          </a:xfrm>
          <a:prstGeom prst="rect">
            <a:avLst/>
          </a:prstGeom>
        </p:spPr>
      </p:pic>
    </p:spTree>
    <p:extLst>
      <p:ext uri="{BB962C8B-B14F-4D97-AF65-F5344CB8AC3E}">
        <p14:creationId xmlns:p14="http://schemas.microsoft.com/office/powerpoint/2010/main" val="6100679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5</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74340"/>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Controlling Ticks</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2957861"/>
          </a:xfrm>
          <a:prstGeom prst="rect">
            <a:avLst/>
          </a:prstGeom>
          <a:noFill/>
        </p:spPr>
        <p:txBody>
          <a:bodyPr wrap="square">
            <a:spAutoFit/>
          </a:bodyPr>
          <a:lstStyle/>
          <a:p>
            <a:pPr algn="just">
              <a:lnSpc>
                <a:spcPct val="150000"/>
              </a:lnSpc>
            </a:pPr>
            <a:r>
              <a:rPr lang="en-US" b="1"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Rotating Tick Labels: </a:t>
            </a:r>
          </a:p>
          <a:p>
            <a:pPr marL="285750" indent="-285750" algn="just">
              <a:lnSpc>
                <a:spcPct val="150000"/>
              </a:lnSpc>
              <a:buFont typeface="Arial" panose="020B0604020202020204" pitchFamily="34" charset="0"/>
              <a:buChar char="•"/>
            </a:pPr>
            <a:r>
              <a:rPr lang="en-US"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Tick labels can be rotated using the rotation parameter. </a:t>
            </a:r>
          </a:p>
          <a:p>
            <a:pPr algn="just">
              <a:lnSpc>
                <a:spcPct val="150000"/>
              </a:lnSpc>
            </a:pP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import </a:t>
            </a:r>
            <a:r>
              <a:rPr lang="en-US" b="0"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matplotlib.pyplot</a:t>
            </a: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as </a:t>
            </a:r>
            <a:r>
              <a:rPr lang="en-US" b="0"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plt</a:t>
            </a:r>
            <a:endPar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dirty="0" err="1">
                <a:solidFill>
                  <a:srgbClr val="333333"/>
                </a:solidFill>
                <a:highlight>
                  <a:srgbClr val="FFFFFF"/>
                </a:highlight>
                <a:latin typeface="Calibri" panose="020F0502020204030204" pitchFamily="34" charset="0"/>
                <a:ea typeface="Calibri" panose="020F0502020204030204" pitchFamily="34" charset="0"/>
                <a:cs typeface="Calibri" panose="020F0502020204030204" pitchFamily="34" charset="0"/>
              </a:rPr>
              <a:t>p</a:t>
            </a:r>
            <a:r>
              <a:rPr lang="en-US" b="0"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lt.plot</a:t>
            </a: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([1, 2, 3, 4], [10, 20, 25, 30])</a:t>
            </a:r>
          </a:p>
          <a:p>
            <a:pPr>
              <a:lnSpc>
                <a:spcPct val="150000"/>
              </a:lnSpc>
            </a:pPr>
            <a:r>
              <a:rPr lang="en-US" b="0"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plt.xticks</a:t>
            </a: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(rotation=45)</a:t>
            </a:r>
          </a:p>
          <a:p>
            <a:pPr>
              <a:lnSpc>
                <a:spcPct val="150000"/>
              </a:lnSpc>
            </a:pPr>
            <a:r>
              <a:rPr lang="en-US" b="0"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plt.yticks</a:t>
            </a: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(rotation=90)</a:t>
            </a:r>
          </a:p>
          <a:p>
            <a:pPr>
              <a:lnSpc>
                <a:spcPct val="150000"/>
              </a:lnSpc>
            </a:pPr>
            <a:r>
              <a:rPr lang="en-US" b="0"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plt.show</a:t>
            </a: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t>
            </a:r>
          </a:p>
        </p:txBody>
      </p:sp>
      <p:pic>
        <p:nvPicPr>
          <p:cNvPr id="6" name="Picture 5">
            <a:extLst>
              <a:ext uri="{FF2B5EF4-FFF2-40B4-BE49-F238E27FC236}">
                <a16:creationId xmlns:a16="http://schemas.microsoft.com/office/drawing/2014/main" id="{8ED754E0-F324-5A8A-41CD-D761E3B05A3D}"/>
              </a:ext>
            </a:extLst>
          </p:cNvPr>
          <p:cNvPicPr>
            <a:picLocks noChangeAspect="1"/>
          </p:cNvPicPr>
          <p:nvPr/>
        </p:nvPicPr>
        <p:blipFill>
          <a:blip r:embed="rId3"/>
          <a:stretch>
            <a:fillRect/>
          </a:stretch>
        </p:blipFill>
        <p:spPr>
          <a:xfrm>
            <a:off x="6537078" y="2193125"/>
            <a:ext cx="4765392" cy="3574044"/>
          </a:xfrm>
          <a:prstGeom prst="rect">
            <a:avLst/>
          </a:prstGeom>
        </p:spPr>
      </p:pic>
    </p:spTree>
    <p:extLst>
      <p:ext uri="{BB962C8B-B14F-4D97-AF65-F5344CB8AC3E}">
        <p14:creationId xmlns:p14="http://schemas.microsoft.com/office/powerpoint/2010/main" val="32869663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6</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74340"/>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Controlling Labels</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2957861"/>
          </a:xfrm>
          <a:prstGeom prst="rect">
            <a:avLst/>
          </a:prstGeom>
          <a:noFill/>
        </p:spPr>
        <p:txBody>
          <a:bodyPr wrap="square">
            <a:spAutoFit/>
          </a:bodyPr>
          <a:lstStyle/>
          <a:p>
            <a:pPr algn="just">
              <a:lnSpc>
                <a:spcPct val="150000"/>
              </a:lnSpc>
            </a:pPr>
            <a:r>
              <a:rPr lang="en-US" b="1"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Setting Axis Labels: </a:t>
            </a:r>
          </a:p>
          <a:p>
            <a:pPr marL="285750" indent="-285750" algn="just">
              <a:lnSpc>
                <a:spcPct val="150000"/>
              </a:lnSpc>
              <a:buFont typeface="Arial" panose="020B0604020202020204" pitchFamily="34" charset="0"/>
              <a:buChar char="•"/>
            </a:pPr>
            <a:r>
              <a:rPr lang="en-US"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Axis labels can be set using </a:t>
            </a:r>
            <a:r>
              <a:rPr lang="en-US"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xlabel</a:t>
            </a:r>
            <a:r>
              <a:rPr lang="en-US"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and </a:t>
            </a:r>
            <a:r>
              <a:rPr lang="en-US"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ylabel</a:t>
            </a:r>
            <a:r>
              <a:rPr lang="en-US"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a:t>
            </a:r>
          </a:p>
          <a:p>
            <a:pPr algn="just">
              <a:lnSpc>
                <a:spcPct val="150000"/>
              </a:lnSpc>
            </a:pP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import </a:t>
            </a:r>
            <a:r>
              <a:rPr lang="en-US" b="0"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matplotlib.pyplot</a:t>
            </a: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as </a:t>
            </a:r>
            <a:r>
              <a:rPr lang="en-US" b="0"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plt</a:t>
            </a:r>
            <a:endPar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algn="just">
              <a:lnSpc>
                <a:spcPct val="150000"/>
              </a:lnSpc>
            </a:pPr>
            <a:r>
              <a:rPr lang="en-US" b="0"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plt.plot</a:t>
            </a: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([1, 2, 3, 4], [10, 20, 25, 30])</a:t>
            </a:r>
          </a:p>
          <a:p>
            <a:pPr algn="just">
              <a:lnSpc>
                <a:spcPct val="150000"/>
              </a:lnSpc>
            </a:pPr>
            <a:r>
              <a:rPr lang="en-US" b="0"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plt.xlabel</a:t>
            </a: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('X Axis Label’)</a:t>
            </a:r>
          </a:p>
          <a:p>
            <a:pPr algn="just">
              <a:lnSpc>
                <a:spcPct val="150000"/>
              </a:lnSpc>
            </a:pPr>
            <a:r>
              <a:rPr lang="en-US" b="0"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plt.ylabel</a:t>
            </a: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('Y Axis Label’)</a:t>
            </a:r>
          </a:p>
          <a:p>
            <a:pPr algn="just">
              <a:lnSpc>
                <a:spcPct val="150000"/>
              </a:lnSpc>
            </a:pPr>
            <a:r>
              <a:rPr lang="en-US" b="0" i="0" dirty="0" err="1">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plt.show</a:t>
            </a:r>
            <a:r>
              <a:rPr lang="en-US" b="0"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t>
            </a:r>
          </a:p>
        </p:txBody>
      </p:sp>
      <p:pic>
        <p:nvPicPr>
          <p:cNvPr id="4" name="Picture 3">
            <a:extLst>
              <a:ext uri="{FF2B5EF4-FFF2-40B4-BE49-F238E27FC236}">
                <a16:creationId xmlns:a16="http://schemas.microsoft.com/office/drawing/2014/main" id="{99C9F1B3-55D9-62C2-E2BC-E3ABE2902B4D}"/>
              </a:ext>
            </a:extLst>
          </p:cNvPr>
          <p:cNvPicPr>
            <a:picLocks noChangeAspect="1"/>
          </p:cNvPicPr>
          <p:nvPr/>
        </p:nvPicPr>
        <p:blipFill>
          <a:blip r:embed="rId3"/>
          <a:stretch>
            <a:fillRect/>
          </a:stretch>
        </p:blipFill>
        <p:spPr>
          <a:xfrm>
            <a:off x="5729909" y="1663781"/>
            <a:ext cx="6096000" cy="4572000"/>
          </a:xfrm>
          <a:prstGeom prst="rect">
            <a:avLst/>
          </a:prstGeom>
        </p:spPr>
      </p:pic>
    </p:spTree>
    <p:extLst>
      <p:ext uri="{BB962C8B-B14F-4D97-AF65-F5344CB8AC3E}">
        <p14:creationId xmlns:p14="http://schemas.microsoft.com/office/powerpoint/2010/main" val="14796151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7</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74340"/>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Controlling Labels</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2960169"/>
          </a:xfrm>
          <a:prstGeom prst="rect">
            <a:avLst/>
          </a:prstGeom>
          <a:noFill/>
        </p:spPr>
        <p:txBody>
          <a:bodyPr wrap="square">
            <a:spAutoFit/>
          </a:bodyPr>
          <a:lstStyle/>
          <a:p>
            <a:pPr algn="just">
              <a:lnSpc>
                <a:spcPct val="150000"/>
              </a:lnSpc>
            </a:pPr>
            <a:r>
              <a:rPr lang="en-US" b="1"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Customizing Labels: </a:t>
            </a:r>
          </a:p>
          <a:p>
            <a:pPr marL="285750" indent="-285750" algn="just">
              <a:lnSpc>
                <a:spcPct val="150000"/>
              </a:lnSpc>
              <a:buFont typeface="Arial" panose="020B0604020202020204" pitchFamily="34" charset="0"/>
              <a:buChar char="•"/>
            </a:pPr>
            <a:r>
              <a:rPr lang="en-US"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You can customize the font, size, color, and more.</a:t>
            </a:r>
          </a:p>
          <a:p>
            <a:pPr algn="just">
              <a:lnSpc>
                <a:spcPct val="150000"/>
              </a:lnSpc>
            </a:pPr>
            <a:r>
              <a:rPr lang="en-US"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import </a:t>
            </a:r>
            <a:r>
              <a:rPr lang="en-US" b="0" i="0" dirty="0" err="1">
                <a:effectLst/>
                <a:highlight>
                  <a:srgbClr val="FFFFFF"/>
                </a:highlight>
                <a:latin typeface="Calibri" panose="020F0502020204030204" pitchFamily="34" charset="0"/>
                <a:ea typeface="Calibri" panose="020F0502020204030204" pitchFamily="34" charset="0"/>
                <a:cs typeface="Calibri" panose="020F0502020204030204" pitchFamily="34" charset="0"/>
              </a:rPr>
              <a:t>matplotlib.pyplot</a:t>
            </a:r>
            <a:r>
              <a:rPr lang="en-US"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 as </a:t>
            </a:r>
            <a:r>
              <a:rPr lang="en-US" b="0" i="0" dirty="0" err="1">
                <a:effectLst/>
                <a:highlight>
                  <a:srgbClr val="FFFFFF"/>
                </a:highlight>
                <a:latin typeface="Calibri" panose="020F0502020204030204" pitchFamily="34" charset="0"/>
                <a:ea typeface="Calibri" panose="020F0502020204030204" pitchFamily="34" charset="0"/>
                <a:cs typeface="Calibri" panose="020F0502020204030204" pitchFamily="34" charset="0"/>
              </a:rPr>
              <a:t>plt</a:t>
            </a:r>
            <a:endParaRPr lang="en-US"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algn="just">
              <a:lnSpc>
                <a:spcPct val="150000"/>
              </a:lnSpc>
            </a:pPr>
            <a:r>
              <a:rPr lang="en-IN" dirty="0" err="1">
                <a:latin typeface="Calibri" panose="020F0502020204030204" pitchFamily="34" charset="0"/>
                <a:ea typeface="Calibri" panose="020F0502020204030204" pitchFamily="34" charset="0"/>
                <a:cs typeface="Calibri" panose="020F0502020204030204" pitchFamily="34" charset="0"/>
              </a:rPr>
              <a:t>plt.plot</a:t>
            </a:r>
            <a:r>
              <a:rPr lang="en-IN" dirty="0">
                <a:latin typeface="Calibri" panose="020F0502020204030204" pitchFamily="34" charset="0"/>
                <a:ea typeface="Calibri" panose="020F0502020204030204" pitchFamily="34" charset="0"/>
                <a:cs typeface="Calibri" panose="020F0502020204030204" pitchFamily="34" charset="0"/>
              </a:rPr>
              <a:t>([1, 2, 3, 4], [10, 20, 25, 30]) </a:t>
            </a:r>
          </a:p>
          <a:p>
            <a:pPr algn="just">
              <a:lnSpc>
                <a:spcPct val="150000"/>
              </a:lnSpc>
            </a:pPr>
            <a:r>
              <a:rPr lang="en-IN" dirty="0" err="1">
                <a:latin typeface="Calibri" panose="020F0502020204030204" pitchFamily="34" charset="0"/>
                <a:ea typeface="Calibri" panose="020F0502020204030204" pitchFamily="34" charset="0"/>
                <a:cs typeface="Calibri" panose="020F0502020204030204" pitchFamily="34" charset="0"/>
              </a:rPr>
              <a:t>plt.xlabel</a:t>
            </a:r>
            <a:r>
              <a:rPr lang="en-IN" dirty="0">
                <a:latin typeface="Calibri" panose="020F0502020204030204" pitchFamily="34" charset="0"/>
                <a:ea typeface="Calibri" panose="020F0502020204030204" pitchFamily="34" charset="0"/>
                <a:cs typeface="Calibri" panose="020F0502020204030204" pitchFamily="34" charset="0"/>
              </a:rPr>
              <a:t>('X Axis', </a:t>
            </a:r>
            <a:r>
              <a:rPr lang="en-IN" dirty="0" err="1">
                <a:latin typeface="Calibri" panose="020F0502020204030204" pitchFamily="34" charset="0"/>
                <a:ea typeface="Calibri" panose="020F0502020204030204" pitchFamily="34" charset="0"/>
                <a:cs typeface="Calibri" panose="020F0502020204030204" pitchFamily="34" charset="0"/>
              </a:rPr>
              <a:t>fontsize</a:t>
            </a:r>
            <a:r>
              <a:rPr lang="en-IN" dirty="0">
                <a:latin typeface="Calibri" panose="020F0502020204030204" pitchFamily="34" charset="0"/>
                <a:ea typeface="Calibri" panose="020F0502020204030204" pitchFamily="34" charset="0"/>
                <a:cs typeface="Calibri" panose="020F0502020204030204" pitchFamily="34" charset="0"/>
              </a:rPr>
              <a:t>=14, color='blue’) </a:t>
            </a:r>
          </a:p>
          <a:p>
            <a:pPr algn="just">
              <a:lnSpc>
                <a:spcPct val="150000"/>
              </a:lnSpc>
            </a:pPr>
            <a:r>
              <a:rPr lang="en-IN" dirty="0" err="1">
                <a:latin typeface="Calibri" panose="020F0502020204030204" pitchFamily="34" charset="0"/>
                <a:ea typeface="Calibri" panose="020F0502020204030204" pitchFamily="34" charset="0"/>
                <a:cs typeface="Calibri" panose="020F0502020204030204" pitchFamily="34" charset="0"/>
              </a:rPr>
              <a:t>plt.ylabel</a:t>
            </a:r>
            <a:r>
              <a:rPr lang="en-IN" dirty="0">
                <a:latin typeface="Calibri" panose="020F0502020204030204" pitchFamily="34" charset="0"/>
                <a:ea typeface="Calibri" panose="020F0502020204030204" pitchFamily="34" charset="0"/>
                <a:cs typeface="Calibri" panose="020F0502020204030204" pitchFamily="34" charset="0"/>
              </a:rPr>
              <a:t>('Y Axis', </a:t>
            </a:r>
            <a:r>
              <a:rPr lang="en-IN" dirty="0" err="1">
                <a:latin typeface="Calibri" panose="020F0502020204030204" pitchFamily="34" charset="0"/>
                <a:ea typeface="Calibri" panose="020F0502020204030204" pitchFamily="34" charset="0"/>
                <a:cs typeface="Calibri" panose="020F0502020204030204" pitchFamily="34" charset="0"/>
              </a:rPr>
              <a:t>fontsize</a:t>
            </a:r>
            <a:r>
              <a:rPr lang="en-IN" dirty="0">
                <a:latin typeface="Calibri" panose="020F0502020204030204" pitchFamily="34" charset="0"/>
                <a:ea typeface="Calibri" panose="020F0502020204030204" pitchFamily="34" charset="0"/>
                <a:cs typeface="Calibri" panose="020F0502020204030204" pitchFamily="34" charset="0"/>
              </a:rPr>
              <a:t>=14, color='red’) </a:t>
            </a:r>
          </a:p>
          <a:p>
            <a:pPr algn="just">
              <a:lnSpc>
                <a:spcPct val="150000"/>
              </a:lnSpc>
            </a:pPr>
            <a:r>
              <a:rPr lang="en-IN" dirty="0" err="1">
                <a:latin typeface="Calibri" panose="020F0502020204030204" pitchFamily="34" charset="0"/>
                <a:ea typeface="Calibri" panose="020F0502020204030204" pitchFamily="34" charset="0"/>
                <a:cs typeface="Calibri" panose="020F0502020204030204" pitchFamily="34" charset="0"/>
              </a:rPr>
              <a:t>plt.show</a:t>
            </a:r>
            <a:r>
              <a:rPr lang="en-IN" dirty="0">
                <a:latin typeface="Calibri" panose="020F0502020204030204" pitchFamily="34" charset="0"/>
                <a:ea typeface="Calibri" panose="020F0502020204030204" pitchFamily="34" charset="0"/>
                <a:cs typeface="Calibri" panose="020F0502020204030204" pitchFamily="34" charset="0"/>
              </a:rPr>
              <a:t>()</a:t>
            </a:r>
            <a:endParaRPr lang="en-US"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DA63D859-77A3-3606-B62A-527DA7587D52}"/>
              </a:ext>
            </a:extLst>
          </p:cNvPr>
          <p:cNvPicPr>
            <a:picLocks noChangeAspect="1"/>
          </p:cNvPicPr>
          <p:nvPr/>
        </p:nvPicPr>
        <p:blipFill>
          <a:blip r:embed="rId3"/>
          <a:stretch>
            <a:fillRect/>
          </a:stretch>
        </p:blipFill>
        <p:spPr>
          <a:xfrm>
            <a:off x="5608984" y="1663781"/>
            <a:ext cx="6096000" cy="4572000"/>
          </a:xfrm>
          <a:prstGeom prst="rect">
            <a:avLst/>
          </a:prstGeom>
        </p:spPr>
      </p:pic>
    </p:spTree>
    <p:extLst>
      <p:ext uri="{BB962C8B-B14F-4D97-AF65-F5344CB8AC3E}">
        <p14:creationId xmlns:p14="http://schemas.microsoft.com/office/powerpoint/2010/main" val="34220610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8</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74340"/>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Controlling Labels</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2542363"/>
          </a:xfrm>
          <a:prstGeom prst="rect">
            <a:avLst/>
          </a:prstGeom>
          <a:noFill/>
        </p:spPr>
        <p:txBody>
          <a:bodyPr wrap="square">
            <a:spAutoFit/>
          </a:bodyPr>
          <a:lstStyle/>
          <a:p>
            <a:pPr algn="just">
              <a:lnSpc>
                <a:spcPct val="150000"/>
              </a:lnSpc>
            </a:pPr>
            <a:r>
              <a:rPr lang="en-US" b="1"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Title: </a:t>
            </a:r>
          </a:p>
          <a:p>
            <a:pPr marL="285750" indent="-285750" algn="just">
              <a:lnSpc>
                <a:spcPct val="150000"/>
              </a:lnSpc>
              <a:buFont typeface="Arial" panose="020B0604020202020204" pitchFamily="34" charset="0"/>
              <a:buChar char="•"/>
            </a:pPr>
            <a:r>
              <a:rPr lang="en-US"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Set the title of the plot using title().</a:t>
            </a:r>
          </a:p>
          <a:p>
            <a:pPr algn="just">
              <a:lnSpc>
                <a:spcPct val="150000"/>
              </a:lnSpc>
            </a:pPr>
            <a:r>
              <a:rPr lang="en-US"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import </a:t>
            </a:r>
            <a:r>
              <a:rPr lang="en-US" i="0" dirty="0" err="1">
                <a:effectLst/>
                <a:highlight>
                  <a:srgbClr val="FFFFFF"/>
                </a:highlight>
                <a:latin typeface="Calibri" panose="020F0502020204030204" pitchFamily="34" charset="0"/>
                <a:ea typeface="Calibri" panose="020F0502020204030204" pitchFamily="34" charset="0"/>
                <a:cs typeface="Calibri" panose="020F0502020204030204" pitchFamily="34" charset="0"/>
              </a:rPr>
              <a:t>matplotlib.pyplot</a:t>
            </a:r>
            <a:r>
              <a:rPr lang="en-US"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 as </a:t>
            </a:r>
            <a:r>
              <a:rPr lang="en-US" i="0" dirty="0" err="1">
                <a:effectLst/>
                <a:highlight>
                  <a:srgbClr val="FFFFFF"/>
                </a:highlight>
                <a:latin typeface="Calibri" panose="020F0502020204030204" pitchFamily="34" charset="0"/>
                <a:ea typeface="Calibri" panose="020F0502020204030204" pitchFamily="34" charset="0"/>
                <a:cs typeface="Calibri" panose="020F0502020204030204" pitchFamily="34" charset="0"/>
              </a:rPr>
              <a:t>plt</a:t>
            </a:r>
            <a:endParaRPr lang="en-US"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algn="just">
              <a:lnSpc>
                <a:spcPct val="150000"/>
              </a:lnSpc>
            </a:pPr>
            <a:r>
              <a:rPr lang="en-IN" dirty="0" err="1">
                <a:latin typeface="Calibri" panose="020F0502020204030204" pitchFamily="34" charset="0"/>
                <a:ea typeface="Calibri" panose="020F0502020204030204" pitchFamily="34" charset="0"/>
                <a:cs typeface="Calibri" panose="020F0502020204030204" pitchFamily="34" charset="0"/>
              </a:rPr>
              <a:t>plt.plot</a:t>
            </a:r>
            <a:r>
              <a:rPr lang="en-IN" dirty="0">
                <a:latin typeface="Calibri" panose="020F0502020204030204" pitchFamily="34" charset="0"/>
                <a:ea typeface="Calibri" panose="020F0502020204030204" pitchFamily="34" charset="0"/>
                <a:cs typeface="Calibri" panose="020F0502020204030204" pitchFamily="34" charset="0"/>
              </a:rPr>
              <a:t>([1, 2, 3, 4], [10, 20, 25, 30])</a:t>
            </a:r>
          </a:p>
          <a:p>
            <a:pPr algn="just">
              <a:lnSpc>
                <a:spcPct val="150000"/>
              </a:lnSpc>
            </a:pPr>
            <a:r>
              <a:rPr lang="en-IN" dirty="0" err="1">
                <a:latin typeface="Calibri" panose="020F0502020204030204" pitchFamily="34" charset="0"/>
                <a:ea typeface="Calibri" panose="020F0502020204030204" pitchFamily="34" charset="0"/>
                <a:cs typeface="Calibri" panose="020F0502020204030204" pitchFamily="34" charset="0"/>
              </a:rPr>
              <a:t>plt.title</a:t>
            </a:r>
            <a:r>
              <a:rPr lang="en-IN" dirty="0">
                <a:latin typeface="Calibri" panose="020F0502020204030204" pitchFamily="34" charset="0"/>
                <a:ea typeface="Calibri" panose="020F0502020204030204" pitchFamily="34" charset="0"/>
                <a:cs typeface="Calibri" panose="020F0502020204030204" pitchFamily="34" charset="0"/>
              </a:rPr>
              <a:t>('Plot Title', </a:t>
            </a:r>
            <a:r>
              <a:rPr lang="en-IN" dirty="0" err="1">
                <a:latin typeface="Calibri" panose="020F0502020204030204" pitchFamily="34" charset="0"/>
                <a:ea typeface="Calibri" panose="020F0502020204030204" pitchFamily="34" charset="0"/>
                <a:cs typeface="Calibri" panose="020F0502020204030204" pitchFamily="34" charset="0"/>
              </a:rPr>
              <a:t>fontsize</a:t>
            </a:r>
            <a:r>
              <a:rPr lang="en-IN" dirty="0">
                <a:latin typeface="Calibri" panose="020F0502020204030204" pitchFamily="34" charset="0"/>
                <a:ea typeface="Calibri" panose="020F0502020204030204" pitchFamily="34" charset="0"/>
                <a:cs typeface="Calibri" panose="020F0502020204030204" pitchFamily="34" charset="0"/>
              </a:rPr>
              <a:t>=16)</a:t>
            </a:r>
          </a:p>
          <a:p>
            <a:pPr algn="just">
              <a:lnSpc>
                <a:spcPct val="150000"/>
              </a:lnSpc>
            </a:pPr>
            <a:r>
              <a:rPr lang="en-IN" dirty="0" err="1">
                <a:latin typeface="Calibri" panose="020F0502020204030204" pitchFamily="34" charset="0"/>
                <a:ea typeface="Calibri" panose="020F0502020204030204" pitchFamily="34" charset="0"/>
                <a:cs typeface="Calibri" panose="020F0502020204030204" pitchFamily="34" charset="0"/>
              </a:rPr>
              <a:t>plt.show</a:t>
            </a:r>
            <a:r>
              <a:rPr lang="en-IN" dirty="0">
                <a:latin typeface="Calibri" panose="020F0502020204030204" pitchFamily="34" charset="0"/>
                <a:ea typeface="Calibri" panose="020F0502020204030204" pitchFamily="34" charset="0"/>
                <a:cs typeface="Calibri" panose="020F0502020204030204" pitchFamily="34" charset="0"/>
              </a:rPr>
              <a:t>()</a:t>
            </a:r>
            <a:endParaRPr lang="en-US"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71FDCA4C-394C-4875-EDE9-834D2F7877AD}"/>
              </a:ext>
            </a:extLst>
          </p:cNvPr>
          <p:cNvPicPr>
            <a:picLocks noChangeAspect="1"/>
          </p:cNvPicPr>
          <p:nvPr/>
        </p:nvPicPr>
        <p:blipFill>
          <a:blip r:embed="rId3"/>
          <a:stretch>
            <a:fillRect/>
          </a:stretch>
        </p:blipFill>
        <p:spPr>
          <a:xfrm>
            <a:off x="5473682" y="1705912"/>
            <a:ext cx="6096000" cy="4572000"/>
          </a:xfrm>
          <a:prstGeom prst="rect">
            <a:avLst/>
          </a:prstGeom>
        </p:spPr>
      </p:pic>
    </p:spTree>
    <p:extLst>
      <p:ext uri="{BB962C8B-B14F-4D97-AF65-F5344CB8AC3E}">
        <p14:creationId xmlns:p14="http://schemas.microsoft.com/office/powerpoint/2010/main" val="2100662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9</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74340"/>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Controlling Legends</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2960169"/>
          </a:xfrm>
          <a:prstGeom prst="rect">
            <a:avLst/>
          </a:prstGeom>
          <a:noFill/>
        </p:spPr>
        <p:txBody>
          <a:bodyPr wrap="square">
            <a:spAutoFit/>
          </a:bodyPr>
          <a:lstStyle/>
          <a:p>
            <a:pPr algn="just">
              <a:lnSpc>
                <a:spcPct val="150000"/>
              </a:lnSpc>
            </a:pPr>
            <a:r>
              <a:rPr lang="en-US" b="1"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Adding a Legend: </a:t>
            </a:r>
          </a:p>
          <a:p>
            <a:pPr marL="285750" indent="-285750" algn="just">
              <a:lnSpc>
                <a:spcPct val="150000"/>
              </a:lnSpc>
              <a:buFont typeface="Arial" panose="020B0604020202020204" pitchFamily="34" charset="0"/>
              <a:buChar char="•"/>
            </a:pPr>
            <a:r>
              <a:rPr lang="en-US"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 legend can be added using the legend() function</a:t>
            </a:r>
            <a:r>
              <a:rPr lang="en-US" b="1"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t>
            </a:r>
          </a:p>
          <a:p>
            <a:pPr algn="just">
              <a:lnSpc>
                <a:spcPct val="150000"/>
              </a:lnSpc>
            </a:pPr>
            <a:r>
              <a:rPr lang="en-US"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import </a:t>
            </a:r>
            <a:r>
              <a:rPr lang="en-US" i="0" dirty="0" err="1">
                <a:effectLst/>
                <a:highlight>
                  <a:srgbClr val="FFFFFF"/>
                </a:highlight>
                <a:latin typeface="Calibri" panose="020F0502020204030204" pitchFamily="34" charset="0"/>
                <a:ea typeface="Calibri" panose="020F0502020204030204" pitchFamily="34" charset="0"/>
                <a:cs typeface="Calibri" panose="020F0502020204030204" pitchFamily="34" charset="0"/>
              </a:rPr>
              <a:t>matplotlib.pyplot</a:t>
            </a:r>
            <a:r>
              <a:rPr lang="en-US"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 as </a:t>
            </a:r>
            <a:r>
              <a:rPr lang="en-US" i="0" dirty="0" err="1">
                <a:effectLst/>
                <a:highlight>
                  <a:srgbClr val="FFFFFF"/>
                </a:highlight>
                <a:latin typeface="Calibri" panose="020F0502020204030204" pitchFamily="34" charset="0"/>
                <a:ea typeface="Calibri" panose="020F0502020204030204" pitchFamily="34" charset="0"/>
                <a:cs typeface="Calibri" panose="020F0502020204030204" pitchFamily="34" charset="0"/>
              </a:rPr>
              <a:t>plt</a:t>
            </a:r>
            <a:endParaRPr lang="en-US"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algn="just">
              <a:lnSpc>
                <a:spcPct val="150000"/>
              </a:lnSpc>
            </a:pPr>
            <a:r>
              <a:rPr lang="en-US" dirty="0" err="1"/>
              <a:t>plt.plot</a:t>
            </a:r>
            <a:r>
              <a:rPr lang="en-US" dirty="0"/>
              <a:t>([1, 2, 3, 4], [10, 20, 25, 30], label='Line 1’) </a:t>
            </a:r>
          </a:p>
          <a:p>
            <a:pPr algn="just">
              <a:lnSpc>
                <a:spcPct val="150000"/>
              </a:lnSpc>
            </a:pPr>
            <a:r>
              <a:rPr lang="en-US" dirty="0" err="1"/>
              <a:t>plt.plot</a:t>
            </a:r>
            <a:r>
              <a:rPr lang="en-US" dirty="0"/>
              <a:t>([1, 2, 3, 4], [30, 25, 20, 15], label='Line 2’) </a:t>
            </a:r>
          </a:p>
          <a:p>
            <a:pPr algn="just">
              <a:lnSpc>
                <a:spcPct val="150000"/>
              </a:lnSpc>
            </a:pPr>
            <a:r>
              <a:rPr lang="en-US" dirty="0" err="1"/>
              <a:t>plt.legend</a:t>
            </a:r>
            <a:r>
              <a:rPr lang="en-US" dirty="0"/>
              <a:t>() </a:t>
            </a:r>
          </a:p>
          <a:p>
            <a:pPr algn="just">
              <a:lnSpc>
                <a:spcPct val="150000"/>
              </a:lnSpc>
            </a:pPr>
            <a:r>
              <a:rPr lang="en-US" dirty="0" err="1"/>
              <a:t>plt.show</a:t>
            </a:r>
            <a:r>
              <a:rPr lang="en-US" dirty="0"/>
              <a:t>()</a:t>
            </a:r>
            <a:endParaRPr lang="en-US"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87F6C637-E874-A83C-E52E-D44FA2732CB3}"/>
              </a:ext>
            </a:extLst>
          </p:cNvPr>
          <p:cNvPicPr>
            <a:picLocks noChangeAspect="1"/>
          </p:cNvPicPr>
          <p:nvPr/>
        </p:nvPicPr>
        <p:blipFill>
          <a:blip r:embed="rId3"/>
          <a:stretch>
            <a:fillRect/>
          </a:stretch>
        </p:blipFill>
        <p:spPr>
          <a:xfrm>
            <a:off x="5729909" y="1705912"/>
            <a:ext cx="6096000" cy="4572000"/>
          </a:xfrm>
          <a:prstGeom prst="rect">
            <a:avLst/>
          </a:prstGeom>
        </p:spPr>
      </p:pic>
    </p:spTree>
    <p:extLst>
      <p:ext uri="{BB962C8B-B14F-4D97-AF65-F5344CB8AC3E}">
        <p14:creationId xmlns:p14="http://schemas.microsoft.com/office/powerpoint/2010/main" val="17829411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10</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774340"/>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Controlling Legends</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2960169"/>
          </a:xfrm>
          <a:prstGeom prst="rect">
            <a:avLst/>
          </a:prstGeom>
          <a:noFill/>
        </p:spPr>
        <p:txBody>
          <a:bodyPr wrap="square">
            <a:spAutoFit/>
          </a:bodyPr>
          <a:lstStyle/>
          <a:p>
            <a:pPr algn="just">
              <a:lnSpc>
                <a:spcPct val="150000"/>
              </a:lnSpc>
            </a:pPr>
            <a:r>
              <a:rPr lang="en-US" b="1"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Legend Position: </a:t>
            </a:r>
          </a:p>
          <a:p>
            <a:pPr marL="285750" indent="-285750" algn="just">
              <a:lnSpc>
                <a:spcPct val="150000"/>
              </a:lnSpc>
              <a:buFont typeface="Arial" panose="020B0604020202020204" pitchFamily="34" charset="0"/>
              <a:buChar char="•"/>
            </a:pPr>
            <a:r>
              <a:rPr lang="en-US" i="0" dirty="0">
                <a:solidFill>
                  <a:srgbClr val="333333"/>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The position of the legend can be controlled using the loc parameter.</a:t>
            </a:r>
          </a:p>
          <a:p>
            <a:pPr algn="just">
              <a:lnSpc>
                <a:spcPct val="150000"/>
              </a:lnSpc>
            </a:pPr>
            <a:r>
              <a:rPr lang="en-US"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import </a:t>
            </a:r>
            <a:r>
              <a:rPr lang="en-US" i="0" dirty="0" err="1">
                <a:effectLst/>
                <a:highlight>
                  <a:srgbClr val="FFFFFF"/>
                </a:highlight>
                <a:latin typeface="Calibri" panose="020F0502020204030204" pitchFamily="34" charset="0"/>
                <a:ea typeface="Calibri" panose="020F0502020204030204" pitchFamily="34" charset="0"/>
                <a:cs typeface="Calibri" panose="020F0502020204030204" pitchFamily="34" charset="0"/>
              </a:rPr>
              <a:t>matplotlib.pyplot</a:t>
            </a:r>
            <a:r>
              <a:rPr lang="en-US" i="0" dirty="0">
                <a:effectLst/>
                <a:highlight>
                  <a:srgbClr val="FFFFFF"/>
                </a:highlight>
                <a:latin typeface="Calibri" panose="020F0502020204030204" pitchFamily="34" charset="0"/>
                <a:ea typeface="Calibri" panose="020F0502020204030204" pitchFamily="34" charset="0"/>
                <a:cs typeface="Calibri" panose="020F0502020204030204" pitchFamily="34" charset="0"/>
              </a:rPr>
              <a:t> as </a:t>
            </a:r>
            <a:r>
              <a:rPr lang="en-US" i="0" dirty="0" err="1">
                <a:effectLst/>
                <a:highlight>
                  <a:srgbClr val="FFFFFF"/>
                </a:highlight>
                <a:latin typeface="Calibri" panose="020F0502020204030204" pitchFamily="34" charset="0"/>
                <a:ea typeface="Calibri" panose="020F0502020204030204" pitchFamily="34" charset="0"/>
                <a:cs typeface="Calibri" panose="020F0502020204030204" pitchFamily="34" charset="0"/>
              </a:rPr>
              <a:t>plt</a:t>
            </a:r>
            <a:endParaRPr lang="en-US"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algn="just">
              <a:lnSpc>
                <a:spcPct val="150000"/>
              </a:lnSpc>
            </a:pPr>
            <a:r>
              <a:rPr lang="en-US" dirty="0" err="1">
                <a:latin typeface="Calibri" panose="020F0502020204030204" pitchFamily="34" charset="0"/>
                <a:ea typeface="Calibri" panose="020F0502020204030204" pitchFamily="34" charset="0"/>
                <a:cs typeface="Calibri" panose="020F0502020204030204" pitchFamily="34" charset="0"/>
              </a:rPr>
              <a:t>plt.plot</a:t>
            </a:r>
            <a:r>
              <a:rPr lang="en-US" dirty="0">
                <a:latin typeface="Calibri" panose="020F0502020204030204" pitchFamily="34" charset="0"/>
                <a:ea typeface="Calibri" panose="020F0502020204030204" pitchFamily="34" charset="0"/>
                <a:cs typeface="Calibri" panose="020F0502020204030204" pitchFamily="34" charset="0"/>
              </a:rPr>
              <a:t>([1, 2, 3, 4], [10, 20, 25, 30], label='Line 1’)</a:t>
            </a:r>
          </a:p>
          <a:p>
            <a:pPr algn="just">
              <a:lnSpc>
                <a:spcPct val="150000"/>
              </a:lnSpc>
            </a:pPr>
            <a:r>
              <a:rPr lang="en-US" dirty="0" err="1">
                <a:latin typeface="Calibri" panose="020F0502020204030204" pitchFamily="34" charset="0"/>
                <a:ea typeface="Calibri" panose="020F0502020204030204" pitchFamily="34" charset="0"/>
                <a:cs typeface="Calibri" panose="020F0502020204030204" pitchFamily="34" charset="0"/>
              </a:rPr>
              <a:t>plt.plot</a:t>
            </a:r>
            <a:r>
              <a:rPr lang="en-US" dirty="0">
                <a:latin typeface="Calibri" panose="020F0502020204030204" pitchFamily="34" charset="0"/>
                <a:ea typeface="Calibri" panose="020F0502020204030204" pitchFamily="34" charset="0"/>
                <a:cs typeface="Calibri" panose="020F0502020204030204" pitchFamily="34" charset="0"/>
              </a:rPr>
              <a:t>([1, 2, 3, 4], [30, 25, 20, 15], label='Line 2’)</a:t>
            </a:r>
          </a:p>
          <a:p>
            <a:pPr algn="just">
              <a:lnSpc>
                <a:spcPct val="150000"/>
              </a:lnSpc>
            </a:pPr>
            <a:r>
              <a:rPr lang="en-US" dirty="0" err="1">
                <a:latin typeface="Calibri" panose="020F0502020204030204" pitchFamily="34" charset="0"/>
                <a:ea typeface="Calibri" panose="020F0502020204030204" pitchFamily="34" charset="0"/>
                <a:cs typeface="Calibri" panose="020F0502020204030204" pitchFamily="34" charset="0"/>
              </a:rPr>
              <a:t>plt.legend</a:t>
            </a:r>
            <a:r>
              <a:rPr lang="en-US" dirty="0">
                <a:latin typeface="Calibri" panose="020F0502020204030204" pitchFamily="34" charset="0"/>
                <a:ea typeface="Calibri" panose="020F0502020204030204" pitchFamily="34" charset="0"/>
                <a:cs typeface="Calibri" panose="020F0502020204030204" pitchFamily="34" charset="0"/>
              </a:rPr>
              <a:t>(loc='upper left’)</a:t>
            </a:r>
          </a:p>
          <a:p>
            <a:pPr algn="just">
              <a:lnSpc>
                <a:spcPct val="150000"/>
              </a:lnSpc>
            </a:pPr>
            <a:r>
              <a:rPr lang="en-US" dirty="0" err="1">
                <a:latin typeface="Calibri" panose="020F0502020204030204" pitchFamily="34" charset="0"/>
                <a:ea typeface="Calibri" panose="020F0502020204030204" pitchFamily="34" charset="0"/>
                <a:cs typeface="Calibri" panose="020F0502020204030204" pitchFamily="34" charset="0"/>
              </a:rPr>
              <a:t>plt.show</a:t>
            </a:r>
            <a:r>
              <a:rPr lang="en-US" dirty="0">
                <a:latin typeface="Calibri" panose="020F0502020204030204" pitchFamily="34" charset="0"/>
                <a:ea typeface="Calibri" panose="020F0502020204030204" pitchFamily="34" charset="0"/>
                <a:cs typeface="Calibri" panose="020F0502020204030204" pitchFamily="34" charset="0"/>
              </a:rPr>
              <a:t>()</a:t>
            </a:r>
            <a:endParaRPr lang="en-US" b="0" i="0" dirty="0">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BCD21BE6-F803-DDCB-8419-7668551E54FC}"/>
              </a:ext>
            </a:extLst>
          </p:cNvPr>
          <p:cNvPicPr>
            <a:picLocks noChangeAspect="1"/>
          </p:cNvPicPr>
          <p:nvPr/>
        </p:nvPicPr>
        <p:blipFill>
          <a:blip r:embed="rId3"/>
          <a:stretch>
            <a:fillRect/>
          </a:stretch>
        </p:blipFill>
        <p:spPr>
          <a:xfrm>
            <a:off x="6913200" y="2567541"/>
            <a:ext cx="4656482" cy="3492362"/>
          </a:xfrm>
          <a:prstGeom prst="rect">
            <a:avLst/>
          </a:prstGeom>
        </p:spPr>
      </p:pic>
    </p:spTree>
    <p:extLst>
      <p:ext uri="{BB962C8B-B14F-4D97-AF65-F5344CB8AC3E}">
        <p14:creationId xmlns:p14="http://schemas.microsoft.com/office/powerpoint/2010/main" val="16251351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aphicFrame>
        <p:nvGraphicFramePr>
          <p:cNvPr id="88" name="Google Shape;88;p1"/>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89" name="Google Shape;89;p1"/>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1</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90" name="Google Shape;90;p1"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91" name="Google Shape;91;p1"/>
          <p:cNvSpPr/>
          <p:nvPr/>
        </p:nvSpPr>
        <p:spPr>
          <a:xfrm>
            <a:off x="3311107" y="2967335"/>
            <a:ext cx="5569794"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4000" b="1" i="0" u="none" strike="noStrike" cap="none">
                <a:solidFill>
                  <a:schemeClr val="dk1"/>
                </a:solidFill>
                <a:latin typeface="Calibri"/>
                <a:ea typeface="Calibri"/>
                <a:cs typeface="Calibri"/>
                <a:sym typeface="Calibri"/>
              </a:rPr>
              <a:t>Annotations, saving plots</a:t>
            </a:r>
            <a:endParaRPr sz="4000" b="1" i="0" u="none" strike="noStrike" cap="none">
              <a:solidFill>
                <a:schemeClr val="dk1"/>
              </a:solidFill>
              <a:latin typeface="Calibri"/>
              <a:ea typeface="Calibri"/>
              <a:cs typeface="Calibri"/>
              <a:sym typeface="Calibri"/>
            </a:endParaRPr>
          </a:p>
        </p:txBody>
      </p:sp>
      <p:sp>
        <p:nvSpPr>
          <p:cNvPr id="92" name="Google Shape;92;p1"/>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graphicFrame>
        <p:nvGraphicFramePr>
          <p:cNvPr id="97" name="Google Shape;97;p2"/>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98" name="Google Shape;98;p2"/>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99" name="Google Shape;99;p2"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00" name="Google Shape;100;p2"/>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1" name="Google Shape;101;p2"/>
          <p:cNvSpPr txBox="1"/>
          <p:nvPr/>
        </p:nvSpPr>
        <p:spPr>
          <a:xfrm>
            <a:off x="0" y="873851"/>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i="0" u="none" strike="noStrike" cap="none">
                <a:solidFill>
                  <a:schemeClr val="dk1"/>
                </a:solidFill>
                <a:latin typeface="Calibri"/>
                <a:ea typeface="Calibri"/>
                <a:cs typeface="Calibri"/>
                <a:sym typeface="Calibri"/>
              </a:rPr>
              <a:t>Annotations</a:t>
            </a:r>
            <a:endParaRPr sz="3600" b="1" i="0" u="none" strike="noStrike" cap="none">
              <a:solidFill>
                <a:schemeClr val="dk1"/>
              </a:solidFill>
              <a:latin typeface="Calibri"/>
              <a:ea typeface="Calibri"/>
              <a:cs typeface="Calibri"/>
              <a:sym typeface="Calibri"/>
            </a:endParaRPr>
          </a:p>
        </p:txBody>
      </p:sp>
      <p:sp>
        <p:nvSpPr>
          <p:cNvPr id="102" name="Google Shape;102;p2"/>
          <p:cNvSpPr txBox="1"/>
          <p:nvPr/>
        </p:nvSpPr>
        <p:spPr>
          <a:xfrm>
            <a:off x="487016" y="1574931"/>
            <a:ext cx="10972801" cy="1295868"/>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rgbClr val="000000"/>
              </a:buClr>
              <a:buSzPts val="1800"/>
              <a:buFont typeface="Arial"/>
              <a:buChar char="•"/>
            </a:pPr>
            <a:r>
              <a:rPr lang="en-IN" sz="1800" b="0" i="0" u="none" strike="noStrike" cap="none">
                <a:solidFill>
                  <a:srgbClr val="000000"/>
                </a:solidFill>
                <a:latin typeface="Calibri"/>
                <a:ea typeface="Calibri"/>
                <a:cs typeface="Calibri"/>
                <a:sym typeface="Calibri"/>
              </a:rPr>
              <a:t>In Matplotlib library </a:t>
            </a:r>
            <a:r>
              <a:rPr lang="en-IN" sz="1800" b="1" i="0" u="none" strike="noStrike" cap="none">
                <a:solidFill>
                  <a:srgbClr val="000000"/>
                </a:solidFill>
                <a:latin typeface="Calibri"/>
                <a:ea typeface="Calibri"/>
                <a:cs typeface="Calibri"/>
                <a:sym typeface="Calibri"/>
              </a:rPr>
              <a:t>annotations</a:t>
            </a:r>
            <a:r>
              <a:rPr lang="en-IN" sz="1800" b="0" i="0" u="none" strike="noStrike" cap="none">
                <a:solidFill>
                  <a:srgbClr val="000000"/>
                </a:solidFill>
                <a:latin typeface="Calibri"/>
                <a:ea typeface="Calibri"/>
                <a:cs typeface="Calibri"/>
                <a:sym typeface="Calibri"/>
              </a:rPr>
              <a:t> refer to the capability of adding text or markers to specific locations on a plot to provide additional information or highlight particular features. </a:t>
            </a:r>
            <a:endParaRPr/>
          </a:p>
          <a:p>
            <a:pPr marL="285750" marR="0" lvl="0" indent="-285750" algn="just" rtl="0">
              <a:lnSpc>
                <a:spcPct val="150000"/>
              </a:lnSpc>
              <a:spcBef>
                <a:spcPts val="0"/>
              </a:spcBef>
              <a:spcAft>
                <a:spcPts val="0"/>
              </a:spcAft>
              <a:buClr>
                <a:srgbClr val="000000"/>
              </a:buClr>
              <a:buSzPts val="1800"/>
              <a:buFont typeface="Arial"/>
              <a:buChar char="•"/>
            </a:pPr>
            <a:r>
              <a:rPr lang="en-IN" sz="1800" b="0" i="0" u="none" strike="noStrike" cap="none">
                <a:solidFill>
                  <a:srgbClr val="000000"/>
                </a:solidFill>
                <a:latin typeface="Calibri"/>
                <a:ea typeface="Calibri"/>
                <a:cs typeface="Calibri"/>
                <a:sym typeface="Calibri"/>
              </a:rPr>
              <a:t>Annotations allow users to label data points and indicate trends or add descriptions to different parts of a plot.</a:t>
            </a:r>
            <a:endParaRPr sz="1800" b="0" i="0" u="none" strike="noStrike" cap="none">
              <a:solidFill>
                <a:srgbClr val="333333"/>
              </a:solidFill>
              <a:highlight>
                <a:srgbClr val="FFFFFF"/>
              </a:highlight>
              <a:latin typeface="Calibri"/>
              <a:ea typeface="Calibri"/>
              <a:cs typeface="Calibri"/>
              <a:sym typeface="Calibri"/>
            </a:endParaRPr>
          </a:p>
        </p:txBody>
      </p:sp>
      <p:pic>
        <p:nvPicPr>
          <p:cNvPr id="103" name="Google Shape;103;p2" descr="matplotlib : Types of Plots ..."/>
          <p:cNvPicPr preferRelativeResize="0"/>
          <p:nvPr/>
        </p:nvPicPr>
        <p:blipFill rotWithShape="1">
          <a:blip r:embed="rId4">
            <a:alphaModFix/>
          </a:blip>
          <a:srcRect/>
          <a:stretch/>
        </p:blipFill>
        <p:spPr>
          <a:xfrm>
            <a:off x="3638960" y="3604223"/>
            <a:ext cx="4568869" cy="23799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graphicFrame>
        <p:nvGraphicFramePr>
          <p:cNvPr id="108" name="Google Shape;108;p3"/>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09" name="Google Shape;109;p3"/>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3</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10" name="Google Shape;110;p3"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11" name="Google Shape;111;p3"/>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2" name="Google Shape;112;p3"/>
          <p:cNvSpPr txBox="1"/>
          <p:nvPr/>
        </p:nvSpPr>
        <p:spPr>
          <a:xfrm>
            <a:off x="0" y="873851"/>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i="0" u="none" strike="noStrike" cap="none">
                <a:solidFill>
                  <a:schemeClr val="dk1"/>
                </a:solidFill>
                <a:latin typeface="Calibri"/>
                <a:ea typeface="Calibri"/>
                <a:cs typeface="Calibri"/>
                <a:sym typeface="Calibri"/>
              </a:rPr>
              <a:t>Annotations</a:t>
            </a:r>
            <a:endParaRPr sz="3600" b="1" i="0" u="none" strike="noStrike" cap="none">
              <a:solidFill>
                <a:schemeClr val="dk1"/>
              </a:solidFill>
              <a:latin typeface="Calibri"/>
              <a:ea typeface="Calibri"/>
              <a:cs typeface="Calibri"/>
              <a:sym typeface="Calibri"/>
            </a:endParaRPr>
          </a:p>
        </p:txBody>
      </p:sp>
      <p:sp>
        <p:nvSpPr>
          <p:cNvPr id="113" name="Google Shape;113;p3"/>
          <p:cNvSpPr txBox="1"/>
          <p:nvPr/>
        </p:nvSpPr>
        <p:spPr>
          <a:xfrm>
            <a:off x="487016" y="1574931"/>
            <a:ext cx="10972801" cy="2539606"/>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rgbClr val="000000"/>
              </a:buClr>
              <a:buSzPts val="1800"/>
              <a:buFont typeface="Arial"/>
              <a:buChar char="•"/>
            </a:pPr>
            <a:r>
              <a:rPr lang="en-IN" sz="1800" b="1" i="0" u="none" strike="noStrike" cap="none">
                <a:solidFill>
                  <a:srgbClr val="000000"/>
                </a:solidFill>
                <a:latin typeface="Calibri"/>
                <a:ea typeface="Calibri"/>
                <a:cs typeface="Calibri"/>
                <a:sym typeface="Calibri"/>
              </a:rPr>
              <a:t>Text annotations </a:t>
            </a:r>
            <a:r>
              <a:rPr lang="en-IN" sz="1800" b="0" i="0" u="none" strike="noStrike" cap="none">
                <a:solidFill>
                  <a:srgbClr val="000000"/>
                </a:solidFill>
                <a:latin typeface="Calibri"/>
                <a:ea typeface="Calibri"/>
                <a:cs typeface="Calibri"/>
                <a:sym typeface="Calibri"/>
              </a:rPr>
              <a:t>are used to add explanatory or descriptive text to specific points, regions, or features within a plot.</a:t>
            </a:r>
            <a:endParaRPr/>
          </a:p>
          <a:p>
            <a:pPr marL="285750" marR="0" lvl="0" indent="-285750" algn="just" rtl="0">
              <a:lnSpc>
                <a:spcPct val="150000"/>
              </a:lnSpc>
              <a:spcBef>
                <a:spcPts val="0"/>
              </a:spcBef>
              <a:spcAft>
                <a:spcPts val="0"/>
              </a:spcAft>
              <a:buClr>
                <a:srgbClr val="000000"/>
              </a:buClr>
              <a:buSzPts val="1800"/>
              <a:buFont typeface="Arial"/>
              <a:buChar char="•"/>
            </a:pPr>
            <a:r>
              <a:rPr lang="en-IN" sz="1800" b="1" i="0" u="none" strike="noStrike" cap="none">
                <a:solidFill>
                  <a:srgbClr val="000000"/>
                </a:solidFill>
                <a:latin typeface="Calibri"/>
                <a:ea typeface="Calibri"/>
                <a:cs typeface="Calibri"/>
                <a:sym typeface="Calibri"/>
              </a:rPr>
              <a:t>Marker annotations </a:t>
            </a:r>
            <a:r>
              <a:rPr lang="en-IN" sz="1800" b="0" i="0" u="none" strike="noStrike" cap="none">
                <a:solidFill>
                  <a:srgbClr val="000000"/>
                </a:solidFill>
                <a:latin typeface="Calibri"/>
                <a:ea typeface="Calibri"/>
                <a:cs typeface="Calibri"/>
                <a:sym typeface="Calibri"/>
              </a:rPr>
              <a:t>involve placing markers or symbols on specific points of interest within a plot to highlight or provide additional information about those points.</a:t>
            </a:r>
            <a:endParaRPr sz="1800" b="0" i="0" u="none" strike="noStrike" cap="none">
              <a:solidFill>
                <a:srgbClr val="000000"/>
              </a:solidFill>
              <a:latin typeface="Calibri"/>
              <a:ea typeface="Calibri"/>
              <a:cs typeface="Calibri"/>
              <a:sym typeface="Calibri"/>
            </a:endParaRPr>
          </a:p>
          <a:p>
            <a:pPr marL="285750" marR="0" lvl="0" indent="-285750" algn="just" rtl="0">
              <a:lnSpc>
                <a:spcPct val="150000"/>
              </a:lnSpc>
              <a:spcBef>
                <a:spcPts val="0"/>
              </a:spcBef>
              <a:spcAft>
                <a:spcPts val="0"/>
              </a:spcAft>
              <a:buClr>
                <a:srgbClr val="000000"/>
              </a:buClr>
              <a:buSzPts val="1800"/>
              <a:buFont typeface="Arial"/>
              <a:buChar char="•"/>
            </a:pPr>
            <a:r>
              <a:rPr lang="en-IN" sz="1800" b="1" i="0" u="none" strike="noStrike" cap="none">
                <a:solidFill>
                  <a:srgbClr val="000000"/>
                </a:solidFill>
                <a:latin typeface="Calibri"/>
                <a:ea typeface="Calibri"/>
                <a:cs typeface="Calibri"/>
                <a:sym typeface="Calibri"/>
              </a:rPr>
              <a:t>Callouts</a:t>
            </a:r>
            <a:r>
              <a:rPr lang="en-IN" sz="1800" b="0" i="0" u="none" strike="noStrike" cap="none">
                <a:solidFill>
                  <a:srgbClr val="000000"/>
                </a:solidFill>
                <a:latin typeface="Calibri"/>
                <a:ea typeface="Calibri"/>
                <a:cs typeface="Calibri"/>
                <a:sym typeface="Calibri"/>
              </a:rPr>
              <a:t> refer to a specific type of annotation that uses visual elements like arrows, lines, or text to draw attention to a particular area or feature within a plot. </a:t>
            </a:r>
            <a:endParaRPr sz="1800" b="0" i="0" u="none" strike="noStrike" cap="none">
              <a:solidFill>
                <a:srgbClr val="333333"/>
              </a:solidFill>
              <a:highlight>
                <a:srgbClr val="FFFFFF"/>
              </a:highlight>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graphicFrame>
        <p:nvGraphicFramePr>
          <p:cNvPr id="118" name="Google Shape;118;p4"/>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19" name="Google Shape;119;p4"/>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4</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20" name="Google Shape;120;p4"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21" name="Google Shape;121;p4"/>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22" name="Google Shape;122;p4"/>
          <p:cNvSpPr txBox="1"/>
          <p:nvPr/>
        </p:nvSpPr>
        <p:spPr>
          <a:xfrm>
            <a:off x="0" y="873851"/>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i="0" u="none" strike="noStrike" cap="none">
                <a:solidFill>
                  <a:schemeClr val="dk1"/>
                </a:solidFill>
                <a:latin typeface="Calibri"/>
                <a:ea typeface="Calibri"/>
                <a:cs typeface="Calibri"/>
                <a:sym typeface="Calibri"/>
              </a:rPr>
              <a:t>Annotations Syntax</a:t>
            </a:r>
            <a:endParaRPr sz="3600" b="1" i="0" u="none" strike="noStrike" cap="none">
              <a:solidFill>
                <a:schemeClr val="dk1"/>
              </a:solidFill>
              <a:latin typeface="Calibri"/>
              <a:ea typeface="Calibri"/>
              <a:cs typeface="Calibri"/>
              <a:sym typeface="Calibri"/>
            </a:endParaRPr>
          </a:p>
        </p:txBody>
      </p:sp>
      <p:sp>
        <p:nvSpPr>
          <p:cNvPr id="123" name="Google Shape;123;p4"/>
          <p:cNvSpPr txBox="1"/>
          <p:nvPr/>
        </p:nvSpPr>
        <p:spPr>
          <a:xfrm>
            <a:off x="487016" y="1574931"/>
            <a:ext cx="10972801" cy="3788858"/>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IN" sz="1800" b="0" i="0" u="none" strike="noStrike" cap="none">
                <a:solidFill>
                  <a:schemeClr val="dk1"/>
                </a:solidFill>
                <a:latin typeface="Calibri"/>
                <a:ea typeface="Calibri"/>
                <a:cs typeface="Calibri"/>
                <a:sym typeface="Calibri"/>
              </a:rPr>
              <a:t>                                    plt.annotate(text, xy, xytext=None, xycoords='data', textcoords='data', arrowprops=None, annotation_clip=None, kwargs)</a:t>
            </a:r>
            <a:endParaRPr/>
          </a:p>
          <a:p>
            <a:pPr marL="0" marR="0" lvl="0" indent="0" algn="ctr" rtl="0">
              <a:lnSpc>
                <a:spcPct val="150000"/>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285750" marR="0" lvl="0" indent="-285750" algn="just" rtl="0">
              <a:lnSpc>
                <a:spcPct val="150000"/>
              </a:lnSpc>
              <a:spcBef>
                <a:spcPts val="0"/>
              </a:spcBef>
              <a:spcAft>
                <a:spcPts val="0"/>
              </a:spcAft>
              <a:buClr>
                <a:srgbClr val="000000"/>
              </a:buClr>
              <a:buSzPts val="1800"/>
              <a:buFont typeface="Arial"/>
              <a:buChar char="•"/>
            </a:pPr>
            <a:r>
              <a:rPr lang="en-IN" sz="1800" b="1" i="0" u="none" strike="noStrike" cap="none">
                <a:solidFill>
                  <a:srgbClr val="000000"/>
                </a:solidFill>
                <a:latin typeface="Calibri"/>
                <a:ea typeface="Calibri"/>
                <a:cs typeface="Calibri"/>
                <a:sym typeface="Calibri"/>
              </a:rPr>
              <a:t>text (str)</a:t>
            </a:r>
            <a:r>
              <a:rPr lang="en-IN" sz="1800" b="0" i="0" u="none" strike="noStrike" cap="none">
                <a:solidFill>
                  <a:srgbClr val="000000"/>
                </a:solidFill>
                <a:latin typeface="Calibri"/>
                <a:ea typeface="Calibri"/>
                <a:cs typeface="Calibri"/>
                <a:sym typeface="Calibri"/>
              </a:rPr>
              <a:t> − The text of the annotation.</a:t>
            </a:r>
            <a:endParaRPr/>
          </a:p>
          <a:p>
            <a:pPr marL="285750" marR="0" lvl="0" indent="-285750" algn="just" rtl="0">
              <a:lnSpc>
                <a:spcPct val="150000"/>
              </a:lnSpc>
              <a:spcBef>
                <a:spcPts val="0"/>
              </a:spcBef>
              <a:spcAft>
                <a:spcPts val="0"/>
              </a:spcAft>
              <a:buClr>
                <a:srgbClr val="000000"/>
              </a:buClr>
              <a:buSzPts val="1800"/>
              <a:buFont typeface="Arial"/>
              <a:buChar char="•"/>
            </a:pPr>
            <a:r>
              <a:rPr lang="en-IN" sz="1800" b="1" i="0" u="none" strike="noStrike" cap="none">
                <a:solidFill>
                  <a:srgbClr val="000000"/>
                </a:solidFill>
                <a:latin typeface="Calibri"/>
                <a:ea typeface="Calibri"/>
                <a:cs typeface="Calibri"/>
                <a:sym typeface="Calibri"/>
              </a:rPr>
              <a:t>xy (tuple or array)</a:t>
            </a:r>
            <a:r>
              <a:rPr lang="en-IN" sz="1800" b="0" i="0" u="none" strike="noStrike" cap="none">
                <a:solidFill>
                  <a:srgbClr val="000000"/>
                </a:solidFill>
                <a:latin typeface="Calibri"/>
                <a:ea typeface="Calibri"/>
                <a:cs typeface="Calibri"/>
                <a:sym typeface="Calibri"/>
              </a:rPr>
              <a:t> − The point (x, y) to annotate.</a:t>
            </a:r>
            <a:endParaRPr/>
          </a:p>
          <a:p>
            <a:pPr marL="285750" marR="0" lvl="0" indent="-285750" algn="just" rtl="0">
              <a:lnSpc>
                <a:spcPct val="150000"/>
              </a:lnSpc>
              <a:spcBef>
                <a:spcPts val="0"/>
              </a:spcBef>
              <a:spcAft>
                <a:spcPts val="0"/>
              </a:spcAft>
              <a:buClr>
                <a:srgbClr val="000000"/>
              </a:buClr>
              <a:buSzPts val="1800"/>
              <a:buFont typeface="Arial"/>
              <a:buChar char="•"/>
            </a:pPr>
            <a:r>
              <a:rPr lang="en-IN" sz="1800" b="1" i="0" u="none" strike="noStrike" cap="none">
                <a:solidFill>
                  <a:srgbClr val="000000"/>
                </a:solidFill>
                <a:latin typeface="Calibri"/>
                <a:ea typeface="Calibri"/>
                <a:cs typeface="Calibri"/>
                <a:sym typeface="Calibri"/>
              </a:rPr>
              <a:t>xytext (tuple or array, optional)</a:t>
            </a:r>
            <a:r>
              <a:rPr lang="en-IN" sz="1800" b="0" i="0" u="none" strike="noStrike" cap="none">
                <a:solidFill>
                  <a:srgbClr val="000000"/>
                </a:solidFill>
                <a:latin typeface="Calibri"/>
                <a:ea typeface="Calibri"/>
                <a:cs typeface="Calibri"/>
                <a:sym typeface="Calibri"/>
              </a:rPr>
              <a:t> − The position (x, y) to place the text. If </a:t>
            </a:r>
            <a:r>
              <a:rPr lang="en-IN" sz="1800" b="1" i="0" u="none" strike="noStrike" cap="none">
                <a:solidFill>
                  <a:srgbClr val="000000"/>
                </a:solidFill>
                <a:latin typeface="Calibri"/>
                <a:ea typeface="Calibri"/>
                <a:cs typeface="Calibri"/>
                <a:sym typeface="Calibri"/>
              </a:rPr>
              <a:t>None</a:t>
            </a:r>
            <a:r>
              <a:rPr lang="en-IN" sz="1800" b="0" i="0" u="none" strike="noStrike" cap="none">
                <a:solidFill>
                  <a:srgbClr val="000000"/>
                </a:solidFill>
                <a:latin typeface="Calibri"/>
                <a:ea typeface="Calibri"/>
                <a:cs typeface="Calibri"/>
                <a:sym typeface="Calibri"/>
              </a:rPr>
              <a:t> defaults to `xy`.</a:t>
            </a:r>
            <a:endParaRPr/>
          </a:p>
          <a:p>
            <a:pPr marL="285750" marR="0" lvl="0" indent="-285750" algn="just" rtl="0">
              <a:lnSpc>
                <a:spcPct val="150000"/>
              </a:lnSpc>
              <a:spcBef>
                <a:spcPts val="0"/>
              </a:spcBef>
              <a:spcAft>
                <a:spcPts val="0"/>
              </a:spcAft>
              <a:buClr>
                <a:srgbClr val="000000"/>
              </a:buClr>
              <a:buSzPts val="1800"/>
              <a:buFont typeface="Arial"/>
              <a:buChar char="•"/>
            </a:pPr>
            <a:r>
              <a:rPr lang="en-IN" sz="1800" b="1" i="0" u="none" strike="noStrike" cap="none">
                <a:solidFill>
                  <a:srgbClr val="000000"/>
                </a:solidFill>
                <a:latin typeface="Calibri"/>
                <a:ea typeface="Calibri"/>
                <a:cs typeface="Calibri"/>
                <a:sym typeface="Calibri"/>
              </a:rPr>
              <a:t>xycoords (str, Artist, or Transform, optional)</a:t>
            </a:r>
            <a:r>
              <a:rPr lang="en-IN" sz="1800" b="0" i="0" u="none" strike="noStrike" cap="none">
                <a:solidFill>
                  <a:srgbClr val="000000"/>
                </a:solidFill>
                <a:latin typeface="Calibri"/>
                <a:ea typeface="Calibri"/>
                <a:cs typeface="Calibri"/>
                <a:sym typeface="Calibri"/>
              </a:rPr>
              <a:t> − The coordinate system that </a:t>
            </a:r>
            <a:r>
              <a:rPr lang="en-IN" sz="1800" b="1" i="0" u="none" strike="noStrike" cap="none">
                <a:solidFill>
                  <a:srgbClr val="000000"/>
                </a:solidFill>
                <a:latin typeface="Calibri"/>
                <a:ea typeface="Calibri"/>
                <a:cs typeface="Calibri"/>
                <a:sym typeface="Calibri"/>
              </a:rPr>
              <a:t>`xy`</a:t>
            </a:r>
            <a:r>
              <a:rPr lang="en-IN" sz="1800" b="0" i="0" u="none" strike="noStrike" cap="none">
                <a:solidFill>
                  <a:srgbClr val="000000"/>
                </a:solidFill>
                <a:latin typeface="Calibri"/>
                <a:ea typeface="Calibri"/>
                <a:cs typeface="Calibri"/>
                <a:sym typeface="Calibri"/>
              </a:rPr>
              <a:t> is given in. Default is 'data'.</a:t>
            </a:r>
            <a:endParaRPr/>
          </a:p>
          <a:p>
            <a:pPr marL="285750" marR="0" lvl="0" indent="-285750" algn="just" rtl="0">
              <a:lnSpc>
                <a:spcPct val="150000"/>
              </a:lnSpc>
              <a:spcBef>
                <a:spcPts val="0"/>
              </a:spcBef>
              <a:spcAft>
                <a:spcPts val="0"/>
              </a:spcAft>
              <a:buClr>
                <a:srgbClr val="000000"/>
              </a:buClr>
              <a:buSzPts val="1800"/>
              <a:buFont typeface="Arial"/>
              <a:buChar char="•"/>
            </a:pPr>
            <a:r>
              <a:rPr lang="en-IN" sz="1800" b="1" i="0" u="none" strike="noStrike" cap="none">
                <a:solidFill>
                  <a:srgbClr val="000000"/>
                </a:solidFill>
                <a:latin typeface="Calibri"/>
                <a:ea typeface="Calibri"/>
                <a:cs typeface="Calibri"/>
                <a:sym typeface="Calibri"/>
              </a:rPr>
              <a:t>textcoords (str, Artist, or Transform, optional)</a:t>
            </a:r>
            <a:r>
              <a:rPr lang="en-IN" sz="1800" b="0" i="0" u="none" strike="noStrike" cap="none">
                <a:solidFill>
                  <a:srgbClr val="000000"/>
                </a:solidFill>
                <a:latin typeface="Calibri"/>
                <a:ea typeface="Calibri"/>
                <a:cs typeface="Calibri"/>
                <a:sym typeface="Calibri"/>
              </a:rPr>
              <a:t> − The coordinate system that </a:t>
            </a:r>
            <a:r>
              <a:rPr lang="en-IN" sz="1800" b="1" i="0" u="none" strike="noStrike" cap="none">
                <a:solidFill>
                  <a:srgbClr val="000000"/>
                </a:solidFill>
                <a:latin typeface="Calibri"/>
                <a:ea typeface="Calibri"/>
                <a:cs typeface="Calibri"/>
                <a:sym typeface="Calibri"/>
              </a:rPr>
              <a:t>`xytext`</a:t>
            </a:r>
            <a:r>
              <a:rPr lang="en-IN" sz="1800" b="0" i="0" u="none" strike="noStrike" cap="none">
                <a:solidFill>
                  <a:srgbClr val="000000"/>
                </a:solidFill>
                <a:latin typeface="Calibri"/>
                <a:ea typeface="Calibri"/>
                <a:cs typeface="Calibri"/>
                <a:sym typeface="Calibri"/>
              </a:rPr>
              <a:t> is given in. Default is 'data'.</a:t>
            </a:r>
            <a:endParaRPr/>
          </a:p>
          <a:p>
            <a:pPr marL="285750" marR="0" lvl="0" indent="-171450" algn="just" rtl="0">
              <a:lnSpc>
                <a:spcPct val="150000"/>
              </a:lnSpc>
              <a:spcBef>
                <a:spcPts val="0"/>
              </a:spcBef>
              <a:spcAft>
                <a:spcPts val="0"/>
              </a:spcAft>
              <a:buClr>
                <a:schemeClr val="dk1"/>
              </a:buClr>
              <a:buSzPts val="1800"/>
              <a:buFont typeface="Arial"/>
              <a:buNone/>
            </a:pPr>
            <a:endParaRPr sz="1800" b="0" i="0" u="none" strike="noStrike" cap="none">
              <a:solidFill>
                <a:schemeClr val="dk1"/>
              </a:solidFill>
              <a:highlight>
                <a:srgbClr val="FFFFFF"/>
              </a:highlight>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graphicFrame>
        <p:nvGraphicFramePr>
          <p:cNvPr id="128" name="Google Shape;128;p5"/>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29" name="Google Shape;129;p5"/>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5</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30" name="Google Shape;130;p5"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31" name="Google Shape;131;p5"/>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2" name="Google Shape;132;p5"/>
          <p:cNvSpPr txBox="1"/>
          <p:nvPr/>
        </p:nvSpPr>
        <p:spPr>
          <a:xfrm>
            <a:off x="0" y="873851"/>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i="0" u="none" strike="noStrike" cap="none">
                <a:solidFill>
                  <a:schemeClr val="dk1"/>
                </a:solidFill>
                <a:latin typeface="Calibri"/>
                <a:ea typeface="Calibri"/>
                <a:cs typeface="Calibri"/>
                <a:sym typeface="Calibri"/>
              </a:rPr>
              <a:t>Annotations Syntax</a:t>
            </a:r>
            <a:endParaRPr sz="3600" b="1" i="0" u="none" strike="noStrike" cap="none">
              <a:solidFill>
                <a:schemeClr val="dk1"/>
              </a:solidFill>
              <a:latin typeface="Calibri"/>
              <a:ea typeface="Calibri"/>
              <a:cs typeface="Calibri"/>
              <a:sym typeface="Calibri"/>
            </a:endParaRPr>
          </a:p>
        </p:txBody>
      </p:sp>
      <p:sp>
        <p:nvSpPr>
          <p:cNvPr id="133" name="Google Shape;133;p5"/>
          <p:cNvSpPr txBox="1"/>
          <p:nvPr/>
        </p:nvSpPr>
        <p:spPr>
          <a:xfrm>
            <a:off x="487016" y="1574931"/>
            <a:ext cx="10972801" cy="3788858"/>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IN" sz="1800" b="0" i="0" u="none" strike="noStrike" cap="none">
                <a:solidFill>
                  <a:schemeClr val="dk1"/>
                </a:solidFill>
                <a:latin typeface="Calibri"/>
                <a:ea typeface="Calibri"/>
                <a:cs typeface="Calibri"/>
                <a:sym typeface="Calibri"/>
              </a:rPr>
              <a:t>                                plt.annotate(text, xy, xytext=None, xycoords='data', textcoords='data', arrowprops=None, annotation_clip=None, kwargs)</a:t>
            </a:r>
            <a:endParaRPr/>
          </a:p>
          <a:p>
            <a:pPr marL="0" marR="0" lvl="0" indent="0" algn="ctr" rtl="0">
              <a:lnSpc>
                <a:spcPct val="150000"/>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285750" marR="0" lvl="0" indent="-285750" algn="just" rtl="0">
              <a:lnSpc>
                <a:spcPct val="150000"/>
              </a:lnSpc>
              <a:spcBef>
                <a:spcPts val="0"/>
              </a:spcBef>
              <a:spcAft>
                <a:spcPts val="0"/>
              </a:spcAft>
              <a:buClr>
                <a:srgbClr val="000000"/>
              </a:buClr>
              <a:buSzPts val="1800"/>
              <a:buFont typeface="Arial"/>
              <a:buChar char="•"/>
            </a:pPr>
            <a:r>
              <a:rPr lang="en-IN" sz="1800" b="1" i="0" u="none" strike="noStrike" cap="none">
                <a:solidFill>
                  <a:srgbClr val="000000"/>
                </a:solidFill>
                <a:latin typeface="Calibri"/>
                <a:ea typeface="Calibri"/>
                <a:cs typeface="Calibri"/>
                <a:sym typeface="Calibri"/>
              </a:rPr>
              <a:t>arrowprops (dict, optional)</a:t>
            </a:r>
            <a:r>
              <a:rPr lang="en-IN" sz="1800" b="0" i="0" u="none" strike="noStrike" cap="none">
                <a:solidFill>
                  <a:srgbClr val="000000"/>
                </a:solidFill>
                <a:latin typeface="Calibri"/>
                <a:ea typeface="Calibri"/>
                <a:cs typeface="Calibri"/>
                <a:sym typeface="Calibri"/>
              </a:rPr>
              <a:t> − A dictionary of arrow properties. If not None an arrow is drawn from the annotation to the text.</a:t>
            </a:r>
            <a:endParaRPr/>
          </a:p>
          <a:p>
            <a:pPr marL="285750" marR="0" lvl="0" indent="-285750" algn="just" rtl="0">
              <a:lnSpc>
                <a:spcPct val="150000"/>
              </a:lnSpc>
              <a:spcBef>
                <a:spcPts val="0"/>
              </a:spcBef>
              <a:spcAft>
                <a:spcPts val="0"/>
              </a:spcAft>
              <a:buClr>
                <a:srgbClr val="000000"/>
              </a:buClr>
              <a:buSzPts val="1800"/>
              <a:buFont typeface="Arial"/>
              <a:buChar char="•"/>
            </a:pPr>
            <a:r>
              <a:rPr lang="en-IN" sz="1800" b="1" i="0" u="none" strike="noStrike" cap="none">
                <a:solidFill>
                  <a:srgbClr val="000000"/>
                </a:solidFill>
                <a:latin typeface="Calibri"/>
                <a:ea typeface="Calibri"/>
                <a:cs typeface="Calibri"/>
                <a:sym typeface="Calibri"/>
              </a:rPr>
              <a:t>annotation_clip (bool or None, optional)</a:t>
            </a:r>
            <a:r>
              <a:rPr lang="en-IN" sz="1800" b="0" i="0" u="none" strike="noStrike" cap="none">
                <a:solidFill>
                  <a:srgbClr val="000000"/>
                </a:solidFill>
                <a:latin typeface="Calibri"/>
                <a:ea typeface="Calibri"/>
                <a:cs typeface="Calibri"/>
                <a:sym typeface="Calibri"/>
              </a:rPr>
              <a:t> − If </a:t>
            </a:r>
            <a:r>
              <a:rPr lang="en-IN" sz="1800" b="1" i="0" u="none" strike="noStrike" cap="none">
                <a:solidFill>
                  <a:srgbClr val="000000"/>
                </a:solidFill>
                <a:latin typeface="Calibri"/>
                <a:ea typeface="Calibri"/>
                <a:cs typeface="Calibri"/>
                <a:sym typeface="Calibri"/>
              </a:rPr>
              <a:t>True</a:t>
            </a:r>
            <a:r>
              <a:rPr lang="en-IN" sz="1800" b="0" i="0" u="none" strike="noStrike" cap="none">
                <a:solidFill>
                  <a:srgbClr val="000000"/>
                </a:solidFill>
                <a:latin typeface="Calibri"/>
                <a:ea typeface="Calibri"/>
                <a:cs typeface="Calibri"/>
                <a:sym typeface="Calibri"/>
              </a:rPr>
              <a:t> the text will only be drawn when the annotation point is within the axes. If </a:t>
            </a:r>
            <a:r>
              <a:rPr lang="en-IN" sz="1800" b="1" i="0" u="none" strike="noStrike" cap="none">
                <a:solidFill>
                  <a:srgbClr val="000000"/>
                </a:solidFill>
                <a:latin typeface="Calibri"/>
                <a:ea typeface="Calibri"/>
                <a:cs typeface="Calibri"/>
                <a:sym typeface="Calibri"/>
              </a:rPr>
              <a:t>None</a:t>
            </a:r>
            <a:r>
              <a:rPr lang="en-IN" sz="1800" b="0" i="0" u="none" strike="noStrike" cap="none">
                <a:solidFill>
                  <a:srgbClr val="000000"/>
                </a:solidFill>
                <a:latin typeface="Calibri"/>
                <a:ea typeface="Calibri"/>
                <a:cs typeface="Calibri"/>
                <a:sym typeface="Calibri"/>
              </a:rPr>
              <a:t> it will take the value from </a:t>
            </a:r>
            <a:r>
              <a:rPr lang="en-IN" sz="1800" b="1" i="0" u="none" strike="noStrike" cap="none">
                <a:solidFill>
                  <a:srgbClr val="000000"/>
                </a:solidFill>
                <a:latin typeface="Calibri"/>
                <a:ea typeface="Calibri"/>
                <a:cs typeface="Calibri"/>
                <a:sym typeface="Calibri"/>
              </a:rPr>
              <a:t>rcParams["text.clip"]</a:t>
            </a:r>
            <a:r>
              <a:rPr lang="en-IN" sz="1800" b="0" i="0" u="none" strike="noStrike" cap="none">
                <a:solidFill>
                  <a:srgbClr val="000000"/>
                </a:solidFill>
                <a:latin typeface="Calibri"/>
                <a:ea typeface="Calibri"/>
                <a:cs typeface="Calibri"/>
                <a:sym typeface="Calibri"/>
              </a:rPr>
              <a:t>.</a:t>
            </a:r>
            <a:endParaRPr/>
          </a:p>
          <a:p>
            <a:pPr marL="285750" marR="0" lvl="0" indent="-285750" algn="just" rtl="0">
              <a:lnSpc>
                <a:spcPct val="150000"/>
              </a:lnSpc>
              <a:spcBef>
                <a:spcPts val="0"/>
              </a:spcBef>
              <a:spcAft>
                <a:spcPts val="0"/>
              </a:spcAft>
              <a:buClr>
                <a:srgbClr val="000000"/>
              </a:buClr>
              <a:buSzPts val="1800"/>
              <a:buFont typeface="Arial"/>
              <a:buChar char="•"/>
            </a:pPr>
            <a:r>
              <a:rPr lang="en-IN" sz="1800" b="1" i="0" u="none" strike="noStrike" cap="none">
                <a:solidFill>
                  <a:srgbClr val="000000"/>
                </a:solidFill>
                <a:latin typeface="Calibri"/>
                <a:ea typeface="Calibri"/>
                <a:cs typeface="Calibri"/>
                <a:sym typeface="Calibri"/>
              </a:rPr>
              <a:t>kwargs (optional)</a:t>
            </a:r>
            <a:r>
              <a:rPr lang="en-IN" sz="1800" b="0" i="0" u="none" strike="noStrike" cap="none">
                <a:solidFill>
                  <a:srgbClr val="000000"/>
                </a:solidFill>
                <a:latin typeface="Calibri"/>
                <a:ea typeface="Calibri"/>
                <a:cs typeface="Calibri"/>
                <a:sym typeface="Calibri"/>
              </a:rPr>
              <a:t> − Additional keyword arguments that are passed to </a:t>
            </a:r>
            <a:r>
              <a:rPr lang="en-IN" sz="1800" b="1" i="0" u="none" strike="noStrike" cap="none">
                <a:solidFill>
                  <a:srgbClr val="000000"/>
                </a:solidFill>
                <a:latin typeface="Calibri"/>
                <a:ea typeface="Calibri"/>
                <a:cs typeface="Calibri"/>
                <a:sym typeface="Calibri"/>
              </a:rPr>
              <a:t>Text</a:t>
            </a:r>
            <a:r>
              <a:rPr lang="en-IN" sz="1800" b="0" i="0" u="none" strike="noStrike" cap="none">
                <a:solidFill>
                  <a:srgbClr val="000000"/>
                </a:solidFill>
                <a:latin typeface="Calibri"/>
                <a:ea typeface="Calibri"/>
                <a:cs typeface="Calibri"/>
                <a:sym typeface="Calibri"/>
              </a:rPr>
              <a:t>.</a:t>
            </a:r>
            <a:endParaRPr/>
          </a:p>
          <a:p>
            <a:pPr marL="285750" marR="0" lvl="0" indent="-171450" algn="just" rtl="0">
              <a:lnSpc>
                <a:spcPct val="150000"/>
              </a:lnSpc>
              <a:spcBef>
                <a:spcPts val="0"/>
              </a:spcBef>
              <a:spcAft>
                <a:spcPts val="0"/>
              </a:spcAft>
              <a:buClr>
                <a:schemeClr val="dk1"/>
              </a:buClr>
              <a:buSzPts val="1800"/>
              <a:buFont typeface="Arial"/>
              <a:buNone/>
            </a:pPr>
            <a:endParaRPr sz="1800" b="0" i="0" u="none" strike="noStrike" cap="none">
              <a:solidFill>
                <a:schemeClr val="dk1"/>
              </a:solidFill>
              <a:highlight>
                <a:srgbClr val="FFFFFF"/>
              </a:highlight>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graphicFrame>
        <p:nvGraphicFramePr>
          <p:cNvPr id="138" name="Google Shape;138;p6"/>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39" name="Google Shape;139;p6"/>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6</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40" name="Google Shape;140;p6"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41" name="Google Shape;141;p6"/>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42" name="Google Shape;142;p6"/>
          <p:cNvSpPr txBox="1"/>
          <p:nvPr/>
        </p:nvSpPr>
        <p:spPr>
          <a:xfrm>
            <a:off x="0" y="873851"/>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i="0" u="none" strike="noStrike" cap="none">
                <a:solidFill>
                  <a:schemeClr val="dk1"/>
                </a:solidFill>
                <a:latin typeface="Calibri"/>
                <a:ea typeface="Calibri"/>
                <a:cs typeface="Calibri"/>
                <a:sym typeface="Calibri"/>
              </a:rPr>
              <a:t>Simple Text Annotation</a:t>
            </a:r>
            <a:endParaRPr sz="3600" b="1" i="0" u="none" strike="noStrike" cap="none">
              <a:solidFill>
                <a:schemeClr val="dk1"/>
              </a:solidFill>
              <a:latin typeface="Calibri"/>
              <a:ea typeface="Calibri"/>
              <a:cs typeface="Calibri"/>
              <a:sym typeface="Calibri"/>
            </a:endParaRPr>
          </a:p>
        </p:txBody>
      </p:sp>
      <p:sp>
        <p:nvSpPr>
          <p:cNvPr id="143" name="Google Shape;143;p6"/>
          <p:cNvSpPr txBox="1"/>
          <p:nvPr/>
        </p:nvSpPr>
        <p:spPr>
          <a:xfrm>
            <a:off x="487016" y="1509615"/>
            <a:ext cx="5336841" cy="5035353"/>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IN" sz="1800" b="0" i="0" u="none" strike="noStrike" cap="none" dirty="0">
                <a:solidFill>
                  <a:schemeClr val="dk1"/>
                </a:solidFill>
                <a:latin typeface="Calibri"/>
                <a:ea typeface="Calibri"/>
                <a:cs typeface="Calibri"/>
                <a:sym typeface="Calibri"/>
              </a:rPr>
              <a:t>import </a:t>
            </a:r>
            <a:r>
              <a:rPr lang="en-IN" sz="1800" b="0" i="0" u="none" strike="noStrike" cap="none" dirty="0" err="1">
                <a:solidFill>
                  <a:schemeClr val="dk1"/>
                </a:solidFill>
                <a:latin typeface="Calibri"/>
                <a:ea typeface="Calibri"/>
                <a:cs typeface="Calibri"/>
                <a:sym typeface="Calibri"/>
              </a:rPr>
              <a:t>matplotlib.pyplot</a:t>
            </a:r>
            <a:r>
              <a:rPr lang="en-IN" sz="1800" b="0" i="0" u="none" strike="noStrike" cap="none" dirty="0">
                <a:solidFill>
                  <a:schemeClr val="dk1"/>
                </a:solidFill>
                <a:latin typeface="Calibri"/>
                <a:ea typeface="Calibri"/>
                <a:cs typeface="Calibri"/>
                <a:sym typeface="Calibri"/>
              </a:rPr>
              <a:t> as </a:t>
            </a:r>
            <a:r>
              <a:rPr lang="en-IN" sz="1800" b="0" i="0" u="none" strike="noStrike" cap="none" dirty="0" err="1">
                <a:solidFill>
                  <a:schemeClr val="dk1"/>
                </a:solidFill>
                <a:latin typeface="Calibri"/>
                <a:ea typeface="Calibri"/>
                <a:cs typeface="Calibri"/>
                <a:sym typeface="Calibri"/>
              </a:rPr>
              <a:t>plt</a:t>
            </a:r>
            <a:endParaRPr sz="1800" b="0" i="0" u="none" strike="noStrike" cap="none"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en-IN" sz="1800" b="0" i="0" u="none" strike="noStrike" cap="none" dirty="0">
                <a:solidFill>
                  <a:schemeClr val="dk1"/>
                </a:solidFill>
                <a:latin typeface="Calibri"/>
                <a:ea typeface="Calibri"/>
                <a:cs typeface="Calibri"/>
                <a:sym typeface="Calibri"/>
              </a:rPr>
              <a:t># Sample data</a:t>
            </a:r>
            <a:endParaRPr dirty="0"/>
          </a:p>
          <a:p>
            <a:pPr marL="0" marR="0" lvl="0" indent="0" algn="just" rtl="0">
              <a:lnSpc>
                <a:spcPct val="150000"/>
              </a:lnSpc>
              <a:spcBef>
                <a:spcPts val="0"/>
              </a:spcBef>
              <a:spcAft>
                <a:spcPts val="0"/>
              </a:spcAft>
              <a:buNone/>
            </a:pPr>
            <a:r>
              <a:rPr lang="en-IN" sz="1800" b="0" i="0" u="none" strike="noStrike" cap="none" dirty="0">
                <a:solidFill>
                  <a:schemeClr val="dk1"/>
                </a:solidFill>
                <a:latin typeface="Calibri"/>
                <a:ea typeface="Calibri"/>
                <a:cs typeface="Calibri"/>
                <a:sym typeface="Calibri"/>
              </a:rPr>
              <a:t>x = [1, 2, 3, 4, 5]</a:t>
            </a:r>
            <a:endParaRPr dirty="0"/>
          </a:p>
          <a:p>
            <a:pPr marL="0" marR="0" lvl="0" indent="0" algn="just" rtl="0">
              <a:lnSpc>
                <a:spcPct val="150000"/>
              </a:lnSpc>
              <a:spcBef>
                <a:spcPts val="0"/>
              </a:spcBef>
              <a:spcAft>
                <a:spcPts val="0"/>
              </a:spcAft>
              <a:buNone/>
            </a:pPr>
            <a:r>
              <a:rPr lang="en-IN" sz="1800" b="0" i="0" u="none" strike="noStrike" cap="none" dirty="0">
                <a:solidFill>
                  <a:schemeClr val="dk1"/>
                </a:solidFill>
                <a:latin typeface="Calibri"/>
                <a:ea typeface="Calibri"/>
                <a:cs typeface="Calibri"/>
                <a:sym typeface="Calibri"/>
              </a:rPr>
              <a:t>y = [2, 4, 6, 8, 10]</a:t>
            </a:r>
            <a:endParaRPr dirty="0"/>
          </a:p>
          <a:p>
            <a:pPr marL="0" marR="0" lvl="0" indent="0" algn="just" rtl="0">
              <a:lnSpc>
                <a:spcPct val="150000"/>
              </a:lnSpc>
              <a:spcBef>
                <a:spcPts val="0"/>
              </a:spcBef>
              <a:spcAft>
                <a:spcPts val="0"/>
              </a:spcAft>
              <a:buNone/>
            </a:pPr>
            <a:r>
              <a:rPr lang="en-IN" sz="1800" b="0" i="0" u="none" strike="noStrike" cap="none" dirty="0">
                <a:solidFill>
                  <a:schemeClr val="dk1"/>
                </a:solidFill>
                <a:latin typeface="Calibri"/>
                <a:ea typeface="Calibri"/>
                <a:cs typeface="Calibri"/>
                <a:sym typeface="Calibri"/>
              </a:rPr>
              <a:t># Create plot</a:t>
            </a:r>
            <a:endParaRPr dirty="0"/>
          </a:p>
          <a:p>
            <a:pPr marL="0" marR="0" lvl="0" indent="0" algn="just" rtl="0">
              <a:lnSpc>
                <a:spcPct val="150000"/>
              </a:lnSpc>
              <a:spcBef>
                <a:spcPts val="0"/>
              </a:spcBef>
              <a:spcAft>
                <a:spcPts val="0"/>
              </a:spcAft>
              <a:buNone/>
            </a:pPr>
            <a:r>
              <a:rPr lang="en-IN" sz="1800" b="0" i="0" u="none" strike="noStrike" cap="none" dirty="0" err="1">
                <a:solidFill>
                  <a:schemeClr val="dk1"/>
                </a:solidFill>
                <a:latin typeface="Calibri"/>
                <a:ea typeface="Calibri"/>
                <a:cs typeface="Calibri"/>
                <a:sym typeface="Calibri"/>
              </a:rPr>
              <a:t>plt.plot</a:t>
            </a:r>
            <a:r>
              <a:rPr lang="en-IN" sz="1800" b="0" i="0" u="none" strike="noStrike" cap="none" dirty="0">
                <a:solidFill>
                  <a:schemeClr val="dk1"/>
                </a:solidFill>
                <a:latin typeface="Calibri"/>
                <a:ea typeface="Calibri"/>
                <a:cs typeface="Calibri"/>
                <a:sym typeface="Calibri"/>
              </a:rPr>
              <a:t>(x, y, marker='o')</a:t>
            </a:r>
            <a:endParaRPr dirty="0"/>
          </a:p>
          <a:p>
            <a:pPr marL="0" marR="0" lvl="0" indent="0" algn="just" rtl="0">
              <a:lnSpc>
                <a:spcPct val="150000"/>
              </a:lnSpc>
              <a:spcBef>
                <a:spcPts val="0"/>
              </a:spcBef>
              <a:spcAft>
                <a:spcPts val="0"/>
              </a:spcAft>
              <a:buNone/>
            </a:pPr>
            <a:r>
              <a:rPr lang="en-IN" sz="1800" b="0" i="0" u="none" strike="noStrike" cap="none" dirty="0">
                <a:solidFill>
                  <a:schemeClr val="dk1"/>
                </a:solidFill>
                <a:latin typeface="Calibri"/>
                <a:ea typeface="Calibri"/>
                <a:cs typeface="Calibri"/>
                <a:sym typeface="Calibri"/>
              </a:rPr>
              <a:t># Annotate a point with just text (no arrow)</a:t>
            </a:r>
            <a:endParaRPr dirty="0"/>
          </a:p>
          <a:p>
            <a:pPr marL="0" marR="0" lvl="0" indent="0" algn="just" rtl="0">
              <a:lnSpc>
                <a:spcPct val="150000"/>
              </a:lnSpc>
              <a:spcBef>
                <a:spcPts val="0"/>
              </a:spcBef>
              <a:spcAft>
                <a:spcPts val="0"/>
              </a:spcAft>
              <a:buNone/>
            </a:pPr>
            <a:r>
              <a:rPr lang="en-IN" sz="1800" b="0" i="0" u="none" strike="noStrike" cap="none" dirty="0" err="1">
                <a:solidFill>
                  <a:schemeClr val="dk1"/>
                </a:solidFill>
                <a:latin typeface="Calibri"/>
                <a:ea typeface="Calibri"/>
                <a:cs typeface="Calibri"/>
                <a:sym typeface="Calibri"/>
              </a:rPr>
              <a:t>plt.annotate</a:t>
            </a:r>
            <a:r>
              <a:rPr lang="en-IN" sz="1800" b="0" i="0" u="none" strike="noStrike" cap="none" dirty="0">
                <a:solidFill>
                  <a:schemeClr val="dk1"/>
                </a:solidFill>
                <a:latin typeface="Calibri"/>
                <a:ea typeface="Calibri"/>
                <a:cs typeface="Calibri"/>
                <a:sym typeface="Calibri"/>
              </a:rPr>
              <a:t>('Simple Text Annotation', </a:t>
            </a:r>
            <a:endParaRPr dirty="0"/>
          </a:p>
          <a:p>
            <a:pPr marL="0" marR="0" lvl="0" indent="0" algn="just" rtl="0">
              <a:lnSpc>
                <a:spcPct val="150000"/>
              </a:lnSpc>
              <a:spcBef>
                <a:spcPts val="0"/>
              </a:spcBef>
              <a:spcAft>
                <a:spcPts val="0"/>
              </a:spcAft>
              <a:buNone/>
            </a:pPr>
            <a:r>
              <a:rPr lang="en-IN" sz="1800" b="0" i="0" u="none" strike="noStrike" cap="none" dirty="0">
                <a:solidFill>
                  <a:schemeClr val="dk1"/>
                </a:solidFill>
                <a:latin typeface="Calibri"/>
                <a:ea typeface="Calibri"/>
                <a:cs typeface="Calibri"/>
                <a:sym typeface="Calibri"/>
              </a:rPr>
              <a:t>             </a:t>
            </a:r>
            <a:r>
              <a:rPr lang="en-IN" sz="1800" b="0" i="0" u="none" strike="noStrike" cap="none" dirty="0" err="1">
                <a:solidFill>
                  <a:schemeClr val="dk1"/>
                </a:solidFill>
                <a:latin typeface="Calibri"/>
                <a:ea typeface="Calibri"/>
                <a:cs typeface="Calibri"/>
                <a:sym typeface="Calibri"/>
              </a:rPr>
              <a:t>xy</a:t>
            </a:r>
            <a:r>
              <a:rPr lang="en-IN" sz="1800" b="0" i="0" u="none" strike="noStrike" cap="none" dirty="0">
                <a:solidFill>
                  <a:schemeClr val="dk1"/>
                </a:solidFill>
                <a:latin typeface="Calibri"/>
                <a:ea typeface="Calibri"/>
                <a:cs typeface="Calibri"/>
                <a:sym typeface="Calibri"/>
              </a:rPr>
              <a:t>=(4, 8), </a:t>
            </a:r>
            <a:endParaRPr dirty="0"/>
          </a:p>
          <a:p>
            <a:pPr marL="0" marR="0" lvl="0" indent="0" algn="just" rtl="0">
              <a:lnSpc>
                <a:spcPct val="150000"/>
              </a:lnSpc>
              <a:spcBef>
                <a:spcPts val="0"/>
              </a:spcBef>
              <a:spcAft>
                <a:spcPts val="0"/>
              </a:spcAft>
              <a:buNone/>
            </a:pPr>
            <a:r>
              <a:rPr lang="en-IN" sz="1800" b="0" i="0" u="none" strike="noStrike" cap="none" dirty="0">
                <a:solidFill>
                  <a:schemeClr val="dk1"/>
                </a:solidFill>
                <a:latin typeface="Calibri"/>
                <a:ea typeface="Calibri"/>
                <a:cs typeface="Calibri"/>
                <a:sym typeface="Calibri"/>
              </a:rPr>
              <a:t>             </a:t>
            </a:r>
            <a:r>
              <a:rPr lang="en-IN" sz="1800" b="0" i="0" u="none" strike="noStrike" cap="none" dirty="0" err="1">
                <a:solidFill>
                  <a:schemeClr val="dk1"/>
                </a:solidFill>
                <a:latin typeface="Calibri"/>
                <a:ea typeface="Calibri"/>
                <a:cs typeface="Calibri"/>
                <a:sym typeface="Calibri"/>
              </a:rPr>
              <a:t>xytext</a:t>
            </a:r>
            <a:r>
              <a:rPr lang="en-IN" sz="1800" b="0" i="0" u="none" strike="noStrike" cap="none" dirty="0">
                <a:solidFill>
                  <a:schemeClr val="dk1"/>
                </a:solidFill>
                <a:latin typeface="Calibri"/>
                <a:ea typeface="Calibri"/>
                <a:cs typeface="Calibri"/>
                <a:sym typeface="Calibri"/>
              </a:rPr>
              <a:t>=(2.5, 9),</a:t>
            </a:r>
            <a:endParaRPr dirty="0"/>
          </a:p>
          <a:p>
            <a:pPr marL="0" marR="0" lvl="0" indent="0" algn="just" rtl="0">
              <a:lnSpc>
                <a:spcPct val="150000"/>
              </a:lnSpc>
              <a:spcBef>
                <a:spcPts val="0"/>
              </a:spcBef>
              <a:spcAft>
                <a:spcPts val="0"/>
              </a:spcAft>
              <a:buNone/>
            </a:pPr>
            <a:r>
              <a:rPr lang="en-IN" sz="1800" b="0" i="0" u="none" strike="noStrike" cap="none" dirty="0">
                <a:solidFill>
                  <a:schemeClr val="dk1"/>
                </a:solidFill>
                <a:latin typeface="Calibri"/>
                <a:ea typeface="Calibri"/>
                <a:cs typeface="Calibri"/>
                <a:sym typeface="Calibri"/>
              </a:rPr>
              <a:t>             </a:t>
            </a:r>
            <a:r>
              <a:rPr lang="en-IN" sz="1800" b="0" i="0" u="none" strike="noStrike" cap="none" dirty="0" err="1">
                <a:solidFill>
                  <a:schemeClr val="dk1"/>
                </a:solidFill>
                <a:latin typeface="Calibri"/>
                <a:ea typeface="Calibri"/>
                <a:cs typeface="Calibri"/>
                <a:sym typeface="Calibri"/>
              </a:rPr>
              <a:t>fontsize</a:t>
            </a:r>
            <a:r>
              <a:rPr lang="en-IN" sz="1800" b="0" i="0" u="none" strike="noStrike" cap="none" dirty="0">
                <a:solidFill>
                  <a:schemeClr val="dk1"/>
                </a:solidFill>
                <a:latin typeface="Calibri"/>
                <a:ea typeface="Calibri"/>
                <a:cs typeface="Calibri"/>
                <a:sym typeface="Calibri"/>
              </a:rPr>
              <a:t>=12, </a:t>
            </a:r>
            <a:r>
              <a:rPr lang="en-IN" sz="1800" b="0" i="0" u="none" strike="noStrike" cap="none" dirty="0" err="1">
                <a:solidFill>
                  <a:schemeClr val="dk1"/>
                </a:solidFill>
                <a:latin typeface="Calibri"/>
                <a:ea typeface="Calibri"/>
                <a:cs typeface="Calibri"/>
                <a:sym typeface="Calibri"/>
              </a:rPr>
              <a:t>color</a:t>
            </a:r>
            <a:r>
              <a:rPr lang="en-IN" sz="1800" b="0" i="0" u="none" strike="noStrike" cap="none" dirty="0">
                <a:solidFill>
                  <a:schemeClr val="dk1"/>
                </a:solidFill>
                <a:latin typeface="Calibri"/>
                <a:ea typeface="Calibri"/>
                <a:cs typeface="Calibri"/>
                <a:sym typeface="Calibri"/>
              </a:rPr>
              <a:t>='red')</a:t>
            </a:r>
            <a:endParaRPr dirty="0"/>
          </a:p>
          <a:p>
            <a:pPr marL="0" marR="0" lvl="0" indent="0" algn="just" rtl="0">
              <a:lnSpc>
                <a:spcPct val="150000"/>
              </a:lnSpc>
              <a:spcBef>
                <a:spcPts val="0"/>
              </a:spcBef>
              <a:spcAft>
                <a:spcPts val="0"/>
              </a:spcAft>
              <a:buNone/>
            </a:pPr>
            <a:r>
              <a:rPr lang="en-IN" sz="1800" b="0" i="0" u="none" strike="noStrike" cap="none" dirty="0" err="1">
                <a:solidFill>
                  <a:schemeClr val="dk1"/>
                </a:solidFill>
                <a:latin typeface="Calibri"/>
                <a:ea typeface="Calibri"/>
                <a:cs typeface="Calibri"/>
                <a:sym typeface="Calibri"/>
              </a:rPr>
              <a:t>plt.show</a:t>
            </a:r>
            <a:r>
              <a:rPr lang="en-IN" sz="1800" b="0" i="0" u="none" strike="noStrike" cap="none" dirty="0">
                <a:solidFill>
                  <a:schemeClr val="dk1"/>
                </a:solidFill>
                <a:latin typeface="Calibri"/>
                <a:ea typeface="Calibri"/>
                <a:cs typeface="Calibri"/>
                <a:sym typeface="Calibri"/>
              </a:rPr>
              <a:t>()</a:t>
            </a:r>
            <a:endParaRPr sz="1800" b="0" i="0" u="none" strike="noStrike" cap="none" dirty="0">
              <a:solidFill>
                <a:schemeClr val="dk1"/>
              </a:solidFill>
              <a:highlight>
                <a:srgbClr val="FFFFFF"/>
              </a:highlight>
              <a:latin typeface="Calibri"/>
              <a:ea typeface="Calibri"/>
              <a:cs typeface="Calibri"/>
              <a:sym typeface="Calibri"/>
            </a:endParaRPr>
          </a:p>
        </p:txBody>
      </p:sp>
      <p:pic>
        <p:nvPicPr>
          <p:cNvPr id="144" name="Google Shape;144;p6"/>
          <p:cNvPicPr preferRelativeResize="0"/>
          <p:nvPr/>
        </p:nvPicPr>
        <p:blipFill rotWithShape="1">
          <a:blip r:embed="rId4">
            <a:alphaModFix/>
          </a:blip>
          <a:srcRect l="6428" t="8250" r="7322" b="3570"/>
          <a:stretch/>
        </p:blipFill>
        <p:spPr>
          <a:xfrm>
            <a:off x="6096000" y="1763486"/>
            <a:ext cx="5336840" cy="4092138"/>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graphicFrame>
        <p:nvGraphicFramePr>
          <p:cNvPr id="149" name="Google Shape;149;p7"/>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50" name="Google Shape;150;p7"/>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7</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51" name="Google Shape;151;p7"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52" name="Google Shape;152;p7"/>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53" name="Google Shape;153;p7"/>
          <p:cNvSpPr txBox="1"/>
          <p:nvPr/>
        </p:nvSpPr>
        <p:spPr>
          <a:xfrm>
            <a:off x="0" y="873851"/>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i="0" u="none" strike="noStrike" cap="none">
                <a:solidFill>
                  <a:schemeClr val="dk1"/>
                </a:solidFill>
                <a:latin typeface="Calibri"/>
                <a:ea typeface="Calibri"/>
                <a:cs typeface="Calibri"/>
                <a:sym typeface="Calibri"/>
              </a:rPr>
              <a:t>Annotation with Arrow</a:t>
            </a:r>
            <a:endParaRPr sz="3600" b="1" i="0" u="none" strike="noStrike" cap="none">
              <a:solidFill>
                <a:schemeClr val="dk1"/>
              </a:solidFill>
              <a:latin typeface="Calibri"/>
              <a:ea typeface="Calibri"/>
              <a:cs typeface="Calibri"/>
              <a:sym typeface="Calibri"/>
            </a:endParaRPr>
          </a:p>
        </p:txBody>
      </p:sp>
      <p:sp>
        <p:nvSpPr>
          <p:cNvPr id="154" name="Google Shape;154;p7"/>
          <p:cNvSpPr txBox="1"/>
          <p:nvPr/>
        </p:nvSpPr>
        <p:spPr>
          <a:xfrm>
            <a:off x="487016" y="1509615"/>
            <a:ext cx="5336841" cy="5035353"/>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IN" sz="1800" b="0" i="0" u="none" strike="noStrike" cap="none" dirty="0">
                <a:solidFill>
                  <a:schemeClr val="dk1"/>
                </a:solidFill>
                <a:latin typeface="Calibri"/>
                <a:ea typeface="Calibri"/>
                <a:cs typeface="Calibri"/>
                <a:sym typeface="Calibri"/>
              </a:rPr>
              <a:t>import </a:t>
            </a:r>
            <a:r>
              <a:rPr lang="en-IN" sz="1800" b="0" i="0" u="none" strike="noStrike" cap="none" dirty="0" err="1">
                <a:solidFill>
                  <a:schemeClr val="dk1"/>
                </a:solidFill>
                <a:latin typeface="Calibri"/>
                <a:ea typeface="Calibri"/>
                <a:cs typeface="Calibri"/>
                <a:sym typeface="Calibri"/>
              </a:rPr>
              <a:t>matplotlib.pyplot</a:t>
            </a:r>
            <a:r>
              <a:rPr lang="en-IN" sz="1800" b="0" i="0" u="none" strike="noStrike" cap="none" dirty="0">
                <a:solidFill>
                  <a:schemeClr val="dk1"/>
                </a:solidFill>
                <a:latin typeface="Calibri"/>
                <a:ea typeface="Calibri"/>
                <a:cs typeface="Calibri"/>
                <a:sym typeface="Calibri"/>
              </a:rPr>
              <a:t> as </a:t>
            </a:r>
            <a:r>
              <a:rPr lang="en-IN" sz="1800" b="0" i="0" u="none" strike="noStrike" cap="none" dirty="0" err="1">
                <a:solidFill>
                  <a:schemeClr val="dk1"/>
                </a:solidFill>
                <a:latin typeface="Calibri"/>
                <a:ea typeface="Calibri"/>
                <a:cs typeface="Calibri"/>
                <a:sym typeface="Calibri"/>
              </a:rPr>
              <a:t>plt</a:t>
            </a:r>
            <a:r>
              <a:rPr lang="en-IN" sz="1800" b="0" i="0" u="none" strike="noStrike" cap="none" dirty="0">
                <a:solidFill>
                  <a:schemeClr val="dk1"/>
                </a:solidFill>
                <a:latin typeface="Calibri"/>
                <a:ea typeface="Calibri"/>
                <a:cs typeface="Calibri"/>
                <a:sym typeface="Calibri"/>
              </a:rPr>
              <a:t> </a:t>
            </a:r>
            <a:endParaRPr dirty="0"/>
          </a:p>
          <a:p>
            <a:pPr marL="0" marR="0" lvl="0" indent="0" algn="just" rtl="0">
              <a:lnSpc>
                <a:spcPct val="150000"/>
              </a:lnSpc>
              <a:spcBef>
                <a:spcPts val="0"/>
              </a:spcBef>
              <a:spcAft>
                <a:spcPts val="0"/>
              </a:spcAft>
              <a:buNone/>
            </a:pPr>
            <a:r>
              <a:rPr lang="en-IN" sz="1800" b="0" i="0" u="none" strike="noStrike" cap="none" dirty="0">
                <a:solidFill>
                  <a:schemeClr val="dk1"/>
                </a:solidFill>
                <a:latin typeface="Calibri"/>
                <a:ea typeface="Calibri"/>
                <a:cs typeface="Calibri"/>
                <a:sym typeface="Calibri"/>
              </a:rPr>
              <a:t>x = [1, 2, 3, 4, 5] </a:t>
            </a:r>
            <a:endParaRPr dirty="0"/>
          </a:p>
          <a:p>
            <a:pPr marL="0" marR="0" lvl="0" indent="0" algn="just" rtl="0">
              <a:lnSpc>
                <a:spcPct val="150000"/>
              </a:lnSpc>
              <a:spcBef>
                <a:spcPts val="0"/>
              </a:spcBef>
              <a:spcAft>
                <a:spcPts val="0"/>
              </a:spcAft>
              <a:buNone/>
            </a:pPr>
            <a:r>
              <a:rPr lang="en-IN" sz="1800" b="0" i="0" u="none" strike="noStrike" cap="none" dirty="0">
                <a:solidFill>
                  <a:schemeClr val="dk1"/>
                </a:solidFill>
                <a:latin typeface="Calibri"/>
                <a:ea typeface="Calibri"/>
                <a:cs typeface="Calibri"/>
                <a:sym typeface="Calibri"/>
              </a:rPr>
              <a:t>y = [2, 3, 5, 7, 11] </a:t>
            </a:r>
            <a:endParaRPr dirty="0"/>
          </a:p>
          <a:p>
            <a:pPr marL="0" marR="0" lvl="0" indent="0" algn="just" rtl="0">
              <a:lnSpc>
                <a:spcPct val="150000"/>
              </a:lnSpc>
              <a:spcBef>
                <a:spcPts val="0"/>
              </a:spcBef>
              <a:spcAft>
                <a:spcPts val="0"/>
              </a:spcAft>
              <a:buNone/>
            </a:pPr>
            <a:r>
              <a:rPr lang="en-IN" sz="1800" b="0" i="0" u="none" strike="noStrike" cap="none" dirty="0" err="1">
                <a:solidFill>
                  <a:schemeClr val="dk1"/>
                </a:solidFill>
                <a:latin typeface="Calibri"/>
                <a:ea typeface="Calibri"/>
                <a:cs typeface="Calibri"/>
                <a:sym typeface="Calibri"/>
              </a:rPr>
              <a:t>plt.plot</a:t>
            </a:r>
            <a:r>
              <a:rPr lang="en-IN" sz="1800" b="0" i="0" u="none" strike="noStrike" cap="none" dirty="0">
                <a:solidFill>
                  <a:schemeClr val="dk1"/>
                </a:solidFill>
                <a:latin typeface="Calibri"/>
                <a:ea typeface="Calibri"/>
                <a:cs typeface="Calibri"/>
                <a:sym typeface="Calibri"/>
              </a:rPr>
              <a:t>(x, y, marker='o', </a:t>
            </a:r>
            <a:r>
              <a:rPr lang="en-IN" sz="1800" b="0" i="0" u="none" strike="noStrike" cap="none" dirty="0" err="1">
                <a:solidFill>
                  <a:schemeClr val="dk1"/>
                </a:solidFill>
                <a:latin typeface="Calibri"/>
                <a:ea typeface="Calibri"/>
                <a:cs typeface="Calibri"/>
                <a:sym typeface="Calibri"/>
              </a:rPr>
              <a:t>linestyle</a:t>
            </a:r>
            <a:r>
              <a:rPr lang="en-IN" sz="1800" b="0" i="0" u="none" strike="noStrike" cap="none" dirty="0">
                <a:solidFill>
                  <a:schemeClr val="dk1"/>
                </a:solidFill>
                <a:latin typeface="Calibri"/>
                <a:ea typeface="Calibri"/>
                <a:cs typeface="Calibri"/>
                <a:sym typeface="Calibri"/>
              </a:rPr>
              <a:t>='-', </a:t>
            </a:r>
            <a:r>
              <a:rPr lang="en-IN" sz="1800" b="0" i="0" u="none" strike="noStrike" cap="none" dirty="0" err="1">
                <a:solidFill>
                  <a:schemeClr val="dk1"/>
                </a:solidFill>
                <a:latin typeface="Calibri"/>
                <a:ea typeface="Calibri"/>
                <a:cs typeface="Calibri"/>
                <a:sym typeface="Calibri"/>
              </a:rPr>
              <a:t>color</a:t>
            </a:r>
            <a:r>
              <a:rPr lang="en-IN" sz="1800" b="0" i="0" u="none" strike="noStrike" cap="none" dirty="0">
                <a:solidFill>
                  <a:schemeClr val="dk1"/>
                </a:solidFill>
                <a:latin typeface="Calibri"/>
                <a:ea typeface="Calibri"/>
                <a:cs typeface="Calibri"/>
                <a:sym typeface="Calibri"/>
              </a:rPr>
              <a:t>='blue’) </a:t>
            </a:r>
            <a:endParaRPr dirty="0"/>
          </a:p>
          <a:p>
            <a:pPr marL="0" marR="0" lvl="0" indent="0" algn="just" rtl="0">
              <a:lnSpc>
                <a:spcPct val="150000"/>
              </a:lnSpc>
              <a:spcBef>
                <a:spcPts val="0"/>
              </a:spcBef>
              <a:spcAft>
                <a:spcPts val="0"/>
              </a:spcAft>
              <a:buNone/>
            </a:pPr>
            <a:r>
              <a:rPr lang="en-IN" sz="1800" b="0" i="0" u="none" strike="noStrike" cap="none" dirty="0" err="1">
                <a:solidFill>
                  <a:schemeClr val="dk1"/>
                </a:solidFill>
                <a:latin typeface="Calibri"/>
                <a:ea typeface="Calibri"/>
                <a:cs typeface="Calibri"/>
                <a:sym typeface="Calibri"/>
              </a:rPr>
              <a:t>plt.annotate</a:t>
            </a:r>
            <a:r>
              <a:rPr lang="en-IN" sz="1800" b="0" i="0" u="none" strike="noStrike" cap="none" dirty="0">
                <a:solidFill>
                  <a:schemeClr val="dk1"/>
                </a:solidFill>
                <a:latin typeface="Calibri"/>
                <a:ea typeface="Calibri"/>
                <a:cs typeface="Calibri"/>
                <a:sym typeface="Calibri"/>
              </a:rPr>
              <a:t>('Peak', </a:t>
            </a:r>
            <a:r>
              <a:rPr lang="en-IN" sz="1800" b="0" i="0" u="none" strike="noStrike" cap="none" dirty="0" err="1">
                <a:solidFill>
                  <a:schemeClr val="dk1"/>
                </a:solidFill>
                <a:latin typeface="Calibri"/>
                <a:ea typeface="Calibri"/>
                <a:cs typeface="Calibri"/>
                <a:sym typeface="Calibri"/>
              </a:rPr>
              <a:t>xy</a:t>
            </a:r>
            <a:r>
              <a:rPr lang="en-IN" sz="1800" b="0" i="0" u="none" strike="noStrike" cap="none" dirty="0">
                <a:solidFill>
                  <a:schemeClr val="dk1"/>
                </a:solidFill>
                <a:latin typeface="Calibri"/>
                <a:ea typeface="Calibri"/>
                <a:cs typeface="Calibri"/>
                <a:sym typeface="Calibri"/>
              </a:rPr>
              <a:t>=(3, 5), </a:t>
            </a:r>
            <a:r>
              <a:rPr lang="en-IN" sz="1800" b="0" i="0" u="none" strike="noStrike" cap="none" dirty="0" err="1">
                <a:solidFill>
                  <a:schemeClr val="dk1"/>
                </a:solidFill>
                <a:latin typeface="Calibri"/>
                <a:ea typeface="Calibri"/>
                <a:cs typeface="Calibri"/>
                <a:sym typeface="Calibri"/>
              </a:rPr>
              <a:t>xytext</a:t>
            </a:r>
            <a:r>
              <a:rPr lang="en-IN" sz="1800" b="0" i="0" u="none" strike="noStrike" cap="none" dirty="0">
                <a:solidFill>
                  <a:schemeClr val="dk1"/>
                </a:solidFill>
                <a:latin typeface="Calibri"/>
                <a:ea typeface="Calibri"/>
                <a:cs typeface="Calibri"/>
                <a:sym typeface="Calibri"/>
              </a:rPr>
              <a:t>=(3.5, 6), </a:t>
            </a:r>
            <a:r>
              <a:rPr lang="en-IN" sz="1800" b="0" i="0" u="none" strike="noStrike" cap="none" dirty="0" err="1">
                <a:solidFill>
                  <a:schemeClr val="dk1"/>
                </a:solidFill>
                <a:latin typeface="Calibri"/>
                <a:ea typeface="Calibri"/>
                <a:cs typeface="Calibri"/>
                <a:sym typeface="Calibri"/>
              </a:rPr>
              <a:t>arrowprops</a:t>
            </a:r>
            <a:r>
              <a:rPr lang="en-IN" sz="1800" b="0" i="0" u="none" strike="noStrike" cap="none" dirty="0">
                <a:solidFill>
                  <a:schemeClr val="dk1"/>
                </a:solidFill>
                <a:latin typeface="Calibri"/>
                <a:ea typeface="Calibri"/>
                <a:cs typeface="Calibri"/>
                <a:sym typeface="Calibri"/>
              </a:rPr>
              <a:t>=</a:t>
            </a:r>
            <a:r>
              <a:rPr lang="en-IN" sz="1800" b="0" i="0" u="none" strike="noStrike" cap="none" dirty="0" err="1">
                <a:solidFill>
                  <a:schemeClr val="dk1"/>
                </a:solidFill>
                <a:latin typeface="Calibri"/>
                <a:ea typeface="Calibri"/>
                <a:cs typeface="Calibri"/>
                <a:sym typeface="Calibri"/>
              </a:rPr>
              <a:t>dict</a:t>
            </a:r>
            <a:r>
              <a:rPr lang="en-IN" sz="1800" b="0" i="0" u="none" strike="noStrike" cap="none" dirty="0">
                <a:solidFill>
                  <a:schemeClr val="dk1"/>
                </a:solidFill>
                <a:latin typeface="Calibri"/>
                <a:ea typeface="Calibri"/>
                <a:cs typeface="Calibri"/>
                <a:sym typeface="Calibri"/>
              </a:rPr>
              <a:t>(</a:t>
            </a:r>
            <a:r>
              <a:rPr lang="en-IN" sz="1800" b="0" i="0" u="none" strike="noStrike" cap="none" dirty="0" err="1">
                <a:solidFill>
                  <a:schemeClr val="dk1"/>
                </a:solidFill>
                <a:latin typeface="Calibri"/>
                <a:ea typeface="Calibri"/>
                <a:cs typeface="Calibri"/>
                <a:sym typeface="Calibri"/>
              </a:rPr>
              <a:t>facecolor</a:t>
            </a:r>
            <a:r>
              <a:rPr lang="en-IN" sz="1800" b="0" i="0" u="none" strike="noStrike" cap="none" dirty="0">
                <a:solidFill>
                  <a:schemeClr val="dk1"/>
                </a:solidFill>
                <a:latin typeface="Calibri"/>
                <a:ea typeface="Calibri"/>
                <a:cs typeface="Calibri"/>
                <a:sym typeface="Calibri"/>
              </a:rPr>
              <a:t>='black', </a:t>
            </a:r>
            <a:r>
              <a:rPr lang="en-IN" sz="1800" b="0" i="0" u="none" strike="noStrike" cap="none" dirty="0" err="1">
                <a:solidFill>
                  <a:schemeClr val="dk1"/>
                </a:solidFill>
                <a:latin typeface="Calibri"/>
                <a:ea typeface="Calibri"/>
                <a:cs typeface="Calibri"/>
                <a:sym typeface="Calibri"/>
              </a:rPr>
              <a:t>arrowstyle</a:t>
            </a:r>
            <a:r>
              <a:rPr lang="en-IN" sz="1800" b="0" i="0" u="none" strike="noStrike" cap="none" dirty="0">
                <a:solidFill>
                  <a:schemeClr val="dk1"/>
                </a:solidFill>
                <a:latin typeface="Calibri"/>
                <a:ea typeface="Calibri"/>
                <a:cs typeface="Calibri"/>
                <a:sym typeface="Calibri"/>
              </a:rPr>
              <a:t>='-&gt;'), </a:t>
            </a:r>
            <a:r>
              <a:rPr lang="en-IN" sz="1800" b="0" i="0" u="none" strike="noStrike" cap="none" dirty="0" err="1">
                <a:solidFill>
                  <a:schemeClr val="dk1"/>
                </a:solidFill>
                <a:latin typeface="Calibri"/>
                <a:ea typeface="Calibri"/>
                <a:cs typeface="Calibri"/>
                <a:sym typeface="Calibri"/>
              </a:rPr>
              <a:t>fontsize</a:t>
            </a:r>
            <a:r>
              <a:rPr lang="en-IN" sz="1800" b="0" i="0" u="none" strike="noStrike" cap="none" dirty="0">
                <a:solidFill>
                  <a:schemeClr val="dk1"/>
                </a:solidFill>
                <a:latin typeface="Calibri"/>
                <a:ea typeface="Calibri"/>
                <a:cs typeface="Calibri"/>
                <a:sym typeface="Calibri"/>
              </a:rPr>
              <a:t>=10) </a:t>
            </a:r>
            <a:endParaRPr dirty="0"/>
          </a:p>
          <a:p>
            <a:pPr marL="0" marR="0" lvl="0" indent="0" algn="just" rtl="0">
              <a:lnSpc>
                <a:spcPct val="150000"/>
              </a:lnSpc>
              <a:spcBef>
                <a:spcPts val="0"/>
              </a:spcBef>
              <a:spcAft>
                <a:spcPts val="0"/>
              </a:spcAft>
              <a:buNone/>
            </a:pPr>
            <a:r>
              <a:rPr lang="en-IN" sz="1800" b="0" i="0" u="none" strike="noStrike" cap="none" dirty="0" err="1">
                <a:solidFill>
                  <a:schemeClr val="dk1"/>
                </a:solidFill>
                <a:latin typeface="Calibri"/>
                <a:ea typeface="Calibri"/>
                <a:cs typeface="Calibri"/>
                <a:sym typeface="Calibri"/>
              </a:rPr>
              <a:t>plt.xlabel</a:t>
            </a:r>
            <a:r>
              <a:rPr lang="en-IN" sz="1800" b="0" i="0" u="none" strike="noStrike" cap="none" dirty="0">
                <a:solidFill>
                  <a:schemeClr val="dk1"/>
                </a:solidFill>
                <a:latin typeface="Calibri"/>
                <a:ea typeface="Calibri"/>
                <a:cs typeface="Calibri"/>
                <a:sym typeface="Calibri"/>
              </a:rPr>
              <a:t>('X-axis’) </a:t>
            </a:r>
            <a:endParaRPr dirty="0"/>
          </a:p>
          <a:p>
            <a:pPr marL="0" marR="0" lvl="0" indent="0" algn="just" rtl="0">
              <a:lnSpc>
                <a:spcPct val="150000"/>
              </a:lnSpc>
              <a:spcBef>
                <a:spcPts val="0"/>
              </a:spcBef>
              <a:spcAft>
                <a:spcPts val="0"/>
              </a:spcAft>
              <a:buNone/>
            </a:pPr>
            <a:r>
              <a:rPr lang="en-IN" sz="1800" b="0" i="0" u="none" strike="noStrike" cap="none" dirty="0" err="1">
                <a:solidFill>
                  <a:schemeClr val="dk1"/>
                </a:solidFill>
                <a:latin typeface="Calibri"/>
                <a:ea typeface="Calibri"/>
                <a:cs typeface="Calibri"/>
                <a:sym typeface="Calibri"/>
              </a:rPr>
              <a:t>plt.ylabel</a:t>
            </a:r>
            <a:r>
              <a:rPr lang="en-IN" sz="1800" b="0" i="0" u="none" strike="noStrike" cap="none" dirty="0">
                <a:solidFill>
                  <a:schemeClr val="dk1"/>
                </a:solidFill>
                <a:latin typeface="Calibri"/>
                <a:ea typeface="Calibri"/>
                <a:cs typeface="Calibri"/>
                <a:sym typeface="Calibri"/>
              </a:rPr>
              <a:t>('Y-axis’) </a:t>
            </a:r>
            <a:endParaRPr dirty="0"/>
          </a:p>
          <a:p>
            <a:pPr marL="0" marR="0" lvl="0" indent="0" algn="just" rtl="0">
              <a:lnSpc>
                <a:spcPct val="150000"/>
              </a:lnSpc>
              <a:spcBef>
                <a:spcPts val="0"/>
              </a:spcBef>
              <a:spcAft>
                <a:spcPts val="0"/>
              </a:spcAft>
              <a:buNone/>
            </a:pPr>
            <a:r>
              <a:rPr lang="en-IN" sz="1800" b="0" i="0" u="none" strike="noStrike" cap="none" dirty="0" err="1">
                <a:solidFill>
                  <a:schemeClr val="dk1"/>
                </a:solidFill>
                <a:latin typeface="Calibri"/>
                <a:ea typeface="Calibri"/>
                <a:cs typeface="Calibri"/>
                <a:sym typeface="Calibri"/>
              </a:rPr>
              <a:t>plt.title</a:t>
            </a:r>
            <a:r>
              <a:rPr lang="en-IN" sz="1800" b="0" i="0" u="none" strike="noStrike" cap="none" dirty="0">
                <a:solidFill>
                  <a:schemeClr val="dk1"/>
                </a:solidFill>
                <a:latin typeface="Calibri"/>
                <a:ea typeface="Calibri"/>
                <a:cs typeface="Calibri"/>
                <a:sym typeface="Calibri"/>
              </a:rPr>
              <a:t>('Annotated Plot’) </a:t>
            </a:r>
            <a:endParaRPr dirty="0"/>
          </a:p>
          <a:p>
            <a:pPr marL="0" marR="0" lvl="0" indent="0" algn="just" rtl="0">
              <a:lnSpc>
                <a:spcPct val="150000"/>
              </a:lnSpc>
              <a:spcBef>
                <a:spcPts val="0"/>
              </a:spcBef>
              <a:spcAft>
                <a:spcPts val="0"/>
              </a:spcAft>
              <a:buNone/>
            </a:pPr>
            <a:r>
              <a:rPr lang="en-IN" sz="1800" b="0" i="0" u="none" strike="noStrike" cap="none" dirty="0" err="1">
                <a:solidFill>
                  <a:schemeClr val="dk1"/>
                </a:solidFill>
                <a:latin typeface="Calibri"/>
                <a:ea typeface="Calibri"/>
                <a:cs typeface="Calibri"/>
                <a:sym typeface="Calibri"/>
              </a:rPr>
              <a:t>plt.grid</a:t>
            </a:r>
            <a:r>
              <a:rPr lang="en-IN" sz="1800" b="0" i="0" u="none" strike="noStrike" cap="none" dirty="0">
                <a:solidFill>
                  <a:schemeClr val="dk1"/>
                </a:solidFill>
                <a:latin typeface="Calibri"/>
                <a:ea typeface="Calibri"/>
                <a:cs typeface="Calibri"/>
                <a:sym typeface="Calibri"/>
              </a:rPr>
              <a:t>(True) </a:t>
            </a:r>
            <a:endParaRPr dirty="0"/>
          </a:p>
          <a:p>
            <a:pPr marL="0" marR="0" lvl="0" indent="0" algn="just" rtl="0">
              <a:lnSpc>
                <a:spcPct val="150000"/>
              </a:lnSpc>
              <a:spcBef>
                <a:spcPts val="0"/>
              </a:spcBef>
              <a:spcAft>
                <a:spcPts val="0"/>
              </a:spcAft>
              <a:buNone/>
            </a:pPr>
            <a:r>
              <a:rPr lang="en-IN" sz="1800" b="0" i="0" u="none" strike="noStrike" cap="none" dirty="0" err="1">
                <a:solidFill>
                  <a:schemeClr val="dk1"/>
                </a:solidFill>
                <a:latin typeface="Calibri"/>
                <a:ea typeface="Calibri"/>
                <a:cs typeface="Calibri"/>
                <a:sym typeface="Calibri"/>
              </a:rPr>
              <a:t>plt.show</a:t>
            </a:r>
            <a:r>
              <a:rPr lang="en-IN" sz="1800" b="0" i="0" u="none" strike="noStrike" cap="none" dirty="0">
                <a:solidFill>
                  <a:schemeClr val="dk1"/>
                </a:solidFill>
                <a:latin typeface="Calibri"/>
                <a:ea typeface="Calibri"/>
                <a:cs typeface="Calibri"/>
                <a:sym typeface="Calibri"/>
              </a:rPr>
              <a:t>()</a:t>
            </a:r>
            <a:endParaRPr sz="1800" b="0" i="0" u="none" strike="noStrike" cap="none" dirty="0">
              <a:solidFill>
                <a:schemeClr val="dk1"/>
              </a:solidFill>
              <a:highlight>
                <a:srgbClr val="FFFFFF"/>
              </a:highlight>
              <a:latin typeface="Calibri"/>
              <a:ea typeface="Calibri"/>
              <a:cs typeface="Calibri"/>
              <a:sym typeface="Calibri"/>
            </a:endParaRPr>
          </a:p>
        </p:txBody>
      </p:sp>
      <p:pic>
        <p:nvPicPr>
          <p:cNvPr id="155" name="Google Shape;155;p7"/>
          <p:cNvPicPr preferRelativeResize="0"/>
          <p:nvPr/>
        </p:nvPicPr>
        <p:blipFill rotWithShape="1">
          <a:blip r:embed="rId4">
            <a:alphaModFix/>
          </a:blip>
          <a:srcRect l="3750" t="5476" r="8572"/>
          <a:stretch/>
        </p:blipFill>
        <p:spPr>
          <a:xfrm>
            <a:off x="6542314" y="1520181"/>
            <a:ext cx="5467470" cy="442074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graphicFrame>
        <p:nvGraphicFramePr>
          <p:cNvPr id="160" name="Google Shape;160;p8"/>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61" name="Google Shape;161;p8"/>
          <p:cNvGraphicFramePr/>
          <p:nvPr/>
        </p:nvGraphicFramePr>
        <p:xfrm>
          <a:off x="1" y="6471916"/>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8</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62" name="Google Shape;162;p8"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63" name="Google Shape;163;p8"/>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4" name="Google Shape;164;p8"/>
          <p:cNvSpPr txBox="1"/>
          <p:nvPr/>
        </p:nvSpPr>
        <p:spPr>
          <a:xfrm>
            <a:off x="0" y="873851"/>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i="0" u="none" strike="noStrike" cap="none">
                <a:solidFill>
                  <a:schemeClr val="dk1"/>
                </a:solidFill>
                <a:latin typeface="Calibri"/>
                <a:ea typeface="Calibri"/>
                <a:cs typeface="Calibri"/>
                <a:sym typeface="Calibri"/>
              </a:rPr>
              <a:t>Annotation with different Arrow Styles</a:t>
            </a:r>
            <a:endParaRPr sz="3600" b="1" i="0" u="none" strike="noStrike" cap="none">
              <a:solidFill>
                <a:schemeClr val="dk1"/>
              </a:solidFill>
              <a:latin typeface="Calibri"/>
              <a:ea typeface="Calibri"/>
              <a:cs typeface="Calibri"/>
              <a:sym typeface="Calibri"/>
            </a:endParaRPr>
          </a:p>
        </p:txBody>
      </p:sp>
      <p:sp>
        <p:nvSpPr>
          <p:cNvPr id="165" name="Google Shape;165;p8"/>
          <p:cNvSpPr txBox="1"/>
          <p:nvPr/>
        </p:nvSpPr>
        <p:spPr>
          <a:xfrm>
            <a:off x="487016" y="1509615"/>
            <a:ext cx="6055297" cy="4619854"/>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IN" sz="1800" b="0" i="0" u="none" strike="noStrike" cap="none" dirty="0">
                <a:solidFill>
                  <a:schemeClr val="dk1"/>
                </a:solidFill>
                <a:latin typeface="Calibri"/>
                <a:ea typeface="Calibri"/>
                <a:cs typeface="Calibri"/>
                <a:sym typeface="Calibri"/>
              </a:rPr>
              <a:t>import </a:t>
            </a:r>
            <a:r>
              <a:rPr lang="en-IN" sz="1800" b="0" i="0" u="none" strike="noStrike" cap="none" dirty="0" err="1">
                <a:solidFill>
                  <a:schemeClr val="dk1"/>
                </a:solidFill>
                <a:latin typeface="Calibri"/>
                <a:ea typeface="Calibri"/>
                <a:cs typeface="Calibri"/>
                <a:sym typeface="Calibri"/>
              </a:rPr>
              <a:t>matplotlib.pyplot</a:t>
            </a:r>
            <a:r>
              <a:rPr lang="en-IN" sz="1800" b="0" i="0" u="none" strike="noStrike" cap="none" dirty="0">
                <a:solidFill>
                  <a:schemeClr val="dk1"/>
                </a:solidFill>
                <a:latin typeface="Calibri"/>
                <a:ea typeface="Calibri"/>
                <a:cs typeface="Calibri"/>
                <a:sym typeface="Calibri"/>
              </a:rPr>
              <a:t> as </a:t>
            </a:r>
            <a:r>
              <a:rPr lang="en-IN" sz="1800" b="0" i="0" u="none" strike="noStrike" cap="none" dirty="0" err="1">
                <a:solidFill>
                  <a:schemeClr val="dk1"/>
                </a:solidFill>
                <a:latin typeface="Calibri"/>
                <a:ea typeface="Calibri"/>
                <a:cs typeface="Calibri"/>
                <a:sym typeface="Calibri"/>
              </a:rPr>
              <a:t>plt</a:t>
            </a:r>
            <a:endParaRPr sz="1800" b="0" i="0" u="none" strike="noStrike" cap="none"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en-IN" sz="1800" b="0" i="0" u="none" strike="noStrike" cap="none" dirty="0">
                <a:solidFill>
                  <a:schemeClr val="dk1"/>
                </a:solidFill>
                <a:latin typeface="Calibri"/>
                <a:ea typeface="Calibri"/>
                <a:cs typeface="Calibri"/>
                <a:sym typeface="Calibri"/>
              </a:rPr>
              <a:t>x = [1, 2, 3, 4, 5]</a:t>
            </a:r>
            <a:endParaRPr dirty="0"/>
          </a:p>
          <a:p>
            <a:pPr marL="0" marR="0" lvl="0" indent="0" algn="just" rtl="0">
              <a:lnSpc>
                <a:spcPct val="150000"/>
              </a:lnSpc>
              <a:spcBef>
                <a:spcPts val="0"/>
              </a:spcBef>
              <a:spcAft>
                <a:spcPts val="0"/>
              </a:spcAft>
              <a:buNone/>
            </a:pPr>
            <a:r>
              <a:rPr lang="en-IN" sz="1800" b="0" i="0" u="none" strike="noStrike" cap="none" dirty="0">
                <a:solidFill>
                  <a:schemeClr val="dk1"/>
                </a:solidFill>
                <a:latin typeface="Calibri"/>
                <a:ea typeface="Calibri"/>
                <a:cs typeface="Calibri"/>
                <a:sym typeface="Calibri"/>
              </a:rPr>
              <a:t>y = [2, 4, 6, 8, 10]</a:t>
            </a:r>
            <a:endParaRPr dirty="0"/>
          </a:p>
          <a:p>
            <a:pPr marL="0" marR="0" lvl="0" indent="0" algn="just" rtl="0">
              <a:lnSpc>
                <a:spcPct val="150000"/>
              </a:lnSpc>
              <a:spcBef>
                <a:spcPts val="0"/>
              </a:spcBef>
              <a:spcAft>
                <a:spcPts val="0"/>
              </a:spcAft>
              <a:buNone/>
            </a:pPr>
            <a:r>
              <a:rPr lang="en-IN" sz="1800" b="0" i="0" u="none" strike="noStrike" cap="none" dirty="0" err="1">
                <a:solidFill>
                  <a:schemeClr val="dk1"/>
                </a:solidFill>
                <a:latin typeface="Calibri"/>
                <a:ea typeface="Calibri"/>
                <a:cs typeface="Calibri"/>
                <a:sym typeface="Calibri"/>
              </a:rPr>
              <a:t>plt.plot</a:t>
            </a:r>
            <a:r>
              <a:rPr lang="en-IN" sz="1800" b="0" i="0" u="none" strike="noStrike" cap="none" dirty="0">
                <a:solidFill>
                  <a:schemeClr val="dk1"/>
                </a:solidFill>
                <a:latin typeface="Calibri"/>
                <a:ea typeface="Calibri"/>
                <a:cs typeface="Calibri"/>
                <a:sym typeface="Calibri"/>
              </a:rPr>
              <a:t>(x, y, marker='o')</a:t>
            </a:r>
            <a:endParaRPr dirty="0"/>
          </a:p>
          <a:p>
            <a:pPr marL="0" marR="0" lvl="0" indent="0" algn="just" rtl="0">
              <a:lnSpc>
                <a:spcPct val="150000"/>
              </a:lnSpc>
              <a:spcBef>
                <a:spcPts val="0"/>
              </a:spcBef>
              <a:spcAft>
                <a:spcPts val="0"/>
              </a:spcAft>
              <a:buNone/>
            </a:pPr>
            <a:r>
              <a:rPr lang="en-IN" sz="1800" b="0" i="0" u="none" strike="noStrike" cap="none" dirty="0" err="1">
                <a:solidFill>
                  <a:schemeClr val="dk1"/>
                </a:solidFill>
                <a:latin typeface="Calibri"/>
                <a:ea typeface="Calibri"/>
                <a:cs typeface="Calibri"/>
                <a:sym typeface="Calibri"/>
              </a:rPr>
              <a:t>plt.annotate</a:t>
            </a:r>
            <a:r>
              <a:rPr lang="en-IN" sz="1800" b="0" i="0" u="none" strike="noStrike" cap="none" dirty="0">
                <a:solidFill>
                  <a:schemeClr val="dk1"/>
                </a:solidFill>
                <a:latin typeface="Calibri"/>
                <a:ea typeface="Calibri"/>
                <a:cs typeface="Calibri"/>
                <a:sym typeface="Calibri"/>
              </a:rPr>
              <a:t>('Fancy Arrow', </a:t>
            </a:r>
            <a:endParaRPr dirty="0"/>
          </a:p>
          <a:p>
            <a:pPr marL="0" marR="0" lvl="0" indent="0" algn="just" rtl="0">
              <a:lnSpc>
                <a:spcPct val="150000"/>
              </a:lnSpc>
              <a:spcBef>
                <a:spcPts val="0"/>
              </a:spcBef>
              <a:spcAft>
                <a:spcPts val="0"/>
              </a:spcAft>
              <a:buNone/>
            </a:pPr>
            <a:r>
              <a:rPr lang="en-IN" sz="1800" b="0" i="0" u="none" strike="noStrike" cap="none" dirty="0">
                <a:solidFill>
                  <a:schemeClr val="dk1"/>
                </a:solidFill>
                <a:latin typeface="Calibri"/>
                <a:ea typeface="Calibri"/>
                <a:cs typeface="Calibri"/>
                <a:sym typeface="Calibri"/>
              </a:rPr>
              <a:t>             </a:t>
            </a:r>
            <a:r>
              <a:rPr lang="en-IN" sz="1800" b="0" i="0" u="none" strike="noStrike" cap="none" dirty="0" err="1">
                <a:solidFill>
                  <a:schemeClr val="dk1"/>
                </a:solidFill>
                <a:latin typeface="Calibri"/>
                <a:ea typeface="Calibri"/>
                <a:cs typeface="Calibri"/>
                <a:sym typeface="Calibri"/>
              </a:rPr>
              <a:t>xy</a:t>
            </a:r>
            <a:r>
              <a:rPr lang="en-IN" sz="1800" b="0" i="0" u="none" strike="noStrike" cap="none" dirty="0">
                <a:solidFill>
                  <a:schemeClr val="dk1"/>
                </a:solidFill>
                <a:latin typeface="Calibri"/>
                <a:ea typeface="Calibri"/>
                <a:cs typeface="Calibri"/>
                <a:sym typeface="Calibri"/>
              </a:rPr>
              <a:t>=(2, 4),  </a:t>
            </a:r>
            <a:r>
              <a:rPr lang="en-IN" sz="1800" b="0" i="0" u="none" strike="noStrike" cap="none" dirty="0" err="1">
                <a:solidFill>
                  <a:schemeClr val="dk1"/>
                </a:solidFill>
                <a:latin typeface="Calibri"/>
                <a:ea typeface="Calibri"/>
                <a:cs typeface="Calibri"/>
                <a:sym typeface="Calibri"/>
              </a:rPr>
              <a:t>xytext</a:t>
            </a:r>
            <a:r>
              <a:rPr lang="en-IN" sz="1800" b="0" i="0" u="none" strike="noStrike" cap="none" dirty="0">
                <a:solidFill>
                  <a:schemeClr val="dk1"/>
                </a:solidFill>
                <a:latin typeface="Calibri"/>
                <a:ea typeface="Calibri"/>
                <a:cs typeface="Calibri"/>
                <a:sym typeface="Calibri"/>
              </a:rPr>
              <a:t>=(1.5, 5),</a:t>
            </a:r>
            <a:endParaRPr dirty="0"/>
          </a:p>
          <a:p>
            <a:pPr marL="0" marR="0" lvl="0" indent="0" algn="just" rtl="0">
              <a:lnSpc>
                <a:spcPct val="150000"/>
              </a:lnSpc>
              <a:spcBef>
                <a:spcPts val="0"/>
              </a:spcBef>
              <a:spcAft>
                <a:spcPts val="0"/>
              </a:spcAft>
              <a:buNone/>
            </a:pPr>
            <a:r>
              <a:rPr lang="en-IN" sz="1800" b="0" i="0" u="none" strike="noStrike" cap="none" dirty="0">
                <a:solidFill>
                  <a:schemeClr val="dk1"/>
                </a:solidFill>
                <a:latin typeface="Calibri"/>
                <a:ea typeface="Calibri"/>
                <a:cs typeface="Calibri"/>
                <a:sym typeface="Calibri"/>
              </a:rPr>
              <a:t>             </a:t>
            </a:r>
            <a:r>
              <a:rPr lang="en-IN" sz="1800" b="0" i="0" u="none" strike="noStrike" cap="none" dirty="0" err="1">
                <a:solidFill>
                  <a:schemeClr val="dk1"/>
                </a:solidFill>
                <a:latin typeface="Calibri"/>
                <a:ea typeface="Calibri"/>
                <a:cs typeface="Calibri"/>
                <a:sym typeface="Calibri"/>
              </a:rPr>
              <a:t>arrowprops</a:t>
            </a:r>
            <a:r>
              <a:rPr lang="en-IN" sz="1800" b="0" i="0" u="none" strike="noStrike" cap="none" dirty="0">
                <a:solidFill>
                  <a:schemeClr val="dk1"/>
                </a:solidFill>
                <a:latin typeface="Calibri"/>
                <a:ea typeface="Calibri"/>
                <a:cs typeface="Calibri"/>
                <a:sym typeface="Calibri"/>
              </a:rPr>
              <a:t>=</a:t>
            </a:r>
            <a:r>
              <a:rPr lang="en-IN" sz="1800" b="0" i="0" u="none" strike="noStrike" cap="none" dirty="0" err="1">
                <a:solidFill>
                  <a:schemeClr val="dk1"/>
                </a:solidFill>
                <a:latin typeface="Calibri"/>
                <a:ea typeface="Calibri"/>
                <a:cs typeface="Calibri"/>
                <a:sym typeface="Calibri"/>
              </a:rPr>
              <a:t>dict</a:t>
            </a:r>
            <a:r>
              <a:rPr lang="en-IN" sz="1800" b="0" i="0" u="none" strike="noStrike" cap="none" dirty="0">
                <a:solidFill>
                  <a:schemeClr val="dk1"/>
                </a:solidFill>
                <a:latin typeface="Calibri"/>
                <a:ea typeface="Calibri"/>
                <a:cs typeface="Calibri"/>
                <a:sym typeface="Calibri"/>
              </a:rPr>
              <a:t>(</a:t>
            </a:r>
            <a:r>
              <a:rPr lang="en-IN" sz="1800" b="0" i="0" u="none" strike="noStrike" cap="none" dirty="0" err="1">
                <a:solidFill>
                  <a:schemeClr val="dk1"/>
                </a:solidFill>
                <a:latin typeface="Calibri"/>
                <a:ea typeface="Calibri"/>
                <a:cs typeface="Calibri"/>
                <a:sym typeface="Calibri"/>
              </a:rPr>
              <a:t>arrowstyle</a:t>
            </a:r>
            <a:r>
              <a:rPr lang="en-IN" sz="1800" b="0" i="0" u="none" strike="noStrike" cap="none" dirty="0">
                <a:solidFill>
                  <a:schemeClr val="dk1"/>
                </a:solidFill>
                <a:latin typeface="Calibri"/>
                <a:ea typeface="Calibri"/>
                <a:cs typeface="Calibri"/>
                <a:sym typeface="Calibri"/>
              </a:rPr>
              <a:t>='-[', </a:t>
            </a:r>
            <a:r>
              <a:rPr lang="en-IN" sz="1800" b="0" i="0" u="none" strike="noStrike" cap="none" dirty="0" err="1">
                <a:solidFill>
                  <a:schemeClr val="dk1"/>
                </a:solidFill>
                <a:latin typeface="Calibri"/>
                <a:ea typeface="Calibri"/>
                <a:cs typeface="Calibri"/>
                <a:sym typeface="Calibri"/>
              </a:rPr>
              <a:t>facecolor</a:t>
            </a:r>
            <a:r>
              <a:rPr lang="en-IN" sz="1800" b="0" i="0" u="none" strike="noStrike" cap="none" dirty="0">
                <a:solidFill>
                  <a:schemeClr val="dk1"/>
                </a:solidFill>
                <a:latin typeface="Calibri"/>
                <a:ea typeface="Calibri"/>
                <a:cs typeface="Calibri"/>
                <a:sym typeface="Calibri"/>
              </a:rPr>
              <a:t>='purple'))</a:t>
            </a:r>
            <a:endParaRPr dirty="0"/>
          </a:p>
          <a:p>
            <a:pPr marL="0" marR="0" lvl="0" indent="0" algn="just" rtl="0">
              <a:lnSpc>
                <a:spcPct val="150000"/>
              </a:lnSpc>
              <a:spcBef>
                <a:spcPts val="0"/>
              </a:spcBef>
              <a:spcAft>
                <a:spcPts val="0"/>
              </a:spcAft>
              <a:buNone/>
            </a:pPr>
            <a:r>
              <a:rPr lang="en-IN" sz="1800" b="0" i="0" u="none" strike="noStrike" cap="none" dirty="0" err="1">
                <a:solidFill>
                  <a:schemeClr val="dk1"/>
                </a:solidFill>
                <a:latin typeface="Calibri"/>
                <a:ea typeface="Calibri"/>
                <a:cs typeface="Calibri"/>
                <a:sym typeface="Calibri"/>
              </a:rPr>
              <a:t>plt.annotate</a:t>
            </a:r>
            <a:r>
              <a:rPr lang="en-IN" sz="1800" b="0" i="0" u="none" strike="noStrike" cap="none" dirty="0">
                <a:solidFill>
                  <a:schemeClr val="dk1"/>
                </a:solidFill>
                <a:latin typeface="Calibri"/>
                <a:ea typeface="Calibri"/>
                <a:cs typeface="Calibri"/>
                <a:sym typeface="Calibri"/>
              </a:rPr>
              <a:t>('Bar Arrow', </a:t>
            </a:r>
            <a:endParaRPr dirty="0"/>
          </a:p>
          <a:p>
            <a:pPr marL="0" marR="0" lvl="0" indent="0" algn="just" rtl="0">
              <a:lnSpc>
                <a:spcPct val="150000"/>
              </a:lnSpc>
              <a:spcBef>
                <a:spcPts val="0"/>
              </a:spcBef>
              <a:spcAft>
                <a:spcPts val="0"/>
              </a:spcAft>
              <a:buNone/>
            </a:pPr>
            <a:r>
              <a:rPr lang="en-IN" sz="1800" b="0" i="0" u="none" strike="noStrike" cap="none" dirty="0">
                <a:solidFill>
                  <a:schemeClr val="dk1"/>
                </a:solidFill>
                <a:latin typeface="Calibri"/>
                <a:ea typeface="Calibri"/>
                <a:cs typeface="Calibri"/>
                <a:sym typeface="Calibri"/>
              </a:rPr>
              <a:t>             </a:t>
            </a:r>
            <a:r>
              <a:rPr lang="en-IN" sz="1800" b="0" i="0" u="none" strike="noStrike" cap="none" dirty="0" err="1">
                <a:solidFill>
                  <a:schemeClr val="dk1"/>
                </a:solidFill>
                <a:latin typeface="Calibri"/>
                <a:ea typeface="Calibri"/>
                <a:cs typeface="Calibri"/>
                <a:sym typeface="Calibri"/>
              </a:rPr>
              <a:t>xy</a:t>
            </a:r>
            <a:r>
              <a:rPr lang="en-IN" sz="1800" b="0" i="0" u="none" strike="noStrike" cap="none" dirty="0">
                <a:solidFill>
                  <a:schemeClr val="dk1"/>
                </a:solidFill>
                <a:latin typeface="Calibri"/>
                <a:ea typeface="Calibri"/>
                <a:cs typeface="Calibri"/>
                <a:sym typeface="Calibri"/>
              </a:rPr>
              <a:t>=(5, 10), </a:t>
            </a:r>
            <a:r>
              <a:rPr lang="en-IN" sz="1800" b="0" i="0" u="none" strike="noStrike" cap="none" dirty="0" err="1">
                <a:solidFill>
                  <a:schemeClr val="dk1"/>
                </a:solidFill>
                <a:latin typeface="Calibri"/>
                <a:ea typeface="Calibri"/>
                <a:cs typeface="Calibri"/>
                <a:sym typeface="Calibri"/>
              </a:rPr>
              <a:t>xytext</a:t>
            </a:r>
            <a:r>
              <a:rPr lang="en-IN" sz="1800" b="0" i="0" u="none" strike="noStrike" cap="none" dirty="0">
                <a:solidFill>
                  <a:schemeClr val="dk1"/>
                </a:solidFill>
                <a:latin typeface="Calibri"/>
                <a:ea typeface="Calibri"/>
                <a:cs typeface="Calibri"/>
                <a:sym typeface="Calibri"/>
              </a:rPr>
              <a:t>=(4.5, 11), </a:t>
            </a:r>
            <a:endParaRPr dirty="0"/>
          </a:p>
          <a:p>
            <a:pPr marL="0" marR="0" lvl="0" indent="0" algn="just" rtl="0">
              <a:lnSpc>
                <a:spcPct val="150000"/>
              </a:lnSpc>
              <a:spcBef>
                <a:spcPts val="0"/>
              </a:spcBef>
              <a:spcAft>
                <a:spcPts val="0"/>
              </a:spcAft>
              <a:buNone/>
            </a:pPr>
            <a:r>
              <a:rPr lang="en-IN" sz="1800" b="0" i="0" u="none" strike="noStrike" cap="none" dirty="0">
                <a:solidFill>
                  <a:schemeClr val="dk1"/>
                </a:solidFill>
                <a:latin typeface="Calibri"/>
                <a:ea typeface="Calibri"/>
                <a:cs typeface="Calibri"/>
                <a:sym typeface="Calibri"/>
              </a:rPr>
              <a:t>             </a:t>
            </a:r>
            <a:r>
              <a:rPr lang="en-IN" sz="1800" b="0" i="0" u="none" strike="noStrike" cap="none" dirty="0" err="1">
                <a:solidFill>
                  <a:schemeClr val="dk1"/>
                </a:solidFill>
                <a:latin typeface="Calibri"/>
                <a:ea typeface="Calibri"/>
                <a:cs typeface="Calibri"/>
                <a:sym typeface="Calibri"/>
              </a:rPr>
              <a:t>arrowprops</a:t>
            </a:r>
            <a:r>
              <a:rPr lang="en-IN" sz="1800" b="0" i="0" u="none" strike="noStrike" cap="none" dirty="0">
                <a:solidFill>
                  <a:schemeClr val="dk1"/>
                </a:solidFill>
                <a:latin typeface="Calibri"/>
                <a:ea typeface="Calibri"/>
                <a:cs typeface="Calibri"/>
                <a:sym typeface="Calibri"/>
              </a:rPr>
              <a:t>=</a:t>
            </a:r>
            <a:r>
              <a:rPr lang="en-IN" sz="1800" b="0" i="0" u="none" strike="noStrike" cap="none" dirty="0" err="1">
                <a:solidFill>
                  <a:schemeClr val="dk1"/>
                </a:solidFill>
                <a:latin typeface="Calibri"/>
                <a:ea typeface="Calibri"/>
                <a:cs typeface="Calibri"/>
                <a:sym typeface="Calibri"/>
              </a:rPr>
              <a:t>dict</a:t>
            </a:r>
            <a:r>
              <a:rPr lang="en-IN" sz="1800" b="0" i="0" u="none" strike="noStrike" cap="none" dirty="0">
                <a:solidFill>
                  <a:schemeClr val="dk1"/>
                </a:solidFill>
                <a:latin typeface="Calibri"/>
                <a:ea typeface="Calibri"/>
                <a:cs typeface="Calibri"/>
                <a:sym typeface="Calibri"/>
              </a:rPr>
              <a:t>(</a:t>
            </a:r>
            <a:r>
              <a:rPr lang="en-IN" sz="1800" b="0" i="0" u="none" strike="noStrike" cap="none" dirty="0" err="1">
                <a:solidFill>
                  <a:schemeClr val="dk1"/>
                </a:solidFill>
                <a:latin typeface="Calibri"/>
                <a:ea typeface="Calibri"/>
                <a:cs typeface="Calibri"/>
                <a:sym typeface="Calibri"/>
              </a:rPr>
              <a:t>arrowstyle</a:t>
            </a:r>
            <a:r>
              <a:rPr lang="en-IN" sz="1800" b="0" i="0" u="none" strike="noStrike" cap="none" dirty="0">
                <a:solidFill>
                  <a:schemeClr val="dk1"/>
                </a:solidFill>
                <a:latin typeface="Calibri"/>
                <a:ea typeface="Calibri"/>
                <a:cs typeface="Calibri"/>
                <a:sym typeface="Calibri"/>
              </a:rPr>
              <a:t>='|-|', </a:t>
            </a:r>
            <a:r>
              <a:rPr lang="en-IN" sz="1800" b="0" i="0" u="none" strike="noStrike" cap="none" dirty="0" err="1">
                <a:solidFill>
                  <a:schemeClr val="dk1"/>
                </a:solidFill>
                <a:latin typeface="Calibri"/>
                <a:ea typeface="Calibri"/>
                <a:cs typeface="Calibri"/>
                <a:sym typeface="Calibri"/>
              </a:rPr>
              <a:t>facecolor</a:t>
            </a:r>
            <a:r>
              <a:rPr lang="en-IN" sz="1800" b="0" i="0" u="none" strike="noStrike" cap="none" dirty="0">
                <a:solidFill>
                  <a:schemeClr val="dk1"/>
                </a:solidFill>
                <a:latin typeface="Calibri"/>
                <a:ea typeface="Calibri"/>
                <a:cs typeface="Calibri"/>
                <a:sym typeface="Calibri"/>
              </a:rPr>
              <a:t>='orange'))</a:t>
            </a:r>
            <a:endParaRPr dirty="0"/>
          </a:p>
          <a:p>
            <a:pPr marL="0" marR="0" lvl="0" indent="0" algn="just" rtl="0">
              <a:lnSpc>
                <a:spcPct val="150000"/>
              </a:lnSpc>
              <a:spcBef>
                <a:spcPts val="0"/>
              </a:spcBef>
              <a:spcAft>
                <a:spcPts val="0"/>
              </a:spcAft>
              <a:buNone/>
            </a:pPr>
            <a:r>
              <a:rPr lang="en-IN" sz="1800" b="0" i="0" u="none" strike="noStrike" cap="none" dirty="0" err="1">
                <a:solidFill>
                  <a:schemeClr val="dk1"/>
                </a:solidFill>
                <a:latin typeface="Calibri"/>
                <a:ea typeface="Calibri"/>
                <a:cs typeface="Calibri"/>
                <a:sym typeface="Calibri"/>
              </a:rPr>
              <a:t>plt.show</a:t>
            </a:r>
            <a:r>
              <a:rPr lang="en-IN" sz="1800" b="0" i="0" u="none" strike="noStrike" cap="none" dirty="0">
                <a:solidFill>
                  <a:schemeClr val="dk1"/>
                </a:solidFill>
                <a:latin typeface="Calibri"/>
                <a:ea typeface="Calibri"/>
                <a:cs typeface="Calibri"/>
                <a:sym typeface="Calibri"/>
              </a:rPr>
              <a:t>()</a:t>
            </a:r>
            <a:endParaRPr dirty="0"/>
          </a:p>
        </p:txBody>
      </p:sp>
      <p:pic>
        <p:nvPicPr>
          <p:cNvPr id="166" name="Google Shape;166;p8"/>
          <p:cNvPicPr preferRelativeResize="0"/>
          <p:nvPr/>
        </p:nvPicPr>
        <p:blipFill rotWithShape="1">
          <a:blip r:embed="rId4">
            <a:alphaModFix/>
          </a:blip>
          <a:srcRect l="6607" r="7855" b="3809"/>
          <a:stretch/>
        </p:blipFill>
        <p:spPr>
          <a:xfrm>
            <a:off x="6738257" y="1763630"/>
            <a:ext cx="5143994" cy="433856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graphicFrame>
        <p:nvGraphicFramePr>
          <p:cNvPr id="171" name="Google Shape;171;p9"/>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72" name="Google Shape;172;p9"/>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9</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73" name="Google Shape;173;p9"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74" name="Google Shape;174;p9"/>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75" name="Google Shape;175;p9"/>
          <p:cNvSpPr txBox="1"/>
          <p:nvPr/>
        </p:nvSpPr>
        <p:spPr>
          <a:xfrm>
            <a:off x="0" y="873851"/>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i="0" u="none" strike="noStrike" cap="none" dirty="0">
                <a:solidFill>
                  <a:schemeClr val="dk1"/>
                </a:solidFill>
                <a:latin typeface="Calibri"/>
                <a:ea typeface="Calibri"/>
                <a:cs typeface="Calibri"/>
                <a:sym typeface="Calibri"/>
              </a:rPr>
              <a:t>Annotation with bounding box around the text</a:t>
            </a:r>
            <a:endParaRPr sz="3600" b="1" i="0" u="none" strike="noStrike" cap="none" dirty="0">
              <a:solidFill>
                <a:schemeClr val="dk1"/>
              </a:solidFill>
              <a:latin typeface="Calibri"/>
              <a:ea typeface="Calibri"/>
              <a:cs typeface="Calibri"/>
              <a:sym typeface="Calibri"/>
            </a:endParaRPr>
          </a:p>
        </p:txBody>
      </p:sp>
      <p:sp>
        <p:nvSpPr>
          <p:cNvPr id="176" name="Google Shape;176;p9"/>
          <p:cNvSpPr txBox="1"/>
          <p:nvPr/>
        </p:nvSpPr>
        <p:spPr>
          <a:xfrm>
            <a:off x="487016" y="1509615"/>
            <a:ext cx="6055297" cy="378885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IN" sz="1800" b="0" i="0" u="none" strike="noStrike" cap="none" dirty="0">
                <a:solidFill>
                  <a:schemeClr val="dk1"/>
                </a:solidFill>
                <a:latin typeface="Calibri"/>
                <a:ea typeface="Calibri"/>
                <a:cs typeface="Calibri"/>
                <a:sym typeface="Calibri"/>
              </a:rPr>
              <a:t>import </a:t>
            </a:r>
            <a:r>
              <a:rPr lang="en-IN" sz="1800" b="0" i="0" u="none" strike="noStrike" cap="none" dirty="0" err="1">
                <a:solidFill>
                  <a:schemeClr val="dk1"/>
                </a:solidFill>
                <a:latin typeface="Calibri"/>
                <a:ea typeface="Calibri"/>
                <a:cs typeface="Calibri"/>
                <a:sym typeface="Calibri"/>
              </a:rPr>
              <a:t>matplotlib.pyplot</a:t>
            </a:r>
            <a:r>
              <a:rPr lang="en-IN" sz="1800" b="0" i="0" u="none" strike="noStrike" cap="none" dirty="0">
                <a:solidFill>
                  <a:schemeClr val="dk1"/>
                </a:solidFill>
                <a:latin typeface="Calibri"/>
                <a:ea typeface="Calibri"/>
                <a:cs typeface="Calibri"/>
                <a:sym typeface="Calibri"/>
              </a:rPr>
              <a:t> as </a:t>
            </a:r>
            <a:r>
              <a:rPr lang="en-IN" sz="1800" b="0" i="0" u="none" strike="noStrike" cap="none" dirty="0" err="1">
                <a:solidFill>
                  <a:schemeClr val="dk1"/>
                </a:solidFill>
                <a:latin typeface="Calibri"/>
                <a:ea typeface="Calibri"/>
                <a:cs typeface="Calibri"/>
                <a:sym typeface="Calibri"/>
              </a:rPr>
              <a:t>plt</a:t>
            </a:r>
            <a:endParaRPr sz="1800" b="0" i="0" u="none" strike="noStrike" cap="none" dirty="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r>
              <a:rPr lang="en-IN" sz="1800" b="0" i="0" u="none" strike="noStrike" cap="none" dirty="0">
                <a:solidFill>
                  <a:schemeClr val="dk1"/>
                </a:solidFill>
                <a:latin typeface="Calibri"/>
                <a:ea typeface="Calibri"/>
                <a:cs typeface="Calibri"/>
                <a:sym typeface="Calibri"/>
              </a:rPr>
              <a:t>x = [1, 2, 3, 4, 5]</a:t>
            </a:r>
            <a:endParaRPr dirty="0"/>
          </a:p>
          <a:p>
            <a:pPr marL="0" marR="0" lvl="0" indent="0" algn="just" rtl="0">
              <a:lnSpc>
                <a:spcPct val="150000"/>
              </a:lnSpc>
              <a:spcBef>
                <a:spcPts val="0"/>
              </a:spcBef>
              <a:spcAft>
                <a:spcPts val="0"/>
              </a:spcAft>
              <a:buNone/>
            </a:pPr>
            <a:r>
              <a:rPr lang="en-IN" sz="1800" b="0" i="0" u="none" strike="noStrike" cap="none" dirty="0">
                <a:solidFill>
                  <a:schemeClr val="dk1"/>
                </a:solidFill>
                <a:latin typeface="Calibri"/>
                <a:ea typeface="Calibri"/>
                <a:cs typeface="Calibri"/>
                <a:sym typeface="Calibri"/>
              </a:rPr>
              <a:t>y = [2, 4, 6, 8, 10]</a:t>
            </a:r>
            <a:endParaRPr dirty="0"/>
          </a:p>
          <a:p>
            <a:pPr marL="0" marR="0" lvl="0" indent="0" algn="just" rtl="0">
              <a:lnSpc>
                <a:spcPct val="150000"/>
              </a:lnSpc>
              <a:spcBef>
                <a:spcPts val="0"/>
              </a:spcBef>
              <a:spcAft>
                <a:spcPts val="0"/>
              </a:spcAft>
              <a:buNone/>
            </a:pPr>
            <a:r>
              <a:rPr lang="en-IN" sz="1800" b="0" i="0" u="none" strike="noStrike" cap="none" dirty="0" err="1">
                <a:solidFill>
                  <a:schemeClr val="dk1"/>
                </a:solidFill>
                <a:latin typeface="Calibri"/>
                <a:ea typeface="Calibri"/>
                <a:cs typeface="Calibri"/>
                <a:sym typeface="Calibri"/>
              </a:rPr>
              <a:t>plt.plot</a:t>
            </a:r>
            <a:r>
              <a:rPr lang="en-IN" sz="1800" b="0" i="0" u="none" strike="noStrike" cap="none" dirty="0">
                <a:solidFill>
                  <a:schemeClr val="dk1"/>
                </a:solidFill>
                <a:latin typeface="Calibri"/>
                <a:ea typeface="Calibri"/>
                <a:cs typeface="Calibri"/>
                <a:sym typeface="Calibri"/>
              </a:rPr>
              <a:t>(x, y, marker='o')</a:t>
            </a:r>
            <a:endParaRPr dirty="0"/>
          </a:p>
          <a:p>
            <a:pPr marL="0" marR="0" lvl="0" indent="0" algn="just" rtl="0">
              <a:lnSpc>
                <a:spcPct val="150000"/>
              </a:lnSpc>
              <a:spcBef>
                <a:spcPts val="0"/>
              </a:spcBef>
              <a:spcAft>
                <a:spcPts val="0"/>
              </a:spcAft>
              <a:buNone/>
            </a:pPr>
            <a:r>
              <a:rPr lang="en-IN" sz="1800" b="0" i="0" u="none" strike="noStrike" cap="none" dirty="0" err="1">
                <a:solidFill>
                  <a:schemeClr val="dk1"/>
                </a:solidFill>
                <a:latin typeface="Calibri"/>
                <a:ea typeface="Calibri"/>
                <a:cs typeface="Calibri"/>
                <a:sym typeface="Calibri"/>
              </a:rPr>
              <a:t>plt.annotate</a:t>
            </a:r>
            <a:r>
              <a:rPr lang="en-IN" sz="1800" b="0" i="0" u="none" strike="noStrike" cap="none" dirty="0">
                <a:solidFill>
                  <a:schemeClr val="dk1"/>
                </a:solidFill>
                <a:latin typeface="Calibri"/>
                <a:ea typeface="Calibri"/>
                <a:cs typeface="Calibri"/>
                <a:sym typeface="Calibri"/>
              </a:rPr>
              <a:t>('With Bounding Box',  </a:t>
            </a:r>
            <a:r>
              <a:rPr lang="en-IN" sz="1800" b="0" i="0" u="none" strike="noStrike" cap="none" dirty="0" err="1">
                <a:solidFill>
                  <a:schemeClr val="dk1"/>
                </a:solidFill>
                <a:latin typeface="Calibri"/>
                <a:ea typeface="Calibri"/>
                <a:cs typeface="Calibri"/>
                <a:sym typeface="Calibri"/>
              </a:rPr>
              <a:t>xy</a:t>
            </a:r>
            <a:r>
              <a:rPr lang="en-IN" sz="1800" b="0" i="0" u="none" strike="noStrike" cap="none" dirty="0">
                <a:solidFill>
                  <a:schemeClr val="dk1"/>
                </a:solidFill>
                <a:latin typeface="Calibri"/>
                <a:ea typeface="Calibri"/>
                <a:cs typeface="Calibri"/>
                <a:sym typeface="Calibri"/>
              </a:rPr>
              <a:t>=(3, 6), </a:t>
            </a:r>
            <a:r>
              <a:rPr lang="en-IN" sz="1800" b="0" i="0" u="none" strike="noStrike" cap="none" dirty="0" err="1">
                <a:solidFill>
                  <a:schemeClr val="dk1"/>
                </a:solidFill>
                <a:latin typeface="Calibri"/>
                <a:ea typeface="Calibri"/>
                <a:cs typeface="Calibri"/>
                <a:sym typeface="Calibri"/>
              </a:rPr>
              <a:t>xytext</a:t>
            </a:r>
            <a:r>
              <a:rPr lang="en-IN" sz="1800" b="0" i="0" u="none" strike="noStrike" cap="none" dirty="0">
                <a:solidFill>
                  <a:schemeClr val="dk1"/>
                </a:solidFill>
                <a:latin typeface="Calibri"/>
                <a:ea typeface="Calibri"/>
                <a:cs typeface="Calibri"/>
                <a:sym typeface="Calibri"/>
              </a:rPr>
              <a:t>=(4, 7),</a:t>
            </a:r>
            <a:endParaRPr dirty="0"/>
          </a:p>
          <a:p>
            <a:pPr marL="0" marR="0" lvl="0" indent="0" algn="just" rtl="0">
              <a:lnSpc>
                <a:spcPct val="150000"/>
              </a:lnSpc>
              <a:spcBef>
                <a:spcPts val="0"/>
              </a:spcBef>
              <a:spcAft>
                <a:spcPts val="0"/>
              </a:spcAft>
              <a:buNone/>
            </a:pPr>
            <a:r>
              <a:rPr lang="en-IN" sz="1800" b="0" i="0" u="none" strike="noStrike" cap="none" dirty="0">
                <a:solidFill>
                  <a:schemeClr val="dk1"/>
                </a:solidFill>
                <a:latin typeface="Calibri"/>
                <a:ea typeface="Calibri"/>
                <a:cs typeface="Calibri"/>
                <a:sym typeface="Calibri"/>
              </a:rPr>
              <a:t>             </a:t>
            </a:r>
            <a:r>
              <a:rPr lang="en-IN" sz="1800" b="0" i="0" u="none" strike="noStrike" cap="none" dirty="0" err="1">
                <a:solidFill>
                  <a:schemeClr val="dk1"/>
                </a:solidFill>
                <a:latin typeface="Calibri"/>
                <a:ea typeface="Calibri"/>
                <a:cs typeface="Calibri"/>
                <a:sym typeface="Calibri"/>
              </a:rPr>
              <a:t>bbox</a:t>
            </a:r>
            <a:r>
              <a:rPr lang="en-IN" sz="1800" b="0" i="0" u="none" strike="noStrike" cap="none" dirty="0">
                <a:solidFill>
                  <a:schemeClr val="dk1"/>
                </a:solidFill>
                <a:latin typeface="Calibri"/>
                <a:ea typeface="Calibri"/>
                <a:cs typeface="Calibri"/>
                <a:sym typeface="Calibri"/>
              </a:rPr>
              <a:t>=</a:t>
            </a:r>
            <a:r>
              <a:rPr lang="en-IN" sz="1800" b="0" i="0" u="none" strike="noStrike" cap="none" dirty="0" err="1">
                <a:solidFill>
                  <a:schemeClr val="dk1"/>
                </a:solidFill>
                <a:latin typeface="Calibri"/>
                <a:ea typeface="Calibri"/>
                <a:cs typeface="Calibri"/>
                <a:sym typeface="Calibri"/>
              </a:rPr>
              <a:t>dict</a:t>
            </a:r>
            <a:r>
              <a:rPr lang="en-IN" sz="1800" b="0" i="0" u="none" strike="noStrike" cap="none" dirty="0">
                <a:solidFill>
                  <a:schemeClr val="dk1"/>
                </a:solidFill>
                <a:latin typeface="Calibri"/>
                <a:ea typeface="Calibri"/>
                <a:cs typeface="Calibri"/>
                <a:sym typeface="Calibri"/>
              </a:rPr>
              <a:t>(</a:t>
            </a:r>
            <a:r>
              <a:rPr lang="en-IN" sz="1800" b="0" i="0" u="none" strike="noStrike" cap="none" dirty="0" err="1">
                <a:solidFill>
                  <a:schemeClr val="dk1"/>
                </a:solidFill>
                <a:latin typeface="Calibri"/>
                <a:ea typeface="Calibri"/>
                <a:cs typeface="Calibri"/>
                <a:sym typeface="Calibri"/>
              </a:rPr>
              <a:t>boxstyle</a:t>
            </a:r>
            <a:r>
              <a:rPr lang="en-IN" sz="1800" b="0" i="0" u="none" strike="noStrike" cap="none" dirty="0">
                <a:solidFill>
                  <a:schemeClr val="dk1"/>
                </a:solidFill>
                <a:latin typeface="Calibri"/>
                <a:ea typeface="Calibri"/>
                <a:cs typeface="Calibri"/>
                <a:sym typeface="Calibri"/>
              </a:rPr>
              <a:t>='</a:t>
            </a:r>
            <a:r>
              <a:rPr lang="en-IN" sz="1800" b="0" i="0" u="none" strike="noStrike" cap="none" dirty="0" err="1">
                <a:solidFill>
                  <a:schemeClr val="dk1"/>
                </a:solidFill>
                <a:latin typeface="Calibri"/>
                <a:ea typeface="Calibri"/>
                <a:cs typeface="Calibri"/>
                <a:sym typeface="Calibri"/>
              </a:rPr>
              <a:t>round,pad</a:t>
            </a:r>
            <a:r>
              <a:rPr lang="en-IN" sz="1800" b="0" i="0" u="none" strike="noStrike" cap="none" dirty="0">
                <a:solidFill>
                  <a:schemeClr val="dk1"/>
                </a:solidFill>
                <a:latin typeface="Calibri"/>
                <a:ea typeface="Calibri"/>
                <a:cs typeface="Calibri"/>
                <a:sym typeface="Calibri"/>
              </a:rPr>
              <a:t>=0.5', </a:t>
            </a:r>
            <a:r>
              <a:rPr lang="en-IN" sz="1800" b="0" i="0" u="none" strike="noStrike" cap="none" dirty="0" err="1">
                <a:solidFill>
                  <a:schemeClr val="dk1"/>
                </a:solidFill>
                <a:latin typeface="Calibri"/>
                <a:ea typeface="Calibri"/>
                <a:cs typeface="Calibri"/>
                <a:sym typeface="Calibri"/>
              </a:rPr>
              <a:t>edgecolor</a:t>
            </a:r>
            <a:r>
              <a:rPr lang="en-IN" sz="1800" b="0" i="0" u="none" strike="noStrike" cap="none" dirty="0">
                <a:solidFill>
                  <a:schemeClr val="dk1"/>
                </a:solidFill>
                <a:latin typeface="Calibri"/>
                <a:ea typeface="Calibri"/>
                <a:cs typeface="Calibri"/>
                <a:sym typeface="Calibri"/>
              </a:rPr>
              <a:t>='black', </a:t>
            </a:r>
            <a:r>
              <a:rPr lang="en-IN" sz="1800" b="0" i="0" u="none" strike="noStrike" cap="none" dirty="0" err="1">
                <a:solidFill>
                  <a:schemeClr val="dk1"/>
                </a:solidFill>
                <a:latin typeface="Calibri"/>
                <a:ea typeface="Calibri"/>
                <a:cs typeface="Calibri"/>
                <a:sym typeface="Calibri"/>
              </a:rPr>
              <a:t>facecolor</a:t>
            </a:r>
            <a:r>
              <a:rPr lang="en-IN" sz="1800" b="0" i="0" u="none" strike="noStrike" cap="none" dirty="0">
                <a:solidFill>
                  <a:schemeClr val="dk1"/>
                </a:solidFill>
                <a:latin typeface="Calibri"/>
                <a:ea typeface="Calibri"/>
                <a:cs typeface="Calibri"/>
                <a:sym typeface="Calibri"/>
              </a:rPr>
              <a:t>='yellow’), </a:t>
            </a:r>
            <a:r>
              <a:rPr lang="en-IN" sz="1800" b="0" i="0" u="none" strike="noStrike" cap="none" dirty="0" err="1">
                <a:solidFill>
                  <a:schemeClr val="dk1"/>
                </a:solidFill>
                <a:latin typeface="Calibri"/>
                <a:ea typeface="Calibri"/>
                <a:cs typeface="Calibri"/>
                <a:sym typeface="Calibri"/>
              </a:rPr>
              <a:t>arrowprops</a:t>
            </a:r>
            <a:r>
              <a:rPr lang="en-IN" sz="1800" b="0" i="0" u="none" strike="noStrike" cap="none" dirty="0">
                <a:solidFill>
                  <a:schemeClr val="dk1"/>
                </a:solidFill>
                <a:latin typeface="Calibri"/>
                <a:ea typeface="Calibri"/>
                <a:cs typeface="Calibri"/>
                <a:sym typeface="Calibri"/>
              </a:rPr>
              <a:t>=</a:t>
            </a:r>
            <a:r>
              <a:rPr lang="en-IN" sz="1800" b="0" i="0" u="none" strike="noStrike" cap="none" dirty="0" err="1">
                <a:solidFill>
                  <a:schemeClr val="dk1"/>
                </a:solidFill>
                <a:latin typeface="Calibri"/>
                <a:ea typeface="Calibri"/>
                <a:cs typeface="Calibri"/>
                <a:sym typeface="Calibri"/>
              </a:rPr>
              <a:t>dict</a:t>
            </a:r>
            <a:r>
              <a:rPr lang="en-IN" sz="1800" b="0" i="0" u="none" strike="noStrike" cap="none" dirty="0">
                <a:solidFill>
                  <a:schemeClr val="dk1"/>
                </a:solidFill>
                <a:latin typeface="Calibri"/>
                <a:ea typeface="Calibri"/>
                <a:cs typeface="Calibri"/>
                <a:sym typeface="Calibri"/>
              </a:rPr>
              <a:t>(</a:t>
            </a:r>
            <a:r>
              <a:rPr lang="en-IN" sz="1800" b="0" i="0" u="none" strike="noStrike" cap="none" dirty="0" err="1">
                <a:solidFill>
                  <a:schemeClr val="dk1"/>
                </a:solidFill>
                <a:latin typeface="Calibri"/>
                <a:ea typeface="Calibri"/>
                <a:cs typeface="Calibri"/>
                <a:sym typeface="Calibri"/>
              </a:rPr>
              <a:t>facecolor</a:t>
            </a:r>
            <a:r>
              <a:rPr lang="en-IN" sz="1800" b="0" i="0" u="none" strike="noStrike" cap="none" dirty="0">
                <a:solidFill>
                  <a:schemeClr val="dk1"/>
                </a:solidFill>
                <a:latin typeface="Calibri"/>
                <a:ea typeface="Calibri"/>
                <a:cs typeface="Calibri"/>
                <a:sym typeface="Calibri"/>
              </a:rPr>
              <a:t>='blue', </a:t>
            </a:r>
            <a:r>
              <a:rPr lang="en-IN" sz="1800" b="0" i="0" u="none" strike="noStrike" cap="none" dirty="0" err="1">
                <a:solidFill>
                  <a:schemeClr val="dk1"/>
                </a:solidFill>
                <a:latin typeface="Calibri"/>
                <a:ea typeface="Calibri"/>
                <a:cs typeface="Calibri"/>
                <a:sym typeface="Calibri"/>
              </a:rPr>
              <a:t>arrowstyle</a:t>
            </a:r>
            <a:r>
              <a:rPr lang="en-IN" sz="1800" b="0" i="0" u="none" strike="noStrike" cap="none" dirty="0">
                <a:solidFill>
                  <a:schemeClr val="dk1"/>
                </a:solidFill>
                <a:latin typeface="Calibri"/>
                <a:ea typeface="Calibri"/>
                <a:cs typeface="Calibri"/>
                <a:sym typeface="Calibri"/>
              </a:rPr>
              <a:t>='-&gt;'))</a:t>
            </a:r>
            <a:endParaRPr dirty="0"/>
          </a:p>
          <a:p>
            <a:pPr marL="0" marR="0" lvl="0" indent="0" algn="just" rtl="0">
              <a:lnSpc>
                <a:spcPct val="150000"/>
              </a:lnSpc>
              <a:spcBef>
                <a:spcPts val="0"/>
              </a:spcBef>
              <a:spcAft>
                <a:spcPts val="0"/>
              </a:spcAft>
              <a:buNone/>
            </a:pPr>
            <a:r>
              <a:rPr lang="en-IN" sz="1800" b="0" i="0" u="none" strike="noStrike" cap="none" dirty="0" err="1">
                <a:solidFill>
                  <a:schemeClr val="dk1"/>
                </a:solidFill>
                <a:latin typeface="Calibri"/>
                <a:ea typeface="Calibri"/>
                <a:cs typeface="Calibri"/>
                <a:sym typeface="Calibri"/>
              </a:rPr>
              <a:t>plt.show</a:t>
            </a:r>
            <a:r>
              <a:rPr lang="en-IN" sz="1800" b="0" i="0" u="none" strike="noStrike" cap="none" dirty="0">
                <a:solidFill>
                  <a:schemeClr val="dk1"/>
                </a:solidFill>
                <a:latin typeface="Calibri"/>
                <a:ea typeface="Calibri"/>
                <a:cs typeface="Calibri"/>
                <a:sym typeface="Calibri"/>
              </a:rPr>
              <a:t>()</a:t>
            </a:r>
            <a:endParaRPr dirty="0"/>
          </a:p>
        </p:txBody>
      </p:sp>
      <p:pic>
        <p:nvPicPr>
          <p:cNvPr id="177" name="Google Shape;177;p9"/>
          <p:cNvPicPr preferRelativeResize="0"/>
          <p:nvPr/>
        </p:nvPicPr>
        <p:blipFill rotWithShape="1">
          <a:blip r:embed="rId4">
            <a:alphaModFix/>
          </a:blip>
          <a:srcRect l="6965" t="7679" r="6249" b="3571"/>
          <a:stretch/>
        </p:blipFill>
        <p:spPr>
          <a:xfrm>
            <a:off x="6721927" y="1669518"/>
            <a:ext cx="5290457" cy="405764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graphicFrame>
        <p:nvGraphicFramePr>
          <p:cNvPr id="182" name="Google Shape;182;p10"/>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83" name="Google Shape;183;p10"/>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10</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84" name="Google Shape;184;p10"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85" name="Google Shape;185;p10"/>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86" name="Google Shape;186;p10"/>
          <p:cNvSpPr txBox="1"/>
          <p:nvPr/>
        </p:nvSpPr>
        <p:spPr>
          <a:xfrm>
            <a:off x="0" y="873851"/>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i="0" u="none" strike="noStrike" cap="none">
                <a:solidFill>
                  <a:schemeClr val="dk1"/>
                </a:solidFill>
                <a:latin typeface="Calibri"/>
                <a:ea typeface="Calibri"/>
                <a:cs typeface="Calibri"/>
                <a:sym typeface="Calibri"/>
              </a:rPr>
              <a:t>Saving Plots</a:t>
            </a:r>
            <a:endParaRPr sz="3600" b="1" i="0" u="none" strike="noStrike" cap="none">
              <a:solidFill>
                <a:schemeClr val="dk1"/>
              </a:solidFill>
              <a:latin typeface="Calibri"/>
              <a:ea typeface="Calibri"/>
              <a:cs typeface="Calibri"/>
              <a:sym typeface="Calibri"/>
            </a:endParaRPr>
          </a:p>
        </p:txBody>
      </p:sp>
      <p:sp>
        <p:nvSpPr>
          <p:cNvPr id="187" name="Google Shape;187;p10"/>
          <p:cNvSpPr txBox="1"/>
          <p:nvPr/>
        </p:nvSpPr>
        <p:spPr>
          <a:xfrm>
            <a:off x="487016" y="1509615"/>
            <a:ext cx="11182470" cy="3788858"/>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rgbClr val="000000"/>
              </a:buClr>
              <a:buSzPts val="1800"/>
              <a:buFont typeface="Arial"/>
              <a:buChar char="•"/>
            </a:pPr>
            <a:r>
              <a:rPr lang="en-IN" sz="1800" b="1" i="0" u="none" strike="noStrike" cap="none">
                <a:solidFill>
                  <a:srgbClr val="000000"/>
                </a:solidFill>
                <a:latin typeface="Calibri"/>
                <a:ea typeface="Calibri"/>
                <a:cs typeface="Calibri"/>
                <a:sym typeface="Calibri"/>
              </a:rPr>
              <a:t>Saving figures </a:t>
            </a:r>
            <a:r>
              <a:rPr lang="en-IN" sz="1800" b="0" i="0" u="none" strike="noStrike" cap="none">
                <a:solidFill>
                  <a:srgbClr val="000000"/>
                </a:solidFill>
                <a:latin typeface="Calibri"/>
                <a:ea typeface="Calibri"/>
                <a:cs typeface="Calibri"/>
                <a:sym typeface="Calibri"/>
              </a:rPr>
              <a:t>in Matplotlib library allows us to export our plots to various file formats such as PNG, PDF, SVG and so on to use those saved plots in various reports, presentations or publications. </a:t>
            </a:r>
            <a:endParaRPr/>
          </a:p>
          <a:p>
            <a:pPr marL="285750" marR="0" lvl="0" indent="-285750" algn="just" rtl="0">
              <a:lnSpc>
                <a:spcPct val="150000"/>
              </a:lnSpc>
              <a:spcBef>
                <a:spcPts val="0"/>
              </a:spcBef>
              <a:spcAft>
                <a:spcPts val="0"/>
              </a:spcAft>
              <a:buClr>
                <a:srgbClr val="000000"/>
              </a:buClr>
              <a:buSzPts val="1800"/>
              <a:buFont typeface="Arial"/>
              <a:buChar char="•"/>
            </a:pPr>
            <a:r>
              <a:rPr lang="en-IN" sz="1800" b="0" i="0" u="none" strike="noStrike" cap="none">
                <a:solidFill>
                  <a:srgbClr val="000000"/>
                </a:solidFill>
                <a:latin typeface="Calibri"/>
                <a:ea typeface="Calibri"/>
                <a:cs typeface="Calibri"/>
                <a:sym typeface="Calibri"/>
              </a:rPr>
              <a:t>Matplotlib library provides the savefig() function for to save the plot that we have created.</a:t>
            </a:r>
            <a:endParaRPr/>
          </a:p>
          <a:p>
            <a:pPr marL="0" marR="0" lvl="0" indent="0" algn="l" rtl="0">
              <a:lnSpc>
                <a:spcPct val="150000"/>
              </a:lnSpc>
              <a:spcBef>
                <a:spcPts val="0"/>
              </a:spcBef>
              <a:spcAft>
                <a:spcPts val="0"/>
              </a:spcAft>
              <a:buNone/>
            </a:pPr>
            <a:r>
              <a:rPr lang="en-IN" sz="1800" b="0" i="0" u="none" strike="noStrike" cap="none">
                <a:solidFill>
                  <a:srgbClr val="000000"/>
                </a:solidFill>
                <a:latin typeface="Calibri"/>
                <a:ea typeface="Calibri"/>
                <a:cs typeface="Calibri"/>
                <a:sym typeface="Calibri"/>
              </a:rPr>
              <a:t>Common File Formats for Saving</a:t>
            </a:r>
            <a:endParaRPr/>
          </a:p>
          <a:p>
            <a:pPr marL="285750" marR="0" lvl="0" indent="-285750" algn="just" rtl="0">
              <a:lnSpc>
                <a:spcPct val="150000"/>
              </a:lnSpc>
              <a:spcBef>
                <a:spcPts val="0"/>
              </a:spcBef>
              <a:spcAft>
                <a:spcPts val="0"/>
              </a:spcAft>
              <a:buClr>
                <a:srgbClr val="000000"/>
              </a:buClr>
              <a:buSzPts val="1800"/>
              <a:buFont typeface="Arial"/>
              <a:buChar char="•"/>
            </a:pPr>
            <a:r>
              <a:rPr lang="en-IN" sz="1800" b="1" i="0" u="none" strike="noStrike" cap="none">
                <a:solidFill>
                  <a:srgbClr val="000000"/>
                </a:solidFill>
                <a:latin typeface="Calibri"/>
                <a:ea typeface="Calibri"/>
                <a:cs typeface="Calibri"/>
                <a:sym typeface="Calibri"/>
              </a:rPr>
              <a:t>PNG (.png)</a:t>
            </a:r>
            <a:r>
              <a:rPr lang="en-IN" sz="1800" b="0" i="0" u="none" strike="noStrike" cap="none">
                <a:solidFill>
                  <a:srgbClr val="000000"/>
                </a:solidFill>
                <a:latin typeface="Calibri"/>
                <a:ea typeface="Calibri"/>
                <a:cs typeface="Calibri"/>
                <a:sym typeface="Calibri"/>
              </a:rPr>
              <a:t> − Good for general-purpose images which supports transparency.</a:t>
            </a:r>
            <a:endParaRPr/>
          </a:p>
          <a:p>
            <a:pPr marL="285750" marR="0" lvl="0" indent="-285750" algn="just" rtl="0">
              <a:lnSpc>
                <a:spcPct val="150000"/>
              </a:lnSpc>
              <a:spcBef>
                <a:spcPts val="0"/>
              </a:spcBef>
              <a:spcAft>
                <a:spcPts val="0"/>
              </a:spcAft>
              <a:buClr>
                <a:srgbClr val="000000"/>
              </a:buClr>
              <a:buSzPts val="1800"/>
              <a:buFont typeface="Arial"/>
              <a:buChar char="•"/>
            </a:pPr>
            <a:r>
              <a:rPr lang="en-IN" sz="1800" b="1" i="0" u="none" strike="noStrike" cap="none">
                <a:solidFill>
                  <a:srgbClr val="000000"/>
                </a:solidFill>
                <a:latin typeface="Calibri"/>
                <a:ea typeface="Calibri"/>
                <a:cs typeface="Calibri"/>
                <a:sym typeface="Calibri"/>
              </a:rPr>
              <a:t>JPEG (.jpg)</a:t>
            </a:r>
            <a:r>
              <a:rPr lang="en-IN" sz="1800" b="0" i="0" u="none" strike="noStrike" cap="none">
                <a:solidFill>
                  <a:srgbClr val="000000"/>
                </a:solidFill>
                <a:latin typeface="Calibri"/>
                <a:ea typeface="Calibri"/>
                <a:cs typeface="Calibri"/>
                <a:sym typeface="Calibri"/>
              </a:rPr>
              <a:t> − Suitable for images with smooth gradients but may lose some quality due to compression.</a:t>
            </a:r>
            <a:endParaRPr/>
          </a:p>
          <a:p>
            <a:pPr marL="285750" marR="0" lvl="0" indent="-285750" algn="just" rtl="0">
              <a:lnSpc>
                <a:spcPct val="150000"/>
              </a:lnSpc>
              <a:spcBef>
                <a:spcPts val="0"/>
              </a:spcBef>
              <a:spcAft>
                <a:spcPts val="0"/>
              </a:spcAft>
              <a:buClr>
                <a:srgbClr val="000000"/>
              </a:buClr>
              <a:buSzPts val="1800"/>
              <a:buFont typeface="Arial"/>
              <a:buChar char="•"/>
            </a:pPr>
            <a:r>
              <a:rPr lang="en-IN" sz="1800" b="1" i="0" u="none" strike="noStrike" cap="none">
                <a:solidFill>
                  <a:srgbClr val="000000"/>
                </a:solidFill>
                <a:latin typeface="Calibri"/>
                <a:ea typeface="Calibri"/>
                <a:cs typeface="Calibri"/>
                <a:sym typeface="Calibri"/>
              </a:rPr>
              <a:t>PDF (.pdf)</a:t>
            </a:r>
            <a:r>
              <a:rPr lang="en-IN" sz="1800" b="0" i="0" u="none" strike="noStrike" cap="none">
                <a:solidFill>
                  <a:srgbClr val="000000"/>
                </a:solidFill>
                <a:latin typeface="Calibri"/>
                <a:ea typeface="Calibri"/>
                <a:cs typeface="Calibri"/>
                <a:sym typeface="Calibri"/>
              </a:rPr>
              <a:t> − Ideal for vector-based images scalable without loss of quality.</a:t>
            </a:r>
            <a:endParaRPr/>
          </a:p>
          <a:p>
            <a:pPr marL="285750" marR="0" lvl="0" indent="-285750" algn="just" rtl="0">
              <a:lnSpc>
                <a:spcPct val="150000"/>
              </a:lnSpc>
              <a:spcBef>
                <a:spcPts val="0"/>
              </a:spcBef>
              <a:spcAft>
                <a:spcPts val="0"/>
              </a:spcAft>
              <a:buClr>
                <a:srgbClr val="000000"/>
              </a:buClr>
              <a:buSzPts val="1800"/>
              <a:buFont typeface="Arial"/>
              <a:buChar char="•"/>
            </a:pPr>
            <a:r>
              <a:rPr lang="en-IN" sz="1800" b="1" i="0" u="none" strike="noStrike" cap="none">
                <a:solidFill>
                  <a:srgbClr val="000000"/>
                </a:solidFill>
                <a:latin typeface="Calibri"/>
                <a:ea typeface="Calibri"/>
                <a:cs typeface="Calibri"/>
                <a:sym typeface="Calibri"/>
              </a:rPr>
              <a:t>SVG (.svg)</a:t>
            </a:r>
            <a:r>
              <a:rPr lang="en-IN" sz="1800" b="0" i="0" u="none" strike="noStrike" cap="none">
                <a:solidFill>
                  <a:srgbClr val="000000"/>
                </a:solidFill>
                <a:latin typeface="Calibri"/>
                <a:ea typeface="Calibri"/>
                <a:cs typeface="Calibri"/>
                <a:sym typeface="Calibri"/>
              </a:rPr>
              <a:t> − Scalable Vector Graphics which suitable for web-based or vector-based graphics.</a:t>
            </a:r>
            <a:endParaRPr/>
          </a:p>
          <a:p>
            <a:pPr marL="285750" marR="0" lvl="0" indent="-171450" algn="just" rtl="0">
              <a:lnSpc>
                <a:spcPct val="150000"/>
              </a:lnSpc>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graphicFrame>
        <p:nvGraphicFramePr>
          <p:cNvPr id="192" name="Google Shape;192;p11"/>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93" name="Google Shape;193;p11"/>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11</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94" name="Google Shape;194;p11"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95" name="Google Shape;195;p11"/>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96" name="Google Shape;196;p11"/>
          <p:cNvSpPr txBox="1"/>
          <p:nvPr/>
        </p:nvSpPr>
        <p:spPr>
          <a:xfrm>
            <a:off x="0" y="873851"/>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i="0" u="none" strike="noStrike" cap="none">
                <a:solidFill>
                  <a:schemeClr val="dk1"/>
                </a:solidFill>
                <a:latin typeface="Calibri"/>
                <a:ea typeface="Calibri"/>
                <a:cs typeface="Calibri"/>
                <a:sym typeface="Calibri"/>
              </a:rPr>
              <a:t>Saving Plots</a:t>
            </a:r>
            <a:endParaRPr sz="3600" b="1" i="0" u="none" strike="noStrike" cap="none">
              <a:solidFill>
                <a:schemeClr val="dk1"/>
              </a:solidFill>
              <a:latin typeface="Calibri"/>
              <a:ea typeface="Calibri"/>
              <a:cs typeface="Calibri"/>
              <a:sym typeface="Calibri"/>
            </a:endParaRPr>
          </a:p>
        </p:txBody>
      </p:sp>
      <p:sp>
        <p:nvSpPr>
          <p:cNvPr id="197" name="Google Shape;197;p11"/>
          <p:cNvSpPr txBox="1"/>
          <p:nvPr/>
        </p:nvSpPr>
        <p:spPr>
          <a:xfrm>
            <a:off x="487016" y="1509615"/>
            <a:ext cx="11182470" cy="4619854"/>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IN" sz="1800" b="1" i="0" u="none" strike="noStrike" cap="none">
                <a:solidFill>
                  <a:srgbClr val="000000"/>
                </a:solidFill>
                <a:latin typeface="Calibri"/>
                <a:ea typeface="Calibri"/>
                <a:cs typeface="Calibri"/>
                <a:sym typeface="Calibri"/>
              </a:rPr>
              <a:t>Syntax: </a:t>
            </a:r>
            <a:r>
              <a:rPr lang="en-IN" sz="1800" b="0" i="0" u="none" strike="noStrike" cap="none">
                <a:solidFill>
                  <a:schemeClr val="dk1"/>
                </a:solidFill>
                <a:latin typeface="Calibri"/>
                <a:ea typeface="Calibri"/>
                <a:cs typeface="Calibri"/>
                <a:sym typeface="Calibri"/>
              </a:rPr>
              <a:t>plt.savefig(fname, dpi=None, bbox_inches='tight', pad_inches=0.1, format=None, kwargs)</a:t>
            </a:r>
            <a:endParaRPr/>
          </a:p>
          <a:p>
            <a:pPr marL="285750" marR="0" lvl="0" indent="-285750" algn="just" rtl="0">
              <a:lnSpc>
                <a:spcPct val="150000"/>
              </a:lnSpc>
              <a:spcBef>
                <a:spcPts val="0"/>
              </a:spcBef>
              <a:spcAft>
                <a:spcPts val="0"/>
              </a:spcAft>
              <a:buClr>
                <a:srgbClr val="000000"/>
              </a:buClr>
              <a:buSzPts val="1800"/>
              <a:buFont typeface="Arial"/>
              <a:buChar char="•"/>
            </a:pPr>
            <a:r>
              <a:rPr lang="en-IN" sz="1800" b="1" i="0" u="none" strike="noStrike" cap="none">
                <a:solidFill>
                  <a:srgbClr val="000000"/>
                </a:solidFill>
                <a:latin typeface="Calibri"/>
                <a:ea typeface="Calibri"/>
                <a:cs typeface="Calibri"/>
                <a:sym typeface="Calibri"/>
              </a:rPr>
              <a:t>fname</a:t>
            </a:r>
            <a:r>
              <a:rPr lang="en-IN" sz="1800" b="0" i="0" u="none" strike="noStrike" cap="none">
                <a:solidFill>
                  <a:srgbClr val="000000"/>
                </a:solidFill>
                <a:latin typeface="Calibri"/>
                <a:ea typeface="Calibri"/>
                <a:cs typeface="Calibri"/>
                <a:sym typeface="Calibri"/>
              </a:rPr>
              <a:t> − The file name or path of the file to save the figure. The file extension determines the file format such as </a:t>
            </a:r>
            <a:r>
              <a:rPr lang="en-IN" sz="1800" b="1" i="0" u="none" strike="noStrike" cap="none">
                <a:solidFill>
                  <a:srgbClr val="000000"/>
                </a:solidFill>
                <a:latin typeface="Calibri"/>
                <a:ea typeface="Calibri"/>
                <a:cs typeface="Calibri"/>
                <a:sym typeface="Calibri"/>
              </a:rPr>
              <a:t>".png"</a:t>
            </a:r>
            <a:r>
              <a:rPr lang="en-IN" sz="1800" b="0" i="0" u="none" strike="noStrike" cap="none">
                <a:solidFill>
                  <a:srgbClr val="000000"/>
                </a:solidFill>
                <a:latin typeface="Calibri"/>
                <a:ea typeface="Calibri"/>
                <a:cs typeface="Calibri"/>
                <a:sym typeface="Calibri"/>
              </a:rPr>
              <a:t>, </a:t>
            </a:r>
            <a:r>
              <a:rPr lang="en-IN" sz="1800" b="1" i="0" u="none" strike="noStrike" cap="none">
                <a:solidFill>
                  <a:srgbClr val="000000"/>
                </a:solidFill>
                <a:latin typeface="Calibri"/>
                <a:ea typeface="Calibri"/>
                <a:cs typeface="Calibri"/>
                <a:sym typeface="Calibri"/>
              </a:rPr>
              <a:t>".pdf"</a:t>
            </a:r>
            <a:r>
              <a:rPr lang="en-IN" sz="1800" b="0" i="0" u="none" strike="noStrike" cap="none">
                <a:solidFill>
                  <a:srgbClr val="000000"/>
                </a:solidFill>
                <a:latin typeface="Calibri"/>
                <a:ea typeface="Calibri"/>
                <a:cs typeface="Calibri"/>
                <a:sym typeface="Calibri"/>
              </a:rPr>
              <a:t>.</a:t>
            </a:r>
            <a:endParaRPr/>
          </a:p>
          <a:p>
            <a:pPr marL="285750" marR="0" lvl="0" indent="-285750" algn="just" rtl="0">
              <a:lnSpc>
                <a:spcPct val="150000"/>
              </a:lnSpc>
              <a:spcBef>
                <a:spcPts val="0"/>
              </a:spcBef>
              <a:spcAft>
                <a:spcPts val="0"/>
              </a:spcAft>
              <a:buClr>
                <a:srgbClr val="000000"/>
              </a:buClr>
              <a:buSzPts val="1800"/>
              <a:buFont typeface="Arial"/>
              <a:buChar char="•"/>
            </a:pPr>
            <a:r>
              <a:rPr lang="en-IN" sz="1800" b="1" i="0" u="none" strike="noStrike" cap="none">
                <a:solidFill>
                  <a:srgbClr val="000000"/>
                </a:solidFill>
                <a:latin typeface="Calibri"/>
                <a:ea typeface="Calibri"/>
                <a:cs typeface="Calibri"/>
                <a:sym typeface="Calibri"/>
              </a:rPr>
              <a:t>dpi</a:t>
            </a:r>
            <a:r>
              <a:rPr lang="en-IN" sz="1800" b="0" i="0" u="none" strike="noStrike" cap="none">
                <a:solidFill>
                  <a:srgbClr val="000000"/>
                </a:solidFill>
                <a:latin typeface="Calibri"/>
                <a:ea typeface="Calibri"/>
                <a:cs typeface="Calibri"/>
                <a:sym typeface="Calibri"/>
              </a:rPr>
              <a:t> − Dots per inch i.e. resolution for the saved figure. Default is </a:t>
            </a:r>
            <a:r>
              <a:rPr lang="en-IN" sz="1800" b="1" i="0" u="none" strike="noStrike" cap="none">
                <a:solidFill>
                  <a:srgbClr val="000000"/>
                </a:solidFill>
                <a:latin typeface="Calibri"/>
                <a:ea typeface="Calibri"/>
                <a:cs typeface="Calibri"/>
                <a:sym typeface="Calibri"/>
              </a:rPr>
              <a:t>"None"</a:t>
            </a:r>
            <a:r>
              <a:rPr lang="en-IN" sz="1800" b="0" i="0" u="none" strike="noStrike" cap="none">
                <a:solidFill>
                  <a:srgbClr val="000000"/>
                </a:solidFill>
                <a:latin typeface="Calibri"/>
                <a:ea typeface="Calibri"/>
                <a:cs typeface="Calibri"/>
                <a:sym typeface="Calibri"/>
              </a:rPr>
              <a:t> which uses the Matplotlib default.</a:t>
            </a:r>
            <a:endParaRPr/>
          </a:p>
          <a:p>
            <a:pPr marL="285750" marR="0" lvl="0" indent="-285750" algn="just" rtl="0">
              <a:lnSpc>
                <a:spcPct val="150000"/>
              </a:lnSpc>
              <a:spcBef>
                <a:spcPts val="0"/>
              </a:spcBef>
              <a:spcAft>
                <a:spcPts val="0"/>
              </a:spcAft>
              <a:buClr>
                <a:srgbClr val="000000"/>
              </a:buClr>
              <a:buSzPts val="1800"/>
              <a:buFont typeface="Arial"/>
              <a:buChar char="•"/>
            </a:pPr>
            <a:r>
              <a:rPr lang="en-IN" sz="1800" b="1" i="0" u="none" strike="noStrike" cap="none">
                <a:solidFill>
                  <a:srgbClr val="000000"/>
                </a:solidFill>
                <a:latin typeface="Calibri"/>
                <a:ea typeface="Calibri"/>
                <a:cs typeface="Calibri"/>
                <a:sym typeface="Calibri"/>
              </a:rPr>
              <a:t>bbox_inches</a:t>
            </a:r>
            <a:r>
              <a:rPr lang="en-IN" sz="1800" b="0" i="0" u="none" strike="noStrike" cap="none">
                <a:solidFill>
                  <a:srgbClr val="000000"/>
                </a:solidFill>
                <a:latin typeface="Calibri"/>
                <a:ea typeface="Calibri"/>
                <a:cs typeface="Calibri"/>
                <a:sym typeface="Calibri"/>
              </a:rPr>
              <a:t> − Specifies which part of the figure to save. Options include 'tight', 'standard' or a specified bounding box in inches.</a:t>
            </a:r>
            <a:endParaRPr/>
          </a:p>
          <a:p>
            <a:pPr marL="285750" marR="0" lvl="0" indent="-285750" algn="just" rtl="0">
              <a:lnSpc>
                <a:spcPct val="150000"/>
              </a:lnSpc>
              <a:spcBef>
                <a:spcPts val="0"/>
              </a:spcBef>
              <a:spcAft>
                <a:spcPts val="0"/>
              </a:spcAft>
              <a:buClr>
                <a:srgbClr val="000000"/>
              </a:buClr>
              <a:buSzPts val="1800"/>
              <a:buFont typeface="Arial"/>
              <a:buChar char="•"/>
            </a:pPr>
            <a:r>
              <a:rPr lang="en-IN" sz="1800" b="1" i="0" u="none" strike="noStrike" cap="none">
                <a:solidFill>
                  <a:srgbClr val="000000"/>
                </a:solidFill>
                <a:latin typeface="Calibri"/>
                <a:ea typeface="Calibri"/>
                <a:cs typeface="Calibri"/>
                <a:sym typeface="Calibri"/>
              </a:rPr>
              <a:t>pad_inches</a:t>
            </a:r>
            <a:r>
              <a:rPr lang="en-IN" sz="1800" b="0" i="0" u="none" strike="noStrike" cap="none">
                <a:solidFill>
                  <a:srgbClr val="000000"/>
                </a:solidFill>
                <a:latin typeface="Calibri"/>
                <a:ea typeface="Calibri"/>
                <a:cs typeface="Calibri"/>
                <a:sym typeface="Calibri"/>
              </a:rPr>
              <a:t> − Padding around the figure when </a:t>
            </a:r>
            <a:r>
              <a:rPr lang="en-IN" sz="1800" b="1" i="0" u="none" strike="noStrike" cap="none">
                <a:solidFill>
                  <a:srgbClr val="000000"/>
                </a:solidFill>
                <a:latin typeface="Calibri"/>
                <a:ea typeface="Calibri"/>
                <a:cs typeface="Calibri"/>
                <a:sym typeface="Calibri"/>
              </a:rPr>
              <a:t>bbox_inches='tight'</a:t>
            </a:r>
            <a:r>
              <a:rPr lang="en-IN" sz="1800" b="0" i="0" u="none" strike="noStrike" cap="none">
                <a:solidFill>
                  <a:srgbClr val="000000"/>
                </a:solidFill>
                <a:latin typeface="Calibri"/>
                <a:ea typeface="Calibri"/>
                <a:cs typeface="Calibri"/>
                <a:sym typeface="Calibri"/>
              </a:rPr>
              <a:t>.</a:t>
            </a:r>
            <a:endParaRPr/>
          </a:p>
          <a:p>
            <a:pPr marL="285750" marR="0" lvl="0" indent="-285750" algn="just" rtl="0">
              <a:lnSpc>
                <a:spcPct val="150000"/>
              </a:lnSpc>
              <a:spcBef>
                <a:spcPts val="0"/>
              </a:spcBef>
              <a:spcAft>
                <a:spcPts val="0"/>
              </a:spcAft>
              <a:buClr>
                <a:srgbClr val="000000"/>
              </a:buClr>
              <a:buSzPts val="1800"/>
              <a:buFont typeface="Arial"/>
              <a:buChar char="•"/>
            </a:pPr>
            <a:r>
              <a:rPr lang="en-IN" sz="1800" b="1" i="0" u="none" strike="noStrike" cap="none">
                <a:solidFill>
                  <a:srgbClr val="000000"/>
                </a:solidFill>
                <a:latin typeface="Calibri"/>
                <a:ea typeface="Calibri"/>
                <a:cs typeface="Calibri"/>
                <a:sym typeface="Calibri"/>
              </a:rPr>
              <a:t>format</a:t>
            </a:r>
            <a:r>
              <a:rPr lang="en-IN" sz="1800" b="0" i="0" u="none" strike="noStrike" cap="none">
                <a:solidFill>
                  <a:srgbClr val="000000"/>
                </a:solidFill>
                <a:latin typeface="Calibri"/>
                <a:ea typeface="Calibri"/>
                <a:cs typeface="Calibri"/>
                <a:sym typeface="Calibri"/>
              </a:rPr>
              <a:t> − Explicitly specify the file format. If </a:t>
            </a:r>
            <a:r>
              <a:rPr lang="en-IN" sz="1800" b="1" i="0" u="none" strike="noStrike" cap="none">
                <a:solidFill>
                  <a:srgbClr val="000000"/>
                </a:solidFill>
                <a:latin typeface="Calibri"/>
                <a:ea typeface="Calibri"/>
                <a:cs typeface="Calibri"/>
                <a:sym typeface="Calibri"/>
              </a:rPr>
              <a:t>'None'</a:t>
            </a:r>
            <a:r>
              <a:rPr lang="en-IN" sz="1800" b="0" i="0" u="none" strike="noStrike" cap="none">
                <a:solidFill>
                  <a:srgbClr val="000000"/>
                </a:solidFill>
                <a:latin typeface="Calibri"/>
                <a:ea typeface="Calibri"/>
                <a:cs typeface="Calibri"/>
                <a:sym typeface="Calibri"/>
              </a:rPr>
              <a:t> the format is inferred from the file extension in </a:t>
            </a:r>
            <a:r>
              <a:rPr lang="en-IN" sz="1800" b="1" i="0" u="none" strike="noStrike" cap="none">
                <a:solidFill>
                  <a:srgbClr val="000000"/>
                </a:solidFill>
                <a:latin typeface="Calibri"/>
                <a:ea typeface="Calibri"/>
                <a:cs typeface="Calibri"/>
                <a:sym typeface="Calibri"/>
              </a:rPr>
              <a:t>fname</a:t>
            </a:r>
            <a:r>
              <a:rPr lang="en-IN" sz="1800" b="0" i="0" u="none" strike="noStrike" cap="none">
                <a:solidFill>
                  <a:srgbClr val="000000"/>
                </a:solidFill>
                <a:latin typeface="Calibri"/>
                <a:ea typeface="Calibri"/>
                <a:cs typeface="Calibri"/>
                <a:sym typeface="Calibri"/>
              </a:rPr>
              <a:t>.</a:t>
            </a:r>
            <a:endParaRPr/>
          </a:p>
          <a:p>
            <a:pPr marL="285750" marR="0" lvl="0" indent="-285750" algn="just" rtl="0">
              <a:lnSpc>
                <a:spcPct val="150000"/>
              </a:lnSpc>
              <a:spcBef>
                <a:spcPts val="0"/>
              </a:spcBef>
              <a:spcAft>
                <a:spcPts val="0"/>
              </a:spcAft>
              <a:buClr>
                <a:srgbClr val="000000"/>
              </a:buClr>
              <a:buSzPts val="1800"/>
              <a:buFont typeface="Arial"/>
              <a:buChar char="•"/>
            </a:pPr>
            <a:r>
              <a:rPr lang="en-IN" sz="1800" b="1" i="0" u="none" strike="noStrike" cap="none">
                <a:solidFill>
                  <a:srgbClr val="000000"/>
                </a:solidFill>
                <a:latin typeface="Calibri"/>
                <a:ea typeface="Calibri"/>
                <a:cs typeface="Calibri"/>
                <a:sym typeface="Calibri"/>
              </a:rPr>
              <a:t>kwargs</a:t>
            </a:r>
            <a:r>
              <a:rPr lang="en-IN" sz="1800" b="0" i="0" u="none" strike="noStrike" cap="none">
                <a:solidFill>
                  <a:srgbClr val="000000"/>
                </a:solidFill>
                <a:latin typeface="Calibri"/>
                <a:ea typeface="Calibri"/>
                <a:cs typeface="Calibri"/>
                <a:sym typeface="Calibri"/>
              </a:rPr>
              <a:t> − Additional keyword arguments specific to the chosen file format.</a:t>
            </a:r>
            <a:endParaRPr/>
          </a:p>
          <a:p>
            <a:pPr marL="285750" marR="0" lvl="0" indent="-171450" algn="just" rtl="0">
              <a:lnSpc>
                <a:spcPct val="150000"/>
              </a:lnSpc>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a:p>
            <a:pPr marL="285750" marR="0" lvl="0" indent="-171450" algn="just" rtl="0">
              <a:lnSpc>
                <a:spcPct val="150000"/>
              </a:lnSpc>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graphicFrame>
        <p:nvGraphicFramePr>
          <p:cNvPr id="202" name="Google Shape;202;p12"/>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203" name="Google Shape;203;p12"/>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12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204" name="Google Shape;204;p12"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205" name="Google Shape;205;p12"/>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06" name="Google Shape;206;p12"/>
          <p:cNvSpPr txBox="1"/>
          <p:nvPr/>
        </p:nvSpPr>
        <p:spPr>
          <a:xfrm>
            <a:off x="0" y="873851"/>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i="0" u="none" strike="noStrike" cap="none">
                <a:solidFill>
                  <a:schemeClr val="dk1"/>
                </a:solidFill>
                <a:latin typeface="Calibri"/>
                <a:ea typeface="Calibri"/>
                <a:cs typeface="Calibri"/>
                <a:sym typeface="Calibri"/>
              </a:rPr>
              <a:t>Saving Plots</a:t>
            </a:r>
            <a:endParaRPr sz="3600" b="1" i="0" u="none" strike="noStrike" cap="none">
              <a:solidFill>
                <a:schemeClr val="dk1"/>
              </a:solidFill>
              <a:latin typeface="Calibri"/>
              <a:ea typeface="Calibri"/>
              <a:cs typeface="Calibri"/>
              <a:sym typeface="Calibri"/>
            </a:endParaRPr>
          </a:p>
        </p:txBody>
      </p:sp>
      <p:sp>
        <p:nvSpPr>
          <p:cNvPr id="207" name="Google Shape;207;p12"/>
          <p:cNvSpPr txBox="1"/>
          <p:nvPr/>
        </p:nvSpPr>
        <p:spPr>
          <a:xfrm>
            <a:off x="487016" y="1509615"/>
            <a:ext cx="6055297" cy="378885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IN" sz="1800" b="0" i="0" u="none" strike="noStrike" cap="none" dirty="0">
                <a:solidFill>
                  <a:schemeClr val="dk1"/>
                </a:solidFill>
                <a:latin typeface="Calibri"/>
                <a:ea typeface="Calibri"/>
                <a:cs typeface="Calibri"/>
                <a:sym typeface="Calibri"/>
              </a:rPr>
              <a:t>import </a:t>
            </a:r>
            <a:r>
              <a:rPr lang="en-IN" sz="1800" b="0" i="0" u="none" strike="noStrike" cap="none" dirty="0" err="1">
                <a:solidFill>
                  <a:schemeClr val="dk1"/>
                </a:solidFill>
                <a:latin typeface="Calibri"/>
                <a:ea typeface="Calibri"/>
                <a:cs typeface="Calibri"/>
                <a:sym typeface="Calibri"/>
              </a:rPr>
              <a:t>matplotlib.pyplot</a:t>
            </a:r>
            <a:r>
              <a:rPr lang="en-IN" sz="1800" b="0" i="0" u="none" strike="noStrike" cap="none" dirty="0">
                <a:solidFill>
                  <a:schemeClr val="dk1"/>
                </a:solidFill>
                <a:latin typeface="Calibri"/>
                <a:ea typeface="Calibri"/>
                <a:cs typeface="Calibri"/>
                <a:sym typeface="Calibri"/>
              </a:rPr>
              <a:t> as </a:t>
            </a:r>
            <a:r>
              <a:rPr lang="en-IN" sz="1800" b="0" i="0" u="none" strike="noStrike" cap="none" dirty="0" err="1">
                <a:solidFill>
                  <a:schemeClr val="dk1"/>
                </a:solidFill>
                <a:latin typeface="Calibri"/>
                <a:ea typeface="Calibri"/>
                <a:cs typeface="Calibri"/>
                <a:sym typeface="Calibri"/>
              </a:rPr>
              <a:t>plt</a:t>
            </a:r>
            <a:r>
              <a:rPr lang="en-IN" sz="1800" b="0" i="0" u="none" strike="noStrike" cap="none" dirty="0">
                <a:solidFill>
                  <a:schemeClr val="dk1"/>
                </a:solidFill>
                <a:latin typeface="Calibri"/>
                <a:ea typeface="Calibri"/>
                <a:cs typeface="Calibri"/>
                <a:sym typeface="Calibri"/>
              </a:rPr>
              <a:t> </a:t>
            </a:r>
            <a:endParaRPr dirty="0"/>
          </a:p>
          <a:p>
            <a:pPr marL="0" marR="0" lvl="0" indent="0" algn="just" rtl="0">
              <a:lnSpc>
                <a:spcPct val="150000"/>
              </a:lnSpc>
              <a:spcBef>
                <a:spcPts val="0"/>
              </a:spcBef>
              <a:spcAft>
                <a:spcPts val="0"/>
              </a:spcAft>
              <a:buNone/>
            </a:pPr>
            <a:r>
              <a:rPr lang="en-IN" sz="1800" b="0" i="0" u="none" strike="noStrike" cap="none" dirty="0">
                <a:solidFill>
                  <a:schemeClr val="dk1"/>
                </a:solidFill>
                <a:latin typeface="Calibri"/>
                <a:ea typeface="Calibri"/>
                <a:cs typeface="Calibri"/>
                <a:sym typeface="Calibri"/>
              </a:rPr>
              <a:t>x = [22,1,7,2,21,11,14,5] </a:t>
            </a:r>
            <a:endParaRPr dirty="0"/>
          </a:p>
          <a:p>
            <a:pPr marL="0" marR="0" lvl="0" indent="0" algn="just" rtl="0">
              <a:lnSpc>
                <a:spcPct val="150000"/>
              </a:lnSpc>
              <a:spcBef>
                <a:spcPts val="0"/>
              </a:spcBef>
              <a:spcAft>
                <a:spcPts val="0"/>
              </a:spcAft>
              <a:buNone/>
            </a:pPr>
            <a:r>
              <a:rPr lang="en-IN" sz="1800" b="0" i="0" u="none" strike="noStrike" cap="none" dirty="0">
                <a:solidFill>
                  <a:schemeClr val="dk1"/>
                </a:solidFill>
                <a:latin typeface="Calibri"/>
                <a:ea typeface="Calibri"/>
                <a:cs typeface="Calibri"/>
                <a:sym typeface="Calibri"/>
              </a:rPr>
              <a:t>y = [24,2,12,5,5,5,9,12] </a:t>
            </a:r>
            <a:endParaRPr dirty="0"/>
          </a:p>
          <a:p>
            <a:pPr marL="0" marR="0" lvl="0" indent="0" algn="just" rtl="0">
              <a:lnSpc>
                <a:spcPct val="150000"/>
              </a:lnSpc>
              <a:spcBef>
                <a:spcPts val="0"/>
              </a:spcBef>
              <a:spcAft>
                <a:spcPts val="0"/>
              </a:spcAft>
              <a:buNone/>
            </a:pPr>
            <a:r>
              <a:rPr lang="en-IN" sz="1800" b="0" i="0" u="none" strike="noStrike" cap="none" dirty="0" err="1">
                <a:solidFill>
                  <a:schemeClr val="dk1"/>
                </a:solidFill>
                <a:latin typeface="Calibri"/>
                <a:ea typeface="Calibri"/>
                <a:cs typeface="Calibri"/>
                <a:sym typeface="Calibri"/>
              </a:rPr>
              <a:t>plt.plot</a:t>
            </a:r>
            <a:r>
              <a:rPr lang="en-IN" sz="1800" b="0" i="0" u="none" strike="noStrike" cap="none" dirty="0">
                <a:solidFill>
                  <a:schemeClr val="dk1"/>
                </a:solidFill>
                <a:latin typeface="Calibri"/>
                <a:ea typeface="Calibri"/>
                <a:cs typeface="Calibri"/>
                <a:sym typeface="Calibri"/>
              </a:rPr>
              <a:t>(</a:t>
            </a:r>
            <a:r>
              <a:rPr lang="en-IN" sz="1800" b="0" i="0" u="none" strike="noStrike" cap="none" dirty="0" err="1">
                <a:solidFill>
                  <a:schemeClr val="dk1"/>
                </a:solidFill>
                <a:latin typeface="Calibri"/>
                <a:ea typeface="Calibri"/>
                <a:cs typeface="Calibri"/>
                <a:sym typeface="Calibri"/>
              </a:rPr>
              <a:t>x,y</a:t>
            </a:r>
            <a:r>
              <a:rPr lang="en-IN" sz="1800" b="0" i="0" u="none" strike="noStrike" cap="none" dirty="0">
                <a:solidFill>
                  <a:schemeClr val="dk1"/>
                </a:solidFill>
                <a:latin typeface="Calibri"/>
                <a:ea typeface="Calibri"/>
                <a:cs typeface="Calibri"/>
                <a:sym typeface="Calibri"/>
              </a:rPr>
              <a:t>) </a:t>
            </a:r>
            <a:endParaRPr dirty="0"/>
          </a:p>
          <a:p>
            <a:pPr marL="0" marR="0" lvl="0" indent="0" algn="just" rtl="0">
              <a:lnSpc>
                <a:spcPct val="150000"/>
              </a:lnSpc>
              <a:spcBef>
                <a:spcPts val="0"/>
              </a:spcBef>
              <a:spcAft>
                <a:spcPts val="0"/>
              </a:spcAft>
              <a:buNone/>
            </a:pPr>
            <a:r>
              <a:rPr lang="en-IN" sz="1800" b="0" i="0" u="none" strike="noStrike" cap="none" dirty="0" err="1">
                <a:solidFill>
                  <a:schemeClr val="dk1"/>
                </a:solidFill>
                <a:latin typeface="Calibri"/>
                <a:ea typeface="Calibri"/>
                <a:cs typeface="Calibri"/>
                <a:sym typeface="Calibri"/>
              </a:rPr>
              <a:t>plt.xlabel</a:t>
            </a:r>
            <a:r>
              <a:rPr lang="en-IN" sz="1800" b="0" i="0" u="none" strike="noStrike" cap="none" dirty="0">
                <a:solidFill>
                  <a:schemeClr val="dk1"/>
                </a:solidFill>
                <a:latin typeface="Calibri"/>
                <a:ea typeface="Calibri"/>
                <a:cs typeface="Calibri"/>
                <a:sym typeface="Calibri"/>
              </a:rPr>
              <a:t>('X-axis’) </a:t>
            </a:r>
            <a:endParaRPr dirty="0"/>
          </a:p>
          <a:p>
            <a:pPr marL="0" marR="0" lvl="0" indent="0" algn="just" rtl="0">
              <a:lnSpc>
                <a:spcPct val="150000"/>
              </a:lnSpc>
              <a:spcBef>
                <a:spcPts val="0"/>
              </a:spcBef>
              <a:spcAft>
                <a:spcPts val="0"/>
              </a:spcAft>
              <a:buNone/>
            </a:pPr>
            <a:r>
              <a:rPr lang="en-IN" sz="1800" b="0" i="0" u="none" strike="noStrike" cap="none" dirty="0" err="1">
                <a:solidFill>
                  <a:schemeClr val="dk1"/>
                </a:solidFill>
                <a:latin typeface="Calibri"/>
                <a:ea typeface="Calibri"/>
                <a:cs typeface="Calibri"/>
                <a:sym typeface="Calibri"/>
              </a:rPr>
              <a:t>plt.ylabel</a:t>
            </a:r>
            <a:r>
              <a:rPr lang="en-IN" sz="1800" b="0" i="0" u="none" strike="noStrike" cap="none" dirty="0">
                <a:solidFill>
                  <a:schemeClr val="dk1"/>
                </a:solidFill>
                <a:latin typeface="Calibri"/>
                <a:ea typeface="Calibri"/>
                <a:cs typeface="Calibri"/>
                <a:sym typeface="Calibri"/>
              </a:rPr>
              <a:t>('Y-axis’) </a:t>
            </a:r>
            <a:endParaRPr dirty="0"/>
          </a:p>
          <a:p>
            <a:pPr marL="0" marR="0" lvl="0" indent="0" algn="just" rtl="0">
              <a:lnSpc>
                <a:spcPct val="150000"/>
              </a:lnSpc>
              <a:spcBef>
                <a:spcPts val="0"/>
              </a:spcBef>
              <a:spcAft>
                <a:spcPts val="0"/>
              </a:spcAft>
              <a:buNone/>
            </a:pPr>
            <a:r>
              <a:rPr lang="en-IN" sz="1800" b="0" i="0" u="none" strike="noStrike" cap="none" dirty="0" err="1">
                <a:solidFill>
                  <a:schemeClr val="dk1"/>
                </a:solidFill>
                <a:latin typeface="Calibri"/>
                <a:ea typeface="Calibri"/>
                <a:cs typeface="Calibri"/>
                <a:sym typeface="Calibri"/>
              </a:rPr>
              <a:t>plt.title</a:t>
            </a:r>
            <a:r>
              <a:rPr lang="en-IN" sz="1800" b="0" i="0" u="none" strike="noStrike" cap="none" dirty="0">
                <a:solidFill>
                  <a:schemeClr val="dk1"/>
                </a:solidFill>
                <a:latin typeface="Calibri"/>
                <a:ea typeface="Calibri"/>
                <a:cs typeface="Calibri"/>
                <a:sym typeface="Calibri"/>
              </a:rPr>
              <a:t>('Simple Line Plot’) </a:t>
            </a:r>
            <a:endParaRPr dirty="0"/>
          </a:p>
          <a:p>
            <a:pPr marL="0" marR="0" lvl="0" indent="0" algn="just" rtl="0">
              <a:lnSpc>
                <a:spcPct val="150000"/>
              </a:lnSpc>
              <a:spcBef>
                <a:spcPts val="0"/>
              </a:spcBef>
              <a:spcAft>
                <a:spcPts val="0"/>
              </a:spcAft>
              <a:buNone/>
            </a:pPr>
            <a:r>
              <a:rPr lang="en-IN" sz="1800" b="1" i="0" u="none" strike="noStrike" cap="none" dirty="0" err="1">
                <a:solidFill>
                  <a:schemeClr val="dk1"/>
                </a:solidFill>
                <a:latin typeface="Calibri"/>
                <a:ea typeface="Calibri"/>
                <a:cs typeface="Calibri"/>
                <a:sym typeface="Calibri"/>
              </a:rPr>
              <a:t>plt.savefig</a:t>
            </a:r>
            <a:r>
              <a:rPr lang="en-IN" sz="1800" b="1" i="0" u="none" strike="noStrike" cap="none" dirty="0">
                <a:solidFill>
                  <a:schemeClr val="dk1"/>
                </a:solidFill>
                <a:latin typeface="Calibri"/>
                <a:ea typeface="Calibri"/>
                <a:cs typeface="Calibri"/>
                <a:sym typeface="Calibri"/>
              </a:rPr>
              <a:t>('matplotlib/</a:t>
            </a:r>
            <a:r>
              <a:rPr lang="en-IN" sz="1800" b="1" i="0" u="none" strike="noStrike" cap="none" dirty="0" err="1">
                <a:solidFill>
                  <a:schemeClr val="dk1"/>
                </a:solidFill>
                <a:latin typeface="Calibri"/>
                <a:ea typeface="Calibri"/>
                <a:cs typeface="Calibri"/>
                <a:sym typeface="Calibri"/>
              </a:rPr>
              <a:t>Savefig</a:t>
            </a:r>
            <a:r>
              <a:rPr lang="en-IN" sz="1800" b="1" i="0" u="none" strike="noStrike" cap="none" dirty="0">
                <a:solidFill>
                  <a:schemeClr val="dk1"/>
                </a:solidFill>
                <a:latin typeface="Calibri"/>
                <a:ea typeface="Calibri"/>
                <a:cs typeface="Calibri"/>
                <a:sym typeface="Calibri"/>
              </a:rPr>
              <a:t>/lineplot.png’) </a:t>
            </a:r>
            <a:endParaRPr dirty="0"/>
          </a:p>
          <a:p>
            <a:pPr marL="0" marR="0" lvl="0" indent="0" algn="just" rtl="0">
              <a:lnSpc>
                <a:spcPct val="150000"/>
              </a:lnSpc>
              <a:spcBef>
                <a:spcPts val="0"/>
              </a:spcBef>
              <a:spcAft>
                <a:spcPts val="0"/>
              </a:spcAft>
              <a:buNone/>
            </a:pPr>
            <a:r>
              <a:rPr lang="en-IN" sz="1800" b="0" i="0" u="none" strike="noStrike" cap="none" dirty="0" err="1">
                <a:solidFill>
                  <a:schemeClr val="dk1"/>
                </a:solidFill>
                <a:latin typeface="Calibri"/>
                <a:ea typeface="Calibri"/>
                <a:cs typeface="Calibri"/>
                <a:sym typeface="Calibri"/>
              </a:rPr>
              <a:t>plt.show</a:t>
            </a:r>
            <a:r>
              <a:rPr lang="en-IN" sz="1800" b="0" i="0" u="none" strike="noStrike" cap="none" dirty="0">
                <a:solidFill>
                  <a:schemeClr val="dk1"/>
                </a:solidFill>
                <a:latin typeface="Calibri"/>
                <a:ea typeface="Calibri"/>
                <a:cs typeface="Calibri"/>
                <a:sym typeface="Calibri"/>
              </a:rPr>
              <a:t>()</a:t>
            </a:r>
            <a:endParaRPr dirty="0"/>
          </a:p>
        </p:txBody>
      </p:sp>
      <p:pic>
        <p:nvPicPr>
          <p:cNvPr id="208" name="Google Shape;208;p12" descr="Line Plot"/>
          <p:cNvPicPr preferRelativeResize="0"/>
          <p:nvPr/>
        </p:nvPicPr>
        <p:blipFill rotWithShape="1">
          <a:blip r:embed="rId4">
            <a:alphaModFix/>
          </a:blip>
          <a:srcRect l="4107" t="4762" r="8035"/>
          <a:stretch/>
        </p:blipFill>
        <p:spPr>
          <a:xfrm>
            <a:off x="6291943" y="1904934"/>
            <a:ext cx="4950158" cy="402451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aphicFrame>
        <p:nvGraphicFramePr>
          <p:cNvPr id="88" name="Google Shape;88;p1"/>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89" name="Google Shape;89;p1"/>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1</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90" name="Google Shape;90;p1"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91" name="Google Shape;91;p1"/>
          <p:cNvSpPr/>
          <p:nvPr/>
        </p:nvSpPr>
        <p:spPr>
          <a:xfrm>
            <a:off x="4496971" y="2967335"/>
            <a:ext cx="3198248"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i="0" u="none" strike="noStrike" cap="none">
                <a:solidFill>
                  <a:schemeClr val="dk1"/>
                </a:solidFill>
                <a:latin typeface="Calibri"/>
                <a:ea typeface="Calibri"/>
                <a:cs typeface="Calibri"/>
                <a:sym typeface="Calibri"/>
              </a:rPr>
              <a:t>Seaborn Library</a:t>
            </a:r>
            <a:endParaRPr sz="23900" b="1" i="0" u="none" strike="noStrike" cap="none">
              <a:solidFill>
                <a:schemeClr val="dk1"/>
              </a:solidFill>
              <a:latin typeface="Calibri"/>
              <a:ea typeface="Calibri"/>
              <a:cs typeface="Calibri"/>
              <a:sym typeface="Calibri"/>
            </a:endParaRPr>
          </a:p>
        </p:txBody>
      </p:sp>
      <p:sp>
        <p:nvSpPr>
          <p:cNvPr id="92" name="Google Shape;92;p1"/>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graphicFrame>
        <p:nvGraphicFramePr>
          <p:cNvPr id="97" name="Google Shape;97;p2"/>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98" name="Google Shape;98;p2"/>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99" name="Google Shape;99;p2"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00" name="Google Shape;100;p2"/>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1" name="Google Shape;101;p2"/>
          <p:cNvSpPr txBox="1"/>
          <p:nvPr/>
        </p:nvSpPr>
        <p:spPr>
          <a:xfrm>
            <a:off x="0" y="873851"/>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i="0" u="none" strike="noStrike" cap="none">
                <a:solidFill>
                  <a:schemeClr val="dk1"/>
                </a:solidFill>
                <a:latin typeface="Calibri"/>
                <a:ea typeface="Calibri"/>
                <a:cs typeface="Calibri"/>
                <a:sym typeface="Calibri"/>
              </a:rPr>
              <a:t>Seaborn Library</a:t>
            </a:r>
            <a:endParaRPr sz="3600" b="1" i="0" u="none" strike="noStrike" cap="none">
              <a:solidFill>
                <a:schemeClr val="dk1"/>
              </a:solidFill>
              <a:latin typeface="Calibri"/>
              <a:ea typeface="Calibri"/>
              <a:cs typeface="Calibri"/>
              <a:sym typeface="Calibri"/>
            </a:endParaRPr>
          </a:p>
        </p:txBody>
      </p:sp>
      <p:sp>
        <p:nvSpPr>
          <p:cNvPr id="102" name="Google Shape;102;p2"/>
          <p:cNvSpPr txBox="1"/>
          <p:nvPr/>
        </p:nvSpPr>
        <p:spPr>
          <a:xfrm>
            <a:off x="487016" y="1574931"/>
            <a:ext cx="10972801" cy="2126864"/>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273239"/>
              </a:buClr>
              <a:buSzPts val="1800"/>
              <a:buFont typeface="Arial"/>
              <a:buChar char="•"/>
            </a:pPr>
            <a:r>
              <a:rPr lang="en-IN" sz="1800" b="1" i="0" u="none" strike="noStrike" cap="none">
                <a:solidFill>
                  <a:srgbClr val="273239"/>
                </a:solidFill>
                <a:latin typeface="Calibri"/>
                <a:ea typeface="Calibri"/>
                <a:cs typeface="Calibri"/>
                <a:sym typeface="Calibri"/>
              </a:rPr>
              <a:t>Seaborn</a:t>
            </a:r>
            <a:r>
              <a:rPr lang="en-IN" sz="1800" b="0" i="0" u="none" strike="noStrike" cap="none">
                <a:solidFill>
                  <a:srgbClr val="273239"/>
                </a:solidFill>
                <a:latin typeface="Calibri"/>
                <a:ea typeface="Calibri"/>
                <a:cs typeface="Calibri"/>
                <a:sym typeface="Calibri"/>
              </a:rPr>
              <a:t> is a library mostly used for statistical plotting in Python. </a:t>
            </a:r>
            <a:endParaRPr/>
          </a:p>
          <a:p>
            <a:pPr marL="285750" marR="0" lvl="0" indent="-285750" algn="l" rtl="0">
              <a:lnSpc>
                <a:spcPct val="150000"/>
              </a:lnSpc>
              <a:spcBef>
                <a:spcPts val="0"/>
              </a:spcBef>
              <a:spcAft>
                <a:spcPts val="0"/>
              </a:spcAft>
              <a:buClr>
                <a:srgbClr val="273239"/>
              </a:buClr>
              <a:buSzPts val="1800"/>
              <a:buFont typeface="Arial"/>
              <a:buChar char="•"/>
            </a:pPr>
            <a:r>
              <a:rPr lang="en-IN" sz="1800" b="0" i="0" u="none" strike="noStrike" cap="none">
                <a:solidFill>
                  <a:srgbClr val="273239"/>
                </a:solidFill>
                <a:latin typeface="Calibri"/>
                <a:ea typeface="Calibri"/>
                <a:cs typeface="Calibri"/>
                <a:sym typeface="Calibri"/>
              </a:rPr>
              <a:t>It is built on top of Matplotlib and provides beautiful default styles and color palettes to make statistical plots more attractive.</a:t>
            </a:r>
            <a:endParaRPr/>
          </a:p>
          <a:p>
            <a:pPr marL="0" marR="0" lvl="0" indent="0" algn="l" rtl="0">
              <a:lnSpc>
                <a:spcPct val="150000"/>
              </a:lnSpc>
              <a:spcBef>
                <a:spcPts val="0"/>
              </a:spcBef>
              <a:spcAft>
                <a:spcPts val="0"/>
              </a:spcAft>
              <a:buNone/>
            </a:pPr>
            <a:br>
              <a:rPr lang="en-IN" sz="1800" b="0" i="0" u="none" strike="noStrike" cap="none">
                <a:solidFill>
                  <a:schemeClr val="dk1"/>
                </a:solidFill>
                <a:latin typeface="Calibri"/>
                <a:ea typeface="Calibri"/>
                <a:cs typeface="Calibri"/>
                <a:sym typeface="Calibri"/>
              </a:rPr>
            </a:br>
            <a:endParaRPr sz="1800" b="0" i="0" u="none" strike="noStrike" cap="none">
              <a:solidFill>
                <a:schemeClr val="dk1"/>
              </a:solidFill>
              <a:latin typeface="Calibri"/>
              <a:ea typeface="Calibri"/>
              <a:cs typeface="Calibri"/>
              <a:sym typeface="Calibri"/>
            </a:endParaRPr>
          </a:p>
        </p:txBody>
      </p:sp>
      <p:pic>
        <p:nvPicPr>
          <p:cNvPr id="103" name="Google Shape;103;p2" descr="A screen shot of a graph&#10;&#10;Description automatically generated"/>
          <p:cNvPicPr preferRelativeResize="0"/>
          <p:nvPr/>
        </p:nvPicPr>
        <p:blipFill rotWithShape="1">
          <a:blip r:embed="rId4">
            <a:alphaModFix/>
          </a:blip>
          <a:srcRect/>
          <a:stretch/>
        </p:blipFill>
        <p:spPr>
          <a:xfrm>
            <a:off x="2771787" y="2905183"/>
            <a:ext cx="6067413" cy="35393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graphicFrame>
        <p:nvGraphicFramePr>
          <p:cNvPr id="108" name="Google Shape;108;p3"/>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09" name="Google Shape;109;p3"/>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10" name="Google Shape;110;p3"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11" name="Google Shape;111;p3"/>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2" name="Google Shape;112;p3"/>
          <p:cNvSpPr txBox="1"/>
          <p:nvPr/>
        </p:nvSpPr>
        <p:spPr>
          <a:xfrm>
            <a:off x="0" y="873851"/>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i="0" u="none" strike="noStrike" cap="none">
                <a:solidFill>
                  <a:schemeClr val="dk1"/>
                </a:solidFill>
                <a:latin typeface="Calibri"/>
                <a:ea typeface="Calibri"/>
                <a:cs typeface="Calibri"/>
                <a:sym typeface="Calibri"/>
              </a:rPr>
              <a:t>Features of Seaborn</a:t>
            </a:r>
            <a:endParaRPr sz="3600" b="1" i="0" u="none" strike="noStrike" cap="none">
              <a:solidFill>
                <a:schemeClr val="dk1"/>
              </a:solidFill>
              <a:latin typeface="Calibri"/>
              <a:ea typeface="Calibri"/>
              <a:cs typeface="Calibri"/>
              <a:sym typeface="Calibri"/>
            </a:endParaRPr>
          </a:p>
        </p:txBody>
      </p:sp>
      <p:sp>
        <p:nvSpPr>
          <p:cNvPr id="113" name="Google Shape;113;p3"/>
          <p:cNvSpPr txBox="1"/>
          <p:nvPr/>
        </p:nvSpPr>
        <p:spPr>
          <a:xfrm>
            <a:off x="487016" y="1574931"/>
            <a:ext cx="10972801" cy="5589351"/>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chemeClr val="dk1"/>
              </a:buClr>
              <a:buSzPts val="1800"/>
              <a:buFont typeface="Arial"/>
              <a:buChar char="•"/>
            </a:pPr>
            <a:r>
              <a:rPr lang="en-IN" sz="1800" b="1" i="0" u="none" strike="noStrike" cap="none">
                <a:solidFill>
                  <a:schemeClr val="dk1"/>
                </a:solidFill>
                <a:latin typeface="Calibri"/>
                <a:ea typeface="Calibri"/>
                <a:cs typeface="Calibri"/>
                <a:sym typeface="Calibri"/>
              </a:rPr>
              <a:t>Statistical Graphics: </a:t>
            </a:r>
            <a:r>
              <a:rPr lang="en-IN" sz="1800" b="0" i="0" u="none" strike="noStrike" cap="none">
                <a:solidFill>
                  <a:schemeClr val="dk1"/>
                </a:solidFill>
                <a:latin typeface="Calibri"/>
                <a:ea typeface="Calibri"/>
                <a:cs typeface="Calibri"/>
                <a:sym typeface="Calibri"/>
              </a:rPr>
              <a:t>Seaborn is specifically designed for creating statistical graphics, providing built-in functions for common visualizations like scatter plots, line plots, histograms, and more. This makes it easier to create visually appealing and informative plots for data analysis.</a:t>
            </a:r>
            <a:endParaRPr/>
          </a:p>
          <a:p>
            <a:pPr marL="285750" marR="0" lvl="0" indent="-171450" algn="just" rtl="0">
              <a:lnSpc>
                <a:spcPct val="150000"/>
              </a:lnSpc>
              <a:spcBef>
                <a:spcPts val="0"/>
              </a:spcBef>
              <a:spcAft>
                <a:spcPts val="0"/>
              </a:spcAft>
              <a:buClr>
                <a:schemeClr val="dk1"/>
              </a:buClr>
              <a:buSzPts val="1800"/>
              <a:buFont typeface="Arial"/>
              <a:buNone/>
            </a:pPr>
            <a:endParaRPr sz="1800" b="1" i="0" u="none" strike="noStrike" cap="none">
              <a:solidFill>
                <a:schemeClr val="dk1"/>
              </a:solidFill>
              <a:latin typeface="Calibri"/>
              <a:ea typeface="Calibri"/>
              <a:cs typeface="Calibri"/>
              <a:sym typeface="Calibri"/>
            </a:endParaRPr>
          </a:p>
          <a:p>
            <a:pPr marL="285750" marR="0" lvl="0" indent="-285750" algn="just" rtl="0">
              <a:lnSpc>
                <a:spcPct val="150000"/>
              </a:lnSpc>
              <a:spcBef>
                <a:spcPts val="0"/>
              </a:spcBef>
              <a:spcAft>
                <a:spcPts val="0"/>
              </a:spcAft>
              <a:buClr>
                <a:schemeClr val="dk1"/>
              </a:buClr>
              <a:buSzPts val="1800"/>
              <a:buFont typeface="Arial"/>
              <a:buChar char="•"/>
            </a:pPr>
            <a:r>
              <a:rPr lang="en-IN" sz="1800" b="1" i="0" u="none" strike="noStrike" cap="none">
                <a:solidFill>
                  <a:schemeClr val="dk1"/>
                </a:solidFill>
                <a:latin typeface="Calibri"/>
                <a:ea typeface="Calibri"/>
                <a:cs typeface="Calibri"/>
                <a:sym typeface="Calibri"/>
              </a:rPr>
              <a:t>Data Visualization Themes: </a:t>
            </a:r>
            <a:r>
              <a:rPr lang="en-IN" sz="1800" b="0" i="0" u="none" strike="noStrike" cap="none">
                <a:solidFill>
                  <a:schemeClr val="dk1"/>
                </a:solidFill>
                <a:latin typeface="Calibri"/>
                <a:ea typeface="Calibri"/>
                <a:cs typeface="Calibri"/>
                <a:sym typeface="Calibri"/>
              </a:rPr>
              <a:t>Seaborn offers pre-defined styles and themes that can quickly change the overall appearance of your plots. This helps create consistent and aesthetically pleasing visualizations without requiring extensive customization.</a:t>
            </a:r>
            <a:endParaRPr/>
          </a:p>
          <a:p>
            <a:pPr marL="285750" marR="0" lvl="0" indent="-171450" algn="just" rtl="0">
              <a:lnSpc>
                <a:spcPct val="150000"/>
              </a:lnSpc>
              <a:spcBef>
                <a:spcPts val="0"/>
              </a:spcBef>
              <a:spcAft>
                <a:spcPts val="0"/>
              </a:spcAft>
              <a:buClr>
                <a:schemeClr val="dk1"/>
              </a:buClr>
              <a:buSzPts val="1800"/>
              <a:buFont typeface="Arial"/>
              <a:buNone/>
            </a:pPr>
            <a:endParaRPr sz="1800" b="1" i="0" u="none" strike="noStrike" cap="none">
              <a:solidFill>
                <a:schemeClr val="dk1"/>
              </a:solidFill>
              <a:latin typeface="Calibri"/>
              <a:ea typeface="Calibri"/>
              <a:cs typeface="Calibri"/>
              <a:sym typeface="Calibri"/>
            </a:endParaRPr>
          </a:p>
          <a:p>
            <a:pPr marL="285750" marR="0" lvl="0" indent="-285750" algn="just" rtl="0">
              <a:lnSpc>
                <a:spcPct val="150000"/>
              </a:lnSpc>
              <a:spcBef>
                <a:spcPts val="0"/>
              </a:spcBef>
              <a:spcAft>
                <a:spcPts val="0"/>
              </a:spcAft>
              <a:buClr>
                <a:schemeClr val="dk1"/>
              </a:buClr>
              <a:buSzPts val="1800"/>
              <a:buFont typeface="Arial"/>
              <a:buChar char="•"/>
            </a:pPr>
            <a:r>
              <a:rPr lang="en-IN" sz="1800" b="1" i="0" u="none" strike="noStrike" cap="none">
                <a:solidFill>
                  <a:schemeClr val="dk1"/>
                </a:solidFill>
                <a:latin typeface="Calibri"/>
                <a:ea typeface="Calibri"/>
                <a:cs typeface="Calibri"/>
                <a:sym typeface="Calibri"/>
              </a:rPr>
              <a:t>Integration with Pandas and NumPy: </a:t>
            </a:r>
            <a:r>
              <a:rPr lang="en-IN" sz="1800" b="0" i="0" u="none" strike="noStrike" cap="none">
                <a:solidFill>
                  <a:schemeClr val="dk1"/>
                </a:solidFill>
                <a:latin typeface="Calibri"/>
                <a:ea typeface="Calibri"/>
                <a:cs typeface="Calibri"/>
                <a:sym typeface="Calibri"/>
              </a:rPr>
              <a:t>Seaborn seamlessly integrates with Pandas and NumPy, making it easy to work with dataframes and arrays directly. This simplifies the workflow and reduces the amount of code needed for data analysis and visualization.</a:t>
            </a:r>
            <a:endParaRPr/>
          </a:p>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a:p>
            <a:pPr marL="0" marR="0" lvl="0" indent="0" algn="just" rtl="0">
              <a:lnSpc>
                <a:spcPct val="15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graphicFrame>
        <p:nvGraphicFramePr>
          <p:cNvPr id="118" name="Google Shape;118;p4"/>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19" name="Google Shape;119;p4"/>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20" name="Google Shape;120;p4"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21" name="Google Shape;121;p4"/>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22" name="Google Shape;122;p4"/>
          <p:cNvSpPr txBox="1"/>
          <p:nvPr/>
        </p:nvSpPr>
        <p:spPr>
          <a:xfrm>
            <a:off x="0" y="873851"/>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i="0" u="none" strike="noStrike" cap="none">
                <a:solidFill>
                  <a:schemeClr val="dk1"/>
                </a:solidFill>
                <a:latin typeface="Calibri"/>
                <a:ea typeface="Calibri"/>
                <a:cs typeface="Calibri"/>
                <a:sym typeface="Calibri"/>
              </a:rPr>
              <a:t>Features of Seaborn</a:t>
            </a:r>
            <a:endParaRPr sz="3600" b="1" i="0" u="none" strike="noStrike" cap="none">
              <a:solidFill>
                <a:schemeClr val="dk1"/>
              </a:solidFill>
              <a:latin typeface="Calibri"/>
              <a:ea typeface="Calibri"/>
              <a:cs typeface="Calibri"/>
              <a:sym typeface="Calibri"/>
            </a:endParaRPr>
          </a:p>
        </p:txBody>
      </p:sp>
      <p:sp>
        <p:nvSpPr>
          <p:cNvPr id="123" name="Google Shape;123;p4"/>
          <p:cNvSpPr txBox="1"/>
          <p:nvPr/>
        </p:nvSpPr>
        <p:spPr>
          <a:xfrm>
            <a:off x="487016" y="1574931"/>
            <a:ext cx="10972801" cy="5866350"/>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chemeClr val="dk1"/>
              </a:buClr>
              <a:buSzPts val="1800"/>
              <a:buFont typeface="Arial"/>
              <a:buChar char="•"/>
            </a:pPr>
            <a:r>
              <a:rPr lang="en-IN" sz="1800" b="1" i="0" u="none" strike="noStrike" cap="none">
                <a:solidFill>
                  <a:schemeClr val="dk1"/>
                </a:solidFill>
                <a:latin typeface="Calibri"/>
                <a:ea typeface="Calibri"/>
                <a:cs typeface="Calibri"/>
                <a:sym typeface="Calibri"/>
              </a:rPr>
              <a:t>FacetGrid and Pair Plots: </a:t>
            </a:r>
            <a:r>
              <a:rPr lang="en-IN" sz="1800" b="0" i="0" u="none" strike="noStrike" cap="none">
                <a:solidFill>
                  <a:schemeClr val="dk1"/>
                </a:solidFill>
                <a:latin typeface="Calibri"/>
                <a:ea typeface="Calibri"/>
                <a:cs typeface="Calibri"/>
                <a:sym typeface="Calibri"/>
              </a:rPr>
              <a:t>Seaborn provides FacetGrid for grouping data and creating subplots based on categorical variables. This is useful for comparing distributions or relationships across different groups. Pair plots allow you to visualize the relationships between all pairs of numeric columns in a DataFrame, helping you identify correlations and patterns.</a:t>
            </a:r>
            <a:endParaRPr/>
          </a:p>
          <a:p>
            <a:pPr marL="285750" marR="0" lvl="0" indent="-171450" algn="just" rtl="0">
              <a:lnSpc>
                <a:spcPct val="150000"/>
              </a:lnSpc>
              <a:spcBef>
                <a:spcPts val="0"/>
              </a:spcBef>
              <a:spcAft>
                <a:spcPts val="0"/>
              </a:spcAft>
              <a:buClr>
                <a:schemeClr val="dk1"/>
              </a:buClr>
              <a:buSzPts val="1800"/>
              <a:buFont typeface="Arial"/>
              <a:buNone/>
            </a:pPr>
            <a:endParaRPr sz="1800" b="1" i="0" u="none" strike="noStrike" cap="none">
              <a:solidFill>
                <a:schemeClr val="dk1"/>
              </a:solidFill>
              <a:latin typeface="Calibri"/>
              <a:ea typeface="Calibri"/>
              <a:cs typeface="Calibri"/>
              <a:sym typeface="Calibri"/>
            </a:endParaRPr>
          </a:p>
          <a:p>
            <a:pPr marL="285750" marR="0" lvl="0" indent="-285750" algn="just" rtl="0">
              <a:lnSpc>
                <a:spcPct val="150000"/>
              </a:lnSpc>
              <a:spcBef>
                <a:spcPts val="0"/>
              </a:spcBef>
              <a:spcAft>
                <a:spcPts val="0"/>
              </a:spcAft>
              <a:buClr>
                <a:schemeClr val="dk1"/>
              </a:buClr>
              <a:buSzPts val="1800"/>
              <a:buFont typeface="Arial"/>
              <a:buChar char="•"/>
            </a:pPr>
            <a:r>
              <a:rPr lang="en-IN" sz="1800" b="1" i="0" u="none" strike="noStrike" cap="none">
                <a:solidFill>
                  <a:schemeClr val="dk1"/>
                </a:solidFill>
                <a:latin typeface="Calibri"/>
                <a:ea typeface="Calibri"/>
                <a:cs typeface="Calibri"/>
                <a:sym typeface="Calibri"/>
              </a:rPr>
              <a:t>Customization and Flexibility: </a:t>
            </a:r>
            <a:r>
              <a:rPr lang="en-IN" sz="1800" b="0" i="0" u="none" strike="noStrike" cap="none">
                <a:solidFill>
                  <a:schemeClr val="dk1"/>
                </a:solidFill>
                <a:latin typeface="Calibri"/>
                <a:ea typeface="Calibri"/>
                <a:cs typeface="Calibri"/>
                <a:sym typeface="Calibri"/>
              </a:rPr>
              <a:t>While Seaborn provides a high-level interface, it's built on top of Matplotlib, giving you access to its extensive customization options. This allows you to fine-tune your plots to meet your specific needs.</a:t>
            </a:r>
            <a:endParaRPr/>
          </a:p>
          <a:p>
            <a:pPr marL="285750" marR="0" lvl="0" indent="-171450" algn="just" rtl="0">
              <a:lnSpc>
                <a:spcPct val="150000"/>
              </a:lnSpc>
              <a:spcBef>
                <a:spcPts val="0"/>
              </a:spcBef>
              <a:spcAft>
                <a:spcPts val="0"/>
              </a:spcAft>
              <a:buClr>
                <a:schemeClr val="dk1"/>
              </a:buClr>
              <a:buSzPts val="1800"/>
              <a:buFont typeface="Arial"/>
              <a:buNone/>
            </a:pPr>
            <a:endParaRPr sz="1800" b="1" i="0" u="none" strike="noStrike" cap="none">
              <a:solidFill>
                <a:schemeClr val="dk1"/>
              </a:solidFill>
              <a:latin typeface="Calibri"/>
              <a:ea typeface="Calibri"/>
              <a:cs typeface="Calibri"/>
              <a:sym typeface="Calibri"/>
            </a:endParaRPr>
          </a:p>
          <a:p>
            <a:pPr marL="285750" marR="0" lvl="0" indent="-285750" algn="just" rtl="0">
              <a:lnSpc>
                <a:spcPct val="150000"/>
              </a:lnSpc>
              <a:spcBef>
                <a:spcPts val="0"/>
              </a:spcBef>
              <a:spcAft>
                <a:spcPts val="0"/>
              </a:spcAft>
              <a:buClr>
                <a:schemeClr val="dk1"/>
              </a:buClr>
              <a:buSzPts val="1800"/>
              <a:buFont typeface="Arial"/>
              <a:buChar char="•"/>
            </a:pPr>
            <a:r>
              <a:rPr lang="en-IN" sz="1800" b="1" i="0" u="none" strike="noStrike" cap="none">
                <a:solidFill>
                  <a:schemeClr val="dk1"/>
                </a:solidFill>
                <a:latin typeface="Calibri"/>
                <a:ea typeface="Calibri"/>
                <a:cs typeface="Calibri"/>
                <a:sym typeface="Calibri"/>
              </a:rPr>
              <a:t>Ease of Use: </a:t>
            </a:r>
            <a:r>
              <a:rPr lang="en-IN" sz="1800" b="0" i="0" u="none" strike="noStrike" cap="none">
                <a:solidFill>
                  <a:schemeClr val="dk1"/>
                </a:solidFill>
                <a:latin typeface="Calibri"/>
                <a:ea typeface="Calibri"/>
                <a:cs typeface="Calibri"/>
                <a:sym typeface="Calibri"/>
              </a:rPr>
              <a:t>Seaborn's API is designed to be user-friendly and intuitive, making it easier to learn and use compared to Matplotlib. Its documentation is also well-written and provides clear examples.</a:t>
            </a:r>
            <a:endParaRPr sz="18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graphicFrame>
        <p:nvGraphicFramePr>
          <p:cNvPr id="128" name="Google Shape;128;p5"/>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29" name="Google Shape;129;p5"/>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30" name="Google Shape;130;p5"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31" name="Google Shape;131;p5"/>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2" name="Google Shape;132;p5"/>
          <p:cNvSpPr txBox="1"/>
          <p:nvPr/>
        </p:nvSpPr>
        <p:spPr>
          <a:xfrm>
            <a:off x="0" y="883683"/>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a:solidFill>
                  <a:schemeClr val="dk1"/>
                </a:solidFill>
                <a:latin typeface="Calibri"/>
                <a:ea typeface="Calibri"/>
                <a:cs typeface="Calibri"/>
                <a:sym typeface="Calibri"/>
              </a:rPr>
              <a:t>Statistical Graphics</a:t>
            </a:r>
            <a:endParaRPr sz="3600" b="1" cap="none">
              <a:solidFill>
                <a:schemeClr val="dk1"/>
              </a:solidFill>
              <a:latin typeface="Calibri"/>
              <a:ea typeface="Calibri"/>
              <a:cs typeface="Calibri"/>
              <a:sym typeface="Calibri"/>
            </a:endParaRPr>
          </a:p>
        </p:txBody>
      </p:sp>
      <p:sp>
        <p:nvSpPr>
          <p:cNvPr id="133" name="Google Shape;133;p5"/>
          <p:cNvSpPr txBox="1"/>
          <p:nvPr/>
        </p:nvSpPr>
        <p:spPr>
          <a:xfrm>
            <a:off x="651388" y="1739554"/>
            <a:ext cx="6418006" cy="48013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dirty="0">
                <a:solidFill>
                  <a:schemeClr val="dk1"/>
                </a:solidFill>
                <a:latin typeface="Calibri"/>
                <a:ea typeface="Calibri"/>
                <a:cs typeface="Calibri"/>
                <a:sym typeface="Calibri"/>
              </a:rPr>
              <a:t>Example</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import seaborn as </a:t>
            </a:r>
            <a:r>
              <a:rPr lang="en-IN" sz="1600" b="1" dirty="0" err="1">
                <a:solidFill>
                  <a:schemeClr val="dk1"/>
                </a:solidFill>
                <a:latin typeface="Courier New"/>
                <a:ea typeface="Courier New"/>
                <a:cs typeface="Courier New"/>
                <a:sym typeface="Courier New"/>
              </a:rPr>
              <a:t>sns</a:t>
            </a:r>
            <a:endParaRPr sz="16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import pandas as pd</a:t>
            </a:r>
            <a:endParaRPr dirty="0"/>
          </a:p>
          <a:p>
            <a:pPr marL="0" marR="0" lvl="0" indent="0" algn="l" rtl="0">
              <a:spcBef>
                <a:spcPts val="0"/>
              </a:spcBef>
              <a:spcAft>
                <a:spcPts val="0"/>
              </a:spcAft>
              <a:buNone/>
            </a:pPr>
            <a:endParaRPr sz="16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IN" sz="1600" b="1" dirty="0">
                <a:solidFill>
                  <a:srgbClr val="AEAEAE"/>
                </a:solidFill>
                <a:latin typeface="Courier New"/>
                <a:ea typeface="Courier New"/>
                <a:cs typeface="Courier New"/>
                <a:sym typeface="Courier New"/>
              </a:rPr>
              <a:t># Sample data</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data = {</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    "x": [1, 2, 3, 4, 5],</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    "y": [2, 4, 3, 5, 1],</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    "hue": ["A", "B", "A", "B", "A"]</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a:t>
            </a:r>
            <a:endParaRPr dirty="0"/>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df</a:t>
            </a:r>
            <a:r>
              <a:rPr lang="en-IN" sz="1600" b="1" dirty="0">
                <a:solidFill>
                  <a:schemeClr val="dk1"/>
                </a:solidFill>
                <a:latin typeface="Courier New"/>
                <a:ea typeface="Courier New"/>
                <a:cs typeface="Courier New"/>
                <a:sym typeface="Courier New"/>
              </a:rPr>
              <a:t> = </a:t>
            </a:r>
            <a:r>
              <a:rPr lang="en-IN" sz="1600" b="1" dirty="0" err="1">
                <a:solidFill>
                  <a:schemeClr val="dk1"/>
                </a:solidFill>
                <a:latin typeface="Courier New"/>
                <a:ea typeface="Courier New"/>
                <a:cs typeface="Courier New"/>
                <a:sym typeface="Courier New"/>
              </a:rPr>
              <a:t>pd.DataFrame</a:t>
            </a:r>
            <a:r>
              <a:rPr lang="en-IN" sz="1600" b="1" dirty="0">
                <a:solidFill>
                  <a:schemeClr val="dk1"/>
                </a:solidFill>
                <a:latin typeface="Courier New"/>
                <a:ea typeface="Courier New"/>
                <a:cs typeface="Courier New"/>
                <a:sym typeface="Courier New"/>
              </a:rPr>
              <a:t>(data)</a:t>
            </a:r>
            <a:endParaRPr dirty="0"/>
          </a:p>
          <a:p>
            <a:pPr marL="0" marR="0" lvl="0" indent="0" algn="l" rtl="0">
              <a:spcBef>
                <a:spcPts val="0"/>
              </a:spcBef>
              <a:spcAft>
                <a:spcPts val="0"/>
              </a:spcAft>
              <a:buNone/>
            </a:pPr>
            <a:r>
              <a:rPr lang="en-IN" sz="1600" b="1" dirty="0">
                <a:solidFill>
                  <a:srgbClr val="AEAEAE"/>
                </a:solidFill>
                <a:latin typeface="Courier New"/>
                <a:ea typeface="Courier New"/>
                <a:cs typeface="Courier New"/>
                <a:sym typeface="Courier New"/>
              </a:rPr>
              <a:t># Create a scatter plot with hue to differentiate categories</a:t>
            </a:r>
            <a:endParaRPr dirty="0"/>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sns.scatterplot</a:t>
            </a:r>
            <a:r>
              <a:rPr lang="en-IN" sz="1600" b="1" dirty="0">
                <a:solidFill>
                  <a:schemeClr val="dk1"/>
                </a:solidFill>
                <a:latin typeface="Courier New"/>
                <a:ea typeface="Courier New"/>
                <a:cs typeface="Courier New"/>
                <a:sym typeface="Courier New"/>
              </a:rPr>
              <a:t>(x="x", y="y", hue="hue", data=</a:t>
            </a:r>
            <a:r>
              <a:rPr lang="en-IN" sz="1600" b="1" dirty="0" err="1">
                <a:solidFill>
                  <a:schemeClr val="dk1"/>
                </a:solidFill>
                <a:latin typeface="Courier New"/>
                <a:ea typeface="Courier New"/>
                <a:cs typeface="Courier New"/>
                <a:sym typeface="Courier New"/>
              </a:rPr>
              <a:t>df</a:t>
            </a:r>
            <a:r>
              <a:rPr lang="en-IN" sz="1600" b="1" dirty="0">
                <a:solidFill>
                  <a:schemeClr val="dk1"/>
                </a:solidFill>
                <a:latin typeface="Courier New"/>
                <a:ea typeface="Courier New"/>
                <a:cs typeface="Courier New"/>
                <a:sym typeface="Courier New"/>
              </a:rPr>
              <a:t>)</a:t>
            </a:r>
            <a:endParaRPr dirty="0"/>
          </a:p>
          <a:p>
            <a:pPr marL="0" marR="0" lvl="0" indent="0" algn="l" rtl="0">
              <a:spcBef>
                <a:spcPts val="0"/>
              </a:spcBef>
              <a:spcAft>
                <a:spcPts val="0"/>
              </a:spcAft>
              <a:buNone/>
            </a:pPr>
            <a:r>
              <a:rPr lang="en-IN" sz="1600" b="1" dirty="0">
                <a:solidFill>
                  <a:srgbClr val="AEAEAE"/>
                </a:solidFill>
                <a:latin typeface="Courier New"/>
                <a:ea typeface="Courier New"/>
                <a:cs typeface="Courier New"/>
                <a:sym typeface="Courier New"/>
              </a:rPr>
              <a:t># Add a title and labels</a:t>
            </a:r>
            <a:endParaRPr dirty="0"/>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plt.title</a:t>
            </a:r>
            <a:r>
              <a:rPr lang="en-IN" sz="1600" b="1" dirty="0">
                <a:solidFill>
                  <a:schemeClr val="dk1"/>
                </a:solidFill>
                <a:latin typeface="Courier New"/>
                <a:ea typeface="Courier New"/>
                <a:cs typeface="Courier New"/>
                <a:sym typeface="Courier New"/>
              </a:rPr>
              <a:t>("Scatter Plot with Categories")</a:t>
            </a:r>
            <a:endParaRPr dirty="0"/>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plt.xlabel</a:t>
            </a:r>
            <a:r>
              <a:rPr lang="en-IN" sz="1600" b="1" dirty="0">
                <a:solidFill>
                  <a:schemeClr val="dk1"/>
                </a:solidFill>
                <a:latin typeface="Courier New"/>
                <a:ea typeface="Courier New"/>
                <a:cs typeface="Courier New"/>
                <a:sym typeface="Courier New"/>
              </a:rPr>
              <a:t>("X-axis")</a:t>
            </a:r>
            <a:endParaRPr dirty="0"/>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plt.ylabel</a:t>
            </a:r>
            <a:r>
              <a:rPr lang="en-IN" sz="1600" b="1" dirty="0">
                <a:solidFill>
                  <a:schemeClr val="dk1"/>
                </a:solidFill>
                <a:latin typeface="Courier New"/>
                <a:ea typeface="Courier New"/>
                <a:cs typeface="Courier New"/>
                <a:sym typeface="Courier New"/>
              </a:rPr>
              <a:t>("Y-axis")</a:t>
            </a:r>
            <a:endParaRPr dirty="0"/>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plt.show</a:t>
            </a:r>
            <a:r>
              <a:rPr lang="en-IN" sz="1600" b="1" dirty="0">
                <a:solidFill>
                  <a:schemeClr val="dk1"/>
                </a:solidFill>
                <a:latin typeface="Courier New"/>
                <a:ea typeface="Courier New"/>
                <a:cs typeface="Courier New"/>
                <a:sym typeface="Courier New"/>
              </a:rPr>
              <a:t>()</a:t>
            </a:r>
            <a:endParaRPr dirty="0"/>
          </a:p>
        </p:txBody>
      </p:sp>
      <p:sp>
        <p:nvSpPr>
          <p:cNvPr id="134" name="Google Shape;134;p5"/>
          <p:cNvSpPr txBox="1"/>
          <p:nvPr/>
        </p:nvSpPr>
        <p:spPr>
          <a:xfrm>
            <a:off x="6722807" y="1855570"/>
            <a:ext cx="61205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Calibri"/>
                <a:ea typeface="Calibri"/>
                <a:cs typeface="Calibri"/>
                <a:sym typeface="Calibri"/>
              </a:rPr>
              <a:t>Output</a:t>
            </a:r>
            <a:endParaRPr/>
          </a:p>
        </p:txBody>
      </p:sp>
      <p:pic>
        <p:nvPicPr>
          <p:cNvPr id="135" name="Google Shape;135;p5"/>
          <p:cNvPicPr preferRelativeResize="0"/>
          <p:nvPr/>
        </p:nvPicPr>
        <p:blipFill rotWithShape="1">
          <a:blip r:embed="rId4">
            <a:alphaModFix/>
          </a:blip>
          <a:srcRect/>
          <a:stretch/>
        </p:blipFill>
        <p:spPr>
          <a:xfrm>
            <a:off x="6694638" y="2129473"/>
            <a:ext cx="5400675" cy="43338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graphicFrame>
        <p:nvGraphicFramePr>
          <p:cNvPr id="140" name="Google Shape;140;p6"/>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41" name="Google Shape;141;p6"/>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42" name="Google Shape;142;p6"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43" name="Google Shape;143;p6"/>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4" name="Google Shape;144;p6"/>
          <p:cNvSpPr txBox="1"/>
          <p:nvPr/>
        </p:nvSpPr>
        <p:spPr>
          <a:xfrm>
            <a:off x="0" y="883683"/>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a:solidFill>
                  <a:schemeClr val="dk1"/>
                </a:solidFill>
                <a:latin typeface="Calibri"/>
                <a:ea typeface="Calibri"/>
                <a:cs typeface="Calibri"/>
                <a:sym typeface="Calibri"/>
              </a:rPr>
              <a:t>Built-in libraries</a:t>
            </a:r>
            <a:endParaRPr sz="3600" b="1" cap="none">
              <a:solidFill>
                <a:schemeClr val="dk1"/>
              </a:solidFill>
              <a:latin typeface="Calibri"/>
              <a:ea typeface="Calibri"/>
              <a:cs typeface="Calibri"/>
              <a:sym typeface="Calibri"/>
            </a:endParaRPr>
          </a:p>
        </p:txBody>
      </p:sp>
      <p:sp>
        <p:nvSpPr>
          <p:cNvPr id="145" name="Google Shape;145;p6"/>
          <p:cNvSpPr txBox="1"/>
          <p:nvPr/>
        </p:nvSpPr>
        <p:spPr>
          <a:xfrm>
            <a:off x="651388" y="1739554"/>
            <a:ext cx="6418006" cy="455509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dirty="0">
                <a:solidFill>
                  <a:schemeClr val="dk1"/>
                </a:solidFill>
                <a:latin typeface="Calibri"/>
                <a:ea typeface="Calibri"/>
                <a:cs typeface="Calibri"/>
                <a:sym typeface="Calibri"/>
              </a:rPr>
              <a:t>Example</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import seaborn as </a:t>
            </a:r>
            <a:r>
              <a:rPr lang="en-IN" sz="1600" b="1" dirty="0" err="1">
                <a:solidFill>
                  <a:schemeClr val="dk1"/>
                </a:solidFill>
                <a:latin typeface="Courier New"/>
                <a:ea typeface="Courier New"/>
                <a:cs typeface="Courier New"/>
                <a:sym typeface="Courier New"/>
              </a:rPr>
              <a:t>sns</a:t>
            </a:r>
            <a:endParaRPr sz="16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import </a:t>
            </a:r>
            <a:r>
              <a:rPr lang="en-IN" sz="1600" b="1" dirty="0" err="1">
                <a:solidFill>
                  <a:schemeClr val="dk1"/>
                </a:solidFill>
                <a:latin typeface="Courier New"/>
                <a:ea typeface="Courier New"/>
                <a:cs typeface="Courier New"/>
                <a:sym typeface="Courier New"/>
              </a:rPr>
              <a:t>matplotlib.pyplot</a:t>
            </a:r>
            <a:r>
              <a:rPr lang="en-IN" sz="1600" b="1" dirty="0">
                <a:solidFill>
                  <a:schemeClr val="dk1"/>
                </a:solidFill>
                <a:latin typeface="Courier New"/>
                <a:ea typeface="Courier New"/>
                <a:cs typeface="Courier New"/>
                <a:sym typeface="Courier New"/>
              </a:rPr>
              <a:t> as </a:t>
            </a:r>
            <a:r>
              <a:rPr lang="en-IN" sz="1600" b="1" dirty="0" err="1">
                <a:solidFill>
                  <a:schemeClr val="dk1"/>
                </a:solidFill>
                <a:latin typeface="Courier New"/>
                <a:ea typeface="Courier New"/>
                <a:cs typeface="Courier New"/>
                <a:sym typeface="Courier New"/>
              </a:rPr>
              <a:t>plt</a:t>
            </a:r>
            <a:endParaRPr sz="16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br>
              <a:rPr lang="en-IN" sz="1600" b="1" dirty="0">
                <a:solidFill>
                  <a:srgbClr val="AEAEAE"/>
                </a:solidFill>
                <a:latin typeface="Courier New"/>
                <a:ea typeface="Courier New"/>
                <a:cs typeface="Courier New"/>
                <a:sym typeface="Courier New"/>
              </a:rPr>
            </a:br>
            <a:r>
              <a:rPr lang="en-IN" sz="1600" b="1" dirty="0">
                <a:solidFill>
                  <a:srgbClr val="AEAEAE"/>
                </a:solidFill>
                <a:latin typeface="Courier New"/>
                <a:ea typeface="Courier New"/>
                <a:cs typeface="Courier New"/>
                <a:sym typeface="Courier New"/>
              </a:rPr>
              <a:t># Load the tips dataset</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tips = </a:t>
            </a:r>
            <a:r>
              <a:rPr lang="en-IN" sz="1600" b="1" dirty="0" err="1">
                <a:solidFill>
                  <a:schemeClr val="dk1"/>
                </a:solidFill>
                <a:latin typeface="Courier New"/>
                <a:ea typeface="Courier New"/>
                <a:cs typeface="Courier New"/>
                <a:sym typeface="Courier New"/>
              </a:rPr>
              <a:t>sns.load_dataset</a:t>
            </a:r>
            <a:r>
              <a:rPr lang="en-IN" sz="1600" b="1" dirty="0">
                <a:solidFill>
                  <a:schemeClr val="dk1"/>
                </a:solidFill>
                <a:latin typeface="Courier New"/>
                <a:ea typeface="Courier New"/>
                <a:cs typeface="Courier New"/>
                <a:sym typeface="Courier New"/>
              </a:rPr>
              <a:t>("tips")</a:t>
            </a:r>
            <a:endParaRPr dirty="0"/>
          </a:p>
          <a:p>
            <a:pPr marL="0" marR="0" lvl="0" indent="0" algn="l" rtl="0">
              <a:spcBef>
                <a:spcPts val="0"/>
              </a:spcBef>
              <a:spcAft>
                <a:spcPts val="0"/>
              </a:spcAft>
              <a:buNone/>
            </a:pPr>
            <a:br>
              <a:rPr lang="en-IN" sz="1600" b="1" dirty="0">
                <a:solidFill>
                  <a:srgbClr val="AEAEAE"/>
                </a:solidFill>
                <a:latin typeface="Courier New"/>
                <a:ea typeface="Courier New"/>
                <a:cs typeface="Courier New"/>
                <a:sym typeface="Courier New"/>
              </a:rPr>
            </a:br>
            <a:r>
              <a:rPr lang="en-IN" sz="1600" b="1" dirty="0">
                <a:solidFill>
                  <a:srgbClr val="AEAEAE"/>
                </a:solidFill>
                <a:latin typeface="Courier New"/>
                <a:ea typeface="Courier New"/>
                <a:cs typeface="Courier New"/>
                <a:sym typeface="Courier New"/>
              </a:rPr>
              <a:t># Create a scatter plot</a:t>
            </a:r>
            <a:endParaRPr dirty="0"/>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sns.scatterplot</a:t>
            </a:r>
            <a:r>
              <a:rPr lang="en-IN" sz="1600" b="1" dirty="0">
                <a:solidFill>
                  <a:schemeClr val="dk1"/>
                </a:solidFill>
                <a:latin typeface="Courier New"/>
                <a:ea typeface="Courier New"/>
                <a:cs typeface="Courier New"/>
                <a:sym typeface="Courier New"/>
              </a:rPr>
              <a:t>(x="</a:t>
            </a:r>
            <a:r>
              <a:rPr lang="en-IN" sz="1600" b="1" dirty="0" err="1">
                <a:solidFill>
                  <a:schemeClr val="dk1"/>
                </a:solidFill>
                <a:latin typeface="Courier New"/>
                <a:ea typeface="Courier New"/>
                <a:cs typeface="Courier New"/>
                <a:sym typeface="Courier New"/>
              </a:rPr>
              <a:t>total_bill</a:t>
            </a:r>
            <a:r>
              <a:rPr lang="en-IN" sz="1600" b="1" dirty="0">
                <a:solidFill>
                  <a:schemeClr val="dk1"/>
                </a:solidFill>
                <a:latin typeface="Courier New"/>
                <a:ea typeface="Courier New"/>
                <a:cs typeface="Courier New"/>
                <a:sym typeface="Courier New"/>
              </a:rPr>
              <a:t>", y="tip", data=tips)</a:t>
            </a:r>
            <a:endParaRPr dirty="0"/>
          </a:p>
          <a:p>
            <a:pPr marL="0" marR="0" lvl="0" indent="0" algn="l" rtl="0">
              <a:spcBef>
                <a:spcPts val="0"/>
              </a:spcBef>
              <a:spcAft>
                <a:spcPts val="0"/>
              </a:spcAft>
              <a:buNone/>
            </a:pPr>
            <a:br>
              <a:rPr lang="en-IN" sz="1600" b="1" dirty="0">
                <a:solidFill>
                  <a:srgbClr val="AEAEAE"/>
                </a:solidFill>
                <a:latin typeface="Courier New"/>
                <a:ea typeface="Courier New"/>
                <a:cs typeface="Courier New"/>
                <a:sym typeface="Courier New"/>
              </a:rPr>
            </a:br>
            <a:r>
              <a:rPr lang="en-IN" sz="1600" b="1" dirty="0">
                <a:solidFill>
                  <a:srgbClr val="AEAEAE"/>
                </a:solidFill>
                <a:latin typeface="Courier New"/>
                <a:ea typeface="Courier New"/>
                <a:cs typeface="Courier New"/>
                <a:sym typeface="Courier New"/>
              </a:rPr>
              <a:t># Add  a title and labels</a:t>
            </a:r>
            <a:endParaRPr dirty="0"/>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plt.title</a:t>
            </a:r>
            <a:r>
              <a:rPr lang="en-IN" sz="1600" b="1" dirty="0">
                <a:solidFill>
                  <a:schemeClr val="dk1"/>
                </a:solidFill>
                <a:latin typeface="Courier New"/>
                <a:ea typeface="Courier New"/>
                <a:cs typeface="Courier New"/>
                <a:sym typeface="Courier New"/>
              </a:rPr>
              <a:t>("Total Bill vs. Tip")</a:t>
            </a:r>
            <a:endParaRPr dirty="0"/>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plt.xlabel</a:t>
            </a:r>
            <a:r>
              <a:rPr lang="en-IN" sz="1600" b="1" dirty="0">
                <a:solidFill>
                  <a:schemeClr val="dk1"/>
                </a:solidFill>
                <a:latin typeface="Courier New"/>
                <a:ea typeface="Courier New"/>
                <a:cs typeface="Courier New"/>
                <a:sym typeface="Courier New"/>
              </a:rPr>
              <a:t>("Total Bill")</a:t>
            </a:r>
            <a:endParaRPr dirty="0"/>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plt.ylabel</a:t>
            </a:r>
            <a:r>
              <a:rPr lang="en-IN" sz="1600" b="1" dirty="0">
                <a:solidFill>
                  <a:schemeClr val="dk1"/>
                </a:solidFill>
                <a:latin typeface="Courier New"/>
                <a:ea typeface="Courier New"/>
                <a:cs typeface="Courier New"/>
                <a:sym typeface="Courier New"/>
              </a:rPr>
              <a:t>("Tip")</a:t>
            </a:r>
            <a:endParaRPr dirty="0"/>
          </a:p>
          <a:p>
            <a:pPr marL="0" marR="0" lvl="0" indent="0" algn="l" rtl="0">
              <a:spcBef>
                <a:spcPts val="0"/>
              </a:spcBef>
              <a:spcAft>
                <a:spcPts val="0"/>
              </a:spcAft>
              <a:buNone/>
            </a:pPr>
            <a:br>
              <a:rPr lang="en-IN" sz="1600" b="1" dirty="0">
                <a:solidFill>
                  <a:srgbClr val="AEAEAE"/>
                </a:solidFill>
                <a:latin typeface="Courier New"/>
                <a:ea typeface="Courier New"/>
                <a:cs typeface="Courier New"/>
                <a:sym typeface="Courier New"/>
              </a:rPr>
            </a:br>
            <a:r>
              <a:rPr lang="en-IN" sz="1600" b="1" dirty="0">
                <a:solidFill>
                  <a:srgbClr val="AEAEAE"/>
                </a:solidFill>
                <a:latin typeface="Courier New"/>
                <a:ea typeface="Courier New"/>
                <a:cs typeface="Courier New"/>
                <a:sym typeface="Courier New"/>
              </a:rPr>
              <a:t># Show the plot</a:t>
            </a:r>
            <a:endParaRPr dirty="0"/>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plt.show</a:t>
            </a:r>
            <a:r>
              <a:rPr lang="en-IN" sz="1600" b="1" dirty="0">
                <a:solidFill>
                  <a:schemeClr val="dk1"/>
                </a:solidFill>
                <a:latin typeface="Courier New"/>
                <a:ea typeface="Courier New"/>
                <a:cs typeface="Courier New"/>
                <a:sym typeface="Courier New"/>
              </a:rPr>
              <a:t>()</a:t>
            </a:r>
            <a:endParaRPr dirty="0"/>
          </a:p>
          <a:p>
            <a:pPr marL="0" marR="0" lvl="0" indent="0" algn="l" rtl="0">
              <a:spcBef>
                <a:spcPts val="0"/>
              </a:spcBef>
              <a:spcAft>
                <a:spcPts val="0"/>
              </a:spcAft>
              <a:buNone/>
            </a:pPr>
            <a:endParaRPr sz="1600" b="1" dirty="0">
              <a:solidFill>
                <a:schemeClr val="dk1"/>
              </a:solidFill>
              <a:latin typeface="Courier New"/>
              <a:ea typeface="Courier New"/>
              <a:cs typeface="Courier New"/>
              <a:sym typeface="Courier New"/>
            </a:endParaRPr>
          </a:p>
        </p:txBody>
      </p:sp>
      <p:sp>
        <p:nvSpPr>
          <p:cNvPr id="146" name="Google Shape;146;p6"/>
          <p:cNvSpPr txBox="1"/>
          <p:nvPr/>
        </p:nvSpPr>
        <p:spPr>
          <a:xfrm>
            <a:off x="6722807" y="1855570"/>
            <a:ext cx="61205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Calibri"/>
                <a:ea typeface="Calibri"/>
                <a:cs typeface="Calibri"/>
                <a:sym typeface="Calibri"/>
              </a:rPr>
              <a:t>Output</a:t>
            </a:r>
            <a:endParaRPr/>
          </a:p>
        </p:txBody>
      </p:sp>
      <p:pic>
        <p:nvPicPr>
          <p:cNvPr id="147" name="Google Shape;147;p6"/>
          <p:cNvPicPr preferRelativeResize="0"/>
          <p:nvPr/>
        </p:nvPicPr>
        <p:blipFill rotWithShape="1">
          <a:blip r:embed="rId4">
            <a:alphaModFix/>
          </a:blip>
          <a:srcRect/>
          <a:stretch/>
        </p:blipFill>
        <p:spPr>
          <a:xfrm>
            <a:off x="6832856" y="2170313"/>
            <a:ext cx="4958172" cy="4014178"/>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graphicFrame>
        <p:nvGraphicFramePr>
          <p:cNvPr id="152" name="Google Shape;152;p7"/>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53" name="Google Shape;153;p7"/>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54" name="Google Shape;154;p7"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55" name="Google Shape;155;p7"/>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56" name="Google Shape;156;p7"/>
          <p:cNvSpPr txBox="1"/>
          <p:nvPr/>
        </p:nvSpPr>
        <p:spPr>
          <a:xfrm>
            <a:off x="0" y="883683"/>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a:solidFill>
                  <a:schemeClr val="dk1"/>
                </a:solidFill>
                <a:latin typeface="Calibri"/>
                <a:ea typeface="Calibri"/>
                <a:cs typeface="Calibri"/>
                <a:sym typeface="Calibri"/>
              </a:rPr>
              <a:t>Joint Plots</a:t>
            </a:r>
            <a:endParaRPr sz="3600" b="1" cap="none">
              <a:solidFill>
                <a:schemeClr val="dk1"/>
              </a:solidFill>
              <a:latin typeface="Calibri"/>
              <a:ea typeface="Calibri"/>
              <a:cs typeface="Calibri"/>
              <a:sym typeface="Calibri"/>
            </a:endParaRPr>
          </a:p>
        </p:txBody>
      </p:sp>
      <p:sp>
        <p:nvSpPr>
          <p:cNvPr id="157" name="Google Shape;157;p7"/>
          <p:cNvSpPr txBox="1"/>
          <p:nvPr/>
        </p:nvSpPr>
        <p:spPr>
          <a:xfrm>
            <a:off x="651388" y="1739554"/>
            <a:ext cx="6418006" cy="33239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dirty="0">
                <a:solidFill>
                  <a:schemeClr val="dk1"/>
                </a:solidFill>
                <a:latin typeface="Calibri"/>
                <a:ea typeface="Calibri"/>
                <a:cs typeface="Calibri"/>
                <a:sym typeface="Calibri"/>
              </a:rPr>
              <a:t>Example</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import seaborn as </a:t>
            </a:r>
            <a:r>
              <a:rPr lang="en-IN" sz="1600" b="1" dirty="0" err="1">
                <a:solidFill>
                  <a:schemeClr val="dk1"/>
                </a:solidFill>
                <a:latin typeface="Courier New"/>
                <a:ea typeface="Courier New"/>
                <a:cs typeface="Courier New"/>
                <a:sym typeface="Courier New"/>
              </a:rPr>
              <a:t>sns</a:t>
            </a:r>
            <a:endParaRPr sz="16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import pandas as pd</a:t>
            </a:r>
            <a:endParaRPr dirty="0"/>
          </a:p>
          <a:p>
            <a:pPr marL="0" marR="0" lvl="0" indent="0" algn="l" rtl="0">
              <a:spcBef>
                <a:spcPts val="0"/>
              </a:spcBef>
              <a:spcAft>
                <a:spcPts val="0"/>
              </a:spcAft>
              <a:buNone/>
            </a:pPr>
            <a:br>
              <a:rPr lang="en-IN" sz="1600" b="1" dirty="0">
                <a:solidFill>
                  <a:srgbClr val="AEAEAE"/>
                </a:solidFill>
                <a:latin typeface="Courier New"/>
                <a:ea typeface="Courier New"/>
                <a:cs typeface="Courier New"/>
                <a:sym typeface="Courier New"/>
              </a:rPr>
            </a:br>
            <a:r>
              <a:rPr lang="en-IN" sz="1600" b="1" dirty="0">
                <a:solidFill>
                  <a:srgbClr val="AEAEAE"/>
                </a:solidFill>
                <a:latin typeface="Courier New"/>
                <a:ea typeface="Courier New"/>
                <a:cs typeface="Courier New"/>
                <a:sym typeface="Courier New"/>
              </a:rPr>
              <a:t># Sample data</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data = {</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    "x": [1, 2, 3, 4, 5],</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    "y": [2, 5, 3, 8, 10],</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   }</a:t>
            </a:r>
            <a:endParaRPr dirty="0"/>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sns.jointplot</a:t>
            </a:r>
            <a:r>
              <a:rPr lang="en-IN" sz="1600" b="1" dirty="0">
                <a:solidFill>
                  <a:schemeClr val="dk1"/>
                </a:solidFill>
                <a:latin typeface="Courier New"/>
                <a:ea typeface="Courier New"/>
                <a:cs typeface="Courier New"/>
                <a:sym typeface="Courier New"/>
              </a:rPr>
              <a:t>(x='x', y='y', kind="scatter", data =data)</a:t>
            </a:r>
            <a:endParaRPr dirty="0"/>
          </a:p>
          <a:p>
            <a:pPr marL="0" marR="0" lvl="0" indent="0" algn="l" rtl="0">
              <a:spcBef>
                <a:spcPts val="0"/>
              </a:spcBef>
              <a:spcAft>
                <a:spcPts val="0"/>
              </a:spcAft>
              <a:buNone/>
            </a:pPr>
            <a:endParaRPr sz="16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plt.show</a:t>
            </a:r>
            <a:r>
              <a:rPr lang="en-IN" sz="1600" b="1" dirty="0">
                <a:solidFill>
                  <a:schemeClr val="dk1"/>
                </a:solidFill>
                <a:latin typeface="Courier New"/>
                <a:ea typeface="Courier New"/>
                <a:cs typeface="Courier New"/>
                <a:sym typeface="Courier New"/>
              </a:rPr>
              <a:t>()</a:t>
            </a:r>
            <a:endParaRPr dirty="0"/>
          </a:p>
        </p:txBody>
      </p:sp>
      <p:sp>
        <p:nvSpPr>
          <p:cNvPr id="158" name="Google Shape;158;p7"/>
          <p:cNvSpPr txBox="1"/>
          <p:nvPr/>
        </p:nvSpPr>
        <p:spPr>
          <a:xfrm>
            <a:off x="6722807" y="1855570"/>
            <a:ext cx="61205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Calibri"/>
                <a:ea typeface="Calibri"/>
                <a:cs typeface="Calibri"/>
                <a:sym typeface="Calibri"/>
              </a:rPr>
              <a:t>Output</a:t>
            </a:r>
            <a:endParaRPr/>
          </a:p>
        </p:txBody>
      </p:sp>
      <p:pic>
        <p:nvPicPr>
          <p:cNvPr id="159" name="Google Shape;159;p7"/>
          <p:cNvPicPr preferRelativeResize="0"/>
          <p:nvPr/>
        </p:nvPicPr>
        <p:blipFill rotWithShape="1">
          <a:blip r:embed="rId4">
            <a:alphaModFix/>
          </a:blip>
          <a:srcRect/>
          <a:stretch/>
        </p:blipFill>
        <p:spPr>
          <a:xfrm>
            <a:off x="6963665" y="2311356"/>
            <a:ext cx="4080387" cy="4115262"/>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graphicFrame>
        <p:nvGraphicFramePr>
          <p:cNvPr id="164" name="Google Shape;164;p8"/>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65" name="Google Shape;165;p8"/>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66" name="Google Shape;166;p8"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67" name="Google Shape;167;p8"/>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8" name="Google Shape;168;p8"/>
          <p:cNvSpPr txBox="1"/>
          <p:nvPr/>
        </p:nvSpPr>
        <p:spPr>
          <a:xfrm>
            <a:off x="0" y="883683"/>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a:solidFill>
                  <a:schemeClr val="dk1"/>
                </a:solidFill>
                <a:latin typeface="Calibri"/>
                <a:ea typeface="Calibri"/>
                <a:cs typeface="Calibri"/>
                <a:sym typeface="Calibri"/>
              </a:rPr>
              <a:t>Pair Plots</a:t>
            </a:r>
            <a:endParaRPr sz="3600" b="1" cap="none">
              <a:solidFill>
                <a:schemeClr val="dk1"/>
              </a:solidFill>
              <a:latin typeface="Calibri"/>
              <a:ea typeface="Calibri"/>
              <a:cs typeface="Calibri"/>
              <a:sym typeface="Calibri"/>
            </a:endParaRPr>
          </a:p>
        </p:txBody>
      </p:sp>
      <p:sp>
        <p:nvSpPr>
          <p:cNvPr id="169" name="Google Shape;169;p8"/>
          <p:cNvSpPr txBox="1"/>
          <p:nvPr/>
        </p:nvSpPr>
        <p:spPr>
          <a:xfrm>
            <a:off x="651388" y="1739554"/>
            <a:ext cx="6418006" cy="35702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dirty="0">
                <a:solidFill>
                  <a:schemeClr val="dk1"/>
                </a:solidFill>
                <a:latin typeface="Calibri"/>
                <a:ea typeface="Calibri"/>
                <a:cs typeface="Calibri"/>
                <a:sym typeface="Calibri"/>
              </a:rPr>
              <a:t>Example</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import seaborn as </a:t>
            </a:r>
            <a:r>
              <a:rPr lang="en-IN" sz="1600" b="1" dirty="0" err="1">
                <a:solidFill>
                  <a:schemeClr val="dk1"/>
                </a:solidFill>
                <a:latin typeface="Courier New"/>
                <a:ea typeface="Courier New"/>
                <a:cs typeface="Courier New"/>
                <a:sym typeface="Courier New"/>
              </a:rPr>
              <a:t>sns</a:t>
            </a:r>
            <a:endParaRPr sz="16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br>
              <a:rPr lang="en-IN" sz="1600" b="1" dirty="0">
                <a:solidFill>
                  <a:srgbClr val="AEAEAE"/>
                </a:solidFill>
                <a:latin typeface="Courier New"/>
                <a:ea typeface="Courier New"/>
                <a:cs typeface="Courier New"/>
                <a:sym typeface="Courier New"/>
              </a:rPr>
            </a:br>
            <a:r>
              <a:rPr lang="en-IN" sz="1600" b="1" dirty="0">
                <a:solidFill>
                  <a:srgbClr val="AEAEAE"/>
                </a:solidFill>
                <a:latin typeface="Courier New"/>
                <a:ea typeface="Courier New"/>
                <a:cs typeface="Courier New"/>
                <a:sym typeface="Courier New"/>
              </a:rPr>
              <a:t># Sample data</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data = {</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    "x": [1, 2, 3, 4, 5],</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    "y": [2, 4, 3, 5, 1],</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    "z": [10, 15, 20, 25, 30]</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a:t>
            </a:r>
            <a:endParaRPr dirty="0"/>
          </a:p>
          <a:p>
            <a:pPr marL="0" marR="0" lvl="0" indent="0" algn="l" rtl="0">
              <a:spcBef>
                <a:spcPts val="0"/>
              </a:spcBef>
              <a:spcAft>
                <a:spcPts val="0"/>
              </a:spcAft>
              <a:buNone/>
            </a:pPr>
            <a:br>
              <a:rPr lang="en-IN" sz="1600" b="1" dirty="0">
                <a:solidFill>
                  <a:schemeClr val="dk1"/>
                </a:solidFill>
                <a:latin typeface="Courier New"/>
                <a:ea typeface="Courier New"/>
                <a:cs typeface="Courier New"/>
                <a:sym typeface="Courier New"/>
              </a:rPr>
            </a:br>
            <a:r>
              <a:rPr lang="en-IN" sz="1600" b="1" dirty="0" err="1">
                <a:solidFill>
                  <a:schemeClr val="dk1"/>
                </a:solidFill>
                <a:latin typeface="Courier New"/>
                <a:ea typeface="Courier New"/>
                <a:cs typeface="Courier New"/>
                <a:sym typeface="Courier New"/>
              </a:rPr>
              <a:t>df</a:t>
            </a:r>
            <a:r>
              <a:rPr lang="en-IN" sz="1600" b="1" dirty="0">
                <a:solidFill>
                  <a:schemeClr val="dk1"/>
                </a:solidFill>
                <a:latin typeface="Courier New"/>
                <a:ea typeface="Courier New"/>
                <a:cs typeface="Courier New"/>
                <a:sym typeface="Courier New"/>
              </a:rPr>
              <a:t> = </a:t>
            </a:r>
            <a:r>
              <a:rPr lang="en-IN" sz="1600" b="1" dirty="0" err="1">
                <a:solidFill>
                  <a:schemeClr val="dk1"/>
                </a:solidFill>
                <a:latin typeface="Courier New"/>
                <a:ea typeface="Courier New"/>
                <a:cs typeface="Courier New"/>
                <a:sym typeface="Courier New"/>
              </a:rPr>
              <a:t>pd.DataFrame</a:t>
            </a:r>
            <a:r>
              <a:rPr lang="en-IN" sz="1600" b="1" dirty="0">
                <a:solidFill>
                  <a:schemeClr val="dk1"/>
                </a:solidFill>
                <a:latin typeface="Courier New"/>
                <a:ea typeface="Courier New"/>
                <a:cs typeface="Courier New"/>
                <a:sym typeface="Courier New"/>
              </a:rPr>
              <a:t>(data)</a:t>
            </a:r>
            <a:endParaRPr dirty="0"/>
          </a:p>
          <a:p>
            <a:pPr marL="0" marR="0" lvl="0" indent="0" algn="l" rtl="0">
              <a:spcBef>
                <a:spcPts val="0"/>
              </a:spcBef>
              <a:spcAft>
                <a:spcPts val="0"/>
              </a:spcAft>
              <a:buNone/>
            </a:pPr>
            <a:br>
              <a:rPr lang="en-IN" sz="1600" b="1" dirty="0">
                <a:solidFill>
                  <a:schemeClr val="dk1"/>
                </a:solidFill>
                <a:latin typeface="Courier New"/>
                <a:ea typeface="Courier New"/>
                <a:cs typeface="Courier New"/>
                <a:sym typeface="Courier New"/>
              </a:rPr>
            </a:br>
            <a:r>
              <a:rPr lang="en-IN" sz="1600" b="1" dirty="0" err="1">
                <a:solidFill>
                  <a:schemeClr val="dk1"/>
                </a:solidFill>
                <a:latin typeface="Courier New"/>
                <a:ea typeface="Courier New"/>
                <a:cs typeface="Courier New"/>
                <a:sym typeface="Courier New"/>
              </a:rPr>
              <a:t>sns.pairplot</a:t>
            </a:r>
            <a:r>
              <a:rPr lang="en-IN" sz="1600" b="1" dirty="0">
                <a:solidFill>
                  <a:schemeClr val="dk1"/>
                </a:solidFill>
                <a:latin typeface="Courier New"/>
                <a:ea typeface="Courier New"/>
                <a:cs typeface="Courier New"/>
                <a:sym typeface="Courier New"/>
              </a:rPr>
              <a:t>(</a:t>
            </a:r>
            <a:r>
              <a:rPr lang="en-IN" sz="1600" b="1" dirty="0" err="1">
                <a:solidFill>
                  <a:schemeClr val="dk1"/>
                </a:solidFill>
                <a:latin typeface="Courier New"/>
                <a:ea typeface="Courier New"/>
                <a:cs typeface="Courier New"/>
                <a:sym typeface="Courier New"/>
              </a:rPr>
              <a:t>df</a:t>
            </a:r>
            <a:r>
              <a:rPr lang="en-IN" sz="1600" b="1" dirty="0">
                <a:solidFill>
                  <a:schemeClr val="dk1"/>
                </a:solidFill>
                <a:latin typeface="Courier New"/>
                <a:ea typeface="Courier New"/>
                <a:cs typeface="Courier New"/>
                <a:sym typeface="Courier New"/>
              </a:rPr>
              <a:t>)</a:t>
            </a:r>
            <a:endParaRPr dirty="0"/>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plt.show</a:t>
            </a:r>
            <a:r>
              <a:rPr lang="en-IN" sz="1600" b="1" dirty="0">
                <a:solidFill>
                  <a:schemeClr val="dk1"/>
                </a:solidFill>
                <a:latin typeface="Courier New"/>
                <a:ea typeface="Courier New"/>
                <a:cs typeface="Courier New"/>
                <a:sym typeface="Courier New"/>
              </a:rPr>
              <a:t>()</a:t>
            </a:r>
            <a:endParaRPr dirty="0"/>
          </a:p>
        </p:txBody>
      </p:sp>
      <p:sp>
        <p:nvSpPr>
          <p:cNvPr id="170" name="Google Shape;170;p8"/>
          <p:cNvSpPr txBox="1"/>
          <p:nvPr/>
        </p:nvSpPr>
        <p:spPr>
          <a:xfrm>
            <a:off x="6722807" y="1855570"/>
            <a:ext cx="61205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Calibri"/>
                <a:ea typeface="Calibri"/>
                <a:cs typeface="Calibri"/>
                <a:sym typeface="Calibri"/>
              </a:rPr>
              <a:t>Output</a:t>
            </a:r>
            <a:endParaRPr/>
          </a:p>
        </p:txBody>
      </p:sp>
      <p:pic>
        <p:nvPicPr>
          <p:cNvPr id="171" name="Google Shape;171;p8"/>
          <p:cNvPicPr preferRelativeResize="0"/>
          <p:nvPr/>
        </p:nvPicPr>
        <p:blipFill rotWithShape="1">
          <a:blip r:embed="rId4">
            <a:alphaModFix/>
          </a:blip>
          <a:srcRect/>
          <a:stretch/>
        </p:blipFill>
        <p:spPr>
          <a:xfrm>
            <a:off x="6722807" y="2224902"/>
            <a:ext cx="4215581" cy="4215581"/>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graphicFrame>
        <p:nvGraphicFramePr>
          <p:cNvPr id="176" name="Google Shape;176;p9"/>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77" name="Google Shape;177;p9"/>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78" name="Google Shape;178;p9"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79" name="Google Shape;179;p9"/>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0" name="Google Shape;180;p9"/>
          <p:cNvSpPr txBox="1"/>
          <p:nvPr/>
        </p:nvSpPr>
        <p:spPr>
          <a:xfrm>
            <a:off x="0" y="883683"/>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a:solidFill>
                  <a:schemeClr val="dk1"/>
                </a:solidFill>
                <a:latin typeface="Calibri"/>
                <a:ea typeface="Calibri"/>
                <a:cs typeface="Calibri"/>
                <a:sym typeface="Calibri"/>
              </a:rPr>
              <a:t>Grid Plot</a:t>
            </a:r>
            <a:endParaRPr sz="3600" b="1" cap="none">
              <a:solidFill>
                <a:schemeClr val="dk1"/>
              </a:solidFill>
              <a:latin typeface="Calibri"/>
              <a:ea typeface="Calibri"/>
              <a:cs typeface="Calibri"/>
              <a:sym typeface="Calibri"/>
            </a:endParaRPr>
          </a:p>
        </p:txBody>
      </p:sp>
      <p:sp>
        <p:nvSpPr>
          <p:cNvPr id="181" name="Google Shape;181;p9"/>
          <p:cNvSpPr txBox="1"/>
          <p:nvPr/>
        </p:nvSpPr>
        <p:spPr>
          <a:xfrm>
            <a:off x="651388" y="1739554"/>
            <a:ext cx="5641257" cy="366250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dirty="0">
                <a:solidFill>
                  <a:schemeClr val="dk1"/>
                </a:solidFill>
                <a:latin typeface="Calibri"/>
                <a:ea typeface="Calibri"/>
                <a:cs typeface="Calibri"/>
                <a:sym typeface="Calibri"/>
              </a:rPr>
              <a:t>Example</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import seaborn as </a:t>
            </a:r>
            <a:r>
              <a:rPr lang="en-IN" sz="1600" b="1" dirty="0" err="1">
                <a:solidFill>
                  <a:schemeClr val="dk1"/>
                </a:solidFill>
                <a:latin typeface="Courier New"/>
                <a:ea typeface="Courier New"/>
                <a:cs typeface="Courier New"/>
                <a:sym typeface="Courier New"/>
              </a:rPr>
              <a:t>sns</a:t>
            </a:r>
            <a:endParaRPr lang="en-IN" sz="16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br>
              <a:rPr lang="en-IN" sz="1600" b="1" dirty="0">
                <a:solidFill>
                  <a:schemeClr val="dk1"/>
                </a:solidFill>
                <a:latin typeface="Courier New"/>
                <a:ea typeface="Courier New"/>
                <a:cs typeface="Courier New"/>
                <a:sym typeface="Courier New"/>
              </a:rPr>
            </a:br>
            <a:r>
              <a:rPr lang="en-IN" sz="1600" b="1" dirty="0" err="1">
                <a:solidFill>
                  <a:schemeClr val="dk1"/>
                </a:solidFill>
                <a:latin typeface="Courier New"/>
                <a:ea typeface="Courier New"/>
                <a:cs typeface="Courier New"/>
                <a:sym typeface="Courier New"/>
              </a:rPr>
              <a:t>Grid_plot</a:t>
            </a:r>
            <a:r>
              <a:rPr lang="en-IN" sz="1600" b="1" dirty="0">
                <a:solidFill>
                  <a:schemeClr val="dk1"/>
                </a:solidFill>
                <a:latin typeface="Courier New"/>
                <a:ea typeface="Courier New"/>
                <a:cs typeface="Courier New"/>
                <a:sym typeface="Courier New"/>
              </a:rPr>
              <a:t> = </a:t>
            </a:r>
            <a:r>
              <a:rPr lang="en-IN" sz="1600" b="1" dirty="0" err="1">
                <a:solidFill>
                  <a:schemeClr val="dk1"/>
                </a:solidFill>
                <a:latin typeface="Courier New"/>
                <a:ea typeface="Courier New"/>
                <a:cs typeface="Courier New"/>
                <a:sym typeface="Courier New"/>
              </a:rPr>
              <a:t>plt.GridSpec</a:t>
            </a:r>
            <a:r>
              <a:rPr lang="en-IN" sz="1600" b="1" dirty="0">
                <a:solidFill>
                  <a:schemeClr val="dk1"/>
                </a:solidFill>
                <a:latin typeface="Courier New"/>
                <a:ea typeface="Courier New"/>
                <a:cs typeface="Courier New"/>
                <a:sym typeface="Courier New"/>
              </a:rPr>
              <a:t>(2, 3, </a:t>
            </a:r>
            <a:r>
              <a:rPr lang="en-IN" sz="1600" b="1" dirty="0" err="1">
                <a:solidFill>
                  <a:schemeClr val="dk1"/>
                </a:solidFill>
                <a:latin typeface="Courier New"/>
                <a:ea typeface="Courier New"/>
                <a:cs typeface="Courier New"/>
                <a:sym typeface="Courier New"/>
              </a:rPr>
              <a:t>wspace</a:t>
            </a:r>
            <a:r>
              <a:rPr lang="en-IN" sz="1600" b="1" dirty="0">
                <a:solidFill>
                  <a:schemeClr val="dk1"/>
                </a:solidFill>
                <a:latin typeface="Courier New"/>
                <a:ea typeface="Courier New"/>
                <a:cs typeface="Courier New"/>
                <a:sym typeface="Courier New"/>
              </a:rPr>
              <a:t> = 0.8,</a:t>
            </a:r>
            <a:endParaRPr lang="en-IN"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                        </a:t>
            </a:r>
            <a:r>
              <a:rPr lang="en-IN" sz="1600" b="1" dirty="0" err="1">
                <a:solidFill>
                  <a:schemeClr val="dk1"/>
                </a:solidFill>
                <a:latin typeface="Courier New"/>
                <a:ea typeface="Courier New"/>
                <a:cs typeface="Courier New"/>
                <a:sym typeface="Courier New"/>
              </a:rPr>
              <a:t>hspace</a:t>
            </a:r>
            <a:r>
              <a:rPr lang="en-IN" sz="1600" b="1" dirty="0">
                <a:solidFill>
                  <a:schemeClr val="dk1"/>
                </a:solidFill>
                <a:latin typeface="Courier New"/>
                <a:ea typeface="Courier New"/>
                <a:cs typeface="Courier New"/>
                <a:sym typeface="Courier New"/>
              </a:rPr>
              <a:t> = 0.6)</a:t>
            </a:r>
            <a:endParaRPr lang="en-IN" dirty="0"/>
          </a:p>
          <a:p>
            <a:pPr marL="0" marR="0" lvl="0" indent="0" algn="l" rtl="0">
              <a:spcBef>
                <a:spcPts val="0"/>
              </a:spcBef>
              <a:spcAft>
                <a:spcPts val="0"/>
              </a:spcAft>
              <a:buNone/>
            </a:pPr>
            <a:br>
              <a:rPr lang="en-IN" sz="1600" b="1" dirty="0">
                <a:solidFill>
                  <a:schemeClr val="dk1"/>
                </a:solidFill>
                <a:latin typeface="Courier New"/>
                <a:ea typeface="Courier New"/>
                <a:cs typeface="Courier New"/>
                <a:sym typeface="Courier New"/>
              </a:rPr>
            </a:br>
            <a:r>
              <a:rPr lang="en-IN" sz="1600" b="1" dirty="0" err="1">
                <a:solidFill>
                  <a:schemeClr val="dk1"/>
                </a:solidFill>
                <a:latin typeface="Courier New"/>
                <a:ea typeface="Courier New"/>
                <a:cs typeface="Courier New"/>
                <a:sym typeface="Courier New"/>
              </a:rPr>
              <a:t>plt.subplot</a:t>
            </a:r>
            <a:r>
              <a:rPr lang="en-IN" sz="1600" b="1" dirty="0">
                <a:solidFill>
                  <a:schemeClr val="dk1"/>
                </a:solidFill>
                <a:latin typeface="Courier New"/>
                <a:ea typeface="Courier New"/>
                <a:cs typeface="Courier New"/>
                <a:sym typeface="Courier New"/>
              </a:rPr>
              <a:t>(</a:t>
            </a:r>
            <a:r>
              <a:rPr lang="en-IN" sz="1600" b="1" dirty="0" err="1">
                <a:solidFill>
                  <a:schemeClr val="dk1"/>
                </a:solidFill>
                <a:latin typeface="Courier New"/>
                <a:ea typeface="Courier New"/>
                <a:cs typeface="Courier New"/>
                <a:sym typeface="Courier New"/>
              </a:rPr>
              <a:t>Grid_plot</a:t>
            </a:r>
            <a:r>
              <a:rPr lang="en-IN" sz="1600" b="1" dirty="0">
                <a:solidFill>
                  <a:schemeClr val="dk1"/>
                </a:solidFill>
                <a:latin typeface="Courier New"/>
                <a:ea typeface="Courier New"/>
                <a:cs typeface="Courier New"/>
                <a:sym typeface="Courier New"/>
              </a:rPr>
              <a:t>[0, 0])</a:t>
            </a:r>
          </a:p>
          <a:p>
            <a:pPr marL="0" marR="0" lvl="0" indent="0" algn="l" rtl="0">
              <a:spcBef>
                <a:spcPts val="0"/>
              </a:spcBef>
              <a:spcAft>
                <a:spcPts val="0"/>
              </a:spcAft>
              <a:buNone/>
            </a:pPr>
            <a:r>
              <a:rPr lang="en-IN" sz="1600" b="1" dirty="0" err="1">
                <a:solidFill>
                  <a:schemeClr val="dk1"/>
                </a:solidFill>
                <a:latin typeface="Courier New"/>
                <a:cs typeface="Courier New"/>
                <a:sym typeface="Courier New"/>
              </a:rPr>
              <a:t>plt.grid</a:t>
            </a:r>
            <a:r>
              <a:rPr lang="en-IN" sz="1600" b="1" dirty="0">
                <a:solidFill>
                  <a:schemeClr val="dk1"/>
                </a:solidFill>
                <a:latin typeface="Courier New"/>
                <a:cs typeface="Courier New"/>
                <a:sym typeface="Courier New"/>
              </a:rPr>
              <a:t>(True)</a:t>
            </a:r>
            <a:endParaRPr lang="en-IN" dirty="0"/>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plt.subplot</a:t>
            </a:r>
            <a:r>
              <a:rPr lang="en-IN" sz="1600" b="1" dirty="0">
                <a:solidFill>
                  <a:schemeClr val="dk1"/>
                </a:solidFill>
                <a:latin typeface="Courier New"/>
                <a:ea typeface="Courier New"/>
                <a:cs typeface="Courier New"/>
                <a:sym typeface="Courier New"/>
              </a:rPr>
              <a:t>(</a:t>
            </a:r>
            <a:r>
              <a:rPr lang="en-IN" sz="1600" b="1" dirty="0" err="1">
                <a:solidFill>
                  <a:schemeClr val="dk1"/>
                </a:solidFill>
                <a:latin typeface="Courier New"/>
                <a:ea typeface="Courier New"/>
                <a:cs typeface="Courier New"/>
                <a:sym typeface="Courier New"/>
              </a:rPr>
              <a:t>Grid_plot</a:t>
            </a:r>
            <a:r>
              <a:rPr lang="en-IN" sz="1600" b="1" dirty="0">
                <a:solidFill>
                  <a:schemeClr val="dk1"/>
                </a:solidFill>
                <a:latin typeface="Courier New"/>
                <a:ea typeface="Courier New"/>
                <a:cs typeface="Courier New"/>
                <a:sym typeface="Courier New"/>
              </a:rPr>
              <a:t>[0, 1:])</a:t>
            </a:r>
          </a:p>
          <a:p>
            <a:r>
              <a:rPr lang="en-IN" sz="1800" b="1" dirty="0" err="1">
                <a:solidFill>
                  <a:schemeClr val="dk1"/>
                </a:solidFill>
                <a:latin typeface="Courier New"/>
                <a:cs typeface="Courier New"/>
                <a:sym typeface="Courier New"/>
              </a:rPr>
              <a:t>plt.grid</a:t>
            </a:r>
            <a:r>
              <a:rPr lang="en-IN" sz="1800" b="1" dirty="0">
                <a:solidFill>
                  <a:schemeClr val="dk1"/>
                </a:solidFill>
                <a:latin typeface="Courier New"/>
                <a:cs typeface="Courier New"/>
                <a:sym typeface="Courier New"/>
              </a:rPr>
              <a:t>(True)</a:t>
            </a:r>
            <a:endParaRPr lang="en-IN" dirty="0"/>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plt.subplot</a:t>
            </a:r>
            <a:r>
              <a:rPr lang="en-IN" sz="1600" b="1" dirty="0">
                <a:solidFill>
                  <a:schemeClr val="dk1"/>
                </a:solidFill>
                <a:latin typeface="Courier New"/>
                <a:ea typeface="Courier New"/>
                <a:cs typeface="Courier New"/>
                <a:sym typeface="Courier New"/>
              </a:rPr>
              <a:t>(</a:t>
            </a:r>
            <a:r>
              <a:rPr lang="en-IN" sz="1600" b="1" dirty="0" err="1">
                <a:solidFill>
                  <a:schemeClr val="dk1"/>
                </a:solidFill>
                <a:latin typeface="Courier New"/>
                <a:ea typeface="Courier New"/>
                <a:cs typeface="Courier New"/>
                <a:sym typeface="Courier New"/>
              </a:rPr>
              <a:t>Grid_plot</a:t>
            </a:r>
            <a:r>
              <a:rPr lang="en-IN" sz="1600" b="1" dirty="0">
                <a:solidFill>
                  <a:schemeClr val="dk1"/>
                </a:solidFill>
                <a:latin typeface="Courier New"/>
                <a:ea typeface="Courier New"/>
                <a:cs typeface="Courier New"/>
                <a:sym typeface="Courier New"/>
              </a:rPr>
              <a:t>[1, :2])</a:t>
            </a:r>
          </a:p>
          <a:p>
            <a:r>
              <a:rPr lang="en-IN" sz="1800" b="1" dirty="0" err="1">
                <a:solidFill>
                  <a:schemeClr val="dk1"/>
                </a:solidFill>
                <a:latin typeface="Courier New"/>
                <a:cs typeface="Courier New"/>
                <a:sym typeface="Courier New"/>
              </a:rPr>
              <a:t>plt.grid</a:t>
            </a:r>
            <a:r>
              <a:rPr lang="en-IN" sz="1800" b="1" dirty="0">
                <a:solidFill>
                  <a:schemeClr val="dk1"/>
                </a:solidFill>
                <a:latin typeface="Courier New"/>
                <a:cs typeface="Courier New"/>
                <a:sym typeface="Courier New"/>
              </a:rPr>
              <a:t>(True)</a:t>
            </a:r>
            <a:endParaRPr lang="en-IN" dirty="0"/>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plt.subplot</a:t>
            </a:r>
            <a:r>
              <a:rPr lang="en-IN" sz="1600" b="1" dirty="0">
                <a:solidFill>
                  <a:schemeClr val="dk1"/>
                </a:solidFill>
                <a:latin typeface="Courier New"/>
                <a:ea typeface="Courier New"/>
                <a:cs typeface="Courier New"/>
                <a:sym typeface="Courier New"/>
              </a:rPr>
              <a:t>(</a:t>
            </a:r>
            <a:r>
              <a:rPr lang="en-IN" sz="1600" b="1" dirty="0" err="1">
                <a:solidFill>
                  <a:schemeClr val="dk1"/>
                </a:solidFill>
                <a:latin typeface="Courier New"/>
                <a:ea typeface="Courier New"/>
                <a:cs typeface="Courier New"/>
                <a:sym typeface="Courier New"/>
              </a:rPr>
              <a:t>Grid_plot</a:t>
            </a:r>
            <a:r>
              <a:rPr lang="en-IN" sz="1600" b="1" dirty="0">
                <a:solidFill>
                  <a:schemeClr val="dk1"/>
                </a:solidFill>
                <a:latin typeface="Courier New"/>
                <a:ea typeface="Courier New"/>
                <a:cs typeface="Courier New"/>
                <a:sym typeface="Courier New"/>
              </a:rPr>
              <a:t>[1, 2])</a:t>
            </a:r>
          </a:p>
          <a:p>
            <a:r>
              <a:rPr lang="en-IN" sz="1800" b="1" dirty="0" err="1">
                <a:solidFill>
                  <a:schemeClr val="dk1"/>
                </a:solidFill>
                <a:latin typeface="Courier New"/>
                <a:cs typeface="Courier New"/>
                <a:sym typeface="Courier New"/>
              </a:rPr>
              <a:t>plt.grid</a:t>
            </a:r>
            <a:r>
              <a:rPr lang="en-IN" sz="1800" b="1" dirty="0">
                <a:solidFill>
                  <a:schemeClr val="dk1"/>
                </a:solidFill>
                <a:latin typeface="Courier New"/>
                <a:cs typeface="Courier New"/>
                <a:sym typeface="Courier New"/>
              </a:rPr>
              <a:t>(True)</a:t>
            </a:r>
            <a:endParaRPr lang="en-IN" dirty="0"/>
          </a:p>
        </p:txBody>
      </p:sp>
      <p:sp>
        <p:nvSpPr>
          <p:cNvPr id="182" name="Google Shape;182;p9"/>
          <p:cNvSpPr txBox="1"/>
          <p:nvPr/>
        </p:nvSpPr>
        <p:spPr>
          <a:xfrm>
            <a:off x="6722807" y="1855570"/>
            <a:ext cx="61205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Calibri"/>
                <a:ea typeface="Calibri"/>
                <a:cs typeface="Calibri"/>
                <a:sym typeface="Calibri"/>
              </a:rPr>
              <a:t>Output</a:t>
            </a:r>
            <a:endParaRPr/>
          </a:p>
        </p:txBody>
      </p:sp>
      <p:pic>
        <p:nvPicPr>
          <p:cNvPr id="183" name="Google Shape;183;p9"/>
          <p:cNvPicPr preferRelativeResize="0"/>
          <p:nvPr/>
        </p:nvPicPr>
        <p:blipFill rotWithShape="1">
          <a:blip r:embed="rId4">
            <a:alphaModFix/>
          </a:blip>
          <a:srcRect/>
          <a:stretch/>
        </p:blipFill>
        <p:spPr>
          <a:xfrm>
            <a:off x="6624176" y="2320857"/>
            <a:ext cx="5314950" cy="398145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graphicFrame>
        <p:nvGraphicFramePr>
          <p:cNvPr id="188" name="Google Shape;188;p10"/>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89" name="Google Shape;189;p10"/>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90" name="Google Shape;190;p10"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91" name="Google Shape;191;p10"/>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2" name="Google Shape;192;p10"/>
          <p:cNvSpPr txBox="1"/>
          <p:nvPr/>
        </p:nvSpPr>
        <p:spPr>
          <a:xfrm>
            <a:off x="0" y="883683"/>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a:solidFill>
                  <a:schemeClr val="dk1"/>
                </a:solidFill>
                <a:latin typeface="Calibri"/>
                <a:ea typeface="Calibri"/>
                <a:cs typeface="Calibri"/>
                <a:sym typeface="Calibri"/>
              </a:rPr>
              <a:t>Sub Plots</a:t>
            </a:r>
            <a:endParaRPr sz="3600" b="1" cap="none">
              <a:solidFill>
                <a:schemeClr val="dk1"/>
              </a:solidFill>
              <a:latin typeface="Calibri"/>
              <a:ea typeface="Calibri"/>
              <a:cs typeface="Calibri"/>
              <a:sym typeface="Calibri"/>
            </a:endParaRPr>
          </a:p>
        </p:txBody>
      </p:sp>
      <p:sp>
        <p:nvSpPr>
          <p:cNvPr id="193" name="Google Shape;193;p10"/>
          <p:cNvSpPr txBox="1"/>
          <p:nvPr/>
        </p:nvSpPr>
        <p:spPr>
          <a:xfrm>
            <a:off x="651388" y="1739554"/>
            <a:ext cx="5641257" cy="18466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Calibri"/>
                <a:ea typeface="Calibri"/>
                <a:cs typeface="Calibri"/>
                <a:sym typeface="Calibri"/>
              </a:rPr>
              <a:t>Example</a:t>
            </a:r>
            <a:endParaRPr/>
          </a:p>
          <a:p>
            <a:pPr marL="0" marR="0" lvl="0" indent="0" algn="l" rtl="0">
              <a:spcBef>
                <a:spcPts val="0"/>
              </a:spcBef>
              <a:spcAft>
                <a:spcPts val="0"/>
              </a:spcAft>
              <a:buNone/>
            </a:pPr>
            <a:r>
              <a:rPr lang="en-IN" sz="1600" b="1">
                <a:solidFill>
                  <a:schemeClr val="dk1"/>
                </a:solidFill>
                <a:latin typeface="Courier New"/>
                <a:ea typeface="Courier New"/>
                <a:cs typeface="Courier New"/>
                <a:sym typeface="Courier New"/>
              </a:rPr>
              <a:t>import seaborn as sns</a:t>
            </a:r>
            <a:endParaRPr sz="1600" b="1">
              <a:solidFill>
                <a:schemeClr val="dk1"/>
              </a:solidFill>
              <a:latin typeface="Courier New"/>
              <a:ea typeface="Courier New"/>
              <a:cs typeface="Courier New"/>
              <a:sym typeface="Courier New"/>
            </a:endParaRPr>
          </a:p>
          <a:p>
            <a:pPr marL="0" marR="0" lvl="0" indent="0" algn="l" rtl="0">
              <a:spcBef>
                <a:spcPts val="0"/>
              </a:spcBef>
              <a:spcAft>
                <a:spcPts val="0"/>
              </a:spcAft>
              <a:buNone/>
            </a:pPr>
            <a:br>
              <a:rPr lang="en-IN" sz="1600" b="1">
                <a:solidFill>
                  <a:schemeClr val="dk1"/>
                </a:solidFill>
                <a:latin typeface="Courier New"/>
                <a:ea typeface="Courier New"/>
                <a:cs typeface="Courier New"/>
                <a:sym typeface="Courier New"/>
              </a:rPr>
            </a:br>
            <a:r>
              <a:rPr lang="en-IN" sz="1600" b="1">
                <a:solidFill>
                  <a:schemeClr val="dk1"/>
                </a:solidFill>
                <a:latin typeface="Courier New"/>
                <a:ea typeface="Courier New"/>
                <a:cs typeface="Courier New"/>
                <a:sym typeface="Courier New"/>
              </a:rPr>
              <a:t>figure, axes = plt.subplots(3, 4, figsize=(10, 10))</a:t>
            </a:r>
            <a:endParaRPr/>
          </a:p>
          <a:p>
            <a:pPr marL="0" marR="0" lvl="0" indent="0" algn="l" rtl="0">
              <a:spcBef>
                <a:spcPts val="0"/>
              </a:spcBef>
              <a:spcAft>
                <a:spcPts val="0"/>
              </a:spcAft>
              <a:buNone/>
            </a:pPr>
            <a:br>
              <a:rPr lang="en-IN" sz="1600" b="1">
                <a:solidFill>
                  <a:schemeClr val="dk1"/>
                </a:solidFill>
                <a:latin typeface="Courier New"/>
                <a:ea typeface="Courier New"/>
                <a:cs typeface="Courier New"/>
                <a:sym typeface="Courier New"/>
              </a:rPr>
            </a:br>
            <a:r>
              <a:rPr lang="en-IN" sz="1600" b="1">
                <a:solidFill>
                  <a:schemeClr val="dk1"/>
                </a:solidFill>
                <a:latin typeface="Courier New"/>
                <a:ea typeface="Courier New"/>
                <a:cs typeface="Courier New"/>
                <a:sym typeface="Courier New"/>
              </a:rPr>
              <a:t>figure.suptitle('Grid plot using subplots')</a:t>
            </a:r>
            <a:endParaRPr/>
          </a:p>
        </p:txBody>
      </p:sp>
      <p:sp>
        <p:nvSpPr>
          <p:cNvPr id="194" name="Google Shape;194;p10"/>
          <p:cNvSpPr txBox="1"/>
          <p:nvPr/>
        </p:nvSpPr>
        <p:spPr>
          <a:xfrm>
            <a:off x="6722807" y="1855570"/>
            <a:ext cx="61205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Calibri"/>
                <a:ea typeface="Calibri"/>
                <a:cs typeface="Calibri"/>
                <a:sym typeface="Calibri"/>
              </a:rPr>
              <a:t>Output</a:t>
            </a:r>
            <a:endParaRPr/>
          </a:p>
        </p:txBody>
      </p:sp>
      <p:pic>
        <p:nvPicPr>
          <p:cNvPr id="195" name="Google Shape;195;p10"/>
          <p:cNvPicPr preferRelativeResize="0"/>
          <p:nvPr/>
        </p:nvPicPr>
        <p:blipFill rotWithShape="1">
          <a:blip r:embed="rId4">
            <a:alphaModFix/>
          </a:blip>
          <a:srcRect/>
          <a:stretch/>
        </p:blipFill>
        <p:spPr>
          <a:xfrm>
            <a:off x="6722807" y="2198267"/>
            <a:ext cx="5026741" cy="4203289"/>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aphicFrame>
        <p:nvGraphicFramePr>
          <p:cNvPr id="88" name="Google Shape;88;p1"/>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89" name="Google Shape;89;p1"/>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1</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90" name="Google Shape;90;p1"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91" name="Google Shape;91;p1"/>
          <p:cNvSpPr/>
          <p:nvPr/>
        </p:nvSpPr>
        <p:spPr>
          <a:xfrm>
            <a:off x="4658038" y="2967335"/>
            <a:ext cx="2876108"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i="0" u="none" strike="noStrike" cap="none">
                <a:solidFill>
                  <a:schemeClr val="dk1"/>
                </a:solidFill>
                <a:latin typeface="Calibri"/>
                <a:ea typeface="Calibri"/>
                <a:cs typeface="Calibri"/>
                <a:sym typeface="Calibri"/>
              </a:rPr>
              <a:t>Multiple Plots</a:t>
            </a:r>
            <a:endParaRPr sz="23900" b="1" i="0" u="none" strike="noStrike" cap="none">
              <a:solidFill>
                <a:schemeClr val="dk1"/>
              </a:solidFill>
              <a:latin typeface="Calibri"/>
              <a:ea typeface="Calibri"/>
              <a:cs typeface="Calibri"/>
              <a:sym typeface="Calibri"/>
            </a:endParaRPr>
          </a:p>
        </p:txBody>
      </p:sp>
      <p:sp>
        <p:nvSpPr>
          <p:cNvPr id="92" name="Google Shape;92;p1"/>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graphicFrame>
        <p:nvGraphicFramePr>
          <p:cNvPr id="97" name="Google Shape;97;p2"/>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98" name="Google Shape;98;p2"/>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99" name="Google Shape;99;p2"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00" name="Google Shape;100;p2"/>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1" name="Google Shape;101;p2"/>
          <p:cNvSpPr txBox="1"/>
          <p:nvPr/>
        </p:nvSpPr>
        <p:spPr>
          <a:xfrm>
            <a:off x="0" y="873851"/>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i="0" u="none" strike="noStrike" cap="none">
                <a:solidFill>
                  <a:schemeClr val="dk1"/>
                </a:solidFill>
                <a:latin typeface="Calibri"/>
                <a:ea typeface="Calibri"/>
                <a:cs typeface="Calibri"/>
                <a:sym typeface="Calibri"/>
              </a:rPr>
              <a:t>Multiple Plots</a:t>
            </a:r>
            <a:endParaRPr sz="3600" b="1" i="0" u="none" strike="noStrike" cap="none">
              <a:solidFill>
                <a:schemeClr val="dk1"/>
              </a:solidFill>
              <a:latin typeface="Calibri"/>
              <a:ea typeface="Calibri"/>
              <a:cs typeface="Calibri"/>
              <a:sym typeface="Calibri"/>
            </a:endParaRPr>
          </a:p>
        </p:txBody>
      </p:sp>
      <p:sp>
        <p:nvSpPr>
          <p:cNvPr id="102" name="Google Shape;102;p2"/>
          <p:cNvSpPr txBox="1"/>
          <p:nvPr/>
        </p:nvSpPr>
        <p:spPr>
          <a:xfrm>
            <a:off x="487016" y="1574931"/>
            <a:ext cx="10972801" cy="1295868"/>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chemeClr val="dk1"/>
              </a:buClr>
              <a:buSzPts val="1800"/>
              <a:buFont typeface="Arial"/>
              <a:buChar char="•"/>
            </a:pPr>
            <a:r>
              <a:rPr lang="en-IN" sz="1800" b="0" i="0" u="none" strike="noStrike" cap="none">
                <a:solidFill>
                  <a:schemeClr val="dk1"/>
                </a:solidFill>
                <a:latin typeface="Calibri"/>
                <a:ea typeface="Calibri"/>
                <a:cs typeface="Calibri"/>
                <a:sym typeface="Calibri"/>
              </a:rPr>
              <a:t>Multi-plot grid is a useful approach to draw multiple instances of the same plot on different subsets of your dataset. </a:t>
            </a:r>
            <a:endParaRPr/>
          </a:p>
          <a:p>
            <a:pPr marL="285750" marR="0" lvl="0" indent="-285750" algn="just" rtl="0">
              <a:lnSpc>
                <a:spcPct val="150000"/>
              </a:lnSpc>
              <a:spcBef>
                <a:spcPts val="0"/>
              </a:spcBef>
              <a:spcAft>
                <a:spcPts val="0"/>
              </a:spcAft>
              <a:buClr>
                <a:schemeClr val="dk1"/>
              </a:buClr>
              <a:buSzPts val="1800"/>
              <a:buFont typeface="Arial"/>
              <a:buChar char="•"/>
            </a:pPr>
            <a:r>
              <a:rPr lang="en-IN" sz="1800" b="0" i="0" u="none" strike="noStrike" cap="none">
                <a:solidFill>
                  <a:schemeClr val="dk1"/>
                </a:solidFill>
                <a:latin typeface="Calibri"/>
                <a:ea typeface="Calibri"/>
                <a:cs typeface="Calibri"/>
                <a:sym typeface="Calibri"/>
              </a:rPr>
              <a:t>It allows a viewer to quickly extract a large amount of information about a complex dataset.</a:t>
            </a:r>
            <a:endParaRPr/>
          </a:p>
        </p:txBody>
      </p:sp>
      <p:pic>
        <p:nvPicPr>
          <p:cNvPr id="103" name="Google Shape;103;p2" descr="A group of blue lines&#10;&#10;Description automatically generated"/>
          <p:cNvPicPr preferRelativeResize="0"/>
          <p:nvPr/>
        </p:nvPicPr>
        <p:blipFill rotWithShape="1">
          <a:blip r:embed="rId4">
            <a:alphaModFix/>
          </a:blip>
          <a:srcRect/>
          <a:stretch/>
        </p:blipFill>
        <p:spPr>
          <a:xfrm>
            <a:off x="3843798" y="3018502"/>
            <a:ext cx="3460389" cy="3460389"/>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graphicFrame>
        <p:nvGraphicFramePr>
          <p:cNvPr id="108" name="Google Shape;108;p3"/>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09" name="Google Shape;109;p3"/>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10" name="Google Shape;110;p3"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11" name="Google Shape;111;p3"/>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2" name="Google Shape;112;p3"/>
          <p:cNvSpPr txBox="1"/>
          <p:nvPr/>
        </p:nvSpPr>
        <p:spPr>
          <a:xfrm>
            <a:off x="0" y="873851"/>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i="0" u="none" strike="noStrike" cap="none">
                <a:solidFill>
                  <a:schemeClr val="dk1"/>
                </a:solidFill>
                <a:latin typeface="Calibri"/>
                <a:ea typeface="Calibri"/>
                <a:cs typeface="Calibri"/>
                <a:sym typeface="Calibri"/>
              </a:rPr>
              <a:t>3D Plot</a:t>
            </a:r>
            <a:endParaRPr sz="3600" b="1" i="0" u="none" strike="noStrike" cap="none">
              <a:solidFill>
                <a:schemeClr val="dk1"/>
              </a:solidFill>
              <a:latin typeface="Calibri"/>
              <a:ea typeface="Calibri"/>
              <a:cs typeface="Calibri"/>
              <a:sym typeface="Calibri"/>
            </a:endParaRPr>
          </a:p>
        </p:txBody>
      </p:sp>
      <p:sp>
        <p:nvSpPr>
          <p:cNvPr id="113" name="Google Shape;113;p3"/>
          <p:cNvSpPr txBox="1"/>
          <p:nvPr/>
        </p:nvSpPr>
        <p:spPr>
          <a:xfrm>
            <a:off x="487016" y="1574931"/>
            <a:ext cx="10972801" cy="365035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dk1"/>
              </a:buClr>
              <a:buSzPts val="1800"/>
              <a:buFont typeface="Arial"/>
              <a:buChar char="•"/>
            </a:pPr>
            <a:r>
              <a:rPr lang="en-IN" sz="1800" b="1" i="0" u="none" strike="noStrike" cap="none">
                <a:solidFill>
                  <a:schemeClr val="dk1"/>
                </a:solidFill>
                <a:latin typeface="Calibri"/>
                <a:ea typeface="Calibri"/>
                <a:cs typeface="Calibri"/>
                <a:sym typeface="Calibri"/>
              </a:rPr>
              <a:t>FacetGrid: </a:t>
            </a:r>
            <a:r>
              <a:rPr lang="en-IN" sz="1800" b="0" i="0" u="none" strike="noStrike" cap="none">
                <a:solidFill>
                  <a:schemeClr val="dk1"/>
                </a:solidFill>
                <a:latin typeface="Calibri"/>
                <a:ea typeface="Calibri"/>
                <a:cs typeface="Calibri"/>
                <a:sym typeface="Calibri"/>
              </a:rPr>
              <a:t>Group data by a categorical variable and plot individual subplots for each category.</a:t>
            </a:r>
            <a:endParaRPr/>
          </a:p>
          <a:p>
            <a:pPr marL="285750" marR="0" lvl="0" indent="-285750" algn="l" rtl="0">
              <a:lnSpc>
                <a:spcPct val="150000"/>
              </a:lnSpc>
              <a:spcBef>
                <a:spcPts val="0"/>
              </a:spcBef>
              <a:spcAft>
                <a:spcPts val="0"/>
              </a:spcAft>
              <a:buClr>
                <a:schemeClr val="dk1"/>
              </a:buClr>
              <a:buSzPts val="1800"/>
              <a:buFont typeface="Arial"/>
              <a:buChar char="•"/>
            </a:pPr>
            <a:r>
              <a:rPr lang="en-IN" sz="1800" b="1" i="0" u="none" strike="noStrike" cap="none">
                <a:solidFill>
                  <a:schemeClr val="dk1"/>
                </a:solidFill>
                <a:latin typeface="Calibri"/>
                <a:ea typeface="Calibri"/>
                <a:cs typeface="Calibri"/>
                <a:sym typeface="Calibri"/>
              </a:rPr>
              <a:t>Jointplot: </a:t>
            </a:r>
            <a:r>
              <a:rPr lang="en-IN" sz="1800" b="0" i="0" u="none" strike="noStrike" cap="none">
                <a:solidFill>
                  <a:schemeClr val="dk1"/>
                </a:solidFill>
                <a:latin typeface="Calibri"/>
                <a:ea typeface="Calibri"/>
                <a:cs typeface="Calibri"/>
                <a:sym typeface="Calibri"/>
              </a:rPr>
              <a:t> Visualize the relationship between two variables and their distributions.</a:t>
            </a:r>
            <a:endParaRPr/>
          </a:p>
          <a:p>
            <a:pPr marL="285750" marR="0" lvl="0" indent="-285750" algn="l" rtl="0">
              <a:lnSpc>
                <a:spcPct val="150000"/>
              </a:lnSpc>
              <a:spcBef>
                <a:spcPts val="0"/>
              </a:spcBef>
              <a:spcAft>
                <a:spcPts val="0"/>
              </a:spcAft>
              <a:buClr>
                <a:schemeClr val="dk1"/>
              </a:buClr>
              <a:buSzPts val="1800"/>
              <a:buFont typeface="Arial"/>
              <a:buChar char="•"/>
            </a:pPr>
            <a:r>
              <a:rPr lang="en-IN" sz="1800" b="1" i="0" u="none" strike="noStrike" cap="none">
                <a:solidFill>
                  <a:schemeClr val="dk1"/>
                </a:solidFill>
                <a:latin typeface="Calibri"/>
                <a:ea typeface="Calibri"/>
                <a:cs typeface="Calibri"/>
                <a:sym typeface="Calibri"/>
              </a:rPr>
              <a:t>Pairplot: </a:t>
            </a:r>
            <a:r>
              <a:rPr lang="en-IN" sz="1800" b="0" i="0" u="none" strike="noStrike" cap="none">
                <a:solidFill>
                  <a:schemeClr val="dk1"/>
                </a:solidFill>
                <a:latin typeface="Calibri"/>
                <a:ea typeface="Calibri"/>
                <a:cs typeface="Calibri"/>
                <a:sym typeface="Calibri"/>
              </a:rPr>
              <a:t> Visualize the relationships between all pairs of numeric columns in a DataFrame.</a:t>
            </a:r>
            <a:endParaRPr/>
          </a:p>
          <a:p>
            <a:pPr marL="285750" marR="0" lvl="0" indent="-285750" algn="l" rtl="0">
              <a:lnSpc>
                <a:spcPct val="150000"/>
              </a:lnSpc>
              <a:spcBef>
                <a:spcPts val="0"/>
              </a:spcBef>
              <a:spcAft>
                <a:spcPts val="0"/>
              </a:spcAft>
              <a:buClr>
                <a:schemeClr val="dk1"/>
              </a:buClr>
              <a:buSzPts val="1800"/>
              <a:buFont typeface="Arial"/>
              <a:buChar char="•"/>
            </a:pPr>
            <a:r>
              <a:rPr lang="en-IN" sz="1800" b="1" i="0" u="none" strike="noStrike" cap="none">
                <a:solidFill>
                  <a:schemeClr val="dk1"/>
                </a:solidFill>
                <a:latin typeface="Calibri"/>
                <a:ea typeface="Calibri"/>
                <a:cs typeface="Calibri"/>
                <a:sym typeface="Calibri"/>
              </a:rPr>
              <a:t>Gridspec: </a:t>
            </a:r>
            <a:r>
              <a:rPr lang="en-IN" sz="1800" b="0" i="0" u="none" strike="noStrike" cap="none">
                <a:solidFill>
                  <a:schemeClr val="dk1"/>
                </a:solidFill>
                <a:latin typeface="Calibri"/>
                <a:ea typeface="Calibri"/>
                <a:cs typeface="Calibri"/>
                <a:sym typeface="Calibri"/>
              </a:rPr>
              <a:t>Create custom grid layouts for subplots.</a:t>
            </a:r>
            <a:endParaRPr/>
          </a:p>
          <a:p>
            <a:pPr marL="285750" marR="0" lvl="0" indent="-285750" algn="l" rtl="0">
              <a:lnSpc>
                <a:spcPct val="150000"/>
              </a:lnSpc>
              <a:spcBef>
                <a:spcPts val="0"/>
              </a:spcBef>
              <a:spcAft>
                <a:spcPts val="0"/>
              </a:spcAft>
              <a:buClr>
                <a:schemeClr val="dk1"/>
              </a:buClr>
              <a:buSzPts val="1800"/>
              <a:buFont typeface="Arial"/>
              <a:buChar char="•"/>
            </a:pPr>
            <a:r>
              <a:rPr lang="en-IN" sz="1800" b="1" i="0" u="none" strike="noStrike" cap="none">
                <a:solidFill>
                  <a:schemeClr val="dk1"/>
                </a:solidFill>
                <a:latin typeface="Calibri"/>
                <a:ea typeface="Calibri"/>
                <a:cs typeface="Calibri"/>
                <a:sym typeface="Calibri"/>
              </a:rPr>
              <a:t>Subplot</a:t>
            </a:r>
            <a:r>
              <a:rPr lang="en-IN" sz="1800" b="0" i="0" u="none" strike="noStrike" cap="none">
                <a:solidFill>
                  <a:schemeClr val="dk1"/>
                </a:solidFill>
                <a:latin typeface="Calibri"/>
                <a:ea typeface="Calibri"/>
                <a:cs typeface="Calibri"/>
                <a:sym typeface="Calibri"/>
              </a:rPr>
              <a:t>: Create multiple subplots within a single figure.</a:t>
            </a:r>
            <a:endParaRPr/>
          </a:p>
          <a:p>
            <a:pPr marL="285750" marR="0" lvl="0" indent="-171450" algn="l"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graphicFrame>
        <p:nvGraphicFramePr>
          <p:cNvPr id="118" name="Google Shape;118;p4"/>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19" name="Google Shape;119;p4"/>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20" name="Google Shape;120;p4"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21" name="Google Shape;121;p4"/>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2" name="Google Shape;122;p4"/>
          <p:cNvSpPr txBox="1"/>
          <p:nvPr/>
        </p:nvSpPr>
        <p:spPr>
          <a:xfrm>
            <a:off x="0" y="883683"/>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a:solidFill>
                  <a:schemeClr val="dk1"/>
                </a:solidFill>
                <a:latin typeface="Calibri"/>
                <a:ea typeface="Calibri"/>
                <a:cs typeface="Calibri"/>
                <a:sym typeface="Calibri"/>
              </a:rPr>
              <a:t>Facet Grid</a:t>
            </a:r>
            <a:endParaRPr sz="3600" b="1" cap="none">
              <a:solidFill>
                <a:schemeClr val="dk1"/>
              </a:solidFill>
              <a:latin typeface="Calibri"/>
              <a:ea typeface="Calibri"/>
              <a:cs typeface="Calibri"/>
              <a:sym typeface="Calibri"/>
            </a:endParaRPr>
          </a:p>
        </p:txBody>
      </p:sp>
      <p:sp>
        <p:nvSpPr>
          <p:cNvPr id="123" name="Google Shape;123;p4"/>
          <p:cNvSpPr txBox="1"/>
          <p:nvPr/>
        </p:nvSpPr>
        <p:spPr>
          <a:xfrm>
            <a:off x="651388" y="1739554"/>
            <a:ext cx="6418006" cy="48013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dirty="0">
                <a:solidFill>
                  <a:schemeClr val="dk1"/>
                </a:solidFill>
                <a:latin typeface="Calibri"/>
                <a:ea typeface="Calibri"/>
                <a:cs typeface="Calibri"/>
                <a:sym typeface="Calibri"/>
              </a:rPr>
              <a:t>Example</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import seaborn as </a:t>
            </a:r>
            <a:r>
              <a:rPr lang="en-IN" sz="1600" b="1" dirty="0" err="1">
                <a:solidFill>
                  <a:schemeClr val="dk1"/>
                </a:solidFill>
                <a:latin typeface="Courier New"/>
                <a:ea typeface="Courier New"/>
                <a:cs typeface="Courier New"/>
                <a:sym typeface="Courier New"/>
              </a:rPr>
              <a:t>sns</a:t>
            </a:r>
            <a:endParaRPr sz="16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import pandas as pd</a:t>
            </a:r>
            <a:endParaRPr dirty="0"/>
          </a:p>
          <a:p>
            <a:pPr marL="0" marR="0" lvl="0" indent="0" algn="l" rtl="0">
              <a:spcBef>
                <a:spcPts val="0"/>
              </a:spcBef>
              <a:spcAft>
                <a:spcPts val="0"/>
              </a:spcAft>
              <a:buNone/>
            </a:pPr>
            <a:br>
              <a:rPr lang="en-IN" sz="1600" b="1" dirty="0">
                <a:solidFill>
                  <a:srgbClr val="AEAEAE"/>
                </a:solidFill>
                <a:latin typeface="Courier New"/>
                <a:ea typeface="Courier New"/>
                <a:cs typeface="Courier New"/>
                <a:sym typeface="Courier New"/>
              </a:rPr>
            </a:br>
            <a:r>
              <a:rPr lang="en-IN" sz="1600" b="1" dirty="0">
                <a:solidFill>
                  <a:srgbClr val="AEAEAE"/>
                </a:solidFill>
                <a:latin typeface="Courier New"/>
                <a:ea typeface="Courier New"/>
                <a:cs typeface="Courier New"/>
                <a:sym typeface="Courier New"/>
              </a:rPr>
              <a:t># Sample data</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data = {</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    "x": [1, 2, 3, 4, 5],</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    "y": [2, 4, 3, 5, 1],</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    "hue": ["A", "B", "A", "B", "A"]</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a:t>
            </a:r>
            <a:endParaRPr dirty="0"/>
          </a:p>
          <a:p>
            <a:pPr marL="0" marR="0" lvl="0" indent="0" algn="l" rtl="0">
              <a:spcBef>
                <a:spcPts val="0"/>
              </a:spcBef>
              <a:spcAft>
                <a:spcPts val="0"/>
              </a:spcAft>
              <a:buNone/>
            </a:pPr>
            <a:br>
              <a:rPr lang="en-IN" sz="1600" b="1" dirty="0">
                <a:solidFill>
                  <a:schemeClr val="dk1"/>
                </a:solidFill>
                <a:latin typeface="Courier New"/>
                <a:ea typeface="Courier New"/>
                <a:cs typeface="Courier New"/>
                <a:sym typeface="Courier New"/>
              </a:rPr>
            </a:br>
            <a:r>
              <a:rPr lang="en-IN" sz="1600" b="1" dirty="0" err="1">
                <a:solidFill>
                  <a:schemeClr val="dk1"/>
                </a:solidFill>
                <a:latin typeface="Courier New"/>
                <a:ea typeface="Courier New"/>
                <a:cs typeface="Courier New"/>
                <a:sym typeface="Courier New"/>
              </a:rPr>
              <a:t>df</a:t>
            </a:r>
            <a:r>
              <a:rPr lang="en-IN" sz="1600" b="1" dirty="0">
                <a:solidFill>
                  <a:schemeClr val="dk1"/>
                </a:solidFill>
                <a:latin typeface="Courier New"/>
                <a:ea typeface="Courier New"/>
                <a:cs typeface="Courier New"/>
                <a:sym typeface="Courier New"/>
              </a:rPr>
              <a:t> = </a:t>
            </a:r>
            <a:r>
              <a:rPr lang="en-IN" sz="1600" b="1" dirty="0" err="1">
                <a:solidFill>
                  <a:schemeClr val="dk1"/>
                </a:solidFill>
                <a:latin typeface="Courier New"/>
                <a:ea typeface="Courier New"/>
                <a:cs typeface="Courier New"/>
                <a:sym typeface="Courier New"/>
              </a:rPr>
              <a:t>pd.DataFrame</a:t>
            </a:r>
            <a:r>
              <a:rPr lang="en-IN" sz="1600" b="1" dirty="0">
                <a:solidFill>
                  <a:schemeClr val="dk1"/>
                </a:solidFill>
                <a:latin typeface="Courier New"/>
                <a:ea typeface="Courier New"/>
                <a:cs typeface="Courier New"/>
                <a:sym typeface="Courier New"/>
              </a:rPr>
              <a:t>(data)</a:t>
            </a:r>
            <a:endParaRPr dirty="0"/>
          </a:p>
          <a:p>
            <a:pPr marL="0" marR="0" lvl="0" indent="0" algn="l" rtl="0">
              <a:spcBef>
                <a:spcPts val="0"/>
              </a:spcBef>
              <a:spcAft>
                <a:spcPts val="0"/>
              </a:spcAft>
              <a:buNone/>
            </a:pPr>
            <a:r>
              <a:rPr lang="en-IN" sz="1600" b="1" dirty="0">
                <a:solidFill>
                  <a:srgbClr val="AEAEAE"/>
                </a:solidFill>
                <a:latin typeface="Courier New"/>
                <a:ea typeface="Courier New"/>
                <a:cs typeface="Courier New"/>
                <a:sym typeface="Courier New"/>
              </a:rPr>
              <a:t># Create a </a:t>
            </a:r>
            <a:r>
              <a:rPr lang="en-IN" sz="1600" b="1" dirty="0" err="1">
                <a:solidFill>
                  <a:srgbClr val="AEAEAE"/>
                </a:solidFill>
                <a:latin typeface="Courier New"/>
                <a:ea typeface="Courier New"/>
                <a:cs typeface="Courier New"/>
                <a:sym typeface="Courier New"/>
              </a:rPr>
              <a:t>FacetGrid</a:t>
            </a:r>
            <a:r>
              <a:rPr lang="en-IN" sz="1600" b="1" dirty="0">
                <a:solidFill>
                  <a:srgbClr val="AEAEAE"/>
                </a:solidFill>
                <a:latin typeface="Courier New"/>
                <a:ea typeface="Courier New"/>
                <a:cs typeface="Courier New"/>
                <a:sym typeface="Courier New"/>
              </a:rPr>
              <a:t> with one row and two columns</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g = </a:t>
            </a:r>
            <a:r>
              <a:rPr lang="en-IN" sz="1600" b="1" dirty="0" err="1">
                <a:solidFill>
                  <a:schemeClr val="dk1"/>
                </a:solidFill>
                <a:latin typeface="Courier New"/>
                <a:ea typeface="Courier New"/>
                <a:cs typeface="Courier New"/>
                <a:sym typeface="Courier New"/>
              </a:rPr>
              <a:t>sns.FacetGrid</a:t>
            </a:r>
            <a:r>
              <a:rPr lang="en-IN" sz="1600" b="1" dirty="0">
                <a:solidFill>
                  <a:schemeClr val="dk1"/>
                </a:solidFill>
                <a:latin typeface="Courier New"/>
                <a:ea typeface="Courier New"/>
                <a:cs typeface="Courier New"/>
                <a:sym typeface="Courier New"/>
              </a:rPr>
              <a:t>(</a:t>
            </a:r>
            <a:r>
              <a:rPr lang="en-IN" sz="1600" b="1" dirty="0" err="1">
                <a:solidFill>
                  <a:schemeClr val="dk1"/>
                </a:solidFill>
                <a:latin typeface="Courier New"/>
                <a:ea typeface="Courier New"/>
                <a:cs typeface="Courier New"/>
                <a:sym typeface="Courier New"/>
              </a:rPr>
              <a:t>df</a:t>
            </a:r>
            <a:r>
              <a:rPr lang="en-IN" sz="1600" b="1" dirty="0">
                <a:solidFill>
                  <a:schemeClr val="dk1"/>
                </a:solidFill>
                <a:latin typeface="Courier New"/>
                <a:ea typeface="Courier New"/>
                <a:cs typeface="Courier New"/>
                <a:sym typeface="Courier New"/>
              </a:rPr>
              <a:t>, col="hue", height=4)</a:t>
            </a:r>
            <a:endParaRPr dirty="0"/>
          </a:p>
          <a:p>
            <a:pPr marL="0" marR="0" lvl="0" indent="0" algn="l" rtl="0">
              <a:spcBef>
                <a:spcPts val="0"/>
              </a:spcBef>
              <a:spcAft>
                <a:spcPts val="0"/>
              </a:spcAft>
              <a:buNone/>
            </a:pPr>
            <a:r>
              <a:rPr lang="en-IN" sz="1600" b="1" dirty="0">
                <a:solidFill>
                  <a:srgbClr val="AEAEAE"/>
                </a:solidFill>
                <a:latin typeface="Courier New"/>
                <a:ea typeface="Courier New"/>
                <a:cs typeface="Courier New"/>
                <a:sym typeface="Courier New"/>
              </a:rPr>
              <a:t># Plot scatter plots for each facet</a:t>
            </a:r>
            <a:endParaRPr dirty="0"/>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g.map</a:t>
            </a:r>
            <a:r>
              <a:rPr lang="en-IN" sz="1600" b="1" dirty="0">
                <a:solidFill>
                  <a:schemeClr val="dk1"/>
                </a:solidFill>
                <a:latin typeface="Courier New"/>
                <a:ea typeface="Courier New"/>
                <a:cs typeface="Courier New"/>
                <a:sym typeface="Courier New"/>
              </a:rPr>
              <a:t>(</a:t>
            </a:r>
            <a:r>
              <a:rPr lang="en-IN" sz="1600" b="1" dirty="0" err="1">
                <a:solidFill>
                  <a:schemeClr val="dk1"/>
                </a:solidFill>
                <a:latin typeface="Courier New"/>
                <a:ea typeface="Courier New"/>
                <a:cs typeface="Courier New"/>
                <a:sym typeface="Courier New"/>
              </a:rPr>
              <a:t>sns.scatterplot</a:t>
            </a:r>
            <a:r>
              <a:rPr lang="en-IN" sz="1600" b="1" dirty="0">
                <a:solidFill>
                  <a:schemeClr val="dk1"/>
                </a:solidFill>
                <a:latin typeface="Courier New"/>
                <a:ea typeface="Courier New"/>
                <a:cs typeface="Courier New"/>
                <a:sym typeface="Courier New"/>
              </a:rPr>
              <a:t>, "x", "y")</a:t>
            </a:r>
            <a:endParaRPr dirty="0"/>
          </a:p>
          <a:p>
            <a:pPr marL="0" marR="0" lvl="0" indent="0" algn="l" rtl="0">
              <a:spcBef>
                <a:spcPts val="0"/>
              </a:spcBef>
              <a:spcAft>
                <a:spcPts val="0"/>
              </a:spcAft>
              <a:buNone/>
            </a:pPr>
            <a:br>
              <a:rPr lang="en-IN" sz="1600" b="1" dirty="0">
                <a:solidFill>
                  <a:schemeClr val="dk1"/>
                </a:solidFill>
                <a:latin typeface="Courier New"/>
                <a:ea typeface="Courier New"/>
                <a:cs typeface="Courier New"/>
                <a:sym typeface="Courier New"/>
              </a:rPr>
            </a:br>
            <a:r>
              <a:rPr lang="en-IN" sz="1600" b="1" dirty="0" err="1">
                <a:solidFill>
                  <a:schemeClr val="dk1"/>
                </a:solidFill>
                <a:latin typeface="Courier New"/>
                <a:ea typeface="Courier New"/>
                <a:cs typeface="Courier New"/>
                <a:sym typeface="Courier New"/>
              </a:rPr>
              <a:t>plt.show</a:t>
            </a:r>
            <a:r>
              <a:rPr lang="en-IN" sz="1600" b="1" dirty="0">
                <a:solidFill>
                  <a:schemeClr val="dk1"/>
                </a:solidFill>
                <a:latin typeface="Courier New"/>
                <a:ea typeface="Courier New"/>
                <a:cs typeface="Courier New"/>
                <a:sym typeface="Courier New"/>
              </a:rPr>
              <a:t>()</a:t>
            </a:r>
            <a:endParaRPr dirty="0"/>
          </a:p>
          <a:p>
            <a:pPr marL="0" marR="0" lvl="0" indent="0" algn="l" rtl="0">
              <a:spcBef>
                <a:spcPts val="0"/>
              </a:spcBef>
              <a:spcAft>
                <a:spcPts val="0"/>
              </a:spcAft>
              <a:buNone/>
            </a:pPr>
            <a:endParaRPr sz="1600" b="1" dirty="0">
              <a:solidFill>
                <a:schemeClr val="dk1"/>
              </a:solidFill>
              <a:latin typeface="Courier New"/>
              <a:ea typeface="Courier New"/>
              <a:cs typeface="Courier New"/>
              <a:sym typeface="Courier New"/>
            </a:endParaRPr>
          </a:p>
        </p:txBody>
      </p:sp>
      <p:sp>
        <p:nvSpPr>
          <p:cNvPr id="124" name="Google Shape;124;p4"/>
          <p:cNvSpPr txBox="1"/>
          <p:nvPr/>
        </p:nvSpPr>
        <p:spPr>
          <a:xfrm>
            <a:off x="6722807" y="1855570"/>
            <a:ext cx="61205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Calibri"/>
                <a:ea typeface="Calibri"/>
                <a:cs typeface="Calibri"/>
                <a:sym typeface="Calibri"/>
              </a:rPr>
              <a:t>Output</a:t>
            </a:r>
            <a:endParaRPr/>
          </a:p>
        </p:txBody>
      </p:sp>
      <p:pic>
        <p:nvPicPr>
          <p:cNvPr id="125" name="Google Shape;125;p4"/>
          <p:cNvPicPr preferRelativeResize="0"/>
          <p:nvPr/>
        </p:nvPicPr>
        <p:blipFill rotWithShape="1">
          <a:blip r:embed="rId4">
            <a:alphaModFix/>
          </a:blip>
          <a:srcRect/>
          <a:stretch/>
        </p:blipFill>
        <p:spPr>
          <a:xfrm>
            <a:off x="6844887" y="2340342"/>
            <a:ext cx="5250426" cy="2591982"/>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graphicFrame>
        <p:nvGraphicFramePr>
          <p:cNvPr id="130" name="Google Shape;130;p5"/>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31" name="Google Shape;131;p5"/>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32" name="Google Shape;132;p5"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33" name="Google Shape;133;p5"/>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4" name="Google Shape;134;p5"/>
          <p:cNvSpPr txBox="1"/>
          <p:nvPr/>
        </p:nvSpPr>
        <p:spPr>
          <a:xfrm>
            <a:off x="0" y="883683"/>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a:solidFill>
                  <a:schemeClr val="dk1"/>
                </a:solidFill>
                <a:latin typeface="Calibri"/>
                <a:ea typeface="Calibri"/>
                <a:cs typeface="Calibri"/>
                <a:sym typeface="Calibri"/>
              </a:rPr>
              <a:t>Facet Grid</a:t>
            </a:r>
            <a:endParaRPr sz="3600" b="1" cap="none">
              <a:solidFill>
                <a:schemeClr val="dk1"/>
              </a:solidFill>
              <a:latin typeface="Calibri"/>
              <a:ea typeface="Calibri"/>
              <a:cs typeface="Calibri"/>
              <a:sym typeface="Calibri"/>
            </a:endParaRPr>
          </a:p>
        </p:txBody>
      </p:sp>
      <p:sp>
        <p:nvSpPr>
          <p:cNvPr id="135" name="Google Shape;135;p5"/>
          <p:cNvSpPr txBox="1"/>
          <p:nvPr/>
        </p:nvSpPr>
        <p:spPr>
          <a:xfrm>
            <a:off x="651388" y="1739554"/>
            <a:ext cx="6418006" cy="48013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Calibri"/>
                <a:ea typeface="Calibri"/>
                <a:cs typeface="Calibri"/>
                <a:sym typeface="Calibri"/>
              </a:rPr>
              <a:t>Example</a:t>
            </a:r>
            <a:endParaRPr/>
          </a:p>
          <a:p>
            <a:pPr marL="0" marR="0" lvl="0" indent="0" algn="l" rtl="0">
              <a:spcBef>
                <a:spcPts val="0"/>
              </a:spcBef>
              <a:spcAft>
                <a:spcPts val="0"/>
              </a:spcAft>
              <a:buNone/>
            </a:pPr>
            <a:r>
              <a:rPr lang="en-IN" sz="1600" b="1">
                <a:solidFill>
                  <a:schemeClr val="dk1"/>
                </a:solidFill>
                <a:latin typeface="Courier New"/>
                <a:ea typeface="Courier New"/>
                <a:cs typeface="Courier New"/>
                <a:sym typeface="Courier New"/>
              </a:rPr>
              <a:t>import seaborn as sns</a:t>
            </a:r>
            <a:endParaRPr sz="1600" b="1">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IN" sz="1600" b="1">
                <a:solidFill>
                  <a:schemeClr val="dk1"/>
                </a:solidFill>
                <a:latin typeface="Courier New"/>
                <a:ea typeface="Courier New"/>
                <a:cs typeface="Courier New"/>
                <a:sym typeface="Courier New"/>
              </a:rPr>
              <a:t>import pandas as pd</a:t>
            </a:r>
            <a:endParaRPr/>
          </a:p>
          <a:p>
            <a:pPr marL="0" marR="0" lvl="0" indent="0" algn="l" rtl="0">
              <a:spcBef>
                <a:spcPts val="0"/>
              </a:spcBef>
              <a:spcAft>
                <a:spcPts val="0"/>
              </a:spcAft>
              <a:buNone/>
            </a:pPr>
            <a:br>
              <a:rPr lang="en-IN" sz="1600" b="1">
                <a:solidFill>
                  <a:srgbClr val="AEAEAE"/>
                </a:solidFill>
                <a:latin typeface="Courier New"/>
                <a:ea typeface="Courier New"/>
                <a:cs typeface="Courier New"/>
                <a:sym typeface="Courier New"/>
              </a:rPr>
            </a:br>
            <a:r>
              <a:rPr lang="en-IN" sz="1600" b="1">
                <a:solidFill>
                  <a:srgbClr val="AEAEAE"/>
                </a:solidFill>
                <a:latin typeface="Courier New"/>
                <a:ea typeface="Courier New"/>
                <a:cs typeface="Courier New"/>
                <a:sym typeface="Courier New"/>
              </a:rPr>
              <a:t># Sample data</a:t>
            </a:r>
            <a:endParaRPr/>
          </a:p>
          <a:p>
            <a:pPr marL="0" marR="0" lvl="0" indent="0" algn="l" rtl="0">
              <a:spcBef>
                <a:spcPts val="0"/>
              </a:spcBef>
              <a:spcAft>
                <a:spcPts val="0"/>
              </a:spcAft>
              <a:buNone/>
            </a:pPr>
            <a:r>
              <a:rPr lang="en-IN" sz="1600" b="1">
                <a:solidFill>
                  <a:schemeClr val="dk1"/>
                </a:solidFill>
                <a:latin typeface="Courier New"/>
                <a:ea typeface="Courier New"/>
                <a:cs typeface="Courier New"/>
                <a:sym typeface="Courier New"/>
              </a:rPr>
              <a:t>data = {</a:t>
            </a:r>
            <a:endParaRPr/>
          </a:p>
          <a:p>
            <a:pPr marL="0" marR="0" lvl="0" indent="0" algn="l" rtl="0">
              <a:spcBef>
                <a:spcPts val="0"/>
              </a:spcBef>
              <a:spcAft>
                <a:spcPts val="0"/>
              </a:spcAft>
              <a:buNone/>
            </a:pPr>
            <a:r>
              <a:rPr lang="en-IN" sz="1600" b="1">
                <a:solidFill>
                  <a:schemeClr val="dk1"/>
                </a:solidFill>
                <a:latin typeface="Courier New"/>
                <a:ea typeface="Courier New"/>
                <a:cs typeface="Courier New"/>
                <a:sym typeface="Courier New"/>
              </a:rPr>
              <a:t>    "x": [1, 2, 3, 4, 5],</a:t>
            </a:r>
            <a:endParaRPr/>
          </a:p>
          <a:p>
            <a:pPr marL="0" marR="0" lvl="0" indent="0" algn="l" rtl="0">
              <a:spcBef>
                <a:spcPts val="0"/>
              </a:spcBef>
              <a:spcAft>
                <a:spcPts val="0"/>
              </a:spcAft>
              <a:buNone/>
            </a:pPr>
            <a:r>
              <a:rPr lang="en-IN" sz="1600" b="1">
                <a:solidFill>
                  <a:schemeClr val="dk1"/>
                </a:solidFill>
                <a:latin typeface="Courier New"/>
                <a:ea typeface="Courier New"/>
                <a:cs typeface="Courier New"/>
                <a:sym typeface="Courier New"/>
              </a:rPr>
              <a:t>    "y": [2, 4, 3, 5, 1],</a:t>
            </a:r>
            <a:endParaRPr/>
          </a:p>
          <a:p>
            <a:pPr marL="0" marR="0" lvl="0" indent="0" algn="l" rtl="0">
              <a:spcBef>
                <a:spcPts val="0"/>
              </a:spcBef>
              <a:spcAft>
                <a:spcPts val="0"/>
              </a:spcAft>
              <a:buNone/>
            </a:pPr>
            <a:r>
              <a:rPr lang="en-IN" sz="1600" b="1">
                <a:solidFill>
                  <a:schemeClr val="dk1"/>
                </a:solidFill>
                <a:latin typeface="Courier New"/>
                <a:ea typeface="Courier New"/>
                <a:cs typeface="Courier New"/>
                <a:sym typeface="Courier New"/>
              </a:rPr>
              <a:t>    "hue": ["A", "B", "A", "B", "A"]</a:t>
            </a:r>
            <a:endParaRPr/>
          </a:p>
          <a:p>
            <a:pPr marL="0" marR="0" lvl="0" indent="0" algn="l" rtl="0">
              <a:spcBef>
                <a:spcPts val="0"/>
              </a:spcBef>
              <a:spcAft>
                <a:spcPts val="0"/>
              </a:spcAft>
              <a:buNone/>
            </a:pPr>
            <a:r>
              <a:rPr lang="en-IN" sz="1600" b="1">
                <a:solidFill>
                  <a:schemeClr val="dk1"/>
                </a:solidFill>
                <a:latin typeface="Courier New"/>
                <a:ea typeface="Courier New"/>
                <a:cs typeface="Courier New"/>
                <a:sym typeface="Courier New"/>
              </a:rPr>
              <a:t>}</a:t>
            </a:r>
            <a:endParaRPr/>
          </a:p>
          <a:p>
            <a:pPr marL="0" marR="0" lvl="0" indent="0" algn="l" rtl="0">
              <a:spcBef>
                <a:spcPts val="0"/>
              </a:spcBef>
              <a:spcAft>
                <a:spcPts val="0"/>
              </a:spcAft>
              <a:buNone/>
            </a:pPr>
            <a:br>
              <a:rPr lang="en-IN" sz="1600" b="1">
                <a:solidFill>
                  <a:schemeClr val="dk1"/>
                </a:solidFill>
                <a:latin typeface="Courier New"/>
                <a:ea typeface="Courier New"/>
                <a:cs typeface="Courier New"/>
                <a:sym typeface="Courier New"/>
              </a:rPr>
            </a:br>
            <a:r>
              <a:rPr lang="en-IN" sz="1600" b="1">
                <a:solidFill>
                  <a:schemeClr val="dk1"/>
                </a:solidFill>
                <a:latin typeface="Courier New"/>
                <a:ea typeface="Courier New"/>
                <a:cs typeface="Courier New"/>
                <a:sym typeface="Courier New"/>
              </a:rPr>
              <a:t>df = pd.DataFrame(data)</a:t>
            </a:r>
            <a:endParaRPr/>
          </a:p>
          <a:p>
            <a:pPr marL="0" marR="0" lvl="0" indent="0" algn="l" rtl="0">
              <a:spcBef>
                <a:spcPts val="0"/>
              </a:spcBef>
              <a:spcAft>
                <a:spcPts val="0"/>
              </a:spcAft>
              <a:buNone/>
            </a:pPr>
            <a:r>
              <a:rPr lang="en-IN" sz="1600" b="1">
                <a:solidFill>
                  <a:srgbClr val="AEAEAE"/>
                </a:solidFill>
                <a:latin typeface="Courier New"/>
                <a:ea typeface="Courier New"/>
                <a:cs typeface="Courier New"/>
                <a:sym typeface="Courier New"/>
              </a:rPr>
              <a:t># Create a FacetGrid with one row and two columns</a:t>
            </a:r>
            <a:endParaRPr/>
          </a:p>
          <a:p>
            <a:pPr marL="0" marR="0" lvl="0" indent="0" algn="l" rtl="0">
              <a:spcBef>
                <a:spcPts val="0"/>
              </a:spcBef>
              <a:spcAft>
                <a:spcPts val="0"/>
              </a:spcAft>
              <a:buNone/>
            </a:pPr>
            <a:r>
              <a:rPr lang="en-IN" sz="1600" b="1">
                <a:solidFill>
                  <a:schemeClr val="dk1"/>
                </a:solidFill>
                <a:latin typeface="Courier New"/>
                <a:ea typeface="Courier New"/>
                <a:cs typeface="Courier New"/>
                <a:sym typeface="Courier New"/>
              </a:rPr>
              <a:t>g = sns.FacetGrid(df, row="hue", height=4)</a:t>
            </a:r>
            <a:endParaRPr/>
          </a:p>
          <a:p>
            <a:pPr marL="0" marR="0" lvl="0" indent="0" algn="l" rtl="0">
              <a:spcBef>
                <a:spcPts val="0"/>
              </a:spcBef>
              <a:spcAft>
                <a:spcPts val="0"/>
              </a:spcAft>
              <a:buNone/>
            </a:pPr>
            <a:r>
              <a:rPr lang="en-IN" sz="1600" b="1">
                <a:solidFill>
                  <a:srgbClr val="AEAEAE"/>
                </a:solidFill>
                <a:latin typeface="Courier New"/>
                <a:ea typeface="Courier New"/>
                <a:cs typeface="Courier New"/>
                <a:sym typeface="Courier New"/>
              </a:rPr>
              <a:t># Plot scatter plots for each facet</a:t>
            </a:r>
            <a:endParaRPr/>
          </a:p>
          <a:p>
            <a:pPr marL="0" marR="0" lvl="0" indent="0" algn="l" rtl="0">
              <a:spcBef>
                <a:spcPts val="0"/>
              </a:spcBef>
              <a:spcAft>
                <a:spcPts val="0"/>
              </a:spcAft>
              <a:buNone/>
            </a:pPr>
            <a:r>
              <a:rPr lang="en-IN" sz="1600" b="1">
                <a:solidFill>
                  <a:schemeClr val="dk1"/>
                </a:solidFill>
                <a:latin typeface="Courier New"/>
                <a:ea typeface="Courier New"/>
                <a:cs typeface="Courier New"/>
                <a:sym typeface="Courier New"/>
              </a:rPr>
              <a:t>g.map(sns.scatterplot, "x", "y")</a:t>
            </a:r>
            <a:endParaRPr/>
          </a:p>
          <a:p>
            <a:pPr marL="0" marR="0" lvl="0" indent="0" algn="l" rtl="0">
              <a:spcBef>
                <a:spcPts val="0"/>
              </a:spcBef>
              <a:spcAft>
                <a:spcPts val="0"/>
              </a:spcAft>
              <a:buNone/>
            </a:pPr>
            <a:br>
              <a:rPr lang="en-IN" sz="1600" b="1">
                <a:solidFill>
                  <a:schemeClr val="dk1"/>
                </a:solidFill>
                <a:latin typeface="Courier New"/>
                <a:ea typeface="Courier New"/>
                <a:cs typeface="Courier New"/>
                <a:sym typeface="Courier New"/>
              </a:rPr>
            </a:br>
            <a:r>
              <a:rPr lang="en-IN" sz="1600" b="1">
                <a:solidFill>
                  <a:schemeClr val="dk1"/>
                </a:solidFill>
                <a:latin typeface="Courier New"/>
                <a:ea typeface="Courier New"/>
                <a:cs typeface="Courier New"/>
                <a:sym typeface="Courier New"/>
              </a:rPr>
              <a:t>plt.show()</a:t>
            </a:r>
            <a:endParaRPr/>
          </a:p>
          <a:p>
            <a:pPr marL="0" marR="0" lvl="0" indent="0" algn="l" rtl="0">
              <a:spcBef>
                <a:spcPts val="0"/>
              </a:spcBef>
              <a:spcAft>
                <a:spcPts val="0"/>
              </a:spcAft>
              <a:buNone/>
            </a:pPr>
            <a:endParaRPr sz="1600" b="1">
              <a:solidFill>
                <a:schemeClr val="dk1"/>
              </a:solidFill>
              <a:latin typeface="Courier New"/>
              <a:ea typeface="Courier New"/>
              <a:cs typeface="Courier New"/>
              <a:sym typeface="Courier New"/>
            </a:endParaRPr>
          </a:p>
        </p:txBody>
      </p:sp>
      <p:sp>
        <p:nvSpPr>
          <p:cNvPr id="136" name="Google Shape;136;p5"/>
          <p:cNvSpPr txBox="1"/>
          <p:nvPr/>
        </p:nvSpPr>
        <p:spPr>
          <a:xfrm>
            <a:off x="6722807" y="1855570"/>
            <a:ext cx="61205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Calibri"/>
                <a:ea typeface="Calibri"/>
                <a:cs typeface="Calibri"/>
                <a:sym typeface="Calibri"/>
              </a:rPr>
              <a:t>Output</a:t>
            </a:r>
            <a:endParaRPr/>
          </a:p>
        </p:txBody>
      </p:sp>
      <p:pic>
        <p:nvPicPr>
          <p:cNvPr id="137" name="Google Shape;137;p5"/>
          <p:cNvPicPr preferRelativeResize="0"/>
          <p:nvPr/>
        </p:nvPicPr>
        <p:blipFill rotWithShape="1">
          <a:blip r:embed="rId4">
            <a:alphaModFix/>
          </a:blip>
          <a:srcRect/>
          <a:stretch/>
        </p:blipFill>
        <p:spPr>
          <a:xfrm>
            <a:off x="6814709" y="2224902"/>
            <a:ext cx="2968388" cy="420329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graphicFrame>
        <p:nvGraphicFramePr>
          <p:cNvPr id="142" name="Google Shape;142;p6"/>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43" name="Google Shape;143;p6"/>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44" name="Google Shape;144;p6"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45" name="Google Shape;145;p6"/>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6" name="Google Shape;146;p6"/>
          <p:cNvSpPr txBox="1"/>
          <p:nvPr/>
        </p:nvSpPr>
        <p:spPr>
          <a:xfrm>
            <a:off x="0" y="883683"/>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a:solidFill>
                  <a:schemeClr val="dk1"/>
                </a:solidFill>
                <a:latin typeface="Calibri"/>
                <a:ea typeface="Calibri"/>
                <a:cs typeface="Calibri"/>
                <a:sym typeface="Calibri"/>
              </a:rPr>
              <a:t>Joint Plots</a:t>
            </a:r>
            <a:endParaRPr sz="3600" b="1" cap="none">
              <a:solidFill>
                <a:schemeClr val="dk1"/>
              </a:solidFill>
              <a:latin typeface="Calibri"/>
              <a:ea typeface="Calibri"/>
              <a:cs typeface="Calibri"/>
              <a:sym typeface="Calibri"/>
            </a:endParaRPr>
          </a:p>
        </p:txBody>
      </p:sp>
      <p:sp>
        <p:nvSpPr>
          <p:cNvPr id="147" name="Google Shape;147;p6"/>
          <p:cNvSpPr txBox="1"/>
          <p:nvPr/>
        </p:nvSpPr>
        <p:spPr>
          <a:xfrm>
            <a:off x="651388" y="1739554"/>
            <a:ext cx="6418006" cy="33239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dirty="0">
                <a:solidFill>
                  <a:schemeClr val="dk1"/>
                </a:solidFill>
                <a:latin typeface="Calibri"/>
                <a:ea typeface="Calibri"/>
                <a:cs typeface="Calibri"/>
                <a:sym typeface="Calibri"/>
              </a:rPr>
              <a:t>Example</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import seaborn as </a:t>
            </a:r>
            <a:r>
              <a:rPr lang="en-IN" sz="1600" b="1" dirty="0" err="1">
                <a:solidFill>
                  <a:schemeClr val="dk1"/>
                </a:solidFill>
                <a:latin typeface="Courier New"/>
                <a:ea typeface="Courier New"/>
                <a:cs typeface="Courier New"/>
                <a:sym typeface="Courier New"/>
              </a:rPr>
              <a:t>sns</a:t>
            </a:r>
            <a:endParaRPr sz="16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import pandas as pd</a:t>
            </a:r>
            <a:endParaRPr dirty="0"/>
          </a:p>
          <a:p>
            <a:pPr marL="0" marR="0" lvl="0" indent="0" algn="l" rtl="0">
              <a:spcBef>
                <a:spcPts val="0"/>
              </a:spcBef>
              <a:spcAft>
                <a:spcPts val="0"/>
              </a:spcAft>
              <a:buNone/>
            </a:pPr>
            <a:br>
              <a:rPr lang="en-IN" sz="1600" b="1" dirty="0">
                <a:solidFill>
                  <a:srgbClr val="AEAEAE"/>
                </a:solidFill>
                <a:latin typeface="Courier New"/>
                <a:ea typeface="Courier New"/>
                <a:cs typeface="Courier New"/>
                <a:sym typeface="Courier New"/>
              </a:rPr>
            </a:br>
            <a:r>
              <a:rPr lang="en-IN" sz="1600" b="1" dirty="0">
                <a:solidFill>
                  <a:srgbClr val="AEAEAE"/>
                </a:solidFill>
                <a:latin typeface="Courier New"/>
                <a:ea typeface="Courier New"/>
                <a:cs typeface="Courier New"/>
                <a:sym typeface="Courier New"/>
              </a:rPr>
              <a:t># Sample data</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data = {</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    "x": [1, 2, 3, 4, 5],</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    "y": [2, 5, 3, 8, 10],</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   }</a:t>
            </a:r>
            <a:endParaRPr dirty="0"/>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sns.jointplot</a:t>
            </a:r>
            <a:r>
              <a:rPr lang="en-IN" sz="1600" b="1" dirty="0">
                <a:solidFill>
                  <a:schemeClr val="dk1"/>
                </a:solidFill>
                <a:latin typeface="Courier New"/>
                <a:ea typeface="Courier New"/>
                <a:cs typeface="Courier New"/>
                <a:sym typeface="Courier New"/>
              </a:rPr>
              <a:t>(x='x', y='y', kind="scatter", data =data)</a:t>
            </a:r>
            <a:endParaRPr dirty="0"/>
          </a:p>
          <a:p>
            <a:pPr marL="0" marR="0" lvl="0" indent="0" algn="l" rtl="0">
              <a:spcBef>
                <a:spcPts val="0"/>
              </a:spcBef>
              <a:spcAft>
                <a:spcPts val="0"/>
              </a:spcAft>
              <a:buNone/>
            </a:pPr>
            <a:endParaRPr sz="16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plt.show</a:t>
            </a:r>
            <a:r>
              <a:rPr lang="en-IN" sz="1600" b="1" dirty="0">
                <a:solidFill>
                  <a:schemeClr val="dk1"/>
                </a:solidFill>
                <a:latin typeface="Courier New"/>
                <a:ea typeface="Courier New"/>
                <a:cs typeface="Courier New"/>
                <a:sym typeface="Courier New"/>
              </a:rPr>
              <a:t>()</a:t>
            </a:r>
            <a:endParaRPr dirty="0"/>
          </a:p>
        </p:txBody>
      </p:sp>
      <p:sp>
        <p:nvSpPr>
          <p:cNvPr id="148" name="Google Shape;148;p6"/>
          <p:cNvSpPr txBox="1"/>
          <p:nvPr/>
        </p:nvSpPr>
        <p:spPr>
          <a:xfrm>
            <a:off x="6722807" y="1855570"/>
            <a:ext cx="61205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Calibri"/>
                <a:ea typeface="Calibri"/>
                <a:cs typeface="Calibri"/>
                <a:sym typeface="Calibri"/>
              </a:rPr>
              <a:t>Output</a:t>
            </a:r>
            <a:endParaRPr/>
          </a:p>
        </p:txBody>
      </p:sp>
      <p:pic>
        <p:nvPicPr>
          <p:cNvPr id="149" name="Google Shape;149;p6"/>
          <p:cNvPicPr preferRelativeResize="0"/>
          <p:nvPr/>
        </p:nvPicPr>
        <p:blipFill rotWithShape="1">
          <a:blip r:embed="rId4">
            <a:alphaModFix/>
          </a:blip>
          <a:srcRect/>
          <a:stretch/>
        </p:blipFill>
        <p:spPr>
          <a:xfrm>
            <a:off x="6963665" y="2311356"/>
            <a:ext cx="4080387" cy="4115262"/>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graphicFrame>
        <p:nvGraphicFramePr>
          <p:cNvPr id="154" name="Google Shape;154;p7"/>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55" name="Google Shape;155;p7"/>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56" name="Google Shape;156;p7"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57" name="Google Shape;157;p7"/>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58" name="Google Shape;158;p7"/>
          <p:cNvSpPr txBox="1"/>
          <p:nvPr/>
        </p:nvSpPr>
        <p:spPr>
          <a:xfrm>
            <a:off x="0" y="883683"/>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a:solidFill>
                  <a:schemeClr val="dk1"/>
                </a:solidFill>
                <a:latin typeface="Calibri"/>
                <a:ea typeface="Calibri"/>
                <a:cs typeface="Calibri"/>
                <a:sym typeface="Calibri"/>
              </a:rPr>
              <a:t>Pair Plots</a:t>
            </a:r>
            <a:endParaRPr sz="3600" b="1" cap="none">
              <a:solidFill>
                <a:schemeClr val="dk1"/>
              </a:solidFill>
              <a:latin typeface="Calibri"/>
              <a:ea typeface="Calibri"/>
              <a:cs typeface="Calibri"/>
              <a:sym typeface="Calibri"/>
            </a:endParaRPr>
          </a:p>
        </p:txBody>
      </p:sp>
      <p:sp>
        <p:nvSpPr>
          <p:cNvPr id="159" name="Google Shape;159;p7"/>
          <p:cNvSpPr txBox="1"/>
          <p:nvPr/>
        </p:nvSpPr>
        <p:spPr>
          <a:xfrm>
            <a:off x="651388" y="1739554"/>
            <a:ext cx="6418006" cy="35702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dirty="0">
                <a:solidFill>
                  <a:schemeClr val="dk1"/>
                </a:solidFill>
                <a:latin typeface="Calibri"/>
                <a:ea typeface="Calibri"/>
                <a:cs typeface="Calibri"/>
                <a:sym typeface="Calibri"/>
              </a:rPr>
              <a:t>Example</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import seaborn as </a:t>
            </a:r>
            <a:r>
              <a:rPr lang="en-IN" sz="1600" b="1" dirty="0" err="1">
                <a:solidFill>
                  <a:schemeClr val="dk1"/>
                </a:solidFill>
                <a:latin typeface="Courier New"/>
                <a:ea typeface="Courier New"/>
                <a:cs typeface="Courier New"/>
                <a:sym typeface="Courier New"/>
              </a:rPr>
              <a:t>sns</a:t>
            </a:r>
            <a:endParaRPr sz="16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br>
              <a:rPr lang="en-IN" sz="1600" b="1" dirty="0">
                <a:solidFill>
                  <a:srgbClr val="AEAEAE"/>
                </a:solidFill>
                <a:latin typeface="Courier New"/>
                <a:ea typeface="Courier New"/>
                <a:cs typeface="Courier New"/>
                <a:sym typeface="Courier New"/>
              </a:rPr>
            </a:br>
            <a:r>
              <a:rPr lang="en-IN" sz="1600" b="1" dirty="0">
                <a:solidFill>
                  <a:srgbClr val="AEAEAE"/>
                </a:solidFill>
                <a:latin typeface="Courier New"/>
                <a:ea typeface="Courier New"/>
                <a:cs typeface="Courier New"/>
                <a:sym typeface="Courier New"/>
              </a:rPr>
              <a:t># Sample data</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data = {</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    "x": [1, 2, 3, 4, 5],</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    "y": [2, 4, 3, 5, 1],</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    "z": [10, 15, 20, 25, 30]</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a:t>
            </a:r>
            <a:endParaRPr dirty="0"/>
          </a:p>
          <a:p>
            <a:pPr marL="0" marR="0" lvl="0" indent="0" algn="l" rtl="0">
              <a:spcBef>
                <a:spcPts val="0"/>
              </a:spcBef>
              <a:spcAft>
                <a:spcPts val="0"/>
              </a:spcAft>
              <a:buNone/>
            </a:pPr>
            <a:br>
              <a:rPr lang="en-IN" sz="1600" b="1" dirty="0">
                <a:solidFill>
                  <a:schemeClr val="dk1"/>
                </a:solidFill>
                <a:latin typeface="Courier New"/>
                <a:ea typeface="Courier New"/>
                <a:cs typeface="Courier New"/>
                <a:sym typeface="Courier New"/>
              </a:rPr>
            </a:br>
            <a:r>
              <a:rPr lang="en-IN" sz="1600" b="1" dirty="0" err="1">
                <a:solidFill>
                  <a:schemeClr val="dk1"/>
                </a:solidFill>
                <a:latin typeface="Courier New"/>
                <a:ea typeface="Courier New"/>
                <a:cs typeface="Courier New"/>
                <a:sym typeface="Courier New"/>
              </a:rPr>
              <a:t>df</a:t>
            </a:r>
            <a:r>
              <a:rPr lang="en-IN" sz="1600" b="1" dirty="0">
                <a:solidFill>
                  <a:schemeClr val="dk1"/>
                </a:solidFill>
                <a:latin typeface="Courier New"/>
                <a:ea typeface="Courier New"/>
                <a:cs typeface="Courier New"/>
                <a:sym typeface="Courier New"/>
              </a:rPr>
              <a:t> = </a:t>
            </a:r>
            <a:r>
              <a:rPr lang="en-IN" sz="1600" b="1" dirty="0" err="1">
                <a:solidFill>
                  <a:schemeClr val="dk1"/>
                </a:solidFill>
                <a:latin typeface="Courier New"/>
                <a:ea typeface="Courier New"/>
                <a:cs typeface="Courier New"/>
                <a:sym typeface="Courier New"/>
              </a:rPr>
              <a:t>pd.DataFrame</a:t>
            </a:r>
            <a:r>
              <a:rPr lang="en-IN" sz="1600" b="1" dirty="0">
                <a:solidFill>
                  <a:schemeClr val="dk1"/>
                </a:solidFill>
                <a:latin typeface="Courier New"/>
                <a:ea typeface="Courier New"/>
                <a:cs typeface="Courier New"/>
                <a:sym typeface="Courier New"/>
              </a:rPr>
              <a:t>(data)</a:t>
            </a:r>
            <a:endParaRPr dirty="0"/>
          </a:p>
          <a:p>
            <a:pPr marL="0" marR="0" lvl="0" indent="0" algn="l" rtl="0">
              <a:spcBef>
                <a:spcPts val="0"/>
              </a:spcBef>
              <a:spcAft>
                <a:spcPts val="0"/>
              </a:spcAft>
              <a:buNone/>
            </a:pPr>
            <a:br>
              <a:rPr lang="en-IN" sz="1600" b="1" dirty="0">
                <a:solidFill>
                  <a:schemeClr val="dk1"/>
                </a:solidFill>
                <a:latin typeface="Courier New"/>
                <a:ea typeface="Courier New"/>
                <a:cs typeface="Courier New"/>
                <a:sym typeface="Courier New"/>
              </a:rPr>
            </a:br>
            <a:r>
              <a:rPr lang="en-IN" sz="1600" b="1" dirty="0" err="1">
                <a:solidFill>
                  <a:schemeClr val="dk1"/>
                </a:solidFill>
                <a:latin typeface="Courier New"/>
                <a:ea typeface="Courier New"/>
                <a:cs typeface="Courier New"/>
                <a:sym typeface="Courier New"/>
              </a:rPr>
              <a:t>sns.pairplot</a:t>
            </a:r>
            <a:r>
              <a:rPr lang="en-IN" sz="1600" b="1" dirty="0">
                <a:solidFill>
                  <a:schemeClr val="dk1"/>
                </a:solidFill>
                <a:latin typeface="Courier New"/>
                <a:ea typeface="Courier New"/>
                <a:cs typeface="Courier New"/>
                <a:sym typeface="Courier New"/>
              </a:rPr>
              <a:t>(</a:t>
            </a:r>
            <a:r>
              <a:rPr lang="en-IN" sz="1600" b="1" dirty="0" err="1">
                <a:solidFill>
                  <a:schemeClr val="dk1"/>
                </a:solidFill>
                <a:latin typeface="Courier New"/>
                <a:ea typeface="Courier New"/>
                <a:cs typeface="Courier New"/>
                <a:sym typeface="Courier New"/>
              </a:rPr>
              <a:t>df</a:t>
            </a:r>
            <a:r>
              <a:rPr lang="en-IN" sz="1600" b="1" dirty="0">
                <a:solidFill>
                  <a:schemeClr val="dk1"/>
                </a:solidFill>
                <a:latin typeface="Courier New"/>
                <a:ea typeface="Courier New"/>
                <a:cs typeface="Courier New"/>
                <a:sym typeface="Courier New"/>
              </a:rPr>
              <a:t>)</a:t>
            </a:r>
            <a:endParaRPr dirty="0"/>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plt.show</a:t>
            </a:r>
            <a:r>
              <a:rPr lang="en-IN" sz="1600" b="1" dirty="0">
                <a:solidFill>
                  <a:schemeClr val="dk1"/>
                </a:solidFill>
                <a:latin typeface="Courier New"/>
                <a:ea typeface="Courier New"/>
                <a:cs typeface="Courier New"/>
                <a:sym typeface="Courier New"/>
              </a:rPr>
              <a:t>()</a:t>
            </a:r>
            <a:endParaRPr dirty="0"/>
          </a:p>
        </p:txBody>
      </p:sp>
      <p:sp>
        <p:nvSpPr>
          <p:cNvPr id="160" name="Google Shape;160;p7"/>
          <p:cNvSpPr txBox="1"/>
          <p:nvPr/>
        </p:nvSpPr>
        <p:spPr>
          <a:xfrm>
            <a:off x="6722807" y="1855570"/>
            <a:ext cx="61205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Calibri"/>
                <a:ea typeface="Calibri"/>
                <a:cs typeface="Calibri"/>
                <a:sym typeface="Calibri"/>
              </a:rPr>
              <a:t>Output</a:t>
            </a:r>
            <a:endParaRPr/>
          </a:p>
        </p:txBody>
      </p:sp>
      <p:pic>
        <p:nvPicPr>
          <p:cNvPr id="161" name="Google Shape;161;p7"/>
          <p:cNvPicPr preferRelativeResize="0"/>
          <p:nvPr/>
        </p:nvPicPr>
        <p:blipFill rotWithShape="1">
          <a:blip r:embed="rId4">
            <a:alphaModFix/>
          </a:blip>
          <a:srcRect/>
          <a:stretch/>
        </p:blipFill>
        <p:spPr>
          <a:xfrm>
            <a:off x="6722807" y="2224902"/>
            <a:ext cx="4215581" cy="4215581"/>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graphicFrame>
        <p:nvGraphicFramePr>
          <p:cNvPr id="166" name="Google Shape;166;p8"/>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67" name="Google Shape;167;p8"/>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68" name="Google Shape;168;p8"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69" name="Google Shape;169;p8"/>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0" name="Google Shape;170;p8"/>
          <p:cNvSpPr txBox="1"/>
          <p:nvPr/>
        </p:nvSpPr>
        <p:spPr>
          <a:xfrm>
            <a:off x="0" y="883683"/>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a:solidFill>
                  <a:schemeClr val="dk1"/>
                </a:solidFill>
                <a:latin typeface="Calibri"/>
                <a:ea typeface="Calibri"/>
                <a:cs typeface="Calibri"/>
                <a:sym typeface="Calibri"/>
              </a:rPr>
              <a:t>Grid Plot</a:t>
            </a:r>
            <a:endParaRPr sz="3600" b="1" cap="none">
              <a:solidFill>
                <a:schemeClr val="dk1"/>
              </a:solidFill>
              <a:latin typeface="Calibri"/>
              <a:ea typeface="Calibri"/>
              <a:cs typeface="Calibri"/>
              <a:sym typeface="Calibri"/>
            </a:endParaRPr>
          </a:p>
        </p:txBody>
      </p:sp>
      <p:sp>
        <p:nvSpPr>
          <p:cNvPr id="171" name="Google Shape;171;p8"/>
          <p:cNvSpPr txBox="1"/>
          <p:nvPr/>
        </p:nvSpPr>
        <p:spPr>
          <a:xfrm>
            <a:off x="651388" y="1739554"/>
            <a:ext cx="5641257" cy="25853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Calibri"/>
                <a:ea typeface="Calibri"/>
                <a:cs typeface="Calibri"/>
                <a:sym typeface="Calibri"/>
              </a:rPr>
              <a:t>Example</a:t>
            </a:r>
            <a:endParaRPr/>
          </a:p>
          <a:p>
            <a:pPr marL="0" marR="0" lvl="0" indent="0" algn="l" rtl="0">
              <a:spcBef>
                <a:spcPts val="0"/>
              </a:spcBef>
              <a:spcAft>
                <a:spcPts val="0"/>
              </a:spcAft>
              <a:buNone/>
            </a:pPr>
            <a:r>
              <a:rPr lang="en-IN" sz="1600" b="1">
                <a:solidFill>
                  <a:schemeClr val="dk1"/>
                </a:solidFill>
                <a:latin typeface="Courier New"/>
                <a:ea typeface="Courier New"/>
                <a:cs typeface="Courier New"/>
                <a:sym typeface="Courier New"/>
              </a:rPr>
              <a:t>import seaborn as sns</a:t>
            </a:r>
            <a:endParaRPr sz="1600" b="1">
              <a:solidFill>
                <a:schemeClr val="dk1"/>
              </a:solidFill>
              <a:latin typeface="Courier New"/>
              <a:ea typeface="Courier New"/>
              <a:cs typeface="Courier New"/>
              <a:sym typeface="Courier New"/>
            </a:endParaRPr>
          </a:p>
          <a:p>
            <a:pPr marL="0" marR="0" lvl="0" indent="0" algn="l" rtl="0">
              <a:spcBef>
                <a:spcPts val="0"/>
              </a:spcBef>
              <a:spcAft>
                <a:spcPts val="0"/>
              </a:spcAft>
              <a:buNone/>
            </a:pPr>
            <a:br>
              <a:rPr lang="en-IN" sz="1600" b="1">
                <a:solidFill>
                  <a:schemeClr val="dk1"/>
                </a:solidFill>
                <a:latin typeface="Courier New"/>
                <a:ea typeface="Courier New"/>
                <a:cs typeface="Courier New"/>
                <a:sym typeface="Courier New"/>
              </a:rPr>
            </a:br>
            <a:r>
              <a:rPr lang="en-IN" sz="1600" b="1">
                <a:solidFill>
                  <a:schemeClr val="dk1"/>
                </a:solidFill>
                <a:latin typeface="Courier New"/>
                <a:ea typeface="Courier New"/>
                <a:cs typeface="Courier New"/>
                <a:sym typeface="Courier New"/>
              </a:rPr>
              <a:t>Grid_plot = plt.GridSpec(2, 3, wspace = 0.8,</a:t>
            </a:r>
            <a:endParaRPr/>
          </a:p>
          <a:p>
            <a:pPr marL="0" marR="0" lvl="0" indent="0" algn="l" rtl="0">
              <a:spcBef>
                <a:spcPts val="0"/>
              </a:spcBef>
              <a:spcAft>
                <a:spcPts val="0"/>
              </a:spcAft>
              <a:buNone/>
            </a:pPr>
            <a:r>
              <a:rPr lang="en-IN" sz="1600" b="1">
                <a:solidFill>
                  <a:schemeClr val="dk1"/>
                </a:solidFill>
                <a:latin typeface="Courier New"/>
                <a:ea typeface="Courier New"/>
                <a:cs typeface="Courier New"/>
                <a:sym typeface="Courier New"/>
              </a:rPr>
              <a:t>                        hspace = 0.6)</a:t>
            </a:r>
            <a:endParaRPr/>
          </a:p>
          <a:p>
            <a:pPr marL="0" marR="0" lvl="0" indent="0" algn="l" rtl="0">
              <a:spcBef>
                <a:spcPts val="0"/>
              </a:spcBef>
              <a:spcAft>
                <a:spcPts val="0"/>
              </a:spcAft>
              <a:buNone/>
            </a:pPr>
            <a:br>
              <a:rPr lang="en-IN" sz="1600" b="1">
                <a:solidFill>
                  <a:schemeClr val="dk1"/>
                </a:solidFill>
                <a:latin typeface="Courier New"/>
                <a:ea typeface="Courier New"/>
                <a:cs typeface="Courier New"/>
                <a:sym typeface="Courier New"/>
              </a:rPr>
            </a:br>
            <a:r>
              <a:rPr lang="en-IN" sz="1600" b="1">
                <a:solidFill>
                  <a:schemeClr val="dk1"/>
                </a:solidFill>
                <a:latin typeface="Courier New"/>
                <a:ea typeface="Courier New"/>
                <a:cs typeface="Courier New"/>
                <a:sym typeface="Courier New"/>
              </a:rPr>
              <a:t>plt.subplot(Grid_plot[0, 0])</a:t>
            </a:r>
            <a:endParaRPr/>
          </a:p>
          <a:p>
            <a:pPr marL="0" marR="0" lvl="0" indent="0" algn="l" rtl="0">
              <a:spcBef>
                <a:spcPts val="0"/>
              </a:spcBef>
              <a:spcAft>
                <a:spcPts val="0"/>
              </a:spcAft>
              <a:buNone/>
            </a:pPr>
            <a:r>
              <a:rPr lang="en-IN" sz="1600" b="1">
                <a:solidFill>
                  <a:schemeClr val="dk1"/>
                </a:solidFill>
                <a:latin typeface="Courier New"/>
                <a:ea typeface="Courier New"/>
                <a:cs typeface="Courier New"/>
                <a:sym typeface="Courier New"/>
              </a:rPr>
              <a:t>plt.subplot(Grid_plot[0, 1:])</a:t>
            </a:r>
            <a:endParaRPr/>
          </a:p>
          <a:p>
            <a:pPr marL="0" marR="0" lvl="0" indent="0" algn="l" rtl="0">
              <a:spcBef>
                <a:spcPts val="0"/>
              </a:spcBef>
              <a:spcAft>
                <a:spcPts val="0"/>
              </a:spcAft>
              <a:buNone/>
            </a:pPr>
            <a:r>
              <a:rPr lang="en-IN" sz="1600" b="1">
                <a:solidFill>
                  <a:schemeClr val="dk1"/>
                </a:solidFill>
                <a:latin typeface="Courier New"/>
                <a:ea typeface="Courier New"/>
                <a:cs typeface="Courier New"/>
                <a:sym typeface="Courier New"/>
              </a:rPr>
              <a:t>plt.subplot(Grid_plot[1, :2])</a:t>
            </a:r>
            <a:endParaRPr/>
          </a:p>
          <a:p>
            <a:pPr marL="0" marR="0" lvl="0" indent="0" algn="l" rtl="0">
              <a:spcBef>
                <a:spcPts val="0"/>
              </a:spcBef>
              <a:spcAft>
                <a:spcPts val="0"/>
              </a:spcAft>
              <a:buNone/>
            </a:pPr>
            <a:r>
              <a:rPr lang="en-IN" sz="1600" b="1">
                <a:solidFill>
                  <a:schemeClr val="dk1"/>
                </a:solidFill>
                <a:latin typeface="Courier New"/>
                <a:ea typeface="Courier New"/>
                <a:cs typeface="Courier New"/>
                <a:sym typeface="Courier New"/>
              </a:rPr>
              <a:t>plt.subplot(Grid_plot[1, 2])</a:t>
            </a:r>
            <a:endParaRPr/>
          </a:p>
        </p:txBody>
      </p:sp>
      <p:sp>
        <p:nvSpPr>
          <p:cNvPr id="172" name="Google Shape;172;p8"/>
          <p:cNvSpPr txBox="1"/>
          <p:nvPr/>
        </p:nvSpPr>
        <p:spPr>
          <a:xfrm>
            <a:off x="6722807" y="1855570"/>
            <a:ext cx="61205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Calibri"/>
                <a:ea typeface="Calibri"/>
                <a:cs typeface="Calibri"/>
                <a:sym typeface="Calibri"/>
              </a:rPr>
              <a:t>Output</a:t>
            </a:r>
            <a:endParaRPr/>
          </a:p>
        </p:txBody>
      </p:sp>
      <p:pic>
        <p:nvPicPr>
          <p:cNvPr id="173" name="Google Shape;173;p8"/>
          <p:cNvPicPr preferRelativeResize="0"/>
          <p:nvPr/>
        </p:nvPicPr>
        <p:blipFill rotWithShape="1">
          <a:blip r:embed="rId4">
            <a:alphaModFix/>
          </a:blip>
          <a:srcRect/>
          <a:stretch/>
        </p:blipFill>
        <p:spPr>
          <a:xfrm>
            <a:off x="6624176" y="2320857"/>
            <a:ext cx="5314950" cy="39814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graphicFrame>
        <p:nvGraphicFramePr>
          <p:cNvPr id="178" name="Google Shape;178;p9"/>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79" name="Google Shape;179;p9"/>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80" name="Google Shape;180;p9"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81" name="Google Shape;181;p9"/>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2" name="Google Shape;182;p9"/>
          <p:cNvSpPr txBox="1"/>
          <p:nvPr/>
        </p:nvSpPr>
        <p:spPr>
          <a:xfrm>
            <a:off x="0" y="883683"/>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a:solidFill>
                  <a:schemeClr val="dk1"/>
                </a:solidFill>
                <a:latin typeface="Calibri"/>
                <a:ea typeface="Calibri"/>
                <a:cs typeface="Calibri"/>
                <a:sym typeface="Calibri"/>
              </a:rPr>
              <a:t>Sub Plots</a:t>
            </a:r>
            <a:endParaRPr sz="3600" b="1" cap="none">
              <a:solidFill>
                <a:schemeClr val="dk1"/>
              </a:solidFill>
              <a:latin typeface="Calibri"/>
              <a:ea typeface="Calibri"/>
              <a:cs typeface="Calibri"/>
              <a:sym typeface="Calibri"/>
            </a:endParaRPr>
          </a:p>
        </p:txBody>
      </p:sp>
      <p:sp>
        <p:nvSpPr>
          <p:cNvPr id="183" name="Google Shape;183;p9"/>
          <p:cNvSpPr txBox="1"/>
          <p:nvPr/>
        </p:nvSpPr>
        <p:spPr>
          <a:xfrm>
            <a:off x="651388" y="1739554"/>
            <a:ext cx="5641257" cy="18466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Calibri"/>
                <a:ea typeface="Calibri"/>
                <a:cs typeface="Calibri"/>
                <a:sym typeface="Calibri"/>
              </a:rPr>
              <a:t>Example</a:t>
            </a:r>
            <a:endParaRPr/>
          </a:p>
          <a:p>
            <a:pPr marL="0" marR="0" lvl="0" indent="0" algn="l" rtl="0">
              <a:spcBef>
                <a:spcPts val="0"/>
              </a:spcBef>
              <a:spcAft>
                <a:spcPts val="0"/>
              </a:spcAft>
              <a:buNone/>
            </a:pPr>
            <a:r>
              <a:rPr lang="en-IN" sz="1600" b="1">
                <a:solidFill>
                  <a:schemeClr val="dk1"/>
                </a:solidFill>
                <a:latin typeface="Courier New"/>
                <a:ea typeface="Courier New"/>
                <a:cs typeface="Courier New"/>
                <a:sym typeface="Courier New"/>
              </a:rPr>
              <a:t>import seaborn as sns</a:t>
            </a:r>
            <a:endParaRPr sz="1600" b="1">
              <a:solidFill>
                <a:schemeClr val="dk1"/>
              </a:solidFill>
              <a:latin typeface="Courier New"/>
              <a:ea typeface="Courier New"/>
              <a:cs typeface="Courier New"/>
              <a:sym typeface="Courier New"/>
            </a:endParaRPr>
          </a:p>
          <a:p>
            <a:pPr marL="0" marR="0" lvl="0" indent="0" algn="l" rtl="0">
              <a:spcBef>
                <a:spcPts val="0"/>
              </a:spcBef>
              <a:spcAft>
                <a:spcPts val="0"/>
              </a:spcAft>
              <a:buNone/>
            </a:pPr>
            <a:br>
              <a:rPr lang="en-IN" sz="1600" b="1">
                <a:solidFill>
                  <a:schemeClr val="dk1"/>
                </a:solidFill>
                <a:latin typeface="Courier New"/>
                <a:ea typeface="Courier New"/>
                <a:cs typeface="Courier New"/>
                <a:sym typeface="Courier New"/>
              </a:rPr>
            </a:br>
            <a:r>
              <a:rPr lang="en-IN" sz="1600" b="1">
                <a:solidFill>
                  <a:schemeClr val="dk1"/>
                </a:solidFill>
                <a:latin typeface="Courier New"/>
                <a:ea typeface="Courier New"/>
                <a:cs typeface="Courier New"/>
                <a:sym typeface="Courier New"/>
              </a:rPr>
              <a:t>figure, axes = plt.subplots(3, 4, figsize=(10, 10))</a:t>
            </a:r>
            <a:endParaRPr/>
          </a:p>
          <a:p>
            <a:pPr marL="0" marR="0" lvl="0" indent="0" algn="l" rtl="0">
              <a:spcBef>
                <a:spcPts val="0"/>
              </a:spcBef>
              <a:spcAft>
                <a:spcPts val="0"/>
              </a:spcAft>
              <a:buNone/>
            </a:pPr>
            <a:br>
              <a:rPr lang="en-IN" sz="1600" b="1">
                <a:solidFill>
                  <a:schemeClr val="dk1"/>
                </a:solidFill>
                <a:latin typeface="Courier New"/>
                <a:ea typeface="Courier New"/>
                <a:cs typeface="Courier New"/>
                <a:sym typeface="Courier New"/>
              </a:rPr>
            </a:br>
            <a:r>
              <a:rPr lang="en-IN" sz="1600" b="1">
                <a:solidFill>
                  <a:schemeClr val="dk1"/>
                </a:solidFill>
                <a:latin typeface="Courier New"/>
                <a:ea typeface="Courier New"/>
                <a:cs typeface="Courier New"/>
                <a:sym typeface="Courier New"/>
              </a:rPr>
              <a:t>figure.suptitle('Grid plot using subplots')</a:t>
            </a:r>
            <a:endParaRPr/>
          </a:p>
        </p:txBody>
      </p:sp>
      <p:sp>
        <p:nvSpPr>
          <p:cNvPr id="184" name="Google Shape;184;p9"/>
          <p:cNvSpPr txBox="1"/>
          <p:nvPr/>
        </p:nvSpPr>
        <p:spPr>
          <a:xfrm>
            <a:off x="6722807" y="1855570"/>
            <a:ext cx="61205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Calibri"/>
                <a:ea typeface="Calibri"/>
                <a:cs typeface="Calibri"/>
                <a:sym typeface="Calibri"/>
              </a:rPr>
              <a:t>Output</a:t>
            </a:r>
            <a:endParaRPr/>
          </a:p>
        </p:txBody>
      </p:sp>
      <p:pic>
        <p:nvPicPr>
          <p:cNvPr id="185" name="Google Shape;185;p9"/>
          <p:cNvPicPr preferRelativeResize="0"/>
          <p:nvPr/>
        </p:nvPicPr>
        <p:blipFill rotWithShape="1">
          <a:blip r:embed="rId4">
            <a:alphaModFix/>
          </a:blip>
          <a:srcRect/>
          <a:stretch/>
        </p:blipFill>
        <p:spPr>
          <a:xfrm>
            <a:off x="6722807" y="2198267"/>
            <a:ext cx="5026741" cy="4203289"/>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aphicFrame>
        <p:nvGraphicFramePr>
          <p:cNvPr id="88" name="Google Shape;88;p1"/>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89" name="Google Shape;89;p1"/>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1</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90" name="Google Shape;90;p1"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91" name="Google Shape;91;p1"/>
          <p:cNvSpPr/>
          <p:nvPr/>
        </p:nvSpPr>
        <p:spPr>
          <a:xfrm>
            <a:off x="2608265" y="2967335"/>
            <a:ext cx="6975628"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i="0" u="none" strike="noStrike" cap="none">
                <a:solidFill>
                  <a:schemeClr val="dk1"/>
                </a:solidFill>
                <a:latin typeface="Calibri"/>
                <a:ea typeface="Calibri"/>
                <a:cs typeface="Calibri"/>
                <a:sym typeface="Calibri"/>
              </a:rPr>
              <a:t>Scatterplot, Lineplot and Histogram</a:t>
            </a:r>
            <a:endParaRPr sz="23900" b="1" i="0" u="none" strike="noStrike" cap="none">
              <a:solidFill>
                <a:schemeClr val="dk1"/>
              </a:solidFill>
              <a:latin typeface="Calibri"/>
              <a:ea typeface="Calibri"/>
              <a:cs typeface="Calibri"/>
              <a:sym typeface="Calibri"/>
            </a:endParaRPr>
          </a:p>
        </p:txBody>
      </p:sp>
      <p:sp>
        <p:nvSpPr>
          <p:cNvPr id="92" name="Google Shape;92;p1"/>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graphicFrame>
        <p:nvGraphicFramePr>
          <p:cNvPr id="97" name="Google Shape;97;p2"/>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98" name="Google Shape;98;p2"/>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99" name="Google Shape;99;p2"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00" name="Google Shape;100;p2"/>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1" name="Google Shape;101;p2"/>
          <p:cNvSpPr txBox="1"/>
          <p:nvPr/>
        </p:nvSpPr>
        <p:spPr>
          <a:xfrm>
            <a:off x="0" y="873851"/>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i="0" u="none" strike="noStrike" cap="none">
                <a:solidFill>
                  <a:schemeClr val="dk1"/>
                </a:solidFill>
                <a:latin typeface="Calibri"/>
                <a:ea typeface="Calibri"/>
                <a:cs typeface="Calibri"/>
                <a:sym typeface="Calibri"/>
              </a:rPr>
              <a:t>Scatterplot</a:t>
            </a:r>
            <a:endParaRPr sz="3600" b="1" i="0" u="none" strike="noStrike" cap="none">
              <a:solidFill>
                <a:schemeClr val="dk1"/>
              </a:solidFill>
              <a:latin typeface="Calibri"/>
              <a:ea typeface="Calibri"/>
              <a:cs typeface="Calibri"/>
              <a:sym typeface="Calibri"/>
            </a:endParaRPr>
          </a:p>
        </p:txBody>
      </p:sp>
      <p:sp>
        <p:nvSpPr>
          <p:cNvPr id="102" name="Google Shape;102;p2"/>
          <p:cNvSpPr txBox="1"/>
          <p:nvPr/>
        </p:nvSpPr>
        <p:spPr>
          <a:xfrm>
            <a:off x="487016" y="1574931"/>
            <a:ext cx="10972801" cy="1295868"/>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chemeClr val="dk1"/>
              </a:buClr>
              <a:buSzPts val="1800"/>
              <a:buFont typeface="Arial"/>
              <a:buChar char="•"/>
            </a:pPr>
            <a:r>
              <a:rPr lang="en-IN" sz="1800" b="0" i="0" u="none" strike="noStrike" cap="none">
                <a:solidFill>
                  <a:schemeClr val="dk1"/>
                </a:solidFill>
                <a:latin typeface="Calibri"/>
                <a:ea typeface="Calibri"/>
                <a:cs typeface="Calibri"/>
                <a:sym typeface="Calibri"/>
              </a:rPr>
              <a:t>Scatter plot is a mathematical technique that is used to represent data. </a:t>
            </a:r>
            <a:endParaRPr/>
          </a:p>
          <a:p>
            <a:pPr marL="285750" marR="0" lvl="0" indent="-285750" algn="just" rtl="0">
              <a:lnSpc>
                <a:spcPct val="150000"/>
              </a:lnSpc>
              <a:spcBef>
                <a:spcPts val="0"/>
              </a:spcBef>
              <a:spcAft>
                <a:spcPts val="0"/>
              </a:spcAft>
              <a:buClr>
                <a:schemeClr val="dk1"/>
              </a:buClr>
              <a:buSzPts val="1800"/>
              <a:buFont typeface="Arial"/>
              <a:buChar char="•"/>
            </a:pPr>
            <a:r>
              <a:rPr lang="en-IN" sz="1800" b="0" i="0" u="none" strike="noStrike" cap="none">
                <a:solidFill>
                  <a:schemeClr val="dk1"/>
                </a:solidFill>
                <a:latin typeface="Calibri"/>
                <a:ea typeface="Calibri"/>
                <a:cs typeface="Calibri"/>
                <a:sym typeface="Calibri"/>
              </a:rPr>
              <a:t>Scatter plot also called a Scatter Graph, or Scatter Chart uses dots to describe two different numeric variables. </a:t>
            </a:r>
            <a:endParaRPr/>
          </a:p>
          <a:p>
            <a:pPr marL="285750" marR="0" lvl="0" indent="-285750" algn="just" rtl="0">
              <a:lnSpc>
                <a:spcPct val="150000"/>
              </a:lnSpc>
              <a:spcBef>
                <a:spcPts val="0"/>
              </a:spcBef>
              <a:spcAft>
                <a:spcPts val="0"/>
              </a:spcAft>
              <a:buClr>
                <a:schemeClr val="dk1"/>
              </a:buClr>
              <a:buSzPts val="1800"/>
              <a:buFont typeface="Arial"/>
              <a:buChar char="•"/>
            </a:pPr>
            <a:r>
              <a:rPr lang="en-IN" sz="1800" b="0" i="0" u="none" strike="noStrike" cap="none">
                <a:solidFill>
                  <a:schemeClr val="dk1"/>
                </a:solidFill>
                <a:latin typeface="Calibri"/>
                <a:ea typeface="Calibri"/>
                <a:cs typeface="Calibri"/>
                <a:sym typeface="Calibri"/>
              </a:rPr>
              <a:t>The position of each dot on the horizontal and vertical axis indicates values for an individual data point.</a:t>
            </a:r>
            <a:endParaRPr/>
          </a:p>
        </p:txBody>
      </p:sp>
      <p:pic>
        <p:nvPicPr>
          <p:cNvPr id="103" name="Google Shape;103;p2" descr="A graph with colored dots&#10;&#10;Description automatically generated"/>
          <p:cNvPicPr preferRelativeResize="0"/>
          <p:nvPr/>
        </p:nvPicPr>
        <p:blipFill rotWithShape="1">
          <a:blip r:embed="rId4">
            <a:alphaModFix/>
          </a:blip>
          <a:srcRect/>
          <a:stretch/>
        </p:blipFill>
        <p:spPr>
          <a:xfrm>
            <a:off x="3564514" y="2996380"/>
            <a:ext cx="4313749" cy="3235312"/>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graphicFrame>
        <p:nvGraphicFramePr>
          <p:cNvPr id="108" name="Google Shape;108;p3"/>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09" name="Google Shape;109;p3"/>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10" name="Google Shape;110;p3"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11" name="Google Shape;111;p3"/>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2" name="Google Shape;112;p3"/>
          <p:cNvSpPr txBox="1"/>
          <p:nvPr/>
        </p:nvSpPr>
        <p:spPr>
          <a:xfrm>
            <a:off x="0" y="883683"/>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i="0" u="none" strike="noStrike" cap="none">
                <a:solidFill>
                  <a:schemeClr val="dk1"/>
                </a:solidFill>
                <a:latin typeface="Calibri"/>
                <a:ea typeface="Calibri"/>
                <a:cs typeface="Calibri"/>
                <a:sym typeface="Calibri"/>
              </a:rPr>
              <a:t>Scatterplot</a:t>
            </a:r>
            <a:endParaRPr sz="3600" b="1" i="0" u="none" strike="noStrike" cap="none">
              <a:solidFill>
                <a:schemeClr val="dk1"/>
              </a:solidFill>
              <a:latin typeface="Calibri"/>
              <a:ea typeface="Calibri"/>
              <a:cs typeface="Calibri"/>
              <a:sym typeface="Calibri"/>
            </a:endParaRPr>
          </a:p>
        </p:txBody>
      </p:sp>
      <p:sp>
        <p:nvSpPr>
          <p:cNvPr id="113" name="Google Shape;113;p3"/>
          <p:cNvSpPr txBox="1"/>
          <p:nvPr/>
        </p:nvSpPr>
        <p:spPr>
          <a:xfrm>
            <a:off x="651388" y="1739554"/>
            <a:ext cx="6120580" cy="48013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i="0" u="none" strike="noStrike" cap="none" dirty="0">
                <a:solidFill>
                  <a:schemeClr val="dk1"/>
                </a:solidFill>
                <a:latin typeface="Calibri"/>
                <a:ea typeface="Calibri"/>
                <a:cs typeface="Calibri"/>
                <a:sym typeface="Calibri"/>
              </a:rPr>
              <a:t>Example</a:t>
            </a:r>
            <a:endParaRPr dirty="0"/>
          </a:p>
          <a:p>
            <a:pPr marL="0" marR="0" lvl="0" indent="0" algn="l" rtl="0">
              <a:spcBef>
                <a:spcPts val="0"/>
              </a:spcBef>
              <a:spcAft>
                <a:spcPts val="0"/>
              </a:spcAft>
              <a:buNone/>
            </a:pPr>
            <a:r>
              <a:rPr lang="en-IN" sz="1800" b="1" dirty="0">
                <a:solidFill>
                  <a:schemeClr val="dk1"/>
                </a:solidFill>
                <a:latin typeface="Courier New"/>
                <a:ea typeface="Courier New"/>
                <a:cs typeface="Courier New"/>
                <a:sym typeface="Courier New"/>
              </a:rPr>
              <a:t>import seaborn as </a:t>
            </a:r>
            <a:r>
              <a:rPr lang="en-IN" sz="1800" b="1" dirty="0" err="1">
                <a:solidFill>
                  <a:schemeClr val="dk1"/>
                </a:solidFill>
                <a:latin typeface="Courier New"/>
                <a:ea typeface="Courier New"/>
                <a:cs typeface="Courier New"/>
                <a:sym typeface="Courier New"/>
              </a:rPr>
              <a:t>sns</a:t>
            </a:r>
            <a:endParaRPr sz="18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IN" sz="1800" b="1" dirty="0">
                <a:solidFill>
                  <a:schemeClr val="dk1"/>
                </a:solidFill>
                <a:latin typeface="Courier New"/>
                <a:ea typeface="Courier New"/>
                <a:cs typeface="Courier New"/>
                <a:sym typeface="Courier New"/>
              </a:rPr>
              <a:t>import </a:t>
            </a:r>
            <a:r>
              <a:rPr lang="en-IN" sz="1800" b="1" dirty="0" err="1">
                <a:solidFill>
                  <a:schemeClr val="dk1"/>
                </a:solidFill>
                <a:latin typeface="Courier New"/>
                <a:ea typeface="Courier New"/>
                <a:cs typeface="Courier New"/>
                <a:sym typeface="Courier New"/>
              </a:rPr>
              <a:t>matplotlib.pyplot</a:t>
            </a:r>
            <a:r>
              <a:rPr lang="en-IN" sz="1800" b="1" dirty="0">
                <a:solidFill>
                  <a:schemeClr val="dk1"/>
                </a:solidFill>
                <a:latin typeface="Courier New"/>
                <a:ea typeface="Courier New"/>
                <a:cs typeface="Courier New"/>
                <a:sym typeface="Courier New"/>
              </a:rPr>
              <a:t> as </a:t>
            </a:r>
            <a:r>
              <a:rPr lang="en-IN" sz="1800" b="1" dirty="0" err="1">
                <a:solidFill>
                  <a:schemeClr val="dk1"/>
                </a:solidFill>
                <a:latin typeface="Courier New"/>
                <a:ea typeface="Courier New"/>
                <a:cs typeface="Courier New"/>
                <a:sym typeface="Courier New"/>
              </a:rPr>
              <a:t>plt</a:t>
            </a:r>
            <a:endParaRPr sz="18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endParaRPr sz="18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IN" sz="1800" b="1" dirty="0">
                <a:solidFill>
                  <a:schemeClr val="dk1"/>
                </a:solidFill>
                <a:latin typeface="Courier New"/>
                <a:ea typeface="Courier New"/>
                <a:cs typeface="Courier New"/>
                <a:sym typeface="Courier New"/>
              </a:rPr>
              <a:t>data = {</a:t>
            </a:r>
            <a:endParaRPr dirty="0"/>
          </a:p>
          <a:p>
            <a:pPr marL="0" marR="0" lvl="0" indent="0" algn="l" rtl="0">
              <a:spcBef>
                <a:spcPts val="0"/>
              </a:spcBef>
              <a:spcAft>
                <a:spcPts val="0"/>
              </a:spcAft>
              <a:buNone/>
            </a:pPr>
            <a:r>
              <a:rPr lang="en-IN" sz="1800" b="1" dirty="0">
                <a:solidFill>
                  <a:schemeClr val="dk1"/>
                </a:solidFill>
                <a:latin typeface="Courier New"/>
                <a:ea typeface="Courier New"/>
                <a:cs typeface="Courier New"/>
                <a:sym typeface="Courier New"/>
              </a:rPr>
              <a:t>    "</a:t>
            </a:r>
            <a:r>
              <a:rPr lang="en-IN" sz="1800" b="1" dirty="0" err="1">
                <a:solidFill>
                  <a:schemeClr val="dk1"/>
                </a:solidFill>
                <a:latin typeface="Courier New"/>
                <a:ea typeface="Courier New"/>
                <a:cs typeface="Courier New"/>
                <a:sym typeface="Courier New"/>
              </a:rPr>
              <a:t>x_values</a:t>
            </a:r>
            <a:r>
              <a:rPr lang="en-IN" sz="1800" b="1" dirty="0">
                <a:solidFill>
                  <a:schemeClr val="dk1"/>
                </a:solidFill>
                <a:latin typeface="Courier New"/>
                <a:ea typeface="Courier New"/>
                <a:cs typeface="Courier New"/>
                <a:sym typeface="Courier New"/>
              </a:rPr>
              <a:t>": [1, 2, 3, 4, 5],</a:t>
            </a:r>
            <a:endParaRPr dirty="0"/>
          </a:p>
          <a:p>
            <a:pPr marL="0" marR="0" lvl="0" indent="0" algn="l" rtl="0">
              <a:spcBef>
                <a:spcPts val="0"/>
              </a:spcBef>
              <a:spcAft>
                <a:spcPts val="0"/>
              </a:spcAft>
              <a:buNone/>
            </a:pPr>
            <a:r>
              <a:rPr lang="en-IN" sz="1800" b="1" dirty="0">
                <a:solidFill>
                  <a:schemeClr val="dk1"/>
                </a:solidFill>
                <a:latin typeface="Courier New"/>
                <a:ea typeface="Courier New"/>
                <a:cs typeface="Courier New"/>
                <a:sym typeface="Courier New"/>
              </a:rPr>
              <a:t>    "</a:t>
            </a:r>
            <a:r>
              <a:rPr lang="en-IN" sz="1800" b="1" dirty="0" err="1">
                <a:solidFill>
                  <a:schemeClr val="dk1"/>
                </a:solidFill>
                <a:latin typeface="Courier New"/>
                <a:ea typeface="Courier New"/>
                <a:cs typeface="Courier New"/>
                <a:sym typeface="Courier New"/>
              </a:rPr>
              <a:t>y_values</a:t>
            </a:r>
            <a:r>
              <a:rPr lang="en-IN" sz="1800" b="1" dirty="0">
                <a:solidFill>
                  <a:schemeClr val="dk1"/>
                </a:solidFill>
                <a:latin typeface="Courier New"/>
                <a:ea typeface="Courier New"/>
                <a:cs typeface="Courier New"/>
                <a:sym typeface="Courier New"/>
              </a:rPr>
              <a:t>": [2, 5, 3, 8, 10]</a:t>
            </a:r>
            <a:endParaRPr dirty="0"/>
          </a:p>
          <a:p>
            <a:pPr marL="0" marR="0" lvl="0" indent="0" algn="l" rtl="0">
              <a:spcBef>
                <a:spcPts val="0"/>
              </a:spcBef>
              <a:spcAft>
                <a:spcPts val="0"/>
              </a:spcAft>
              <a:buNone/>
            </a:pPr>
            <a:r>
              <a:rPr lang="en-IN" sz="1800" b="1" dirty="0">
                <a:solidFill>
                  <a:schemeClr val="dk1"/>
                </a:solidFill>
                <a:latin typeface="Courier New"/>
                <a:ea typeface="Courier New"/>
                <a:cs typeface="Courier New"/>
                <a:sym typeface="Courier New"/>
              </a:rPr>
              <a:t>}</a:t>
            </a:r>
            <a:endParaRPr dirty="0"/>
          </a:p>
          <a:p>
            <a:pPr marL="0" marR="0" lvl="0" indent="0" algn="l" rtl="0">
              <a:spcBef>
                <a:spcPts val="0"/>
              </a:spcBef>
              <a:spcAft>
                <a:spcPts val="0"/>
              </a:spcAft>
              <a:buNone/>
            </a:pPr>
            <a:r>
              <a:rPr lang="en-IN" sz="1800" b="1" dirty="0">
                <a:solidFill>
                  <a:srgbClr val="BFBFBF"/>
                </a:solidFill>
                <a:latin typeface="Courier New"/>
                <a:ea typeface="Courier New"/>
                <a:cs typeface="Courier New"/>
                <a:sym typeface="Courier New"/>
              </a:rPr>
              <a:t># Create a scatterplot</a:t>
            </a:r>
            <a:endParaRPr dirty="0"/>
          </a:p>
          <a:p>
            <a:pPr marL="0" marR="0" lvl="0" indent="0" algn="l" rtl="0">
              <a:spcBef>
                <a:spcPts val="0"/>
              </a:spcBef>
              <a:spcAft>
                <a:spcPts val="0"/>
              </a:spcAft>
              <a:buNone/>
            </a:pPr>
            <a:r>
              <a:rPr lang="en-IN" sz="1800" b="1" dirty="0" err="1">
                <a:solidFill>
                  <a:schemeClr val="dk1"/>
                </a:solidFill>
                <a:latin typeface="Courier New"/>
                <a:ea typeface="Courier New"/>
                <a:cs typeface="Courier New"/>
                <a:sym typeface="Courier New"/>
              </a:rPr>
              <a:t>sns.scatterplot</a:t>
            </a:r>
            <a:r>
              <a:rPr lang="en-IN" sz="1800" b="1" dirty="0">
                <a:solidFill>
                  <a:schemeClr val="dk1"/>
                </a:solidFill>
                <a:latin typeface="Courier New"/>
                <a:ea typeface="Courier New"/>
                <a:cs typeface="Courier New"/>
                <a:sym typeface="Courier New"/>
              </a:rPr>
              <a:t>(x="</a:t>
            </a:r>
            <a:r>
              <a:rPr lang="en-IN" sz="1800" b="1" dirty="0" err="1">
                <a:solidFill>
                  <a:schemeClr val="dk1"/>
                </a:solidFill>
                <a:latin typeface="Courier New"/>
                <a:ea typeface="Courier New"/>
                <a:cs typeface="Courier New"/>
                <a:sym typeface="Courier New"/>
              </a:rPr>
              <a:t>x_values</a:t>
            </a:r>
            <a:r>
              <a:rPr lang="en-IN" sz="1800" b="1" dirty="0">
                <a:solidFill>
                  <a:schemeClr val="dk1"/>
                </a:solidFill>
                <a:latin typeface="Courier New"/>
                <a:ea typeface="Courier New"/>
                <a:cs typeface="Courier New"/>
                <a:sym typeface="Courier New"/>
              </a:rPr>
              <a:t>", y="</a:t>
            </a:r>
            <a:r>
              <a:rPr lang="en-IN" sz="1800" b="1" dirty="0" err="1">
                <a:solidFill>
                  <a:schemeClr val="dk1"/>
                </a:solidFill>
                <a:latin typeface="Courier New"/>
                <a:ea typeface="Courier New"/>
                <a:cs typeface="Courier New"/>
                <a:sym typeface="Courier New"/>
              </a:rPr>
              <a:t>y_values</a:t>
            </a:r>
            <a:r>
              <a:rPr lang="en-IN" sz="1800" b="1" dirty="0">
                <a:solidFill>
                  <a:schemeClr val="dk1"/>
                </a:solidFill>
                <a:latin typeface="Courier New"/>
                <a:ea typeface="Courier New"/>
                <a:cs typeface="Courier New"/>
                <a:sym typeface="Courier New"/>
              </a:rPr>
              <a:t>", data=data)</a:t>
            </a:r>
            <a:endParaRPr dirty="0"/>
          </a:p>
          <a:p>
            <a:pPr marL="0" marR="0" lvl="0" indent="0" algn="l" rtl="0">
              <a:spcBef>
                <a:spcPts val="0"/>
              </a:spcBef>
              <a:spcAft>
                <a:spcPts val="0"/>
              </a:spcAft>
              <a:buNone/>
            </a:pPr>
            <a:r>
              <a:rPr lang="en-IN" sz="1800" b="1" dirty="0">
                <a:solidFill>
                  <a:srgbClr val="BFBFBF"/>
                </a:solidFill>
                <a:latin typeface="Courier New"/>
                <a:ea typeface="Courier New"/>
                <a:cs typeface="Courier New"/>
                <a:sym typeface="Courier New"/>
              </a:rPr>
              <a:t># Add a title and labels</a:t>
            </a:r>
            <a:endParaRPr dirty="0"/>
          </a:p>
          <a:p>
            <a:pPr marL="0" marR="0" lvl="0" indent="0" algn="l" rtl="0">
              <a:spcBef>
                <a:spcPts val="0"/>
              </a:spcBef>
              <a:spcAft>
                <a:spcPts val="0"/>
              </a:spcAft>
              <a:buNone/>
            </a:pPr>
            <a:r>
              <a:rPr lang="en-IN" sz="1800" b="1" dirty="0" err="1">
                <a:solidFill>
                  <a:schemeClr val="dk1"/>
                </a:solidFill>
                <a:latin typeface="Courier New"/>
                <a:ea typeface="Courier New"/>
                <a:cs typeface="Courier New"/>
                <a:sym typeface="Courier New"/>
              </a:rPr>
              <a:t>plt.title</a:t>
            </a:r>
            <a:r>
              <a:rPr lang="en-IN" sz="1800" b="1" dirty="0">
                <a:solidFill>
                  <a:schemeClr val="dk1"/>
                </a:solidFill>
                <a:latin typeface="Courier New"/>
                <a:ea typeface="Courier New"/>
                <a:cs typeface="Courier New"/>
                <a:sym typeface="Courier New"/>
              </a:rPr>
              <a:t>("Scatterplot Example")</a:t>
            </a:r>
            <a:endParaRPr dirty="0"/>
          </a:p>
          <a:p>
            <a:pPr marL="0" marR="0" lvl="0" indent="0" algn="l" rtl="0">
              <a:spcBef>
                <a:spcPts val="0"/>
              </a:spcBef>
              <a:spcAft>
                <a:spcPts val="0"/>
              </a:spcAft>
              <a:buNone/>
            </a:pPr>
            <a:r>
              <a:rPr lang="en-IN" sz="1800" b="1" dirty="0" err="1">
                <a:solidFill>
                  <a:schemeClr val="dk1"/>
                </a:solidFill>
                <a:latin typeface="Courier New"/>
                <a:ea typeface="Courier New"/>
                <a:cs typeface="Courier New"/>
                <a:sym typeface="Courier New"/>
              </a:rPr>
              <a:t>plt.xlabel</a:t>
            </a:r>
            <a:r>
              <a:rPr lang="en-IN" sz="1800" b="1" dirty="0">
                <a:solidFill>
                  <a:schemeClr val="dk1"/>
                </a:solidFill>
                <a:latin typeface="Courier New"/>
                <a:ea typeface="Courier New"/>
                <a:cs typeface="Courier New"/>
                <a:sym typeface="Courier New"/>
              </a:rPr>
              <a:t>("X-axis")</a:t>
            </a:r>
            <a:endParaRPr dirty="0"/>
          </a:p>
          <a:p>
            <a:pPr marL="0" marR="0" lvl="0" indent="0" algn="l" rtl="0">
              <a:spcBef>
                <a:spcPts val="0"/>
              </a:spcBef>
              <a:spcAft>
                <a:spcPts val="0"/>
              </a:spcAft>
              <a:buNone/>
            </a:pPr>
            <a:r>
              <a:rPr lang="en-IN" sz="1800" b="1" dirty="0" err="1">
                <a:solidFill>
                  <a:schemeClr val="dk1"/>
                </a:solidFill>
                <a:latin typeface="Courier New"/>
                <a:ea typeface="Courier New"/>
                <a:cs typeface="Courier New"/>
                <a:sym typeface="Courier New"/>
              </a:rPr>
              <a:t>plt.ylabel</a:t>
            </a:r>
            <a:r>
              <a:rPr lang="en-IN" sz="1800" b="1" dirty="0">
                <a:solidFill>
                  <a:schemeClr val="dk1"/>
                </a:solidFill>
                <a:latin typeface="Courier New"/>
                <a:ea typeface="Courier New"/>
                <a:cs typeface="Courier New"/>
                <a:sym typeface="Courier New"/>
              </a:rPr>
              <a:t>("Y-axis")</a:t>
            </a:r>
            <a:endParaRPr dirty="0"/>
          </a:p>
          <a:p>
            <a:pPr marL="0" marR="0" lvl="0" indent="0" algn="l" rtl="0">
              <a:spcBef>
                <a:spcPts val="0"/>
              </a:spcBef>
              <a:spcAft>
                <a:spcPts val="0"/>
              </a:spcAft>
              <a:buNone/>
            </a:pPr>
            <a:r>
              <a:rPr lang="en-IN" sz="1800" b="1" dirty="0">
                <a:solidFill>
                  <a:srgbClr val="BFBFBF"/>
                </a:solidFill>
                <a:latin typeface="Courier New"/>
                <a:ea typeface="Courier New"/>
                <a:cs typeface="Courier New"/>
                <a:sym typeface="Courier New"/>
              </a:rPr>
              <a:t># Show the plot</a:t>
            </a:r>
            <a:endParaRPr dirty="0"/>
          </a:p>
          <a:p>
            <a:pPr marL="0" marR="0" lvl="0" indent="0" algn="l" rtl="0">
              <a:spcBef>
                <a:spcPts val="0"/>
              </a:spcBef>
              <a:spcAft>
                <a:spcPts val="0"/>
              </a:spcAft>
              <a:buNone/>
            </a:pPr>
            <a:r>
              <a:rPr lang="en-IN" sz="1800" b="1" dirty="0" err="1">
                <a:solidFill>
                  <a:schemeClr val="dk1"/>
                </a:solidFill>
                <a:latin typeface="Courier New"/>
                <a:ea typeface="Courier New"/>
                <a:cs typeface="Courier New"/>
                <a:sym typeface="Courier New"/>
              </a:rPr>
              <a:t>plt.show</a:t>
            </a:r>
            <a:r>
              <a:rPr lang="en-IN" sz="1800" b="1" dirty="0">
                <a:solidFill>
                  <a:schemeClr val="dk1"/>
                </a:solidFill>
                <a:latin typeface="Courier New"/>
                <a:ea typeface="Courier New"/>
                <a:cs typeface="Courier New"/>
                <a:sym typeface="Courier New"/>
              </a:rPr>
              <a:t>()</a:t>
            </a:r>
            <a:endParaRPr dirty="0"/>
          </a:p>
        </p:txBody>
      </p:sp>
      <p:sp>
        <p:nvSpPr>
          <p:cNvPr id="114" name="Google Shape;114;p3"/>
          <p:cNvSpPr txBox="1"/>
          <p:nvPr/>
        </p:nvSpPr>
        <p:spPr>
          <a:xfrm>
            <a:off x="6653981" y="1555266"/>
            <a:ext cx="61205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Calibri"/>
                <a:ea typeface="Calibri"/>
                <a:cs typeface="Calibri"/>
                <a:sym typeface="Calibri"/>
              </a:rPr>
              <a:t>Output</a:t>
            </a:r>
            <a:endParaRPr/>
          </a:p>
        </p:txBody>
      </p:sp>
      <p:pic>
        <p:nvPicPr>
          <p:cNvPr id="115" name="Google Shape;115;p3"/>
          <p:cNvPicPr preferRelativeResize="0"/>
          <p:nvPr/>
        </p:nvPicPr>
        <p:blipFill rotWithShape="1">
          <a:blip r:embed="rId4">
            <a:alphaModFix/>
          </a:blip>
          <a:srcRect/>
          <a:stretch/>
        </p:blipFill>
        <p:spPr>
          <a:xfrm>
            <a:off x="6653981" y="2065155"/>
            <a:ext cx="5353050" cy="433387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graphicFrame>
        <p:nvGraphicFramePr>
          <p:cNvPr id="120" name="Google Shape;120;p4"/>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21" name="Google Shape;121;p4"/>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22" name="Google Shape;122;p4"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23" name="Google Shape;123;p4"/>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4" name="Google Shape;124;p4"/>
          <p:cNvSpPr txBox="1"/>
          <p:nvPr/>
        </p:nvSpPr>
        <p:spPr>
          <a:xfrm>
            <a:off x="0" y="873851"/>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a:solidFill>
                  <a:schemeClr val="dk1"/>
                </a:solidFill>
                <a:latin typeface="Calibri"/>
                <a:ea typeface="Calibri"/>
                <a:cs typeface="Calibri"/>
                <a:sym typeface="Calibri"/>
              </a:rPr>
              <a:t>Lineplot</a:t>
            </a:r>
            <a:endParaRPr sz="3600" b="1" cap="none">
              <a:solidFill>
                <a:schemeClr val="dk1"/>
              </a:solidFill>
              <a:latin typeface="Calibri"/>
              <a:ea typeface="Calibri"/>
              <a:cs typeface="Calibri"/>
              <a:sym typeface="Calibri"/>
            </a:endParaRPr>
          </a:p>
        </p:txBody>
      </p:sp>
      <p:sp>
        <p:nvSpPr>
          <p:cNvPr id="125" name="Google Shape;125;p4"/>
          <p:cNvSpPr txBox="1"/>
          <p:nvPr/>
        </p:nvSpPr>
        <p:spPr>
          <a:xfrm>
            <a:off x="487016" y="1574931"/>
            <a:ext cx="10972801" cy="1711366"/>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A line plot is a graphical representation of data in which individual data points are plotted along a line to display the relationship between two variables. </a:t>
            </a:r>
            <a:endParaRPr/>
          </a:p>
          <a:p>
            <a:pPr marL="285750" marR="0" lvl="0" indent="-285750" algn="just" rtl="0">
              <a:lnSpc>
                <a:spcPct val="150000"/>
              </a:lnSpc>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It is typically used to visualize how one variable, often referred to as the dependent variable, changes in response to changes in another variable, known as the independent variable.</a:t>
            </a:r>
            <a:endParaRPr/>
          </a:p>
        </p:txBody>
      </p:sp>
      <p:pic>
        <p:nvPicPr>
          <p:cNvPr id="126" name="Google Shape;126;p4" descr="A graph with numbers and a number of years&#10;&#10;Description automatically generated"/>
          <p:cNvPicPr preferRelativeResize="0"/>
          <p:nvPr/>
        </p:nvPicPr>
        <p:blipFill rotWithShape="1">
          <a:blip r:embed="rId4">
            <a:alphaModFix/>
          </a:blip>
          <a:srcRect/>
          <a:stretch/>
        </p:blipFill>
        <p:spPr>
          <a:xfrm>
            <a:off x="3728884" y="3327949"/>
            <a:ext cx="5120148" cy="3072089"/>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graphicFrame>
        <p:nvGraphicFramePr>
          <p:cNvPr id="131" name="Google Shape;131;p5"/>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32" name="Google Shape;132;p5"/>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33" name="Google Shape;133;p5"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34" name="Google Shape;134;p5"/>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5" name="Google Shape;135;p5"/>
          <p:cNvSpPr txBox="1"/>
          <p:nvPr/>
        </p:nvSpPr>
        <p:spPr>
          <a:xfrm>
            <a:off x="0" y="883683"/>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a:solidFill>
                  <a:schemeClr val="dk1"/>
                </a:solidFill>
                <a:latin typeface="Calibri"/>
                <a:ea typeface="Calibri"/>
                <a:cs typeface="Calibri"/>
                <a:sym typeface="Calibri"/>
              </a:rPr>
              <a:t>Lineplot</a:t>
            </a:r>
            <a:endParaRPr sz="3600" b="1" cap="none">
              <a:solidFill>
                <a:schemeClr val="dk1"/>
              </a:solidFill>
              <a:latin typeface="Calibri"/>
              <a:ea typeface="Calibri"/>
              <a:cs typeface="Calibri"/>
              <a:sym typeface="Calibri"/>
            </a:endParaRPr>
          </a:p>
        </p:txBody>
      </p:sp>
      <p:sp>
        <p:nvSpPr>
          <p:cNvPr id="136" name="Google Shape;136;p5"/>
          <p:cNvSpPr txBox="1"/>
          <p:nvPr/>
        </p:nvSpPr>
        <p:spPr>
          <a:xfrm>
            <a:off x="651388" y="1739554"/>
            <a:ext cx="6120580" cy="48013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dirty="0">
                <a:solidFill>
                  <a:schemeClr val="dk1"/>
                </a:solidFill>
                <a:latin typeface="Calibri"/>
                <a:ea typeface="Calibri"/>
                <a:cs typeface="Calibri"/>
                <a:sym typeface="Calibri"/>
              </a:rPr>
              <a:t>Example</a:t>
            </a:r>
            <a:endParaRPr dirty="0"/>
          </a:p>
          <a:p>
            <a:pPr marL="0" marR="0" lvl="0" indent="0" algn="l" rtl="0">
              <a:spcBef>
                <a:spcPts val="0"/>
              </a:spcBef>
              <a:spcAft>
                <a:spcPts val="0"/>
              </a:spcAft>
              <a:buNone/>
            </a:pPr>
            <a:r>
              <a:rPr lang="en-IN" sz="1800" b="1" dirty="0">
                <a:solidFill>
                  <a:schemeClr val="dk1"/>
                </a:solidFill>
                <a:latin typeface="Courier New"/>
                <a:ea typeface="Courier New"/>
                <a:cs typeface="Courier New"/>
                <a:sym typeface="Courier New"/>
              </a:rPr>
              <a:t>import seaborn as </a:t>
            </a:r>
            <a:r>
              <a:rPr lang="en-IN" sz="1800" b="1" dirty="0" err="1">
                <a:solidFill>
                  <a:schemeClr val="dk1"/>
                </a:solidFill>
                <a:latin typeface="Courier New"/>
                <a:ea typeface="Courier New"/>
                <a:cs typeface="Courier New"/>
                <a:sym typeface="Courier New"/>
              </a:rPr>
              <a:t>sns</a:t>
            </a:r>
            <a:endParaRPr sz="18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IN" sz="1800" b="1" dirty="0">
                <a:solidFill>
                  <a:schemeClr val="dk1"/>
                </a:solidFill>
                <a:latin typeface="Courier New"/>
                <a:ea typeface="Courier New"/>
                <a:cs typeface="Courier New"/>
                <a:sym typeface="Courier New"/>
              </a:rPr>
              <a:t>import </a:t>
            </a:r>
            <a:r>
              <a:rPr lang="en-IN" sz="1800" b="1" dirty="0" err="1">
                <a:solidFill>
                  <a:schemeClr val="dk1"/>
                </a:solidFill>
                <a:latin typeface="Courier New"/>
                <a:ea typeface="Courier New"/>
                <a:cs typeface="Courier New"/>
                <a:sym typeface="Courier New"/>
              </a:rPr>
              <a:t>matplotlib.pyplot</a:t>
            </a:r>
            <a:r>
              <a:rPr lang="en-IN" sz="1800" b="1" dirty="0">
                <a:solidFill>
                  <a:schemeClr val="dk1"/>
                </a:solidFill>
                <a:latin typeface="Courier New"/>
                <a:ea typeface="Courier New"/>
                <a:cs typeface="Courier New"/>
                <a:sym typeface="Courier New"/>
              </a:rPr>
              <a:t> as </a:t>
            </a:r>
            <a:r>
              <a:rPr lang="en-IN" sz="1800" b="1" dirty="0" err="1">
                <a:solidFill>
                  <a:schemeClr val="dk1"/>
                </a:solidFill>
                <a:latin typeface="Courier New"/>
                <a:ea typeface="Courier New"/>
                <a:cs typeface="Courier New"/>
                <a:sym typeface="Courier New"/>
              </a:rPr>
              <a:t>plt</a:t>
            </a:r>
            <a:endParaRPr sz="18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endParaRPr sz="18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IN" sz="1800" b="1" dirty="0">
                <a:solidFill>
                  <a:srgbClr val="BFBFBF"/>
                </a:solidFill>
                <a:latin typeface="Courier New"/>
                <a:ea typeface="Courier New"/>
                <a:cs typeface="Courier New"/>
                <a:sym typeface="Courier New"/>
              </a:rPr>
              <a:t># Sample data</a:t>
            </a:r>
            <a:endParaRPr dirty="0"/>
          </a:p>
          <a:p>
            <a:pPr marL="0" marR="0" lvl="0" indent="0" algn="l" rtl="0">
              <a:spcBef>
                <a:spcPts val="0"/>
              </a:spcBef>
              <a:spcAft>
                <a:spcPts val="0"/>
              </a:spcAft>
              <a:buNone/>
            </a:pPr>
            <a:r>
              <a:rPr lang="en-IN" sz="1800" b="1" dirty="0" err="1">
                <a:solidFill>
                  <a:schemeClr val="dk1"/>
                </a:solidFill>
                <a:latin typeface="Courier New"/>
                <a:ea typeface="Courier New"/>
                <a:cs typeface="Courier New"/>
                <a:sym typeface="Courier New"/>
              </a:rPr>
              <a:t>x_values</a:t>
            </a:r>
            <a:r>
              <a:rPr lang="en-IN" sz="1800" b="1" dirty="0">
                <a:solidFill>
                  <a:schemeClr val="dk1"/>
                </a:solidFill>
                <a:latin typeface="Courier New"/>
                <a:ea typeface="Courier New"/>
                <a:cs typeface="Courier New"/>
                <a:sym typeface="Courier New"/>
              </a:rPr>
              <a:t> = [1, 2, 3, 4, 5]</a:t>
            </a:r>
            <a:endParaRPr dirty="0"/>
          </a:p>
          <a:p>
            <a:pPr marL="0" marR="0" lvl="0" indent="0" algn="l" rtl="0">
              <a:spcBef>
                <a:spcPts val="0"/>
              </a:spcBef>
              <a:spcAft>
                <a:spcPts val="0"/>
              </a:spcAft>
              <a:buNone/>
            </a:pPr>
            <a:r>
              <a:rPr lang="en-IN" sz="1800" b="1" dirty="0" err="1">
                <a:solidFill>
                  <a:schemeClr val="dk1"/>
                </a:solidFill>
                <a:latin typeface="Courier New"/>
                <a:ea typeface="Courier New"/>
                <a:cs typeface="Courier New"/>
                <a:sym typeface="Courier New"/>
              </a:rPr>
              <a:t>y_values</a:t>
            </a:r>
            <a:r>
              <a:rPr lang="en-IN" sz="1800" b="1" dirty="0">
                <a:solidFill>
                  <a:schemeClr val="dk1"/>
                </a:solidFill>
                <a:latin typeface="Courier New"/>
                <a:ea typeface="Courier New"/>
                <a:cs typeface="Courier New"/>
                <a:sym typeface="Courier New"/>
              </a:rPr>
              <a:t> = [2, 5, 3, 8, 10]</a:t>
            </a:r>
            <a:endParaRPr dirty="0"/>
          </a:p>
          <a:p>
            <a:pPr marL="0" marR="0" lvl="0" indent="0" algn="l" rtl="0">
              <a:spcBef>
                <a:spcPts val="0"/>
              </a:spcBef>
              <a:spcAft>
                <a:spcPts val="0"/>
              </a:spcAft>
              <a:buNone/>
            </a:pPr>
            <a:endParaRPr sz="18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IN" sz="1800" b="1" dirty="0">
                <a:solidFill>
                  <a:srgbClr val="BFBFBF"/>
                </a:solidFill>
                <a:latin typeface="Courier New"/>
                <a:ea typeface="Courier New"/>
                <a:cs typeface="Courier New"/>
                <a:sym typeface="Courier New"/>
              </a:rPr>
              <a:t># Create the line plot</a:t>
            </a:r>
            <a:endParaRPr dirty="0"/>
          </a:p>
          <a:p>
            <a:pPr marL="0" marR="0" lvl="0" indent="0" algn="l" rtl="0">
              <a:spcBef>
                <a:spcPts val="0"/>
              </a:spcBef>
              <a:spcAft>
                <a:spcPts val="0"/>
              </a:spcAft>
              <a:buNone/>
            </a:pPr>
            <a:r>
              <a:rPr lang="en-IN" sz="1800" b="1" dirty="0" err="1">
                <a:solidFill>
                  <a:schemeClr val="dk1"/>
                </a:solidFill>
                <a:latin typeface="Courier New"/>
                <a:ea typeface="Courier New"/>
                <a:cs typeface="Courier New"/>
                <a:sym typeface="Courier New"/>
              </a:rPr>
              <a:t>sns.lineplot</a:t>
            </a:r>
            <a:r>
              <a:rPr lang="en-IN" sz="1800" b="1" dirty="0">
                <a:solidFill>
                  <a:schemeClr val="dk1"/>
                </a:solidFill>
                <a:latin typeface="Courier New"/>
                <a:ea typeface="Courier New"/>
                <a:cs typeface="Courier New"/>
                <a:sym typeface="Courier New"/>
              </a:rPr>
              <a:t>(x=</a:t>
            </a:r>
            <a:r>
              <a:rPr lang="en-IN" sz="1800" b="1" dirty="0" err="1">
                <a:solidFill>
                  <a:schemeClr val="dk1"/>
                </a:solidFill>
                <a:latin typeface="Courier New"/>
                <a:ea typeface="Courier New"/>
                <a:cs typeface="Courier New"/>
                <a:sym typeface="Courier New"/>
              </a:rPr>
              <a:t>x_values</a:t>
            </a:r>
            <a:r>
              <a:rPr lang="en-IN" sz="1800" b="1" dirty="0">
                <a:solidFill>
                  <a:schemeClr val="dk1"/>
                </a:solidFill>
                <a:latin typeface="Courier New"/>
                <a:ea typeface="Courier New"/>
                <a:cs typeface="Courier New"/>
                <a:sym typeface="Courier New"/>
              </a:rPr>
              <a:t>, y=</a:t>
            </a:r>
            <a:r>
              <a:rPr lang="en-IN" sz="1800" b="1" dirty="0" err="1">
                <a:solidFill>
                  <a:schemeClr val="dk1"/>
                </a:solidFill>
                <a:latin typeface="Courier New"/>
                <a:ea typeface="Courier New"/>
                <a:cs typeface="Courier New"/>
                <a:sym typeface="Courier New"/>
              </a:rPr>
              <a:t>y_values</a:t>
            </a:r>
            <a:r>
              <a:rPr lang="en-IN" sz="1800" b="1" dirty="0">
                <a:solidFill>
                  <a:schemeClr val="dk1"/>
                </a:solidFill>
                <a:latin typeface="Courier New"/>
                <a:ea typeface="Courier New"/>
                <a:cs typeface="Courier New"/>
                <a:sym typeface="Courier New"/>
              </a:rPr>
              <a:t>)</a:t>
            </a:r>
            <a:endParaRPr dirty="0"/>
          </a:p>
          <a:p>
            <a:pPr marL="0" marR="0" lvl="0" indent="0" algn="l" rtl="0">
              <a:spcBef>
                <a:spcPts val="0"/>
              </a:spcBef>
              <a:spcAft>
                <a:spcPts val="0"/>
              </a:spcAft>
              <a:buNone/>
            </a:pPr>
            <a:endParaRPr sz="18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IN" sz="1800" b="1" dirty="0">
                <a:solidFill>
                  <a:srgbClr val="BFBFBF"/>
                </a:solidFill>
                <a:latin typeface="Courier New"/>
                <a:ea typeface="Courier New"/>
                <a:cs typeface="Courier New"/>
                <a:sym typeface="Courier New"/>
              </a:rPr>
              <a:t># Add a title and labels</a:t>
            </a:r>
            <a:endParaRPr dirty="0"/>
          </a:p>
          <a:p>
            <a:pPr marL="0" marR="0" lvl="0" indent="0" algn="l" rtl="0">
              <a:spcBef>
                <a:spcPts val="0"/>
              </a:spcBef>
              <a:spcAft>
                <a:spcPts val="0"/>
              </a:spcAft>
              <a:buNone/>
            </a:pPr>
            <a:r>
              <a:rPr lang="en-IN" sz="1800" b="1" dirty="0" err="1">
                <a:solidFill>
                  <a:schemeClr val="dk1"/>
                </a:solidFill>
                <a:latin typeface="Courier New"/>
                <a:ea typeface="Courier New"/>
                <a:cs typeface="Courier New"/>
                <a:sym typeface="Courier New"/>
              </a:rPr>
              <a:t>plt.title</a:t>
            </a:r>
            <a:r>
              <a:rPr lang="en-IN" sz="1800" b="1" dirty="0">
                <a:solidFill>
                  <a:schemeClr val="dk1"/>
                </a:solidFill>
                <a:latin typeface="Courier New"/>
                <a:ea typeface="Courier New"/>
                <a:cs typeface="Courier New"/>
                <a:sym typeface="Courier New"/>
              </a:rPr>
              <a:t>("Sample Line Plot")</a:t>
            </a:r>
            <a:endParaRPr dirty="0"/>
          </a:p>
          <a:p>
            <a:pPr marL="0" marR="0" lvl="0" indent="0" algn="l" rtl="0">
              <a:spcBef>
                <a:spcPts val="0"/>
              </a:spcBef>
              <a:spcAft>
                <a:spcPts val="0"/>
              </a:spcAft>
              <a:buNone/>
            </a:pPr>
            <a:r>
              <a:rPr lang="en-IN" sz="1800" b="1" dirty="0" err="1">
                <a:solidFill>
                  <a:schemeClr val="dk1"/>
                </a:solidFill>
                <a:latin typeface="Courier New"/>
                <a:ea typeface="Courier New"/>
                <a:cs typeface="Courier New"/>
                <a:sym typeface="Courier New"/>
              </a:rPr>
              <a:t>plt.xlabel</a:t>
            </a:r>
            <a:r>
              <a:rPr lang="en-IN" sz="1800" b="1" dirty="0">
                <a:solidFill>
                  <a:schemeClr val="dk1"/>
                </a:solidFill>
                <a:latin typeface="Courier New"/>
                <a:ea typeface="Courier New"/>
                <a:cs typeface="Courier New"/>
                <a:sym typeface="Courier New"/>
              </a:rPr>
              <a:t>("X-axis")</a:t>
            </a:r>
            <a:endParaRPr dirty="0"/>
          </a:p>
          <a:p>
            <a:pPr marL="0" marR="0" lvl="0" indent="0" algn="l" rtl="0">
              <a:spcBef>
                <a:spcPts val="0"/>
              </a:spcBef>
              <a:spcAft>
                <a:spcPts val="0"/>
              </a:spcAft>
              <a:buNone/>
            </a:pPr>
            <a:r>
              <a:rPr lang="en-IN" sz="1800" b="1" dirty="0" err="1">
                <a:solidFill>
                  <a:schemeClr val="dk1"/>
                </a:solidFill>
                <a:latin typeface="Courier New"/>
                <a:ea typeface="Courier New"/>
                <a:cs typeface="Courier New"/>
                <a:sym typeface="Courier New"/>
              </a:rPr>
              <a:t>plt.ylabel</a:t>
            </a:r>
            <a:r>
              <a:rPr lang="en-IN" sz="1800" b="1" dirty="0">
                <a:solidFill>
                  <a:schemeClr val="dk1"/>
                </a:solidFill>
                <a:latin typeface="Courier New"/>
                <a:ea typeface="Courier New"/>
                <a:cs typeface="Courier New"/>
                <a:sym typeface="Courier New"/>
              </a:rPr>
              <a:t>("Y-axis")</a:t>
            </a:r>
            <a:endParaRPr dirty="0"/>
          </a:p>
          <a:p>
            <a:pPr marL="0" marR="0" lvl="0" indent="0" algn="l" rtl="0">
              <a:spcBef>
                <a:spcPts val="0"/>
              </a:spcBef>
              <a:spcAft>
                <a:spcPts val="0"/>
              </a:spcAft>
              <a:buNone/>
            </a:pPr>
            <a:r>
              <a:rPr lang="en-IN" sz="1800" b="1" dirty="0">
                <a:solidFill>
                  <a:srgbClr val="BFBFBF"/>
                </a:solidFill>
                <a:latin typeface="Courier New"/>
                <a:ea typeface="Courier New"/>
                <a:cs typeface="Courier New"/>
                <a:sym typeface="Courier New"/>
              </a:rPr>
              <a:t># Show the plot</a:t>
            </a:r>
            <a:endParaRPr dirty="0"/>
          </a:p>
          <a:p>
            <a:pPr marL="0" marR="0" lvl="0" indent="0" algn="l" rtl="0">
              <a:spcBef>
                <a:spcPts val="0"/>
              </a:spcBef>
              <a:spcAft>
                <a:spcPts val="0"/>
              </a:spcAft>
              <a:buNone/>
            </a:pPr>
            <a:r>
              <a:rPr lang="en-IN" sz="1800" b="1" dirty="0" err="1">
                <a:solidFill>
                  <a:schemeClr val="dk1"/>
                </a:solidFill>
                <a:latin typeface="Courier New"/>
                <a:ea typeface="Courier New"/>
                <a:cs typeface="Courier New"/>
                <a:sym typeface="Courier New"/>
              </a:rPr>
              <a:t>plt.show</a:t>
            </a:r>
            <a:r>
              <a:rPr lang="en-IN" sz="1800" b="1" dirty="0">
                <a:solidFill>
                  <a:schemeClr val="dk1"/>
                </a:solidFill>
                <a:latin typeface="Courier New"/>
                <a:ea typeface="Courier New"/>
                <a:cs typeface="Courier New"/>
                <a:sym typeface="Courier New"/>
              </a:rPr>
              <a:t>()</a:t>
            </a:r>
            <a:endParaRPr dirty="0"/>
          </a:p>
        </p:txBody>
      </p:sp>
      <p:sp>
        <p:nvSpPr>
          <p:cNvPr id="137" name="Google Shape;137;p5"/>
          <p:cNvSpPr txBox="1"/>
          <p:nvPr/>
        </p:nvSpPr>
        <p:spPr>
          <a:xfrm>
            <a:off x="6653981" y="1555266"/>
            <a:ext cx="61205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Calibri"/>
                <a:ea typeface="Calibri"/>
                <a:cs typeface="Calibri"/>
                <a:sym typeface="Calibri"/>
              </a:rPr>
              <a:t>Output</a:t>
            </a:r>
            <a:endParaRPr/>
          </a:p>
        </p:txBody>
      </p:sp>
      <p:pic>
        <p:nvPicPr>
          <p:cNvPr id="138" name="Google Shape;138;p5"/>
          <p:cNvPicPr preferRelativeResize="0"/>
          <p:nvPr/>
        </p:nvPicPr>
        <p:blipFill rotWithShape="1">
          <a:blip r:embed="rId4">
            <a:alphaModFix/>
          </a:blip>
          <a:srcRect/>
          <a:stretch/>
        </p:blipFill>
        <p:spPr>
          <a:xfrm>
            <a:off x="6388817" y="1973273"/>
            <a:ext cx="5353050" cy="4333875"/>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graphicFrame>
        <p:nvGraphicFramePr>
          <p:cNvPr id="143" name="Google Shape;143;p6"/>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44" name="Google Shape;144;p6"/>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45" name="Google Shape;145;p6"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46" name="Google Shape;146;p6"/>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7" name="Google Shape;147;p6"/>
          <p:cNvSpPr txBox="1"/>
          <p:nvPr/>
        </p:nvSpPr>
        <p:spPr>
          <a:xfrm>
            <a:off x="0" y="873851"/>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a:solidFill>
                  <a:schemeClr val="dk1"/>
                </a:solidFill>
                <a:latin typeface="Calibri"/>
                <a:ea typeface="Calibri"/>
                <a:cs typeface="Calibri"/>
                <a:sym typeface="Calibri"/>
              </a:rPr>
              <a:t>Histogram</a:t>
            </a:r>
            <a:endParaRPr sz="3600" b="1" cap="none">
              <a:solidFill>
                <a:schemeClr val="dk1"/>
              </a:solidFill>
              <a:latin typeface="Calibri"/>
              <a:ea typeface="Calibri"/>
              <a:cs typeface="Calibri"/>
              <a:sym typeface="Calibri"/>
            </a:endParaRPr>
          </a:p>
        </p:txBody>
      </p:sp>
      <p:sp>
        <p:nvSpPr>
          <p:cNvPr id="148" name="Google Shape;148;p6"/>
          <p:cNvSpPr txBox="1"/>
          <p:nvPr/>
        </p:nvSpPr>
        <p:spPr>
          <a:xfrm>
            <a:off x="487016" y="1574931"/>
            <a:ext cx="10972801" cy="2126864"/>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A histogram is a widely used graph to show the distribution of quantitative (numerical) data.</a:t>
            </a:r>
            <a:endParaRPr/>
          </a:p>
          <a:p>
            <a:pPr marL="285750" marR="0" lvl="0" indent="-285750" algn="just" rtl="0">
              <a:lnSpc>
                <a:spcPct val="150000"/>
              </a:lnSpc>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It shows the frequency of values in the data, usually in intervals of values. </a:t>
            </a:r>
            <a:endParaRPr/>
          </a:p>
          <a:p>
            <a:pPr marL="285750" marR="0" lvl="0" indent="-285750" algn="just" rtl="0">
              <a:lnSpc>
                <a:spcPct val="150000"/>
              </a:lnSpc>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Frequency is the amount of times that value appeared in the data.</a:t>
            </a:r>
            <a:endParaRPr/>
          </a:p>
          <a:p>
            <a:pPr marL="285750" marR="0" lvl="0" indent="-285750" algn="just" rtl="0">
              <a:lnSpc>
                <a:spcPct val="150000"/>
              </a:lnSpc>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Each interval is represented with a bar, placed next to the other intervals on a number line.</a:t>
            </a:r>
            <a:endParaRPr/>
          </a:p>
          <a:p>
            <a:pPr marL="285750" marR="0" lvl="0" indent="-285750" algn="just" rtl="0">
              <a:lnSpc>
                <a:spcPct val="150000"/>
              </a:lnSpc>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The height of the bar represents the frequency of values in that interval.</a:t>
            </a:r>
            <a:endParaRPr/>
          </a:p>
        </p:txBody>
      </p:sp>
      <p:pic>
        <p:nvPicPr>
          <p:cNvPr id="149" name="Google Shape;149;p6" descr="A diagram of a graph&#10;&#10;Description automatically generated"/>
          <p:cNvPicPr preferRelativeResize="0"/>
          <p:nvPr/>
        </p:nvPicPr>
        <p:blipFill rotWithShape="1">
          <a:blip r:embed="rId4">
            <a:alphaModFix/>
          </a:blip>
          <a:srcRect/>
          <a:stretch/>
        </p:blipFill>
        <p:spPr>
          <a:xfrm>
            <a:off x="2699577" y="3797708"/>
            <a:ext cx="5793158" cy="3091229"/>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graphicFrame>
        <p:nvGraphicFramePr>
          <p:cNvPr id="154" name="Google Shape;154;p7"/>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55" name="Google Shape;155;p7"/>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56" name="Google Shape;156;p7"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57" name="Google Shape;157;p7"/>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58" name="Google Shape;158;p7"/>
          <p:cNvSpPr txBox="1"/>
          <p:nvPr/>
        </p:nvSpPr>
        <p:spPr>
          <a:xfrm>
            <a:off x="0" y="873851"/>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a:solidFill>
                  <a:schemeClr val="dk1"/>
                </a:solidFill>
                <a:latin typeface="Calibri"/>
                <a:ea typeface="Calibri"/>
                <a:cs typeface="Calibri"/>
                <a:sym typeface="Calibri"/>
              </a:rPr>
              <a:t>Histogram</a:t>
            </a:r>
            <a:endParaRPr sz="3600" b="1" cap="none">
              <a:solidFill>
                <a:schemeClr val="dk1"/>
              </a:solidFill>
              <a:latin typeface="Calibri"/>
              <a:ea typeface="Calibri"/>
              <a:cs typeface="Calibri"/>
              <a:sym typeface="Calibri"/>
            </a:endParaRPr>
          </a:p>
        </p:txBody>
      </p:sp>
      <p:sp>
        <p:nvSpPr>
          <p:cNvPr id="159" name="Google Shape;159;p7"/>
          <p:cNvSpPr txBox="1"/>
          <p:nvPr/>
        </p:nvSpPr>
        <p:spPr>
          <a:xfrm>
            <a:off x="680884" y="1784300"/>
            <a:ext cx="6120580" cy="50783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dirty="0">
                <a:solidFill>
                  <a:schemeClr val="dk1"/>
                </a:solidFill>
                <a:latin typeface="Calibri"/>
                <a:ea typeface="Calibri"/>
                <a:cs typeface="Calibri"/>
                <a:sym typeface="Calibri"/>
              </a:rPr>
              <a:t>Example</a:t>
            </a:r>
            <a:endParaRPr dirty="0"/>
          </a:p>
          <a:p>
            <a:pPr marL="0" marR="0" lvl="0" indent="0" algn="l" rtl="0">
              <a:spcBef>
                <a:spcPts val="0"/>
              </a:spcBef>
              <a:spcAft>
                <a:spcPts val="0"/>
              </a:spcAft>
              <a:buNone/>
            </a:pPr>
            <a:r>
              <a:rPr lang="en-IN" sz="1800" b="1" dirty="0">
                <a:solidFill>
                  <a:schemeClr val="dk1"/>
                </a:solidFill>
                <a:latin typeface="Courier New"/>
                <a:ea typeface="Courier New"/>
                <a:cs typeface="Courier New"/>
                <a:sym typeface="Courier New"/>
              </a:rPr>
              <a:t>import </a:t>
            </a:r>
            <a:r>
              <a:rPr lang="en-IN" sz="1800" b="1" dirty="0" err="1">
                <a:solidFill>
                  <a:schemeClr val="dk1"/>
                </a:solidFill>
                <a:latin typeface="Courier New"/>
                <a:ea typeface="Courier New"/>
                <a:cs typeface="Courier New"/>
                <a:sym typeface="Courier New"/>
              </a:rPr>
              <a:t>matplotlib.pyplot</a:t>
            </a:r>
            <a:r>
              <a:rPr lang="en-IN" sz="1800" b="1" dirty="0">
                <a:solidFill>
                  <a:schemeClr val="dk1"/>
                </a:solidFill>
                <a:latin typeface="Courier New"/>
                <a:ea typeface="Courier New"/>
                <a:cs typeface="Courier New"/>
                <a:sym typeface="Courier New"/>
              </a:rPr>
              <a:t> as </a:t>
            </a:r>
            <a:r>
              <a:rPr lang="en-IN" sz="1800" b="1" dirty="0" err="1">
                <a:solidFill>
                  <a:schemeClr val="dk1"/>
                </a:solidFill>
                <a:latin typeface="Courier New"/>
                <a:ea typeface="Courier New"/>
                <a:cs typeface="Courier New"/>
                <a:sym typeface="Courier New"/>
              </a:rPr>
              <a:t>plt</a:t>
            </a:r>
            <a:endParaRPr sz="18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IN" sz="1800" b="1" dirty="0">
                <a:solidFill>
                  <a:schemeClr val="dk1"/>
                </a:solidFill>
                <a:latin typeface="Courier New"/>
                <a:ea typeface="Courier New"/>
                <a:cs typeface="Courier New"/>
                <a:sym typeface="Courier New"/>
              </a:rPr>
              <a:t>import </a:t>
            </a:r>
            <a:r>
              <a:rPr lang="en-IN" sz="1800" b="1" dirty="0" err="1">
                <a:solidFill>
                  <a:schemeClr val="dk1"/>
                </a:solidFill>
                <a:latin typeface="Courier New"/>
                <a:ea typeface="Courier New"/>
                <a:cs typeface="Courier New"/>
                <a:sym typeface="Courier New"/>
              </a:rPr>
              <a:t>numpy</a:t>
            </a:r>
            <a:r>
              <a:rPr lang="en-IN" sz="1800" b="1" dirty="0">
                <a:solidFill>
                  <a:schemeClr val="dk1"/>
                </a:solidFill>
                <a:latin typeface="Courier New"/>
                <a:ea typeface="Courier New"/>
                <a:cs typeface="Courier New"/>
                <a:sym typeface="Courier New"/>
              </a:rPr>
              <a:t> as np</a:t>
            </a:r>
            <a:endParaRPr dirty="0"/>
          </a:p>
          <a:p>
            <a:pPr marL="0" marR="0" lvl="0" indent="0" algn="l" rtl="0">
              <a:spcBef>
                <a:spcPts val="0"/>
              </a:spcBef>
              <a:spcAft>
                <a:spcPts val="0"/>
              </a:spcAft>
              <a:buNone/>
            </a:pPr>
            <a:br>
              <a:rPr lang="en-IN" sz="1800" b="1" dirty="0">
                <a:solidFill>
                  <a:srgbClr val="BFBFBF"/>
                </a:solidFill>
                <a:latin typeface="Courier New"/>
                <a:ea typeface="Courier New"/>
                <a:cs typeface="Courier New"/>
                <a:sym typeface="Courier New"/>
              </a:rPr>
            </a:br>
            <a:r>
              <a:rPr lang="en-IN" sz="1800" b="1" dirty="0">
                <a:solidFill>
                  <a:srgbClr val="BFBFBF"/>
                </a:solidFill>
                <a:latin typeface="Courier New"/>
                <a:ea typeface="Courier New"/>
                <a:cs typeface="Courier New"/>
                <a:sym typeface="Courier New"/>
              </a:rPr>
              <a:t># Create sample data</a:t>
            </a:r>
            <a:endParaRPr dirty="0"/>
          </a:p>
          <a:p>
            <a:pPr marL="0" marR="0" lvl="0" indent="0" algn="l" rtl="0">
              <a:spcBef>
                <a:spcPts val="0"/>
              </a:spcBef>
              <a:spcAft>
                <a:spcPts val="0"/>
              </a:spcAft>
              <a:buNone/>
            </a:pPr>
            <a:r>
              <a:rPr lang="en-IN" sz="1800" b="1" dirty="0">
                <a:solidFill>
                  <a:schemeClr val="dk1"/>
                </a:solidFill>
                <a:latin typeface="Courier New"/>
                <a:ea typeface="Courier New"/>
                <a:cs typeface="Courier New"/>
                <a:sym typeface="Courier New"/>
              </a:rPr>
              <a:t>data = </a:t>
            </a:r>
            <a:r>
              <a:rPr lang="en-IN" sz="1800" b="1" dirty="0" err="1">
                <a:solidFill>
                  <a:schemeClr val="dk1"/>
                </a:solidFill>
                <a:latin typeface="Courier New"/>
                <a:ea typeface="Courier New"/>
                <a:cs typeface="Courier New"/>
                <a:sym typeface="Courier New"/>
              </a:rPr>
              <a:t>np.random.randn</a:t>
            </a:r>
            <a:r>
              <a:rPr lang="en-IN" sz="1800" b="1" dirty="0">
                <a:solidFill>
                  <a:schemeClr val="dk1"/>
                </a:solidFill>
                <a:latin typeface="Courier New"/>
                <a:ea typeface="Courier New"/>
                <a:cs typeface="Courier New"/>
                <a:sym typeface="Courier New"/>
              </a:rPr>
              <a:t>(1000)</a:t>
            </a:r>
            <a:endParaRPr dirty="0"/>
          </a:p>
          <a:p>
            <a:pPr marL="0" marR="0" lvl="0" indent="0" algn="l" rtl="0">
              <a:spcBef>
                <a:spcPts val="0"/>
              </a:spcBef>
              <a:spcAft>
                <a:spcPts val="0"/>
              </a:spcAft>
              <a:buNone/>
            </a:pPr>
            <a:br>
              <a:rPr lang="en-IN" sz="1800" b="1" dirty="0">
                <a:solidFill>
                  <a:srgbClr val="BFBFBF"/>
                </a:solidFill>
                <a:latin typeface="Courier New"/>
                <a:ea typeface="Courier New"/>
                <a:cs typeface="Courier New"/>
                <a:sym typeface="Courier New"/>
              </a:rPr>
            </a:br>
            <a:r>
              <a:rPr lang="en-IN" sz="1800" b="1" dirty="0">
                <a:solidFill>
                  <a:srgbClr val="BFBFBF"/>
                </a:solidFill>
                <a:latin typeface="Courier New"/>
                <a:ea typeface="Courier New"/>
                <a:cs typeface="Courier New"/>
                <a:sym typeface="Courier New"/>
              </a:rPr>
              <a:t># Create a histogram</a:t>
            </a:r>
            <a:endParaRPr dirty="0"/>
          </a:p>
          <a:p>
            <a:pPr marL="0" marR="0" lvl="0" indent="0" algn="l" rtl="0">
              <a:spcBef>
                <a:spcPts val="0"/>
              </a:spcBef>
              <a:spcAft>
                <a:spcPts val="0"/>
              </a:spcAft>
              <a:buNone/>
            </a:pPr>
            <a:r>
              <a:rPr lang="en-IN" sz="1800" b="1" dirty="0" err="1">
                <a:solidFill>
                  <a:schemeClr val="dk1"/>
                </a:solidFill>
                <a:latin typeface="Courier New"/>
                <a:ea typeface="Courier New"/>
                <a:cs typeface="Courier New"/>
                <a:sym typeface="Courier New"/>
              </a:rPr>
              <a:t>plt.hist</a:t>
            </a:r>
            <a:r>
              <a:rPr lang="en-IN" sz="1800" b="1" dirty="0">
                <a:solidFill>
                  <a:schemeClr val="dk1"/>
                </a:solidFill>
                <a:latin typeface="Courier New"/>
                <a:ea typeface="Courier New"/>
                <a:cs typeface="Courier New"/>
                <a:sym typeface="Courier New"/>
              </a:rPr>
              <a:t>(data, density=True)</a:t>
            </a:r>
            <a:endParaRPr dirty="0"/>
          </a:p>
          <a:p>
            <a:pPr marL="0" marR="0" lvl="0" indent="0" algn="l" rtl="0">
              <a:spcBef>
                <a:spcPts val="0"/>
              </a:spcBef>
              <a:spcAft>
                <a:spcPts val="0"/>
              </a:spcAft>
              <a:buNone/>
            </a:pPr>
            <a:br>
              <a:rPr lang="en-IN" sz="1800" b="1" dirty="0">
                <a:solidFill>
                  <a:srgbClr val="BFBFBF"/>
                </a:solidFill>
                <a:latin typeface="Courier New"/>
                <a:ea typeface="Courier New"/>
                <a:cs typeface="Courier New"/>
                <a:sym typeface="Courier New"/>
              </a:rPr>
            </a:br>
            <a:r>
              <a:rPr lang="en-IN" sz="1800" b="1" dirty="0">
                <a:solidFill>
                  <a:srgbClr val="BFBFBF"/>
                </a:solidFill>
                <a:latin typeface="Courier New"/>
                <a:ea typeface="Courier New"/>
                <a:cs typeface="Courier New"/>
                <a:sym typeface="Courier New"/>
              </a:rPr>
              <a:t># Add a title and labels</a:t>
            </a:r>
            <a:endParaRPr dirty="0"/>
          </a:p>
          <a:p>
            <a:pPr marL="0" marR="0" lvl="0" indent="0" algn="l" rtl="0">
              <a:spcBef>
                <a:spcPts val="0"/>
              </a:spcBef>
              <a:spcAft>
                <a:spcPts val="0"/>
              </a:spcAft>
              <a:buNone/>
            </a:pPr>
            <a:r>
              <a:rPr lang="en-IN" sz="1800" b="1" dirty="0" err="1">
                <a:solidFill>
                  <a:schemeClr val="dk1"/>
                </a:solidFill>
                <a:latin typeface="Courier New"/>
                <a:ea typeface="Courier New"/>
                <a:cs typeface="Courier New"/>
                <a:sym typeface="Courier New"/>
              </a:rPr>
              <a:t>plt.title</a:t>
            </a:r>
            <a:r>
              <a:rPr lang="en-IN" sz="1800" b="1" dirty="0">
                <a:solidFill>
                  <a:schemeClr val="dk1"/>
                </a:solidFill>
                <a:latin typeface="Courier New"/>
                <a:ea typeface="Courier New"/>
                <a:cs typeface="Courier New"/>
                <a:sym typeface="Courier New"/>
              </a:rPr>
              <a:t>('Histogram Example')</a:t>
            </a:r>
            <a:endParaRPr dirty="0"/>
          </a:p>
          <a:p>
            <a:pPr marL="0" marR="0" lvl="0" indent="0" algn="l" rtl="0">
              <a:spcBef>
                <a:spcPts val="0"/>
              </a:spcBef>
              <a:spcAft>
                <a:spcPts val="0"/>
              </a:spcAft>
              <a:buNone/>
            </a:pPr>
            <a:r>
              <a:rPr lang="en-IN" sz="1800" b="1" dirty="0" err="1">
                <a:solidFill>
                  <a:schemeClr val="dk1"/>
                </a:solidFill>
                <a:latin typeface="Courier New"/>
                <a:ea typeface="Courier New"/>
                <a:cs typeface="Courier New"/>
                <a:sym typeface="Courier New"/>
              </a:rPr>
              <a:t>plt.xlabel</a:t>
            </a:r>
            <a:r>
              <a:rPr lang="en-IN" sz="1800" b="1" dirty="0">
                <a:solidFill>
                  <a:schemeClr val="dk1"/>
                </a:solidFill>
                <a:latin typeface="Courier New"/>
                <a:ea typeface="Courier New"/>
                <a:cs typeface="Courier New"/>
                <a:sym typeface="Courier New"/>
              </a:rPr>
              <a:t>('Value')</a:t>
            </a:r>
            <a:endParaRPr dirty="0"/>
          </a:p>
          <a:p>
            <a:pPr marL="0" marR="0" lvl="0" indent="0" algn="l" rtl="0">
              <a:spcBef>
                <a:spcPts val="0"/>
              </a:spcBef>
              <a:spcAft>
                <a:spcPts val="0"/>
              </a:spcAft>
              <a:buNone/>
            </a:pPr>
            <a:r>
              <a:rPr lang="en-IN" sz="1800" b="1" dirty="0" err="1">
                <a:solidFill>
                  <a:schemeClr val="dk1"/>
                </a:solidFill>
                <a:latin typeface="Courier New"/>
                <a:ea typeface="Courier New"/>
                <a:cs typeface="Courier New"/>
                <a:sym typeface="Courier New"/>
              </a:rPr>
              <a:t>plt.ylabel</a:t>
            </a:r>
            <a:r>
              <a:rPr lang="en-IN" sz="1800" b="1" dirty="0">
                <a:solidFill>
                  <a:schemeClr val="dk1"/>
                </a:solidFill>
                <a:latin typeface="Courier New"/>
                <a:ea typeface="Courier New"/>
                <a:cs typeface="Courier New"/>
                <a:sym typeface="Courier New"/>
              </a:rPr>
              <a:t>('Density')</a:t>
            </a:r>
            <a:endParaRPr dirty="0"/>
          </a:p>
          <a:p>
            <a:pPr marL="0" marR="0" lvl="0" indent="0" algn="l" rtl="0">
              <a:spcBef>
                <a:spcPts val="0"/>
              </a:spcBef>
              <a:spcAft>
                <a:spcPts val="0"/>
              </a:spcAft>
              <a:buNone/>
            </a:pPr>
            <a:br>
              <a:rPr lang="en-IN" sz="1800" b="1" dirty="0">
                <a:solidFill>
                  <a:srgbClr val="BFBFBF"/>
                </a:solidFill>
                <a:latin typeface="Courier New"/>
                <a:ea typeface="Courier New"/>
                <a:cs typeface="Courier New"/>
                <a:sym typeface="Courier New"/>
              </a:rPr>
            </a:br>
            <a:r>
              <a:rPr lang="en-IN" sz="1800" b="1" dirty="0">
                <a:solidFill>
                  <a:srgbClr val="BFBFBF"/>
                </a:solidFill>
                <a:latin typeface="Courier New"/>
                <a:ea typeface="Courier New"/>
                <a:cs typeface="Courier New"/>
                <a:sym typeface="Courier New"/>
              </a:rPr>
              <a:t># Show the plot</a:t>
            </a:r>
            <a:endParaRPr dirty="0"/>
          </a:p>
          <a:p>
            <a:pPr marL="0" marR="0" lvl="0" indent="0" algn="l" rtl="0">
              <a:spcBef>
                <a:spcPts val="0"/>
              </a:spcBef>
              <a:spcAft>
                <a:spcPts val="0"/>
              </a:spcAft>
              <a:buNone/>
            </a:pPr>
            <a:r>
              <a:rPr lang="en-IN" sz="1800" b="1" dirty="0" err="1">
                <a:solidFill>
                  <a:schemeClr val="dk1"/>
                </a:solidFill>
                <a:latin typeface="Courier New"/>
                <a:ea typeface="Courier New"/>
                <a:cs typeface="Courier New"/>
                <a:sym typeface="Courier New"/>
              </a:rPr>
              <a:t>plt.show</a:t>
            </a:r>
            <a:r>
              <a:rPr lang="en-IN" sz="1800" b="1" dirty="0">
                <a:solidFill>
                  <a:schemeClr val="dk1"/>
                </a:solidFill>
                <a:latin typeface="Courier New"/>
                <a:ea typeface="Courier New"/>
                <a:cs typeface="Courier New"/>
                <a:sym typeface="Courier New"/>
              </a:rPr>
              <a:t>()</a:t>
            </a:r>
            <a:endParaRPr dirty="0"/>
          </a:p>
          <a:p>
            <a:pPr marL="0" marR="0" lvl="0" indent="0" algn="l" rtl="0">
              <a:spcBef>
                <a:spcPts val="0"/>
              </a:spcBef>
              <a:spcAft>
                <a:spcPts val="0"/>
              </a:spcAft>
              <a:buNone/>
            </a:pPr>
            <a:endParaRPr sz="1800" b="1" dirty="0">
              <a:solidFill>
                <a:schemeClr val="dk1"/>
              </a:solidFill>
              <a:latin typeface="Courier New"/>
              <a:ea typeface="Courier New"/>
              <a:cs typeface="Courier New"/>
              <a:sym typeface="Courier New"/>
            </a:endParaRPr>
          </a:p>
        </p:txBody>
      </p:sp>
      <p:sp>
        <p:nvSpPr>
          <p:cNvPr id="160" name="Google Shape;160;p7"/>
          <p:cNvSpPr txBox="1"/>
          <p:nvPr/>
        </p:nvSpPr>
        <p:spPr>
          <a:xfrm>
            <a:off x="6565491" y="1470128"/>
            <a:ext cx="612058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IN" sz="1800" b="1">
                <a:solidFill>
                  <a:schemeClr val="dk1"/>
                </a:solidFill>
                <a:latin typeface="Calibri"/>
                <a:ea typeface="Calibri"/>
                <a:cs typeface="Calibri"/>
                <a:sym typeface="Calibri"/>
              </a:rPr>
              <a:t>Output</a:t>
            </a:r>
            <a:endParaRPr/>
          </a:p>
        </p:txBody>
      </p:sp>
      <p:pic>
        <p:nvPicPr>
          <p:cNvPr id="161" name="Google Shape;161;p7"/>
          <p:cNvPicPr preferRelativeResize="0"/>
          <p:nvPr/>
        </p:nvPicPr>
        <p:blipFill rotWithShape="1">
          <a:blip r:embed="rId4">
            <a:alphaModFix/>
          </a:blip>
          <a:srcRect/>
          <a:stretch/>
        </p:blipFill>
        <p:spPr>
          <a:xfrm>
            <a:off x="6440129" y="2156518"/>
            <a:ext cx="5486400" cy="4333875"/>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1</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4" name="Rectangle 13">
            <a:extLst>
              <a:ext uri="{FF2B5EF4-FFF2-40B4-BE49-F238E27FC236}">
                <a16:creationId xmlns:a16="http://schemas.microsoft.com/office/drawing/2014/main" id="{6EB9A5F7-B7D7-E008-8229-AD564931BCC6}"/>
              </a:ext>
            </a:extLst>
          </p:cNvPr>
          <p:cNvSpPr/>
          <p:nvPr/>
        </p:nvSpPr>
        <p:spPr>
          <a:xfrm>
            <a:off x="5213276" y="2967335"/>
            <a:ext cx="1765612" cy="646331"/>
          </a:xfrm>
          <a:prstGeom prst="rect">
            <a:avLst/>
          </a:prstGeom>
          <a:noFill/>
        </p:spPr>
        <p:txBody>
          <a:bodyPr wrap="none" lIns="91440" tIns="45720" rIns="91440" bIns="45720">
            <a:spAutoFit/>
          </a:bodyPr>
          <a:lstStyle/>
          <a:p>
            <a:pPr algn="ctr"/>
            <a:r>
              <a:rPr lang="en-US" sz="3600" b="1" cap="none" spc="0" dirty="0">
                <a:ln w="0"/>
                <a:solidFill>
                  <a:schemeClr val="tx1"/>
                </a:solidFill>
                <a:latin typeface="Calibri" panose="020F0502020204030204" pitchFamily="34" charset="0"/>
                <a:ea typeface="Calibri" panose="020F0502020204030204" pitchFamily="34" charset="0"/>
                <a:cs typeface="Calibri" panose="020F0502020204030204" pitchFamily="34" charset="0"/>
              </a:rPr>
              <a:t>Box Plot</a:t>
            </a:r>
            <a:endParaRPr lang="en-GB" sz="239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658682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2</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Boxplot</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1295868"/>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US"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 box plot is a good way to show many important features of quantitative (numerical) data.</a:t>
            </a:r>
          </a:p>
          <a:p>
            <a:pPr marL="285750" indent="-285750" algn="l">
              <a:lnSpc>
                <a:spcPct val="150000"/>
              </a:lnSpc>
              <a:buFont typeface="Arial" panose="020B0604020202020204" pitchFamily="34" charset="0"/>
              <a:buChar char="•"/>
            </a:pPr>
            <a:r>
              <a:rPr lang="en-US"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It shows the median of the data. This is the middle value of the data and one type of an average value.</a:t>
            </a:r>
          </a:p>
          <a:p>
            <a:pPr marL="285750" indent="-285750" algn="l">
              <a:lnSpc>
                <a:spcPct val="150000"/>
              </a:lnSpc>
              <a:buFont typeface="Arial" panose="020B0604020202020204" pitchFamily="34" charset="0"/>
              <a:buChar char="•"/>
            </a:pPr>
            <a:r>
              <a:rPr lang="en-US"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It also shows the range and the quartiles of the data. This tells us something about how spread out the data is.</a:t>
            </a:r>
          </a:p>
        </p:txBody>
      </p:sp>
      <p:pic>
        <p:nvPicPr>
          <p:cNvPr id="6" name="Picture 5" descr="A chart with different colored dots&#10;&#10;Description automatically generated">
            <a:extLst>
              <a:ext uri="{FF2B5EF4-FFF2-40B4-BE49-F238E27FC236}">
                <a16:creationId xmlns:a16="http://schemas.microsoft.com/office/drawing/2014/main" id="{4FA96D4D-E9C1-84A7-B071-9BDF68AEE269}"/>
              </a:ext>
            </a:extLst>
          </p:cNvPr>
          <p:cNvPicPr>
            <a:picLocks noChangeAspect="1"/>
          </p:cNvPicPr>
          <p:nvPr/>
        </p:nvPicPr>
        <p:blipFill>
          <a:blip r:embed="rId3"/>
          <a:stretch>
            <a:fillRect/>
          </a:stretch>
        </p:blipFill>
        <p:spPr>
          <a:xfrm>
            <a:off x="3767291" y="3017799"/>
            <a:ext cx="4265664" cy="3314093"/>
          </a:xfrm>
          <a:prstGeom prst="rect">
            <a:avLst/>
          </a:prstGeom>
        </p:spPr>
      </p:pic>
    </p:spTree>
    <p:extLst>
      <p:ext uri="{BB962C8B-B14F-4D97-AF65-F5344CB8AC3E}">
        <p14:creationId xmlns:p14="http://schemas.microsoft.com/office/powerpoint/2010/main" val="373080932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2</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83683"/>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Boxplot</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1E1325FF-B551-6EDC-7317-A0D52C7D26D3}"/>
              </a:ext>
            </a:extLst>
          </p:cNvPr>
          <p:cNvSpPr txBox="1"/>
          <p:nvPr/>
        </p:nvSpPr>
        <p:spPr>
          <a:xfrm>
            <a:off x="651388" y="1739554"/>
            <a:ext cx="6120580" cy="4801314"/>
          </a:xfrm>
          <a:prstGeom prst="rect">
            <a:avLst/>
          </a:prstGeom>
          <a:noFill/>
        </p:spPr>
        <p:txBody>
          <a:bodyPr wrap="square">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Example</a:t>
            </a:r>
          </a:p>
          <a:p>
            <a:r>
              <a:rPr lang="en-IN" b="1" dirty="0">
                <a:latin typeface="Courier New" panose="02070309020205020404" pitchFamily="49" charset="0"/>
                <a:ea typeface="Calibri" panose="020F0502020204030204" pitchFamily="34" charset="0"/>
                <a:cs typeface="Courier New" panose="02070309020205020404" pitchFamily="49" charset="0"/>
              </a:rPr>
              <a:t>import seaborn as </a:t>
            </a:r>
            <a:r>
              <a:rPr lang="en-IN" b="1" dirty="0" err="1">
                <a:latin typeface="Courier New" panose="02070309020205020404" pitchFamily="49" charset="0"/>
                <a:ea typeface="Calibri" panose="020F0502020204030204" pitchFamily="34" charset="0"/>
                <a:cs typeface="Courier New" panose="02070309020205020404" pitchFamily="49" charset="0"/>
              </a:rPr>
              <a:t>sns</a:t>
            </a:r>
            <a:endParaRPr lang="en-IN" b="1" dirty="0">
              <a:latin typeface="Courier New" panose="02070309020205020404" pitchFamily="49" charset="0"/>
              <a:ea typeface="Calibri" panose="020F0502020204030204" pitchFamily="34" charset="0"/>
              <a:cs typeface="Courier New" panose="02070309020205020404" pitchFamily="49" charset="0"/>
            </a:endParaRPr>
          </a:p>
          <a:p>
            <a:r>
              <a:rPr lang="en-IN" b="1" dirty="0">
                <a:latin typeface="Courier New" panose="02070309020205020404" pitchFamily="49" charset="0"/>
                <a:ea typeface="Calibri" panose="020F0502020204030204" pitchFamily="34" charset="0"/>
                <a:cs typeface="Courier New" panose="02070309020205020404" pitchFamily="49" charset="0"/>
              </a:rPr>
              <a:t>import </a:t>
            </a:r>
            <a:r>
              <a:rPr lang="en-IN" b="1" dirty="0" err="1">
                <a:latin typeface="Courier New" panose="02070309020205020404" pitchFamily="49" charset="0"/>
                <a:ea typeface="Calibri" panose="020F0502020204030204" pitchFamily="34" charset="0"/>
                <a:cs typeface="Courier New" panose="02070309020205020404" pitchFamily="49" charset="0"/>
              </a:rPr>
              <a:t>matplotlib.pyplot</a:t>
            </a:r>
            <a:r>
              <a:rPr lang="en-IN" b="1" dirty="0">
                <a:latin typeface="Courier New" panose="02070309020205020404" pitchFamily="49" charset="0"/>
                <a:ea typeface="Calibri" panose="020F0502020204030204" pitchFamily="34" charset="0"/>
                <a:cs typeface="Courier New" panose="02070309020205020404" pitchFamily="49" charset="0"/>
              </a:rPr>
              <a:t> as </a:t>
            </a:r>
            <a:r>
              <a:rPr lang="en-IN" b="1" dirty="0" err="1">
                <a:latin typeface="Courier New" panose="02070309020205020404" pitchFamily="49" charset="0"/>
                <a:ea typeface="Calibri" panose="020F0502020204030204" pitchFamily="34" charset="0"/>
                <a:cs typeface="Courier New" panose="02070309020205020404" pitchFamily="49" charset="0"/>
              </a:rPr>
              <a:t>plt</a:t>
            </a:r>
            <a:endParaRPr lang="en-IN" b="1" dirty="0">
              <a:latin typeface="Courier New" panose="02070309020205020404" pitchFamily="49" charset="0"/>
              <a:ea typeface="Calibri" panose="020F0502020204030204" pitchFamily="34" charset="0"/>
              <a:cs typeface="Courier New" panose="02070309020205020404" pitchFamily="49" charset="0"/>
            </a:endParaRPr>
          </a:p>
          <a:p>
            <a:r>
              <a:rPr lang="en-IN" b="1" dirty="0">
                <a:solidFill>
                  <a:schemeClr val="bg1">
                    <a:lumMod val="75000"/>
                  </a:schemeClr>
                </a:solidFill>
                <a:latin typeface="Courier New" panose="02070309020205020404" pitchFamily="49" charset="0"/>
                <a:ea typeface="Calibri" panose="020F0502020204030204" pitchFamily="34" charset="0"/>
                <a:cs typeface="Courier New" panose="02070309020205020404" pitchFamily="49" charset="0"/>
              </a:rPr>
              <a:t># Sample data</a:t>
            </a:r>
          </a:p>
          <a:p>
            <a:r>
              <a:rPr lang="en-IN" b="1" dirty="0">
                <a:latin typeface="Courier New" panose="02070309020205020404" pitchFamily="49" charset="0"/>
                <a:ea typeface="Calibri" panose="020F0502020204030204" pitchFamily="34" charset="0"/>
                <a:cs typeface="Courier New" panose="02070309020205020404" pitchFamily="49" charset="0"/>
              </a:rPr>
              <a:t>data = {</a:t>
            </a:r>
          </a:p>
          <a:p>
            <a:r>
              <a:rPr lang="en-IN" b="1" dirty="0">
                <a:latin typeface="Courier New" panose="02070309020205020404" pitchFamily="49" charset="0"/>
                <a:ea typeface="Calibri" panose="020F0502020204030204" pitchFamily="34" charset="0"/>
                <a:cs typeface="Courier New" panose="02070309020205020404" pitchFamily="49" charset="0"/>
              </a:rPr>
              <a:t>    "A": [1, 2, 3, 4, 5],</a:t>
            </a:r>
          </a:p>
          <a:p>
            <a:r>
              <a:rPr lang="en-IN" b="1" dirty="0">
                <a:latin typeface="Courier New" panose="02070309020205020404" pitchFamily="49" charset="0"/>
                <a:ea typeface="Calibri" panose="020F0502020204030204" pitchFamily="34" charset="0"/>
                <a:cs typeface="Courier New" panose="02070309020205020404" pitchFamily="49" charset="0"/>
              </a:rPr>
              <a:t>    "B": [2, 4, 6, 8, 10],</a:t>
            </a:r>
          </a:p>
          <a:p>
            <a:r>
              <a:rPr lang="en-IN" b="1" dirty="0">
                <a:latin typeface="Courier New" panose="02070309020205020404" pitchFamily="49" charset="0"/>
                <a:ea typeface="Calibri" panose="020F0502020204030204" pitchFamily="34" charset="0"/>
                <a:cs typeface="Courier New" panose="02070309020205020404" pitchFamily="49" charset="0"/>
              </a:rPr>
              <a:t>    "C": [3, 6, 9, 12, 15]</a:t>
            </a:r>
          </a:p>
          <a:p>
            <a:r>
              <a:rPr lang="en-IN" b="1" dirty="0">
                <a:latin typeface="Courier New" panose="02070309020205020404" pitchFamily="49" charset="0"/>
                <a:ea typeface="Calibri" panose="020F0502020204030204" pitchFamily="34" charset="0"/>
                <a:cs typeface="Courier New" panose="02070309020205020404" pitchFamily="49" charset="0"/>
              </a:rPr>
              <a:t>}</a:t>
            </a:r>
          </a:p>
          <a:p>
            <a:r>
              <a:rPr lang="en-IN" b="1" dirty="0">
                <a:solidFill>
                  <a:schemeClr val="bg1">
                    <a:lumMod val="75000"/>
                  </a:schemeClr>
                </a:solidFill>
                <a:latin typeface="Courier New" panose="02070309020205020404" pitchFamily="49" charset="0"/>
                <a:ea typeface="Calibri" panose="020F0502020204030204" pitchFamily="34" charset="0"/>
                <a:cs typeface="Courier New" panose="02070309020205020404" pitchFamily="49" charset="0"/>
              </a:rPr>
              <a:t># Create a box plot</a:t>
            </a:r>
          </a:p>
          <a:p>
            <a:r>
              <a:rPr lang="en-IN" b="1" dirty="0" err="1">
                <a:latin typeface="Courier New" panose="02070309020205020404" pitchFamily="49" charset="0"/>
                <a:ea typeface="Calibri" panose="020F0502020204030204" pitchFamily="34" charset="0"/>
                <a:cs typeface="Courier New" panose="02070309020205020404" pitchFamily="49" charset="0"/>
              </a:rPr>
              <a:t>sns.boxplot</a:t>
            </a:r>
            <a:r>
              <a:rPr lang="en-IN" b="1" dirty="0">
                <a:latin typeface="Courier New" panose="02070309020205020404" pitchFamily="49" charset="0"/>
                <a:ea typeface="Calibri" panose="020F0502020204030204" pitchFamily="34" charset="0"/>
                <a:cs typeface="Courier New" panose="02070309020205020404" pitchFamily="49" charset="0"/>
              </a:rPr>
              <a:t>(data=data)</a:t>
            </a:r>
          </a:p>
          <a:p>
            <a:r>
              <a:rPr lang="en-IN" b="1" dirty="0">
                <a:solidFill>
                  <a:schemeClr val="bg1">
                    <a:lumMod val="75000"/>
                  </a:schemeClr>
                </a:solidFill>
                <a:latin typeface="Courier New" panose="02070309020205020404" pitchFamily="49" charset="0"/>
                <a:ea typeface="Calibri" panose="020F0502020204030204" pitchFamily="34" charset="0"/>
                <a:cs typeface="Courier New" panose="02070309020205020404" pitchFamily="49" charset="0"/>
              </a:rPr>
              <a:t># Add a title and labels</a:t>
            </a:r>
          </a:p>
          <a:p>
            <a:r>
              <a:rPr lang="en-IN" b="1" dirty="0" err="1">
                <a:latin typeface="Courier New" panose="02070309020205020404" pitchFamily="49" charset="0"/>
                <a:ea typeface="Calibri" panose="020F0502020204030204" pitchFamily="34" charset="0"/>
                <a:cs typeface="Courier New" panose="02070309020205020404" pitchFamily="49" charset="0"/>
              </a:rPr>
              <a:t>plt.title</a:t>
            </a:r>
            <a:r>
              <a:rPr lang="en-IN" b="1" dirty="0">
                <a:latin typeface="Courier New" panose="02070309020205020404" pitchFamily="49" charset="0"/>
                <a:ea typeface="Calibri" panose="020F0502020204030204" pitchFamily="34" charset="0"/>
                <a:cs typeface="Courier New" panose="02070309020205020404" pitchFamily="49" charset="0"/>
              </a:rPr>
              <a:t>("Box Plot Example")</a:t>
            </a:r>
          </a:p>
          <a:p>
            <a:r>
              <a:rPr lang="en-IN" b="1" dirty="0" err="1">
                <a:latin typeface="Courier New" panose="02070309020205020404" pitchFamily="49" charset="0"/>
                <a:ea typeface="Calibri" panose="020F0502020204030204" pitchFamily="34" charset="0"/>
                <a:cs typeface="Courier New" panose="02070309020205020404" pitchFamily="49" charset="0"/>
              </a:rPr>
              <a:t>plt.xlabel</a:t>
            </a:r>
            <a:r>
              <a:rPr lang="en-IN" b="1" dirty="0">
                <a:latin typeface="Courier New" panose="02070309020205020404" pitchFamily="49" charset="0"/>
                <a:ea typeface="Calibri" panose="020F0502020204030204" pitchFamily="34" charset="0"/>
                <a:cs typeface="Courier New" panose="02070309020205020404" pitchFamily="49" charset="0"/>
              </a:rPr>
              <a:t>("Columns")</a:t>
            </a:r>
          </a:p>
          <a:p>
            <a:r>
              <a:rPr lang="en-IN" b="1" dirty="0" err="1">
                <a:latin typeface="Courier New" panose="02070309020205020404" pitchFamily="49" charset="0"/>
                <a:ea typeface="Calibri" panose="020F0502020204030204" pitchFamily="34" charset="0"/>
                <a:cs typeface="Courier New" panose="02070309020205020404" pitchFamily="49" charset="0"/>
              </a:rPr>
              <a:t>plt.ylabel</a:t>
            </a:r>
            <a:r>
              <a:rPr lang="en-IN" b="1" dirty="0">
                <a:latin typeface="Courier New" panose="02070309020205020404" pitchFamily="49" charset="0"/>
                <a:ea typeface="Calibri" panose="020F0502020204030204" pitchFamily="34" charset="0"/>
                <a:cs typeface="Courier New" panose="02070309020205020404" pitchFamily="49" charset="0"/>
              </a:rPr>
              <a:t>("Values")</a:t>
            </a:r>
          </a:p>
          <a:p>
            <a:r>
              <a:rPr lang="en-IN" b="1" dirty="0">
                <a:solidFill>
                  <a:schemeClr val="bg1">
                    <a:lumMod val="75000"/>
                  </a:schemeClr>
                </a:solidFill>
                <a:latin typeface="Courier New" panose="02070309020205020404" pitchFamily="49" charset="0"/>
                <a:ea typeface="Calibri" panose="020F0502020204030204" pitchFamily="34" charset="0"/>
                <a:cs typeface="Courier New" panose="02070309020205020404" pitchFamily="49" charset="0"/>
              </a:rPr>
              <a:t># Show the plot</a:t>
            </a:r>
          </a:p>
          <a:p>
            <a:r>
              <a:rPr lang="en-IN" b="1" dirty="0" err="1">
                <a:latin typeface="Courier New" panose="02070309020205020404" pitchFamily="49" charset="0"/>
                <a:ea typeface="Calibri" panose="020F0502020204030204" pitchFamily="34" charset="0"/>
                <a:cs typeface="Courier New" panose="02070309020205020404" pitchFamily="49" charset="0"/>
              </a:rPr>
              <a:t>plt.show</a:t>
            </a:r>
            <a:r>
              <a:rPr lang="en-IN" b="1" dirty="0">
                <a:latin typeface="Courier New" panose="02070309020205020404" pitchFamily="49" charset="0"/>
                <a:ea typeface="Calibri" panose="020F0502020204030204" pitchFamily="34" charset="0"/>
                <a:cs typeface="Courier New" panose="02070309020205020404" pitchFamily="49" charset="0"/>
              </a:rPr>
              <a:t>()</a:t>
            </a:r>
          </a:p>
        </p:txBody>
      </p:sp>
      <p:sp>
        <p:nvSpPr>
          <p:cNvPr id="6" name="TextBox 5">
            <a:extLst>
              <a:ext uri="{FF2B5EF4-FFF2-40B4-BE49-F238E27FC236}">
                <a16:creationId xmlns:a16="http://schemas.microsoft.com/office/drawing/2014/main" id="{9D03BDF5-9F02-7C3B-5984-B167176A0349}"/>
              </a:ext>
            </a:extLst>
          </p:cNvPr>
          <p:cNvSpPr txBox="1"/>
          <p:nvPr/>
        </p:nvSpPr>
        <p:spPr>
          <a:xfrm>
            <a:off x="6653981" y="1555266"/>
            <a:ext cx="6120580" cy="369332"/>
          </a:xfrm>
          <a:prstGeom prst="rect">
            <a:avLst/>
          </a:prstGeom>
          <a:noFill/>
        </p:spPr>
        <p:txBody>
          <a:bodyPr wrap="square">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Output</a:t>
            </a:r>
          </a:p>
        </p:txBody>
      </p:sp>
      <p:pic>
        <p:nvPicPr>
          <p:cNvPr id="7" name="Picture 6">
            <a:extLst>
              <a:ext uri="{FF2B5EF4-FFF2-40B4-BE49-F238E27FC236}">
                <a16:creationId xmlns:a16="http://schemas.microsoft.com/office/drawing/2014/main" id="{AACC624F-CDAC-3E0E-91F1-139E8B589D34}"/>
              </a:ext>
            </a:extLst>
          </p:cNvPr>
          <p:cNvPicPr>
            <a:picLocks noChangeAspect="1"/>
          </p:cNvPicPr>
          <p:nvPr/>
        </p:nvPicPr>
        <p:blipFill>
          <a:blip r:embed="rId3"/>
          <a:stretch>
            <a:fillRect/>
          </a:stretch>
        </p:blipFill>
        <p:spPr>
          <a:xfrm>
            <a:off x="6378985" y="2052873"/>
            <a:ext cx="5353050" cy="4333875"/>
          </a:xfrm>
          <a:prstGeom prst="rect">
            <a:avLst/>
          </a:prstGeom>
        </p:spPr>
      </p:pic>
    </p:spTree>
    <p:extLst>
      <p:ext uri="{BB962C8B-B14F-4D97-AF65-F5344CB8AC3E}">
        <p14:creationId xmlns:p14="http://schemas.microsoft.com/office/powerpoint/2010/main" val="334280308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2</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Boxplot</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5035353"/>
          </a:xfrm>
          <a:prstGeom prst="rect">
            <a:avLst/>
          </a:prstGeom>
          <a:noFill/>
        </p:spPr>
        <p:txBody>
          <a:bodyPr wrap="square">
            <a:spAutoFit/>
          </a:bodyPr>
          <a:lstStyle/>
          <a:p>
            <a:pPr marL="285750" indent="-285750" algn="just" fontAlgn="base">
              <a:lnSpc>
                <a:spcPct val="150000"/>
              </a:lnSpc>
              <a:buFont typeface="Arial" panose="020B0604020202020204" pitchFamily="34" charset="0"/>
              <a:buChar char="•"/>
            </a:pPr>
            <a:r>
              <a:rPr lang="en-US" b="1"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Box Plot</a:t>
            </a:r>
            <a:r>
              <a:rPr lang="en-US" b="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is the visual representation of the depicting groups of numerical data through their quartiles. </a:t>
            </a:r>
          </a:p>
          <a:p>
            <a:pPr marL="285750" indent="-285750" algn="just" fontAlgn="base">
              <a:lnSpc>
                <a:spcPct val="150000"/>
              </a:lnSpc>
              <a:buFont typeface="Arial" panose="020B0604020202020204" pitchFamily="34" charset="0"/>
              <a:buChar char="•"/>
            </a:pP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Boxplot is also used for detect the outlier in data set. </a:t>
            </a:r>
          </a:p>
          <a:p>
            <a:pPr marL="285750" indent="-285750" algn="just" fontAlgn="base">
              <a:lnSpc>
                <a:spcPct val="150000"/>
              </a:lnSpc>
              <a:buFont typeface="Arial" panose="020B0604020202020204" pitchFamily="34" charset="0"/>
              <a:buChar char="•"/>
            </a:pP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It captures the summary of the data efficiently with a simple box and whiskers and allows us to compare easily across groups. </a:t>
            </a:r>
          </a:p>
          <a:p>
            <a:pPr marL="285750" indent="-285750" algn="just" fontAlgn="base">
              <a:lnSpc>
                <a:spcPct val="150000"/>
              </a:lnSpc>
              <a:buFont typeface="Arial" panose="020B0604020202020204" pitchFamily="34" charset="0"/>
              <a:buChar char="•"/>
            </a:pP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Boxplot summarizes a sample data using 25th, 50th and 75th percentiles. These percentiles are also known as the lower quartile, median and upper quartile.</a:t>
            </a:r>
          </a:p>
          <a:p>
            <a:pPr marL="285750" indent="-285750" algn="l" fontAlgn="base">
              <a:lnSpc>
                <a:spcPct val="150000"/>
              </a:lnSpc>
              <a:buFont typeface="Arial" panose="020B0604020202020204" pitchFamily="34" charset="0"/>
              <a:buChar char="•"/>
            </a:pP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A box plot consist of 5 things.</a:t>
            </a:r>
          </a:p>
          <a:p>
            <a:pPr lvl="2" fontAlgn="base">
              <a:lnSpc>
                <a:spcPct val="150000"/>
              </a:lnSpc>
              <a:buFont typeface="Arial" panose="020B0604020202020204" pitchFamily="34" charset="0"/>
              <a:buChar char="•"/>
            </a:pP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Minimum</a:t>
            </a:r>
          </a:p>
          <a:p>
            <a:pPr lvl="2" fontAlgn="base">
              <a:lnSpc>
                <a:spcPct val="150000"/>
              </a:lnSpc>
              <a:buFont typeface="Arial" panose="020B0604020202020204" pitchFamily="34" charset="0"/>
              <a:buChar char="•"/>
            </a:pP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First Quartile or 25%</a:t>
            </a:r>
          </a:p>
          <a:p>
            <a:pPr lvl="2" fontAlgn="base">
              <a:lnSpc>
                <a:spcPct val="150000"/>
              </a:lnSpc>
              <a:buFont typeface="Arial" panose="020B0604020202020204" pitchFamily="34" charset="0"/>
              <a:buChar char="•"/>
            </a:pP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Median (Second Quartile) or 50%</a:t>
            </a:r>
          </a:p>
          <a:p>
            <a:pPr lvl="2" fontAlgn="base">
              <a:lnSpc>
                <a:spcPct val="150000"/>
              </a:lnSpc>
              <a:buFont typeface="Arial" panose="020B0604020202020204" pitchFamily="34" charset="0"/>
              <a:buChar char="•"/>
            </a:pP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Third Quartile or 75%</a:t>
            </a:r>
          </a:p>
          <a:p>
            <a:pPr lvl="2" fontAlgn="base">
              <a:lnSpc>
                <a:spcPct val="150000"/>
              </a:lnSpc>
              <a:buFont typeface="Arial" panose="020B0604020202020204" pitchFamily="34" charset="0"/>
              <a:buChar char="•"/>
            </a:pP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Maximum</a:t>
            </a:r>
          </a:p>
        </p:txBody>
      </p:sp>
    </p:spTree>
    <p:extLst>
      <p:ext uri="{BB962C8B-B14F-4D97-AF65-F5344CB8AC3E}">
        <p14:creationId xmlns:p14="http://schemas.microsoft.com/office/powerpoint/2010/main" val="16263243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2</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83683"/>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Boxplot</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1E1325FF-B551-6EDC-7317-A0D52C7D26D3}"/>
              </a:ext>
            </a:extLst>
          </p:cNvPr>
          <p:cNvSpPr txBox="1"/>
          <p:nvPr/>
        </p:nvSpPr>
        <p:spPr>
          <a:xfrm>
            <a:off x="651388" y="1739554"/>
            <a:ext cx="6120580" cy="4616648"/>
          </a:xfrm>
          <a:prstGeom prst="rect">
            <a:avLst/>
          </a:prstGeom>
          <a:noFill/>
        </p:spPr>
        <p:txBody>
          <a:bodyPr wrap="square">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Example</a:t>
            </a:r>
          </a:p>
          <a:p>
            <a:r>
              <a:rPr lang="en-IN" sz="1200" b="1" dirty="0">
                <a:effectLst/>
                <a:latin typeface="Courier New" panose="02070309020205020404" pitchFamily="49" charset="0"/>
              </a:rPr>
              <a:t>import seaborn as </a:t>
            </a:r>
            <a:r>
              <a:rPr lang="en-IN" sz="1200" b="1" dirty="0" err="1">
                <a:effectLst/>
                <a:latin typeface="Courier New" panose="02070309020205020404" pitchFamily="49" charset="0"/>
              </a:rPr>
              <a:t>sns</a:t>
            </a:r>
            <a:endParaRPr lang="en-IN" sz="1200" b="1" dirty="0">
              <a:effectLst/>
              <a:latin typeface="Courier New" panose="02070309020205020404" pitchFamily="49" charset="0"/>
            </a:endParaRPr>
          </a:p>
          <a:p>
            <a:r>
              <a:rPr lang="en-IN" sz="1200" b="1" dirty="0">
                <a:effectLst/>
                <a:latin typeface="Courier New" panose="02070309020205020404" pitchFamily="49" charset="0"/>
              </a:rPr>
              <a:t>import pandas as pd</a:t>
            </a:r>
          </a:p>
          <a:p>
            <a:r>
              <a:rPr lang="en-IN" sz="1200" b="1" dirty="0">
                <a:effectLst/>
                <a:latin typeface="Courier New" panose="02070309020205020404" pitchFamily="49" charset="0"/>
              </a:rPr>
              <a:t>import </a:t>
            </a:r>
            <a:r>
              <a:rPr lang="en-IN" sz="1200" b="1" dirty="0" err="1">
                <a:effectLst/>
                <a:latin typeface="Courier New" panose="02070309020205020404" pitchFamily="49" charset="0"/>
              </a:rPr>
              <a:t>matplotlib.pyplot</a:t>
            </a:r>
            <a:r>
              <a:rPr lang="en-IN" sz="1200" b="1" dirty="0">
                <a:effectLst/>
                <a:latin typeface="Courier New" panose="02070309020205020404" pitchFamily="49" charset="0"/>
              </a:rPr>
              <a:t> as </a:t>
            </a:r>
            <a:r>
              <a:rPr lang="en-IN" sz="1200" b="1" dirty="0" err="1">
                <a:effectLst/>
                <a:latin typeface="Courier New" panose="02070309020205020404" pitchFamily="49" charset="0"/>
              </a:rPr>
              <a:t>plt</a:t>
            </a:r>
            <a:endParaRPr lang="en-IN" sz="1200" b="1" dirty="0">
              <a:effectLst/>
              <a:latin typeface="Courier New" panose="02070309020205020404" pitchFamily="49" charset="0"/>
            </a:endParaRPr>
          </a:p>
          <a:p>
            <a:br>
              <a:rPr lang="en-IN" sz="1200" b="1" dirty="0">
                <a:solidFill>
                  <a:schemeClr val="bg1">
                    <a:lumMod val="65000"/>
                  </a:schemeClr>
                </a:solidFill>
                <a:effectLst/>
                <a:latin typeface="Courier New" panose="02070309020205020404" pitchFamily="49" charset="0"/>
              </a:rPr>
            </a:br>
            <a:r>
              <a:rPr lang="en-IN" sz="1200" b="1" dirty="0">
                <a:solidFill>
                  <a:schemeClr val="bg1">
                    <a:lumMod val="65000"/>
                  </a:schemeClr>
                </a:solidFill>
                <a:effectLst/>
                <a:latin typeface="Courier New" panose="02070309020205020404" pitchFamily="49" charset="0"/>
              </a:rPr>
              <a:t># Sample data with outliers</a:t>
            </a:r>
          </a:p>
          <a:p>
            <a:r>
              <a:rPr lang="en-US" sz="1200" b="1" dirty="0">
                <a:effectLst/>
                <a:latin typeface="Courier New" panose="02070309020205020404" pitchFamily="49" charset="0"/>
              </a:rPr>
              <a:t>data = {</a:t>
            </a:r>
          </a:p>
          <a:p>
            <a:r>
              <a:rPr lang="en-US" sz="1200" b="1" dirty="0">
                <a:effectLst/>
                <a:latin typeface="Courier New" panose="02070309020205020404" pitchFamily="49" charset="0"/>
              </a:rPr>
              <a:t>    "A": [1, 2, 3, 4, 5, 30],  # 30 is an outlier</a:t>
            </a:r>
          </a:p>
          <a:p>
            <a:r>
              <a:rPr lang="en-US" sz="1200" b="1" dirty="0">
                <a:effectLst/>
                <a:latin typeface="Courier New" panose="02070309020205020404" pitchFamily="49" charset="0"/>
              </a:rPr>
              <a:t>    "B": [2, 4, 6, 8, 7, 28],  # 28 is an outlier</a:t>
            </a:r>
          </a:p>
          <a:p>
            <a:r>
              <a:rPr lang="en-US" sz="1200" b="1" dirty="0">
                <a:effectLst/>
                <a:latin typeface="Courier New" panose="02070309020205020404" pitchFamily="49" charset="0"/>
              </a:rPr>
              <a:t>    "C": [3, 6, 9, 5, 2, 7]</a:t>
            </a:r>
          </a:p>
          <a:p>
            <a:r>
              <a:rPr lang="en-US" sz="1200" b="1" dirty="0">
                <a:effectLst/>
                <a:latin typeface="Courier New" panose="02070309020205020404" pitchFamily="49" charset="0"/>
              </a:rPr>
              <a:t>}</a:t>
            </a:r>
          </a:p>
          <a:p>
            <a:r>
              <a:rPr lang="en-IN" sz="1200" b="1" dirty="0">
                <a:solidFill>
                  <a:schemeClr val="bg1">
                    <a:lumMod val="65000"/>
                  </a:schemeClr>
                </a:solidFill>
                <a:effectLst/>
                <a:latin typeface="Courier New" panose="02070309020205020404" pitchFamily="49" charset="0"/>
              </a:rPr>
              <a:t># Convert data to </a:t>
            </a:r>
            <a:r>
              <a:rPr lang="en-IN" sz="1200" b="1" dirty="0" err="1">
                <a:solidFill>
                  <a:schemeClr val="bg1">
                    <a:lumMod val="65000"/>
                  </a:schemeClr>
                </a:solidFill>
                <a:effectLst/>
                <a:latin typeface="Courier New" panose="02070309020205020404" pitchFamily="49" charset="0"/>
              </a:rPr>
              <a:t>DataFrame</a:t>
            </a:r>
            <a:r>
              <a:rPr lang="en-IN" sz="1200" b="1" dirty="0">
                <a:solidFill>
                  <a:schemeClr val="bg1">
                    <a:lumMod val="65000"/>
                  </a:schemeClr>
                </a:solidFill>
                <a:effectLst/>
                <a:latin typeface="Courier New" panose="02070309020205020404" pitchFamily="49" charset="0"/>
              </a:rPr>
              <a:t> for better visualization</a:t>
            </a:r>
          </a:p>
          <a:p>
            <a:r>
              <a:rPr lang="en-IN" sz="1200" b="1" dirty="0" err="1">
                <a:effectLst/>
                <a:latin typeface="Courier New" panose="02070309020205020404" pitchFamily="49" charset="0"/>
              </a:rPr>
              <a:t>df</a:t>
            </a:r>
            <a:r>
              <a:rPr lang="en-IN" sz="1200" b="1" dirty="0">
                <a:effectLst/>
                <a:latin typeface="Courier New" panose="02070309020205020404" pitchFamily="49" charset="0"/>
              </a:rPr>
              <a:t> = </a:t>
            </a:r>
            <a:r>
              <a:rPr lang="en-IN" sz="1200" b="1" dirty="0" err="1">
                <a:effectLst/>
                <a:latin typeface="Courier New" panose="02070309020205020404" pitchFamily="49" charset="0"/>
              </a:rPr>
              <a:t>pd.DataFrame</a:t>
            </a:r>
            <a:r>
              <a:rPr lang="en-IN" sz="1200" b="1" dirty="0">
                <a:effectLst/>
                <a:latin typeface="Courier New" panose="02070309020205020404" pitchFamily="49" charset="0"/>
              </a:rPr>
              <a:t>(data)</a:t>
            </a:r>
          </a:p>
          <a:p>
            <a:br>
              <a:rPr lang="en-IN" sz="1200" b="1" dirty="0">
                <a:solidFill>
                  <a:schemeClr val="bg1">
                    <a:lumMod val="65000"/>
                  </a:schemeClr>
                </a:solidFill>
                <a:effectLst/>
                <a:latin typeface="Courier New" panose="02070309020205020404" pitchFamily="49" charset="0"/>
              </a:rPr>
            </a:br>
            <a:r>
              <a:rPr lang="en-IN" sz="1200" b="1" dirty="0">
                <a:solidFill>
                  <a:schemeClr val="bg1">
                    <a:lumMod val="65000"/>
                  </a:schemeClr>
                </a:solidFill>
                <a:effectLst/>
                <a:latin typeface="Courier New" panose="02070309020205020404" pitchFamily="49" charset="0"/>
              </a:rPr>
              <a:t># Create a box plot with outliers explicitly shown</a:t>
            </a:r>
          </a:p>
          <a:p>
            <a:r>
              <a:rPr lang="en-IN" sz="1200" b="1" dirty="0" err="1">
                <a:effectLst/>
                <a:latin typeface="Courier New" panose="02070309020205020404" pitchFamily="49" charset="0"/>
              </a:rPr>
              <a:t>sns.boxplot</a:t>
            </a:r>
            <a:r>
              <a:rPr lang="en-IN" sz="1200" b="1" dirty="0">
                <a:effectLst/>
                <a:latin typeface="Courier New" panose="02070309020205020404" pitchFamily="49" charset="0"/>
              </a:rPr>
              <a:t>(data=</a:t>
            </a:r>
            <a:r>
              <a:rPr lang="en-IN" sz="1200" b="1" dirty="0" err="1">
                <a:effectLst/>
                <a:latin typeface="Courier New" panose="02070309020205020404" pitchFamily="49" charset="0"/>
              </a:rPr>
              <a:t>df</a:t>
            </a:r>
            <a:r>
              <a:rPr lang="en-IN" sz="1200" b="1" dirty="0">
                <a:effectLst/>
                <a:latin typeface="Courier New" panose="02070309020205020404" pitchFamily="49" charset="0"/>
              </a:rPr>
              <a:t>, </a:t>
            </a:r>
            <a:r>
              <a:rPr lang="en-IN" sz="1200" b="1" dirty="0" err="1">
                <a:effectLst/>
                <a:latin typeface="Courier New" panose="02070309020205020404" pitchFamily="49" charset="0"/>
              </a:rPr>
              <a:t>showmeans</a:t>
            </a:r>
            <a:r>
              <a:rPr lang="en-IN" sz="1200" b="1" dirty="0">
                <a:effectLst/>
                <a:latin typeface="Courier New" panose="02070309020205020404" pitchFamily="49" charset="0"/>
              </a:rPr>
              <a:t>=True, </a:t>
            </a:r>
            <a:r>
              <a:rPr lang="en-IN" sz="1200" b="1" dirty="0" err="1">
                <a:effectLst/>
                <a:latin typeface="Courier New" panose="02070309020205020404" pitchFamily="49" charset="0"/>
              </a:rPr>
              <a:t>whis</a:t>
            </a:r>
            <a:r>
              <a:rPr lang="en-IN" sz="1200" b="1" dirty="0">
                <a:effectLst/>
                <a:latin typeface="Courier New" panose="02070309020205020404" pitchFamily="49" charset="0"/>
              </a:rPr>
              <a:t>=1.5)</a:t>
            </a:r>
          </a:p>
          <a:p>
            <a:br>
              <a:rPr lang="en-IN" sz="1200" b="1" dirty="0">
                <a:solidFill>
                  <a:schemeClr val="bg1">
                    <a:lumMod val="65000"/>
                  </a:schemeClr>
                </a:solidFill>
                <a:effectLst/>
                <a:latin typeface="Courier New" panose="02070309020205020404" pitchFamily="49" charset="0"/>
              </a:rPr>
            </a:br>
            <a:r>
              <a:rPr lang="en-IN" sz="1200" b="1" dirty="0">
                <a:solidFill>
                  <a:schemeClr val="bg1">
                    <a:lumMod val="65000"/>
                  </a:schemeClr>
                </a:solidFill>
                <a:effectLst/>
                <a:latin typeface="Courier New" panose="02070309020205020404" pitchFamily="49" charset="0"/>
              </a:rPr>
              <a:t># Add a title and labels</a:t>
            </a:r>
          </a:p>
          <a:p>
            <a:r>
              <a:rPr lang="en-IN" sz="1200" b="1" dirty="0" err="1">
                <a:effectLst/>
                <a:latin typeface="Courier New" panose="02070309020205020404" pitchFamily="49" charset="0"/>
              </a:rPr>
              <a:t>plt.title</a:t>
            </a:r>
            <a:r>
              <a:rPr lang="en-IN" sz="1200" b="1" dirty="0">
                <a:effectLst/>
                <a:latin typeface="Courier New" panose="02070309020205020404" pitchFamily="49" charset="0"/>
              </a:rPr>
              <a:t>("Box Plot with Outliers")</a:t>
            </a:r>
          </a:p>
          <a:p>
            <a:r>
              <a:rPr lang="en-IN" sz="1200" b="1" dirty="0" err="1">
                <a:effectLst/>
                <a:latin typeface="Courier New" panose="02070309020205020404" pitchFamily="49" charset="0"/>
              </a:rPr>
              <a:t>plt.xlabel</a:t>
            </a:r>
            <a:r>
              <a:rPr lang="en-IN" sz="1200" b="1" dirty="0">
                <a:effectLst/>
                <a:latin typeface="Courier New" panose="02070309020205020404" pitchFamily="49" charset="0"/>
              </a:rPr>
              <a:t>("Columns")</a:t>
            </a:r>
          </a:p>
          <a:p>
            <a:r>
              <a:rPr lang="en-IN" sz="1200" b="1" dirty="0" err="1">
                <a:effectLst/>
                <a:latin typeface="Courier New" panose="02070309020205020404" pitchFamily="49" charset="0"/>
              </a:rPr>
              <a:t>plt.ylabel</a:t>
            </a:r>
            <a:r>
              <a:rPr lang="en-IN" sz="1200" b="1" dirty="0">
                <a:effectLst/>
                <a:latin typeface="Courier New" panose="02070309020205020404" pitchFamily="49" charset="0"/>
              </a:rPr>
              <a:t>("Values")</a:t>
            </a:r>
          </a:p>
          <a:p>
            <a:br>
              <a:rPr lang="en-IN" sz="1200" b="1" dirty="0">
                <a:solidFill>
                  <a:schemeClr val="bg1">
                    <a:lumMod val="65000"/>
                  </a:schemeClr>
                </a:solidFill>
                <a:effectLst/>
                <a:latin typeface="Courier New" panose="02070309020205020404" pitchFamily="49" charset="0"/>
              </a:rPr>
            </a:br>
            <a:r>
              <a:rPr lang="en-IN" sz="1200" b="1" dirty="0">
                <a:solidFill>
                  <a:schemeClr val="bg1">
                    <a:lumMod val="65000"/>
                  </a:schemeClr>
                </a:solidFill>
                <a:effectLst/>
                <a:latin typeface="Courier New" panose="02070309020205020404" pitchFamily="49" charset="0"/>
              </a:rPr>
              <a:t># Show the plot</a:t>
            </a:r>
          </a:p>
          <a:p>
            <a:r>
              <a:rPr lang="en-IN" sz="1200" b="1" dirty="0" err="1">
                <a:effectLst/>
                <a:latin typeface="Courier New" panose="02070309020205020404" pitchFamily="49" charset="0"/>
              </a:rPr>
              <a:t>plt.show</a:t>
            </a:r>
            <a:r>
              <a:rPr lang="en-IN" sz="1200" b="1" dirty="0">
                <a:effectLst/>
                <a:latin typeface="Courier New" panose="02070309020205020404" pitchFamily="49" charset="0"/>
              </a:rPr>
              <a:t>()</a:t>
            </a:r>
            <a:endParaRPr lang="en-IN" sz="2000" b="1" dirty="0">
              <a:effectLst/>
              <a:latin typeface="Courier New" panose="02070309020205020404" pitchFamily="49" charset="0"/>
            </a:endParaRPr>
          </a:p>
        </p:txBody>
      </p:sp>
      <p:sp>
        <p:nvSpPr>
          <p:cNvPr id="6" name="TextBox 5">
            <a:extLst>
              <a:ext uri="{FF2B5EF4-FFF2-40B4-BE49-F238E27FC236}">
                <a16:creationId xmlns:a16="http://schemas.microsoft.com/office/drawing/2014/main" id="{9D03BDF5-9F02-7C3B-5984-B167176A0349}"/>
              </a:ext>
            </a:extLst>
          </p:cNvPr>
          <p:cNvSpPr txBox="1"/>
          <p:nvPr/>
        </p:nvSpPr>
        <p:spPr>
          <a:xfrm>
            <a:off x="6653981" y="1555266"/>
            <a:ext cx="6120580" cy="369332"/>
          </a:xfrm>
          <a:prstGeom prst="rect">
            <a:avLst/>
          </a:prstGeom>
          <a:noFill/>
        </p:spPr>
        <p:txBody>
          <a:bodyPr wrap="square">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Output</a:t>
            </a:r>
          </a:p>
        </p:txBody>
      </p:sp>
      <p:pic>
        <p:nvPicPr>
          <p:cNvPr id="3074" name="Picture 2">
            <a:extLst>
              <a:ext uri="{FF2B5EF4-FFF2-40B4-BE49-F238E27FC236}">
                <a16:creationId xmlns:a16="http://schemas.microsoft.com/office/drawing/2014/main" id="{13539A4D-C193-7D41-23D6-35CD69C828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6468" y="1924598"/>
            <a:ext cx="5353050" cy="4333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6067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1</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4" name="Rectangle 13">
            <a:extLst>
              <a:ext uri="{FF2B5EF4-FFF2-40B4-BE49-F238E27FC236}">
                <a16:creationId xmlns:a16="http://schemas.microsoft.com/office/drawing/2014/main" id="{6EB9A5F7-B7D7-E008-8229-AD564931BCC6}"/>
              </a:ext>
            </a:extLst>
          </p:cNvPr>
          <p:cNvSpPr/>
          <p:nvPr/>
        </p:nvSpPr>
        <p:spPr>
          <a:xfrm>
            <a:off x="5197151" y="2967335"/>
            <a:ext cx="1797864" cy="646331"/>
          </a:xfrm>
          <a:prstGeom prst="rect">
            <a:avLst/>
          </a:prstGeom>
          <a:noFill/>
        </p:spPr>
        <p:txBody>
          <a:bodyPr wrap="none" lIns="91440" tIns="45720" rIns="91440" bIns="45720">
            <a:spAutoFit/>
          </a:bodyPr>
          <a:lstStyle/>
          <a:p>
            <a:pPr algn="ctr"/>
            <a:r>
              <a:rPr lang="en-US" sz="3600" b="1" dirty="0">
                <a:ln w="0"/>
                <a:latin typeface="Calibri" panose="020F0502020204030204" pitchFamily="34" charset="0"/>
                <a:ea typeface="Calibri" panose="020F0502020204030204" pitchFamily="34" charset="0"/>
                <a:cs typeface="Calibri" panose="020F0502020204030204" pitchFamily="34" charset="0"/>
              </a:rPr>
              <a:t>Pair</a:t>
            </a:r>
            <a:r>
              <a:rPr lang="en-US" sz="3600" b="1" cap="none" spc="0" dirty="0">
                <a:ln w="0"/>
                <a:solidFill>
                  <a:schemeClr val="tx1"/>
                </a:solidFill>
                <a:latin typeface="Calibri" panose="020F0502020204030204" pitchFamily="34" charset="0"/>
                <a:ea typeface="Calibri" panose="020F0502020204030204" pitchFamily="34" charset="0"/>
                <a:cs typeface="Calibri" panose="020F0502020204030204" pitchFamily="34" charset="0"/>
              </a:rPr>
              <a:t> Plot</a:t>
            </a:r>
            <a:endParaRPr lang="en-GB" sz="239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398152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2</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dirty="0">
                <a:latin typeface="Calibri" panose="020F0502020204030204" pitchFamily="34" charset="0"/>
                <a:ea typeface="Calibri" panose="020F0502020204030204" pitchFamily="34" charset="0"/>
                <a:cs typeface="Calibri" panose="020F0502020204030204" pitchFamily="34" charset="0"/>
              </a:rPr>
              <a:t>Pair </a:t>
            </a:r>
            <a:r>
              <a:rPr lang="en-US" sz="3600" b="1" dirty="0">
                <a:effectLst/>
                <a:latin typeface="Calibri" panose="020F0502020204030204" pitchFamily="34" charset="0"/>
                <a:ea typeface="Calibri" panose="020F0502020204030204" pitchFamily="34" charset="0"/>
                <a:cs typeface="Calibri" panose="020F0502020204030204" pitchFamily="34" charset="0"/>
              </a:rPr>
              <a:t>plot</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1295868"/>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US"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 box plot is a good way to show many important features of quantitative (numerical) data.</a:t>
            </a:r>
          </a:p>
          <a:p>
            <a:pPr marL="285750" indent="-285750" algn="l">
              <a:lnSpc>
                <a:spcPct val="150000"/>
              </a:lnSpc>
              <a:buFont typeface="Arial" panose="020B0604020202020204" pitchFamily="34" charset="0"/>
              <a:buChar char="•"/>
            </a:pPr>
            <a:r>
              <a:rPr lang="en-US"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It shows the median of the data. This is the middle value of the data and one type of an average value.</a:t>
            </a:r>
          </a:p>
          <a:p>
            <a:pPr marL="285750" indent="-285750" algn="l">
              <a:lnSpc>
                <a:spcPct val="150000"/>
              </a:lnSpc>
              <a:buFont typeface="Arial" panose="020B0604020202020204" pitchFamily="34" charset="0"/>
              <a:buChar char="•"/>
            </a:pPr>
            <a:r>
              <a:rPr lang="en-US"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It also shows the range and the quartiles of the data. This tells us something about how spread out the data is.</a:t>
            </a:r>
          </a:p>
        </p:txBody>
      </p:sp>
      <p:pic>
        <p:nvPicPr>
          <p:cNvPr id="4098" name="Picture 2" descr="Pair Plot in Python - Javatpoint">
            <a:extLst>
              <a:ext uri="{FF2B5EF4-FFF2-40B4-BE49-F238E27FC236}">
                <a16:creationId xmlns:a16="http://schemas.microsoft.com/office/drawing/2014/main" id="{E3B0C937-E5BE-86DA-796A-7CD9EDF974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9331" y="3015673"/>
            <a:ext cx="6848169" cy="3534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547205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2</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83683"/>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Pair plot</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1E1325FF-B551-6EDC-7317-A0D52C7D26D3}"/>
              </a:ext>
            </a:extLst>
          </p:cNvPr>
          <p:cNvSpPr txBox="1"/>
          <p:nvPr/>
        </p:nvSpPr>
        <p:spPr>
          <a:xfrm>
            <a:off x="651388" y="1739554"/>
            <a:ext cx="6120580" cy="4801314"/>
          </a:xfrm>
          <a:prstGeom prst="rect">
            <a:avLst/>
          </a:prstGeom>
          <a:noFill/>
        </p:spPr>
        <p:txBody>
          <a:bodyPr wrap="square">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Example</a:t>
            </a:r>
          </a:p>
          <a:p>
            <a:r>
              <a:rPr lang="en-IN" b="1" dirty="0">
                <a:latin typeface="Courier New" panose="02070309020205020404" pitchFamily="49" charset="0"/>
                <a:ea typeface="Calibri" panose="020F0502020204030204" pitchFamily="34" charset="0"/>
                <a:cs typeface="Courier New" panose="02070309020205020404" pitchFamily="49" charset="0"/>
              </a:rPr>
              <a:t>import seaborn as </a:t>
            </a:r>
            <a:r>
              <a:rPr lang="en-IN" b="1" dirty="0" err="1">
                <a:latin typeface="Courier New" panose="02070309020205020404" pitchFamily="49" charset="0"/>
                <a:ea typeface="Calibri" panose="020F0502020204030204" pitchFamily="34" charset="0"/>
                <a:cs typeface="Courier New" panose="02070309020205020404" pitchFamily="49" charset="0"/>
              </a:rPr>
              <a:t>sns</a:t>
            </a:r>
            <a:endParaRPr lang="en-IN" b="1" dirty="0">
              <a:latin typeface="Courier New" panose="02070309020205020404" pitchFamily="49" charset="0"/>
              <a:ea typeface="Calibri" panose="020F0502020204030204" pitchFamily="34" charset="0"/>
              <a:cs typeface="Courier New" panose="02070309020205020404" pitchFamily="49" charset="0"/>
            </a:endParaRPr>
          </a:p>
          <a:p>
            <a:r>
              <a:rPr lang="en-IN" b="1" dirty="0">
                <a:latin typeface="Courier New" panose="02070309020205020404" pitchFamily="49" charset="0"/>
                <a:ea typeface="Calibri" panose="020F0502020204030204" pitchFamily="34" charset="0"/>
                <a:cs typeface="Courier New" panose="02070309020205020404" pitchFamily="49" charset="0"/>
              </a:rPr>
              <a:t>import pandas as pd</a:t>
            </a:r>
          </a:p>
          <a:p>
            <a:endParaRPr lang="en-IN" b="1" dirty="0">
              <a:latin typeface="Courier New" panose="02070309020205020404" pitchFamily="49" charset="0"/>
              <a:ea typeface="Calibri" panose="020F0502020204030204" pitchFamily="34" charset="0"/>
              <a:cs typeface="Courier New" panose="02070309020205020404" pitchFamily="49" charset="0"/>
            </a:endParaRPr>
          </a:p>
          <a:p>
            <a:r>
              <a:rPr lang="en-IN" b="1" dirty="0">
                <a:solidFill>
                  <a:schemeClr val="bg1">
                    <a:lumMod val="65000"/>
                  </a:schemeClr>
                </a:solidFill>
                <a:latin typeface="Courier New" panose="02070309020205020404" pitchFamily="49" charset="0"/>
                <a:ea typeface="Calibri" panose="020F0502020204030204" pitchFamily="34" charset="0"/>
                <a:cs typeface="Courier New" panose="02070309020205020404" pitchFamily="49" charset="0"/>
              </a:rPr>
              <a:t># Sample data </a:t>
            </a:r>
          </a:p>
          <a:p>
            <a:r>
              <a:rPr lang="en-IN" b="1" dirty="0">
                <a:latin typeface="Courier New" panose="02070309020205020404" pitchFamily="49" charset="0"/>
                <a:ea typeface="Calibri" panose="020F0502020204030204" pitchFamily="34" charset="0"/>
                <a:cs typeface="Courier New" panose="02070309020205020404" pitchFamily="49" charset="0"/>
              </a:rPr>
              <a:t>data = {</a:t>
            </a:r>
          </a:p>
          <a:p>
            <a:r>
              <a:rPr lang="en-IN" b="1" dirty="0">
                <a:latin typeface="Courier New" panose="02070309020205020404" pitchFamily="49" charset="0"/>
                <a:ea typeface="Calibri" panose="020F0502020204030204" pitchFamily="34" charset="0"/>
                <a:cs typeface="Courier New" panose="02070309020205020404" pitchFamily="49" charset="0"/>
              </a:rPr>
              <a:t>    "A": [1, 2, 3, 4, 5, 8],  </a:t>
            </a:r>
          </a:p>
          <a:p>
            <a:r>
              <a:rPr lang="en-IN" b="1" dirty="0">
                <a:latin typeface="Courier New" panose="02070309020205020404" pitchFamily="49" charset="0"/>
                <a:ea typeface="Calibri" panose="020F0502020204030204" pitchFamily="34" charset="0"/>
                <a:cs typeface="Courier New" panose="02070309020205020404" pitchFamily="49" charset="0"/>
              </a:rPr>
              <a:t>    "B": [2, 4, 6, 8, 10, 7], </a:t>
            </a:r>
          </a:p>
          <a:p>
            <a:r>
              <a:rPr lang="en-IN" b="1" dirty="0">
                <a:latin typeface="Courier New" panose="02070309020205020404" pitchFamily="49" charset="0"/>
                <a:ea typeface="Calibri" panose="020F0502020204030204" pitchFamily="34" charset="0"/>
                <a:cs typeface="Courier New" panose="02070309020205020404" pitchFamily="49" charset="0"/>
              </a:rPr>
              <a:t>    "C": [3, 6, 9, 2, 5, 8]</a:t>
            </a:r>
          </a:p>
          <a:p>
            <a:r>
              <a:rPr lang="en-IN" b="1" dirty="0">
                <a:latin typeface="Courier New" panose="02070309020205020404" pitchFamily="49" charset="0"/>
                <a:ea typeface="Calibri" panose="020F0502020204030204" pitchFamily="34" charset="0"/>
                <a:cs typeface="Courier New" panose="02070309020205020404" pitchFamily="49" charset="0"/>
              </a:rPr>
              <a:t>}</a:t>
            </a:r>
          </a:p>
          <a:p>
            <a:r>
              <a:rPr lang="en-IN" b="1" dirty="0">
                <a:solidFill>
                  <a:schemeClr val="bg1">
                    <a:lumMod val="65000"/>
                  </a:schemeClr>
                </a:solidFill>
                <a:latin typeface="Courier New" panose="02070309020205020404" pitchFamily="49" charset="0"/>
                <a:ea typeface="Calibri" panose="020F0502020204030204" pitchFamily="34" charset="0"/>
                <a:cs typeface="Courier New" panose="02070309020205020404" pitchFamily="49" charset="0"/>
              </a:rPr>
              <a:t># Convert data to </a:t>
            </a:r>
            <a:r>
              <a:rPr lang="en-IN" b="1" dirty="0" err="1">
                <a:solidFill>
                  <a:schemeClr val="bg1">
                    <a:lumMod val="65000"/>
                  </a:schemeClr>
                </a:solidFill>
                <a:latin typeface="Courier New" panose="02070309020205020404" pitchFamily="49" charset="0"/>
                <a:ea typeface="Calibri" panose="020F0502020204030204" pitchFamily="34" charset="0"/>
                <a:cs typeface="Courier New" panose="02070309020205020404" pitchFamily="49" charset="0"/>
              </a:rPr>
              <a:t>DataFrame</a:t>
            </a:r>
            <a:r>
              <a:rPr lang="en-IN" b="1" dirty="0">
                <a:solidFill>
                  <a:schemeClr val="bg1">
                    <a:lumMod val="65000"/>
                  </a:schemeClr>
                </a:solidFill>
                <a:latin typeface="Courier New" panose="02070309020205020404" pitchFamily="49" charset="0"/>
                <a:ea typeface="Calibri" panose="020F0502020204030204" pitchFamily="34" charset="0"/>
                <a:cs typeface="Courier New" panose="02070309020205020404" pitchFamily="49" charset="0"/>
              </a:rPr>
              <a:t> for better visualization</a:t>
            </a:r>
          </a:p>
          <a:p>
            <a:r>
              <a:rPr lang="en-IN" b="1" dirty="0" err="1">
                <a:latin typeface="Courier New" panose="02070309020205020404" pitchFamily="49" charset="0"/>
                <a:ea typeface="Calibri" panose="020F0502020204030204" pitchFamily="34" charset="0"/>
                <a:cs typeface="Courier New" panose="02070309020205020404" pitchFamily="49" charset="0"/>
              </a:rPr>
              <a:t>df</a:t>
            </a:r>
            <a:r>
              <a:rPr lang="en-IN" b="1" dirty="0">
                <a:latin typeface="Courier New" panose="02070309020205020404" pitchFamily="49" charset="0"/>
                <a:ea typeface="Calibri" panose="020F0502020204030204" pitchFamily="34" charset="0"/>
                <a:cs typeface="Courier New" panose="02070309020205020404" pitchFamily="49" charset="0"/>
              </a:rPr>
              <a:t> = </a:t>
            </a:r>
            <a:r>
              <a:rPr lang="en-IN" b="1" dirty="0" err="1">
                <a:latin typeface="Courier New" panose="02070309020205020404" pitchFamily="49" charset="0"/>
                <a:ea typeface="Calibri" panose="020F0502020204030204" pitchFamily="34" charset="0"/>
                <a:cs typeface="Courier New" panose="02070309020205020404" pitchFamily="49" charset="0"/>
              </a:rPr>
              <a:t>pd.DataFrame</a:t>
            </a:r>
            <a:r>
              <a:rPr lang="en-IN" b="1" dirty="0">
                <a:latin typeface="Courier New" panose="02070309020205020404" pitchFamily="49" charset="0"/>
                <a:ea typeface="Calibri" panose="020F0502020204030204" pitchFamily="34" charset="0"/>
                <a:cs typeface="Courier New" panose="02070309020205020404" pitchFamily="49" charset="0"/>
              </a:rPr>
              <a:t>(data)</a:t>
            </a:r>
          </a:p>
          <a:p>
            <a:r>
              <a:rPr lang="en-IN" b="1" dirty="0">
                <a:solidFill>
                  <a:schemeClr val="bg1">
                    <a:lumMod val="65000"/>
                  </a:schemeClr>
                </a:solidFill>
                <a:latin typeface="Courier New" panose="02070309020205020404" pitchFamily="49" charset="0"/>
                <a:ea typeface="Calibri" panose="020F0502020204030204" pitchFamily="34" charset="0"/>
                <a:cs typeface="Courier New" panose="02070309020205020404" pitchFamily="49" charset="0"/>
              </a:rPr>
              <a:t># Create a pair plot</a:t>
            </a:r>
          </a:p>
          <a:p>
            <a:r>
              <a:rPr lang="en-IN" b="1" dirty="0" err="1">
                <a:latin typeface="Courier New" panose="02070309020205020404" pitchFamily="49" charset="0"/>
                <a:ea typeface="Calibri" panose="020F0502020204030204" pitchFamily="34" charset="0"/>
                <a:cs typeface="Courier New" panose="02070309020205020404" pitchFamily="49" charset="0"/>
              </a:rPr>
              <a:t>sns.pairplot</a:t>
            </a:r>
            <a:r>
              <a:rPr lang="en-IN" b="1" dirty="0">
                <a:latin typeface="Courier New" panose="02070309020205020404" pitchFamily="49" charset="0"/>
                <a:ea typeface="Calibri" panose="020F0502020204030204" pitchFamily="34" charset="0"/>
                <a:cs typeface="Courier New" panose="02070309020205020404" pitchFamily="49" charset="0"/>
              </a:rPr>
              <a:t>(</a:t>
            </a:r>
            <a:r>
              <a:rPr lang="en-IN" b="1" dirty="0" err="1">
                <a:latin typeface="Courier New" panose="02070309020205020404" pitchFamily="49" charset="0"/>
                <a:ea typeface="Calibri" panose="020F0502020204030204" pitchFamily="34" charset="0"/>
                <a:cs typeface="Courier New" panose="02070309020205020404" pitchFamily="49" charset="0"/>
              </a:rPr>
              <a:t>df</a:t>
            </a:r>
            <a:r>
              <a:rPr lang="en-IN" b="1" dirty="0">
                <a:latin typeface="Courier New" panose="02070309020205020404" pitchFamily="49" charset="0"/>
                <a:ea typeface="Calibri" panose="020F0502020204030204" pitchFamily="34" charset="0"/>
                <a:cs typeface="Courier New" panose="02070309020205020404" pitchFamily="49" charset="0"/>
              </a:rPr>
              <a:t>)</a:t>
            </a:r>
          </a:p>
          <a:p>
            <a:r>
              <a:rPr lang="en-IN" b="1" dirty="0">
                <a:solidFill>
                  <a:schemeClr val="bg1">
                    <a:lumMod val="65000"/>
                  </a:schemeClr>
                </a:solidFill>
                <a:latin typeface="Courier New" panose="02070309020205020404" pitchFamily="49" charset="0"/>
                <a:ea typeface="Calibri" panose="020F0502020204030204" pitchFamily="34" charset="0"/>
                <a:cs typeface="Courier New" panose="02070309020205020404" pitchFamily="49" charset="0"/>
              </a:rPr>
              <a:t># Show the plot</a:t>
            </a:r>
          </a:p>
          <a:p>
            <a:r>
              <a:rPr lang="en-IN" b="1" dirty="0" err="1">
                <a:latin typeface="Courier New" panose="02070309020205020404" pitchFamily="49" charset="0"/>
                <a:ea typeface="Calibri" panose="020F0502020204030204" pitchFamily="34" charset="0"/>
                <a:cs typeface="Courier New" panose="02070309020205020404" pitchFamily="49" charset="0"/>
              </a:rPr>
              <a:t>plt.show</a:t>
            </a:r>
            <a:r>
              <a:rPr lang="en-IN" b="1" dirty="0">
                <a:latin typeface="Courier New" panose="02070309020205020404" pitchFamily="49" charset="0"/>
                <a:ea typeface="Calibri" panose="020F0502020204030204" pitchFamily="34" charset="0"/>
                <a:cs typeface="Courier New" panose="02070309020205020404" pitchFamily="49" charset="0"/>
              </a:rPr>
              <a:t>()</a:t>
            </a:r>
          </a:p>
        </p:txBody>
      </p:sp>
      <p:sp>
        <p:nvSpPr>
          <p:cNvPr id="6" name="TextBox 5">
            <a:extLst>
              <a:ext uri="{FF2B5EF4-FFF2-40B4-BE49-F238E27FC236}">
                <a16:creationId xmlns:a16="http://schemas.microsoft.com/office/drawing/2014/main" id="{9D03BDF5-9F02-7C3B-5984-B167176A0349}"/>
              </a:ext>
            </a:extLst>
          </p:cNvPr>
          <p:cNvSpPr txBox="1"/>
          <p:nvPr/>
        </p:nvSpPr>
        <p:spPr>
          <a:xfrm>
            <a:off x="6653981" y="1555266"/>
            <a:ext cx="6120580" cy="369332"/>
          </a:xfrm>
          <a:prstGeom prst="rect">
            <a:avLst/>
          </a:prstGeom>
          <a:noFill/>
        </p:spPr>
        <p:txBody>
          <a:bodyPr wrap="square">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Output</a:t>
            </a:r>
          </a:p>
        </p:txBody>
      </p:sp>
      <p:pic>
        <p:nvPicPr>
          <p:cNvPr id="8" name="Picture 7">
            <a:extLst>
              <a:ext uri="{FF2B5EF4-FFF2-40B4-BE49-F238E27FC236}">
                <a16:creationId xmlns:a16="http://schemas.microsoft.com/office/drawing/2014/main" id="{5640B706-B835-36F8-08C3-38C84C7633FC}"/>
              </a:ext>
            </a:extLst>
          </p:cNvPr>
          <p:cNvPicPr>
            <a:picLocks noChangeAspect="1"/>
          </p:cNvPicPr>
          <p:nvPr/>
        </p:nvPicPr>
        <p:blipFill>
          <a:blip r:embed="rId3"/>
          <a:stretch>
            <a:fillRect/>
          </a:stretch>
        </p:blipFill>
        <p:spPr>
          <a:xfrm>
            <a:off x="6653981" y="2070366"/>
            <a:ext cx="4353232" cy="4353232"/>
          </a:xfrm>
          <a:prstGeom prst="rect">
            <a:avLst/>
          </a:prstGeom>
        </p:spPr>
      </p:pic>
    </p:spTree>
    <p:extLst>
      <p:ext uri="{BB962C8B-B14F-4D97-AF65-F5344CB8AC3E}">
        <p14:creationId xmlns:p14="http://schemas.microsoft.com/office/powerpoint/2010/main" val="315641655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2</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83683"/>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Pair plot</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1E1325FF-B551-6EDC-7317-A0D52C7D26D3}"/>
              </a:ext>
            </a:extLst>
          </p:cNvPr>
          <p:cNvSpPr txBox="1"/>
          <p:nvPr/>
        </p:nvSpPr>
        <p:spPr>
          <a:xfrm>
            <a:off x="651388" y="1739554"/>
            <a:ext cx="6120580" cy="4524315"/>
          </a:xfrm>
          <a:prstGeom prst="rect">
            <a:avLst/>
          </a:prstGeom>
          <a:noFill/>
        </p:spPr>
        <p:txBody>
          <a:bodyPr wrap="square">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Example</a:t>
            </a:r>
          </a:p>
          <a:p>
            <a:r>
              <a:rPr lang="en-IN" b="1" dirty="0">
                <a:effectLst/>
                <a:latin typeface="Courier New" panose="02070309020205020404" pitchFamily="49" charset="0"/>
              </a:rPr>
              <a:t>import seaborn as </a:t>
            </a:r>
            <a:r>
              <a:rPr lang="en-IN" b="1" dirty="0" err="1">
                <a:effectLst/>
                <a:latin typeface="Courier New" panose="02070309020205020404" pitchFamily="49" charset="0"/>
              </a:rPr>
              <a:t>sns</a:t>
            </a:r>
            <a:endParaRPr lang="en-IN" b="1" dirty="0">
              <a:effectLst/>
              <a:latin typeface="Courier New" panose="02070309020205020404" pitchFamily="49" charset="0"/>
            </a:endParaRPr>
          </a:p>
          <a:p>
            <a:r>
              <a:rPr lang="en-IN" b="1" dirty="0">
                <a:effectLst/>
                <a:latin typeface="Courier New" panose="02070309020205020404" pitchFamily="49" charset="0"/>
              </a:rPr>
              <a:t>import pandas as pd</a:t>
            </a:r>
          </a:p>
          <a:p>
            <a:r>
              <a:rPr lang="en-IN" b="1" dirty="0">
                <a:solidFill>
                  <a:schemeClr val="bg1">
                    <a:lumMod val="75000"/>
                  </a:schemeClr>
                </a:solidFill>
                <a:effectLst/>
                <a:latin typeface="Courier New" panose="02070309020205020404" pitchFamily="49" charset="0"/>
              </a:rPr>
              <a:t># Sample data</a:t>
            </a:r>
          </a:p>
          <a:p>
            <a:r>
              <a:rPr lang="en-IN" b="1" dirty="0">
                <a:effectLst/>
                <a:latin typeface="Courier New" panose="02070309020205020404" pitchFamily="49" charset="0"/>
              </a:rPr>
              <a:t>data = {</a:t>
            </a:r>
          </a:p>
          <a:p>
            <a:r>
              <a:rPr lang="en-IN" b="1" dirty="0">
                <a:effectLst/>
                <a:latin typeface="Courier New" panose="02070309020205020404" pitchFamily="49" charset="0"/>
              </a:rPr>
              <a:t>    "A": [10, 20, 30, 40, 50],</a:t>
            </a:r>
          </a:p>
          <a:p>
            <a:r>
              <a:rPr lang="en-IN" b="1" dirty="0">
                <a:effectLst/>
                <a:latin typeface="Courier New" panose="02070309020205020404" pitchFamily="49" charset="0"/>
              </a:rPr>
              <a:t>    "B": [5, 10, 15, 20, 25],</a:t>
            </a:r>
          </a:p>
          <a:p>
            <a:r>
              <a:rPr lang="en-IN" b="1" dirty="0">
                <a:effectLst/>
                <a:latin typeface="Courier New" panose="02070309020205020404" pitchFamily="49" charset="0"/>
              </a:rPr>
              <a:t>    "C": [8, 12, 16, 20, 24],</a:t>
            </a:r>
          </a:p>
          <a:p>
            <a:r>
              <a:rPr lang="en-IN" b="1" dirty="0">
                <a:effectLst/>
                <a:latin typeface="Courier New" panose="02070309020205020404" pitchFamily="49" charset="0"/>
              </a:rPr>
              <a:t>    "D": ["A", "B", "A", "B", "A"]</a:t>
            </a:r>
          </a:p>
          <a:p>
            <a:r>
              <a:rPr lang="en-IN" b="1" dirty="0">
                <a:effectLst/>
                <a:latin typeface="Courier New" panose="02070309020205020404" pitchFamily="49" charset="0"/>
              </a:rPr>
              <a:t>}</a:t>
            </a:r>
          </a:p>
          <a:p>
            <a:r>
              <a:rPr lang="en-IN" b="1" dirty="0">
                <a:solidFill>
                  <a:schemeClr val="bg1">
                    <a:lumMod val="75000"/>
                  </a:schemeClr>
                </a:solidFill>
                <a:effectLst/>
                <a:latin typeface="Courier New" panose="02070309020205020404" pitchFamily="49" charset="0"/>
              </a:rPr>
              <a:t># Convert data to </a:t>
            </a:r>
            <a:r>
              <a:rPr lang="en-IN" b="1" dirty="0" err="1">
                <a:solidFill>
                  <a:schemeClr val="bg1">
                    <a:lumMod val="75000"/>
                  </a:schemeClr>
                </a:solidFill>
                <a:effectLst/>
                <a:latin typeface="Courier New" panose="02070309020205020404" pitchFamily="49" charset="0"/>
              </a:rPr>
              <a:t>DataFrame</a:t>
            </a:r>
            <a:endParaRPr lang="en-IN" b="1" dirty="0">
              <a:solidFill>
                <a:schemeClr val="bg1">
                  <a:lumMod val="75000"/>
                </a:schemeClr>
              </a:solidFill>
              <a:effectLst/>
              <a:latin typeface="Courier New" panose="02070309020205020404" pitchFamily="49" charset="0"/>
            </a:endParaRPr>
          </a:p>
          <a:p>
            <a:r>
              <a:rPr lang="en-IN" b="1" dirty="0" err="1">
                <a:effectLst/>
                <a:latin typeface="Courier New" panose="02070309020205020404" pitchFamily="49" charset="0"/>
              </a:rPr>
              <a:t>df</a:t>
            </a:r>
            <a:r>
              <a:rPr lang="en-IN" b="1" dirty="0">
                <a:effectLst/>
                <a:latin typeface="Courier New" panose="02070309020205020404" pitchFamily="49" charset="0"/>
              </a:rPr>
              <a:t> = </a:t>
            </a:r>
            <a:r>
              <a:rPr lang="en-IN" b="1" dirty="0" err="1">
                <a:effectLst/>
                <a:latin typeface="Courier New" panose="02070309020205020404" pitchFamily="49" charset="0"/>
              </a:rPr>
              <a:t>pd.DataFrame</a:t>
            </a:r>
            <a:r>
              <a:rPr lang="en-IN" b="1" dirty="0">
                <a:effectLst/>
                <a:latin typeface="Courier New" panose="02070309020205020404" pitchFamily="49" charset="0"/>
              </a:rPr>
              <a:t>(data)</a:t>
            </a:r>
          </a:p>
          <a:p>
            <a:r>
              <a:rPr lang="en-IN" b="1" dirty="0">
                <a:solidFill>
                  <a:schemeClr val="bg1">
                    <a:lumMod val="75000"/>
                  </a:schemeClr>
                </a:solidFill>
                <a:effectLst/>
                <a:latin typeface="Courier New" panose="02070309020205020404" pitchFamily="49" charset="0"/>
              </a:rPr>
              <a:t># Create a pair plot</a:t>
            </a:r>
          </a:p>
          <a:p>
            <a:r>
              <a:rPr lang="en-IN" b="1" dirty="0" err="1">
                <a:effectLst/>
                <a:latin typeface="Courier New" panose="02070309020205020404" pitchFamily="49" charset="0"/>
              </a:rPr>
              <a:t>sns.pairplot</a:t>
            </a:r>
            <a:r>
              <a:rPr lang="en-IN" b="1" dirty="0">
                <a:effectLst/>
                <a:latin typeface="Courier New" panose="02070309020205020404" pitchFamily="49" charset="0"/>
              </a:rPr>
              <a:t>(</a:t>
            </a:r>
            <a:r>
              <a:rPr lang="en-IN" b="1" dirty="0" err="1">
                <a:effectLst/>
                <a:latin typeface="Courier New" panose="02070309020205020404" pitchFamily="49" charset="0"/>
              </a:rPr>
              <a:t>df</a:t>
            </a:r>
            <a:r>
              <a:rPr lang="en-IN" b="1" dirty="0">
                <a:effectLst/>
                <a:latin typeface="Courier New" panose="02070309020205020404" pitchFamily="49" charset="0"/>
              </a:rPr>
              <a:t>, hue="D")  </a:t>
            </a:r>
          </a:p>
          <a:p>
            <a:r>
              <a:rPr lang="en-IN" b="1" dirty="0">
                <a:solidFill>
                  <a:schemeClr val="bg1">
                    <a:lumMod val="75000"/>
                  </a:schemeClr>
                </a:solidFill>
                <a:effectLst/>
                <a:latin typeface="Courier New" panose="02070309020205020404" pitchFamily="49" charset="0"/>
              </a:rPr>
              <a:t># Use 'D' for </a:t>
            </a:r>
            <a:r>
              <a:rPr lang="en-IN" b="1" dirty="0" err="1">
                <a:solidFill>
                  <a:schemeClr val="bg1">
                    <a:lumMod val="75000"/>
                  </a:schemeClr>
                </a:solidFill>
                <a:effectLst/>
                <a:latin typeface="Courier New" panose="02070309020205020404" pitchFamily="49" charset="0"/>
              </a:rPr>
              <a:t>color</a:t>
            </a:r>
            <a:r>
              <a:rPr lang="en-IN" b="1" dirty="0">
                <a:solidFill>
                  <a:schemeClr val="bg1">
                    <a:lumMod val="75000"/>
                  </a:schemeClr>
                </a:solidFill>
                <a:effectLst/>
                <a:latin typeface="Courier New" panose="02070309020205020404" pitchFamily="49" charset="0"/>
              </a:rPr>
              <a:t> differentiation</a:t>
            </a:r>
          </a:p>
          <a:p>
            <a:r>
              <a:rPr lang="en-IN" b="1" dirty="0" err="1">
                <a:effectLst/>
                <a:latin typeface="Courier New" panose="02070309020205020404" pitchFamily="49" charset="0"/>
              </a:rPr>
              <a:t>plt.show</a:t>
            </a:r>
            <a:r>
              <a:rPr lang="en-IN" b="1" dirty="0">
                <a:effectLst/>
                <a:latin typeface="Courier New" panose="02070309020205020404" pitchFamily="49" charset="0"/>
              </a:rPr>
              <a:t>()</a:t>
            </a:r>
          </a:p>
        </p:txBody>
      </p:sp>
      <p:sp>
        <p:nvSpPr>
          <p:cNvPr id="6" name="TextBox 5">
            <a:extLst>
              <a:ext uri="{FF2B5EF4-FFF2-40B4-BE49-F238E27FC236}">
                <a16:creationId xmlns:a16="http://schemas.microsoft.com/office/drawing/2014/main" id="{9D03BDF5-9F02-7C3B-5984-B167176A0349}"/>
              </a:ext>
            </a:extLst>
          </p:cNvPr>
          <p:cNvSpPr txBox="1"/>
          <p:nvPr/>
        </p:nvSpPr>
        <p:spPr>
          <a:xfrm>
            <a:off x="6653981" y="1555266"/>
            <a:ext cx="6120580" cy="369332"/>
          </a:xfrm>
          <a:prstGeom prst="rect">
            <a:avLst/>
          </a:prstGeom>
          <a:noFill/>
        </p:spPr>
        <p:txBody>
          <a:bodyPr wrap="square">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Output</a:t>
            </a:r>
          </a:p>
        </p:txBody>
      </p:sp>
      <p:pic>
        <p:nvPicPr>
          <p:cNvPr id="2" name="Picture 1">
            <a:extLst>
              <a:ext uri="{FF2B5EF4-FFF2-40B4-BE49-F238E27FC236}">
                <a16:creationId xmlns:a16="http://schemas.microsoft.com/office/drawing/2014/main" id="{6045ABC4-34DA-A9DB-05E3-4D508A0D6F75}"/>
              </a:ext>
            </a:extLst>
          </p:cNvPr>
          <p:cNvPicPr>
            <a:picLocks noChangeAspect="1"/>
          </p:cNvPicPr>
          <p:nvPr/>
        </p:nvPicPr>
        <p:blipFill>
          <a:blip r:embed="rId3"/>
          <a:stretch>
            <a:fillRect/>
          </a:stretch>
        </p:blipFill>
        <p:spPr>
          <a:xfrm>
            <a:off x="6771968" y="2108886"/>
            <a:ext cx="4410385" cy="4049684"/>
          </a:xfrm>
          <a:prstGeom prst="rect">
            <a:avLst/>
          </a:prstGeom>
        </p:spPr>
      </p:pic>
    </p:spTree>
    <p:extLst>
      <p:ext uri="{BB962C8B-B14F-4D97-AF65-F5344CB8AC3E}">
        <p14:creationId xmlns:p14="http://schemas.microsoft.com/office/powerpoint/2010/main" val="285993524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aphicFrame>
        <p:nvGraphicFramePr>
          <p:cNvPr id="88" name="Google Shape;88;p1"/>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89" name="Google Shape;89;p1"/>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1</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90" name="Google Shape;90;p1"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91" name="Google Shape;91;p1"/>
          <p:cNvSpPr/>
          <p:nvPr/>
        </p:nvSpPr>
        <p:spPr>
          <a:xfrm>
            <a:off x="4400944" y="2967335"/>
            <a:ext cx="3390288"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i="0" u="none" strike="noStrike" cap="none">
                <a:solidFill>
                  <a:schemeClr val="dk1"/>
                </a:solidFill>
                <a:latin typeface="Calibri"/>
                <a:ea typeface="Calibri"/>
                <a:cs typeface="Calibri"/>
                <a:sym typeface="Calibri"/>
              </a:rPr>
              <a:t>Playing with text</a:t>
            </a:r>
            <a:endParaRPr sz="23900" b="1" i="0" u="none" strike="noStrike" cap="none">
              <a:solidFill>
                <a:schemeClr val="dk1"/>
              </a:solidFill>
              <a:latin typeface="Calibri"/>
              <a:ea typeface="Calibri"/>
              <a:cs typeface="Calibri"/>
              <a:sym typeface="Calibri"/>
            </a:endParaRPr>
          </a:p>
        </p:txBody>
      </p:sp>
      <p:sp>
        <p:nvSpPr>
          <p:cNvPr id="92" name="Google Shape;92;p1"/>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graphicFrame>
        <p:nvGraphicFramePr>
          <p:cNvPr id="97" name="Google Shape;97;p2"/>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98" name="Google Shape;98;p2"/>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99" name="Google Shape;99;p2"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00" name="Google Shape;100;p2"/>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1" name="Google Shape;101;p2"/>
          <p:cNvSpPr txBox="1"/>
          <p:nvPr/>
        </p:nvSpPr>
        <p:spPr>
          <a:xfrm>
            <a:off x="0" y="873851"/>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i="0" u="none" strike="noStrike" cap="none">
                <a:solidFill>
                  <a:schemeClr val="dk1"/>
                </a:solidFill>
                <a:latin typeface="Calibri"/>
                <a:ea typeface="Calibri"/>
                <a:cs typeface="Calibri"/>
                <a:sym typeface="Calibri"/>
              </a:rPr>
              <a:t>Playing with text</a:t>
            </a:r>
            <a:endParaRPr sz="3600" b="1" i="0" u="none" strike="noStrike" cap="none">
              <a:solidFill>
                <a:schemeClr val="dk1"/>
              </a:solidFill>
              <a:latin typeface="Calibri"/>
              <a:ea typeface="Calibri"/>
              <a:cs typeface="Calibri"/>
              <a:sym typeface="Calibri"/>
            </a:endParaRPr>
          </a:p>
        </p:txBody>
      </p:sp>
      <p:sp>
        <p:nvSpPr>
          <p:cNvPr id="102" name="Google Shape;102;p2"/>
          <p:cNvSpPr txBox="1"/>
          <p:nvPr/>
        </p:nvSpPr>
        <p:spPr>
          <a:xfrm>
            <a:off x="487016" y="1574931"/>
            <a:ext cx="10972801" cy="3373359"/>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rgbClr val="000000"/>
              </a:buClr>
              <a:buSzPts val="1800"/>
              <a:buFont typeface="Arial"/>
              <a:buChar char="•"/>
            </a:pPr>
            <a:r>
              <a:rPr lang="en-IN" sz="1800" b="0" i="0" u="none" strike="noStrike" cap="none">
                <a:solidFill>
                  <a:srgbClr val="000000"/>
                </a:solidFill>
                <a:latin typeface="Calibri"/>
                <a:ea typeface="Calibri"/>
                <a:cs typeface="Calibri"/>
                <a:sym typeface="Calibri"/>
              </a:rPr>
              <a:t>Seaborn, a Python data visualization library built on top of Matplotlib, is primarily known for its statistical graphics and plots. While its core focus is on numerical data, it can also be used creatively to visualize text data in a variety of ways.</a:t>
            </a:r>
            <a:endParaRPr/>
          </a:p>
          <a:p>
            <a:pPr marL="285750" marR="0" lvl="0" indent="-285750" algn="just" rtl="0">
              <a:lnSpc>
                <a:spcPct val="150000"/>
              </a:lnSpc>
              <a:spcBef>
                <a:spcPts val="0"/>
              </a:spcBef>
              <a:spcAft>
                <a:spcPts val="0"/>
              </a:spcAft>
              <a:buClr>
                <a:srgbClr val="000000"/>
              </a:buClr>
              <a:buSzPts val="1800"/>
              <a:buFont typeface="Arial"/>
              <a:buChar char="•"/>
            </a:pPr>
            <a:r>
              <a:rPr lang="en-IN" sz="1800" b="0" i="0" u="none" strike="noStrike" cap="none">
                <a:solidFill>
                  <a:srgbClr val="000000"/>
                </a:solidFill>
                <a:latin typeface="Calibri"/>
                <a:ea typeface="Calibri"/>
                <a:cs typeface="Calibri"/>
                <a:sym typeface="Calibri"/>
              </a:rPr>
              <a:t>By combining Seaborn's plotting capabilities with Matplotlib's text functionalities, you can create unique and informative visualizations that convey textual information visually. This can be especially useful for tasks such as:</a:t>
            </a:r>
            <a:endParaRPr/>
          </a:p>
          <a:p>
            <a:pPr marL="742950" marR="0" lvl="1" indent="-285750" algn="l" rtl="0">
              <a:lnSpc>
                <a:spcPct val="150000"/>
              </a:lnSpc>
              <a:spcBef>
                <a:spcPts val="0"/>
              </a:spcBef>
              <a:spcAft>
                <a:spcPts val="0"/>
              </a:spcAft>
              <a:buClr>
                <a:srgbClr val="000000"/>
              </a:buClr>
              <a:buSzPts val="1800"/>
              <a:buFont typeface="Arial"/>
              <a:buChar char="•"/>
            </a:pPr>
            <a:r>
              <a:rPr lang="en-IN" sz="1800" b="0" i="0" u="none" strike="noStrike" cap="none">
                <a:solidFill>
                  <a:srgbClr val="000000"/>
                </a:solidFill>
                <a:latin typeface="Calibri"/>
                <a:ea typeface="Calibri"/>
                <a:cs typeface="Calibri"/>
                <a:sym typeface="Calibri"/>
              </a:rPr>
              <a:t>Word Clouds: Visualizing the frequency of words in a text.</a:t>
            </a:r>
            <a:endParaRPr/>
          </a:p>
          <a:p>
            <a:pPr marL="742950" marR="0" lvl="1" indent="-285750" algn="l" rtl="0">
              <a:lnSpc>
                <a:spcPct val="150000"/>
              </a:lnSpc>
              <a:spcBef>
                <a:spcPts val="0"/>
              </a:spcBef>
              <a:spcAft>
                <a:spcPts val="0"/>
              </a:spcAft>
              <a:buClr>
                <a:srgbClr val="000000"/>
              </a:buClr>
              <a:buSzPts val="1800"/>
              <a:buFont typeface="Arial"/>
              <a:buChar char="•"/>
            </a:pPr>
            <a:r>
              <a:rPr lang="en-IN" sz="1800" b="0" i="0" u="none" strike="noStrike" cap="none">
                <a:solidFill>
                  <a:srgbClr val="000000"/>
                </a:solidFill>
                <a:latin typeface="Calibri"/>
                <a:ea typeface="Calibri"/>
                <a:cs typeface="Calibri"/>
                <a:sym typeface="Calibri"/>
              </a:rPr>
              <a:t>Text Annotations: Adding textual labels or descriptions to plots.</a:t>
            </a:r>
            <a:endParaRPr/>
          </a:p>
          <a:p>
            <a:pPr marL="742950" marR="0" lvl="1" indent="-285750" algn="l" rtl="0">
              <a:lnSpc>
                <a:spcPct val="150000"/>
              </a:lnSpc>
              <a:spcBef>
                <a:spcPts val="0"/>
              </a:spcBef>
              <a:spcAft>
                <a:spcPts val="0"/>
              </a:spcAft>
              <a:buClr>
                <a:srgbClr val="000000"/>
              </a:buClr>
              <a:buSzPts val="1800"/>
              <a:buFont typeface="Arial"/>
              <a:buChar char="•"/>
            </a:pPr>
            <a:r>
              <a:rPr lang="en-IN" sz="1800" b="0" i="0" u="none" strike="noStrike" cap="none">
                <a:solidFill>
                  <a:srgbClr val="000000"/>
                </a:solidFill>
                <a:latin typeface="Calibri"/>
                <a:ea typeface="Calibri"/>
                <a:cs typeface="Calibri"/>
                <a:sym typeface="Calibri"/>
              </a:rPr>
              <a:t>Text-Based Charts: Creating charts or graphs that incorporate text elements.</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graphicFrame>
        <p:nvGraphicFramePr>
          <p:cNvPr id="107" name="Google Shape;107;p3"/>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08" name="Google Shape;108;p3"/>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09" name="Google Shape;109;p3"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10" name="Google Shape;110;p3"/>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1" name="Google Shape;111;p3"/>
          <p:cNvSpPr txBox="1"/>
          <p:nvPr/>
        </p:nvSpPr>
        <p:spPr>
          <a:xfrm>
            <a:off x="0" y="883683"/>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i="0" u="none" strike="noStrike" cap="none">
                <a:solidFill>
                  <a:schemeClr val="dk1"/>
                </a:solidFill>
                <a:latin typeface="Calibri"/>
                <a:ea typeface="Calibri"/>
                <a:cs typeface="Calibri"/>
                <a:sym typeface="Calibri"/>
              </a:rPr>
              <a:t>Word Cloud</a:t>
            </a:r>
            <a:endParaRPr sz="3600" b="1" i="0" u="none" strike="noStrike" cap="none">
              <a:solidFill>
                <a:schemeClr val="dk1"/>
              </a:solidFill>
              <a:latin typeface="Calibri"/>
              <a:ea typeface="Calibri"/>
              <a:cs typeface="Calibri"/>
              <a:sym typeface="Calibri"/>
            </a:endParaRPr>
          </a:p>
        </p:txBody>
      </p:sp>
      <p:sp>
        <p:nvSpPr>
          <p:cNvPr id="112" name="Google Shape;112;p3"/>
          <p:cNvSpPr txBox="1"/>
          <p:nvPr/>
        </p:nvSpPr>
        <p:spPr>
          <a:xfrm>
            <a:off x="651388" y="1739554"/>
            <a:ext cx="6120580" cy="455509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i="0" u="none" strike="noStrike" cap="none" dirty="0">
                <a:solidFill>
                  <a:schemeClr val="dk1"/>
                </a:solidFill>
                <a:latin typeface="Calibri"/>
                <a:ea typeface="Calibri"/>
                <a:cs typeface="Calibri"/>
                <a:sym typeface="Calibri"/>
              </a:rPr>
              <a:t>Example</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import seaborn as </a:t>
            </a:r>
            <a:r>
              <a:rPr lang="en-IN" sz="1600" b="1" dirty="0" err="1">
                <a:solidFill>
                  <a:schemeClr val="dk1"/>
                </a:solidFill>
                <a:latin typeface="Courier New"/>
                <a:ea typeface="Courier New"/>
                <a:cs typeface="Courier New"/>
                <a:sym typeface="Courier New"/>
              </a:rPr>
              <a:t>sns</a:t>
            </a:r>
            <a:endParaRPr sz="16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import </a:t>
            </a:r>
            <a:r>
              <a:rPr lang="en-IN" sz="1600" b="1" dirty="0" err="1">
                <a:solidFill>
                  <a:schemeClr val="dk1"/>
                </a:solidFill>
                <a:latin typeface="Courier New"/>
                <a:ea typeface="Courier New"/>
                <a:cs typeface="Courier New"/>
                <a:sym typeface="Courier New"/>
              </a:rPr>
              <a:t>matplotlib.pyplot</a:t>
            </a:r>
            <a:r>
              <a:rPr lang="en-IN" sz="1600" b="1" dirty="0">
                <a:solidFill>
                  <a:schemeClr val="dk1"/>
                </a:solidFill>
                <a:latin typeface="Courier New"/>
                <a:ea typeface="Courier New"/>
                <a:cs typeface="Courier New"/>
                <a:sym typeface="Courier New"/>
              </a:rPr>
              <a:t> as </a:t>
            </a:r>
            <a:r>
              <a:rPr lang="en-IN" sz="1600" b="1" dirty="0" err="1">
                <a:solidFill>
                  <a:schemeClr val="dk1"/>
                </a:solidFill>
                <a:latin typeface="Courier New"/>
                <a:ea typeface="Courier New"/>
                <a:cs typeface="Courier New"/>
                <a:sym typeface="Courier New"/>
              </a:rPr>
              <a:t>plt</a:t>
            </a:r>
            <a:endParaRPr sz="16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from </a:t>
            </a:r>
            <a:r>
              <a:rPr lang="en-IN" sz="1600" b="1" dirty="0" err="1">
                <a:solidFill>
                  <a:schemeClr val="dk1"/>
                </a:solidFill>
                <a:latin typeface="Courier New"/>
                <a:ea typeface="Courier New"/>
                <a:cs typeface="Courier New"/>
                <a:sym typeface="Courier New"/>
              </a:rPr>
              <a:t>wordcloud</a:t>
            </a:r>
            <a:r>
              <a:rPr lang="en-IN" sz="1600" b="1" dirty="0">
                <a:solidFill>
                  <a:schemeClr val="dk1"/>
                </a:solidFill>
                <a:latin typeface="Courier New"/>
                <a:ea typeface="Courier New"/>
                <a:cs typeface="Courier New"/>
                <a:sym typeface="Courier New"/>
              </a:rPr>
              <a:t> import </a:t>
            </a:r>
            <a:r>
              <a:rPr lang="en-IN" sz="1600" b="1" dirty="0" err="1">
                <a:solidFill>
                  <a:schemeClr val="dk1"/>
                </a:solidFill>
                <a:latin typeface="Courier New"/>
                <a:ea typeface="Courier New"/>
                <a:cs typeface="Courier New"/>
                <a:sym typeface="Courier New"/>
              </a:rPr>
              <a:t>WordCloud</a:t>
            </a:r>
            <a:endParaRPr sz="16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IN" sz="1600" b="1" dirty="0">
                <a:solidFill>
                  <a:srgbClr val="AEAEAE"/>
                </a:solidFill>
                <a:latin typeface="Courier New"/>
                <a:ea typeface="Courier New"/>
                <a:cs typeface="Courier New"/>
                <a:sym typeface="Courier New"/>
              </a:rPr>
              <a:t># Sample text data</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text = "This is a sample text for creating a word cloud. Word clouds are a great way to visualize the frequency of words in a text."</a:t>
            </a:r>
            <a:endParaRPr dirty="0"/>
          </a:p>
          <a:p>
            <a:pPr marL="0" marR="0" lvl="0" indent="0" algn="l" rtl="0">
              <a:spcBef>
                <a:spcPts val="0"/>
              </a:spcBef>
              <a:spcAft>
                <a:spcPts val="0"/>
              </a:spcAft>
              <a:buNone/>
            </a:pPr>
            <a:r>
              <a:rPr lang="en-IN" sz="1600" b="1" dirty="0">
                <a:solidFill>
                  <a:srgbClr val="AEAEAE"/>
                </a:solidFill>
                <a:latin typeface="Courier New"/>
                <a:ea typeface="Courier New"/>
                <a:cs typeface="Courier New"/>
                <a:sym typeface="Courier New"/>
              </a:rPr>
              <a:t># Create a </a:t>
            </a:r>
            <a:r>
              <a:rPr lang="en-IN" sz="1600" b="1" dirty="0" err="1">
                <a:solidFill>
                  <a:srgbClr val="AEAEAE"/>
                </a:solidFill>
                <a:latin typeface="Courier New"/>
                <a:ea typeface="Courier New"/>
                <a:cs typeface="Courier New"/>
                <a:sym typeface="Courier New"/>
              </a:rPr>
              <a:t>WordCloud</a:t>
            </a:r>
            <a:r>
              <a:rPr lang="en-IN" sz="1600" b="1" dirty="0">
                <a:solidFill>
                  <a:srgbClr val="AEAEAE"/>
                </a:solidFill>
                <a:latin typeface="Courier New"/>
                <a:ea typeface="Courier New"/>
                <a:cs typeface="Courier New"/>
                <a:sym typeface="Courier New"/>
              </a:rPr>
              <a:t> object</a:t>
            </a:r>
            <a:endParaRPr dirty="0"/>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wordcloud</a:t>
            </a:r>
            <a:r>
              <a:rPr lang="en-IN" sz="1600" b="1" dirty="0">
                <a:solidFill>
                  <a:schemeClr val="dk1"/>
                </a:solidFill>
                <a:latin typeface="Courier New"/>
                <a:ea typeface="Courier New"/>
                <a:cs typeface="Courier New"/>
                <a:sym typeface="Courier New"/>
              </a:rPr>
              <a:t> = </a:t>
            </a:r>
            <a:r>
              <a:rPr lang="en-IN" sz="1600" b="1" dirty="0" err="1">
                <a:solidFill>
                  <a:schemeClr val="dk1"/>
                </a:solidFill>
                <a:latin typeface="Courier New"/>
                <a:ea typeface="Courier New"/>
                <a:cs typeface="Courier New"/>
                <a:sym typeface="Courier New"/>
              </a:rPr>
              <a:t>WordCloud</a:t>
            </a:r>
            <a:r>
              <a:rPr lang="en-IN" sz="1600" b="1" dirty="0">
                <a:solidFill>
                  <a:schemeClr val="dk1"/>
                </a:solidFill>
                <a:latin typeface="Courier New"/>
                <a:ea typeface="Courier New"/>
                <a:cs typeface="Courier New"/>
                <a:sym typeface="Courier New"/>
              </a:rPr>
              <a:t>(width=800, height=400, </a:t>
            </a:r>
            <a:r>
              <a:rPr lang="en-IN" sz="1600" b="1" dirty="0" err="1">
                <a:solidFill>
                  <a:schemeClr val="dk1"/>
                </a:solidFill>
                <a:latin typeface="Courier New"/>
                <a:ea typeface="Courier New"/>
                <a:cs typeface="Courier New"/>
                <a:sym typeface="Courier New"/>
              </a:rPr>
              <a:t>background_color</a:t>
            </a:r>
            <a:r>
              <a:rPr lang="en-IN" sz="1600" b="1" dirty="0">
                <a:solidFill>
                  <a:schemeClr val="dk1"/>
                </a:solidFill>
                <a:latin typeface="Courier New"/>
                <a:ea typeface="Courier New"/>
                <a:cs typeface="Courier New"/>
                <a:sym typeface="Courier New"/>
              </a:rPr>
              <a:t>="white")</a:t>
            </a:r>
            <a:endParaRPr dirty="0"/>
          </a:p>
          <a:p>
            <a:pPr marL="0" marR="0" lvl="0" indent="0" algn="l" rtl="0">
              <a:spcBef>
                <a:spcPts val="0"/>
              </a:spcBef>
              <a:spcAft>
                <a:spcPts val="0"/>
              </a:spcAft>
              <a:buNone/>
            </a:pPr>
            <a:r>
              <a:rPr lang="en-IN" sz="1600" b="1" dirty="0">
                <a:solidFill>
                  <a:srgbClr val="AEAEAE"/>
                </a:solidFill>
                <a:latin typeface="Courier New"/>
                <a:ea typeface="Courier New"/>
                <a:cs typeface="Courier New"/>
                <a:sym typeface="Courier New"/>
              </a:rPr>
              <a:t># Generate the word cloud</a:t>
            </a:r>
            <a:endParaRPr dirty="0"/>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wordcloud.generate</a:t>
            </a:r>
            <a:r>
              <a:rPr lang="en-IN" sz="1600" b="1" dirty="0">
                <a:solidFill>
                  <a:schemeClr val="dk1"/>
                </a:solidFill>
                <a:latin typeface="Courier New"/>
                <a:ea typeface="Courier New"/>
                <a:cs typeface="Courier New"/>
                <a:sym typeface="Courier New"/>
              </a:rPr>
              <a:t>(text)</a:t>
            </a:r>
            <a:endParaRPr dirty="0"/>
          </a:p>
          <a:p>
            <a:pPr marL="0" marR="0" lvl="0" indent="0" algn="l" rtl="0">
              <a:spcBef>
                <a:spcPts val="0"/>
              </a:spcBef>
              <a:spcAft>
                <a:spcPts val="0"/>
              </a:spcAft>
              <a:buNone/>
            </a:pPr>
            <a:r>
              <a:rPr lang="en-IN" sz="1600" b="1" dirty="0">
                <a:solidFill>
                  <a:srgbClr val="AEAEAE"/>
                </a:solidFill>
                <a:latin typeface="Courier New"/>
                <a:ea typeface="Courier New"/>
                <a:cs typeface="Courier New"/>
                <a:sym typeface="Courier New"/>
              </a:rPr>
              <a:t># Display the word cloud</a:t>
            </a:r>
            <a:endParaRPr dirty="0"/>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plt.figure</a:t>
            </a:r>
            <a:r>
              <a:rPr lang="en-IN" sz="1600" b="1" dirty="0">
                <a:solidFill>
                  <a:schemeClr val="dk1"/>
                </a:solidFill>
                <a:latin typeface="Courier New"/>
                <a:ea typeface="Courier New"/>
                <a:cs typeface="Courier New"/>
                <a:sym typeface="Courier New"/>
              </a:rPr>
              <a:t>(</a:t>
            </a:r>
            <a:r>
              <a:rPr lang="en-IN" sz="1600" b="1" dirty="0" err="1">
                <a:solidFill>
                  <a:schemeClr val="dk1"/>
                </a:solidFill>
                <a:latin typeface="Courier New"/>
                <a:ea typeface="Courier New"/>
                <a:cs typeface="Courier New"/>
                <a:sym typeface="Courier New"/>
              </a:rPr>
              <a:t>figsize</a:t>
            </a:r>
            <a:r>
              <a:rPr lang="en-IN" sz="1600" b="1" dirty="0">
                <a:solidFill>
                  <a:schemeClr val="dk1"/>
                </a:solidFill>
                <a:latin typeface="Courier New"/>
                <a:ea typeface="Courier New"/>
                <a:cs typeface="Courier New"/>
                <a:sym typeface="Courier New"/>
              </a:rPr>
              <a:t>=(10, 5))</a:t>
            </a:r>
            <a:endParaRPr dirty="0"/>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plt.imshow</a:t>
            </a:r>
            <a:r>
              <a:rPr lang="en-IN" sz="1600" b="1" dirty="0">
                <a:solidFill>
                  <a:schemeClr val="dk1"/>
                </a:solidFill>
                <a:latin typeface="Courier New"/>
                <a:ea typeface="Courier New"/>
                <a:cs typeface="Courier New"/>
                <a:sym typeface="Courier New"/>
              </a:rPr>
              <a:t>(</a:t>
            </a:r>
            <a:r>
              <a:rPr lang="en-IN" sz="1600" b="1" dirty="0" err="1">
                <a:solidFill>
                  <a:schemeClr val="dk1"/>
                </a:solidFill>
                <a:latin typeface="Courier New"/>
                <a:ea typeface="Courier New"/>
                <a:cs typeface="Courier New"/>
                <a:sym typeface="Courier New"/>
              </a:rPr>
              <a:t>wordcloud</a:t>
            </a:r>
            <a:r>
              <a:rPr lang="en-IN" sz="1600" b="1" dirty="0">
                <a:solidFill>
                  <a:schemeClr val="dk1"/>
                </a:solidFill>
                <a:latin typeface="Courier New"/>
                <a:ea typeface="Courier New"/>
                <a:cs typeface="Courier New"/>
                <a:sym typeface="Courier New"/>
              </a:rPr>
              <a:t>, interpolation="bilinear")</a:t>
            </a:r>
            <a:endParaRPr dirty="0"/>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plt.axis</a:t>
            </a:r>
            <a:r>
              <a:rPr lang="en-IN" sz="1600" b="1" dirty="0">
                <a:solidFill>
                  <a:schemeClr val="dk1"/>
                </a:solidFill>
                <a:latin typeface="Courier New"/>
                <a:ea typeface="Courier New"/>
                <a:cs typeface="Courier New"/>
                <a:sym typeface="Courier New"/>
              </a:rPr>
              <a:t>("off")</a:t>
            </a:r>
            <a:endParaRPr dirty="0"/>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plt.show</a:t>
            </a:r>
            <a:r>
              <a:rPr lang="en-IN" sz="1600" b="1" dirty="0">
                <a:solidFill>
                  <a:schemeClr val="dk1"/>
                </a:solidFill>
                <a:latin typeface="Courier New"/>
                <a:ea typeface="Courier New"/>
                <a:cs typeface="Courier New"/>
                <a:sym typeface="Courier New"/>
              </a:rPr>
              <a:t>()</a:t>
            </a:r>
            <a:endParaRPr dirty="0"/>
          </a:p>
        </p:txBody>
      </p:sp>
      <p:sp>
        <p:nvSpPr>
          <p:cNvPr id="113" name="Google Shape;113;p3"/>
          <p:cNvSpPr txBox="1"/>
          <p:nvPr/>
        </p:nvSpPr>
        <p:spPr>
          <a:xfrm>
            <a:off x="6653981" y="1739932"/>
            <a:ext cx="61205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Calibri"/>
                <a:ea typeface="Calibri"/>
                <a:cs typeface="Calibri"/>
                <a:sym typeface="Calibri"/>
              </a:rPr>
              <a:t>Output</a:t>
            </a:r>
            <a:endParaRPr/>
          </a:p>
        </p:txBody>
      </p:sp>
      <p:pic>
        <p:nvPicPr>
          <p:cNvPr id="114" name="Google Shape;114;p3"/>
          <p:cNvPicPr preferRelativeResize="0"/>
          <p:nvPr/>
        </p:nvPicPr>
        <p:blipFill rotWithShape="1">
          <a:blip r:embed="rId4">
            <a:alphaModFix/>
          </a:blip>
          <a:srcRect/>
          <a:stretch/>
        </p:blipFill>
        <p:spPr>
          <a:xfrm>
            <a:off x="6544060" y="2338742"/>
            <a:ext cx="5369255" cy="2752593"/>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graphicFrame>
        <p:nvGraphicFramePr>
          <p:cNvPr id="119" name="Google Shape;119;p4"/>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20" name="Google Shape;120;p4"/>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21" name="Google Shape;121;p4"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22" name="Google Shape;122;p4"/>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3" name="Google Shape;123;p4"/>
          <p:cNvSpPr txBox="1"/>
          <p:nvPr/>
        </p:nvSpPr>
        <p:spPr>
          <a:xfrm>
            <a:off x="0" y="883683"/>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a:solidFill>
                  <a:schemeClr val="dk1"/>
                </a:solidFill>
                <a:latin typeface="Calibri"/>
                <a:ea typeface="Calibri"/>
                <a:cs typeface="Calibri"/>
                <a:sym typeface="Calibri"/>
              </a:rPr>
              <a:t>Text Annotation on a Plot</a:t>
            </a:r>
            <a:endParaRPr sz="3600" b="1" cap="none">
              <a:solidFill>
                <a:schemeClr val="dk1"/>
              </a:solidFill>
              <a:latin typeface="Calibri"/>
              <a:ea typeface="Calibri"/>
              <a:cs typeface="Calibri"/>
              <a:sym typeface="Calibri"/>
            </a:endParaRPr>
          </a:p>
        </p:txBody>
      </p:sp>
      <p:sp>
        <p:nvSpPr>
          <p:cNvPr id="124" name="Google Shape;124;p4"/>
          <p:cNvSpPr txBox="1"/>
          <p:nvPr/>
        </p:nvSpPr>
        <p:spPr>
          <a:xfrm>
            <a:off x="651388" y="1739554"/>
            <a:ext cx="6120580" cy="430887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dirty="0">
                <a:solidFill>
                  <a:schemeClr val="dk1"/>
                </a:solidFill>
                <a:latin typeface="Calibri"/>
                <a:ea typeface="Calibri"/>
                <a:cs typeface="Calibri"/>
                <a:sym typeface="Calibri"/>
              </a:rPr>
              <a:t>Example</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import seaborn as </a:t>
            </a:r>
            <a:r>
              <a:rPr lang="en-IN" sz="1600" b="1" dirty="0" err="1">
                <a:solidFill>
                  <a:schemeClr val="dk1"/>
                </a:solidFill>
                <a:latin typeface="Courier New"/>
                <a:ea typeface="Courier New"/>
                <a:cs typeface="Courier New"/>
                <a:sym typeface="Courier New"/>
              </a:rPr>
              <a:t>sns</a:t>
            </a:r>
            <a:endParaRPr sz="16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import </a:t>
            </a:r>
            <a:r>
              <a:rPr lang="en-IN" sz="1600" b="1" dirty="0" err="1">
                <a:solidFill>
                  <a:schemeClr val="dk1"/>
                </a:solidFill>
                <a:latin typeface="Courier New"/>
                <a:ea typeface="Courier New"/>
                <a:cs typeface="Courier New"/>
                <a:sym typeface="Courier New"/>
              </a:rPr>
              <a:t>matplotlib.pyplot</a:t>
            </a:r>
            <a:r>
              <a:rPr lang="en-IN" sz="1600" b="1" dirty="0">
                <a:solidFill>
                  <a:schemeClr val="dk1"/>
                </a:solidFill>
                <a:latin typeface="Courier New"/>
                <a:ea typeface="Courier New"/>
                <a:cs typeface="Courier New"/>
                <a:sym typeface="Courier New"/>
              </a:rPr>
              <a:t> as </a:t>
            </a:r>
            <a:r>
              <a:rPr lang="en-IN" sz="1600" b="1" dirty="0" err="1">
                <a:solidFill>
                  <a:schemeClr val="dk1"/>
                </a:solidFill>
                <a:latin typeface="Courier New"/>
                <a:ea typeface="Courier New"/>
                <a:cs typeface="Courier New"/>
                <a:sym typeface="Courier New"/>
              </a:rPr>
              <a:t>plt</a:t>
            </a:r>
            <a:endParaRPr sz="16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endParaRPr sz="16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IN" sz="1600" b="1" dirty="0">
                <a:solidFill>
                  <a:srgbClr val="AEAEAE"/>
                </a:solidFill>
                <a:latin typeface="Courier New"/>
                <a:ea typeface="Courier New"/>
                <a:cs typeface="Courier New"/>
                <a:sym typeface="Courier New"/>
              </a:rPr>
              <a:t># Sample data</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x = [1, 2, 3, 4, 5]</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y = [2, 4, 3, 5, 1]</a:t>
            </a:r>
            <a:endParaRPr dirty="0"/>
          </a:p>
          <a:p>
            <a:pPr marL="0" marR="0" lvl="0" indent="0" algn="l" rtl="0">
              <a:spcBef>
                <a:spcPts val="0"/>
              </a:spcBef>
              <a:spcAft>
                <a:spcPts val="0"/>
              </a:spcAft>
              <a:buNone/>
            </a:pPr>
            <a:endParaRPr sz="16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IN" sz="1600" b="1" dirty="0">
                <a:solidFill>
                  <a:srgbClr val="AEAEAE"/>
                </a:solidFill>
                <a:latin typeface="Courier New"/>
                <a:ea typeface="Courier New"/>
                <a:cs typeface="Courier New"/>
                <a:sym typeface="Courier New"/>
              </a:rPr>
              <a:t># Create a scatter plot</a:t>
            </a:r>
            <a:endParaRPr dirty="0"/>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sns.scatterplot</a:t>
            </a:r>
            <a:r>
              <a:rPr lang="en-IN" sz="1600" b="1" dirty="0">
                <a:solidFill>
                  <a:schemeClr val="dk1"/>
                </a:solidFill>
                <a:latin typeface="Courier New"/>
                <a:ea typeface="Courier New"/>
                <a:cs typeface="Courier New"/>
                <a:sym typeface="Courier New"/>
              </a:rPr>
              <a:t>(x=x, y=y)</a:t>
            </a:r>
            <a:endParaRPr dirty="0"/>
          </a:p>
          <a:p>
            <a:pPr marL="0" marR="0" lvl="0" indent="0" algn="l" rtl="0">
              <a:spcBef>
                <a:spcPts val="0"/>
              </a:spcBef>
              <a:spcAft>
                <a:spcPts val="0"/>
              </a:spcAft>
              <a:buNone/>
            </a:pPr>
            <a:endParaRPr sz="16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IN" sz="1600" b="1" dirty="0">
                <a:solidFill>
                  <a:srgbClr val="AEAEAE"/>
                </a:solidFill>
                <a:latin typeface="Courier New"/>
                <a:ea typeface="Courier New"/>
                <a:cs typeface="Courier New"/>
                <a:sym typeface="Courier New"/>
              </a:rPr>
              <a:t># Add text annotations</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for </a:t>
            </a:r>
            <a:r>
              <a:rPr lang="en-IN" sz="1600" b="1" dirty="0" err="1">
                <a:solidFill>
                  <a:schemeClr val="dk1"/>
                </a:solidFill>
                <a:latin typeface="Courier New"/>
                <a:ea typeface="Courier New"/>
                <a:cs typeface="Courier New"/>
                <a:sym typeface="Courier New"/>
              </a:rPr>
              <a:t>i</a:t>
            </a:r>
            <a:r>
              <a:rPr lang="en-IN" sz="1600" b="1" dirty="0">
                <a:solidFill>
                  <a:schemeClr val="dk1"/>
                </a:solidFill>
                <a:latin typeface="Courier New"/>
                <a:ea typeface="Courier New"/>
                <a:cs typeface="Courier New"/>
                <a:sym typeface="Courier New"/>
              </a:rPr>
              <a:t> in range(</a:t>
            </a:r>
            <a:r>
              <a:rPr lang="en-IN" sz="1600" b="1" dirty="0" err="1">
                <a:solidFill>
                  <a:schemeClr val="dk1"/>
                </a:solidFill>
                <a:latin typeface="Courier New"/>
                <a:ea typeface="Courier New"/>
                <a:cs typeface="Courier New"/>
                <a:sym typeface="Courier New"/>
              </a:rPr>
              <a:t>len</a:t>
            </a:r>
            <a:r>
              <a:rPr lang="en-IN" sz="1600" b="1" dirty="0">
                <a:solidFill>
                  <a:schemeClr val="dk1"/>
                </a:solidFill>
                <a:latin typeface="Courier New"/>
                <a:ea typeface="Courier New"/>
                <a:cs typeface="Courier New"/>
                <a:sym typeface="Courier New"/>
              </a:rPr>
              <a:t>(x)):</a:t>
            </a:r>
            <a:endParaRPr dirty="0"/>
          </a:p>
          <a:p>
            <a:pPr marL="0" marR="0" lvl="0" indent="0" algn="l" rtl="0">
              <a:spcBef>
                <a:spcPts val="0"/>
              </a:spcBef>
              <a:spcAft>
                <a:spcPts val="0"/>
              </a:spcAft>
              <a:buNone/>
            </a:pPr>
            <a:r>
              <a:rPr lang="en-IN" sz="1600" b="1" dirty="0">
                <a:solidFill>
                  <a:schemeClr val="dk1"/>
                </a:solidFill>
                <a:latin typeface="Courier New"/>
                <a:ea typeface="Courier New"/>
                <a:cs typeface="Courier New"/>
                <a:sym typeface="Courier New"/>
              </a:rPr>
              <a:t>    </a:t>
            </a:r>
            <a:r>
              <a:rPr lang="en-IN" sz="1600" b="1" dirty="0" err="1">
                <a:solidFill>
                  <a:schemeClr val="dk1"/>
                </a:solidFill>
                <a:latin typeface="Courier New"/>
                <a:ea typeface="Courier New"/>
                <a:cs typeface="Courier New"/>
                <a:sym typeface="Courier New"/>
              </a:rPr>
              <a:t>plt.text</a:t>
            </a:r>
            <a:r>
              <a:rPr lang="en-IN" sz="1600" b="1" dirty="0">
                <a:solidFill>
                  <a:schemeClr val="dk1"/>
                </a:solidFill>
                <a:latin typeface="Courier New"/>
                <a:ea typeface="Courier New"/>
                <a:cs typeface="Courier New"/>
                <a:sym typeface="Courier New"/>
              </a:rPr>
              <a:t>(x[</a:t>
            </a:r>
            <a:r>
              <a:rPr lang="en-IN" sz="1600" b="1" dirty="0" err="1">
                <a:solidFill>
                  <a:schemeClr val="dk1"/>
                </a:solidFill>
                <a:latin typeface="Courier New"/>
                <a:ea typeface="Courier New"/>
                <a:cs typeface="Courier New"/>
                <a:sym typeface="Courier New"/>
              </a:rPr>
              <a:t>i</a:t>
            </a:r>
            <a:r>
              <a:rPr lang="en-IN" sz="1600" b="1" dirty="0">
                <a:solidFill>
                  <a:schemeClr val="dk1"/>
                </a:solidFill>
                <a:latin typeface="Courier New"/>
                <a:ea typeface="Courier New"/>
                <a:cs typeface="Courier New"/>
                <a:sym typeface="Courier New"/>
              </a:rPr>
              <a:t>], y[</a:t>
            </a:r>
            <a:r>
              <a:rPr lang="en-IN" sz="1600" b="1" dirty="0" err="1">
                <a:solidFill>
                  <a:schemeClr val="dk1"/>
                </a:solidFill>
                <a:latin typeface="Courier New"/>
                <a:ea typeface="Courier New"/>
                <a:cs typeface="Courier New"/>
                <a:sym typeface="Courier New"/>
              </a:rPr>
              <a:t>i</a:t>
            </a:r>
            <a:r>
              <a:rPr lang="en-IN" sz="1600" b="1" dirty="0">
                <a:solidFill>
                  <a:schemeClr val="dk1"/>
                </a:solidFill>
                <a:latin typeface="Courier New"/>
                <a:ea typeface="Courier New"/>
                <a:cs typeface="Courier New"/>
                <a:sym typeface="Courier New"/>
              </a:rPr>
              <a:t>], f"({x[</a:t>
            </a:r>
            <a:r>
              <a:rPr lang="en-IN" sz="1600" b="1" dirty="0" err="1">
                <a:solidFill>
                  <a:schemeClr val="dk1"/>
                </a:solidFill>
                <a:latin typeface="Courier New"/>
                <a:ea typeface="Courier New"/>
                <a:cs typeface="Courier New"/>
                <a:sym typeface="Courier New"/>
              </a:rPr>
              <a:t>i</a:t>
            </a:r>
            <a:r>
              <a:rPr lang="en-IN" sz="1600" b="1" dirty="0">
                <a:solidFill>
                  <a:schemeClr val="dk1"/>
                </a:solidFill>
                <a:latin typeface="Courier New"/>
                <a:ea typeface="Courier New"/>
                <a:cs typeface="Courier New"/>
                <a:sym typeface="Courier New"/>
              </a:rPr>
              <a:t>]}, {y[</a:t>
            </a:r>
            <a:r>
              <a:rPr lang="en-IN" sz="1600" b="1" dirty="0" err="1">
                <a:solidFill>
                  <a:schemeClr val="dk1"/>
                </a:solidFill>
                <a:latin typeface="Courier New"/>
                <a:ea typeface="Courier New"/>
                <a:cs typeface="Courier New"/>
                <a:sym typeface="Courier New"/>
              </a:rPr>
              <a:t>i</a:t>
            </a:r>
            <a:r>
              <a:rPr lang="en-IN" sz="1600" b="1" dirty="0">
                <a:solidFill>
                  <a:schemeClr val="dk1"/>
                </a:solidFill>
                <a:latin typeface="Courier New"/>
                <a:ea typeface="Courier New"/>
                <a:cs typeface="Courier New"/>
                <a:sym typeface="Courier New"/>
              </a:rPr>
              <a:t>]})", ha="</a:t>
            </a:r>
            <a:r>
              <a:rPr lang="en-IN" sz="1600" b="1" dirty="0" err="1">
                <a:solidFill>
                  <a:schemeClr val="dk1"/>
                </a:solidFill>
                <a:latin typeface="Courier New"/>
                <a:ea typeface="Courier New"/>
                <a:cs typeface="Courier New"/>
                <a:sym typeface="Courier New"/>
              </a:rPr>
              <a:t>center</a:t>
            </a:r>
            <a:r>
              <a:rPr lang="en-IN" sz="1600" b="1" dirty="0">
                <a:solidFill>
                  <a:schemeClr val="dk1"/>
                </a:solidFill>
                <a:latin typeface="Courier New"/>
                <a:ea typeface="Courier New"/>
                <a:cs typeface="Courier New"/>
                <a:sym typeface="Courier New"/>
              </a:rPr>
              <a:t>", </a:t>
            </a:r>
            <a:r>
              <a:rPr lang="en-IN" sz="1600" b="1" dirty="0" err="1">
                <a:solidFill>
                  <a:schemeClr val="dk1"/>
                </a:solidFill>
                <a:latin typeface="Courier New"/>
                <a:ea typeface="Courier New"/>
                <a:cs typeface="Courier New"/>
                <a:sym typeface="Courier New"/>
              </a:rPr>
              <a:t>va</a:t>
            </a:r>
            <a:r>
              <a:rPr lang="en-IN" sz="1600" b="1" dirty="0">
                <a:solidFill>
                  <a:schemeClr val="dk1"/>
                </a:solidFill>
                <a:latin typeface="Courier New"/>
                <a:ea typeface="Courier New"/>
                <a:cs typeface="Courier New"/>
                <a:sym typeface="Courier New"/>
              </a:rPr>
              <a:t>="bottom")</a:t>
            </a:r>
            <a:endParaRPr dirty="0"/>
          </a:p>
          <a:p>
            <a:pPr marL="0" marR="0" lvl="0" indent="0" algn="l" rtl="0">
              <a:spcBef>
                <a:spcPts val="0"/>
              </a:spcBef>
              <a:spcAft>
                <a:spcPts val="0"/>
              </a:spcAft>
              <a:buNone/>
            </a:pPr>
            <a:endParaRPr sz="16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IN" sz="1600" b="1" dirty="0" err="1">
                <a:solidFill>
                  <a:schemeClr val="dk1"/>
                </a:solidFill>
                <a:latin typeface="Courier New"/>
                <a:ea typeface="Courier New"/>
                <a:cs typeface="Courier New"/>
                <a:sym typeface="Courier New"/>
              </a:rPr>
              <a:t>plt.show</a:t>
            </a:r>
            <a:r>
              <a:rPr lang="en-IN" sz="1600" b="1" dirty="0">
                <a:solidFill>
                  <a:schemeClr val="dk1"/>
                </a:solidFill>
                <a:latin typeface="Courier New"/>
                <a:ea typeface="Courier New"/>
                <a:cs typeface="Courier New"/>
                <a:sym typeface="Courier New"/>
              </a:rPr>
              <a:t>()</a:t>
            </a:r>
            <a:endParaRPr dirty="0"/>
          </a:p>
        </p:txBody>
      </p:sp>
      <p:sp>
        <p:nvSpPr>
          <p:cNvPr id="125" name="Google Shape;125;p4"/>
          <p:cNvSpPr txBox="1"/>
          <p:nvPr/>
        </p:nvSpPr>
        <p:spPr>
          <a:xfrm>
            <a:off x="6771968" y="1739554"/>
            <a:ext cx="61205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Calibri"/>
                <a:ea typeface="Calibri"/>
                <a:cs typeface="Calibri"/>
                <a:sym typeface="Calibri"/>
              </a:rPr>
              <a:t>Output</a:t>
            </a:r>
            <a:endParaRPr/>
          </a:p>
        </p:txBody>
      </p:sp>
      <p:pic>
        <p:nvPicPr>
          <p:cNvPr id="126" name="Google Shape;126;p4"/>
          <p:cNvPicPr preferRelativeResize="0"/>
          <p:nvPr/>
        </p:nvPicPr>
        <p:blipFill rotWithShape="1">
          <a:blip r:embed="rId4">
            <a:alphaModFix/>
          </a:blip>
          <a:srcRect/>
          <a:stretch/>
        </p:blipFill>
        <p:spPr>
          <a:xfrm>
            <a:off x="6578241" y="2234832"/>
            <a:ext cx="5210175" cy="3933825"/>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graphicFrame>
        <p:nvGraphicFramePr>
          <p:cNvPr id="131" name="Google Shape;131;p5"/>
          <p:cNvGraphicFramePr/>
          <p:nvPr/>
        </p:nvGraphicFramePr>
        <p:xfrm>
          <a:off x="0" y="23812"/>
          <a:ext cx="12192000" cy="465275"/>
        </p:xfrm>
        <a:graphic>
          <a:graphicData uri="http://schemas.openxmlformats.org/drawingml/2006/table">
            <a:tbl>
              <a:tblPr firstRow="1" bandRow="1">
                <a:noFill/>
              </a:tblPr>
              <a:tblGrid>
                <a:gridCol w="6092050">
                  <a:extLst>
                    <a:ext uri="{9D8B030D-6E8A-4147-A177-3AD203B41FA5}">
                      <a16:colId xmlns:a16="http://schemas.microsoft.com/office/drawing/2014/main" val="20000"/>
                    </a:ext>
                  </a:extLst>
                </a:gridCol>
                <a:gridCol w="6099950">
                  <a:extLst>
                    <a:ext uri="{9D8B030D-6E8A-4147-A177-3AD203B41FA5}">
                      <a16:colId xmlns:a16="http://schemas.microsoft.com/office/drawing/2014/main" val="20001"/>
                    </a:ext>
                  </a:extLst>
                </a:gridCol>
              </a:tblGrid>
              <a:tr h="465275">
                <a:tc>
                  <a:txBody>
                    <a:bodyPr/>
                    <a:lstStyle/>
                    <a:p>
                      <a:pPr marL="0" marR="0" lvl="0" indent="0" algn="l" rtl="0">
                        <a:spcBef>
                          <a:spcPts val="0"/>
                        </a:spcBef>
                        <a:spcAft>
                          <a:spcPts val="0"/>
                        </a:spcAft>
                        <a:buNone/>
                      </a:pPr>
                      <a:endParaRPr sz="1800"/>
                    </a:p>
                  </a:txBody>
                  <a:tcPr marL="91450" marR="91450" marT="45725" marB="45725">
                    <a:solidFill>
                      <a:srgbClr val="FF85FF"/>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extLst>
                  <a:ext uri="{0D108BD9-81ED-4DB2-BD59-A6C34878D82A}">
                    <a16:rowId xmlns:a16="http://schemas.microsoft.com/office/drawing/2014/main" val="10000"/>
                  </a:ext>
                </a:extLst>
              </a:tr>
            </a:tbl>
          </a:graphicData>
        </a:graphic>
      </p:graphicFrame>
      <p:graphicFrame>
        <p:nvGraphicFramePr>
          <p:cNvPr id="132" name="Google Shape;132;p5"/>
          <p:cNvGraphicFramePr/>
          <p:nvPr/>
        </p:nvGraphicFramePr>
        <p:xfrm>
          <a:off x="1" y="6478892"/>
          <a:ext cx="12192000" cy="370850"/>
        </p:xfrm>
        <a:graphic>
          <a:graphicData uri="http://schemas.openxmlformats.org/drawingml/2006/table">
            <a:tbl>
              <a:tblPr firstRow="1" bandRow="1">
                <a:noFill/>
              </a:tblPr>
              <a:tblGrid>
                <a:gridCol w="6080175">
                  <a:extLst>
                    <a:ext uri="{9D8B030D-6E8A-4147-A177-3AD203B41FA5}">
                      <a16:colId xmlns:a16="http://schemas.microsoft.com/office/drawing/2014/main" val="20000"/>
                    </a:ext>
                  </a:extLst>
                </a:gridCol>
                <a:gridCol w="61118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r" rtl="0">
                        <a:spcBef>
                          <a:spcPts val="0"/>
                        </a:spcBef>
                        <a:spcAft>
                          <a:spcPts val="0"/>
                        </a:spcAft>
                        <a:buNone/>
                      </a:pPr>
                      <a:r>
                        <a:rPr lang="en-IN" sz="1800">
                          <a:solidFill>
                            <a:schemeClr val="dk1"/>
                          </a:solidFill>
                        </a:rPr>
                        <a:t>2</a:t>
                      </a:r>
                      <a:endParaRPr/>
                    </a:p>
                  </a:txBody>
                  <a:tcPr marL="91450" marR="91450" marT="45725" marB="45725">
                    <a:solidFill>
                      <a:srgbClr val="FF85FF"/>
                    </a:solidFill>
                  </a:tcPr>
                </a:tc>
                <a:extLst>
                  <a:ext uri="{0D108BD9-81ED-4DB2-BD59-A6C34878D82A}">
                    <a16:rowId xmlns:a16="http://schemas.microsoft.com/office/drawing/2014/main" val="10000"/>
                  </a:ext>
                </a:extLst>
              </a:tr>
            </a:tbl>
          </a:graphicData>
        </a:graphic>
      </p:graphicFrame>
      <p:pic>
        <p:nvPicPr>
          <p:cNvPr id="133" name="Google Shape;133;p5" descr="pngfind.com-kingpin-png-4152286 (1).png"/>
          <p:cNvPicPr preferRelativeResize="0"/>
          <p:nvPr/>
        </p:nvPicPr>
        <p:blipFill rotWithShape="1">
          <a:blip r:embed="rId3">
            <a:alphaModFix/>
          </a:blip>
          <a:srcRect/>
          <a:stretch/>
        </p:blipFill>
        <p:spPr>
          <a:xfrm>
            <a:off x="11044052" y="8268"/>
            <a:ext cx="1051261" cy="465287"/>
          </a:xfrm>
          <a:prstGeom prst="rect">
            <a:avLst/>
          </a:prstGeom>
          <a:noFill/>
          <a:ln>
            <a:noFill/>
          </a:ln>
        </p:spPr>
      </p:pic>
      <p:sp>
        <p:nvSpPr>
          <p:cNvPr id="134" name="Google Shape;134;p5"/>
          <p:cNvSpPr/>
          <p:nvPr/>
        </p:nvSpPr>
        <p:spPr>
          <a:xfrm>
            <a:off x="0" y="8268"/>
            <a:ext cx="12192000" cy="6825920"/>
          </a:xfrm>
          <a:prstGeom prst="rect">
            <a:avLst/>
          </a:prstGeom>
          <a:noFill/>
          <a:ln w="38100" cap="flat" cmpd="sng">
            <a:solidFill>
              <a:srgbClr val="0432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5" name="Google Shape;135;p5"/>
          <p:cNvSpPr txBox="1"/>
          <p:nvPr/>
        </p:nvSpPr>
        <p:spPr>
          <a:xfrm>
            <a:off x="0" y="883683"/>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3600" b="1">
                <a:solidFill>
                  <a:schemeClr val="dk1"/>
                </a:solidFill>
                <a:latin typeface="Calibri"/>
                <a:ea typeface="Calibri"/>
                <a:cs typeface="Calibri"/>
                <a:sym typeface="Calibri"/>
              </a:rPr>
              <a:t>Text as a Plot Element</a:t>
            </a:r>
            <a:endParaRPr sz="3600" b="1" cap="none">
              <a:solidFill>
                <a:schemeClr val="dk1"/>
              </a:solidFill>
              <a:latin typeface="Calibri"/>
              <a:ea typeface="Calibri"/>
              <a:cs typeface="Calibri"/>
              <a:sym typeface="Calibri"/>
            </a:endParaRPr>
          </a:p>
        </p:txBody>
      </p:sp>
      <p:sp>
        <p:nvSpPr>
          <p:cNvPr id="136" name="Google Shape;136;p5"/>
          <p:cNvSpPr txBox="1"/>
          <p:nvPr/>
        </p:nvSpPr>
        <p:spPr>
          <a:xfrm>
            <a:off x="651388" y="1739554"/>
            <a:ext cx="6120580" cy="424731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dirty="0">
                <a:solidFill>
                  <a:schemeClr val="dk1"/>
                </a:solidFill>
                <a:latin typeface="Calibri"/>
                <a:ea typeface="Calibri"/>
                <a:cs typeface="Calibri"/>
                <a:sym typeface="Calibri"/>
              </a:rPr>
              <a:t>Example</a:t>
            </a:r>
            <a:endParaRPr dirty="0"/>
          </a:p>
          <a:p>
            <a:pPr marL="0" marR="0" lvl="0" indent="0" algn="l" rtl="0">
              <a:spcBef>
                <a:spcPts val="0"/>
              </a:spcBef>
              <a:spcAft>
                <a:spcPts val="0"/>
              </a:spcAft>
              <a:buNone/>
            </a:pPr>
            <a:r>
              <a:rPr lang="en-IN" sz="1800" b="1" dirty="0">
                <a:solidFill>
                  <a:schemeClr val="dk1"/>
                </a:solidFill>
                <a:latin typeface="Courier New"/>
                <a:ea typeface="Courier New"/>
                <a:cs typeface="Courier New"/>
                <a:sym typeface="Courier New"/>
              </a:rPr>
              <a:t>import seaborn as </a:t>
            </a:r>
            <a:r>
              <a:rPr lang="en-IN" sz="1800" b="1" dirty="0" err="1">
                <a:solidFill>
                  <a:schemeClr val="dk1"/>
                </a:solidFill>
                <a:latin typeface="Courier New"/>
                <a:ea typeface="Courier New"/>
                <a:cs typeface="Courier New"/>
                <a:sym typeface="Courier New"/>
              </a:rPr>
              <a:t>sns</a:t>
            </a:r>
            <a:endParaRPr sz="18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IN" sz="1800" b="1" dirty="0">
                <a:solidFill>
                  <a:schemeClr val="dk1"/>
                </a:solidFill>
                <a:latin typeface="Courier New"/>
                <a:ea typeface="Courier New"/>
                <a:cs typeface="Courier New"/>
                <a:sym typeface="Courier New"/>
              </a:rPr>
              <a:t>import </a:t>
            </a:r>
            <a:r>
              <a:rPr lang="en-IN" sz="1800" b="1" dirty="0" err="1">
                <a:solidFill>
                  <a:schemeClr val="dk1"/>
                </a:solidFill>
                <a:latin typeface="Courier New"/>
                <a:ea typeface="Courier New"/>
                <a:cs typeface="Courier New"/>
                <a:sym typeface="Courier New"/>
              </a:rPr>
              <a:t>matplotlib.pyplot</a:t>
            </a:r>
            <a:r>
              <a:rPr lang="en-IN" sz="1800" b="1" dirty="0">
                <a:solidFill>
                  <a:schemeClr val="dk1"/>
                </a:solidFill>
                <a:latin typeface="Courier New"/>
                <a:ea typeface="Courier New"/>
                <a:cs typeface="Courier New"/>
                <a:sym typeface="Courier New"/>
              </a:rPr>
              <a:t> as </a:t>
            </a:r>
            <a:r>
              <a:rPr lang="en-IN" sz="1800" b="1" dirty="0" err="1">
                <a:solidFill>
                  <a:schemeClr val="dk1"/>
                </a:solidFill>
                <a:latin typeface="Courier New"/>
                <a:ea typeface="Courier New"/>
                <a:cs typeface="Courier New"/>
                <a:sym typeface="Courier New"/>
              </a:rPr>
              <a:t>plt</a:t>
            </a:r>
            <a:endParaRPr sz="18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endParaRPr sz="18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IN" sz="1800" b="1" dirty="0">
                <a:solidFill>
                  <a:srgbClr val="AEAEAE"/>
                </a:solidFill>
                <a:latin typeface="Courier New"/>
                <a:ea typeface="Courier New"/>
                <a:cs typeface="Courier New"/>
                <a:sym typeface="Courier New"/>
              </a:rPr>
              <a:t># Create a figure and axes</a:t>
            </a:r>
            <a:endParaRPr dirty="0"/>
          </a:p>
          <a:p>
            <a:pPr marL="0" marR="0" lvl="0" indent="0" algn="l" rtl="0">
              <a:spcBef>
                <a:spcPts val="0"/>
              </a:spcBef>
              <a:spcAft>
                <a:spcPts val="0"/>
              </a:spcAft>
              <a:buNone/>
            </a:pPr>
            <a:r>
              <a:rPr lang="en-IN" sz="1800" b="1" dirty="0">
                <a:solidFill>
                  <a:schemeClr val="dk1"/>
                </a:solidFill>
                <a:latin typeface="Courier New"/>
                <a:ea typeface="Courier New"/>
                <a:cs typeface="Courier New"/>
                <a:sym typeface="Courier New"/>
              </a:rPr>
              <a:t>fig, </a:t>
            </a:r>
            <a:r>
              <a:rPr lang="en-IN" sz="1800" b="1" dirty="0" err="1">
                <a:solidFill>
                  <a:schemeClr val="dk1"/>
                </a:solidFill>
                <a:latin typeface="Courier New"/>
                <a:ea typeface="Courier New"/>
                <a:cs typeface="Courier New"/>
                <a:sym typeface="Courier New"/>
              </a:rPr>
              <a:t>ax</a:t>
            </a:r>
            <a:r>
              <a:rPr lang="en-IN" sz="1800" b="1" dirty="0">
                <a:solidFill>
                  <a:schemeClr val="dk1"/>
                </a:solidFill>
                <a:latin typeface="Courier New"/>
                <a:ea typeface="Courier New"/>
                <a:cs typeface="Courier New"/>
                <a:sym typeface="Courier New"/>
              </a:rPr>
              <a:t> = </a:t>
            </a:r>
            <a:r>
              <a:rPr lang="en-IN" sz="1800" b="1" dirty="0" err="1">
                <a:solidFill>
                  <a:schemeClr val="dk1"/>
                </a:solidFill>
                <a:latin typeface="Courier New"/>
                <a:ea typeface="Courier New"/>
                <a:cs typeface="Courier New"/>
                <a:sym typeface="Courier New"/>
              </a:rPr>
              <a:t>plt.subplots</a:t>
            </a:r>
            <a:r>
              <a:rPr lang="en-IN" sz="1800" b="1" dirty="0">
                <a:solidFill>
                  <a:schemeClr val="dk1"/>
                </a:solidFill>
                <a:latin typeface="Courier New"/>
                <a:ea typeface="Courier New"/>
                <a:cs typeface="Courier New"/>
                <a:sym typeface="Courier New"/>
              </a:rPr>
              <a:t>()</a:t>
            </a:r>
            <a:endParaRPr dirty="0"/>
          </a:p>
          <a:p>
            <a:pPr marL="0" marR="0" lvl="0" indent="0" algn="l" rtl="0">
              <a:spcBef>
                <a:spcPts val="0"/>
              </a:spcBef>
              <a:spcAft>
                <a:spcPts val="0"/>
              </a:spcAft>
              <a:buNone/>
            </a:pPr>
            <a:endParaRPr sz="18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IN" sz="1800" b="1" dirty="0">
                <a:solidFill>
                  <a:srgbClr val="AEAEAE"/>
                </a:solidFill>
                <a:latin typeface="Courier New"/>
                <a:ea typeface="Courier New"/>
                <a:cs typeface="Courier New"/>
                <a:sym typeface="Courier New"/>
              </a:rPr>
              <a:t># Add text to the plot</a:t>
            </a:r>
            <a:endParaRPr dirty="0"/>
          </a:p>
          <a:p>
            <a:pPr marL="0" marR="0" lvl="0" indent="0" algn="l" rtl="0">
              <a:spcBef>
                <a:spcPts val="0"/>
              </a:spcBef>
              <a:spcAft>
                <a:spcPts val="0"/>
              </a:spcAft>
              <a:buNone/>
            </a:pPr>
            <a:r>
              <a:rPr lang="en-IN" sz="1800" b="1" dirty="0" err="1">
                <a:solidFill>
                  <a:schemeClr val="dk1"/>
                </a:solidFill>
                <a:latin typeface="Courier New"/>
                <a:ea typeface="Courier New"/>
                <a:cs typeface="Courier New"/>
                <a:sym typeface="Courier New"/>
              </a:rPr>
              <a:t>ax.text</a:t>
            </a:r>
            <a:r>
              <a:rPr lang="en-IN" sz="1800" b="1" dirty="0">
                <a:solidFill>
                  <a:schemeClr val="dk1"/>
                </a:solidFill>
                <a:latin typeface="Courier New"/>
                <a:ea typeface="Courier New"/>
                <a:cs typeface="Courier New"/>
                <a:sym typeface="Courier New"/>
              </a:rPr>
              <a:t>(0.5, 0.5, "This is a sample text on the plot",</a:t>
            </a:r>
            <a:endParaRPr dirty="0"/>
          </a:p>
          <a:p>
            <a:pPr marL="0" marR="0" lvl="0" indent="0" algn="l" rtl="0">
              <a:spcBef>
                <a:spcPts val="0"/>
              </a:spcBef>
              <a:spcAft>
                <a:spcPts val="0"/>
              </a:spcAft>
              <a:buNone/>
            </a:pPr>
            <a:r>
              <a:rPr lang="en-IN" sz="1800" b="1" dirty="0">
                <a:solidFill>
                  <a:schemeClr val="dk1"/>
                </a:solidFill>
                <a:latin typeface="Courier New"/>
                <a:ea typeface="Courier New"/>
                <a:cs typeface="Courier New"/>
                <a:sym typeface="Courier New"/>
              </a:rPr>
              <a:t>        </a:t>
            </a:r>
            <a:r>
              <a:rPr lang="en-IN" sz="1800" b="1" dirty="0" err="1">
                <a:solidFill>
                  <a:schemeClr val="dk1"/>
                </a:solidFill>
                <a:latin typeface="Courier New"/>
                <a:ea typeface="Courier New"/>
                <a:cs typeface="Courier New"/>
                <a:sym typeface="Courier New"/>
              </a:rPr>
              <a:t>horizontalalignment</a:t>
            </a:r>
            <a:r>
              <a:rPr lang="en-IN" sz="1800" b="1" dirty="0">
                <a:solidFill>
                  <a:schemeClr val="dk1"/>
                </a:solidFill>
                <a:latin typeface="Courier New"/>
                <a:ea typeface="Courier New"/>
                <a:cs typeface="Courier New"/>
                <a:sym typeface="Courier New"/>
              </a:rPr>
              <a:t>='</a:t>
            </a:r>
            <a:r>
              <a:rPr lang="en-IN" sz="1800" b="1" dirty="0" err="1">
                <a:solidFill>
                  <a:schemeClr val="dk1"/>
                </a:solidFill>
                <a:latin typeface="Courier New"/>
                <a:ea typeface="Courier New"/>
                <a:cs typeface="Courier New"/>
                <a:sym typeface="Courier New"/>
              </a:rPr>
              <a:t>center</a:t>
            </a:r>
            <a:r>
              <a:rPr lang="en-IN" sz="1800" b="1" dirty="0">
                <a:solidFill>
                  <a:schemeClr val="dk1"/>
                </a:solidFill>
                <a:latin typeface="Courier New"/>
                <a:ea typeface="Courier New"/>
                <a:cs typeface="Courier New"/>
                <a:sym typeface="Courier New"/>
              </a:rPr>
              <a:t>',</a:t>
            </a:r>
            <a:endParaRPr dirty="0"/>
          </a:p>
          <a:p>
            <a:pPr marL="0" marR="0" lvl="0" indent="0" algn="l" rtl="0">
              <a:spcBef>
                <a:spcPts val="0"/>
              </a:spcBef>
              <a:spcAft>
                <a:spcPts val="0"/>
              </a:spcAft>
              <a:buNone/>
            </a:pPr>
            <a:r>
              <a:rPr lang="en-IN" sz="1800" b="1" dirty="0">
                <a:solidFill>
                  <a:schemeClr val="dk1"/>
                </a:solidFill>
                <a:latin typeface="Courier New"/>
                <a:ea typeface="Courier New"/>
                <a:cs typeface="Courier New"/>
                <a:sym typeface="Courier New"/>
              </a:rPr>
              <a:t>        </a:t>
            </a:r>
            <a:r>
              <a:rPr lang="en-IN" sz="1800" b="1" dirty="0" err="1">
                <a:solidFill>
                  <a:schemeClr val="dk1"/>
                </a:solidFill>
                <a:latin typeface="Courier New"/>
                <a:ea typeface="Courier New"/>
                <a:cs typeface="Courier New"/>
                <a:sym typeface="Courier New"/>
              </a:rPr>
              <a:t>verticalalignment</a:t>
            </a:r>
            <a:r>
              <a:rPr lang="en-IN" sz="1800" b="1" dirty="0">
                <a:solidFill>
                  <a:schemeClr val="dk1"/>
                </a:solidFill>
                <a:latin typeface="Courier New"/>
                <a:ea typeface="Courier New"/>
                <a:cs typeface="Courier New"/>
                <a:sym typeface="Courier New"/>
              </a:rPr>
              <a:t>='</a:t>
            </a:r>
            <a:r>
              <a:rPr lang="en-IN" sz="1800" b="1" dirty="0" err="1">
                <a:solidFill>
                  <a:schemeClr val="dk1"/>
                </a:solidFill>
                <a:latin typeface="Courier New"/>
                <a:ea typeface="Courier New"/>
                <a:cs typeface="Courier New"/>
                <a:sym typeface="Courier New"/>
              </a:rPr>
              <a:t>center</a:t>
            </a:r>
            <a:r>
              <a:rPr lang="en-IN" sz="1800" b="1" dirty="0">
                <a:solidFill>
                  <a:schemeClr val="dk1"/>
                </a:solidFill>
                <a:latin typeface="Courier New"/>
                <a:ea typeface="Courier New"/>
                <a:cs typeface="Courier New"/>
                <a:sym typeface="Courier New"/>
              </a:rPr>
              <a:t>',</a:t>
            </a:r>
            <a:endParaRPr dirty="0"/>
          </a:p>
          <a:p>
            <a:pPr marL="0" marR="0" lvl="0" indent="0" algn="l" rtl="0">
              <a:spcBef>
                <a:spcPts val="0"/>
              </a:spcBef>
              <a:spcAft>
                <a:spcPts val="0"/>
              </a:spcAft>
              <a:buNone/>
            </a:pPr>
            <a:r>
              <a:rPr lang="en-IN" sz="1800" b="1" dirty="0">
                <a:solidFill>
                  <a:schemeClr val="dk1"/>
                </a:solidFill>
                <a:latin typeface="Courier New"/>
                <a:ea typeface="Courier New"/>
                <a:cs typeface="Courier New"/>
                <a:sym typeface="Courier New"/>
              </a:rPr>
              <a:t>        transform=</a:t>
            </a:r>
            <a:r>
              <a:rPr lang="en-IN" sz="1800" b="1" dirty="0" err="1">
                <a:solidFill>
                  <a:schemeClr val="dk1"/>
                </a:solidFill>
                <a:latin typeface="Courier New"/>
                <a:ea typeface="Courier New"/>
                <a:cs typeface="Courier New"/>
                <a:sym typeface="Courier New"/>
              </a:rPr>
              <a:t>ax.transAxes</a:t>
            </a:r>
            <a:r>
              <a:rPr lang="en-IN" sz="1800" b="1" dirty="0">
                <a:solidFill>
                  <a:schemeClr val="dk1"/>
                </a:solidFill>
                <a:latin typeface="Courier New"/>
                <a:ea typeface="Courier New"/>
                <a:cs typeface="Courier New"/>
                <a:sym typeface="Courier New"/>
              </a:rPr>
              <a:t>)</a:t>
            </a:r>
            <a:endParaRPr dirty="0"/>
          </a:p>
          <a:p>
            <a:pPr marL="0" marR="0" lvl="0" indent="0" algn="l" rtl="0">
              <a:spcBef>
                <a:spcPts val="0"/>
              </a:spcBef>
              <a:spcAft>
                <a:spcPts val="0"/>
              </a:spcAft>
              <a:buNone/>
            </a:pPr>
            <a:endParaRPr sz="1800" b="1" dirty="0">
              <a:solidFill>
                <a:schemeClr val="dk1"/>
              </a:solidFill>
              <a:latin typeface="Courier New"/>
              <a:ea typeface="Courier New"/>
              <a:cs typeface="Courier New"/>
              <a:sym typeface="Courier New"/>
            </a:endParaRPr>
          </a:p>
          <a:p>
            <a:pPr marL="0" marR="0" lvl="0" indent="0" algn="l" rtl="0">
              <a:spcBef>
                <a:spcPts val="0"/>
              </a:spcBef>
              <a:spcAft>
                <a:spcPts val="0"/>
              </a:spcAft>
              <a:buNone/>
            </a:pPr>
            <a:r>
              <a:rPr lang="en-IN" sz="1800" b="1" dirty="0" err="1">
                <a:solidFill>
                  <a:schemeClr val="dk1"/>
                </a:solidFill>
                <a:latin typeface="Courier New"/>
                <a:ea typeface="Courier New"/>
                <a:cs typeface="Courier New"/>
                <a:sym typeface="Courier New"/>
              </a:rPr>
              <a:t>plt.show</a:t>
            </a:r>
            <a:r>
              <a:rPr lang="en-IN" sz="1800" b="1" dirty="0">
                <a:solidFill>
                  <a:schemeClr val="dk1"/>
                </a:solidFill>
                <a:latin typeface="Courier New"/>
                <a:ea typeface="Courier New"/>
                <a:cs typeface="Courier New"/>
                <a:sym typeface="Courier New"/>
              </a:rPr>
              <a:t>()</a:t>
            </a:r>
            <a:endParaRPr dirty="0"/>
          </a:p>
        </p:txBody>
      </p:sp>
      <p:sp>
        <p:nvSpPr>
          <p:cNvPr id="137" name="Google Shape;137;p5"/>
          <p:cNvSpPr txBox="1"/>
          <p:nvPr/>
        </p:nvSpPr>
        <p:spPr>
          <a:xfrm>
            <a:off x="6771968" y="1652703"/>
            <a:ext cx="61205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1">
                <a:solidFill>
                  <a:schemeClr val="dk1"/>
                </a:solidFill>
                <a:latin typeface="Calibri"/>
                <a:ea typeface="Calibri"/>
                <a:cs typeface="Calibri"/>
                <a:sym typeface="Calibri"/>
              </a:rPr>
              <a:t>Output</a:t>
            </a:r>
            <a:endParaRPr/>
          </a:p>
        </p:txBody>
      </p:sp>
      <p:pic>
        <p:nvPicPr>
          <p:cNvPr id="138" name="Google Shape;138;p5"/>
          <p:cNvPicPr preferRelativeResize="0"/>
          <p:nvPr/>
        </p:nvPicPr>
        <p:blipFill rotWithShape="1">
          <a:blip r:embed="rId4">
            <a:alphaModFix/>
          </a:blip>
          <a:srcRect/>
          <a:stretch/>
        </p:blipFill>
        <p:spPr>
          <a:xfrm>
            <a:off x="6653981" y="2102858"/>
            <a:ext cx="5314950" cy="3981450"/>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1</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4" name="Rectangle 13">
            <a:extLst>
              <a:ext uri="{FF2B5EF4-FFF2-40B4-BE49-F238E27FC236}">
                <a16:creationId xmlns:a16="http://schemas.microsoft.com/office/drawing/2014/main" id="{6EB9A5F7-B7D7-E008-8229-AD564931BCC6}"/>
              </a:ext>
            </a:extLst>
          </p:cNvPr>
          <p:cNvSpPr/>
          <p:nvPr/>
        </p:nvSpPr>
        <p:spPr>
          <a:xfrm>
            <a:off x="5304848" y="2967335"/>
            <a:ext cx="1582484" cy="646331"/>
          </a:xfrm>
          <a:prstGeom prst="rect">
            <a:avLst/>
          </a:prstGeom>
          <a:noFill/>
        </p:spPr>
        <p:txBody>
          <a:bodyPr wrap="none" lIns="91440" tIns="45720" rIns="91440" bIns="45720">
            <a:spAutoFit/>
          </a:bodyPr>
          <a:lstStyle/>
          <a:p>
            <a:pPr algn="ctr"/>
            <a:r>
              <a:rPr lang="en-US" sz="3600" b="1" dirty="0">
                <a:ln w="0"/>
                <a:latin typeface="Calibri" panose="020F0502020204030204" pitchFamily="34" charset="0"/>
                <a:ea typeface="Calibri" panose="020F0502020204030204" pitchFamily="34" charset="0"/>
                <a:cs typeface="Calibri" panose="020F0502020204030204" pitchFamily="34" charset="0"/>
              </a:rPr>
              <a:t>3D Plot</a:t>
            </a:r>
            <a:endParaRPr lang="en-GB" sz="239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66205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2</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3D Plot</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171136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3D plots in Seaborn</a:t>
            </a:r>
            <a:r>
              <a:rPr lang="en-US" dirty="0">
                <a:latin typeface="Calibri" panose="020F0502020204030204" pitchFamily="34" charset="0"/>
                <a:ea typeface="Calibri" panose="020F0502020204030204" pitchFamily="34" charset="0"/>
                <a:cs typeface="Calibri" panose="020F0502020204030204" pitchFamily="34" charset="0"/>
              </a:rPr>
              <a:t> are a powerful tool for visualizing data in three dimensions. They allow you to represent data points in a three-dimensional space, making it easier to understand relationships and patterns that might not be apparent in two dimensions.</a:t>
            </a:r>
          </a:p>
          <a:p>
            <a:pPr>
              <a:lnSpc>
                <a:spcPct val="150000"/>
              </a:lnSpc>
            </a:pPr>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descr="A graph of a graph with green dots&#10;&#10;Description automatically generated">
            <a:extLst>
              <a:ext uri="{FF2B5EF4-FFF2-40B4-BE49-F238E27FC236}">
                <a16:creationId xmlns:a16="http://schemas.microsoft.com/office/drawing/2014/main" id="{4A8C006A-2CA3-6802-BD5B-85C0AFC2151B}"/>
              </a:ext>
            </a:extLst>
          </p:cNvPr>
          <p:cNvPicPr>
            <a:picLocks noChangeAspect="1"/>
          </p:cNvPicPr>
          <p:nvPr/>
        </p:nvPicPr>
        <p:blipFill>
          <a:blip r:embed="rId3"/>
          <a:stretch>
            <a:fillRect/>
          </a:stretch>
        </p:blipFill>
        <p:spPr>
          <a:xfrm>
            <a:off x="4525616" y="3048222"/>
            <a:ext cx="2622436" cy="3286671"/>
          </a:xfrm>
          <a:prstGeom prst="rect">
            <a:avLst/>
          </a:prstGeom>
        </p:spPr>
      </p:pic>
    </p:spTree>
    <p:extLst>
      <p:ext uri="{BB962C8B-B14F-4D97-AF65-F5344CB8AC3E}">
        <p14:creationId xmlns:p14="http://schemas.microsoft.com/office/powerpoint/2010/main" val="174270390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2</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73851"/>
            <a:ext cx="12191999" cy="646331"/>
          </a:xfrm>
          <a:prstGeom prst="rect">
            <a:avLst/>
          </a:prstGeom>
          <a:noFill/>
        </p:spPr>
        <p:txBody>
          <a:bodyPr wrap="square">
            <a:spAutoFit/>
          </a:bodyPr>
          <a:lstStyle/>
          <a:p>
            <a:pPr algn="ctr"/>
            <a:r>
              <a:rPr lang="en-US"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rPr>
              <a:t>3D Plot</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BF3EEF-553A-D37A-6EF6-B514AF07FC3C}"/>
              </a:ext>
            </a:extLst>
          </p:cNvPr>
          <p:cNvSpPr txBox="1"/>
          <p:nvPr/>
        </p:nvSpPr>
        <p:spPr>
          <a:xfrm>
            <a:off x="487016" y="1574931"/>
            <a:ext cx="10972801" cy="171136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Seaborn provides a variety of 3D plot types, including:</a:t>
            </a:r>
          </a:p>
          <a:p>
            <a:pPr marL="742950" lvl="1" indent="-285750">
              <a:lnSpc>
                <a:spcPct val="150000"/>
              </a:lnSpc>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Scatter plots:</a:t>
            </a:r>
            <a:r>
              <a:rPr lang="en-US" dirty="0">
                <a:latin typeface="Calibri" panose="020F0502020204030204" pitchFamily="34" charset="0"/>
                <a:ea typeface="Calibri" panose="020F0502020204030204" pitchFamily="34" charset="0"/>
                <a:cs typeface="Calibri" panose="020F0502020204030204" pitchFamily="34" charset="0"/>
              </a:rPr>
              <a:t> Used to visualize the relationship between three numerical variables.</a:t>
            </a:r>
          </a:p>
          <a:p>
            <a:pPr marL="742950" lvl="1" indent="-285750">
              <a:lnSpc>
                <a:spcPct val="150000"/>
              </a:lnSpc>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Line plots:</a:t>
            </a:r>
            <a:r>
              <a:rPr lang="en-US" dirty="0">
                <a:latin typeface="Calibri" panose="020F0502020204030204" pitchFamily="34" charset="0"/>
                <a:ea typeface="Calibri" panose="020F0502020204030204" pitchFamily="34" charset="0"/>
                <a:cs typeface="Calibri" panose="020F0502020204030204" pitchFamily="34" charset="0"/>
              </a:rPr>
              <a:t> Used to plot lines in 3D space, often to represent trends or trajectories.</a:t>
            </a:r>
          </a:p>
          <a:p>
            <a:pPr marL="742950" lvl="1" indent="-285750">
              <a:lnSpc>
                <a:spcPct val="150000"/>
              </a:lnSpc>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Surface plots:</a:t>
            </a:r>
            <a:r>
              <a:rPr lang="en-US" dirty="0">
                <a:latin typeface="Calibri" panose="020F0502020204030204" pitchFamily="34" charset="0"/>
                <a:ea typeface="Calibri" panose="020F0502020204030204" pitchFamily="34" charset="0"/>
                <a:cs typeface="Calibri" panose="020F0502020204030204" pitchFamily="34" charset="0"/>
              </a:rPr>
              <a:t> Used to visualize functions of two variables over a 3D surface.</a:t>
            </a:r>
          </a:p>
        </p:txBody>
      </p:sp>
      <p:pic>
        <p:nvPicPr>
          <p:cNvPr id="2" name="Picture 1">
            <a:extLst>
              <a:ext uri="{FF2B5EF4-FFF2-40B4-BE49-F238E27FC236}">
                <a16:creationId xmlns:a16="http://schemas.microsoft.com/office/drawing/2014/main" id="{C3018979-6570-66BE-F2A0-D16B10BC2787}"/>
              </a:ext>
            </a:extLst>
          </p:cNvPr>
          <p:cNvPicPr>
            <a:picLocks noChangeAspect="1"/>
          </p:cNvPicPr>
          <p:nvPr/>
        </p:nvPicPr>
        <p:blipFill>
          <a:blip r:embed="rId3"/>
          <a:stretch>
            <a:fillRect/>
          </a:stretch>
        </p:blipFill>
        <p:spPr>
          <a:xfrm>
            <a:off x="767376" y="3506554"/>
            <a:ext cx="3435676" cy="2412445"/>
          </a:xfrm>
          <a:prstGeom prst="rect">
            <a:avLst/>
          </a:prstGeom>
        </p:spPr>
      </p:pic>
      <p:pic>
        <p:nvPicPr>
          <p:cNvPr id="4" name="Picture 3">
            <a:extLst>
              <a:ext uri="{FF2B5EF4-FFF2-40B4-BE49-F238E27FC236}">
                <a16:creationId xmlns:a16="http://schemas.microsoft.com/office/drawing/2014/main" id="{0205636A-785C-8C81-3853-F00589E2053A}"/>
              </a:ext>
            </a:extLst>
          </p:cNvPr>
          <p:cNvPicPr>
            <a:picLocks noChangeAspect="1"/>
          </p:cNvPicPr>
          <p:nvPr/>
        </p:nvPicPr>
        <p:blipFill>
          <a:blip r:embed="rId4"/>
          <a:stretch>
            <a:fillRect/>
          </a:stretch>
        </p:blipFill>
        <p:spPr>
          <a:xfrm>
            <a:off x="7511362" y="3341046"/>
            <a:ext cx="3970928" cy="2725434"/>
          </a:xfrm>
          <a:prstGeom prst="rect">
            <a:avLst/>
          </a:prstGeom>
        </p:spPr>
      </p:pic>
    </p:spTree>
    <p:extLst>
      <p:ext uri="{BB962C8B-B14F-4D97-AF65-F5344CB8AC3E}">
        <p14:creationId xmlns:p14="http://schemas.microsoft.com/office/powerpoint/2010/main" val="257548235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2</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83683"/>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3D Scatter Plot</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1E1325FF-B551-6EDC-7317-A0D52C7D26D3}"/>
              </a:ext>
            </a:extLst>
          </p:cNvPr>
          <p:cNvSpPr txBox="1"/>
          <p:nvPr/>
        </p:nvSpPr>
        <p:spPr>
          <a:xfrm>
            <a:off x="651388" y="1739554"/>
            <a:ext cx="6120580" cy="4801314"/>
          </a:xfrm>
          <a:prstGeom prst="rect">
            <a:avLst/>
          </a:prstGeom>
          <a:noFill/>
        </p:spPr>
        <p:txBody>
          <a:bodyPr wrap="square">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Example</a:t>
            </a:r>
          </a:p>
          <a:p>
            <a:r>
              <a:rPr lang="en-IN" sz="1600" b="1" dirty="0">
                <a:effectLst/>
                <a:latin typeface="Courier New" panose="02070309020205020404" pitchFamily="49" charset="0"/>
              </a:rPr>
              <a:t>import seaborn as </a:t>
            </a:r>
            <a:r>
              <a:rPr lang="en-IN" sz="1600" b="1" dirty="0" err="1">
                <a:effectLst/>
                <a:latin typeface="Courier New" panose="02070309020205020404" pitchFamily="49" charset="0"/>
              </a:rPr>
              <a:t>sns</a:t>
            </a:r>
            <a:endParaRPr lang="en-IN" sz="1600" b="1" dirty="0">
              <a:effectLst/>
              <a:latin typeface="Courier New" panose="02070309020205020404" pitchFamily="49" charset="0"/>
            </a:endParaRPr>
          </a:p>
          <a:p>
            <a:r>
              <a:rPr lang="en-IN" sz="1600" b="1" dirty="0">
                <a:effectLst/>
                <a:latin typeface="Courier New" panose="02070309020205020404" pitchFamily="49" charset="0"/>
              </a:rPr>
              <a:t>import </a:t>
            </a:r>
            <a:r>
              <a:rPr lang="en-IN" sz="1600" b="1" dirty="0" err="1">
                <a:effectLst/>
                <a:latin typeface="Courier New" panose="02070309020205020404" pitchFamily="49" charset="0"/>
              </a:rPr>
              <a:t>matplotlib.pyplot</a:t>
            </a:r>
            <a:r>
              <a:rPr lang="en-IN" sz="1600" b="1" dirty="0">
                <a:effectLst/>
                <a:latin typeface="Courier New" panose="02070309020205020404" pitchFamily="49" charset="0"/>
              </a:rPr>
              <a:t> as </a:t>
            </a:r>
            <a:r>
              <a:rPr lang="en-IN" sz="1600" b="1" dirty="0" err="1">
                <a:effectLst/>
                <a:latin typeface="Courier New" panose="02070309020205020404" pitchFamily="49" charset="0"/>
              </a:rPr>
              <a:t>plt</a:t>
            </a:r>
            <a:endParaRPr lang="en-IN" sz="1600" b="1" dirty="0">
              <a:effectLst/>
              <a:latin typeface="Courier New" panose="02070309020205020404" pitchFamily="49" charset="0"/>
            </a:endParaRPr>
          </a:p>
          <a:p>
            <a:r>
              <a:rPr lang="en-IN" sz="1600" b="1" dirty="0">
                <a:effectLst/>
                <a:latin typeface="Courier New" panose="02070309020205020404" pitchFamily="49" charset="0"/>
              </a:rPr>
              <a:t>from mpl_toolkits.mplot3d import Axes3D</a:t>
            </a:r>
          </a:p>
          <a:p>
            <a:r>
              <a:rPr lang="en-IN" sz="1600" b="1" dirty="0">
                <a:solidFill>
                  <a:schemeClr val="bg2">
                    <a:lumMod val="75000"/>
                  </a:schemeClr>
                </a:solidFill>
                <a:effectLst/>
                <a:latin typeface="Courier New" panose="02070309020205020404" pitchFamily="49" charset="0"/>
              </a:rPr>
              <a:t># Sample 3D data</a:t>
            </a:r>
          </a:p>
          <a:p>
            <a:r>
              <a:rPr lang="en-IN" sz="1600" b="1" dirty="0">
                <a:effectLst/>
                <a:latin typeface="Courier New" panose="02070309020205020404" pitchFamily="49" charset="0"/>
              </a:rPr>
              <a:t>x = [1, 2, 3, 4, 5]</a:t>
            </a:r>
          </a:p>
          <a:p>
            <a:r>
              <a:rPr lang="en-IN" sz="1600" b="1" dirty="0">
                <a:effectLst/>
                <a:latin typeface="Courier New" panose="02070309020205020404" pitchFamily="49" charset="0"/>
              </a:rPr>
              <a:t>y = [2, 4, 3, 5, 1]</a:t>
            </a:r>
          </a:p>
          <a:p>
            <a:r>
              <a:rPr lang="en-IN" sz="1600" b="1" dirty="0">
                <a:effectLst/>
                <a:latin typeface="Courier New" panose="02070309020205020404" pitchFamily="49" charset="0"/>
              </a:rPr>
              <a:t>z = [10, 15, 20, 25, 30]</a:t>
            </a:r>
          </a:p>
          <a:p>
            <a:r>
              <a:rPr lang="en-IN" sz="1600" b="1" dirty="0">
                <a:solidFill>
                  <a:schemeClr val="bg2">
                    <a:lumMod val="75000"/>
                  </a:schemeClr>
                </a:solidFill>
                <a:effectLst/>
                <a:latin typeface="Courier New" panose="02070309020205020404" pitchFamily="49" charset="0"/>
              </a:rPr>
              <a:t># Create a 3D figure and axes</a:t>
            </a:r>
          </a:p>
          <a:p>
            <a:r>
              <a:rPr lang="en-IN" sz="1600" b="1" dirty="0">
                <a:effectLst/>
                <a:latin typeface="Courier New" panose="02070309020205020404" pitchFamily="49" charset="0"/>
              </a:rPr>
              <a:t>fig = </a:t>
            </a:r>
            <a:r>
              <a:rPr lang="en-IN" sz="1600" b="1" dirty="0" err="1">
                <a:effectLst/>
                <a:latin typeface="Courier New" panose="02070309020205020404" pitchFamily="49" charset="0"/>
              </a:rPr>
              <a:t>plt.figure</a:t>
            </a:r>
            <a:r>
              <a:rPr lang="en-IN" sz="1600" b="1" dirty="0">
                <a:effectLst/>
                <a:latin typeface="Courier New" panose="02070309020205020404" pitchFamily="49" charset="0"/>
              </a:rPr>
              <a:t>()</a:t>
            </a:r>
          </a:p>
          <a:p>
            <a:r>
              <a:rPr lang="en-IN" sz="1600" b="1" dirty="0" err="1">
                <a:effectLst/>
                <a:latin typeface="Courier New" panose="02070309020205020404" pitchFamily="49" charset="0"/>
              </a:rPr>
              <a:t>ax</a:t>
            </a:r>
            <a:r>
              <a:rPr lang="en-IN" sz="1600" b="1" dirty="0">
                <a:effectLst/>
                <a:latin typeface="Courier New" panose="02070309020205020404" pitchFamily="49" charset="0"/>
              </a:rPr>
              <a:t> = </a:t>
            </a:r>
            <a:r>
              <a:rPr lang="en-IN" sz="1600" b="1" dirty="0" err="1">
                <a:effectLst/>
                <a:latin typeface="Courier New" panose="02070309020205020404" pitchFamily="49" charset="0"/>
              </a:rPr>
              <a:t>fig.add_subplot</a:t>
            </a:r>
            <a:r>
              <a:rPr lang="en-IN" sz="1600" b="1" dirty="0">
                <a:effectLst/>
                <a:latin typeface="Courier New" panose="02070309020205020404" pitchFamily="49" charset="0"/>
              </a:rPr>
              <a:t>(111, projection='3d')</a:t>
            </a:r>
          </a:p>
          <a:p>
            <a:r>
              <a:rPr lang="en-IN" sz="1600" b="1" dirty="0">
                <a:effectLst/>
                <a:latin typeface="Courier New" panose="02070309020205020404" pitchFamily="49" charset="0"/>
              </a:rPr>
              <a:t>scatter = </a:t>
            </a:r>
            <a:r>
              <a:rPr lang="en-IN" sz="1600" b="1" dirty="0" err="1">
                <a:effectLst/>
                <a:latin typeface="Courier New" panose="02070309020205020404" pitchFamily="49" charset="0"/>
              </a:rPr>
              <a:t>ax.scatter</a:t>
            </a:r>
            <a:r>
              <a:rPr lang="en-IN" sz="1600" b="1" dirty="0">
                <a:effectLst/>
                <a:latin typeface="Courier New" panose="02070309020205020404" pitchFamily="49" charset="0"/>
              </a:rPr>
              <a:t>(x, y, z, c='blue', s=100)</a:t>
            </a:r>
            <a:endParaRPr lang="en-IN" sz="1600" b="1" dirty="0">
              <a:solidFill>
                <a:schemeClr val="bg2">
                  <a:lumMod val="75000"/>
                </a:schemeClr>
              </a:solidFill>
              <a:effectLst/>
              <a:latin typeface="Courier New" panose="02070309020205020404" pitchFamily="49" charset="0"/>
            </a:endParaRPr>
          </a:p>
          <a:p>
            <a:r>
              <a:rPr lang="en-IN" sz="1600" b="1" dirty="0" err="1">
                <a:effectLst/>
                <a:latin typeface="Courier New" panose="02070309020205020404" pitchFamily="49" charset="0"/>
              </a:rPr>
              <a:t>ax.set_xlabel</a:t>
            </a:r>
            <a:r>
              <a:rPr lang="en-IN" sz="1600" b="1" dirty="0">
                <a:effectLst/>
                <a:latin typeface="Courier New" panose="02070309020205020404" pitchFamily="49" charset="0"/>
              </a:rPr>
              <a:t>('X-axis')</a:t>
            </a:r>
          </a:p>
          <a:p>
            <a:r>
              <a:rPr lang="en-IN" sz="1600" b="1" dirty="0" err="1">
                <a:effectLst/>
                <a:latin typeface="Courier New" panose="02070309020205020404" pitchFamily="49" charset="0"/>
              </a:rPr>
              <a:t>ax.set_ylabel</a:t>
            </a:r>
            <a:r>
              <a:rPr lang="en-IN" sz="1600" b="1" dirty="0">
                <a:effectLst/>
                <a:latin typeface="Courier New" panose="02070309020205020404" pitchFamily="49" charset="0"/>
              </a:rPr>
              <a:t>('Y-axis')</a:t>
            </a:r>
          </a:p>
          <a:p>
            <a:r>
              <a:rPr lang="en-IN" sz="1600" b="1" dirty="0" err="1">
                <a:effectLst/>
                <a:latin typeface="Courier New" panose="02070309020205020404" pitchFamily="49" charset="0"/>
              </a:rPr>
              <a:t>ax.set_zlabel</a:t>
            </a:r>
            <a:r>
              <a:rPr lang="en-IN" sz="1600" b="1" dirty="0">
                <a:effectLst/>
                <a:latin typeface="Courier New" panose="02070309020205020404" pitchFamily="49" charset="0"/>
              </a:rPr>
              <a:t>('Z-axis')</a:t>
            </a:r>
          </a:p>
          <a:p>
            <a:r>
              <a:rPr lang="en-IN" sz="1600" b="1" dirty="0" err="1">
                <a:effectLst/>
                <a:latin typeface="Courier New" panose="02070309020205020404" pitchFamily="49" charset="0"/>
              </a:rPr>
              <a:t>plt.title</a:t>
            </a:r>
            <a:r>
              <a:rPr lang="en-IN" sz="1600" b="1" dirty="0">
                <a:effectLst/>
                <a:latin typeface="Courier New" panose="02070309020205020404" pitchFamily="49" charset="0"/>
              </a:rPr>
              <a:t>('3D Scatter Plot')</a:t>
            </a:r>
          </a:p>
          <a:p>
            <a:r>
              <a:rPr lang="en-IN" sz="1600" b="1" dirty="0" err="1">
                <a:effectLst/>
                <a:latin typeface="Courier New" panose="02070309020205020404" pitchFamily="49" charset="0"/>
              </a:rPr>
              <a:t>ax.view_init</a:t>
            </a:r>
            <a:r>
              <a:rPr lang="en-IN" sz="1600" b="1" dirty="0">
                <a:effectLst/>
                <a:latin typeface="Courier New" panose="02070309020205020404" pitchFamily="49" charset="0"/>
              </a:rPr>
              <a:t>(</a:t>
            </a:r>
            <a:r>
              <a:rPr lang="en-IN" sz="1600" b="1" dirty="0" err="1">
                <a:effectLst/>
                <a:latin typeface="Courier New" panose="02070309020205020404" pitchFamily="49" charset="0"/>
              </a:rPr>
              <a:t>elev</a:t>
            </a:r>
            <a:r>
              <a:rPr lang="en-IN" sz="1600" b="1" dirty="0">
                <a:effectLst/>
                <a:latin typeface="Courier New" panose="02070309020205020404" pitchFamily="49" charset="0"/>
              </a:rPr>
              <a:t>=20, </a:t>
            </a:r>
            <a:r>
              <a:rPr lang="en-IN" sz="1600" b="1" dirty="0" err="1">
                <a:effectLst/>
                <a:latin typeface="Courier New" panose="02070309020205020404" pitchFamily="49" charset="0"/>
              </a:rPr>
              <a:t>azim</a:t>
            </a:r>
            <a:r>
              <a:rPr lang="en-IN" sz="1600" b="1" dirty="0">
                <a:effectLst/>
                <a:latin typeface="Courier New" panose="02070309020205020404" pitchFamily="49" charset="0"/>
              </a:rPr>
              <a:t>=45) </a:t>
            </a:r>
          </a:p>
          <a:p>
            <a:r>
              <a:rPr lang="en-IN" sz="1600" b="1" dirty="0" err="1">
                <a:effectLst/>
                <a:latin typeface="Courier New" panose="02070309020205020404" pitchFamily="49" charset="0"/>
              </a:rPr>
              <a:t>plt.grid</a:t>
            </a:r>
            <a:r>
              <a:rPr lang="en-IN" sz="1600" b="1" dirty="0">
                <a:effectLst/>
                <a:latin typeface="Courier New" panose="02070309020205020404" pitchFamily="49" charset="0"/>
              </a:rPr>
              <a:t>(True)</a:t>
            </a:r>
          </a:p>
          <a:p>
            <a:r>
              <a:rPr lang="en-IN" sz="1600" b="1" dirty="0" err="1">
                <a:effectLst/>
                <a:latin typeface="Courier New" panose="02070309020205020404" pitchFamily="49" charset="0"/>
              </a:rPr>
              <a:t>plt.show</a:t>
            </a:r>
            <a:r>
              <a:rPr lang="en-IN" sz="1600" b="1" dirty="0">
                <a:effectLst/>
                <a:latin typeface="Courier New" panose="02070309020205020404" pitchFamily="49" charset="0"/>
              </a:rPr>
              <a:t>()</a:t>
            </a:r>
          </a:p>
        </p:txBody>
      </p:sp>
      <p:sp>
        <p:nvSpPr>
          <p:cNvPr id="6" name="TextBox 5">
            <a:extLst>
              <a:ext uri="{FF2B5EF4-FFF2-40B4-BE49-F238E27FC236}">
                <a16:creationId xmlns:a16="http://schemas.microsoft.com/office/drawing/2014/main" id="{9D03BDF5-9F02-7C3B-5984-B167176A0349}"/>
              </a:ext>
            </a:extLst>
          </p:cNvPr>
          <p:cNvSpPr txBox="1"/>
          <p:nvPr/>
        </p:nvSpPr>
        <p:spPr>
          <a:xfrm>
            <a:off x="6722807" y="1855570"/>
            <a:ext cx="6120580" cy="369332"/>
          </a:xfrm>
          <a:prstGeom prst="rect">
            <a:avLst/>
          </a:prstGeom>
          <a:noFill/>
        </p:spPr>
        <p:txBody>
          <a:bodyPr wrap="square">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Output</a:t>
            </a:r>
          </a:p>
        </p:txBody>
      </p:sp>
      <p:pic>
        <p:nvPicPr>
          <p:cNvPr id="13" name="Picture 12">
            <a:extLst>
              <a:ext uri="{FF2B5EF4-FFF2-40B4-BE49-F238E27FC236}">
                <a16:creationId xmlns:a16="http://schemas.microsoft.com/office/drawing/2014/main" id="{749A6E7C-7F24-1A42-9B7C-C8C1CD0F0361}"/>
              </a:ext>
            </a:extLst>
          </p:cNvPr>
          <p:cNvPicPr>
            <a:picLocks noChangeAspect="1"/>
          </p:cNvPicPr>
          <p:nvPr/>
        </p:nvPicPr>
        <p:blipFill>
          <a:blip r:embed="rId3"/>
          <a:stretch>
            <a:fillRect/>
          </a:stretch>
        </p:blipFill>
        <p:spPr>
          <a:xfrm>
            <a:off x="7167377" y="2514338"/>
            <a:ext cx="3876675" cy="3914775"/>
          </a:xfrm>
          <a:prstGeom prst="rect">
            <a:avLst/>
          </a:prstGeom>
        </p:spPr>
      </p:pic>
    </p:spTree>
    <p:extLst>
      <p:ext uri="{BB962C8B-B14F-4D97-AF65-F5344CB8AC3E}">
        <p14:creationId xmlns:p14="http://schemas.microsoft.com/office/powerpoint/2010/main" val="305272307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2</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83683"/>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3D Line Plot</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1E1325FF-B551-6EDC-7317-A0D52C7D26D3}"/>
              </a:ext>
            </a:extLst>
          </p:cNvPr>
          <p:cNvSpPr txBox="1"/>
          <p:nvPr/>
        </p:nvSpPr>
        <p:spPr>
          <a:xfrm>
            <a:off x="651388" y="1739554"/>
            <a:ext cx="6120580" cy="3816429"/>
          </a:xfrm>
          <a:prstGeom prst="rect">
            <a:avLst/>
          </a:prstGeom>
          <a:noFill/>
        </p:spPr>
        <p:txBody>
          <a:bodyPr wrap="square">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Example</a:t>
            </a:r>
          </a:p>
          <a:p>
            <a:r>
              <a:rPr lang="en-IN" sz="1400" b="1" dirty="0">
                <a:effectLst/>
                <a:latin typeface="Courier New" panose="02070309020205020404" pitchFamily="49" charset="0"/>
              </a:rPr>
              <a:t>import seaborn as </a:t>
            </a:r>
            <a:r>
              <a:rPr lang="en-IN" sz="1400" b="1" dirty="0" err="1">
                <a:effectLst/>
                <a:latin typeface="Courier New" panose="02070309020205020404" pitchFamily="49" charset="0"/>
              </a:rPr>
              <a:t>sb</a:t>
            </a:r>
            <a:endParaRPr lang="en-IN" sz="1400" b="1" dirty="0">
              <a:effectLst/>
              <a:latin typeface="Courier New" panose="02070309020205020404" pitchFamily="49" charset="0"/>
            </a:endParaRPr>
          </a:p>
          <a:p>
            <a:r>
              <a:rPr lang="en-IN" sz="1400" b="1" dirty="0">
                <a:effectLst/>
                <a:latin typeface="Courier New" panose="02070309020205020404" pitchFamily="49" charset="0"/>
              </a:rPr>
              <a:t>import </a:t>
            </a:r>
            <a:r>
              <a:rPr lang="en-IN" sz="1400" b="1" dirty="0" err="1">
                <a:effectLst/>
                <a:latin typeface="Courier New" panose="02070309020205020404" pitchFamily="49" charset="0"/>
              </a:rPr>
              <a:t>matplotlib.pyplot</a:t>
            </a:r>
            <a:r>
              <a:rPr lang="en-IN" sz="1400" b="1" dirty="0">
                <a:effectLst/>
                <a:latin typeface="Courier New" panose="02070309020205020404" pitchFamily="49" charset="0"/>
              </a:rPr>
              <a:t> as plot</a:t>
            </a:r>
          </a:p>
          <a:p>
            <a:r>
              <a:rPr lang="en-IN" sz="1400" b="1" dirty="0">
                <a:effectLst/>
                <a:latin typeface="Courier New" panose="02070309020205020404" pitchFamily="49" charset="0"/>
              </a:rPr>
              <a:t>import </a:t>
            </a:r>
            <a:r>
              <a:rPr lang="en-IN" sz="1400" b="1" dirty="0" err="1">
                <a:effectLst/>
                <a:latin typeface="Courier New" panose="02070309020205020404" pitchFamily="49" charset="0"/>
              </a:rPr>
              <a:t>numpy</a:t>
            </a:r>
            <a:r>
              <a:rPr lang="en-IN" sz="1400" b="1" dirty="0">
                <a:effectLst/>
                <a:latin typeface="Courier New" panose="02070309020205020404" pitchFamily="49" charset="0"/>
              </a:rPr>
              <a:t> as np</a:t>
            </a:r>
          </a:p>
          <a:p>
            <a:br>
              <a:rPr lang="en-IN" sz="1400" b="1" dirty="0">
                <a:effectLst/>
                <a:latin typeface="Courier New" panose="02070309020205020404" pitchFamily="49" charset="0"/>
              </a:rPr>
            </a:br>
            <a:r>
              <a:rPr lang="en-IN" sz="1400" b="1" dirty="0">
                <a:effectLst/>
                <a:latin typeface="Courier New" panose="02070309020205020404" pitchFamily="49" charset="0"/>
              </a:rPr>
              <a:t>x = [1, 2, 3, 4, 5]</a:t>
            </a:r>
          </a:p>
          <a:p>
            <a:r>
              <a:rPr lang="en-IN" sz="1400" b="1" dirty="0">
                <a:effectLst/>
                <a:latin typeface="Courier New" panose="02070309020205020404" pitchFamily="49" charset="0"/>
              </a:rPr>
              <a:t>y = [2, 4, 3, 5, 1]</a:t>
            </a:r>
          </a:p>
          <a:p>
            <a:r>
              <a:rPr lang="en-IN" sz="1400" b="1" dirty="0">
                <a:effectLst/>
                <a:latin typeface="Courier New" panose="02070309020205020404" pitchFamily="49" charset="0"/>
              </a:rPr>
              <a:t>z = [4, 5, 3, 2, 6]</a:t>
            </a:r>
          </a:p>
          <a:p>
            <a:endParaRPr lang="en-IN" sz="1400" b="1" dirty="0">
              <a:effectLst/>
              <a:latin typeface="Courier New" panose="02070309020205020404" pitchFamily="49" charset="0"/>
            </a:endParaRPr>
          </a:p>
          <a:p>
            <a:r>
              <a:rPr lang="en-IN" sz="1400" b="1" dirty="0" err="1">
                <a:effectLst/>
                <a:latin typeface="Courier New" panose="02070309020205020404" pitchFamily="49" charset="0"/>
              </a:rPr>
              <a:t>plot.figure</a:t>
            </a:r>
            <a:r>
              <a:rPr lang="en-IN" sz="1400" b="1" dirty="0">
                <a:effectLst/>
                <a:latin typeface="Courier New" panose="02070309020205020404" pitchFamily="49" charset="0"/>
              </a:rPr>
              <a:t>(</a:t>
            </a:r>
            <a:r>
              <a:rPr lang="en-IN" sz="1400" b="1" dirty="0" err="1">
                <a:effectLst/>
                <a:latin typeface="Courier New" panose="02070309020205020404" pitchFamily="49" charset="0"/>
              </a:rPr>
              <a:t>figsize</a:t>
            </a:r>
            <a:r>
              <a:rPr lang="en-IN" sz="1400" b="1" dirty="0">
                <a:effectLst/>
                <a:latin typeface="Courier New" panose="02070309020205020404" pitchFamily="49" charset="0"/>
              </a:rPr>
              <a:t>=(6,5))</a:t>
            </a:r>
          </a:p>
          <a:p>
            <a:r>
              <a:rPr lang="en-IN" sz="1400" b="1" dirty="0" err="1">
                <a:effectLst/>
                <a:latin typeface="Courier New" panose="02070309020205020404" pitchFamily="49" charset="0"/>
              </a:rPr>
              <a:t>plot_axis</a:t>
            </a:r>
            <a:r>
              <a:rPr lang="en-IN" sz="1400" b="1" dirty="0">
                <a:effectLst/>
                <a:latin typeface="Courier New" panose="02070309020205020404" pitchFamily="49" charset="0"/>
              </a:rPr>
              <a:t> = </a:t>
            </a:r>
            <a:r>
              <a:rPr lang="en-IN" sz="1400" b="1" dirty="0" err="1">
                <a:effectLst/>
                <a:latin typeface="Courier New" panose="02070309020205020404" pitchFamily="49" charset="0"/>
              </a:rPr>
              <a:t>plot.axes</a:t>
            </a:r>
            <a:r>
              <a:rPr lang="en-IN" sz="1400" b="1" dirty="0">
                <a:effectLst/>
                <a:latin typeface="Courier New" panose="02070309020205020404" pitchFamily="49" charset="0"/>
              </a:rPr>
              <a:t> (projection = '3d')</a:t>
            </a:r>
          </a:p>
          <a:p>
            <a:r>
              <a:rPr lang="en-IN" sz="1400" b="1" dirty="0">
                <a:effectLst/>
                <a:latin typeface="Courier New" panose="02070309020205020404" pitchFamily="49" charset="0"/>
              </a:rPr>
              <a:t>plot_axis.plot3D (x, y, z)</a:t>
            </a:r>
          </a:p>
          <a:p>
            <a:r>
              <a:rPr lang="en-IN" sz="1400" b="1" dirty="0" err="1">
                <a:effectLst/>
                <a:latin typeface="Courier New" panose="02070309020205020404" pitchFamily="49" charset="0"/>
              </a:rPr>
              <a:t>plot.tight_layout</a:t>
            </a:r>
            <a:r>
              <a:rPr lang="en-IN" sz="1400" b="1" dirty="0">
                <a:effectLst/>
                <a:latin typeface="Courier New" panose="02070309020205020404" pitchFamily="49" charset="0"/>
              </a:rPr>
              <a:t> ()</a:t>
            </a:r>
          </a:p>
          <a:p>
            <a:endParaRPr lang="en-IN" sz="1400" b="1" dirty="0">
              <a:effectLst/>
              <a:latin typeface="Courier New" panose="02070309020205020404" pitchFamily="49" charset="0"/>
            </a:endParaRPr>
          </a:p>
          <a:p>
            <a:r>
              <a:rPr lang="en-IN" sz="1400" b="1" dirty="0" err="1">
                <a:effectLst/>
                <a:latin typeface="Courier New" panose="02070309020205020404" pitchFamily="49" charset="0"/>
              </a:rPr>
              <a:t>plt.title</a:t>
            </a:r>
            <a:r>
              <a:rPr lang="en-IN" sz="1400" b="1" dirty="0">
                <a:effectLst/>
                <a:latin typeface="Courier New" panose="02070309020205020404" pitchFamily="49" charset="0"/>
              </a:rPr>
              <a:t>('3D Line Plot')</a:t>
            </a:r>
          </a:p>
          <a:p>
            <a:br>
              <a:rPr lang="en-IN" sz="1400" b="1" dirty="0">
                <a:effectLst/>
                <a:latin typeface="Courier New" panose="02070309020205020404" pitchFamily="49" charset="0"/>
              </a:rPr>
            </a:br>
            <a:r>
              <a:rPr lang="en-IN" sz="1400" b="1" dirty="0" err="1">
                <a:effectLst/>
                <a:latin typeface="Courier New" panose="02070309020205020404" pitchFamily="49" charset="0"/>
              </a:rPr>
              <a:t>plot.show</a:t>
            </a:r>
            <a:r>
              <a:rPr lang="en-IN" sz="1400" b="1" dirty="0">
                <a:effectLst/>
                <a:latin typeface="Courier New" panose="02070309020205020404" pitchFamily="49" charset="0"/>
              </a:rPr>
              <a:t> ()</a:t>
            </a:r>
          </a:p>
        </p:txBody>
      </p:sp>
      <p:sp>
        <p:nvSpPr>
          <p:cNvPr id="6" name="TextBox 5">
            <a:extLst>
              <a:ext uri="{FF2B5EF4-FFF2-40B4-BE49-F238E27FC236}">
                <a16:creationId xmlns:a16="http://schemas.microsoft.com/office/drawing/2014/main" id="{9D03BDF5-9F02-7C3B-5984-B167176A0349}"/>
              </a:ext>
            </a:extLst>
          </p:cNvPr>
          <p:cNvSpPr txBox="1"/>
          <p:nvPr/>
        </p:nvSpPr>
        <p:spPr>
          <a:xfrm>
            <a:off x="6771968" y="1739554"/>
            <a:ext cx="6120580" cy="369332"/>
          </a:xfrm>
          <a:prstGeom prst="rect">
            <a:avLst/>
          </a:prstGeom>
          <a:noFill/>
        </p:spPr>
        <p:txBody>
          <a:bodyPr wrap="square">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Output</a:t>
            </a:r>
          </a:p>
        </p:txBody>
      </p:sp>
      <p:pic>
        <p:nvPicPr>
          <p:cNvPr id="6146" name="Picture 2">
            <a:extLst>
              <a:ext uri="{FF2B5EF4-FFF2-40B4-BE49-F238E27FC236}">
                <a16:creationId xmlns:a16="http://schemas.microsoft.com/office/drawing/2014/main" id="{68D1862D-52A6-ABE3-8B6A-45D89648A2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2414" y="2048114"/>
            <a:ext cx="4361682" cy="44307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361548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2</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83683"/>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3D Surface Plot</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1E1325FF-B551-6EDC-7317-A0D52C7D26D3}"/>
              </a:ext>
            </a:extLst>
          </p:cNvPr>
          <p:cNvSpPr txBox="1"/>
          <p:nvPr/>
        </p:nvSpPr>
        <p:spPr>
          <a:xfrm>
            <a:off x="651388" y="1739554"/>
            <a:ext cx="6120580" cy="4524315"/>
          </a:xfrm>
          <a:prstGeom prst="rect">
            <a:avLst/>
          </a:prstGeom>
          <a:noFill/>
        </p:spPr>
        <p:txBody>
          <a:bodyPr wrap="square">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Example</a:t>
            </a:r>
          </a:p>
          <a:p>
            <a:r>
              <a:rPr lang="en-IN" b="1" dirty="0">
                <a:effectLst/>
                <a:latin typeface="Courier New" panose="02070309020205020404" pitchFamily="49" charset="0"/>
              </a:rPr>
              <a:t>import seaborn as </a:t>
            </a:r>
            <a:r>
              <a:rPr lang="en-IN" b="1" dirty="0" err="1">
                <a:effectLst/>
                <a:latin typeface="Courier New" panose="02070309020205020404" pitchFamily="49" charset="0"/>
              </a:rPr>
              <a:t>sns</a:t>
            </a:r>
            <a:r>
              <a:rPr lang="en-IN" b="1" dirty="0">
                <a:effectLst/>
                <a:latin typeface="Courier New" panose="02070309020205020404" pitchFamily="49" charset="0"/>
              </a:rPr>
              <a:t>  # Not directly used for surface plots</a:t>
            </a:r>
          </a:p>
          <a:p>
            <a:r>
              <a:rPr lang="en-IN" b="1" dirty="0">
                <a:effectLst/>
                <a:latin typeface="Courier New" panose="02070309020205020404" pitchFamily="49" charset="0"/>
              </a:rPr>
              <a:t>import </a:t>
            </a:r>
            <a:r>
              <a:rPr lang="en-IN" b="1" dirty="0" err="1">
                <a:effectLst/>
                <a:latin typeface="Courier New" panose="02070309020205020404" pitchFamily="49" charset="0"/>
              </a:rPr>
              <a:t>matplotlib.pyplot</a:t>
            </a:r>
            <a:r>
              <a:rPr lang="en-IN" b="1" dirty="0">
                <a:effectLst/>
                <a:latin typeface="Courier New" panose="02070309020205020404" pitchFamily="49" charset="0"/>
              </a:rPr>
              <a:t> as </a:t>
            </a:r>
            <a:r>
              <a:rPr lang="en-IN" b="1" dirty="0" err="1">
                <a:effectLst/>
                <a:latin typeface="Courier New" panose="02070309020205020404" pitchFamily="49" charset="0"/>
              </a:rPr>
              <a:t>plt</a:t>
            </a:r>
            <a:endParaRPr lang="en-IN" b="1" dirty="0">
              <a:effectLst/>
              <a:latin typeface="Courier New" panose="02070309020205020404" pitchFamily="49" charset="0"/>
            </a:endParaRPr>
          </a:p>
          <a:p>
            <a:r>
              <a:rPr lang="en-IN" b="1" dirty="0">
                <a:effectLst/>
                <a:latin typeface="Courier New" panose="02070309020205020404" pitchFamily="49" charset="0"/>
              </a:rPr>
              <a:t>from mpl_toolkits.mplot3d import Axes3D</a:t>
            </a:r>
          </a:p>
          <a:p>
            <a:r>
              <a:rPr lang="en-IN" b="1" dirty="0">
                <a:effectLst/>
                <a:latin typeface="Courier New" panose="02070309020205020404" pitchFamily="49" charset="0"/>
              </a:rPr>
              <a:t>import </a:t>
            </a:r>
            <a:r>
              <a:rPr lang="en-IN" b="1" dirty="0" err="1">
                <a:effectLst/>
                <a:latin typeface="Courier New" panose="02070309020205020404" pitchFamily="49" charset="0"/>
              </a:rPr>
              <a:t>numpy</a:t>
            </a:r>
            <a:r>
              <a:rPr lang="en-IN" b="1" dirty="0">
                <a:effectLst/>
                <a:latin typeface="Courier New" panose="02070309020205020404" pitchFamily="49" charset="0"/>
              </a:rPr>
              <a:t> as np</a:t>
            </a:r>
          </a:p>
          <a:p>
            <a:endParaRPr lang="en-IN" b="1" dirty="0">
              <a:effectLst/>
              <a:latin typeface="Courier New" panose="02070309020205020404" pitchFamily="49" charset="0"/>
            </a:endParaRPr>
          </a:p>
          <a:p>
            <a:r>
              <a:rPr lang="en-IN" b="1" dirty="0">
                <a:effectLst/>
                <a:latin typeface="Courier New" panose="02070309020205020404" pitchFamily="49" charset="0"/>
              </a:rPr>
              <a:t># Sample data (ensure x and y are 2D for surface plot)</a:t>
            </a:r>
          </a:p>
          <a:p>
            <a:r>
              <a:rPr lang="en-IN" b="1" dirty="0">
                <a:effectLst/>
                <a:latin typeface="Courier New" panose="02070309020205020404" pitchFamily="49" charset="0"/>
              </a:rPr>
              <a:t>x = </a:t>
            </a:r>
            <a:r>
              <a:rPr lang="en-IN" b="1" dirty="0" err="1">
                <a:effectLst/>
                <a:latin typeface="Courier New" panose="02070309020205020404" pitchFamily="49" charset="0"/>
              </a:rPr>
              <a:t>np.linspace</a:t>
            </a:r>
            <a:r>
              <a:rPr lang="en-IN" b="1" dirty="0">
                <a:effectLst/>
                <a:latin typeface="Courier New" panose="02070309020205020404" pitchFamily="49" charset="0"/>
              </a:rPr>
              <a:t>(0, 5, 10)  # Create equally spaced points from 0 to 5 with 10 elements</a:t>
            </a:r>
          </a:p>
          <a:p>
            <a:r>
              <a:rPr lang="en-IN" b="1" dirty="0">
                <a:effectLst/>
                <a:latin typeface="Courier New" panose="02070309020205020404" pitchFamily="49" charset="0"/>
              </a:rPr>
              <a:t>y = </a:t>
            </a:r>
            <a:r>
              <a:rPr lang="en-IN" b="1" dirty="0" err="1">
                <a:effectLst/>
                <a:latin typeface="Courier New" panose="02070309020205020404" pitchFamily="49" charset="0"/>
              </a:rPr>
              <a:t>np.linspace</a:t>
            </a:r>
            <a:r>
              <a:rPr lang="en-IN" b="1" dirty="0">
                <a:effectLst/>
                <a:latin typeface="Courier New" panose="02070309020205020404" pitchFamily="49" charset="0"/>
              </a:rPr>
              <a:t>(0, 5, 10)</a:t>
            </a:r>
          </a:p>
          <a:p>
            <a:r>
              <a:rPr lang="en-IN" b="1" dirty="0">
                <a:effectLst/>
                <a:latin typeface="Courier New" panose="02070309020205020404" pitchFamily="49" charset="0"/>
              </a:rPr>
              <a:t>X, Y = </a:t>
            </a:r>
            <a:r>
              <a:rPr lang="en-IN" b="1" dirty="0" err="1">
                <a:effectLst/>
                <a:latin typeface="Courier New" panose="02070309020205020404" pitchFamily="49" charset="0"/>
              </a:rPr>
              <a:t>np.meshgrid</a:t>
            </a:r>
            <a:r>
              <a:rPr lang="en-IN" b="1" dirty="0">
                <a:effectLst/>
                <a:latin typeface="Courier New" panose="02070309020205020404" pitchFamily="49" charset="0"/>
              </a:rPr>
              <a:t>(x, y)  # Create a 2D grid from x and y for surface evaluation</a:t>
            </a:r>
          </a:p>
          <a:p>
            <a:endParaRPr lang="en-IN" b="1" dirty="0">
              <a:effectLst/>
              <a:latin typeface="Courier New" panose="02070309020205020404" pitchFamily="49" charset="0"/>
            </a:endParaRPr>
          </a:p>
          <a:p>
            <a:endParaRPr lang="en-IN" b="1" dirty="0">
              <a:effectLst/>
              <a:latin typeface="Courier New" panose="02070309020205020404" pitchFamily="49" charset="0"/>
            </a:endParaRPr>
          </a:p>
        </p:txBody>
      </p:sp>
      <p:sp>
        <p:nvSpPr>
          <p:cNvPr id="6" name="TextBox 5">
            <a:extLst>
              <a:ext uri="{FF2B5EF4-FFF2-40B4-BE49-F238E27FC236}">
                <a16:creationId xmlns:a16="http://schemas.microsoft.com/office/drawing/2014/main" id="{9D03BDF5-9F02-7C3B-5984-B167176A0349}"/>
              </a:ext>
            </a:extLst>
          </p:cNvPr>
          <p:cNvSpPr txBox="1"/>
          <p:nvPr/>
        </p:nvSpPr>
        <p:spPr>
          <a:xfrm>
            <a:off x="6771968" y="1652703"/>
            <a:ext cx="6120580" cy="369332"/>
          </a:xfrm>
          <a:prstGeom prst="rect">
            <a:avLst/>
          </a:prstGeom>
          <a:noFill/>
        </p:spPr>
        <p:txBody>
          <a:bodyPr wrap="square">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Output</a:t>
            </a:r>
          </a:p>
        </p:txBody>
      </p:sp>
      <p:pic>
        <p:nvPicPr>
          <p:cNvPr id="7" name="Picture 2">
            <a:extLst>
              <a:ext uri="{FF2B5EF4-FFF2-40B4-BE49-F238E27FC236}">
                <a16:creationId xmlns:a16="http://schemas.microsoft.com/office/drawing/2014/main" id="{AE40E5D7-7A63-3811-0590-D533F6574A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4060" y="2136692"/>
            <a:ext cx="4218315" cy="4295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419950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2</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83683"/>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3D Surface Plot</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1E1325FF-B551-6EDC-7317-A0D52C7D26D3}"/>
              </a:ext>
            </a:extLst>
          </p:cNvPr>
          <p:cNvSpPr txBox="1"/>
          <p:nvPr/>
        </p:nvSpPr>
        <p:spPr>
          <a:xfrm>
            <a:off x="651388" y="1739554"/>
            <a:ext cx="6120580" cy="4247317"/>
          </a:xfrm>
          <a:prstGeom prst="rect">
            <a:avLst/>
          </a:prstGeom>
          <a:noFill/>
        </p:spPr>
        <p:txBody>
          <a:bodyPr wrap="square">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Example</a:t>
            </a:r>
          </a:p>
          <a:p>
            <a:r>
              <a:rPr lang="en-IN" b="1" dirty="0">
                <a:solidFill>
                  <a:schemeClr val="bg2">
                    <a:lumMod val="75000"/>
                  </a:schemeClr>
                </a:solidFill>
                <a:effectLst/>
                <a:latin typeface="Courier New" panose="02070309020205020404" pitchFamily="49" charset="0"/>
              </a:rPr>
              <a:t># Define a function to evaluate z values at each grid point</a:t>
            </a:r>
          </a:p>
          <a:p>
            <a:r>
              <a:rPr lang="en-IN" b="1" dirty="0">
                <a:effectLst/>
                <a:latin typeface="Courier New" panose="02070309020205020404" pitchFamily="49" charset="0"/>
              </a:rPr>
              <a:t>def f(x, y):</a:t>
            </a:r>
          </a:p>
          <a:p>
            <a:r>
              <a:rPr lang="en-IN" b="1" dirty="0">
                <a:effectLst/>
                <a:latin typeface="Courier New" panose="02070309020205020404" pitchFamily="49" charset="0"/>
              </a:rPr>
              <a:t>    return x**2 + y**2  # Replace with your desired function</a:t>
            </a:r>
          </a:p>
          <a:p>
            <a:endParaRPr lang="en-IN" b="1" dirty="0">
              <a:solidFill>
                <a:schemeClr val="bg2">
                  <a:lumMod val="75000"/>
                </a:schemeClr>
              </a:solidFill>
              <a:effectLst/>
              <a:latin typeface="Courier New" panose="02070309020205020404" pitchFamily="49" charset="0"/>
            </a:endParaRPr>
          </a:p>
          <a:p>
            <a:r>
              <a:rPr lang="en-IN" b="1" dirty="0">
                <a:solidFill>
                  <a:schemeClr val="bg2">
                    <a:lumMod val="75000"/>
                  </a:schemeClr>
                </a:solidFill>
                <a:effectLst/>
                <a:latin typeface="Courier New" panose="02070309020205020404" pitchFamily="49" charset="0"/>
              </a:rPr>
              <a:t># Calculate z values based on the function</a:t>
            </a:r>
          </a:p>
          <a:p>
            <a:r>
              <a:rPr lang="en-IN" b="1" dirty="0">
                <a:effectLst/>
                <a:latin typeface="Courier New" panose="02070309020205020404" pitchFamily="49" charset="0"/>
              </a:rPr>
              <a:t>z = f(X, Y)</a:t>
            </a:r>
          </a:p>
          <a:p>
            <a:endParaRPr lang="en-IN" b="1" dirty="0">
              <a:solidFill>
                <a:schemeClr val="bg2">
                  <a:lumMod val="75000"/>
                </a:schemeClr>
              </a:solidFill>
              <a:effectLst/>
              <a:latin typeface="Courier New" panose="02070309020205020404" pitchFamily="49" charset="0"/>
            </a:endParaRPr>
          </a:p>
          <a:p>
            <a:r>
              <a:rPr lang="en-IN" b="1" dirty="0">
                <a:solidFill>
                  <a:schemeClr val="bg2">
                    <a:lumMod val="75000"/>
                  </a:schemeClr>
                </a:solidFill>
                <a:effectLst/>
                <a:latin typeface="Courier New" panose="02070309020205020404" pitchFamily="49" charset="0"/>
              </a:rPr>
              <a:t># Create a 3D figure and axes</a:t>
            </a:r>
          </a:p>
          <a:p>
            <a:r>
              <a:rPr lang="en-IN" b="1" dirty="0">
                <a:effectLst/>
                <a:latin typeface="Courier New" panose="02070309020205020404" pitchFamily="49" charset="0"/>
              </a:rPr>
              <a:t>fig = </a:t>
            </a:r>
            <a:r>
              <a:rPr lang="en-IN" b="1" dirty="0" err="1">
                <a:effectLst/>
                <a:latin typeface="Courier New" panose="02070309020205020404" pitchFamily="49" charset="0"/>
              </a:rPr>
              <a:t>plt.figure</a:t>
            </a:r>
            <a:r>
              <a:rPr lang="en-IN" b="1" dirty="0">
                <a:effectLst/>
                <a:latin typeface="Courier New" panose="02070309020205020404" pitchFamily="49" charset="0"/>
              </a:rPr>
              <a:t>(</a:t>
            </a:r>
            <a:r>
              <a:rPr lang="en-IN" b="1" dirty="0" err="1">
                <a:effectLst/>
                <a:latin typeface="Courier New" panose="02070309020205020404" pitchFamily="49" charset="0"/>
              </a:rPr>
              <a:t>figsize</a:t>
            </a:r>
            <a:r>
              <a:rPr lang="en-IN" b="1" dirty="0">
                <a:effectLst/>
                <a:latin typeface="Courier New" panose="02070309020205020404" pitchFamily="49" charset="0"/>
              </a:rPr>
              <a:t>=(8, 6))  # Adjust figure size as needed</a:t>
            </a:r>
          </a:p>
          <a:p>
            <a:r>
              <a:rPr lang="en-IN" b="1" dirty="0" err="1">
                <a:effectLst/>
                <a:latin typeface="Courier New" panose="02070309020205020404" pitchFamily="49" charset="0"/>
              </a:rPr>
              <a:t>ax</a:t>
            </a:r>
            <a:r>
              <a:rPr lang="en-IN" b="1" dirty="0">
                <a:effectLst/>
                <a:latin typeface="Courier New" panose="02070309020205020404" pitchFamily="49" charset="0"/>
              </a:rPr>
              <a:t> = </a:t>
            </a:r>
            <a:r>
              <a:rPr lang="en-IN" b="1" dirty="0" err="1">
                <a:effectLst/>
                <a:latin typeface="Courier New" panose="02070309020205020404" pitchFamily="49" charset="0"/>
              </a:rPr>
              <a:t>fig.add_subplot</a:t>
            </a:r>
            <a:r>
              <a:rPr lang="en-IN" b="1" dirty="0">
                <a:effectLst/>
                <a:latin typeface="Courier New" panose="02070309020205020404" pitchFamily="49" charset="0"/>
              </a:rPr>
              <a:t>(111, projection='3d')</a:t>
            </a:r>
          </a:p>
          <a:p>
            <a:endParaRPr lang="en-IN" b="1" dirty="0">
              <a:effectLst/>
              <a:latin typeface="Courier New" panose="02070309020205020404" pitchFamily="49" charset="0"/>
            </a:endParaRPr>
          </a:p>
        </p:txBody>
      </p:sp>
      <p:sp>
        <p:nvSpPr>
          <p:cNvPr id="6" name="TextBox 5">
            <a:extLst>
              <a:ext uri="{FF2B5EF4-FFF2-40B4-BE49-F238E27FC236}">
                <a16:creationId xmlns:a16="http://schemas.microsoft.com/office/drawing/2014/main" id="{9D03BDF5-9F02-7C3B-5984-B167176A0349}"/>
              </a:ext>
            </a:extLst>
          </p:cNvPr>
          <p:cNvSpPr txBox="1"/>
          <p:nvPr/>
        </p:nvSpPr>
        <p:spPr>
          <a:xfrm>
            <a:off x="6771968" y="1652703"/>
            <a:ext cx="6120580" cy="369332"/>
          </a:xfrm>
          <a:prstGeom prst="rect">
            <a:avLst/>
          </a:prstGeom>
          <a:noFill/>
        </p:spPr>
        <p:txBody>
          <a:bodyPr wrap="square">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Output</a:t>
            </a:r>
          </a:p>
        </p:txBody>
      </p:sp>
      <p:pic>
        <p:nvPicPr>
          <p:cNvPr id="2" name="Picture 2">
            <a:extLst>
              <a:ext uri="{FF2B5EF4-FFF2-40B4-BE49-F238E27FC236}">
                <a16:creationId xmlns:a16="http://schemas.microsoft.com/office/drawing/2014/main" id="{57C7AEC5-43D0-D0CD-B637-5594E19A49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4060" y="2136692"/>
            <a:ext cx="4218315" cy="4295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964916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r>
                        <a:rPr lang="en-US" dirty="0">
                          <a:solidFill>
                            <a:schemeClr val="tx1"/>
                          </a:solidFill>
                        </a:rPr>
                        <a:t>2</a:t>
                      </a: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0" y="883683"/>
            <a:ext cx="12191999" cy="646331"/>
          </a:xfrm>
          <a:prstGeom prst="rect">
            <a:avLst/>
          </a:prstGeom>
          <a:noFill/>
        </p:spPr>
        <p:txBody>
          <a:bodyPr wrap="square">
            <a:spAutoFit/>
          </a:bodyPr>
          <a:lstStyle/>
          <a:p>
            <a:pPr algn="ctr"/>
            <a:r>
              <a:rPr lang="en-US" sz="3600" b="1" dirty="0">
                <a:effectLst/>
                <a:latin typeface="Calibri" panose="020F0502020204030204" pitchFamily="34" charset="0"/>
                <a:ea typeface="Calibri" panose="020F0502020204030204" pitchFamily="34" charset="0"/>
                <a:cs typeface="Calibri" panose="020F0502020204030204" pitchFamily="34" charset="0"/>
              </a:rPr>
              <a:t>3D Surface Plot</a:t>
            </a:r>
            <a:endParaRPr lang="en-GB" sz="3600" b="1" cap="none"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1E1325FF-B551-6EDC-7317-A0D52C7D26D3}"/>
              </a:ext>
            </a:extLst>
          </p:cNvPr>
          <p:cNvSpPr txBox="1"/>
          <p:nvPr/>
        </p:nvSpPr>
        <p:spPr>
          <a:xfrm>
            <a:off x="651388" y="1739554"/>
            <a:ext cx="6120580" cy="4247317"/>
          </a:xfrm>
          <a:prstGeom prst="rect">
            <a:avLst/>
          </a:prstGeom>
          <a:noFill/>
        </p:spPr>
        <p:txBody>
          <a:bodyPr wrap="square">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Example</a:t>
            </a:r>
          </a:p>
          <a:p>
            <a:r>
              <a:rPr lang="en-IN" b="1" dirty="0">
                <a:solidFill>
                  <a:schemeClr val="bg2">
                    <a:lumMod val="75000"/>
                  </a:schemeClr>
                </a:solidFill>
                <a:effectLst/>
                <a:latin typeface="Courier New" panose="02070309020205020404" pitchFamily="49" charset="0"/>
              </a:rPr>
              <a:t># Create a surface plot</a:t>
            </a:r>
          </a:p>
          <a:p>
            <a:r>
              <a:rPr lang="en-IN" b="1" dirty="0">
                <a:effectLst/>
                <a:latin typeface="Courier New" panose="02070309020205020404" pitchFamily="49" charset="0"/>
              </a:rPr>
              <a:t>surf = </a:t>
            </a:r>
            <a:r>
              <a:rPr lang="en-IN" b="1" dirty="0" err="1">
                <a:effectLst/>
                <a:latin typeface="Courier New" panose="02070309020205020404" pitchFamily="49" charset="0"/>
              </a:rPr>
              <a:t>ax.plot_surface</a:t>
            </a:r>
            <a:r>
              <a:rPr lang="en-IN" b="1" dirty="0">
                <a:effectLst/>
                <a:latin typeface="Courier New" panose="02070309020205020404" pitchFamily="49" charset="0"/>
              </a:rPr>
              <a:t>(X, Y, z, </a:t>
            </a:r>
            <a:r>
              <a:rPr lang="en-IN" b="1" dirty="0" err="1">
                <a:effectLst/>
                <a:latin typeface="Courier New" panose="02070309020205020404" pitchFamily="49" charset="0"/>
              </a:rPr>
              <a:t>cmap</a:t>
            </a:r>
            <a:r>
              <a:rPr lang="en-IN" b="1" dirty="0">
                <a:effectLst/>
                <a:latin typeface="Courier New" panose="02070309020205020404" pitchFamily="49" charset="0"/>
              </a:rPr>
              <a:t>='</a:t>
            </a:r>
            <a:r>
              <a:rPr lang="en-IN" b="1" dirty="0" err="1">
                <a:effectLst/>
                <a:latin typeface="Courier New" panose="02070309020205020404" pitchFamily="49" charset="0"/>
              </a:rPr>
              <a:t>viridis</a:t>
            </a:r>
            <a:r>
              <a:rPr lang="en-IN" b="1" dirty="0">
                <a:effectLst/>
                <a:latin typeface="Courier New" panose="02070309020205020404" pitchFamily="49" charset="0"/>
              </a:rPr>
              <a:t>', linewidth=0, </a:t>
            </a:r>
            <a:r>
              <a:rPr lang="en-IN" b="1" dirty="0" err="1">
                <a:effectLst/>
                <a:latin typeface="Courier New" panose="02070309020205020404" pitchFamily="49" charset="0"/>
              </a:rPr>
              <a:t>antialiased</a:t>
            </a:r>
            <a:r>
              <a:rPr lang="en-IN" b="1" dirty="0">
                <a:effectLst/>
                <a:latin typeface="Courier New" panose="02070309020205020404" pitchFamily="49" charset="0"/>
              </a:rPr>
              <a:t>=True)  </a:t>
            </a:r>
            <a:r>
              <a:rPr lang="en-IN" b="1" dirty="0">
                <a:solidFill>
                  <a:schemeClr val="bg2">
                    <a:lumMod val="75000"/>
                  </a:schemeClr>
                </a:solidFill>
                <a:effectLst/>
                <a:latin typeface="Courier New" panose="02070309020205020404" pitchFamily="49" charset="0"/>
              </a:rPr>
              <a:t># Adjust colormap</a:t>
            </a:r>
          </a:p>
          <a:p>
            <a:r>
              <a:rPr lang="en-IN" b="1" dirty="0" err="1">
                <a:effectLst/>
                <a:latin typeface="Courier New" panose="02070309020205020404" pitchFamily="49" charset="0"/>
              </a:rPr>
              <a:t>ax.set_xlabel</a:t>
            </a:r>
            <a:r>
              <a:rPr lang="en-IN" b="1" dirty="0">
                <a:effectLst/>
                <a:latin typeface="Courier New" panose="02070309020205020404" pitchFamily="49" charset="0"/>
              </a:rPr>
              <a:t>('X-axis')</a:t>
            </a:r>
          </a:p>
          <a:p>
            <a:r>
              <a:rPr lang="en-IN" b="1" dirty="0" err="1">
                <a:effectLst/>
                <a:latin typeface="Courier New" panose="02070309020205020404" pitchFamily="49" charset="0"/>
              </a:rPr>
              <a:t>ax.set_ylabel</a:t>
            </a:r>
            <a:r>
              <a:rPr lang="en-IN" b="1" dirty="0">
                <a:effectLst/>
                <a:latin typeface="Courier New" panose="02070309020205020404" pitchFamily="49" charset="0"/>
              </a:rPr>
              <a:t>('Y-axis')</a:t>
            </a:r>
          </a:p>
          <a:p>
            <a:r>
              <a:rPr lang="en-IN" b="1" dirty="0" err="1">
                <a:effectLst/>
                <a:latin typeface="Courier New" panose="02070309020205020404" pitchFamily="49" charset="0"/>
              </a:rPr>
              <a:t>plt.title</a:t>
            </a:r>
            <a:r>
              <a:rPr lang="en-IN" b="1" dirty="0">
                <a:effectLst/>
                <a:latin typeface="Courier New" panose="02070309020205020404" pitchFamily="49" charset="0"/>
              </a:rPr>
              <a:t>('3D Surface Plot’)</a:t>
            </a:r>
          </a:p>
          <a:p>
            <a:endParaRPr lang="en-IN" b="1" dirty="0">
              <a:solidFill>
                <a:schemeClr val="bg2">
                  <a:lumMod val="75000"/>
                </a:schemeClr>
              </a:solidFill>
              <a:effectLst/>
              <a:latin typeface="Courier New" panose="02070309020205020404" pitchFamily="49" charset="0"/>
            </a:endParaRPr>
          </a:p>
          <a:p>
            <a:r>
              <a:rPr lang="en-IN" b="1" dirty="0">
                <a:solidFill>
                  <a:schemeClr val="bg2">
                    <a:lumMod val="75000"/>
                  </a:schemeClr>
                </a:solidFill>
                <a:effectLst/>
                <a:latin typeface="Courier New" panose="02070309020205020404" pitchFamily="49" charset="0"/>
              </a:rPr>
              <a:t># Customize viewing angle (optional)</a:t>
            </a:r>
          </a:p>
          <a:p>
            <a:r>
              <a:rPr lang="en-IN" b="1" dirty="0" err="1">
                <a:effectLst/>
                <a:latin typeface="Courier New" panose="02070309020205020404" pitchFamily="49" charset="0"/>
              </a:rPr>
              <a:t>ax.view_init</a:t>
            </a:r>
            <a:r>
              <a:rPr lang="en-IN" b="1" dirty="0">
                <a:effectLst/>
                <a:latin typeface="Courier New" panose="02070309020205020404" pitchFamily="49" charset="0"/>
              </a:rPr>
              <a:t>(</a:t>
            </a:r>
            <a:r>
              <a:rPr lang="en-IN" b="1" dirty="0" err="1">
                <a:effectLst/>
                <a:latin typeface="Courier New" panose="02070309020205020404" pitchFamily="49" charset="0"/>
              </a:rPr>
              <a:t>elev</a:t>
            </a:r>
            <a:r>
              <a:rPr lang="en-IN" b="1" dirty="0">
                <a:effectLst/>
                <a:latin typeface="Courier New" panose="02070309020205020404" pitchFamily="49" charset="0"/>
              </a:rPr>
              <a:t>=20, </a:t>
            </a:r>
            <a:r>
              <a:rPr lang="en-IN" b="1" dirty="0" err="1">
                <a:effectLst/>
                <a:latin typeface="Courier New" panose="02070309020205020404" pitchFamily="49" charset="0"/>
              </a:rPr>
              <a:t>azim</a:t>
            </a:r>
            <a:r>
              <a:rPr lang="en-IN" b="1" dirty="0">
                <a:effectLst/>
                <a:latin typeface="Courier New" panose="02070309020205020404" pitchFamily="49" charset="0"/>
              </a:rPr>
              <a:t>=45)  # Adjust elevation and azimuth angles</a:t>
            </a:r>
          </a:p>
          <a:p>
            <a:endParaRPr lang="en-IN" b="1" dirty="0">
              <a:solidFill>
                <a:schemeClr val="bg2">
                  <a:lumMod val="75000"/>
                </a:schemeClr>
              </a:solidFill>
              <a:effectLst/>
              <a:latin typeface="Courier New" panose="02070309020205020404" pitchFamily="49" charset="0"/>
            </a:endParaRPr>
          </a:p>
          <a:p>
            <a:r>
              <a:rPr lang="en-IN" b="1" dirty="0">
                <a:solidFill>
                  <a:schemeClr val="bg2">
                    <a:lumMod val="75000"/>
                  </a:schemeClr>
                </a:solidFill>
                <a:effectLst/>
                <a:latin typeface="Courier New" panose="02070309020205020404" pitchFamily="49" charset="0"/>
              </a:rPr>
              <a:t># Show the plot</a:t>
            </a:r>
          </a:p>
          <a:p>
            <a:r>
              <a:rPr lang="en-IN" b="1" dirty="0" err="1">
                <a:effectLst/>
                <a:latin typeface="Courier New" panose="02070309020205020404" pitchFamily="49" charset="0"/>
              </a:rPr>
              <a:t>plt.show</a:t>
            </a:r>
            <a:r>
              <a:rPr lang="en-IN" b="1" dirty="0">
                <a:effectLst/>
                <a:latin typeface="Courier New" panose="02070309020205020404" pitchFamily="49" charset="0"/>
              </a:rPr>
              <a:t>()</a:t>
            </a:r>
          </a:p>
        </p:txBody>
      </p:sp>
      <p:sp>
        <p:nvSpPr>
          <p:cNvPr id="6" name="TextBox 5">
            <a:extLst>
              <a:ext uri="{FF2B5EF4-FFF2-40B4-BE49-F238E27FC236}">
                <a16:creationId xmlns:a16="http://schemas.microsoft.com/office/drawing/2014/main" id="{9D03BDF5-9F02-7C3B-5984-B167176A0349}"/>
              </a:ext>
            </a:extLst>
          </p:cNvPr>
          <p:cNvSpPr txBox="1"/>
          <p:nvPr/>
        </p:nvSpPr>
        <p:spPr>
          <a:xfrm>
            <a:off x="6771968" y="1652703"/>
            <a:ext cx="6120580" cy="369332"/>
          </a:xfrm>
          <a:prstGeom prst="rect">
            <a:avLst/>
          </a:prstGeom>
          <a:noFill/>
        </p:spPr>
        <p:txBody>
          <a:bodyPr wrap="square">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Output</a:t>
            </a:r>
          </a:p>
        </p:txBody>
      </p:sp>
      <p:pic>
        <p:nvPicPr>
          <p:cNvPr id="7170" name="Picture 2">
            <a:extLst>
              <a:ext uri="{FF2B5EF4-FFF2-40B4-BE49-F238E27FC236}">
                <a16:creationId xmlns:a16="http://schemas.microsoft.com/office/drawing/2014/main" id="{B778C93B-8701-C12B-91C9-353409101D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4060" y="2136692"/>
            <a:ext cx="4616552" cy="4295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981523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6EC464-4750-5FF3-7A5A-15612BA6E293}"/>
              </a:ext>
            </a:extLst>
          </p:cNvPr>
          <p:cNvGraphicFramePr>
            <a:graphicFrameLocks noGrp="1"/>
          </p:cNvGraphicFramePr>
          <p:nvPr/>
        </p:nvGraphicFramePr>
        <p:xfrm>
          <a:off x="0" y="23812"/>
          <a:ext cx="12192000" cy="465287"/>
        </p:xfrm>
        <a:graphic>
          <a:graphicData uri="http://schemas.openxmlformats.org/drawingml/2006/table">
            <a:tbl>
              <a:tblPr firstRow="1" bandRow="1">
                <a:tableStyleId>{5C22544A-7EE6-4342-B048-85BDC9FD1C3A}</a:tableStyleId>
              </a:tblPr>
              <a:tblGrid>
                <a:gridCol w="6092042">
                  <a:extLst>
                    <a:ext uri="{9D8B030D-6E8A-4147-A177-3AD203B41FA5}">
                      <a16:colId xmlns:a16="http://schemas.microsoft.com/office/drawing/2014/main" val="2179694530"/>
                    </a:ext>
                  </a:extLst>
                </a:gridCol>
                <a:gridCol w="6099958">
                  <a:extLst>
                    <a:ext uri="{9D8B030D-6E8A-4147-A177-3AD203B41FA5}">
                      <a16:colId xmlns:a16="http://schemas.microsoft.com/office/drawing/2014/main" val="2768207918"/>
                    </a:ext>
                  </a:extLst>
                </a:gridCol>
              </a:tblGrid>
              <a:tr h="465287">
                <a:tc>
                  <a:txBody>
                    <a:bodyPr/>
                    <a:lstStyle/>
                    <a:p>
                      <a:endParaRPr lang="en-US" dirty="0"/>
                    </a:p>
                  </a:txBody>
                  <a:tcPr>
                    <a:solidFill>
                      <a:srgbClr val="FF85FF"/>
                    </a:solidFill>
                  </a:tcPr>
                </a:tc>
                <a:tc>
                  <a:txBody>
                    <a:bodyPr/>
                    <a:lstStyle/>
                    <a:p>
                      <a:endParaRPr lang="en-US" dirty="0"/>
                    </a:p>
                  </a:txBody>
                  <a:tcPr>
                    <a:solidFill>
                      <a:srgbClr val="FFFF00"/>
                    </a:solidFill>
                  </a:tcPr>
                </a:tc>
                <a:extLst>
                  <a:ext uri="{0D108BD9-81ED-4DB2-BD59-A6C34878D82A}">
                    <a16:rowId xmlns:a16="http://schemas.microsoft.com/office/drawing/2014/main" val="1996944423"/>
                  </a:ext>
                </a:extLst>
              </a:tr>
            </a:tbl>
          </a:graphicData>
        </a:graphic>
      </p:graphicFrame>
      <p:graphicFrame>
        <p:nvGraphicFramePr>
          <p:cNvPr id="10" name="Table 9">
            <a:extLst>
              <a:ext uri="{FF2B5EF4-FFF2-40B4-BE49-F238E27FC236}">
                <a16:creationId xmlns:a16="http://schemas.microsoft.com/office/drawing/2014/main" id="{494BAFB7-FE1F-E1A9-7A6C-AB4145BD9BA1}"/>
              </a:ext>
            </a:extLst>
          </p:cNvPr>
          <p:cNvGraphicFramePr>
            <a:graphicFrameLocks noGrp="1"/>
          </p:cNvGraphicFramePr>
          <p:nvPr/>
        </p:nvGraphicFramePr>
        <p:xfrm>
          <a:off x="1" y="6478892"/>
          <a:ext cx="12191999" cy="370840"/>
        </p:xfrm>
        <a:graphic>
          <a:graphicData uri="http://schemas.openxmlformats.org/drawingml/2006/table">
            <a:tbl>
              <a:tblPr firstRow="1" bandRow="1">
                <a:tableStyleId>{5C22544A-7EE6-4342-B048-85BDC9FD1C3A}</a:tableStyleId>
              </a:tblPr>
              <a:tblGrid>
                <a:gridCol w="6080165">
                  <a:extLst>
                    <a:ext uri="{9D8B030D-6E8A-4147-A177-3AD203B41FA5}">
                      <a16:colId xmlns:a16="http://schemas.microsoft.com/office/drawing/2014/main" val="2179694530"/>
                    </a:ext>
                  </a:extLst>
                </a:gridCol>
                <a:gridCol w="6111834">
                  <a:extLst>
                    <a:ext uri="{9D8B030D-6E8A-4147-A177-3AD203B41FA5}">
                      <a16:colId xmlns:a16="http://schemas.microsoft.com/office/drawing/2014/main" val="2768207918"/>
                    </a:ext>
                  </a:extLst>
                </a:gridCol>
              </a:tblGrid>
              <a:tr h="370840">
                <a:tc>
                  <a:txBody>
                    <a:bodyPr/>
                    <a:lstStyle/>
                    <a:p>
                      <a:endParaRPr lang="en-US" dirty="0"/>
                    </a:p>
                  </a:txBody>
                  <a:tcPr>
                    <a:solidFill>
                      <a:srgbClr val="FFFF00"/>
                    </a:solidFill>
                  </a:tcPr>
                </a:tc>
                <a:tc>
                  <a:txBody>
                    <a:bodyPr/>
                    <a:lstStyle/>
                    <a:p>
                      <a:pPr algn="r"/>
                      <a:fld id="{C3A8E79E-7F4B-4E4D-ADE2-9430453E0565}" type="slidenum">
                        <a:rPr lang="en-US" smtClean="0">
                          <a:solidFill>
                            <a:schemeClr val="tx1"/>
                          </a:solidFill>
                        </a:rPr>
                        <a:t>91</a:t>
                      </a:fld>
                      <a:endParaRPr lang="en-US" dirty="0">
                        <a:solidFill>
                          <a:schemeClr val="tx1"/>
                        </a:solidFill>
                      </a:endParaRPr>
                    </a:p>
                  </a:txBody>
                  <a:tcPr>
                    <a:solidFill>
                      <a:srgbClr val="FF85FF"/>
                    </a:solidFill>
                  </a:tcPr>
                </a:tc>
                <a:extLst>
                  <a:ext uri="{0D108BD9-81ED-4DB2-BD59-A6C34878D82A}">
                    <a16:rowId xmlns:a16="http://schemas.microsoft.com/office/drawing/2014/main" val="1996944423"/>
                  </a:ext>
                </a:extLst>
              </a:tr>
            </a:tbl>
          </a:graphicData>
        </a:graphic>
      </p:graphicFrame>
      <p:pic>
        <p:nvPicPr>
          <p:cNvPr id="12" name="Google Shape;187;p25" descr="pngfind.com-kingpin-png-4152286 (1).png">
            <a:extLst>
              <a:ext uri="{FF2B5EF4-FFF2-40B4-BE49-F238E27FC236}">
                <a16:creationId xmlns:a16="http://schemas.microsoft.com/office/drawing/2014/main" id="{2DBF2481-A2DB-F96E-5749-B03DC4F71665}"/>
              </a:ext>
            </a:extLst>
          </p:cNvPr>
          <p:cNvPicPr preferRelativeResize="0"/>
          <p:nvPr/>
        </p:nvPicPr>
        <p:blipFill rotWithShape="1">
          <a:blip r:embed="rId2">
            <a:alphaModFix/>
          </a:blip>
          <a:srcRect/>
          <a:stretch/>
        </p:blipFill>
        <p:spPr>
          <a:xfrm>
            <a:off x="11044052" y="8268"/>
            <a:ext cx="1051261" cy="465287"/>
          </a:xfrm>
          <a:prstGeom prst="rect">
            <a:avLst/>
          </a:prstGeom>
          <a:noFill/>
          <a:ln>
            <a:noFill/>
          </a:ln>
        </p:spPr>
      </p:pic>
      <p:sp>
        <p:nvSpPr>
          <p:cNvPr id="19" name="Rectangle 18">
            <a:extLst>
              <a:ext uri="{FF2B5EF4-FFF2-40B4-BE49-F238E27FC236}">
                <a16:creationId xmlns:a16="http://schemas.microsoft.com/office/drawing/2014/main" id="{A0702E37-2E7E-7262-5E76-F69A817105B3}"/>
              </a:ext>
            </a:extLst>
          </p:cNvPr>
          <p:cNvSpPr/>
          <p:nvPr/>
        </p:nvSpPr>
        <p:spPr>
          <a:xfrm>
            <a:off x="0" y="8268"/>
            <a:ext cx="12192000" cy="6825920"/>
          </a:xfrm>
          <a:prstGeom prst="rect">
            <a:avLst/>
          </a:prstGeom>
          <a:noFill/>
          <a:ln w="38100">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B2A3F0-9003-5886-09B4-27925BBE4000}"/>
              </a:ext>
            </a:extLst>
          </p:cNvPr>
          <p:cNvSpPr txBox="1"/>
          <p:nvPr/>
        </p:nvSpPr>
        <p:spPr>
          <a:xfrm>
            <a:off x="1" y="2999768"/>
            <a:ext cx="12191999" cy="646331"/>
          </a:xfrm>
          <a:prstGeom prst="rect">
            <a:avLst/>
          </a:prstGeom>
          <a:noFill/>
        </p:spPr>
        <p:txBody>
          <a:bodyPr wrap="square">
            <a:spAutoFit/>
          </a:bodyPr>
          <a:lstStyle/>
          <a:p>
            <a:pPr marL="0" algn="ctr" rtl="0" eaLnBrk="1" latinLnBrk="0" hangingPunct="1">
              <a:spcBef>
                <a:spcPts val="0"/>
              </a:spcBef>
              <a:spcAft>
                <a:spcPts val="0"/>
              </a:spcAft>
            </a:pPr>
            <a:r>
              <a:rPr lang="en-US" sz="3600" b="1" kern="1200" dirty="0">
                <a:solidFill>
                  <a:srgbClr val="000000"/>
                </a:solidFill>
                <a:effectLst/>
                <a:latin typeface="Calibri" panose="020F0502020204030204" pitchFamily="34" charset="0"/>
                <a:ea typeface="+mn-ea"/>
                <a:cs typeface="Calibri" panose="020F0502020204030204" pitchFamily="34" charset="0"/>
              </a:rPr>
              <a:t>Thank You</a:t>
            </a:r>
            <a:endParaRPr lang="en-IN" sz="6000" dirty="0">
              <a:effectLst/>
            </a:endParaRPr>
          </a:p>
        </p:txBody>
      </p:sp>
    </p:spTree>
    <p:extLst>
      <p:ext uri="{BB962C8B-B14F-4D97-AF65-F5344CB8AC3E}">
        <p14:creationId xmlns:p14="http://schemas.microsoft.com/office/powerpoint/2010/main" val="31951578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551</TotalTime>
  <Words>7312</Words>
  <Application>Microsoft Office PowerPoint</Application>
  <PresentationFormat>Widescreen</PresentationFormat>
  <Paragraphs>866</Paragraphs>
  <Slides>91</Slides>
  <Notes>43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91</vt:i4>
      </vt:variant>
    </vt:vector>
  </HeadingPairs>
  <TitlesOfParts>
    <vt:vector size="101" baseType="lpstr">
      <vt:lpstr>Aptos</vt:lpstr>
      <vt:lpstr>Aptos Display</vt:lpstr>
      <vt:lpstr>Arial</vt:lpstr>
      <vt:lpstr>Birka</vt:lpstr>
      <vt:lpstr>Calibri</vt:lpstr>
      <vt:lpstr>Consolas</vt:lpstr>
      <vt:lpstr>Courier New</vt:lpstr>
      <vt:lpstr>inter-regular</vt:lpstr>
      <vt:lpstr>TheSansMonoCd-W5Regular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Vadivu G 100383</dc:creator>
  <cp:lastModifiedBy>vivenan09@outlook.com</cp:lastModifiedBy>
  <cp:revision>112</cp:revision>
  <dcterms:created xsi:type="dcterms:W3CDTF">2024-07-31T05:44:11Z</dcterms:created>
  <dcterms:modified xsi:type="dcterms:W3CDTF">2024-10-21T08:54:13Z</dcterms:modified>
</cp:coreProperties>
</file>