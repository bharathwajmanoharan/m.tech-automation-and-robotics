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2" r:id="rId13"/>
    <p:sldId id="263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DDCF28-3CE1-40D4-B1F7-7769CCA356A7}" v="27" dt="2025-10-31T11:26:01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18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SH UPPARA" userId="120f23cf28f76c34" providerId="LiveId" clId="{BFE29DE5-2E28-44D3-A83F-3CE8641B1BBD}"/>
    <pc:docChg chg="undo custSel addSld modSld">
      <pc:chgData name="RAJESH UPPARA" userId="120f23cf28f76c34" providerId="LiveId" clId="{BFE29DE5-2E28-44D3-A83F-3CE8641B1BBD}" dt="2025-10-31T11:39:25.037" v="270" actId="20577"/>
      <pc:docMkLst>
        <pc:docMk/>
      </pc:docMkLst>
      <pc:sldChg chg="modSp mod">
        <pc:chgData name="RAJESH UPPARA" userId="120f23cf28f76c34" providerId="LiveId" clId="{BFE29DE5-2E28-44D3-A83F-3CE8641B1BBD}" dt="2025-10-31T11:33:35.948" v="220" actId="113"/>
        <pc:sldMkLst>
          <pc:docMk/>
          <pc:sldMk cId="0" sldId="257"/>
        </pc:sldMkLst>
        <pc:spChg chg="mod">
          <ac:chgData name="RAJESH UPPARA" userId="120f23cf28f76c34" providerId="LiveId" clId="{BFE29DE5-2E28-44D3-A83F-3CE8641B1BBD}" dt="2025-10-31T11:11:47.223" v="7" actId="113"/>
          <ac:spMkLst>
            <pc:docMk/>
            <pc:sldMk cId="0" sldId="257"/>
            <ac:spMk id="2" creationId="{00000000-0000-0000-0000-000000000000}"/>
          </ac:spMkLst>
        </pc:spChg>
        <pc:spChg chg="mod">
          <ac:chgData name="RAJESH UPPARA" userId="120f23cf28f76c34" providerId="LiveId" clId="{BFE29DE5-2E28-44D3-A83F-3CE8641B1BBD}" dt="2025-10-31T11:33:35.948" v="220" actId="11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RAJESH UPPARA" userId="120f23cf28f76c34" providerId="LiveId" clId="{BFE29DE5-2E28-44D3-A83F-3CE8641B1BBD}" dt="2025-10-31T11:33:06.752" v="215" actId="255"/>
        <pc:sldMkLst>
          <pc:docMk/>
          <pc:sldMk cId="0" sldId="258"/>
        </pc:sldMkLst>
        <pc:spChg chg="mod">
          <ac:chgData name="RAJESH UPPARA" userId="120f23cf28f76c34" providerId="LiveId" clId="{BFE29DE5-2E28-44D3-A83F-3CE8641B1BBD}" dt="2025-10-31T11:33:06.752" v="215" actId="255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RAJESH UPPARA" userId="120f23cf28f76c34" providerId="LiveId" clId="{BFE29DE5-2E28-44D3-A83F-3CE8641B1BBD}" dt="2025-10-31T11:33:25.711" v="219" actId="5793"/>
        <pc:sldMkLst>
          <pc:docMk/>
          <pc:sldMk cId="0" sldId="259"/>
        </pc:sldMkLst>
        <pc:spChg chg="mod">
          <ac:chgData name="RAJESH UPPARA" userId="120f23cf28f76c34" providerId="LiveId" clId="{BFE29DE5-2E28-44D3-A83F-3CE8641B1BBD}" dt="2025-10-31T11:33:25.711" v="219" actId="5793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RAJESH UPPARA" userId="120f23cf28f76c34" providerId="LiveId" clId="{BFE29DE5-2E28-44D3-A83F-3CE8641B1BBD}" dt="2025-10-31T11:34:06.531" v="225" actId="5793"/>
        <pc:sldMkLst>
          <pc:docMk/>
          <pc:sldMk cId="0" sldId="260"/>
        </pc:sldMkLst>
        <pc:spChg chg="mod">
          <ac:chgData name="RAJESH UPPARA" userId="120f23cf28f76c34" providerId="LiveId" clId="{BFE29DE5-2E28-44D3-A83F-3CE8641B1BBD}" dt="2025-10-31T11:11:55.747" v="8" actId="113"/>
          <ac:spMkLst>
            <pc:docMk/>
            <pc:sldMk cId="0" sldId="260"/>
            <ac:spMk id="2" creationId="{00000000-0000-0000-0000-000000000000}"/>
          </ac:spMkLst>
        </pc:spChg>
        <pc:spChg chg="mod">
          <ac:chgData name="RAJESH UPPARA" userId="120f23cf28f76c34" providerId="LiveId" clId="{BFE29DE5-2E28-44D3-A83F-3CE8641B1BBD}" dt="2025-10-31T11:34:06.531" v="225" actId="5793"/>
          <ac:spMkLst>
            <pc:docMk/>
            <pc:sldMk cId="0" sldId="260"/>
            <ac:spMk id="3" creationId="{00000000-0000-0000-0000-000000000000}"/>
          </ac:spMkLst>
        </pc:spChg>
      </pc:sldChg>
      <pc:sldChg chg="addSp modSp mod">
        <pc:chgData name="RAJESH UPPARA" userId="120f23cf28f76c34" providerId="LiveId" clId="{BFE29DE5-2E28-44D3-A83F-3CE8641B1BBD}" dt="2025-10-31T11:31:49.124" v="199" actId="5793"/>
        <pc:sldMkLst>
          <pc:docMk/>
          <pc:sldMk cId="0" sldId="261"/>
        </pc:sldMkLst>
        <pc:spChg chg="mod">
          <ac:chgData name="RAJESH UPPARA" userId="120f23cf28f76c34" providerId="LiveId" clId="{BFE29DE5-2E28-44D3-A83F-3CE8641B1BBD}" dt="2025-10-31T11:12:04.093" v="9" actId="113"/>
          <ac:spMkLst>
            <pc:docMk/>
            <pc:sldMk cId="0" sldId="261"/>
            <ac:spMk id="2" creationId="{00000000-0000-0000-0000-000000000000}"/>
          </ac:spMkLst>
        </pc:spChg>
        <pc:spChg chg="mod">
          <ac:chgData name="RAJESH UPPARA" userId="120f23cf28f76c34" providerId="LiveId" clId="{BFE29DE5-2E28-44D3-A83F-3CE8641B1BBD}" dt="2025-10-31T11:31:49.124" v="199" actId="5793"/>
          <ac:spMkLst>
            <pc:docMk/>
            <pc:sldMk cId="0" sldId="261"/>
            <ac:spMk id="3" creationId="{00000000-0000-0000-0000-000000000000}"/>
          </ac:spMkLst>
        </pc:spChg>
        <pc:spChg chg="add">
          <ac:chgData name="RAJESH UPPARA" userId="120f23cf28f76c34" providerId="LiveId" clId="{BFE29DE5-2E28-44D3-A83F-3CE8641B1BBD}" dt="2025-10-31T11:13:14.986" v="11"/>
          <ac:spMkLst>
            <pc:docMk/>
            <pc:sldMk cId="0" sldId="261"/>
            <ac:spMk id="4" creationId="{CEE75F07-0BF0-AD22-F5EB-982646E951A7}"/>
          </ac:spMkLst>
        </pc:spChg>
        <pc:spChg chg="add mod">
          <ac:chgData name="RAJESH UPPARA" userId="120f23cf28f76c34" providerId="LiveId" clId="{BFE29DE5-2E28-44D3-A83F-3CE8641B1BBD}" dt="2025-10-31T11:16:01.334" v="33" actId="21"/>
          <ac:spMkLst>
            <pc:docMk/>
            <pc:sldMk cId="0" sldId="261"/>
            <ac:spMk id="5" creationId="{5A8934F2-BC43-DF29-27BE-932A473CB42C}"/>
          </ac:spMkLst>
        </pc:spChg>
      </pc:sldChg>
      <pc:sldChg chg="modSp mod">
        <pc:chgData name="RAJESH UPPARA" userId="120f23cf28f76c34" providerId="LiveId" clId="{BFE29DE5-2E28-44D3-A83F-3CE8641B1BBD}" dt="2025-10-31T11:39:25.037" v="270" actId="20577"/>
        <pc:sldMkLst>
          <pc:docMk/>
          <pc:sldMk cId="0" sldId="262"/>
        </pc:sldMkLst>
        <pc:spChg chg="mod">
          <ac:chgData name="RAJESH UPPARA" userId="120f23cf28f76c34" providerId="LiveId" clId="{BFE29DE5-2E28-44D3-A83F-3CE8641B1BBD}" dt="2025-10-31T11:39:25.037" v="270" actId="20577"/>
          <ac:spMkLst>
            <pc:docMk/>
            <pc:sldMk cId="0" sldId="262"/>
            <ac:spMk id="3" creationId="{00000000-0000-0000-0000-000000000000}"/>
          </ac:spMkLst>
        </pc:spChg>
      </pc:sldChg>
      <pc:sldChg chg="addSp delSp modSp new mod">
        <pc:chgData name="RAJESH UPPARA" userId="120f23cf28f76c34" providerId="LiveId" clId="{BFE29DE5-2E28-44D3-A83F-3CE8641B1BBD}" dt="2025-10-31T11:35:47.451" v="236" actId="20577"/>
        <pc:sldMkLst>
          <pc:docMk/>
          <pc:sldMk cId="1983104605" sldId="264"/>
        </pc:sldMkLst>
        <pc:spChg chg="del">
          <ac:chgData name="RAJESH UPPARA" userId="120f23cf28f76c34" providerId="LiveId" clId="{BFE29DE5-2E28-44D3-A83F-3CE8641B1BBD}" dt="2025-10-31T11:18:09.818" v="75" actId="478"/>
          <ac:spMkLst>
            <pc:docMk/>
            <pc:sldMk cId="1983104605" sldId="264"/>
            <ac:spMk id="2" creationId="{BF88A046-03B1-BCF4-7793-392C51BD9D5A}"/>
          </ac:spMkLst>
        </pc:spChg>
        <pc:spChg chg="mod">
          <ac:chgData name="RAJESH UPPARA" userId="120f23cf28f76c34" providerId="LiveId" clId="{BFE29DE5-2E28-44D3-A83F-3CE8641B1BBD}" dt="2025-10-31T11:35:47.451" v="236" actId="20577"/>
          <ac:spMkLst>
            <pc:docMk/>
            <pc:sldMk cId="1983104605" sldId="264"/>
            <ac:spMk id="3" creationId="{8C6B4E68-A31A-FBB4-F3D0-47C2793197A1}"/>
          </ac:spMkLst>
        </pc:spChg>
        <pc:spChg chg="add del mod">
          <ac:chgData name="RAJESH UPPARA" userId="120f23cf28f76c34" providerId="LiveId" clId="{BFE29DE5-2E28-44D3-A83F-3CE8641B1BBD}" dt="2025-10-31T11:19:37.780" v="88"/>
          <ac:spMkLst>
            <pc:docMk/>
            <pc:sldMk cId="1983104605" sldId="264"/>
            <ac:spMk id="4" creationId="{82E4354F-B3C3-B050-FCF6-1028FB90C2B3}"/>
          </ac:spMkLst>
        </pc:spChg>
      </pc:sldChg>
      <pc:sldChg chg="addSp delSp modSp new mod">
        <pc:chgData name="RAJESH UPPARA" userId="120f23cf28f76c34" providerId="LiveId" clId="{BFE29DE5-2E28-44D3-A83F-3CE8641B1BBD}" dt="2025-10-31T11:38:01.392" v="254" actId="403"/>
        <pc:sldMkLst>
          <pc:docMk/>
          <pc:sldMk cId="1417580723" sldId="265"/>
        </pc:sldMkLst>
        <pc:spChg chg="del">
          <ac:chgData name="RAJESH UPPARA" userId="120f23cf28f76c34" providerId="LiveId" clId="{BFE29DE5-2E28-44D3-A83F-3CE8641B1BBD}" dt="2025-10-31T11:22:34.012" v="130" actId="478"/>
          <ac:spMkLst>
            <pc:docMk/>
            <pc:sldMk cId="1417580723" sldId="265"/>
            <ac:spMk id="2" creationId="{415E0A90-5C4F-752E-5726-1DA58162EF47}"/>
          </ac:spMkLst>
        </pc:spChg>
        <pc:spChg chg="mod">
          <ac:chgData name="RAJESH UPPARA" userId="120f23cf28f76c34" providerId="LiveId" clId="{BFE29DE5-2E28-44D3-A83F-3CE8641B1BBD}" dt="2025-10-31T11:38:01.392" v="254" actId="403"/>
          <ac:spMkLst>
            <pc:docMk/>
            <pc:sldMk cId="1417580723" sldId="265"/>
            <ac:spMk id="3" creationId="{799E1A5F-A778-2DAD-2D01-CB4332837EC0}"/>
          </ac:spMkLst>
        </pc:spChg>
        <pc:spChg chg="add del mod">
          <ac:chgData name="RAJESH UPPARA" userId="120f23cf28f76c34" providerId="LiveId" clId="{BFE29DE5-2E28-44D3-A83F-3CE8641B1BBD}" dt="2025-10-31T11:24:44.997" v="169"/>
          <ac:spMkLst>
            <pc:docMk/>
            <pc:sldMk cId="1417580723" sldId="265"/>
            <ac:spMk id="4" creationId="{A50AB0DC-778A-FE83-D92E-981DFDC6DA61}"/>
          </ac:spMkLst>
        </pc:spChg>
      </pc:sldChg>
      <pc:sldChg chg="addSp delSp modSp new mod">
        <pc:chgData name="RAJESH UPPARA" userId="120f23cf28f76c34" providerId="LiveId" clId="{BFE29DE5-2E28-44D3-A83F-3CE8641B1BBD}" dt="2025-10-31T11:38:34.253" v="266" actId="5793"/>
        <pc:sldMkLst>
          <pc:docMk/>
          <pc:sldMk cId="4063970856" sldId="266"/>
        </pc:sldMkLst>
        <pc:spChg chg="mod">
          <ac:chgData name="RAJESH UPPARA" userId="120f23cf28f76c34" providerId="LiveId" clId="{BFE29DE5-2E28-44D3-A83F-3CE8641B1BBD}" dt="2025-10-31T11:34:25.707" v="226" actId="404"/>
          <ac:spMkLst>
            <pc:docMk/>
            <pc:sldMk cId="4063970856" sldId="266"/>
            <ac:spMk id="2" creationId="{D62DA3B8-F78A-81C0-1920-A37AD4177945}"/>
          </ac:spMkLst>
        </pc:spChg>
        <pc:spChg chg="del mod">
          <ac:chgData name="RAJESH UPPARA" userId="120f23cf28f76c34" providerId="LiveId" clId="{BFE29DE5-2E28-44D3-A83F-3CE8641B1BBD}" dt="2025-10-31T11:25:46.339" v="177"/>
          <ac:spMkLst>
            <pc:docMk/>
            <pc:sldMk cId="4063970856" sldId="266"/>
            <ac:spMk id="3" creationId="{4B101429-F1DC-BC7D-84F0-9585F8DF2F07}"/>
          </ac:spMkLst>
        </pc:spChg>
        <pc:spChg chg="add del mod">
          <ac:chgData name="RAJESH UPPARA" userId="120f23cf28f76c34" providerId="LiveId" clId="{BFE29DE5-2E28-44D3-A83F-3CE8641B1BBD}" dt="2025-10-31T11:25:59.503" v="179" actId="478"/>
          <ac:spMkLst>
            <pc:docMk/>
            <pc:sldMk cId="4063970856" sldId="266"/>
            <ac:spMk id="4" creationId="{7563A2AE-6295-971B-FAAE-9BF9206A21FA}"/>
          </ac:spMkLst>
        </pc:spChg>
        <pc:spChg chg="add mod">
          <ac:chgData name="RAJESH UPPARA" userId="120f23cf28f76c34" providerId="LiveId" clId="{BFE29DE5-2E28-44D3-A83F-3CE8641B1BBD}" dt="2025-10-31T11:38:34.253" v="266" actId="5793"/>
          <ac:spMkLst>
            <pc:docMk/>
            <pc:sldMk cId="4063970856" sldId="266"/>
            <ac:spMk id="6" creationId="{874ED142-C2E0-2AD3-A01D-4B492DBD2F0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2450" y="2511425"/>
            <a:ext cx="7772400" cy="1470025"/>
          </a:xfrm>
        </p:spPr>
        <p:txBody>
          <a:bodyPr>
            <a:normAutofit fontScale="90000"/>
          </a:bodyPr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Misconduct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Falsification, Fabrication, and Plagiarism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Rajesh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Uppara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Scholar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EEE Department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SRMIST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Scientific Misconduct?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467726" cy="4525963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of ethical standards in research.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dishonesty, deception, or misrepresentation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data.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forms: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Fabrication, Falsification, and Plagiarism (FFP).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Damages the credibility and integrity of science.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Fabrication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324850" cy="47085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up data, results, or research processes.</a:t>
            </a:r>
          </a:p>
          <a:p>
            <a:pPr marL="0" indent="0" algn="just">
              <a:buNone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Inventing experimental data or survey results.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experiments that were never conducted.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false references or citations.</a:t>
            </a:r>
          </a:p>
          <a:p>
            <a:pPr marL="0" indent="0" algn="just">
              <a:buNone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Produces false scientific records and invalid conclusions.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334375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Manipulating materials, equipment, or data to misrepresent results.</a:t>
            </a:r>
          </a:p>
          <a:p>
            <a:pPr marL="0" indent="0" algn="just">
              <a:buNone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Altering data to fit expectations.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Omitting data that contradicts hypotheses.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Editing figures or graphs to exaggerate outcomes.</a:t>
            </a:r>
          </a:p>
          <a:p>
            <a:pPr marL="0" indent="0" algn="just">
              <a:buNone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Misleads others and distorts the scientific record.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334375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another’s ideas, words, or work without proper acknowledgment.</a:t>
            </a:r>
          </a:p>
          <a:p>
            <a:pPr marL="0" indent="0" algn="just">
              <a:buNone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Copying text or figures from others without citation.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Presenting others’ ideas as your own.</a:t>
            </a:r>
          </a:p>
          <a:p>
            <a:pPr marL="0" indent="0" algn="just">
              <a:buNone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Self-plagiarism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Reusing your own prior work without disclosure.</a:t>
            </a:r>
          </a:p>
          <a:p>
            <a:pPr marL="0" indent="0" algn="just">
              <a:buNone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Violates academic integrity and intellectual property rights.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Consequences of Misconduct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4849813"/>
          </a:xfrm>
        </p:spPr>
        <p:txBody>
          <a:bodyPr>
            <a:norm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Retraction of published work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Common Reasons for Retraction:</a:t>
            </a:r>
          </a:p>
          <a:p>
            <a:pPr marL="400050" lvl="0" indent="-4000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Discovery of fabrication, falsification, or plagiarism.</a:t>
            </a:r>
          </a:p>
          <a:p>
            <a:pPr marL="400050" lvl="0" indent="-4000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errors that invalidate the results.</a:t>
            </a:r>
          </a:p>
          <a:p>
            <a:pPr marL="400050" lvl="0" indent="-4000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violations, such as lack of informed consent or duplicate publication.</a:t>
            </a:r>
          </a:p>
          <a:p>
            <a:pPr marL="400050" lvl="0" indent="-4000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Authorship disputes or conflicts of interest.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Consequences:</a:t>
            </a:r>
          </a:p>
          <a:p>
            <a:pPr marL="400050" lvl="0" indent="-4000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 to the author’s reputation and credibility.</a:t>
            </a:r>
          </a:p>
          <a:p>
            <a:pPr marL="400050" lvl="0" indent="-4000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trust within the scientific community.</a:t>
            </a:r>
          </a:p>
          <a:p>
            <a:pPr marL="400050" lvl="0" indent="-4000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 of the retracted work is discouraged or prohibited.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8934F2-BC43-DF29-27BE-932A473CB42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95375" y="3052457"/>
            <a:ext cx="733425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B4E68-A31A-FBB4-F3D0-47C279319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5" y="962026"/>
            <a:ext cx="8372475" cy="516413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US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credibility and professional reputation.</a:t>
            </a:r>
          </a:p>
          <a:p>
            <a:pPr marL="0" indent="0" algn="just">
              <a:buNone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decline or loss of trust and respect from peers, institutions, and the public due to unethical behavior or misconduct.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Effects: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Damaged professional image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colleagues and collaborators lose confidence.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career opportunities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difficulty in publishing, securing funding, or gaining employment.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stigma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even after correction, reputation may remain tarnished.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mentorship roles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leadership positions in research institutions.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Credibility is the foundation of scientific integrity — once lost, it is extremely difficult to rebuild.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104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E1A5F-A778-2DAD-2D01-CB4332837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276225"/>
            <a:ext cx="8543925" cy="5991225"/>
          </a:xfrm>
        </p:spPr>
        <p:txBody>
          <a:bodyPr>
            <a:normAutofit fontScale="77500" lnSpcReduction="2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Withdrawal of research funding.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Termination or cancellation of financial support for a research project due to unethical practices or policy violations.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Reasons for Funding Withdrawal: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 cases of fabrication, falsification, or plagiarism.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Misuse of research grants or failure to meet ethical standards.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Non-compliance with institutional or sponsor guidelines.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Breach of trust between the researcher and funding agency.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Consequences: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loss of ongoing financial support.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Ineligibility for future grants or research sponsorships.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 to both individual and institutional reputation.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580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DA3B8-F78A-81C0-1920-A37AD4177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Disciplinary or legal action by institutions.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ED142-C2E0-2AD3-A01D-4B492DBD2F06}"/>
              </a:ext>
            </a:extLst>
          </p:cNvPr>
          <p:cNvSpPr txBox="1"/>
          <p:nvPr/>
        </p:nvSpPr>
        <p:spPr>
          <a:xfrm>
            <a:off x="457200" y="1191547"/>
            <a:ext cx="859155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Formal penalties imposed by universities, research organizations, or legal authorities in response to proven research misconduct.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Possible Disciplinary Actions: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Suspension or dismissal from employment or academic programs.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Revocation of degrees or professional titles.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Banning from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conducting future research or supervising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Possible Legal Actions: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Fines or lawsuits for misuse of public funds or intellectual property.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Criminal charges in severe cases of fraud or falsification.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Consequences: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Long-term damage to career and reputation.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Permanent record of misconduct within institutional or public databases.</a:t>
            </a:r>
          </a:p>
        </p:txBody>
      </p:sp>
    </p:spTree>
    <p:extLst>
      <p:ext uri="{BB962C8B-B14F-4D97-AF65-F5344CB8AC3E}">
        <p14:creationId xmlns:p14="http://schemas.microsoft.com/office/powerpoint/2010/main" val="4063970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35C2D-5D32-90E9-CDDF-B60D8C23C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552450"/>
            <a:ext cx="8467725" cy="5724525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Redundant Publications: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and overlapping publications, salami slicing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Redundant publications refer to the practice of publishing the same or substantially similar research in multiple places without proper disclosure.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unethical practice can inflate a researcher’s publication count while wasting the time of peer reviewers and distorting the academic record. There are three main types of redundant publications.</a:t>
            </a:r>
          </a:p>
        </p:txBody>
      </p:sp>
    </p:spTree>
    <p:extLst>
      <p:ext uri="{BB962C8B-B14F-4D97-AF65-F5344CB8AC3E}">
        <p14:creationId xmlns:p14="http://schemas.microsoft.com/office/powerpoint/2010/main" val="1277549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6661C-F88D-67CF-9F29-36735D08D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3376"/>
            <a:ext cx="8324850" cy="579278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Publications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publication occurs when the same work (or nearly identical work) is published more than once without notifying the readers, editors, or reviewers.</a:t>
            </a:r>
          </a:p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Overlapping Publications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Overlapping publication occurs when a manuscript shares significant content with another paper but is presented as a new study, without proper citation or disclosure of the overlap.</a:t>
            </a:r>
          </a:p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Salami Slicing (Segmented Publication)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Salami slicing refers to the practice of dividing a large study into several smaller papers that each report part of the findings, even though they would be better presented as a single, comprehensive study.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96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Preventing</a:t>
            </a:r>
            <a:r>
              <a:rPr dirty="0"/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Misconduct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accurate and transparent research records.</a:t>
            </a:r>
          </a:p>
          <a:p>
            <a:pPr marL="228600" indent="-228600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 institutional and ethical research guidelines.</a:t>
            </a:r>
          </a:p>
          <a:p>
            <a:pPr marL="228600" indent="-228600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plagiarism detection software.</a:t>
            </a:r>
          </a:p>
          <a:p>
            <a:pPr marL="228600" indent="-228600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 proper credit to collaborators and sources.</a:t>
            </a:r>
          </a:p>
          <a:p>
            <a:pPr marL="228600" indent="-228600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Promote honesty and accountability in research.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Uphold integrity, honesty, and transparency in all research activities.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a single act of misconduct can destroy years of hard work and trust.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BEB61-FB91-5E02-9954-8A4368843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lvl="4"/>
            <a:r>
              <a:rPr lang="en-US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32065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837</Words>
  <Application>Microsoft Office PowerPoint</Application>
  <PresentationFormat>On-screen Show (4:3)</PresentationFormat>
  <Paragraphs>115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Scientific Misconduct    Falsification, Fabrication, and Plagiarism  by  Rajesh Uppara Research Scholar EEE Department SRMIST </vt:lpstr>
      <vt:lpstr>What is Scientific Misconduct?</vt:lpstr>
      <vt:lpstr>Fabrication</vt:lpstr>
      <vt:lpstr>Falsification</vt:lpstr>
      <vt:lpstr>Plagiarism</vt:lpstr>
      <vt:lpstr>Consequences of Misconduct</vt:lpstr>
      <vt:lpstr>PowerPoint Presentation</vt:lpstr>
      <vt:lpstr>PowerPoint Presentation</vt:lpstr>
      <vt:lpstr>Disciplinary or legal action by institutions. </vt:lpstr>
      <vt:lpstr>PowerPoint Presentation</vt:lpstr>
      <vt:lpstr>PowerPoint Presentation</vt:lpstr>
      <vt:lpstr>Preventing Misconduct</vt:lpstr>
      <vt:lpstr>Key Takeaway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RAJESH UPPARA</dc:creator>
  <cp:keywords/>
  <dc:description>generated using python-pptx</dc:description>
  <cp:lastModifiedBy>RAJESH UPPARA</cp:lastModifiedBy>
  <cp:revision>13</cp:revision>
  <dcterms:created xsi:type="dcterms:W3CDTF">2013-01-27T09:14:16Z</dcterms:created>
  <dcterms:modified xsi:type="dcterms:W3CDTF">2025-11-01T12:50:06Z</dcterms:modified>
  <cp:category/>
</cp:coreProperties>
</file>