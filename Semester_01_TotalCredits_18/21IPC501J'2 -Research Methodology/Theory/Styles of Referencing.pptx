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1" r:id="rId5"/>
    <p:sldId id="257" r:id="rId6"/>
    <p:sldId id="267" r:id="rId7"/>
    <p:sldId id="258" r:id="rId8"/>
    <p:sldId id="259" r:id="rId9"/>
    <p:sldId id="260" r:id="rId10"/>
    <p:sldId id="261" r:id="rId11"/>
    <p:sldId id="262" r:id="rId12"/>
    <p:sldId id="263" r:id="rId13"/>
    <p:sldId id="265" r:id="rId14"/>
    <p:sldId id="264" r:id="rId15"/>
    <p:sldId id="266"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AEC9C26-B59C-428D-ACC7-DF69F32B6D9A}"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3854867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EC9C26-B59C-428D-ACC7-DF69F32B6D9A}"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110135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EC9C26-B59C-428D-ACC7-DF69F32B6D9A}"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3719834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AEC9C26-B59C-428D-ACC7-DF69F32B6D9A}"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4060809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AEC9C26-B59C-428D-ACC7-DF69F32B6D9A}" type="datetimeFigureOut">
              <a:rPr lang="en-IN" smtClean="0"/>
              <a:t>12-12-2024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713299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AEC9C26-B59C-428D-ACC7-DF69F32B6D9A}" type="datetimeFigureOut">
              <a:rPr lang="en-IN" smtClean="0"/>
              <a:t>12-12-2024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1416738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EC9C26-B59C-428D-ACC7-DF69F32B6D9A}" type="datetimeFigureOut">
              <a:rPr lang="en-IN" smtClean="0"/>
              <a:t>12-12-2024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405040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EC9C26-B59C-428D-ACC7-DF69F32B6D9A}"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61057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EC9C26-B59C-428D-ACC7-DF69F32B6D9A}"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1405097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EC9C26-B59C-428D-ACC7-DF69F32B6D9A}"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1463473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AEC9C26-B59C-428D-ACC7-DF69F32B6D9A}"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5F42C-EC4A-422F-8741-B14A6E390377}" type="slidenum">
              <a:rPr lang="en-IN" smtClean="0"/>
              <a:t>‹#›</a:t>
            </a:fld>
            <a:endParaRPr lang="en-IN"/>
          </a:p>
        </p:txBody>
      </p:sp>
    </p:spTree>
    <p:extLst>
      <p:ext uri="{BB962C8B-B14F-4D97-AF65-F5344CB8AC3E}">
        <p14:creationId xmlns:p14="http://schemas.microsoft.com/office/powerpoint/2010/main" val="2165981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C9C26-B59C-428D-ACC7-DF69F32B6D9A}" type="datetimeFigureOut">
              <a:rPr lang="en-IN" smtClean="0"/>
              <a:t>12-12-2024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5F42C-EC4A-422F-8741-B14A6E390377}" type="slidenum">
              <a:rPr lang="en-IN" smtClean="0"/>
              <a:t>‹#›</a:t>
            </a:fld>
            <a:endParaRPr lang="en-IN"/>
          </a:p>
        </p:txBody>
      </p:sp>
    </p:spTree>
    <p:extLst>
      <p:ext uri="{BB962C8B-B14F-4D97-AF65-F5344CB8AC3E}">
        <p14:creationId xmlns:p14="http://schemas.microsoft.com/office/powerpoint/2010/main" val="1547518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400" b="1" dirty="0" smtClean="0">
                <a:solidFill>
                  <a:srgbClr val="FF0000"/>
                </a:solidFill>
                <a:latin typeface="Times New Roman" panose="02020603050405020304" pitchFamily="18" charset="0"/>
                <a:cs typeface="Times New Roman" panose="02020603050405020304" pitchFamily="18" charset="0"/>
              </a:rPr>
              <a:t>Different Styles</a:t>
            </a:r>
            <a:br>
              <a:rPr lang="en-IN" sz="4400" b="1" dirty="0" smtClean="0">
                <a:solidFill>
                  <a:srgbClr val="FF0000"/>
                </a:solidFill>
                <a:latin typeface="Times New Roman" panose="02020603050405020304" pitchFamily="18" charset="0"/>
                <a:cs typeface="Times New Roman" panose="02020603050405020304" pitchFamily="18" charset="0"/>
              </a:rPr>
            </a:br>
            <a:r>
              <a:rPr lang="en-IN" sz="4400" b="1" dirty="0" smtClean="0">
                <a:solidFill>
                  <a:srgbClr val="FF0000"/>
                </a:solidFill>
                <a:latin typeface="Times New Roman" panose="02020603050405020304" pitchFamily="18" charset="0"/>
                <a:cs typeface="Times New Roman" panose="02020603050405020304" pitchFamily="18" charset="0"/>
              </a:rPr>
              <a:t> of </a:t>
            </a:r>
            <a:br>
              <a:rPr lang="en-IN" sz="4400" b="1" dirty="0" smtClean="0">
                <a:solidFill>
                  <a:srgbClr val="FF0000"/>
                </a:solidFill>
                <a:latin typeface="Times New Roman" panose="02020603050405020304" pitchFamily="18" charset="0"/>
                <a:cs typeface="Times New Roman" panose="02020603050405020304" pitchFamily="18" charset="0"/>
              </a:rPr>
            </a:br>
            <a:r>
              <a:rPr lang="en-IN" sz="4400" b="1" dirty="0" smtClean="0">
                <a:solidFill>
                  <a:srgbClr val="FF0000"/>
                </a:solidFill>
                <a:latin typeface="Times New Roman" panose="02020603050405020304" pitchFamily="18" charset="0"/>
                <a:cs typeface="Times New Roman" panose="02020603050405020304" pitchFamily="18" charset="0"/>
              </a:rPr>
              <a:t>Referencing</a:t>
            </a:r>
            <a:endParaRPr lang="en-IN" sz="4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477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725" y="0"/>
            <a:ext cx="10515600" cy="692150"/>
          </a:xfrm>
        </p:spPr>
        <p:txBody>
          <a:bodyPr>
            <a:norm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R</a:t>
            </a:r>
            <a:r>
              <a:rPr lang="en-IN" sz="3200" b="1" dirty="0" smtClean="0">
                <a:solidFill>
                  <a:srgbClr val="FF0000"/>
                </a:solidFill>
                <a:latin typeface="Times New Roman" panose="02020603050405020304" pitchFamily="18" charset="0"/>
                <a:cs typeface="Times New Roman" panose="02020603050405020304" pitchFamily="18" charset="0"/>
              </a:rPr>
              <a:t>eferencing </a:t>
            </a:r>
            <a:r>
              <a:rPr lang="en-IN" sz="3200" b="1" dirty="0" smtClean="0">
                <a:solidFill>
                  <a:srgbClr val="FF0000"/>
                </a:solidFill>
                <a:latin typeface="Times New Roman" panose="02020603050405020304" pitchFamily="18" charset="0"/>
                <a:cs typeface="Times New Roman" panose="02020603050405020304" pitchFamily="18" charset="0"/>
              </a:rPr>
              <a:t>Component :</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3837" y="800101"/>
            <a:ext cx="11706226" cy="4351338"/>
          </a:xfrm>
        </p:spPr>
        <p:txBody>
          <a:bodyPr>
            <a:noAutofit/>
          </a:bodyPr>
          <a:lstStyle/>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authors</a:t>
            </a:r>
            <a:r>
              <a:rPr lang="en-US" sz="2400" dirty="0" smtClean="0">
                <a:latin typeface="Times New Roman" panose="02020603050405020304" pitchFamily="18" charset="0"/>
                <a:cs typeface="Times New Roman" panose="02020603050405020304" pitchFamily="18" charset="0"/>
              </a:rPr>
              <a:t> show the contributors to the work.</a:t>
            </a:r>
          </a:p>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title of the paper</a:t>
            </a:r>
            <a:r>
              <a:rPr lang="en-US" sz="2400" dirty="0" smtClean="0">
                <a:latin typeface="Times New Roman" panose="02020603050405020304" pitchFamily="18" charset="0"/>
                <a:cs typeface="Times New Roman" panose="02020603050405020304" pitchFamily="18" charset="0"/>
              </a:rPr>
              <a:t> gives the topic of the research.</a:t>
            </a:r>
          </a:p>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journal name</a:t>
            </a:r>
            <a:r>
              <a:rPr lang="en-US" sz="2400" dirty="0" smtClean="0">
                <a:latin typeface="Times New Roman" panose="02020603050405020304" pitchFamily="18" charset="0"/>
                <a:cs typeface="Times New Roman" panose="02020603050405020304" pitchFamily="18" charset="0"/>
              </a:rPr>
              <a:t> informs you where the article was published, which helps in locating it.</a:t>
            </a:r>
          </a:p>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volume and issue</a:t>
            </a:r>
            <a:r>
              <a:rPr lang="en-US" sz="2400" dirty="0" smtClean="0">
                <a:latin typeface="Times New Roman" panose="02020603050405020304" pitchFamily="18" charset="0"/>
                <a:cs typeface="Times New Roman" panose="02020603050405020304" pitchFamily="18" charset="0"/>
              </a:rPr>
              <a:t> numbers are crucial for finding a particular article within a journal, especially for issues published throughout the year.</a:t>
            </a:r>
          </a:p>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page numbers</a:t>
            </a:r>
            <a:r>
              <a:rPr lang="en-US" sz="2400" dirty="0" smtClean="0">
                <a:latin typeface="Times New Roman" panose="02020603050405020304" pitchFamily="18" charset="0"/>
                <a:cs typeface="Times New Roman" panose="02020603050405020304" pitchFamily="18" charset="0"/>
              </a:rPr>
              <a:t> specify where the article starts and ends within the issue.</a:t>
            </a:r>
          </a:p>
          <a:p>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year</a:t>
            </a:r>
            <a:r>
              <a:rPr lang="en-US" sz="2400" dirty="0" smtClean="0">
                <a:latin typeface="Times New Roman" panose="02020603050405020304" pitchFamily="18" charset="0"/>
                <a:cs typeface="Times New Roman" panose="02020603050405020304" pitchFamily="18" charset="0"/>
              </a:rPr>
              <a:t> indicates when the research was released, helping readers understand the paper's context in time.</a:t>
            </a:r>
          </a:p>
          <a:p>
            <a:r>
              <a:rPr lang="en-US" sz="2400" dirty="0" smtClean="0">
                <a:latin typeface="Times New Roman" panose="02020603050405020304" pitchFamily="18" charset="0"/>
                <a:cs typeface="Times New Roman" panose="02020603050405020304" pitchFamily="18" charset="0"/>
              </a:rPr>
              <a:t>In general, this format is used in academic citations to provide enough details for readers to find the article in the correct journal and issue.</a:t>
            </a:r>
          </a:p>
          <a:p>
            <a:pPr marL="0" indent="0">
              <a:buNone/>
            </a:pPr>
            <a:r>
              <a:rPr lang="en-US" sz="2400" b="1" u="sng" dirty="0" smtClean="0">
                <a:latin typeface="Times New Roman" panose="02020603050405020304" pitchFamily="18" charset="0"/>
                <a:cs typeface="Times New Roman" panose="02020603050405020304" pitchFamily="18" charset="0"/>
              </a:rPr>
              <a:t>Note:</a:t>
            </a:r>
          </a:p>
          <a:p>
            <a:r>
              <a:rPr lang="en-US" sz="2400" dirty="0" smtClean="0">
                <a:latin typeface="Times New Roman" panose="02020603050405020304" pitchFamily="18" charset="0"/>
                <a:cs typeface="Times New Roman" panose="02020603050405020304" pitchFamily="18" charset="0"/>
              </a:rPr>
              <a:t>The specific structure and format can vary based on the citation style (APA, MLA, IEEE, etc.), but all citation styles will require the same core components: authors, title, journal name, volume/issue, page numbers, and year.</a:t>
            </a:r>
          </a:p>
          <a:p>
            <a:pPr marL="0" indent="0">
              <a:buNone/>
            </a:pPr>
            <a:endParaRPr lang="en-US" sz="2400" dirty="0" smtClean="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52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025" y="0"/>
            <a:ext cx="10515600" cy="757238"/>
          </a:xfrm>
        </p:spPr>
        <p:txBody>
          <a:bodyPr>
            <a:normAutofit/>
          </a:bodyPr>
          <a:lstStyle/>
          <a:p>
            <a:r>
              <a:rPr lang="en-IN" sz="3200" b="1" dirty="0" smtClean="0">
                <a:solidFill>
                  <a:srgbClr val="FF0000"/>
                </a:solidFill>
                <a:latin typeface="Times New Roman" panose="02020603050405020304" pitchFamily="18" charset="0"/>
                <a:cs typeface="Times New Roman" panose="02020603050405020304" pitchFamily="18" charset="0"/>
              </a:rPr>
              <a:t>Referencing Example</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19062" y="757238"/>
            <a:ext cx="1207293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Author(s):</a:t>
            </a:r>
            <a:endParaRPr kumimoji="0" lang="en-US" altLang="en-US" sz="24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Rekha</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Prakash </a:t>
            </a: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Bindu</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 </a:t>
            </a: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Asna</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 Dinesh, and S Prasad </a:t>
            </a: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Nandana</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These are the authors of the paper. In a citation, author names typically appear in the order they contributed to the work, with the last name listed first, followed by the initials of their first names (though this may vary by citation style).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the Paper:</a:t>
            </a:r>
            <a:endParaRPr kumimoji="0" lang="en-US" altLang="en-US" sz="24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 Intelligent Method for Load Sharing of Transformers with Temperature Monitoring and Automatic Correction of Power Factor"</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is the full title of the research paper. Titles of articles are usually placed in quotation marks in most citation styles.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Journal Name:</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International Journal of Engineering Sciences Research Technology</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is the name of the journal where the article was published. Journal names are typically italicized or underlined, depending on the citation style.</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14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025" y="0"/>
            <a:ext cx="10515600" cy="757238"/>
          </a:xfrm>
        </p:spPr>
        <p:txBody>
          <a:bodyPr>
            <a:normAutofit/>
          </a:bodyPr>
          <a:lstStyle/>
          <a:p>
            <a:r>
              <a:rPr lang="en-IN" sz="3200" b="1" dirty="0" smtClean="0">
                <a:solidFill>
                  <a:srgbClr val="FF0000"/>
                </a:solidFill>
                <a:latin typeface="Times New Roman" panose="02020603050405020304" pitchFamily="18" charset="0"/>
                <a:cs typeface="Times New Roman" panose="02020603050405020304" pitchFamily="18" charset="0"/>
              </a:rPr>
              <a:t>Referencing Example</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19062" y="1074421"/>
            <a:ext cx="1207293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Volume and Issue Numbers:</a:t>
            </a:r>
            <a:endParaRPr kumimoji="0" lang="en-US" altLang="en-US" sz="24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Vol. 4, No. 3</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These indicate the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volume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issue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numbers of the journal. The volume number refers to the overall numbering of the journal for the year, while the issue number specifies which part of the volume the article appears in.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Page Range:</a:t>
            </a:r>
            <a:endParaRPr kumimoji="0" lang="en-US" altLang="en-US" sz="24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pp. 416-421</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shows the specific page numbers (416 to 421) where the article can be found within that particular issue of the journal.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Year of Publication:</a:t>
            </a:r>
            <a:endParaRPr kumimoji="0" lang="en-US" altLang="en-US" sz="2400" b="0"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2015</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is the year the paper was published in the journal. The publication year is essential for readers to know how current the research is, especially in rapidly evolving fields.</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114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325" y="179389"/>
            <a:ext cx="10515600" cy="749300"/>
          </a:xfrm>
        </p:spPr>
        <p:txBody>
          <a:bodyPr>
            <a:normAutofit/>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Different styles of referencing. </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5325" y="1214439"/>
            <a:ext cx="10515600" cy="4351338"/>
          </a:xfrm>
        </p:spPr>
        <p:txBody>
          <a:bodyPr>
            <a:normAutofit/>
          </a:bodyPr>
          <a:lstStyle/>
          <a:p>
            <a:pPr marL="0" indent="0">
              <a:buNone/>
            </a:pPr>
            <a:r>
              <a:rPr lang="en-US" sz="2400" dirty="0" smtClean="0"/>
              <a:t>There are several different styles of referencing, each with specific rules on how to cite sources in academic and professional writing. Below are some of the most commonly used referencing styles:</a:t>
            </a:r>
          </a:p>
          <a:p>
            <a:pPr marL="0" indent="0">
              <a:buNone/>
            </a:pPr>
            <a:r>
              <a:rPr lang="en-US" sz="2400" b="1" dirty="0" smtClean="0"/>
              <a:t>1. APA (American Psychological Association)</a:t>
            </a:r>
          </a:p>
          <a:p>
            <a:pPr marL="0" indent="0">
              <a:buNone/>
            </a:pPr>
            <a:r>
              <a:rPr lang="fr-FR" sz="2400" dirty="0" smtClean="0"/>
              <a:t>2. </a:t>
            </a:r>
            <a:r>
              <a:rPr lang="fr-FR" sz="2400" b="1" dirty="0" smtClean="0"/>
              <a:t>MLA (Modern Language Association)</a:t>
            </a:r>
          </a:p>
          <a:p>
            <a:pPr marL="0" indent="0">
              <a:buNone/>
            </a:pPr>
            <a:r>
              <a:rPr lang="en-US" sz="2400" dirty="0" smtClean="0"/>
              <a:t>3. </a:t>
            </a:r>
            <a:r>
              <a:rPr lang="en-US" sz="2400" b="1" dirty="0" smtClean="0"/>
              <a:t>Chicago/</a:t>
            </a:r>
            <a:r>
              <a:rPr lang="en-US" sz="2400" b="1" dirty="0" err="1" smtClean="0"/>
              <a:t>Turabian</a:t>
            </a:r>
            <a:r>
              <a:rPr lang="en-US" sz="2400" b="1" dirty="0" smtClean="0"/>
              <a:t> (Chicago Manual of Style)</a:t>
            </a:r>
          </a:p>
          <a:p>
            <a:pPr marL="0" indent="0">
              <a:buNone/>
            </a:pPr>
            <a:r>
              <a:rPr lang="en-IN" sz="2400" dirty="0" smtClean="0"/>
              <a:t>4. </a:t>
            </a:r>
            <a:r>
              <a:rPr lang="en-IN" sz="2400" b="1" dirty="0" smtClean="0"/>
              <a:t>Harvard</a:t>
            </a:r>
          </a:p>
          <a:p>
            <a:pPr marL="0" indent="0">
              <a:buNone/>
            </a:pPr>
            <a:r>
              <a:rPr lang="en-US" sz="2400" dirty="0" smtClean="0"/>
              <a:t>5. </a:t>
            </a:r>
            <a:r>
              <a:rPr lang="en-US" sz="2400" b="1" dirty="0" smtClean="0"/>
              <a:t>IEEE (Institute of Electrical and Electronics Engineers)</a:t>
            </a:r>
          </a:p>
          <a:p>
            <a:pPr marL="0" indent="0">
              <a:buNone/>
            </a:pPr>
            <a:r>
              <a:rPr lang="en-IN" sz="2400" dirty="0" smtClean="0"/>
              <a:t>6. </a:t>
            </a:r>
            <a:r>
              <a:rPr lang="en-IN" sz="2400" b="1" dirty="0" smtClean="0"/>
              <a:t>Vancouver</a:t>
            </a:r>
            <a:endParaRPr lang="en-IN" sz="2400" dirty="0"/>
          </a:p>
        </p:txBody>
      </p:sp>
    </p:spTree>
    <p:extLst>
      <p:ext uri="{BB962C8B-B14F-4D97-AF65-F5344CB8AC3E}">
        <p14:creationId xmlns:p14="http://schemas.microsoft.com/office/powerpoint/2010/main" val="267653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03574584"/>
              </p:ext>
            </p:extLst>
          </p:nvPr>
        </p:nvGraphicFramePr>
        <p:xfrm>
          <a:off x="100013" y="100014"/>
          <a:ext cx="11987212" cy="6543675"/>
        </p:xfrm>
        <a:graphic>
          <a:graphicData uri="http://schemas.openxmlformats.org/drawingml/2006/table">
            <a:tbl>
              <a:tblPr>
                <a:tableStyleId>{5C22544A-7EE6-4342-B048-85BDC9FD1C3A}</a:tableStyleId>
              </a:tblPr>
              <a:tblGrid>
                <a:gridCol w="1714552"/>
                <a:gridCol w="3242743"/>
                <a:gridCol w="3232209"/>
                <a:gridCol w="3797708"/>
              </a:tblGrid>
              <a:tr h="553417">
                <a:tc>
                  <a:txBody>
                    <a:bodyPr/>
                    <a:lstStyle/>
                    <a:p>
                      <a:pPr algn="ctr" fontAlgn="ctr"/>
                      <a:r>
                        <a:rPr lang="en-IN" sz="1800" b="1" u="none" strike="noStrike" dirty="0" smtClean="0">
                          <a:effectLst/>
                          <a:latin typeface="Times New Roman" panose="02020603050405020304" pitchFamily="18" charset="0"/>
                          <a:cs typeface="Times New Roman" panose="02020603050405020304" pitchFamily="18" charset="0"/>
                        </a:rPr>
                        <a:t>Citation Style</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ctr" fontAlgn="ctr"/>
                      <a:r>
                        <a:rPr lang="en-IN" sz="1800" b="1" u="none" strike="noStrike" dirty="0">
                          <a:effectLst/>
                          <a:latin typeface="Times New Roman" panose="02020603050405020304" pitchFamily="18" charset="0"/>
                          <a:cs typeface="Times New Roman" panose="02020603050405020304" pitchFamily="18" charset="0"/>
                        </a:rPr>
                        <a:t>Common Use</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ctr" fontAlgn="ctr"/>
                      <a:r>
                        <a:rPr lang="en-IN" sz="1800" b="1" u="none" strike="noStrike" dirty="0">
                          <a:effectLst/>
                          <a:latin typeface="Times New Roman" panose="02020603050405020304" pitchFamily="18" charset="0"/>
                          <a:cs typeface="Times New Roman" panose="02020603050405020304" pitchFamily="18" charset="0"/>
                        </a:rPr>
                        <a:t>Field of Study</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ctr" fontAlgn="ctr"/>
                      <a:r>
                        <a:rPr lang="en-IN" sz="1800" b="1" u="none" strike="noStrike" dirty="0">
                          <a:effectLst/>
                          <a:latin typeface="Times New Roman" panose="02020603050405020304" pitchFamily="18" charset="0"/>
                          <a:cs typeface="Times New Roman" panose="02020603050405020304" pitchFamily="18" charset="0"/>
                        </a:rPr>
                        <a:t>Primary Purpose</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1081507">
                <a:tc>
                  <a:txBody>
                    <a:bodyPr/>
                    <a:lstStyle/>
                    <a:p>
                      <a:pPr algn="ctr" fontAlgn="ctr"/>
                      <a:r>
                        <a:rPr lang="en-IN" sz="1800" u="none" strike="noStrike" dirty="0">
                          <a:solidFill>
                            <a:srgbClr val="FF0000"/>
                          </a:solidFill>
                          <a:effectLst/>
                          <a:latin typeface="Times New Roman" panose="02020603050405020304" pitchFamily="18" charset="0"/>
                          <a:cs typeface="Times New Roman" panose="02020603050405020304" pitchFamily="18" charset="0"/>
                        </a:rPr>
                        <a:t>APA (7th Edition)</a:t>
                      </a:r>
                      <a:endParaRPr lang="en-IN" sz="18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Social sciences, psychology, education, and business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IN" sz="1800" u="none" strike="noStrike">
                          <a:effectLst/>
                          <a:latin typeface="Times New Roman" panose="02020603050405020304" pitchFamily="18" charset="0"/>
                          <a:cs typeface="Times New Roman" panose="02020603050405020304" pitchFamily="18" charset="0"/>
                        </a:rPr>
                        <a:t>Psychology, Sociology, Education, Social Sciences, Business</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To highlight the year of publication and emphasize recent research.</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582723">
                <a:tc>
                  <a:txBody>
                    <a:bodyPr/>
                    <a:lstStyle/>
                    <a:p>
                      <a:pPr algn="ctr" fontAlgn="ctr"/>
                      <a:r>
                        <a:rPr lang="en-IN" sz="1800" u="none" strike="noStrike">
                          <a:solidFill>
                            <a:srgbClr val="FF0000"/>
                          </a:solidFill>
                          <a:effectLst/>
                          <a:latin typeface="Times New Roman" panose="02020603050405020304" pitchFamily="18" charset="0"/>
                          <a:cs typeface="Times New Roman" panose="02020603050405020304" pitchFamily="18" charset="0"/>
                        </a:rPr>
                        <a:t>MLA (9th Edition)</a:t>
                      </a:r>
                      <a:endParaRPr lang="en-IN" sz="1800" b="1" i="0" u="none" strike="noStrike">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Humanities, especially literature and arts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Literature, Philosophy, History, Arts, Cultural Studies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To emphasize the author's name and the source of a work.</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1081507">
                <a:tc>
                  <a:txBody>
                    <a:bodyPr/>
                    <a:lstStyle/>
                    <a:p>
                      <a:pPr algn="ctr" fontAlgn="ctr"/>
                      <a:r>
                        <a:rPr lang="en-IN" sz="1800" u="none" strike="noStrike">
                          <a:solidFill>
                            <a:srgbClr val="FF0000"/>
                          </a:solidFill>
                          <a:effectLst/>
                          <a:latin typeface="Times New Roman" panose="02020603050405020304" pitchFamily="18" charset="0"/>
                          <a:cs typeface="Times New Roman" panose="02020603050405020304" pitchFamily="18" charset="0"/>
                        </a:rPr>
                        <a:t>Chicago/Turabian (Author-Date)</a:t>
                      </a:r>
                      <a:endParaRPr lang="en-IN" sz="1800" b="1" i="0" u="none" strike="noStrike">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Broad use, especially for history and social sciences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History, Sociology, Anthropology, Environmental Studies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For scholarly writing in a variety of disciplines, focusing on both author and publication date.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1081507">
                <a:tc>
                  <a:txBody>
                    <a:bodyPr/>
                    <a:lstStyle/>
                    <a:p>
                      <a:pPr algn="ctr" fontAlgn="ctr"/>
                      <a:r>
                        <a:rPr lang="en-IN" sz="1800" u="none" strike="noStrike">
                          <a:solidFill>
                            <a:srgbClr val="FF0000"/>
                          </a:solidFill>
                          <a:effectLst/>
                          <a:latin typeface="Times New Roman" panose="02020603050405020304" pitchFamily="18" charset="0"/>
                          <a:cs typeface="Times New Roman" panose="02020603050405020304" pitchFamily="18" charset="0"/>
                        </a:rPr>
                        <a:t>Harvard</a:t>
                      </a:r>
                      <a:endParaRPr lang="en-IN" sz="1800" b="1" i="0" u="none" strike="noStrike">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Popular in UK and Australia, widely used in academic journals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Natural Sciences, Social Sciences, Business, and Medicine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To provide clarity and emphasize the publication year while maintaining readability.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1081507">
                <a:tc>
                  <a:txBody>
                    <a:bodyPr/>
                    <a:lstStyle/>
                    <a:p>
                      <a:pPr algn="ctr" fontAlgn="ctr"/>
                      <a:r>
                        <a:rPr lang="en-IN" sz="1800" u="none" strike="noStrike">
                          <a:solidFill>
                            <a:srgbClr val="FF0000"/>
                          </a:solidFill>
                          <a:effectLst/>
                          <a:latin typeface="Times New Roman" panose="02020603050405020304" pitchFamily="18" charset="0"/>
                          <a:cs typeface="Times New Roman" panose="02020603050405020304" pitchFamily="18" charset="0"/>
                        </a:rPr>
                        <a:t>IEEE</a:t>
                      </a:r>
                      <a:endParaRPr lang="en-IN" sz="1800" b="1" i="0" u="none" strike="noStrike">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Engineering, computer science, and technology</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Engineering, Computer Science, Information Technology, Physics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To efficiently organize references in fields with numerous technical sources.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r h="1081507">
                <a:tc>
                  <a:txBody>
                    <a:bodyPr/>
                    <a:lstStyle/>
                    <a:p>
                      <a:pPr algn="ctr" fontAlgn="ctr"/>
                      <a:r>
                        <a:rPr lang="en-IN" sz="1800" u="none" strike="noStrike" dirty="0">
                          <a:solidFill>
                            <a:srgbClr val="FF0000"/>
                          </a:solidFill>
                          <a:effectLst/>
                          <a:latin typeface="Times New Roman" panose="02020603050405020304" pitchFamily="18" charset="0"/>
                          <a:cs typeface="Times New Roman" panose="02020603050405020304" pitchFamily="18" charset="0"/>
                        </a:rPr>
                        <a:t>Vancouver</a:t>
                      </a:r>
                      <a:endParaRPr lang="en-IN" sz="18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IN" sz="1800" u="none" strike="noStrike">
                          <a:effectLst/>
                          <a:latin typeface="Times New Roman" panose="02020603050405020304" pitchFamily="18" charset="0"/>
                          <a:cs typeface="Times New Roman" panose="02020603050405020304" pitchFamily="18" charset="0"/>
                        </a:rPr>
                        <a:t>Medicine and health sciences</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Medicine, Health Sciences, Life Sciences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Primarily used in biomedical and health-related research, emphasizing simplicity and brevity.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9" marR="7309" marT="7309" marB="0" anchor="ctr"/>
                </a:tc>
              </a:tr>
            </a:tbl>
          </a:graphicData>
        </a:graphic>
      </p:graphicFrame>
    </p:spTree>
    <p:extLst>
      <p:ext uri="{BB962C8B-B14F-4D97-AF65-F5344CB8AC3E}">
        <p14:creationId xmlns:p14="http://schemas.microsoft.com/office/powerpoint/2010/main" val="895353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Autofit/>
          </a:bodyPr>
          <a:lstStyle/>
          <a:p>
            <a:pPr algn="ctr"/>
            <a:r>
              <a:rPr lang="en-US" sz="3200" b="1" dirty="0" smtClean="0">
                <a:solidFill>
                  <a:srgbClr val="FF0000"/>
                </a:solidFill>
                <a:latin typeface="Times New Roman" panose="02020603050405020304" pitchFamily="18" charset="0"/>
                <a:cs typeface="Times New Roman" panose="02020603050405020304" pitchFamily="18" charset="0"/>
              </a:rPr>
              <a:t>1. APA (American Psychological Association)</a:t>
            </a:r>
            <a:br>
              <a:rPr lang="en-US" sz="3200" b="1" dirty="0" smtClean="0">
                <a:solidFill>
                  <a:srgbClr val="FF0000"/>
                </a:solidFill>
                <a:latin typeface="Times New Roman" panose="02020603050405020304" pitchFamily="18" charset="0"/>
                <a:cs typeface="Times New Roman" panose="02020603050405020304" pitchFamily="18" charset="0"/>
              </a:rPr>
            </a:b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233363" y="1099066"/>
            <a:ext cx="11120437" cy="5352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In-text citation: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(Author, Year)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Reference List Format: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Books: Author(s). (Year).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book</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Publisher. Articles: Author(s). (Year). Title of article.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Journal, Volume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(Issue), page range. DOI/URL (if available).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p>
          <a:p>
            <a:pPr marL="0" indent="0">
              <a:buNone/>
            </a:pPr>
            <a:r>
              <a:rPr lang="en-IN" sz="2400" b="1" dirty="0" smtClean="0">
                <a:latin typeface="Times New Roman" panose="02020603050405020304" pitchFamily="18" charset="0"/>
                <a:cs typeface="Times New Roman" panose="02020603050405020304" pitchFamily="18" charset="0"/>
              </a:rPr>
              <a:t>APA Style (7th Edition)</a:t>
            </a:r>
          </a:p>
          <a:p>
            <a:r>
              <a:rPr lang="en-IN" sz="2400" b="1" dirty="0" smtClean="0">
                <a:latin typeface="Times New Roman" panose="02020603050405020304" pitchFamily="18" charset="0"/>
                <a:cs typeface="Times New Roman" panose="02020603050405020304" pitchFamily="18" charset="0"/>
              </a:rPr>
              <a:t>In-Text Citation:</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smtClean="0">
                <a:latin typeface="Times New Roman" panose="02020603050405020304" pitchFamily="18" charset="0"/>
                <a:cs typeface="Times New Roman" panose="02020603050405020304" pitchFamily="18" charset="0"/>
              </a:rPr>
              <a:t>(T </a:t>
            </a: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Prakash </a:t>
            </a:r>
            <a:r>
              <a:rPr lang="en-IN" sz="2400" dirty="0" err="1" smtClean="0">
                <a:latin typeface="Times New Roman" panose="02020603050405020304" pitchFamily="18" charset="0"/>
                <a:cs typeface="Times New Roman" panose="02020603050405020304" pitchFamily="18" charset="0"/>
              </a:rPr>
              <a:t>Bindu</a:t>
            </a:r>
            <a:r>
              <a:rPr lang="en-IN" sz="2400" dirty="0" smtClean="0">
                <a:latin typeface="Times New Roman" panose="02020603050405020304" pitchFamily="18" charset="0"/>
                <a:cs typeface="Times New Roman" panose="02020603050405020304" pitchFamily="18" charset="0"/>
              </a:rPr>
              <a:t>, S </a:t>
            </a:r>
            <a:r>
              <a:rPr lang="en-IN" sz="2400" dirty="0" err="1" smtClean="0">
                <a:latin typeface="Times New Roman" panose="02020603050405020304" pitchFamily="18" charset="0"/>
                <a:cs typeface="Times New Roman" panose="02020603050405020304" pitchFamily="18" charset="0"/>
              </a:rPr>
              <a:t>Asna</a:t>
            </a:r>
            <a:r>
              <a:rPr lang="en-IN" sz="2400" dirty="0" smtClean="0">
                <a:latin typeface="Times New Roman" panose="02020603050405020304" pitchFamily="18" charset="0"/>
                <a:cs typeface="Times New Roman" panose="02020603050405020304" pitchFamily="18" charset="0"/>
              </a:rPr>
              <a:t>, S Dinesh, &amp; S Prasad </a:t>
            </a:r>
            <a:r>
              <a:rPr lang="en-IN" sz="2400" dirty="0" err="1" smtClean="0">
                <a:latin typeface="Times New Roman" panose="02020603050405020304" pitchFamily="18" charset="0"/>
                <a:cs typeface="Times New Roman" panose="02020603050405020304" pitchFamily="18" charset="0"/>
              </a:rPr>
              <a:t>Nandana</a:t>
            </a:r>
            <a:r>
              <a:rPr lang="en-IN" sz="2400" dirty="0" smtClean="0">
                <a:latin typeface="Times New Roman" panose="02020603050405020304" pitchFamily="18" charset="0"/>
                <a:cs typeface="Times New Roman" panose="02020603050405020304" pitchFamily="18" charset="0"/>
              </a:rPr>
              <a:t>, 2015)</a:t>
            </a:r>
          </a:p>
          <a:p>
            <a:r>
              <a:rPr lang="en-IN" sz="2400" b="1" dirty="0" smtClean="0">
                <a:latin typeface="Times New Roman" panose="02020603050405020304" pitchFamily="18" charset="0"/>
                <a:cs typeface="Times New Roman" panose="02020603050405020304" pitchFamily="18" charset="0"/>
              </a:rPr>
              <a:t>Reference List:</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smtClean="0">
                <a:latin typeface="Times New Roman" panose="02020603050405020304" pitchFamily="18" charset="0"/>
                <a:cs typeface="Times New Roman" panose="02020603050405020304" pitchFamily="18" charset="0"/>
              </a:rPr>
              <a:t>T </a:t>
            </a: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Prakash </a:t>
            </a:r>
            <a:r>
              <a:rPr lang="en-IN" sz="2400" dirty="0" err="1" smtClean="0">
                <a:latin typeface="Times New Roman" panose="02020603050405020304" pitchFamily="18" charset="0"/>
                <a:cs typeface="Times New Roman" panose="02020603050405020304" pitchFamily="18" charset="0"/>
              </a:rPr>
              <a:t>Bindu</a:t>
            </a:r>
            <a:r>
              <a:rPr lang="en-IN" sz="2400" dirty="0" smtClean="0">
                <a:latin typeface="Times New Roman" panose="02020603050405020304" pitchFamily="18" charset="0"/>
                <a:cs typeface="Times New Roman" panose="02020603050405020304" pitchFamily="18" charset="0"/>
              </a:rPr>
              <a:t>, S </a:t>
            </a:r>
            <a:r>
              <a:rPr lang="en-IN" sz="2400" dirty="0" err="1" smtClean="0">
                <a:latin typeface="Times New Roman" panose="02020603050405020304" pitchFamily="18" charset="0"/>
                <a:cs typeface="Times New Roman" panose="02020603050405020304" pitchFamily="18" charset="0"/>
              </a:rPr>
              <a:t>Asna</a:t>
            </a:r>
            <a:r>
              <a:rPr lang="en-IN" sz="2400" dirty="0" smtClean="0">
                <a:latin typeface="Times New Roman" panose="02020603050405020304" pitchFamily="18" charset="0"/>
                <a:cs typeface="Times New Roman" panose="02020603050405020304" pitchFamily="18" charset="0"/>
              </a:rPr>
              <a:t>, S Dinesh, &amp; S Prasad </a:t>
            </a:r>
            <a:r>
              <a:rPr lang="en-IN" sz="2400" dirty="0" err="1" smtClean="0">
                <a:latin typeface="Times New Roman" panose="02020603050405020304" pitchFamily="18" charset="0"/>
                <a:cs typeface="Times New Roman" panose="02020603050405020304" pitchFamily="18" charset="0"/>
              </a:rPr>
              <a:t>Nandana</a:t>
            </a:r>
            <a:r>
              <a:rPr lang="en-IN" sz="2400" dirty="0" smtClean="0">
                <a:latin typeface="Times New Roman" panose="02020603050405020304" pitchFamily="18" charset="0"/>
                <a:cs typeface="Times New Roman" panose="02020603050405020304" pitchFamily="18" charset="0"/>
              </a:rPr>
              <a:t>. (2015). An intelligent method for load sharing of transformers with temperature monitoring and automatic correction of power factor. </a:t>
            </a:r>
            <a:r>
              <a:rPr lang="en-IN" sz="2400" i="1" dirty="0" smtClean="0">
                <a:latin typeface="Times New Roman" panose="02020603050405020304" pitchFamily="18" charset="0"/>
                <a:cs typeface="Times New Roman" panose="02020603050405020304" pitchFamily="18" charset="0"/>
              </a:rPr>
              <a:t>International Journal of Engineering Sciences Research Technology, 4</a:t>
            </a:r>
            <a:r>
              <a:rPr lang="en-IN" sz="2400" dirty="0" smtClean="0">
                <a:latin typeface="Times New Roman" panose="02020603050405020304" pitchFamily="18" charset="0"/>
                <a:cs typeface="Times New Roman" panose="02020603050405020304" pitchFamily="18" charset="0"/>
              </a:rPr>
              <a:t>(3), 416-421.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98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fr-FR" sz="3200" b="1" dirty="0" smtClean="0">
                <a:solidFill>
                  <a:srgbClr val="FF0000"/>
                </a:solidFill>
                <a:latin typeface="Times New Roman" panose="02020603050405020304" pitchFamily="18" charset="0"/>
                <a:cs typeface="Times New Roman" panose="02020603050405020304" pitchFamily="18" charset="0"/>
              </a:rPr>
              <a:t>2. MLA (Modern Language Association)</a:t>
            </a:r>
            <a:r>
              <a:rPr lang="fr-FR" sz="3200" b="1" dirty="0" smtClean="0">
                <a:latin typeface="Times New Roman" panose="02020603050405020304" pitchFamily="18" charset="0"/>
                <a:cs typeface="Times New Roman" panose="02020603050405020304" pitchFamily="18" charset="0"/>
              </a:rPr>
              <a:t/>
            </a:r>
            <a:br>
              <a:rPr lang="fr-FR" sz="3200" b="1" dirty="0" smtClean="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697598"/>
            <a:ext cx="10515600" cy="572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In-text citation:</a:t>
            </a:r>
            <a:r>
              <a:rPr kumimoji="0" lang="en-US" altLang="en-US" sz="2400" b="0" i="0" u="none" strike="noStrike" cap="none" normalizeH="0" baseline="0" dirty="0" smtClean="0">
                <a:ln>
                  <a:noFill/>
                </a:ln>
                <a:solidFill>
                  <a:schemeClr val="tx1"/>
                </a:solidFill>
                <a:effectLst/>
                <a:latin typeface="Arial" panose="020B0604020202020204" pitchFamily="34" charset="0"/>
              </a:rPr>
              <a:t> (Author Last Name page number)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Works Cited Format:</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Books: Author(s). </a:t>
            </a:r>
            <a:r>
              <a:rPr kumimoji="0" lang="en-US" altLang="en-US" sz="2400" b="0" i="1" u="none" strike="noStrike" cap="none" normalizeH="0" baseline="0" dirty="0" smtClean="0">
                <a:ln>
                  <a:noFill/>
                </a:ln>
                <a:solidFill>
                  <a:schemeClr val="tx1"/>
                </a:solidFill>
                <a:effectLst/>
                <a:latin typeface="Arial" panose="020B0604020202020204" pitchFamily="34" charset="0"/>
              </a:rPr>
              <a:t>Title of Book</a:t>
            </a:r>
            <a:r>
              <a:rPr kumimoji="0" lang="en-US" altLang="en-US" sz="2400" b="0" i="0" u="none" strike="noStrike" cap="none" normalizeH="0" baseline="0" dirty="0" smtClean="0">
                <a:ln>
                  <a:noFill/>
                </a:ln>
                <a:solidFill>
                  <a:schemeClr val="tx1"/>
                </a:solidFill>
                <a:effectLst/>
                <a:latin typeface="Arial" panose="020B0604020202020204" pitchFamily="34" charset="0"/>
              </a:rPr>
              <a:t>. Publisher, Year.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Articles: Author(s). "Title of Article." </a:t>
            </a:r>
            <a:r>
              <a:rPr kumimoji="0" lang="en-US" altLang="en-US" sz="2400" b="0" i="1" u="none" strike="noStrike" cap="none" normalizeH="0" baseline="0" dirty="0" smtClean="0">
                <a:ln>
                  <a:noFill/>
                </a:ln>
                <a:solidFill>
                  <a:schemeClr val="tx1"/>
                </a:solidFill>
                <a:effectLst/>
                <a:latin typeface="Arial" panose="020B0604020202020204" pitchFamily="34" charset="0"/>
              </a:rPr>
              <a:t>Title of Journal</a:t>
            </a:r>
            <a:r>
              <a:rPr kumimoji="0" lang="en-US" altLang="en-US" sz="2400" b="0" i="0" u="none" strike="noStrike" cap="none" normalizeH="0" baseline="0" dirty="0" smtClean="0">
                <a:ln>
                  <a:noFill/>
                </a:ln>
                <a:solidFill>
                  <a:schemeClr val="tx1"/>
                </a:solidFill>
                <a:effectLst/>
                <a:latin typeface="Arial" panose="020B0604020202020204" pitchFamily="34" charset="0"/>
              </a:rPr>
              <a:t>, vol. number, no. number, year, pages.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Arial" panose="020B0604020202020204" pitchFamily="34" charset="0"/>
              </a:rPr>
              <a:t>Example:</a:t>
            </a:r>
          </a:p>
          <a:p>
            <a:pPr marL="0" indent="0">
              <a:buNone/>
            </a:pPr>
            <a:r>
              <a:rPr lang="en-IN" sz="2400" b="1" dirty="0" smtClean="0"/>
              <a:t>MLA Style (9th Edition)</a:t>
            </a:r>
          </a:p>
          <a:p>
            <a:r>
              <a:rPr lang="en-IN" sz="2400" b="1" dirty="0" smtClean="0"/>
              <a:t>In-Text Citation:</a:t>
            </a:r>
            <a:r>
              <a:rPr lang="en-IN" sz="2400" dirty="0" smtClean="0"/>
              <a:t/>
            </a:r>
            <a:br>
              <a:rPr lang="en-IN" sz="2400" dirty="0" smtClean="0"/>
            </a:br>
            <a:r>
              <a:rPr lang="en-IN" sz="2400" dirty="0" smtClean="0"/>
              <a:t>(</a:t>
            </a:r>
            <a:r>
              <a:rPr lang="en-IN" sz="2400" dirty="0" err="1" smtClean="0"/>
              <a:t>Rekha</a:t>
            </a:r>
            <a:r>
              <a:rPr lang="en-IN" sz="2400" dirty="0" smtClean="0"/>
              <a:t> et al. 416)</a:t>
            </a:r>
          </a:p>
          <a:p>
            <a:r>
              <a:rPr lang="en-IN" sz="2400" b="1" dirty="0" smtClean="0"/>
              <a:t>Works Cited:</a:t>
            </a:r>
            <a:r>
              <a:rPr lang="en-IN" sz="2400" dirty="0" smtClean="0"/>
              <a:t/>
            </a:r>
            <a:br>
              <a:rPr lang="en-IN" sz="2400" dirty="0" smtClean="0"/>
            </a:br>
            <a:r>
              <a:rPr lang="en-IN" sz="2400" dirty="0" err="1" smtClean="0"/>
              <a:t>Rekha</a:t>
            </a:r>
            <a:r>
              <a:rPr lang="en-IN" sz="2400" dirty="0" smtClean="0"/>
              <a:t>, T., Prakash </a:t>
            </a:r>
            <a:r>
              <a:rPr lang="en-IN" sz="2400" dirty="0" err="1" smtClean="0"/>
              <a:t>Bindu</a:t>
            </a:r>
            <a:r>
              <a:rPr lang="en-IN" sz="2400" dirty="0" smtClean="0"/>
              <a:t>, S. </a:t>
            </a:r>
            <a:r>
              <a:rPr lang="en-IN" sz="2400" dirty="0" err="1" smtClean="0"/>
              <a:t>Asna</a:t>
            </a:r>
            <a:r>
              <a:rPr lang="en-IN" sz="2400" dirty="0" smtClean="0"/>
              <a:t>, S. Dinesh, and S. Prasad </a:t>
            </a:r>
            <a:r>
              <a:rPr lang="en-IN" sz="2400" dirty="0" err="1" smtClean="0"/>
              <a:t>Nandana</a:t>
            </a:r>
            <a:r>
              <a:rPr lang="en-IN" sz="2400" dirty="0" smtClean="0"/>
              <a:t>. "An Intelligent Method for Load Sharing of Transformers with Temperature Monitoring and Automatic Correction of Power Factor." </a:t>
            </a:r>
            <a:r>
              <a:rPr lang="en-IN" sz="2400" i="1" dirty="0" smtClean="0"/>
              <a:t>International Journal of Engineering Sciences Research Technology</a:t>
            </a:r>
            <a:r>
              <a:rPr lang="en-IN" sz="2400" dirty="0" smtClean="0"/>
              <a:t>, vol. 4, no. 3, 2015, pp. 416-421.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3835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3575"/>
          </a:xfrm>
        </p:spPr>
        <p:txBody>
          <a:bodyPr>
            <a:noAutofit/>
          </a:bodyPr>
          <a:lstStyle/>
          <a:p>
            <a:pPr algn="ctr"/>
            <a:r>
              <a:rPr lang="en-US" sz="3200" b="1" dirty="0" smtClean="0">
                <a:solidFill>
                  <a:srgbClr val="FF0000"/>
                </a:solidFill>
                <a:latin typeface="Times New Roman" panose="02020603050405020304" pitchFamily="18" charset="0"/>
                <a:cs typeface="Times New Roman" panose="02020603050405020304" pitchFamily="18" charset="0"/>
              </a:rPr>
              <a:t>3. Chicago/</a:t>
            </a:r>
            <a:r>
              <a:rPr lang="en-US" sz="3200" b="1" dirty="0" err="1" smtClean="0">
                <a:solidFill>
                  <a:srgbClr val="FF0000"/>
                </a:solidFill>
                <a:latin typeface="Times New Roman" panose="02020603050405020304" pitchFamily="18" charset="0"/>
                <a:cs typeface="Times New Roman" panose="02020603050405020304" pitchFamily="18" charset="0"/>
              </a:rPr>
              <a:t>Turabian</a:t>
            </a:r>
            <a:r>
              <a:rPr lang="en-US" sz="3200" b="1" dirty="0" smtClean="0">
                <a:solidFill>
                  <a:srgbClr val="FF0000"/>
                </a:solidFill>
                <a:latin typeface="Times New Roman" panose="02020603050405020304" pitchFamily="18" charset="0"/>
                <a:cs typeface="Times New Roman" panose="02020603050405020304" pitchFamily="18" charset="0"/>
              </a:rPr>
              <a:t> (Chicago Manual of Style)</a:t>
            </a:r>
            <a:br>
              <a:rPr lang="en-US" sz="3200" b="1" dirty="0" smtClean="0">
                <a:solidFill>
                  <a:srgbClr val="FF0000"/>
                </a:solidFill>
                <a:latin typeface="Times New Roman" panose="02020603050405020304" pitchFamily="18" charset="0"/>
                <a:cs typeface="Times New Roman" panose="02020603050405020304" pitchFamily="18" charset="0"/>
              </a:rPr>
            </a:b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52423" y="839788"/>
            <a:ext cx="11506201" cy="4351338"/>
          </a:xfrm>
        </p:spPr>
        <p:txBody>
          <a:bodyPr>
            <a:noAutofit/>
          </a:bodyPr>
          <a:lstStyle/>
          <a:p>
            <a:pPr marL="0" indent="0">
              <a:buNone/>
            </a:pPr>
            <a:r>
              <a:rPr lang="en-US" sz="2400" b="1" dirty="0" smtClean="0">
                <a:latin typeface="Times New Roman" panose="02020603050405020304" pitchFamily="18" charset="0"/>
                <a:cs typeface="Times New Roman" panose="02020603050405020304" pitchFamily="18" charset="0"/>
              </a:rPr>
              <a:t>In-text citation (Author-Date style):</a:t>
            </a:r>
          </a:p>
          <a:p>
            <a:pPr marL="0" indent="0">
              <a:buNone/>
            </a:pPr>
            <a:r>
              <a:rPr lang="en-US" sz="2400" dirty="0" smtClean="0">
                <a:latin typeface="Times New Roman" panose="02020603050405020304" pitchFamily="18" charset="0"/>
                <a:cs typeface="Times New Roman" panose="02020603050405020304" pitchFamily="18" charset="0"/>
              </a:rPr>
              <a:t> (Author Last Name Year, page)</a:t>
            </a:r>
          </a:p>
          <a:p>
            <a:pPr marL="0" indent="0">
              <a:buNone/>
            </a:pPr>
            <a:r>
              <a:rPr lang="en-US" sz="2400" b="1" dirty="0" smtClean="0">
                <a:latin typeface="Times New Roman" panose="02020603050405020304" pitchFamily="18" charset="0"/>
                <a:cs typeface="Times New Roman" panose="02020603050405020304" pitchFamily="18" charset="0"/>
              </a:rPr>
              <a:t>Reference List Format (Author-Date style):</a:t>
            </a:r>
            <a:r>
              <a:rPr lang="en-US" sz="2400" dirty="0" smtClean="0">
                <a:latin typeface="Times New Roman" panose="02020603050405020304" pitchFamily="18" charset="0"/>
                <a:cs typeface="Times New Roman" panose="02020603050405020304" pitchFamily="18" charset="0"/>
              </a:rPr>
              <a:t>Books: Author(s). Year. Title of Book. </a:t>
            </a:r>
            <a:r>
              <a:rPr lang="en-US" sz="2400" dirty="0" err="1" smtClean="0">
                <a:latin typeface="Times New Roman" panose="02020603050405020304" pitchFamily="18" charset="0"/>
                <a:cs typeface="Times New Roman" panose="02020603050405020304" pitchFamily="18" charset="0"/>
              </a:rPr>
              <a:t>Publisher.Articles</a:t>
            </a:r>
            <a:r>
              <a:rPr lang="en-US" sz="2400" dirty="0" smtClean="0">
                <a:latin typeface="Times New Roman" panose="02020603050405020304" pitchFamily="18" charset="0"/>
                <a:cs typeface="Times New Roman" panose="02020603050405020304" pitchFamily="18" charset="0"/>
              </a:rPr>
              <a:t>: Author(s). Year. "Title of Article." Title of Journal volume number (issue number): page range.</a:t>
            </a:r>
          </a:p>
          <a:p>
            <a:pPr marL="0" indent="0">
              <a:buNone/>
            </a:pPr>
            <a:r>
              <a:rPr lang="en-US" sz="2400" b="1" dirty="0" smtClean="0">
                <a:latin typeface="Times New Roman" panose="02020603050405020304" pitchFamily="18" charset="0"/>
                <a:cs typeface="Times New Roman" panose="02020603050405020304" pitchFamily="18" charset="0"/>
              </a:rPr>
              <a:t>Example:</a:t>
            </a:r>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smtClean="0">
                <a:latin typeface="Times New Roman" panose="02020603050405020304" pitchFamily="18" charset="0"/>
                <a:cs typeface="Times New Roman" panose="02020603050405020304" pitchFamily="18" charset="0"/>
              </a:rPr>
              <a:t>Chicago/</a:t>
            </a:r>
            <a:r>
              <a:rPr lang="en-IN" sz="2400" b="1" dirty="0" err="1" smtClean="0">
                <a:latin typeface="Times New Roman" panose="02020603050405020304" pitchFamily="18" charset="0"/>
                <a:cs typeface="Times New Roman" panose="02020603050405020304" pitchFamily="18" charset="0"/>
              </a:rPr>
              <a:t>Turabian</a:t>
            </a:r>
            <a:r>
              <a:rPr lang="en-IN" sz="2400" b="1" dirty="0" smtClean="0">
                <a:latin typeface="Times New Roman" panose="02020603050405020304" pitchFamily="18" charset="0"/>
                <a:cs typeface="Times New Roman" panose="02020603050405020304" pitchFamily="18" charset="0"/>
              </a:rPr>
              <a:t> Style (Author-Date)</a:t>
            </a:r>
          </a:p>
          <a:p>
            <a:r>
              <a:rPr lang="en-IN" sz="2400" b="1" dirty="0" smtClean="0">
                <a:latin typeface="Times New Roman" panose="02020603050405020304" pitchFamily="18" charset="0"/>
                <a:cs typeface="Times New Roman" panose="02020603050405020304" pitchFamily="18" charset="0"/>
              </a:rPr>
              <a:t>In-Text Citation:</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smtClean="0">
                <a:latin typeface="Times New Roman" panose="02020603050405020304" pitchFamily="18" charset="0"/>
                <a:cs typeface="Times New Roman" panose="02020603050405020304" pitchFamily="18" charset="0"/>
              </a:rPr>
              <a:t>(</a:t>
            </a: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et al. 2015, 416)</a:t>
            </a:r>
          </a:p>
          <a:p>
            <a:r>
              <a:rPr lang="en-IN" sz="2400" b="1" dirty="0" smtClean="0">
                <a:latin typeface="Times New Roman" panose="02020603050405020304" pitchFamily="18" charset="0"/>
                <a:cs typeface="Times New Roman" panose="02020603050405020304" pitchFamily="18" charset="0"/>
              </a:rPr>
              <a:t>Reference List (Author-Date):</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T., Prakash </a:t>
            </a:r>
            <a:r>
              <a:rPr lang="en-IN" sz="2400" dirty="0" err="1" smtClean="0">
                <a:latin typeface="Times New Roman" panose="02020603050405020304" pitchFamily="18" charset="0"/>
                <a:cs typeface="Times New Roman" panose="02020603050405020304" pitchFamily="18" charset="0"/>
              </a:rPr>
              <a:t>Bindu</a:t>
            </a:r>
            <a:r>
              <a:rPr lang="en-IN" sz="2400" dirty="0" smtClean="0">
                <a:latin typeface="Times New Roman" panose="02020603050405020304" pitchFamily="18" charset="0"/>
                <a:cs typeface="Times New Roman" panose="02020603050405020304" pitchFamily="18" charset="0"/>
              </a:rPr>
              <a:t>, S. </a:t>
            </a:r>
            <a:r>
              <a:rPr lang="en-IN" sz="2400" dirty="0" err="1" smtClean="0">
                <a:latin typeface="Times New Roman" panose="02020603050405020304" pitchFamily="18" charset="0"/>
                <a:cs typeface="Times New Roman" panose="02020603050405020304" pitchFamily="18" charset="0"/>
              </a:rPr>
              <a:t>Asna</a:t>
            </a:r>
            <a:r>
              <a:rPr lang="en-IN" sz="2400" dirty="0" smtClean="0">
                <a:latin typeface="Times New Roman" panose="02020603050405020304" pitchFamily="18" charset="0"/>
                <a:cs typeface="Times New Roman" panose="02020603050405020304" pitchFamily="18" charset="0"/>
              </a:rPr>
              <a:t>, S. Dinesh, and S. Prasad </a:t>
            </a:r>
            <a:r>
              <a:rPr lang="en-IN" sz="2400" dirty="0" err="1" smtClean="0">
                <a:latin typeface="Times New Roman" panose="02020603050405020304" pitchFamily="18" charset="0"/>
                <a:cs typeface="Times New Roman" panose="02020603050405020304" pitchFamily="18" charset="0"/>
              </a:rPr>
              <a:t>Nandana</a:t>
            </a:r>
            <a:r>
              <a:rPr lang="en-IN" sz="2400" dirty="0" smtClean="0">
                <a:latin typeface="Times New Roman" panose="02020603050405020304" pitchFamily="18" charset="0"/>
                <a:cs typeface="Times New Roman" panose="02020603050405020304" pitchFamily="18" charset="0"/>
              </a:rPr>
              <a:t>. 2015. "An Intelligent Method for Load Sharing of Transformers with Temperature Monitoring and Automatic Correction of Power Factor." </a:t>
            </a:r>
            <a:r>
              <a:rPr lang="en-IN" sz="2400" i="1" dirty="0" smtClean="0">
                <a:latin typeface="Times New Roman" panose="02020603050405020304" pitchFamily="18" charset="0"/>
                <a:cs typeface="Times New Roman" panose="02020603050405020304" pitchFamily="18" charset="0"/>
              </a:rPr>
              <a:t>International Journal of Engineering Sciences Research Technology</a:t>
            </a:r>
            <a:r>
              <a:rPr lang="en-IN" sz="2400" dirty="0" smtClean="0">
                <a:latin typeface="Times New Roman" panose="02020603050405020304" pitchFamily="18" charset="0"/>
                <a:cs typeface="Times New Roman" panose="02020603050405020304" pitchFamily="18" charset="0"/>
              </a:rPr>
              <a:t> 4 (3): 416-421.</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908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251"/>
            <a:ext cx="10515600" cy="463550"/>
          </a:xfrm>
        </p:spPr>
        <p:txBody>
          <a:bodyPr>
            <a:noAutofit/>
          </a:bodyPr>
          <a:lstStyle/>
          <a:p>
            <a:pPr algn="ctr"/>
            <a:r>
              <a:rPr lang="en-IN" sz="3200" dirty="0" smtClean="0">
                <a:solidFill>
                  <a:srgbClr val="FF0000"/>
                </a:solidFill>
                <a:latin typeface="Times New Roman" panose="02020603050405020304" pitchFamily="18" charset="0"/>
                <a:cs typeface="Times New Roman" panose="02020603050405020304" pitchFamily="18" charset="0"/>
              </a:rPr>
              <a:t>4. </a:t>
            </a:r>
            <a:r>
              <a:rPr lang="en-IN" sz="3200" b="1" dirty="0" smtClean="0">
                <a:solidFill>
                  <a:srgbClr val="FF0000"/>
                </a:solidFill>
                <a:latin typeface="Times New Roman" panose="02020603050405020304" pitchFamily="18" charset="0"/>
                <a:cs typeface="Times New Roman" panose="02020603050405020304" pitchFamily="18" charset="0"/>
              </a:rPr>
              <a:t>Harvard Style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45256" y="685801"/>
            <a:ext cx="11901488" cy="5999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In-text citation: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(Author Last Name, Year)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Reference List Format: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Books: Author(s), Year.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Book</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Edition. Place of publication: Publisher.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Articles: Author(s), Year. 'Title of Article',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Journal</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Volume (Issue), Page range.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Smith, J., 2020. </a:t>
            </a:r>
            <a:r>
              <a:rPr kumimoji="0" lang="en-US" altLang="en-US"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Psychology of Learning</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2nd ed. London: Educational Press.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Brown, A. &amp; Green, B., 2019. 'The Impact of Learning Styles on Student Success', </a:t>
            </a:r>
            <a:r>
              <a:rPr kumimoji="0" lang="en-US" altLang="en-US"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Journal of Educational Research</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45(2), pp. 123-145.</a:t>
            </a:r>
          </a:p>
          <a:p>
            <a:r>
              <a:rPr lang="en-IN" sz="2400" b="1" dirty="0" smtClean="0">
                <a:latin typeface="Times New Roman" panose="02020603050405020304" pitchFamily="18" charset="0"/>
                <a:cs typeface="Times New Roman" panose="02020603050405020304" pitchFamily="18" charset="0"/>
              </a:rPr>
              <a:t>In-Text Citation:</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smtClean="0">
                <a:latin typeface="Times New Roman" panose="02020603050405020304" pitchFamily="18" charset="0"/>
                <a:cs typeface="Times New Roman" panose="02020603050405020304" pitchFamily="18" charset="0"/>
              </a:rPr>
              <a:t>(</a:t>
            </a: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et al., 2015)</a:t>
            </a:r>
          </a:p>
          <a:p>
            <a:r>
              <a:rPr lang="en-IN" sz="2400" b="1" dirty="0" smtClean="0">
                <a:latin typeface="Times New Roman" panose="02020603050405020304" pitchFamily="18" charset="0"/>
                <a:cs typeface="Times New Roman" panose="02020603050405020304" pitchFamily="18" charset="0"/>
              </a:rPr>
              <a:t>Reference List:</a:t>
            </a:r>
            <a:r>
              <a:rPr lang="en-IN" sz="2400" dirty="0" smtClean="0">
                <a:latin typeface="Times New Roman" panose="02020603050405020304" pitchFamily="18" charset="0"/>
                <a:cs typeface="Times New Roman" panose="02020603050405020304" pitchFamily="18" charset="0"/>
              </a:rPr>
              <a:t/>
            </a:r>
            <a:br>
              <a:rPr lang="en-IN" sz="2400" dirty="0" smtClean="0">
                <a:latin typeface="Times New Roman" panose="02020603050405020304" pitchFamily="18" charset="0"/>
                <a:cs typeface="Times New Roman" panose="02020603050405020304" pitchFamily="18" charset="0"/>
              </a:rPr>
            </a:br>
            <a:r>
              <a:rPr lang="en-IN" sz="2400" dirty="0" err="1" smtClean="0">
                <a:latin typeface="Times New Roman" panose="02020603050405020304" pitchFamily="18" charset="0"/>
                <a:cs typeface="Times New Roman" panose="02020603050405020304" pitchFamily="18" charset="0"/>
              </a:rPr>
              <a:t>Rekha</a:t>
            </a:r>
            <a:r>
              <a:rPr lang="en-IN" sz="2400" dirty="0" smtClean="0">
                <a:latin typeface="Times New Roman" panose="02020603050405020304" pitchFamily="18" charset="0"/>
                <a:cs typeface="Times New Roman" panose="02020603050405020304" pitchFamily="18" charset="0"/>
              </a:rPr>
              <a:t>, T., Prakash </a:t>
            </a:r>
            <a:r>
              <a:rPr lang="en-IN" sz="2400" dirty="0" err="1" smtClean="0">
                <a:latin typeface="Times New Roman" panose="02020603050405020304" pitchFamily="18" charset="0"/>
                <a:cs typeface="Times New Roman" panose="02020603050405020304" pitchFamily="18" charset="0"/>
              </a:rPr>
              <a:t>Bindu</a:t>
            </a:r>
            <a:r>
              <a:rPr lang="en-IN" sz="2400" dirty="0" smtClean="0">
                <a:latin typeface="Times New Roman" panose="02020603050405020304" pitchFamily="18" charset="0"/>
                <a:cs typeface="Times New Roman" panose="02020603050405020304" pitchFamily="18" charset="0"/>
              </a:rPr>
              <a:t>, S., </a:t>
            </a:r>
            <a:r>
              <a:rPr lang="en-IN" sz="2400" dirty="0" err="1" smtClean="0">
                <a:latin typeface="Times New Roman" panose="02020603050405020304" pitchFamily="18" charset="0"/>
                <a:cs typeface="Times New Roman" panose="02020603050405020304" pitchFamily="18" charset="0"/>
              </a:rPr>
              <a:t>Asna</a:t>
            </a:r>
            <a:r>
              <a:rPr lang="en-IN" sz="2400" dirty="0" smtClean="0">
                <a:latin typeface="Times New Roman" panose="02020603050405020304" pitchFamily="18" charset="0"/>
                <a:cs typeface="Times New Roman" panose="02020603050405020304" pitchFamily="18" charset="0"/>
              </a:rPr>
              <a:t>, S., Dinesh, S. and </a:t>
            </a:r>
            <a:r>
              <a:rPr lang="en-IN" sz="2400" dirty="0" err="1" smtClean="0">
                <a:latin typeface="Times New Roman" panose="02020603050405020304" pitchFamily="18" charset="0"/>
                <a:cs typeface="Times New Roman" panose="02020603050405020304" pitchFamily="18" charset="0"/>
              </a:rPr>
              <a:t>Nandana</a:t>
            </a:r>
            <a:r>
              <a:rPr lang="en-IN" sz="2400" dirty="0" smtClean="0">
                <a:latin typeface="Times New Roman" panose="02020603050405020304" pitchFamily="18" charset="0"/>
                <a:cs typeface="Times New Roman" panose="02020603050405020304" pitchFamily="18" charset="0"/>
              </a:rPr>
              <a:t>, S.P., 2015. An intelligent method for load sharing of transformers with temperature monitoring and automatic correction of power factor. </a:t>
            </a:r>
            <a:r>
              <a:rPr lang="en-IN" sz="2400" i="1" dirty="0" smtClean="0">
                <a:latin typeface="Times New Roman" panose="02020603050405020304" pitchFamily="18" charset="0"/>
                <a:cs typeface="Times New Roman" panose="02020603050405020304" pitchFamily="18" charset="0"/>
              </a:rPr>
              <a:t>International Journal of Engineering Sciences Research Technology</a:t>
            </a:r>
            <a:r>
              <a:rPr lang="en-IN" sz="2400" dirty="0" smtClean="0">
                <a:latin typeface="Times New Roman" panose="02020603050405020304" pitchFamily="18" charset="0"/>
                <a:cs typeface="Times New Roman" panose="02020603050405020304" pitchFamily="18" charset="0"/>
              </a:rPr>
              <a:t>, 4(3), pp. 416-421.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588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0675"/>
            <a:ext cx="10515600" cy="1325563"/>
          </a:xfrm>
        </p:spPr>
        <p:txBody>
          <a:bodyPr>
            <a:normAutofit/>
          </a:bodyPr>
          <a:lstStyle/>
          <a:p>
            <a:pPr algn="ctr"/>
            <a:r>
              <a:rPr lang="en-IN" sz="3200" dirty="0" smtClean="0">
                <a:solidFill>
                  <a:srgbClr val="FF0000"/>
                </a:solidFill>
                <a:latin typeface="Times New Roman" panose="02020603050405020304" pitchFamily="18" charset="0"/>
                <a:cs typeface="Times New Roman" panose="02020603050405020304" pitchFamily="18" charset="0"/>
              </a:rPr>
              <a:t>5. </a:t>
            </a:r>
            <a:r>
              <a:rPr lang="en-IN" sz="3200" b="1" dirty="0" smtClean="0">
                <a:solidFill>
                  <a:srgbClr val="FF0000"/>
                </a:solidFill>
                <a:latin typeface="Times New Roman" panose="02020603050405020304" pitchFamily="18" charset="0"/>
                <a:cs typeface="Times New Roman" panose="02020603050405020304" pitchFamily="18" charset="0"/>
              </a:rPr>
              <a:t>IEEE Style</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52400" y="1004888"/>
            <a:ext cx="11806238" cy="5667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Used in:</a:t>
            </a:r>
            <a:r>
              <a:rPr kumimoji="0" lang="en-US" altLang="en-US" sz="2400" b="0" i="0" u="none" strike="noStrike" cap="none" normalizeH="0" baseline="0" dirty="0" smtClean="0">
                <a:ln>
                  <a:noFill/>
                </a:ln>
                <a:solidFill>
                  <a:schemeClr val="tx1"/>
                </a:solidFill>
                <a:effectLst/>
                <a:latin typeface="Arial" panose="020B0604020202020204" pitchFamily="34" charset="0"/>
              </a:rPr>
              <a:t> Engineering, computer science, and technical fields.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In-text citation:</a:t>
            </a:r>
            <a:r>
              <a:rPr kumimoji="0" lang="en-US" altLang="en-US" sz="2400" b="0" i="0" u="none" strike="noStrike" cap="none" normalizeH="0" baseline="0" dirty="0" smtClean="0">
                <a:ln>
                  <a:noFill/>
                </a:ln>
                <a:solidFill>
                  <a:schemeClr val="tx1"/>
                </a:solidFill>
                <a:effectLst/>
                <a:latin typeface="Arial" panose="020B0604020202020204" pitchFamily="34" charset="0"/>
              </a:rPr>
              <a:t> [Number]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Reference List Format:</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Books: [Number] Author(s), </a:t>
            </a:r>
            <a:r>
              <a:rPr kumimoji="0" lang="en-US" altLang="en-US" sz="2400" b="0" i="1" u="none" strike="noStrike" cap="none" normalizeH="0" baseline="0" dirty="0" smtClean="0">
                <a:ln>
                  <a:noFill/>
                </a:ln>
                <a:solidFill>
                  <a:schemeClr val="tx1"/>
                </a:solidFill>
                <a:effectLst/>
                <a:latin typeface="Arial" panose="020B0604020202020204" pitchFamily="34" charset="0"/>
              </a:rPr>
              <a:t>Title of Book</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xth</a:t>
            </a:r>
            <a:r>
              <a:rPr kumimoji="0" lang="en-US" altLang="en-US" sz="2400" b="0" i="0" u="none" strike="noStrike" cap="none" normalizeH="0" baseline="0" dirty="0" smtClean="0">
                <a:ln>
                  <a:noFill/>
                </a:ln>
                <a:solidFill>
                  <a:schemeClr val="tx1"/>
                </a:solidFill>
                <a:effectLst/>
                <a:latin typeface="Arial" panose="020B0604020202020204" pitchFamily="34" charset="0"/>
              </a:rPr>
              <a:t> ed. City of Publication, Country: Publisher, Year.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Articles: [Number] Author(s), "Title of Article," </a:t>
            </a:r>
            <a:r>
              <a:rPr kumimoji="0" lang="en-US" altLang="en-US" sz="2400" b="0" i="1" u="none" strike="noStrike" cap="none" normalizeH="0" baseline="0" dirty="0" smtClean="0">
                <a:ln>
                  <a:noFill/>
                </a:ln>
                <a:solidFill>
                  <a:schemeClr val="tx1"/>
                </a:solidFill>
                <a:effectLst/>
                <a:latin typeface="Arial" panose="020B0604020202020204" pitchFamily="34" charset="0"/>
              </a:rPr>
              <a:t>Title of Journal</a:t>
            </a:r>
            <a:r>
              <a:rPr kumimoji="0" lang="en-US" altLang="en-US" sz="2400" b="0" i="0" u="none" strike="noStrike" cap="none" normalizeH="0" baseline="0" dirty="0" smtClean="0">
                <a:ln>
                  <a:noFill/>
                </a:ln>
                <a:solidFill>
                  <a:schemeClr val="tx1"/>
                </a:solidFill>
                <a:effectLst/>
                <a:latin typeface="Arial" panose="020B0604020202020204" pitchFamily="34" charset="0"/>
              </a:rPr>
              <a:t>, vol. x, no. x, pp. xxx-xxx, Month, Year.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sng" strike="noStrike" cap="none" normalizeH="0" baseline="0" dirty="0" smtClean="0">
                <a:ln>
                  <a:noFill/>
                </a:ln>
                <a:solidFill>
                  <a:schemeClr val="tx1"/>
                </a:solidFill>
                <a:effectLst/>
                <a:latin typeface="Arial" panose="020B0604020202020204" pitchFamily="34" charset="0"/>
              </a:rPr>
              <a:t>Example:</a:t>
            </a:r>
          </a:p>
          <a:p>
            <a:r>
              <a:rPr lang="en-IN" sz="2400" b="1" dirty="0" smtClean="0"/>
              <a:t>In-Text Citation:</a:t>
            </a:r>
            <a:r>
              <a:rPr lang="en-IN" sz="2400" dirty="0" smtClean="0"/>
              <a:t/>
            </a:r>
            <a:br>
              <a:rPr lang="en-IN" sz="2400" dirty="0" smtClean="0"/>
            </a:br>
            <a:r>
              <a:rPr lang="en-IN" sz="2400" dirty="0" smtClean="0"/>
              <a:t>[1]</a:t>
            </a:r>
          </a:p>
          <a:p>
            <a:r>
              <a:rPr lang="en-IN" sz="2400" b="1" dirty="0" smtClean="0"/>
              <a:t>Reference List:</a:t>
            </a:r>
            <a:r>
              <a:rPr lang="en-IN" sz="2400" dirty="0" smtClean="0"/>
              <a:t/>
            </a:r>
            <a:br>
              <a:rPr lang="en-IN" sz="2400" dirty="0" smtClean="0"/>
            </a:br>
            <a:r>
              <a:rPr lang="en-IN" sz="2400" dirty="0" smtClean="0"/>
              <a:t>[1] T. </a:t>
            </a:r>
            <a:r>
              <a:rPr lang="en-IN" sz="2400" dirty="0" err="1" smtClean="0"/>
              <a:t>Rekha</a:t>
            </a:r>
            <a:r>
              <a:rPr lang="en-IN" sz="2400" dirty="0" smtClean="0"/>
              <a:t>, P. </a:t>
            </a:r>
            <a:r>
              <a:rPr lang="en-IN" sz="2400" dirty="0" err="1" smtClean="0"/>
              <a:t>Bindu</a:t>
            </a:r>
            <a:r>
              <a:rPr lang="en-IN" sz="2400" dirty="0" smtClean="0"/>
              <a:t>, S. </a:t>
            </a:r>
            <a:r>
              <a:rPr lang="en-IN" sz="2400" dirty="0" err="1" smtClean="0"/>
              <a:t>Asna</a:t>
            </a:r>
            <a:r>
              <a:rPr lang="en-IN" sz="2400" dirty="0" smtClean="0"/>
              <a:t>, S. Dinesh, and S. Prasad </a:t>
            </a:r>
            <a:r>
              <a:rPr lang="en-IN" sz="2400" dirty="0" err="1" smtClean="0"/>
              <a:t>Nandana</a:t>
            </a:r>
            <a:r>
              <a:rPr lang="en-IN" sz="2400" dirty="0" smtClean="0"/>
              <a:t>, "An intelligent method for load sharing of transformers with temperature monitoring and automatic correction of power factor," </a:t>
            </a:r>
            <a:r>
              <a:rPr lang="en-IN" sz="2400" i="1" dirty="0" smtClean="0"/>
              <a:t>Int. J. Eng. Sci. Res. Technol.</a:t>
            </a:r>
            <a:r>
              <a:rPr lang="en-IN" sz="2400" dirty="0" smtClean="0"/>
              <a:t>, vol. 4, no. 3, pp. 416-421, 2015.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8433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0"/>
            <a:ext cx="10515600" cy="1325563"/>
          </a:xfrm>
        </p:spPr>
        <p:txBody>
          <a:bodyPr/>
          <a:lstStyle/>
          <a:p>
            <a:r>
              <a:rPr lang="en-IN" dirty="0" smtClean="0"/>
              <a:t>6. </a:t>
            </a:r>
            <a:r>
              <a:rPr lang="en-IN" b="1" dirty="0" smtClean="0"/>
              <a:t>Vancouver</a:t>
            </a:r>
            <a:endParaRPr lang="en-IN" dirty="0"/>
          </a:p>
        </p:txBody>
      </p:sp>
      <p:sp>
        <p:nvSpPr>
          <p:cNvPr id="4" name="Rectangle 1"/>
          <p:cNvSpPr>
            <a:spLocks noGrp="1" noChangeArrowheads="1"/>
          </p:cNvSpPr>
          <p:nvPr>
            <p:ph idx="1"/>
          </p:nvPr>
        </p:nvSpPr>
        <p:spPr bwMode="auto">
          <a:xfrm>
            <a:off x="395288" y="1366902"/>
            <a:ext cx="10291763" cy="512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In-text citation: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Superscript number (or in parentheses)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Reference List Format: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Books: Author(s).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Book</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Edition. Place of publication: Publisher; Year.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Articles: Author(s). Title of article. </a:t>
            </a:r>
            <a:r>
              <a:rPr kumimoji="0" lang="en-US" altLang="en-US" sz="2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Title of Journal</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Year; Volume(Issue): Page range.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a:t>
            </a:r>
          </a:p>
          <a:p>
            <a:pPr marL="0" indent="0">
              <a:buNone/>
            </a:pPr>
            <a:r>
              <a:rPr lang="en-IN" sz="2400" b="1" dirty="0" smtClean="0">
                <a:latin typeface="Times New Roman" panose="02020603050405020304" pitchFamily="18" charset="0"/>
                <a:cs typeface="Times New Roman" panose="02020603050405020304" pitchFamily="18" charset="0"/>
              </a:rPr>
              <a:t>In-Text Citation:</a:t>
            </a:r>
            <a:endParaRPr lang="en-IN" sz="2400" dirty="0" smtClean="0">
              <a:latin typeface="Times New Roman" panose="02020603050405020304" pitchFamily="18" charset="0"/>
              <a:cs typeface="Times New Roman" panose="02020603050405020304" pitchFamily="18" charset="0"/>
            </a:endParaRPr>
          </a:p>
          <a:p>
            <a:pPr marL="0" indent="0">
              <a:buNone/>
            </a:pPr>
            <a:r>
              <a:rPr lang="en-IN" sz="2400" dirty="0" smtClean="0">
                <a:latin typeface="Times New Roman" panose="02020603050405020304" pitchFamily="18" charset="0"/>
                <a:cs typeface="Times New Roman" panose="02020603050405020304" pitchFamily="18" charset="0"/>
              </a:rPr>
              <a:t>1</a:t>
            </a:r>
          </a:p>
          <a:p>
            <a:pPr marL="0" indent="0">
              <a:buNone/>
            </a:pPr>
            <a:r>
              <a:rPr lang="en-IN" sz="2400" b="1" dirty="0" smtClean="0">
                <a:latin typeface="Times New Roman" panose="02020603050405020304" pitchFamily="18" charset="0"/>
                <a:cs typeface="Times New Roman" panose="02020603050405020304" pitchFamily="18" charset="0"/>
              </a:rPr>
              <a:t>Reference List:</a:t>
            </a:r>
            <a:endParaRPr lang="en-IN" sz="2400" dirty="0" smtClean="0">
              <a:latin typeface="Times New Roman" panose="02020603050405020304" pitchFamily="18" charset="0"/>
              <a:cs typeface="Times New Roman" panose="02020603050405020304" pitchFamily="18" charset="0"/>
            </a:endParaRPr>
          </a:p>
          <a:p>
            <a:pPr marL="714375" lvl="1" indent="-357188" algn="just">
              <a:buNone/>
            </a:pPr>
            <a:r>
              <a:rPr lang="en-IN" b="1" dirty="0" smtClean="0">
                <a:latin typeface="Times New Roman" panose="02020603050405020304" pitchFamily="18" charset="0"/>
                <a:cs typeface="Times New Roman" panose="02020603050405020304" pitchFamily="18" charset="0"/>
              </a:rPr>
              <a:t>1. </a:t>
            </a:r>
            <a:r>
              <a:rPr lang="en-IN" b="1" dirty="0" err="1" smtClean="0">
                <a:latin typeface="Times New Roman" panose="02020603050405020304" pitchFamily="18" charset="0"/>
                <a:cs typeface="Times New Roman" panose="02020603050405020304" pitchFamily="18" charset="0"/>
              </a:rPr>
              <a:t>Rekha</a:t>
            </a:r>
            <a:r>
              <a:rPr lang="en-IN" b="1" dirty="0" smtClean="0">
                <a:latin typeface="Times New Roman" panose="02020603050405020304" pitchFamily="18" charset="0"/>
                <a:cs typeface="Times New Roman" panose="02020603050405020304" pitchFamily="18" charset="0"/>
              </a:rPr>
              <a:t> T, </a:t>
            </a:r>
            <a:r>
              <a:rPr lang="en-IN" b="1" dirty="0" err="1" smtClean="0">
                <a:latin typeface="Times New Roman" panose="02020603050405020304" pitchFamily="18" charset="0"/>
                <a:cs typeface="Times New Roman" panose="02020603050405020304" pitchFamily="18" charset="0"/>
              </a:rPr>
              <a:t>Bindu</a:t>
            </a:r>
            <a:r>
              <a:rPr lang="en-IN" b="1" dirty="0" smtClean="0">
                <a:latin typeface="Times New Roman" panose="02020603050405020304" pitchFamily="18" charset="0"/>
                <a:cs typeface="Times New Roman" panose="02020603050405020304" pitchFamily="18" charset="0"/>
              </a:rPr>
              <a:t> P, </a:t>
            </a:r>
            <a:r>
              <a:rPr lang="en-IN" b="1" dirty="0" err="1" smtClean="0">
                <a:latin typeface="Times New Roman" panose="02020603050405020304" pitchFamily="18" charset="0"/>
                <a:cs typeface="Times New Roman" panose="02020603050405020304" pitchFamily="18" charset="0"/>
              </a:rPr>
              <a:t>Asna</a:t>
            </a:r>
            <a:r>
              <a:rPr lang="en-IN" b="1" dirty="0" smtClean="0">
                <a:latin typeface="Times New Roman" panose="02020603050405020304" pitchFamily="18" charset="0"/>
                <a:cs typeface="Times New Roman" panose="02020603050405020304" pitchFamily="18" charset="0"/>
              </a:rPr>
              <a:t> S, Dinesh S, </a:t>
            </a:r>
            <a:r>
              <a:rPr lang="en-IN" b="1" dirty="0" err="1" smtClean="0">
                <a:latin typeface="Times New Roman" panose="02020603050405020304" pitchFamily="18" charset="0"/>
                <a:cs typeface="Times New Roman" panose="02020603050405020304" pitchFamily="18" charset="0"/>
              </a:rPr>
              <a:t>Nandana</a:t>
            </a:r>
            <a:r>
              <a:rPr lang="en-IN" b="1" dirty="0" smtClean="0">
                <a:latin typeface="Times New Roman" panose="02020603050405020304" pitchFamily="18" charset="0"/>
                <a:cs typeface="Times New Roman" panose="02020603050405020304" pitchFamily="18" charset="0"/>
              </a:rPr>
              <a:t> SP.</a:t>
            </a:r>
            <a:r>
              <a:rPr lang="en-IN" dirty="0" smtClean="0">
                <a:latin typeface="Times New Roman" panose="02020603050405020304" pitchFamily="18" charset="0"/>
                <a:cs typeface="Times New Roman" panose="02020603050405020304" pitchFamily="18" charset="0"/>
              </a:rPr>
              <a:t> An intelligent method for load sharing of transformers with temperature monitoring and automatic correction of power factor. </a:t>
            </a:r>
            <a:r>
              <a:rPr lang="en-IN" i="1" dirty="0" err="1" smtClean="0">
                <a:latin typeface="Times New Roman" panose="02020603050405020304" pitchFamily="18" charset="0"/>
                <a:cs typeface="Times New Roman" panose="02020603050405020304" pitchFamily="18" charset="0"/>
              </a:rPr>
              <a:t>Int</a:t>
            </a:r>
            <a:r>
              <a:rPr lang="en-IN" i="1" dirty="0" smtClean="0">
                <a:latin typeface="Times New Roman" panose="02020603050405020304" pitchFamily="18" charset="0"/>
                <a:cs typeface="Times New Roman" panose="02020603050405020304" pitchFamily="18" charset="0"/>
              </a:rPr>
              <a:t> J </a:t>
            </a:r>
            <a:r>
              <a:rPr lang="en-IN" i="1" dirty="0" err="1" smtClean="0">
                <a:latin typeface="Times New Roman" panose="02020603050405020304" pitchFamily="18" charset="0"/>
                <a:cs typeface="Times New Roman" panose="02020603050405020304" pitchFamily="18" charset="0"/>
              </a:rPr>
              <a:t>Eng</a:t>
            </a:r>
            <a:r>
              <a:rPr lang="en-IN" i="1" dirty="0" smtClean="0">
                <a:latin typeface="Times New Roman" panose="02020603050405020304" pitchFamily="18" charset="0"/>
                <a:cs typeface="Times New Roman" panose="02020603050405020304" pitchFamily="18" charset="0"/>
              </a:rPr>
              <a:t> </a:t>
            </a:r>
            <a:r>
              <a:rPr lang="en-IN" i="1" dirty="0" err="1" smtClean="0">
                <a:latin typeface="Times New Roman" panose="02020603050405020304" pitchFamily="18" charset="0"/>
                <a:cs typeface="Times New Roman" panose="02020603050405020304" pitchFamily="18" charset="0"/>
              </a:rPr>
              <a:t>Sci</a:t>
            </a:r>
            <a:r>
              <a:rPr lang="en-IN" i="1" dirty="0" smtClean="0">
                <a:latin typeface="Times New Roman" panose="02020603050405020304" pitchFamily="18" charset="0"/>
                <a:cs typeface="Times New Roman" panose="02020603050405020304" pitchFamily="18" charset="0"/>
              </a:rPr>
              <a:t> Res Technol</a:t>
            </a:r>
            <a:r>
              <a:rPr lang="en-IN" dirty="0" smtClean="0">
                <a:latin typeface="Times New Roman" panose="02020603050405020304" pitchFamily="18" charset="0"/>
                <a:cs typeface="Times New Roman" panose="02020603050405020304" pitchFamily="18" charset="0"/>
              </a:rPr>
              <a:t>. 2015;4(3):416-421.</a:t>
            </a:r>
          </a:p>
          <a:p>
            <a:pPr marL="800100" marR="0" lvl="0" indent="-257175"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701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50722454"/>
              </p:ext>
            </p:extLst>
          </p:nvPr>
        </p:nvGraphicFramePr>
        <p:xfrm>
          <a:off x="1" y="100013"/>
          <a:ext cx="12192002" cy="6757986"/>
        </p:xfrm>
        <a:graphic>
          <a:graphicData uri="http://schemas.openxmlformats.org/drawingml/2006/table">
            <a:tbl>
              <a:tblPr>
                <a:tableStyleId>{5C22544A-7EE6-4342-B048-85BDC9FD1C3A}</a:tableStyleId>
              </a:tblPr>
              <a:tblGrid>
                <a:gridCol w="1039666"/>
                <a:gridCol w="1732776"/>
                <a:gridCol w="1761656"/>
                <a:gridCol w="2050451"/>
                <a:gridCol w="2005385"/>
                <a:gridCol w="3602068"/>
              </a:tblGrid>
              <a:tr h="798368">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Citation Style</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In-Text Citation</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ctr" fontAlgn="ctr"/>
                      <a:r>
                        <a:rPr lang="en-IN" sz="1600" b="1" u="none" strike="noStrike">
                          <a:effectLst/>
                          <a:latin typeface="Times New Roman" panose="02020603050405020304" pitchFamily="18" charset="0"/>
                          <a:cs typeface="Times New Roman" panose="02020603050405020304" pitchFamily="18" charset="0"/>
                        </a:rPr>
                        <a:t>Author Format</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ctr" fontAlgn="ctr"/>
                      <a:r>
                        <a:rPr lang="en-IN" sz="1600" b="1" u="none" strike="noStrike">
                          <a:effectLst/>
                          <a:latin typeface="Times New Roman" panose="02020603050405020304" pitchFamily="18" charset="0"/>
                          <a:cs typeface="Times New Roman" panose="02020603050405020304" pitchFamily="18" charset="0"/>
                        </a:rPr>
                        <a:t>Publication Year Placement</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ctr" fontAlgn="ctr"/>
                      <a:r>
                        <a:rPr lang="en-IN" sz="1600" b="1" u="none" strike="noStrike">
                          <a:effectLst/>
                          <a:latin typeface="Times New Roman" panose="02020603050405020304" pitchFamily="18" charset="0"/>
                          <a:cs typeface="Times New Roman" panose="02020603050405020304" pitchFamily="18" charset="0"/>
                        </a:rPr>
                        <a:t>Title Formatting</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Reference List Format</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798368">
                <a:tc>
                  <a:txBody>
                    <a:bodyPr/>
                    <a:lstStyle/>
                    <a:p>
                      <a:pPr algn="ctr" fontAlgn="ctr"/>
                      <a:r>
                        <a:rPr lang="en-IN" sz="1600" u="none" strike="noStrike">
                          <a:solidFill>
                            <a:srgbClr val="FF0000"/>
                          </a:solidFill>
                          <a:effectLst/>
                          <a:latin typeface="Times New Roman" panose="02020603050405020304" pitchFamily="18" charset="0"/>
                          <a:cs typeface="Times New Roman" panose="02020603050405020304" pitchFamily="18" charset="0"/>
                        </a:rPr>
                        <a:t>APA (7th Edition)</a:t>
                      </a:r>
                      <a:endParaRPr lang="en-IN" sz="1600" b="1" i="0" u="none" strike="noStrike">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(Author, Year)</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dirty="0">
                          <a:effectLst/>
                          <a:latin typeface="Times New Roman" panose="02020603050405020304" pitchFamily="18" charset="0"/>
                          <a:cs typeface="Times New Roman" panose="02020603050405020304" pitchFamily="18" charset="0"/>
                        </a:rPr>
                        <a:t>Author, Initial(s).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Year in parentheses after authors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Italics for journal titles, volume numbers, and book titles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(Year). Title of the article. Journal Title, Volume(Issue), pages.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1188171">
                <a:tc>
                  <a:txBody>
                    <a:bodyPr/>
                    <a:lstStyle/>
                    <a:p>
                      <a:pPr algn="ctr" fontAlgn="ctr"/>
                      <a:r>
                        <a:rPr lang="en-IN" sz="1600" u="none" strike="noStrike" dirty="0">
                          <a:solidFill>
                            <a:srgbClr val="FF0000"/>
                          </a:solidFill>
                          <a:effectLst/>
                          <a:latin typeface="Times New Roman" panose="02020603050405020304" pitchFamily="18" charset="0"/>
                          <a:cs typeface="Times New Roman" panose="02020603050405020304" pitchFamily="18" charset="0"/>
                        </a:rPr>
                        <a:t>MLA (9th Edition)</a:t>
                      </a:r>
                      <a:endParaRPr lang="en-IN"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(Author, Page)</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full name (last name first)</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Year follows the title in Works Cited</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dirty="0">
                          <a:effectLst/>
                          <a:latin typeface="Times New Roman" panose="02020603050405020304" pitchFamily="18" charset="0"/>
                          <a:cs typeface="Times New Roman" panose="02020603050405020304" pitchFamily="18" charset="0"/>
                        </a:rPr>
                        <a:t>Title of articles/chapters in quotes, book/journal titles in italics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"Title of the Article." Journal Title, vol. Volume, no. Issue, Year, pages.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1577975">
                <a:tc>
                  <a:txBody>
                    <a:bodyPr/>
                    <a:lstStyle/>
                    <a:p>
                      <a:pPr algn="ctr" fontAlgn="ctr"/>
                      <a:r>
                        <a:rPr lang="en-IN" sz="1600" u="none" strike="noStrike">
                          <a:solidFill>
                            <a:srgbClr val="FF0000"/>
                          </a:solidFill>
                          <a:effectLst/>
                          <a:latin typeface="Times New Roman" panose="02020603050405020304" pitchFamily="18" charset="0"/>
                          <a:cs typeface="Times New Roman" panose="02020603050405020304" pitchFamily="18" charset="0"/>
                        </a:rPr>
                        <a:t>Chicago/Turabian (Author-Date)</a:t>
                      </a:r>
                      <a:endParaRPr lang="en-IN" sz="1600" b="1" i="0" u="none" strike="noStrike">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(Author, Year)</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Author(s) (last name first)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Year in parentheses after author</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Title of the article or book in italics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Year. "Title." Journal Title Volume (Issue): pages.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798368">
                <a:tc>
                  <a:txBody>
                    <a:bodyPr/>
                    <a:lstStyle/>
                    <a:p>
                      <a:pPr algn="ctr" fontAlgn="ctr"/>
                      <a:r>
                        <a:rPr lang="en-IN" sz="1600" u="none" strike="noStrike">
                          <a:solidFill>
                            <a:srgbClr val="FF0000"/>
                          </a:solidFill>
                          <a:effectLst/>
                          <a:latin typeface="Times New Roman" panose="02020603050405020304" pitchFamily="18" charset="0"/>
                          <a:cs typeface="Times New Roman" panose="02020603050405020304" pitchFamily="18" charset="0"/>
                        </a:rPr>
                        <a:t>Harvard</a:t>
                      </a:r>
                      <a:endParaRPr lang="en-IN" sz="1600" b="1" i="0" u="none" strike="noStrike">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(Author, Year)</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last name, first initial</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Year after author(s)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Title of article/book in italics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Year. Title of article. Journal Title, Volume (Issue), pp. pages.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798368">
                <a:tc>
                  <a:txBody>
                    <a:bodyPr/>
                    <a:lstStyle/>
                    <a:p>
                      <a:pPr algn="ctr" fontAlgn="ctr"/>
                      <a:r>
                        <a:rPr lang="en-IN" sz="1600" u="none" strike="noStrike">
                          <a:solidFill>
                            <a:srgbClr val="FF0000"/>
                          </a:solidFill>
                          <a:effectLst/>
                          <a:latin typeface="Times New Roman" panose="02020603050405020304" pitchFamily="18" charset="0"/>
                          <a:cs typeface="Times New Roman" panose="02020603050405020304" pitchFamily="18" charset="0"/>
                        </a:rPr>
                        <a:t>IEEE</a:t>
                      </a:r>
                      <a:endParaRPr lang="en-IN" sz="1600" b="1" i="0" u="none" strike="noStrike">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[Number]</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Initials for authors followed by last name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Numbered reference list in order</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Article/book titles in italics (or quotes for chapter titles)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[Number] Author(s), "Title of the article," Journal Title, vol. Volume, no. Issue, pp. pages, Year.</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r h="798368">
                <a:tc>
                  <a:txBody>
                    <a:bodyPr/>
                    <a:lstStyle/>
                    <a:p>
                      <a:pPr algn="ctr" fontAlgn="ctr"/>
                      <a:r>
                        <a:rPr lang="en-IN" sz="1600" u="none" strike="noStrike" dirty="0">
                          <a:solidFill>
                            <a:srgbClr val="FF0000"/>
                          </a:solidFill>
                          <a:effectLst/>
                          <a:latin typeface="Times New Roman" panose="02020603050405020304" pitchFamily="18" charset="0"/>
                          <a:cs typeface="Times New Roman" panose="02020603050405020304" pitchFamily="18" charset="0"/>
                        </a:rPr>
                        <a:t>Vancouver</a:t>
                      </a:r>
                      <a:endParaRPr lang="en-IN"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Numbered (Reference List)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Authors' initials followed by last name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Year in the reference list</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IN" sz="1600" u="none" strike="noStrike">
                          <a:effectLst/>
                          <a:latin typeface="Times New Roman" panose="02020603050405020304" pitchFamily="18" charset="0"/>
                          <a:cs typeface="Times New Roman" panose="02020603050405020304" pitchFamily="18" charset="0"/>
                        </a:rPr>
                        <a:t>Article/book titles in italics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c>
                  <a:txBody>
                    <a:bodyPr/>
                    <a:lstStyle/>
                    <a:p>
                      <a:pPr algn="l" fontAlgn="ctr"/>
                      <a:r>
                        <a:rPr lang="en-US" sz="1600" u="none" strike="noStrike" dirty="0">
                          <a:effectLst/>
                          <a:latin typeface="Times New Roman" panose="02020603050405020304" pitchFamily="18" charset="0"/>
                          <a:cs typeface="Times New Roman" panose="02020603050405020304" pitchFamily="18" charset="0"/>
                        </a:rPr>
                        <a:t>Author(s). Title of article. Journal Title. </a:t>
                      </a:r>
                      <a:r>
                        <a:rPr lang="en-US" sz="1600" u="none" strike="noStrike" dirty="0" err="1">
                          <a:effectLst/>
                          <a:latin typeface="Times New Roman" panose="02020603050405020304" pitchFamily="18" charset="0"/>
                          <a:cs typeface="Times New Roman" panose="02020603050405020304" pitchFamily="18" charset="0"/>
                        </a:rPr>
                        <a:t>Year;Volume</a:t>
                      </a:r>
                      <a:r>
                        <a:rPr lang="en-US" sz="1600" u="none" strike="noStrike" dirty="0">
                          <a:effectLst/>
                          <a:latin typeface="Times New Roman" panose="02020603050405020304" pitchFamily="18" charset="0"/>
                          <a:cs typeface="Times New Roman" panose="02020603050405020304" pitchFamily="18" charset="0"/>
                        </a:rPr>
                        <a:t>(Issue):pages.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802" marR="8802" marT="8802" marB="0" anchor="ctr"/>
                </a:tc>
              </a:tr>
            </a:tbl>
          </a:graphicData>
        </a:graphic>
      </p:graphicFrame>
    </p:spTree>
    <p:extLst>
      <p:ext uri="{BB962C8B-B14F-4D97-AF65-F5344CB8AC3E}">
        <p14:creationId xmlns:p14="http://schemas.microsoft.com/office/powerpoint/2010/main" val="282366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476312271"/>
              </p:ext>
            </p:extLst>
          </p:nvPr>
        </p:nvGraphicFramePr>
        <p:xfrm>
          <a:off x="0" y="0"/>
          <a:ext cx="12192000" cy="6857999"/>
        </p:xfrm>
        <a:graphic>
          <a:graphicData uri="http://schemas.openxmlformats.org/drawingml/2006/table">
            <a:tbl>
              <a:tblPr>
                <a:tableStyleId>{5C22544A-7EE6-4342-B048-85BDC9FD1C3A}</a:tableStyleId>
              </a:tblPr>
              <a:tblGrid>
                <a:gridCol w="2442276"/>
                <a:gridCol w="2907473"/>
                <a:gridCol w="6842251"/>
              </a:tblGrid>
              <a:tr h="260408">
                <a:tc>
                  <a:txBody>
                    <a:bodyPr/>
                    <a:lstStyle/>
                    <a:p>
                      <a:pPr algn="ctr" fontAlgn="ctr"/>
                      <a:r>
                        <a:rPr lang="en-IN" sz="1600" b="1" u="none" strike="noStrike" dirty="0">
                          <a:effectLst/>
                        </a:rPr>
                        <a:t>Citation Style</a:t>
                      </a:r>
                      <a:endParaRPr lang="en-IN" sz="1600" b="1" i="0" u="none" strike="noStrike" dirty="0">
                        <a:solidFill>
                          <a:srgbClr val="FFFFFF"/>
                        </a:solidFill>
                        <a:effectLst/>
                        <a:latin typeface="Calibri" panose="020F0502020204030204" pitchFamily="34" charset="0"/>
                      </a:endParaRPr>
                    </a:p>
                  </a:txBody>
                  <a:tcPr marL="8058" marR="8058" marT="8058" marB="0" anchor="ctr"/>
                </a:tc>
                <a:tc>
                  <a:txBody>
                    <a:bodyPr/>
                    <a:lstStyle/>
                    <a:p>
                      <a:pPr algn="ctr" fontAlgn="ctr"/>
                      <a:r>
                        <a:rPr lang="en-IN" sz="1600" b="1" u="none" strike="noStrike">
                          <a:effectLst/>
                        </a:rPr>
                        <a:t>In-Text Citation</a:t>
                      </a:r>
                      <a:endParaRPr lang="en-IN" sz="1600" b="1" i="0" u="none" strike="noStrike">
                        <a:solidFill>
                          <a:srgbClr val="FFFFFF"/>
                        </a:solidFill>
                        <a:effectLst/>
                        <a:latin typeface="Calibri" panose="020F0502020204030204" pitchFamily="34" charset="0"/>
                      </a:endParaRPr>
                    </a:p>
                  </a:txBody>
                  <a:tcPr marL="8058" marR="8058" marT="8058" marB="0" anchor="ctr"/>
                </a:tc>
                <a:tc>
                  <a:txBody>
                    <a:bodyPr/>
                    <a:lstStyle/>
                    <a:p>
                      <a:pPr algn="ctr" fontAlgn="ctr"/>
                      <a:r>
                        <a:rPr lang="en-IN" sz="1600" b="1" u="none" strike="noStrike" dirty="0">
                          <a:effectLst/>
                        </a:rPr>
                        <a:t>Reference List Format</a:t>
                      </a:r>
                      <a:endParaRPr lang="en-IN" sz="1600" b="1" i="0" u="none" strike="noStrike" dirty="0">
                        <a:solidFill>
                          <a:srgbClr val="FFFFFF"/>
                        </a:solidFill>
                        <a:effectLst/>
                        <a:latin typeface="Calibri" panose="020F0502020204030204" pitchFamily="34" charset="0"/>
                      </a:endParaRPr>
                    </a:p>
                  </a:txBody>
                  <a:tcPr marL="8058" marR="8058" marT="8058" marB="0" anchor="ctr"/>
                </a:tc>
              </a:tr>
              <a:tr h="1148860">
                <a:tc>
                  <a:txBody>
                    <a:bodyPr/>
                    <a:lstStyle/>
                    <a:p>
                      <a:pPr algn="l" fontAlgn="ctr"/>
                      <a:r>
                        <a:rPr lang="en-IN" sz="1600" u="none" strike="noStrike">
                          <a:solidFill>
                            <a:srgbClr val="FF0000"/>
                          </a:solidFill>
                          <a:effectLst/>
                        </a:rPr>
                        <a:t>APA (7th Edition)</a:t>
                      </a:r>
                      <a:endParaRPr lang="en-IN" sz="1600" b="1" i="0" u="none" strike="noStrike">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(T Rekha, Prakash Bindu, S Asna, S Dinesh, &amp; S Prasad Nandana, 2015)</a:t>
                      </a:r>
                      <a:endParaRPr lang="en-IN" sz="1600" b="0" i="0" u="none" strike="noStrike">
                        <a:solidFill>
                          <a:srgbClr val="000000"/>
                        </a:solidFill>
                        <a:effectLst/>
                        <a:latin typeface="Calibri" panose="020F0502020204030204" pitchFamily="34" charset="0"/>
                      </a:endParaRPr>
                    </a:p>
                  </a:txBody>
                  <a:tcPr marL="8058" marR="8058" marT="8058" marB="0" anchor="ctr"/>
                </a:tc>
                <a:tc>
                  <a:txBody>
                    <a:bodyPr/>
                    <a:lstStyle/>
                    <a:p>
                      <a:pPr algn="l" fontAlgn="ctr"/>
                      <a:r>
                        <a:rPr lang="en-IN" sz="1600" u="none" strike="noStrike" dirty="0" err="1">
                          <a:effectLst/>
                        </a:rPr>
                        <a:t>Rekha</a:t>
                      </a:r>
                      <a:r>
                        <a:rPr lang="en-IN" sz="1600" u="none" strike="noStrike" dirty="0">
                          <a:effectLst/>
                        </a:rPr>
                        <a:t>, T., Prakash </a:t>
                      </a:r>
                      <a:r>
                        <a:rPr lang="en-IN" sz="1600" u="none" strike="noStrike" dirty="0" err="1">
                          <a:effectLst/>
                        </a:rPr>
                        <a:t>Bindu</a:t>
                      </a:r>
                      <a:r>
                        <a:rPr lang="en-IN" sz="1600" u="none" strike="noStrike" dirty="0">
                          <a:effectLst/>
                        </a:rPr>
                        <a:t>, S., </a:t>
                      </a:r>
                      <a:r>
                        <a:rPr lang="en-IN" sz="1600" u="none" strike="noStrike" dirty="0" err="1">
                          <a:effectLst/>
                        </a:rPr>
                        <a:t>Asna</a:t>
                      </a:r>
                      <a:r>
                        <a:rPr lang="en-IN" sz="1600" u="none" strike="noStrike" dirty="0">
                          <a:effectLst/>
                        </a:rPr>
                        <a:t>, S., Dinesh, S., &amp; </a:t>
                      </a:r>
                      <a:r>
                        <a:rPr lang="en-IN" sz="1600" u="none" strike="noStrike" dirty="0" err="1">
                          <a:effectLst/>
                        </a:rPr>
                        <a:t>Nandana</a:t>
                      </a:r>
                      <a:r>
                        <a:rPr lang="en-IN" sz="1600" u="none" strike="noStrike" dirty="0">
                          <a:effectLst/>
                        </a:rPr>
                        <a:t>, S.P. (2015). An intelligent method for load sharing of transformers with temperature monitoring and automatic correction of power factor. International Journal of Engineering Sciences Research Technology, 4(3), 416-421.</a:t>
                      </a:r>
                      <a:endParaRPr lang="en-IN" sz="1600" b="0" i="0" u="none" strike="noStrike" dirty="0">
                        <a:solidFill>
                          <a:srgbClr val="000000"/>
                        </a:solidFill>
                        <a:effectLst/>
                        <a:latin typeface="Calibri" panose="020F0502020204030204" pitchFamily="34" charset="0"/>
                      </a:endParaRPr>
                    </a:p>
                  </a:txBody>
                  <a:tcPr marL="8058" marR="8058" marT="8058" marB="0" anchor="ctr"/>
                </a:tc>
              </a:tr>
              <a:tr h="1148860">
                <a:tc>
                  <a:txBody>
                    <a:bodyPr/>
                    <a:lstStyle/>
                    <a:p>
                      <a:pPr algn="l" fontAlgn="ctr"/>
                      <a:r>
                        <a:rPr lang="en-IN" sz="1600" u="none" strike="noStrike">
                          <a:solidFill>
                            <a:srgbClr val="FF0000"/>
                          </a:solidFill>
                          <a:effectLst/>
                        </a:rPr>
                        <a:t>MLA (9th Edition)</a:t>
                      </a:r>
                      <a:endParaRPr lang="en-IN" sz="1600" b="1" i="0" u="none" strike="noStrike">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(Rekha et al. 416)</a:t>
                      </a:r>
                      <a:endParaRPr lang="en-IN" sz="1600" b="0" i="0" u="none" strike="noStrike">
                        <a:solidFill>
                          <a:srgbClr val="00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Rekha, T., Prakash Bindu, S. Asna, S. Dinesh, and S. Prasad Nandana. "An Intelligent Method for Load Sharing of Transformers with Temperature Monitoring and Automatic Correction of Power Factor." International Journal of Engineering Sciences Research Technology, vol. 4, no. 3, 2015, pp. 416-421.</a:t>
                      </a:r>
                      <a:endParaRPr lang="en-IN" sz="1600" b="0" i="0" u="none" strike="noStrike">
                        <a:solidFill>
                          <a:srgbClr val="000000"/>
                        </a:solidFill>
                        <a:effectLst/>
                        <a:latin typeface="Calibri" panose="020F0502020204030204" pitchFamily="34" charset="0"/>
                      </a:endParaRPr>
                    </a:p>
                  </a:txBody>
                  <a:tcPr marL="8058" marR="8058" marT="8058" marB="0" anchor="ctr"/>
                </a:tc>
              </a:tr>
              <a:tr h="1148860">
                <a:tc>
                  <a:txBody>
                    <a:bodyPr/>
                    <a:lstStyle/>
                    <a:p>
                      <a:pPr algn="l" fontAlgn="ctr"/>
                      <a:r>
                        <a:rPr lang="en-IN" sz="1600" u="none" strike="noStrike">
                          <a:solidFill>
                            <a:srgbClr val="FF0000"/>
                          </a:solidFill>
                          <a:effectLst/>
                        </a:rPr>
                        <a:t>Chicago/Turabian (Author-Date)</a:t>
                      </a:r>
                      <a:endParaRPr lang="en-IN" sz="1600" b="1" i="0" u="none" strike="noStrike">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(Rekha et al. 2015, 416)</a:t>
                      </a:r>
                      <a:endParaRPr lang="en-IN" sz="1600" b="0" i="0" u="none" strike="noStrike">
                        <a:solidFill>
                          <a:srgbClr val="000000"/>
                        </a:solidFill>
                        <a:effectLst/>
                        <a:latin typeface="Calibri" panose="020F0502020204030204" pitchFamily="34" charset="0"/>
                      </a:endParaRPr>
                    </a:p>
                  </a:txBody>
                  <a:tcPr marL="8058" marR="8058" marT="8058" marB="0" anchor="ctr"/>
                </a:tc>
                <a:tc>
                  <a:txBody>
                    <a:bodyPr/>
                    <a:lstStyle/>
                    <a:p>
                      <a:pPr algn="l" fontAlgn="ctr"/>
                      <a:r>
                        <a:rPr lang="en-US" sz="1600" u="none" strike="noStrike">
                          <a:effectLst/>
                        </a:rPr>
                        <a:t>Rekha, T., Prakash Bindu, S. Asna, S. Dinesh, and S. Prasad Nandana. 2015. "An Intelligent Method for Load Sharing of Transformers with Temperature Monitoring and Automatic Correction of Power Factor." International Journal of Engineering Sciences Research Technology 4 (3): 416-421.</a:t>
                      </a:r>
                      <a:endParaRPr lang="en-US" sz="1600" b="0" i="0" u="none" strike="noStrike">
                        <a:solidFill>
                          <a:srgbClr val="000000"/>
                        </a:solidFill>
                        <a:effectLst/>
                        <a:latin typeface="Calibri" panose="020F0502020204030204" pitchFamily="34" charset="0"/>
                      </a:endParaRPr>
                    </a:p>
                  </a:txBody>
                  <a:tcPr marL="8058" marR="8058" marT="8058" marB="0" anchor="ctr"/>
                </a:tc>
              </a:tr>
              <a:tr h="1148860">
                <a:tc>
                  <a:txBody>
                    <a:bodyPr/>
                    <a:lstStyle/>
                    <a:p>
                      <a:pPr algn="l" fontAlgn="ctr"/>
                      <a:r>
                        <a:rPr lang="en-IN" sz="1600" u="none" strike="noStrike" dirty="0">
                          <a:solidFill>
                            <a:srgbClr val="FF0000"/>
                          </a:solidFill>
                          <a:effectLst/>
                        </a:rPr>
                        <a:t>Harvard</a:t>
                      </a:r>
                      <a:endParaRPr lang="en-IN" sz="1600" b="1" i="0" u="none" strike="noStrike" dirty="0">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(Rekha et al., 2015)</a:t>
                      </a:r>
                      <a:endParaRPr lang="en-IN" sz="1600" b="0" i="0" u="none" strike="noStrike">
                        <a:solidFill>
                          <a:srgbClr val="00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Rekha, T., Prakash Bindu, S., Asna, S., Dinesh, S. and Nandana, S.P., 2015. An intelligent method for load sharing of transformers with temperature monitoring and automatic correction of power factor. International Journal of Engineering Sciences Research Technology, 4(3), pp. 416-421.</a:t>
                      </a:r>
                      <a:endParaRPr lang="en-IN" sz="1600" b="0" i="0" u="none" strike="noStrike">
                        <a:solidFill>
                          <a:srgbClr val="000000"/>
                        </a:solidFill>
                        <a:effectLst/>
                        <a:latin typeface="Calibri" panose="020F0502020204030204" pitchFamily="34" charset="0"/>
                      </a:endParaRPr>
                    </a:p>
                  </a:txBody>
                  <a:tcPr marL="8058" marR="8058" marT="8058" marB="0" anchor="ctr"/>
                </a:tc>
              </a:tr>
              <a:tr h="1016642">
                <a:tc>
                  <a:txBody>
                    <a:bodyPr/>
                    <a:lstStyle/>
                    <a:p>
                      <a:pPr algn="l" fontAlgn="ctr"/>
                      <a:r>
                        <a:rPr lang="en-IN" sz="1600" u="none" strike="noStrike">
                          <a:solidFill>
                            <a:srgbClr val="FF0000"/>
                          </a:solidFill>
                          <a:effectLst/>
                        </a:rPr>
                        <a:t>IEEE</a:t>
                      </a:r>
                      <a:endParaRPr lang="en-IN" sz="1600" b="1" i="0" u="none" strike="noStrike">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[1]</a:t>
                      </a:r>
                      <a:endParaRPr lang="en-IN" sz="1600" b="0" i="0" u="none" strike="noStrike">
                        <a:solidFill>
                          <a:srgbClr val="000000"/>
                        </a:solidFill>
                        <a:effectLst/>
                        <a:latin typeface="Calibri" panose="020F0502020204030204" pitchFamily="34" charset="0"/>
                      </a:endParaRPr>
                    </a:p>
                  </a:txBody>
                  <a:tcPr marL="8058" marR="8058" marT="8058" marB="0" anchor="ctr"/>
                </a:tc>
                <a:tc>
                  <a:txBody>
                    <a:bodyPr/>
                    <a:lstStyle/>
                    <a:p>
                      <a:pPr algn="l" fontAlgn="ctr"/>
                      <a:r>
                        <a:rPr lang="en-IN" sz="1600" u="none" strike="noStrike">
                          <a:effectLst/>
                        </a:rPr>
                        <a:t>[1] T. Rekha, P. Bindu, S. Asna, S. Dinesh, and S. Prasad Nandana, "An intelligent method for load sharing of transformers with temperature monitoring and automatic correction of power factor," Int. J. Eng. Sci. Res. Technol., vol. 4, no. 3, pp. 416-421, 2015.</a:t>
                      </a:r>
                      <a:endParaRPr lang="en-IN" sz="1600" b="0" i="0" u="none" strike="noStrike">
                        <a:solidFill>
                          <a:srgbClr val="000000"/>
                        </a:solidFill>
                        <a:effectLst/>
                        <a:latin typeface="Calibri" panose="020F0502020204030204" pitchFamily="34" charset="0"/>
                      </a:endParaRPr>
                    </a:p>
                  </a:txBody>
                  <a:tcPr marL="8058" marR="8058" marT="8058" marB="0" anchor="ctr"/>
                </a:tc>
              </a:tr>
              <a:tr h="985509">
                <a:tc>
                  <a:txBody>
                    <a:bodyPr/>
                    <a:lstStyle/>
                    <a:p>
                      <a:pPr algn="l" fontAlgn="ctr"/>
                      <a:r>
                        <a:rPr lang="en-IN" sz="1600" u="none" strike="noStrike" dirty="0">
                          <a:solidFill>
                            <a:srgbClr val="FF0000"/>
                          </a:solidFill>
                          <a:effectLst/>
                        </a:rPr>
                        <a:t>Vancouver</a:t>
                      </a:r>
                      <a:endParaRPr lang="en-IN" sz="1600" b="1" i="0" u="none" strike="noStrike" dirty="0">
                        <a:solidFill>
                          <a:srgbClr val="FF0000"/>
                        </a:solidFill>
                        <a:effectLst/>
                        <a:latin typeface="Calibri" panose="020F0502020204030204" pitchFamily="34" charset="0"/>
                      </a:endParaRPr>
                    </a:p>
                  </a:txBody>
                  <a:tcPr marL="8058" marR="8058" marT="8058" marB="0" anchor="ctr"/>
                </a:tc>
                <a:tc>
                  <a:txBody>
                    <a:bodyPr/>
                    <a:lstStyle/>
                    <a:p>
                      <a:pPr algn="l" fontAlgn="ctr"/>
                      <a:r>
                        <a:rPr lang="en-IN" sz="1600" u="none" strike="noStrike" dirty="0">
                          <a:effectLst/>
                        </a:rPr>
                        <a:t>1</a:t>
                      </a:r>
                      <a:endParaRPr lang="en-IN" sz="1600" b="0" i="0" u="none" strike="noStrike" dirty="0">
                        <a:solidFill>
                          <a:srgbClr val="000000"/>
                        </a:solidFill>
                        <a:effectLst/>
                        <a:latin typeface="Calibri" panose="020F0502020204030204" pitchFamily="34" charset="0"/>
                      </a:endParaRPr>
                    </a:p>
                  </a:txBody>
                  <a:tcPr marL="8058" marR="8058" marT="8058" marB="0" anchor="ctr"/>
                </a:tc>
                <a:tc>
                  <a:txBody>
                    <a:bodyPr/>
                    <a:lstStyle/>
                    <a:p>
                      <a:pPr algn="l" fontAlgn="ctr"/>
                      <a:r>
                        <a:rPr lang="en-US" sz="1600" u="none" strike="noStrike" dirty="0">
                          <a:effectLst/>
                        </a:rPr>
                        <a:t>1. </a:t>
                      </a:r>
                      <a:r>
                        <a:rPr lang="en-US" sz="1600" u="none" strike="noStrike" dirty="0" err="1">
                          <a:effectLst/>
                        </a:rPr>
                        <a:t>Rekha</a:t>
                      </a:r>
                      <a:r>
                        <a:rPr lang="en-US" sz="1600" u="none" strike="noStrike" dirty="0">
                          <a:effectLst/>
                        </a:rPr>
                        <a:t> T, </a:t>
                      </a:r>
                      <a:r>
                        <a:rPr lang="en-US" sz="1600" u="none" strike="noStrike" dirty="0" err="1">
                          <a:effectLst/>
                        </a:rPr>
                        <a:t>Bindu</a:t>
                      </a:r>
                      <a:r>
                        <a:rPr lang="en-US" sz="1600" u="none" strike="noStrike" dirty="0">
                          <a:effectLst/>
                        </a:rPr>
                        <a:t> P, </a:t>
                      </a:r>
                      <a:r>
                        <a:rPr lang="en-US" sz="1600" u="none" strike="noStrike" dirty="0" err="1">
                          <a:effectLst/>
                        </a:rPr>
                        <a:t>Asna</a:t>
                      </a:r>
                      <a:r>
                        <a:rPr lang="en-US" sz="1600" u="none" strike="noStrike" dirty="0">
                          <a:effectLst/>
                        </a:rPr>
                        <a:t> S, Dinesh S, </a:t>
                      </a:r>
                      <a:r>
                        <a:rPr lang="en-US" sz="1600" u="none" strike="noStrike" dirty="0" err="1">
                          <a:effectLst/>
                        </a:rPr>
                        <a:t>Nandana</a:t>
                      </a:r>
                      <a:r>
                        <a:rPr lang="en-US" sz="1600" u="none" strike="noStrike" dirty="0">
                          <a:effectLst/>
                        </a:rPr>
                        <a:t> SP. An intelligent method for load sharing of transformers with temperature monitoring and automatic correction of power factor. </a:t>
                      </a:r>
                      <a:r>
                        <a:rPr lang="en-US" sz="1600" u="none" strike="noStrike" dirty="0" err="1">
                          <a:effectLst/>
                        </a:rPr>
                        <a:t>Int</a:t>
                      </a:r>
                      <a:r>
                        <a:rPr lang="en-US" sz="1600" u="none" strike="noStrike" dirty="0">
                          <a:effectLst/>
                        </a:rPr>
                        <a:t> J </a:t>
                      </a:r>
                      <a:r>
                        <a:rPr lang="en-US" sz="1600" u="none" strike="noStrike" dirty="0" err="1">
                          <a:effectLst/>
                        </a:rPr>
                        <a:t>Eng</a:t>
                      </a:r>
                      <a:r>
                        <a:rPr lang="en-US" sz="1600" u="none" strike="noStrike" dirty="0">
                          <a:effectLst/>
                        </a:rPr>
                        <a:t> </a:t>
                      </a:r>
                      <a:r>
                        <a:rPr lang="en-US" sz="1600" u="none" strike="noStrike" dirty="0" err="1">
                          <a:effectLst/>
                        </a:rPr>
                        <a:t>Sci</a:t>
                      </a:r>
                      <a:r>
                        <a:rPr lang="en-US" sz="1600" u="none" strike="noStrike" dirty="0">
                          <a:effectLst/>
                        </a:rPr>
                        <a:t> Res Technol. 2015;4(3):416-421.</a:t>
                      </a:r>
                      <a:endParaRPr lang="en-US" sz="1600" b="0" i="0" u="none" strike="noStrike" dirty="0">
                        <a:solidFill>
                          <a:srgbClr val="000000"/>
                        </a:solidFill>
                        <a:effectLst/>
                        <a:latin typeface="Calibri" panose="020F0502020204030204" pitchFamily="34" charset="0"/>
                      </a:endParaRPr>
                    </a:p>
                  </a:txBody>
                  <a:tcPr marL="8058" marR="8058" marT="8058" marB="0" anchor="ctr"/>
                </a:tc>
              </a:tr>
            </a:tbl>
          </a:graphicData>
        </a:graphic>
      </p:graphicFrame>
    </p:spTree>
    <p:extLst>
      <p:ext uri="{BB962C8B-B14F-4D97-AF65-F5344CB8AC3E}">
        <p14:creationId xmlns:p14="http://schemas.microsoft.com/office/powerpoint/2010/main" val="4011445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13" y="136526"/>
            <a:ext cx="10515600" cy="1035050"/>
          </a:xfrm>
        </p:spPr>
        <p:txBody>
          <a:bodyPr>
            <a:normAutofit fontScale="90000"/>
          </a:bodyPr>
          <a:lstStyle/>
          <a:p>
            <a:r>
              <a:rPr lang="en-US" b="1" dirty="0" smtClean="0"/>
              <a:t>Key Features:</a:t>
            </a:r>
            <a:br>
              <a:rPr lang="en-US" b="1" dirty="0" smtClean="0"/>
            </a:br>
            <a:endParaRPr lang="en-IN" dirty="0"/>
          </a:p>
        </p:txBody>
      </p:sp>
      <p:sp>
        <p:nvSpPr>
          <p:cNvPr id="3" name="Content Placeholder 2"/>
          <p:cNvSpPr>
            <a:spLocks noGrp="1"/>
          </p:cNvSpPr>
          <p:nvPr>
            <p:ph idx="1"/>
          </p:nvPr>
        </p:nvSpPr>
        <p:spPr>
          <a:xfrm>
            <a:off x="295275" y="896937"/>
            <a:ext cx="11277600" cy="5589587"/>
          </a:xfrm>
        </p:spPr>
        <p:txBody>
          <a:bodyPr>
            <a:normAutofit fontScale="92500" lnSpcReduction="20000"/>
          </a:bodyPr>
          <a:lstStyle/>
          <a:p>
            <a:r>
              <a:rPr lang="en-US" b="1" dirty="0" smtClean="0"/>
              <a:t>In-Text Citation:</a:t>
            </a:r>
            <a:endParaRPr lang="en-US" dirty="0" smtClean="0"/>
          </a:p>
          <a:p>
            <a:pPr lvl="1"/>
            <a:r>
              <a:rPr lang="en-US" dirty="0" smtClean="0"/>
              <a:t>APA, MLA, Harvard, and Chicago/</a:t>
            </a:r>
            <a:r>
              <a:rPr lang="en-US" dirty="0" err="1" smtClean="0"/>
              <a:t>Turabian</a:t>
            </a:r>
            <a:r>
              <a:rPr lang="en-US" dirty="0" smtClean="0"/>
              <a:t> (Author-Date) use author(s) and year in the citation.</a:t>
            </a:r>
          </a:p>
          <a:p>
            <a:pPr lvl="1"/>
            <a:r>
              <a:rPr lang="en-US" dirty="0" smtClean="0"/>
              <a:t>IEEE and Vancouver use numbered citations that correspond to the reference list.</a:t>
            </a:r>
          </a:p>
          <a:p>
            <a:r>
              <a:rPr lang="en-US" b="1" dirty="0" smtClean="0"/>
              <a:t>Author Format:</a:t>
            </a:r>
            <a:endParaRPr lang="en-US" dirty="0" smtClean="0"/>
          </a:p>
          <a:p>
            <a:pPr lvl="1"/>
            <a:r>
              <a:rPr lang="en-US" dirty="0" smtClean="0"/>
              <a:t>Most styles (APA, MLA, Harvard, and Chicago/</a:t>
            </a:r>
            <a:r>
              <a:rPr lang="en-US" dirty="0" err="1" smtClean="0"/>
              <a:t>Turabian</a:t>
            </a:r>
            <a:r>
              <a:rPr lang="en-US" dirty="0" smtClean="0"/>
              <a:t>) list the last name first.</a:t>
            </a:r>
          </a:p>
          <a:p>
            <a:pPr lvl="1"/>
            <a:r>
              <a:rPr lang="en-US" dirty="0" smtClean="0"/>
              <a:t>IEEE and Vancouver use initials for authors before their last name.</a:t>
            </a:r>
          </a:p>
          <a:p>
            <a:r>
              <a:rPr lang="en-US" b="1" dirty="0" smtClean="0"/>
              <a:t>Publication Year Placement:</a:t>
            </a:r>
            <a:endParaRPr lang="en-US" dirty="0" smtClean="0"/>
          </a:p>
          <a:p>
            <a:pPr lvl="1"/>
            <a:r>
              <a:rPr lang="en-US" dirty="0" smtClean="0"/>
              <a:t>APA, MLA, Harvard, and Chicago/</a:t>
            </a:r>
            <a:r>
              <a:rPr lang="en-US" dirty="0" err="1" smtClean="0"/>
              <a:t>Turabian</a:t>
            </a:r>
            <a:r>
              <a:rPr lang="en-US" dirty="0" smtClean="0"/>
              <a:t> put the year directly after the author.</a:t>
            </a:r>
          </a:p>
          <a:p>
            <a:pPr lvl="1"/>
            <a:r>
              <a:rPr lang="en-US" dirty="0" smtClean="0"/>
              <a:t>IEEE uses numbers instead of year, and Vancouver places the year in the reference list.</a:t>
            </a:r>
          </a:p>
          <a:p>
            <a:r>
              <a:rPr lang="en-US" b="1" dirty="0" smtClean="0"/>
              <a:t>Title Formatting:</a:t>
            </a:r>
            <a:endParaRPr lang="en-US" dirty="0" smtClean="0"/>
          </a:p>
          <a:p>
            <a:pPr lvl="1"/>
            <a:r>
              <a:rPr lang="en-US" dirty="0" smtClean="0"/>
              <a:t>APA, MLA, and Harvard italicize titles of journals or books, while IEEE and Vancouver italicize the journal/book title but might use quotes for chapters or articles.</a:t>
            </a:r>
          </a:p>
          <a:p>
            <a:r>
              <a:rPr lang="en-US" b="1" dirty="0" smtClean="0"/>
              <a:t>Reference List Format:</a:t>
            </a:r>
            <a:endParaRPr lang="en-US" dirty="0" smtClean="0"/>
          </a:p>
          <a:p>
            <a:pPr lvl="1"/>
            <a:r>
              <a:rPr lang="en-US" dirty="0" smtClean="0"/>
              <a:t>APA, MLA, Harvard, and Chicago/</a:t>
            </a:r>
            <a:r>
              <a:rPr lang="en-US" dirty="0" err="1" smtClean="0"/>
              <a:t>Turabian</a:t>
            </a:r>
            <a:r>
              <a:rPr lang="en-US" dirty="0" smtClean="0"/>
              <a:t> provide full citation details including author, title, and publication info in a structured format.</a:t>
            </a:r>
          </a:p>
          <a:p>
            <a:pPr lvl="1"/>
            <a:r>
              <a:rPr lang="en-US" dirty="0" smtClean="0"/>
              <a:t>IEEE and Vancouver use a numbered reference system, listing all citations in order.</a:t>
            </a:r>
          </a:p>
          <a:p>
            <a:endParaRPr lang="en-IN" dirty="0"/>
          </a:p>
        </p:txBody>
      </p:sp>
    </p:spTree>
    <p:extLst>
      <p:ext uri="{BB962C8B-B14F-4D97-AF65-F5344CB8AC3E}">
        <p14:creationId xmlns:p14="http://schemas.microsoft.com/office/powerpoint/2010/main" val="3732236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media.istockphoto.com/id/1397892955/photo/thank-you-message-for-card-presentation-business-expressing-gratitude-acknowledgment-and.jpg?s=1024x1024&amp;w=is&amp;k=20&amp;c=12HZniAEULRWBxpJwlBmmf3EkhfWZRE12GtngdYz740="/>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5938" b="56250" l="23145" r="82520">
                        <a14:foregroundMark x1="24609" y1="42188" x2="24609" y2="42188"/>
                        <a14:foregroundMark x1="27832" y1="42708" x2="27832" y2="42708"/>
                        <a14:foregroundMark x1="31836" y1="44965" x2="31836" y2="44965"/>
                        <a14:foregroundMark x1="38086" y1="45486" x2="38086" y2="45486"/>
                        <a14:foregroundMark x1="49414" y1="44444" x2="49414" y2="44444"/>
                        <a14:foregroundMark x1="57910" y1="42708" x2="57910" y2="42708"/>
                        <a14:foregroundMark x1="62891" y1="47917" x2="62891" y2="47917"/>
                        <a14:foregroundMark x1="64355" y1="45486" x2="64355" y2="45486"/>
                        <a14:foregroundMark x1="67285" y1="43924" x2="67285" y2="43924"/>
                        <a14:foregroundMark x1="73242" y1="42361" x2="73242" y2="42361"/>
                        <a14:foregroundMark x1="73730" y1="49132" x2="73730" y2="49132"/>
                        <a14:foregroundMark x1="77832" y1="50000" x2="77832" y2="50000"/>
                        <a14:foregroundMark x1="73828" y1="54340" x2="73828" y2="54340"/>
                      </a14:backgroundRemoval>
                    </a14:imgEffect>
                  </a14:imgLayer>
                </a14:imgProps>
              </a:ext>
              <a:ext uri="{28A0092B-C50C-407E-A947-70E740481C1C}">
                <a14:useLocalDpi xmlns:a14="http://schemas.microsoft.com/office/drawing/2010/main" val="0"/>
              </a:ext>
            </a:extLst>
          </a:blip>
          <a:srcRect/>
          <a:stretch>
            <a:fillRect/>
          </a:stretch>
        </p:blipFill>
        <p:spPr bwMode="auto">
          <a:xfrm>
            <a:off x="784225" y="628651"/>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40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2152</Words>
  <Application>Microsoft Office PowerPoint</Application>
  <PresentationFormat>Widescreen</PresentationFormat>
  <Paragraphs>199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Different Styles  of  Referencing</vt:lpstr>
      <vt:lpstr>Referencing Component :</vt:lpstr>
      <vt:lpstr>Referencing Example</vt:lpstr>
      <vt:lpstr>Referencing Example</vt:lpstr>
      <vt:lpstr>Different styles of referencing. </vt:lpstr>
      <vt:lpstr>PowerPoint Presentation</vt:lpstr>
      <vt:lpstr>1. APA (American Psychological Association) </vt:lpstr>
      <vt:lpstr>2. MLA (Modern Language Association) </vt:lpstr>
      <vt:lpstr>3. Chicago/Turabian (Chicago Manual of Style) </vt:lpstr>
      <vt:lpstr>4. Harvard Style</vt:lpstr>
      <vt:lpstr>5. IEEE Style</vt:lpstr>
      <vt:lpstr>6. Vancouver</vt:lpstr>
      <vt:lpstr>PowerPoint Presentation</vt:lpstr>
      <vt:lpstr>PowerPoint Presentation</vt:lpstr>
      <vt:lpstr>Key Features: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styles of referencing. </dc:title>
  <dc:creator>Microsoft account</dc:creator>
  <cp:lastModifiedBy>Microsoft account</cp:lastModifiedBy>
  <cp:revision>14</cp:revision>
  <dcterms:created xsi:type="dcterms:W3CDTF">2024-12-12T09:10:41Z</dcterms:created>
  <dcterms:modified xsi:type="dcterms:W3CDTF">2024-12-12T10:18:15Z</dcterms:modified>
</cp:coreProperties>
</file>