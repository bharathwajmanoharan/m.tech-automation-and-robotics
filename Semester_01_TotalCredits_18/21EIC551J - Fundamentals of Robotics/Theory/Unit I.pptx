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Lst>
  <p:notesMasterIdLst>
    <p:notesMasterId r:id="rId135"/>
  </p:notesMasterIdLst>
  <p:handoutMasterIdLst>
    <p:handoutMasterId r:id="rId136"/>
  </p:handoutMasterIdLst>
  <p:sldIdLst>
    <p:sldId id="256" r:id="rId3"/>
    <p:sldId id="291" r:id="rId4"/>
    <p:sldId id="292" r:id="rId5"/>
    <p:sldId id="296" r:id="rId6"/>
    <p:sldId id="293" r:id="rId7"/>
    <p:sldId id="294" r:id="rId8"/>
    <p:sldId id="295" r:id="rId9"/>
    <p:sldId id="298" r:id="rId10"/>
    <p:sldId id="297" r:id="rId11"/>
    <p:sldId id="273" r:id="rId12"/>
    <p:sldId id="274" r:id="rId13"/>
    <p:sldId id="277" r:id="rId14"/>
    <p:sldId id="278" r:id="rId15"/>
    <p:sldId id="280" r:id="rId16"/>
    <p:sldId id="281" r:id="rId17"/>
    <p:sldId id="282" r:id="rId18"/>
    <p:sldId id="283" r:id="rId19"/>
    <p:sldId id="284" r:id="rId20"/>
    <p:sldId id="285" r:id="rId21"/>
    <p:sldId id="288" r:id="rId22"/>
    <p:sldId id="289" r:id="rId23"/>
    <p:sldId id="353" r:id="rId24"/>
    <p:sldId id="290" r:id="rId25"/>
    <p:sldId id="352" r:id="rId26"/>
    <p:sldId id="359" r:id="rId27"/>
    <p:sldId id="360" r:id="rId28"/>
    <p:sldId id="354" r:id="rId29"/>
    <p:sldId id="355" r:id="rId30"/>
    <p:sldId id="356" r:id="rId31"/>
    <p:sldId id="365" r:id="rId32"/>
    <p:sldId id="366" r:id="rId33"/>
    <p:sldId id="357" r:id="rId34"/>
    <p:sldId id="358" r:id="rId35"/>
    <p:sldId id="335" r:id="rId36"/>
    <p:sldId id="388" r:id="rId37"/>
    <p:sldId id="368" r:id="rId38"/>
    <p:sldId id="367" r:id="rId39"/>
    <p:sldId id="401" r:id="rId40"/>
    <p:sldId id="369" r:id="rId41"/>
    <p:sldId id="370" r:id="rId42"/>
    <p:sldId id="371" r:id="rId43"/>
    <p:sldId id="372" r:id="rId44"/>
    <p:sldId id="390" r:id="rId45"/>
    <p:sldId id="396" r:id="rId46"/>
    <p:sldId id="373" r:id="rId47"/>
    <p:sldId id="374" r:id="rId48"/>
    <p:sldId id="391" r:id="rId49"/>
    <p:sldId id="397" r:id="rId50"/>
    <p:sldId id="375" r:id="rId51"/>
    <p:sldId id="376" r:id="rId52"/>
    <p:sldId id="377" r:id="rId53"/>
    <p:sldId id="392" r:id="rId54"/>
    <p:sldId id="398" r:id="rId55"/>
    <p:sldId id="378" r:id="rId56"/>
    <p:sldId id="379" r:id="rId57"/>
    <p:sldId id="380" r:id="rId58"/>
    <p:sldId id="381" r:id="rId59"/>
    <p:sldId id="382" r:id="rId60"/>
    <p:sldId id="383" r:id="rId61"/>
    <p:sldId id="393" r:id="rId62"/>
    <p:sldId id="399" r:id="rId63"/>
    <p:sldId id="384" r:id="rId64"/>
    <p:sldId id="385" r:id="rId65"/>
    <p:sldId id="400" r:id="rId66"/>
    <p:sldId id="386" r:id="rId67"/>
    <p:sldId id="387" r:id="rId68"/>
    <p:sldId id="394" r:id="rId69"/>
    <p:sldId id="395" r:id="rId70"/>
    <p:sldId id="402" r:id="rId71"/>
    <p:sldId id="403" r:id="rId72"/>
    <p:sldId id="404" r:id="rId73"/>
    <p:sldId id="405" r:id="rId74"/>
    <p:sldId id="406" r:id="rId75"/>
    <p:sldId id="407" r:id="rId76"/>
    <p:sldId id="408" r:id="rId77"/>
    <p:sldId id="409" r:id="rId78"/>
    <p:sldId id="410" r:id="rId79"/>
    <p:sldId id="411" r:id="rId80"/>
    <p:sldId id="412" r:id="rId81"/>
    <p:sldId id="423" r:id="rId82"/>
    <p:sldId id="418" r:id="rId83"/>
    <p:sldId id="413" r:id="rId84"/>
    <p:sldId id="419" r:id="rId85"/>
    <p:sldId id="414" r:id="rId86"/>
    <p:sldId id="415" r:id="rId87"/>
    <p:sldId id="420" r:id="rId88"/>
    <p:sldId id="416" r:id="rId89"/>
    <p:sldId id="421" r:id="rId90"/>
    <p:sldId id="417" r:id="rId91"/>
    <p:sldId id="422" r:id="rId92"/>
    <p:sldId id="424" r:id="rId93"/>
    <p:sldId id="425" r:id="rId94"/>
    <p:sldId id="426" r:id="rId95"/>
    <p:sldId id="427" r:id="rId96"/>
    <p:sldId id="428" r:id="rId97"/>
    <p:sldId id="429" r:id="rId98"/>
    <p:sldId id="430" r:id="rId99"/>
    <p:sldId id="431" r:id="rId100"/>
    <p:sldId id="432" r:id="rId101"/>
    <p:sldId id="433" r:id="rId102"/>
    <p:sldId id="434" r:id="rId103"/>
    <p:sldId id="435" r:id="rId104"/>
    <p:sldId id="436" r:id="rId105"/>
    <p:sldId id="437" r:id="rId106"/>
    <p:sldId id="438" r:id="rId107"/>
    <p:sldId id="439" r:id="rId108"/>
    <p:sldId id="440" r:id="rId109"/>
    <p:sldId id="441" r:id="rId110"/>
    <p:sldId id="442" r:id="rId111"/>
    <p:sldId id="445" r:id="rId112"/>
    <p:sldId id="444" r:id="rId113"/>
    <p:sldId id="446" r:id="rId114"/>
    <p:sldId id="448" r:id="rId115"/>
    <p:sldId id="449" r:id="rId116"/>
    <p:sldId id="450" r:id="rId117"/>
    <p:sldId id="451" r:id="rId118"/>
    <p:sldId id="452" r:id="rId119"/>
    <p:sldId id="463" r:id="rId120"/>
    <p:sldId id="464" r:id="rId121"/>
    <p:sldId id="465" r:id="rId122"/>
    <p:sldId id="453" r:id="rId123"/>
    <p:sldId id="456" r:id="rId124"/>
    <p:sldId id="457" r:id="rId125"/>
    <p:sldId id="458" r:id="rId126"/>
    <p:sldId id="455" r:id="rId127"/>
    <p:sldId id="459" r:id="rId128"/>
    <p:sldId id="460" r:id="rId129"/>
    <p:sldId id="461" r:id="rId130"/>
    <p:sldId id="462" r:id="rId131"/>
    <p:sldId id="361" r:id="rId132"/>
    <p:sldId id="362" r:id="rId133"/>
    <p:sldId id="363" r:id="rId1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0" d="100"/>
          <a:sy n="60" d="100"/>
        </p:scale>
        <p:origin x="1356"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viewProps" Target="viewProp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theme" Target="theme/theme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notesMaster" Target="notesMasters/notesMaster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handoutMaster" Target="handoutMasters/handout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6.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6.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0.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0.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1.png"/></Relationships>
</file>

<file path=ppt/drawings/_rels/vmlDrawing9.v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image" Target="../media/image6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EF10988-EA31-46E6-B876-A383D97AF72E}" type="datetimeFigureOut">
              <a:rPr lang="en-US" smtClean="0"/>
              <a:t>10/29/2020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DEAD9D2-21B9-4ABE-BA35-280E9FEE9DB7}" type="slidenum">
              <a:rPr lang="en-US" smtClean="0"/>
              <a:t>‹#›</a:t>
            </a:fld>
            <a:endParaRPr lang="en-US"/>
          </a:p>
        </p:txBody>
      </p:sp>
    </p:spTree>
    <p:extLst>
      <p:ext uri="{BB962C8B-B14F-4D97-AF65-F5344CB8AC3E}">
        <p14:creationId xmlns:p14="http://schemas.microsoft.com/office/powerpoint/2010/main" val="35806991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945F2C-10BA-44E9-85C3-82AEFBE5CED5}" type="datetimeFigureOut">
              <a:rPr lang="en-US" smtClean="0"/>
              <a:t>10/29/2020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B447868-01C2-4D18-8958-1CD669B0D00E}" type="slidenum">
              <a:rPr lang="en-US" smtClean="0"/>
              <a:t>‹#›</a:t>
            </a:fld>
            <a:endParaRPr lang="en-US"/>
          </a:p>
        </p:txBody>
      </p:sp>
    </p:spTree>
    <p:extLst>
      <p:ext uri="{BB962C8B-B14F-4D97-AF65-F5344CB8AC3E}">
        <p14:creationId xmlns:p14="http://schemas.microsoft.com/office/powerpoint/2010/main" val="2377363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p:spPr>
      </p:sp>
      <p:sp>
        <p:nvSpPr>
          <p:cNvPr id="645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645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E07D656-C425-4130-8681-0B24ACC7371F}" type="slidenum">
              <a:rPr lang="en-US"/>
              <a:pPr/>
              <a:t>12</a:t>
            </a:fld>
            <a:endParaRPr lang="en-US"/>
          </a:p>
        </p:txBody>
      </p:sp>
    </p:spTree>
    <p:extLst>
      <p:ext uri="{BB962C8B-B14F-4D97-AF65-F5344CB8AC3E}">
        <p14:creationId xmlns:p14="http://schemas.microsoft.com/office/powerpoint/2010/main" val="2858926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p:spPr>
      </p:sp>
      <p:sp>
        <p:nvSpPr>
          <p:cNvPr id="6553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655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5E3228A-9DED-4474-B61E-E474CDDB471B}" type="slidenum">
              <a:rPr lang="en-US"/>
              <a:pPr/>
              <a:t>13</a:t>
            </a:fld>
            <a:endParaRPr lang="en-US"/>
          </a:p>
        </p:txBody>
      </p:sp>
    </p:spTree>
    <p:extLst>
      <p:ext uri="{BB962C8B-B14F-4D97-AF65-F5344CB8AC3E}">
        <p14:creationId xmlns:p14="http://schemas.microsoft.com/office/powerpoint/2010/main" val="2584482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p:spPr>
      </p:sp>
      <p:sp>
        <p:nvSpPr>
          <p:cNvPr id="6758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675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BC21409-9C15-476D-B887-6D2CB838D66E}" type="slidenum">
              <a:rPr lang="en-US"/>
              <a:pPr/>
              <a:t>14</a:t>
            </a:fld>
            <a:endParaRPr lang="en-US"/>
          </a:p>
        </p:txBody>
      </p:sp>
    </p:spTree>
    <p:extLst>
      <p:ext uri="{BB962C8B-B14F-4D97-AF65-F5344CB8AC3E}">
        <p14:creationId xmlns:p14="http://schemas.microsoft.com/office/powerpoint/2010/main" val="3524021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p:spPr>
      </p:sp>
      <p:sp>
        <p:nvSpPr>
          <p:cNvPr id="6861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686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09CB278-AB27-4335-BAEF-12B4B111FA02}" type="slidenum">
              <a:rPr lang="en-US"/>
              <a:pPr/>
              <a:t>15</a:t>
            </a:fld>
            <a:endParaRPr lang="en-US"/>
          </a:p>
        </p:txBody>
      </p:sp>
    </p:spTree>
    <p:extLst>
      <p:ext uri="{BB962C8B-B14F-4D97-AF65-F5344CB8AC3E}">
        <p14:creationId xmlns:p14="http://schemas.microsoft.com/office/powerpoint/2010/main" val="36145826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p:spPr>
      </p:sp>
      <p:sp>
        <p:nvSpPr>
          <p:cNvPr id="6963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696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5AC48E3-25F1-4F61-83F4-60B9D63B6D98}" type="slidenum">
              <a:rPr lang="en-US"/>
              <a:pPr/>
              <a:t>16</a:t>
            </a:fld>
            <a:endParaRPr lang="en-US"/>
          </a:p>
        </p:txBody>
      </p:sp>
    </p:spTree>
    <p:extLst>
      <p:ext uri="{BB962C8B-B14F-4D97-AF65-F5344CB8AC3E}">
        <p14:creationId xmlns:p14="http://schemas.microsoft.com/office/powerpoint/2010/main" val="176478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819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8BC2887-B806-4173-9F36-DEC933DC4245}" type="slidenum">
              <a:rPr lang="en-US"/>
              <a:pPr/>
              <a:t>39</a:t>
            </a:fld>
            <a:endParaRPr lang="en-US"/>
          </a:p>
        </p:txBody>
      </p:sp>
    </p:spTree>
    <p:extLst>
      <p:ext uri="{BB962C8B-B14F-4D97-AF65-F5344CB8AC3E}">
        <p14:creationId xmlns:p14="http://schemas.microsoft.com/office/powerpoint/2010/main" val="2352901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p:spPr>
      </p:sp>
      <p:sp>
        <p:nvSpPr>
          <p:cNvPr id="8294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829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AC23225-516E-4226-9D3C-01EA942E5958}" type="slidenum">
              <a:rPr lang="en-US"/>
              <a:pPr/>
              <a:t>40</a:t>
            </a:fld>
            <a:endParaRPr lang="en-US"/>
          </a:p>
        </p:txBody>
      </p:sp>
    </p:spTree>
    <p:extLst>
      <p:ext uri="{BB962C8B-B14F-4D97-AF65-F5344CB8AC3E}">
        <p14:creationId xmlns:p14="http://schemas.microsoft.com/office/powerpoint/2010/main" val="40892741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p:spPr>
      </p:sp>
      <p:sp>
        <p:nvSpPr>
          <p:cNvPr id="9011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300363CF-9A33-4F2E-9857-37A1DCBF9357}" type="slidenum">
              <a:rPr lang="en-US" sz="1200">
                <a:latin typeface="+mn-lt"/>
              </a:rPr>
              <a:pPr algn="r">
                <a:defRPr/>
              </a:pPr>
              <a:t>41</a:t>
            </a:fld>
            <a:endParaRPr lang="en-US" sz="1200">
              <a:latin typeface="+mn-lt"/>
            </a:endParaRPr>
          </a:p>
        </p:txBody>
      </p:sp>
      <p:sp>
        <p:nvSpPr>
          <p:cNvPr id="5" name="Date Placeholder 4"/>
          <p:cNvSpPr txBox="1">
            <a:spLocks noGrp="1"/>
          </p:cNvSpPr>
          <p:nvPr/>
        </p:nvSpPr>
        <p:spPr>
          <a:xfrm>
            <a:off x="3884613" y="0"/>
            <a:ext cx="2971800" cy="457200"/>
          </a:xfrm>
          <a:prstGeom prst="rect">
            <a:avLst/>
          </a:prstGeom>
          <a:noFill/>
        </p:spPr>
        <p:txBody>
          <a:bodyPr/>
          <a:lstStyle/>
          <a:p>
            <a:pPr algn="r" fontAlgn="auto">
              <a:spcBef>
                <a:spcPts val="0"/>
              </a:spcBef>
              <a:spcAft>
                <a:spcPts val="0"/>
              </a:spcAft>
              <a:defRPr/>
            </a:pPr>
            <a:fld id="{477D06D7-1C96-4A93-A772-07F6045696EB}" type="datetime3">
              <a:rPr lang="en-US" sz="1200">
                <a:latin typeface="+mn-lt"/>
              </a:rPr>
              <a:pPr algn="r" fontAlgn="auto">
                <a:spcBef>
                  <a:spcPts val="0"/>
                </a:spcBef>
                <a:spcAft>
                  <a:spcPts val="0"/>
                </a:spcAft>
                <a:defRPr/>
              </a:pPr>
              <a:t>29 October 2020</a:t>
            </a:fld>
            <a:endParaRPr lang="en-US" sz="1200">
              <a:latin typeface="+mn-lt"/>
            </a:endParaRPr>
          </a:p>
        </p:txBody>
      </p:sp>
      <p:sp>
        <p:nvSpPr>
          <p:cNvPr id="6" name="Footer Placeholder 5"/>
          <p:cNvSpPr txBox="1">
            <a:spLocks noGrp="1"/>
          </p:cNvSpPr>
          <p:nvPr/>
        </p:nvSpPr>
        <p:spPr>
          <a:xfrm>
            <a:off x="0" y="8685213"/>
            <a:ext cx="2971800" cy="457200"/>
          </a:xfrm>
          <a:prstGeom prst="rect">
            <a:avLst/>
          </a:prstGeom>
          <a:noFill/>
        </p:spPr>
        <p:txBody>
          <a:bodyPr anchor="b"/>
          <a:lstStyle/>
          <a:p>
            <a:pPr fontAlgn="auto">
              <a:spcBef>
                <a:spcPts val="0"/>
              </a:spcBef>
              <a:spcAft>
                <a:spcPts val="0"/>
              </a:spcAft>
              <a:defRPr/>
            </a:pPr>
            <a:r>
              <a:rPr lang="en-US" sz="1200">
                <a:latin typeface="+mn-lt"/>
              </a:rPr>
              <a:t>Cont.</a:t>
            </a:r>
          </a:p>
        </p:txBody>
      </p:sp>
    </p:spTree>
    <p:extLst>
      <p:ext uri="{BB962C8B-B14F-4D97-AF65-F5344CB8AC3E}">
        <p14:creationId xmlns:p14="http://schemas.microsoft.com/office/powerpoint/2010/main" val="2948484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p:spPr>
      </p:sp>
      <p:sp>
        <p:nvSpPr>
          <p:cNvPr id="9113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63A51896-EF90-49DE-990F-97B509663D61}" type="slidenum">
              <a:rPr lang="en-US" sz="1200">
                <a:latin typeface="+mn-lt"/>
              </a:rPr>
              <a:pPr algn="r">
                <a:defRPr/>
              </a:pPr>
              <a:t>42</a:t>
            </a:fld>
            <a:endParaRPr lang="en-US" sz="1200">
              <a:latin typeface="+mn-lt"/>
            </a:endParaRPr>
          </a:p>
        </p:txBody>
      </p:sp>
      <p:sp>
        <p:nvSpPr>
          <p:cNvPr id="5" name="Date Placeholder 4"/>
          <p:cNvSpPr txBox="1">
            <a:spLocks noGrp="1"/>
          </p:cNvSpPr>
          <p:nvPr/>
        </p:nvSpPr>
        <p:spPr>
          <a:xfrm>
            <a:off x="3884613" y="0"/>
            <a:ext cx="2971800" cy="457200"/>
          </a:xfrm>
          <a:prstGeom prst="rect">
            <a:avLst/>
          </a:prstGeom>
          <a:noFill/>
        </p:spPr>
        <p:txBody>
          <a:bodyPr/>
          <a:lstStyle/>
          <a:p>
            <a:pPr algn="r" fontAlgn="auto">
              <a:spcBef>
                <a:spcPts val="0"/>
              </a:spcBef>
              <a:spcAft>
                <a:spcPts val="0"/>
              </a:spcAft>
              <a:defRPr/>
            </a:pPr>
            <a:fld id="{477D06D7-1C96-4A93-A772-07F6045696EB}" type="datetime3">
              <a:rPr lang="en-US" sz="1200">
                <a:latin typeface="+mn-lt"/>
              </a:rPr>
              <a:pPr algn="r" fontAlgn="auto">
                <a:spcBef>
                  <a:spcPts val="0"/>
                </a:spcBef>
                <a:spcAft>
                  <a:spcPts val="0"/>
                </a:spcAft>
                <a:defRPr/>
              </a:pPr>
              <a:t>29 October 2020</a:t>
            </a:fld>
            <a:endParaRPr lang="en-US" sz="1200">
              <a:latin typeface="+mn-lt"/>
            </a:endParaRPr>
          </a:p>
        </p:txBody>
      </p:sp>
      <p:sp>
        <p:nvSpPr>
          <p:cNvPr id="6" name="Footer Placeholder 5"/>
          <p:cNvSpPr txBox="1">
            <a:spLocks noGrp="1"/>
          </p:cNvSpPr>
          <p:nvPr/>
        </p:nvSpPr>
        <p:spPr>
          <a:xfrm>
            <a:off x="0" y="8685213"/>
            <a:ext cx="2971800" cy="457200"/>
          </a:xfrm>
          <a:prstGeom prst="rect">
            <a:avLst/>
          </a:prstGeom>
          <a:noFill/>
        </p:spPr>
        <p:txBody>
          <a:bodyPr anchor="b"/>
          <a:lstStyle/>
          <a:p>
            <a:pPr fontAlgn="auto">
              <a:spcBef>
                <a:spcPts val="0"/>
              </a:spcBef>
              <a:spcAft>
                <a:spcPts val="0"/>
              </a:spcAft>
              <a:defRPr/>
            </a:pPr>
            <a:r>
              <a:rPr lang="en-US" sz="1200">
                <a:latin typeface="+mn-lt"/>
              </a:rPr>
              <a:t>Cont.</a:t>
            </a:r>
          </a:p>
        </p:txBody>
      </p:sp>
    </p:spTree>
    <p:extLst>
      <p:ext uri="{BB962C8B-B14F-4D97-AF65-F5344CB8AC3E}">
        <p14:creationId xmlns:p14="http://schemas.microsoft.com/office/powerpoint/2010/main" val="186988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35E372FF-46FE-4760-838B-EC3EFF9683AE}" type="slidenum">
              <a:rPr lang="en-US"/>
              <a:pPr/>
              <a:t>43</a:t>
            </a:fld>
            <a:endParaRPr lang="en-US"/>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77719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p:spPr>
      </p:sp>
      <p:sp>
        <p:nvSpPr>
          <p:cNvPr id="839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839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B0AB7BB-02D5-42C9-9305-0FBCAC10B9A6}" type="slidenum">
              <a:rPr lang="en-US"/>
              <a:pPr/>
              <a:t>45</a:t>
            </a:fld>
            <a:endParaRPr lang="en-US"/>
          </a:p>
        </p:txBody>
      </p:sp>
    </p:spTree>
    <p:extLst>
      <p:ext uri="{BB962C8B-B14F-4D97-AF65-F5344CB8AC3E}">
        <p14:creationId xmlns:p14="http://schemas.microsoft.com/office/powerpoint/2010/main" val="41072357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14B20F2F-B9DF-4466-BB82-66CFD63F1257}" type="slidenum">
              <a:rPr lang="en-US"/>
              <a:pPr/>
              <a:t>47</a:t>
            </a:fld>
            <a:endParaRPr lang="en-US"/>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1867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p:spPr>
      </p:sp>
      <p:sp>
        <p:nvSpPr>
          <p:cNvPr id="921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921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2021992-C853-4145-84A1-ECC888676DB4}" type="slidenum">
              <a:rPr lang="en-US"/>
              <a:pPr/>
              <a:t>50</a:t>
            </a:fld>
            <a:endParaRPr lang="en-US"/>
          </a:p>
        </p:txBody>
      </p:sp>
    </p:spTree>
    <p:extLst>
      <p:ext uri="{BB962C8B-B14F-4D97-AF65-F5344CB8AC3E}">
        <p14:creationId xmlns:p14="http://schemas.microsoft.com/office/powerpoint/2010/main" val="1692143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130397DC-ADEA-4F96-B163-357064350C8C}" type="slidenum">
              <a:rPr lang="en-US"/>
              <a:pPr/>
              <a:t>52</a:t>
            </a:fld>
            <a:endParaRPr lang="en-US"/>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890417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p:spPr>
      </p:sp>
      <p:sp>
        <p:nvSpPr>
          <p:cNvPr id="8601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860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FB19084-C10F-4FE9-A61C-5F08154AD0BE}" type="slidenum">
              <a:rPr lang="en-US"/>
              <a:pPr/>
              <a:t>54</a:t>
            </a:fld>
            <a:endParaRPr lang="en-US"/>
          </a:p>
        </p:txBody>
      </p:sp>
    </p:spTree>
    <p:extLst>
      <p:ext uri="{BB962C8B-B14F-4D97-AF65-F5344CB8AC3E}">
        <p14:creationId xmlns:p14="http://schemas.microsoft.com/office/powerpoint/2010/main" val="984286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p:spPr>
      </p:sp>
      <p:sp>
        <p:nvSpPr>
          <p:cNvPr id="8909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890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EBEAB76-DDF3-4217-BE93-9D8AED098A04}" type="slidenum">
              <a:rPr lang="en-US"/>
              <a:pPr/>
              <a:t>55</a:t>
            </a:fld>
            <a:endParaRPr lang="en-US"/>
          </a:p>
        </p:txBody>
      </p:sp>
    </p:spTree>
    <p:extLst>
      <p:ext uri="{BB962C8B-B14F-4D97-AF65-F5344CB8AC3E}">
        <p14:creationId xmlns:p14="http://schemas.microsoft.com/office/powerpoint/2010/main" val="26453674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p:spPr>
      </p:sp>
      <p:sp>
        <p:nvSpPr>
          <p:cNvPr id="901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901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6B426E9-8C20-400E-850A-356CDCD8CBD6}" type="slidenum">
              <a:rPr lang="en-US"/>
              <a:pPr/>
              <a:t>56</a:t>
            </a:fld>
            <a:endParaRPr lang="en-US"/>
          </a:p>
        </p:txBody>
      </p:sp>
    </p:spTree>
    <p:extLst>
      <p:ext uri="{BB962C8B-B14F-4D97-AF65-F5344CB8AC3E}">
        <p14:creationId xmlns:p14="http://schemas.microsoft.com/office/powerpoint/2010/main" val="5418490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870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6C55177-4E23-4730-BCB2-CC8B721E05A1}" type="slidenum">
              <a:rPr lang="en-US"/>
              <a:pPr/>
              <a:t>57</a:t>
            </a:fld>
            <a:endParaRPr lang="en-US"/>
          </a:p>
        </p:txBody>
      </p:sp>
    </p:spTree>
    <p:extLst>
      <p:ext uri="{BB962C8B-B14F-4D97-AF65-F5344CB8AC3E}">
        <p14:creationId xmlns:p14="http://schemas.microsoft.com/office/powerpoint/2010/main" val="40788380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EAC7D623-6BD1-4C8E-9120-143E438629F0}" type="slidenum">
              <a:rPr lang="en-US"/>
              <a:pPr/>
              <a:t>60</a:t>
            </a:fld>
            <a:endParaRPr lang="en-US"/>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167370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p:spPr>
      </p:sp>
      <p:sp>
        <p:nvSpPr>
          <p:cNvPr id="9113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911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BD3169F-037F-4D06-B44D-A96B90CA7BF3}" type="slidenum">
              <a:rPr lang="en-US"/>
              <a:pPr/>
              <a:t>63</a:t>
            </a:fld>
            <a:endParaRPr lang="en-US"/>
          </a:p>
        </p:txBody>
      </p:sp>
    </p:spTree>
    <p:extLst>
      <p:ext uri="{BB962C8B-B14F-4D97-AF65-F5344CB8AC3E}">
        <p14:creationId xmlns:p14="http://schemas.microsoft.com/office/powerpoint/2010/main" val="10972279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bwMode="auto">
          <a:noFill/>
          <a:ln>
            <a:solidFill>
              <a:srgbClr val="000000"/>
            </a:solidFill>
            <a:miter lim="800000"/>
            <a:headEnd/>
            <a:tailEnd/>
          </a:ln>
        </p:spPr>
      </p:sp>
      <p:sp>
        <p:nvSpPr>
          <p:cNvPr id="9318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931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5C2D252-FA6B-4AEF-BE60-B7DB7D1FCAF6}" type="slidenum">
              <a:rPr lang="en-US"/>
              <a:pPr/>
              <a:t>65</a:t>
            </a:fld>
            <a:endParaRPr lang="en-US"/>
          </a:p>
        </p:txBody>
      </p:sp>
    </p:spTree>
    <p:extLst>
      <p:ext uri="{BB962C8B-B14F-4D97-AF65-F5344CB8AC3E}">
        <p14:creationId xmlns:p14="http://schemas.microsoft.com/office/powerpoint/2010/main" val="22100286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p:cNvSpPr>
            <a:spLocks noGrp="1" noRot="1" noChangeAspect="1" noTextEdit="1"/>
          </p:cNvSpPr>
          <p:nvPr>
            <p:ph type="sldImg"/>
          </p:nvPr>
        </p:nvSpPr>
        <p:spPr bwMode="auto">
          <a:noFill/>
          <a:ln>
            <a:solidFill>
              <a:srgbClr val="000000"/>
            </a:solidFill>
            <a:miter lim="800000"/>
            <a:headEnd/>
            <a:tailEnd/>
          </a:ln>
        </p:spPr>
      </p:sp>
      <p:sp>
        <p:nvSpPr>
          <p:cNvPr id="1454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7FAE857B-5E37-4F4D-81C0-6A7C6BFFD7EC}" type="slidenum">
              <a:rPr lang="en-US" sz="1200">
                <a:latin typeface="+mn-lt"/>
              </a:rPr>
              <a:pPr algn="r">
                <a:defRPr/>
              </a:pPr>
              <a:t>72</a:t>
            </a:fld>
            <a:endParaRPr lang="en-US" sz="1200">
              <a:latin typeface="+mn-lt"/>
            </a:endParaRPr>
          </a:p>
        </p:txBody>
      </p:sp>
      <p:sp>
        <p:nvSpPr>
          <p:cNvPr id="5" name="Date Placeholder 4"/>
          <p:cNvSpPr txBox="1">
            <a:spLocks noGrp="1"/>
          </p:cNvSpPr>
          <p:nvPr/>
        </p:nvSpPr>
        <p:spPr>
          <a:xfrm>
            <a:off x="3884613" y="0"/>
            <a:ext cx="2971800" cy="457200"/>
          </a:xfrm>
          <a:prstGeom prst="rect">
            <a:avLst/>
          </a:prstGeom>
          <a:noFill/>
        </p:spPr>
        <p:txBody>
          <a:bodyPr/>
          <a:lstStyle/>
          <a:p>
            <a:pPr algn="r" fontAlgn="auto">
              <a:spcBef>
                <a:spcPts val="0"/>
              </a:spcBef>
              <a:spcAft>
                <a:spcPts val="0"/>
              </a:spcAft>
              <a:defRPr/>
            </a:pPr>
            <a:fld id="{477D06D7-1C96-4A93-A772-07F6045696EB}" type="datetime3">
              <a:rPr lang="en-US" sz="1200">
                <a:latin typeface="+mn-lt"/>
              </a:rPr>
              <a:pPr algn="r" fontAlgn="auto">
                <a:spcBef>
                  <a:spcPts val="0"/>
                </a:spcBef>
                <a:spcAft>
                  <a:spcPts val="0"/>
                </a:spcAft>
                <a:defRPr/>
              </a:pPr>
              <a:t>29 October 2020</a:t>
            </a:fld>
            <a:endParaRPr lang="en-US" sz="1200">
              <a:latin typeface="+mn-lt"/>
            </a:endParaRPr>
          </a:p>
        </p:txBody>
      </p:sp>
      <p:sp>
        <p:nvSpPr>
          <p:cNvPr id="6" name="Footer Placeholder 5"/>
          <p:cNvSpPr txBox="1">
            <a:spLocks noGrp="1"/>
          </p:cNvSpPr>
          <p:nvPr/>
        </p:nvSpPr>
        <p:spPr>
          <a:xfrm>
            <a:off x="0" y="8685213"/>
            <a:ext cx="2971800" cy="457200"/>
          </a:xfrm>
          <a:prstGeom prst="rect">
            <a:avLst/>
          </a:prstGeom>
          <a:noFill/>
        </p:spPr>
        <p:txBody>
          <a:bodyPr anchor="b"/>
          <a:lstStyle/>
          <a:p>
            <a:pPr fontAlgn="auto">
              <a:spcBef>
                <a:spcPts val="0"/>
              </a:spcBef>
              <a:spcAft>
                <a:spcPts val="0"/>
              </a:spcAft>
              <a:defRPr/>
            </a:pPr>
            <a:r>
              <a:rPr lang="en-US" sz="1200">
                <a:latin typeface="+mn-lt"/>
              </a:rPr>
              <a:t>Cont.</a:t>
            </a:r>
          </a:p>
        </p:txBody>
      </p:sp>
    </p:spTree>
    <p:extLst>
      <p:ext uri="{BB962C8B-B14F-4D97-AF65-F5344CB8AC3E}">
        <p14:creationId xmlns:p14="http://schemas.microsoft.com/office/powerpoint/2010/main" val="37808933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p:cNvSpPr>
            <a:spLocks noGrp="1" noRot="1" noChangeAspect="1" noTextEdit="1"/>
          </p:cNvSpPr>
          <p:nvPr>
            <p:ph type="sldImg"/>
          </p:nvPr>
        </p:nvSpPr>
        <p:spPr bwMode="auto">
          <a:noFill/>
          <a:ln>
            <a:solidFill>
              <a:srgbClr val="000000"/>
            </a:solidFill>
            <a:miter lim="800000"/>
            <a:headEnd/>
            <a:tailEnd/>
          </a:ln>
        </p:spPr>
      </p:sp>
      <p:sp>
        <p:nvSpPr>
          <p:cNvPr id="14643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243CF074-BAC7-4868-845F-2A0109E50003}" type="slidenum">
              <a:rPr lang="en-US" sz="1200">
                <a:latin typeface="+mn-lt"/>
              </a:rPr>
              <a:pPr algn="r">
                <a:defRPr/>
              </a:pPr>
              <a:t>73</a:t>
            </a:fld>
            <a:endParaRPr lang="en-US" sz="1200">
              <a:latin typeface="+mn-lt"/>
            </a:endParaRPr>
          </a:p>
        </p:txBody>
      </p:sp>
      <p:sp>
        <p:nvSpPr>
          <p:cNvPr id="5" name="Date Placeholder 4"/>
          <p:cNvSpPr txBox="1">
            <a:spLocks noGrp="1"/>
          </p:cNvSpPr>
          <p:nvPr/>
        </p:nvSpPr>
        <p:spPr>
          <a:xfrm>
            <a:off x="3884613" y="0"/>
            <a:ext cx="2971800" cy="457200"/>
          </a:xfrm>
          <a:prstGeom prst="rect">
            <a:avLst/>
          </a:prstGeom>
          <a:noFill/>
        </p:spPr>
        <p:txBody>
          <a:bodyPr/>
          <a:lstStyle/>
          <a:p>
            <a:pPr algn="r" fontAlgn="auto">
              <a:spcBef>
                <a:spcPts val="0"/>
              </a:spcBef>
              <a:spcAft>
                <a:spcPts val="0"/>
              </a:spcAft>
              <a:defRPr/>
            </a:pPr>
            <a:fld id="{477D06D7-1C96-4A93-A772-07F6045696EB}" type="datetime3">
              <a:rPr lang="en-US" sz="1200">
                <a:latin typeface="+mn-lt"/>
              </a:rPr>
              <a:pPr algn="r" fontAlgn="auto">
                <a:spcBef>
                  <a:spcPts val="0"/>
                </a:spcBef>
                <a:spcAft>
                  <a:spcPts val="0"/>
                </a:spcAft>
                <a:defRPr/>
              </a:pPr>
              <a:t>29 October 2020</a:t>
            </a:fld>
            <a:endParaRPr lang="en-US" sz="1200">
              <a:latin typeface="+mn-lt"/>
            </a:endParaRPr>
          </a:p>
        </p:txBody>
      </p:sp>
      <p:sp>
        <p:nvSpPr>
          <p:cNvPr id="6" name="Footer Placeholder 5"/>
          <p:cNvSpPr txBox="1">
            <a:spLocks noGrp="1"/>
          </p:cNvSpPr>
          <p:nvPr/>
        </p:nvSpPr>
        <p:spPr>
          <a:xfrm>
            <a:off x="0" y="8685213"/>
            <a:ext cx="2971800" cy="457200"/>
          </a:xfrm>
          <a:prstGeom prst="rect">
            <a:avLst/>
          </a:prstGeom>
          <a:noFill/>
        </p:spPr>
        <p:txBody>
          <a:bodyPr anchor="b"/>
          <a:lstStyle/>
          <a:p>
            <a:pPr fontAlgn="auto">
              <a:spcBef>
                <a:spcPts val="0"/>
              </a:spcBef>
              <a:spcAft>
                <a:spcPts val="0"/>
              </a:spcAft>
              <a:defRPr/>
            </a:pPr>
            <a:r>
              <a:rPr lang="en-US" sz="1200">
                <a:latin typeface="+mn-lt"/>
              </a:rPr>
              <a:t>Cont.</a:t>
            </a:r>
          </a:p>
        </p:txBody>
      </p:sp>
    </p:spTree>
    <p:extLst>
      <p:ext uri="{BB962C8B-B14F-4D97-AF65-F5344CB8AC3E}">
        <p14:creationId xmlns:p14="http://schemas.microsoft.com/office/powerpoint/2010/main" val="35039357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bwMode="auto">
          <a:noFill/>
          <a:ln>
            <a:solidFill>
              <a:srgbClr val="000000"/>
            </a:solidFill>
            <a:miter lim="800000"/>
            <a:headEnd/>
            <a:tailEnd/>
          </a:ln>
        </p:spPr>
      </p:sp>
      <p:sp>
        <p:nvSpPr>
          <p:cNvPr id="1474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24F5F10D-BB76-48E6-B6EA-F9E686D7E5DE}" type="slidenum">
              <a:rPr lang="en-US" sz="1200">
                <a:latin typeface="+mn-lt"/>
              </a:rPr>
              <a:pPr algn="r">
                <a:defRPr/>
              </a:pPr>
              <a:t>74</a:t>
            </a:fld>
            <a:endParaRPr lang="en-US" sz="1200">
              <a:latin typeface="+mn-lt"/>
            </a:endParaRPr>
          </a:p>
        </p:txBody>
      </p:sp>
      <p:sp>
        <p:nvSpPr>
          <p:cNvPr id="5" name="Date Placeholder 4"/>
          <p:cNvSpPr txBox="1">
            <a:spLocks noGrp="1"/>
          </p:cNvSpPr>
          <p:nvPr/>
        </p:nvSpPr>
        <p:spPr>
          <a:xfrm>
            <a:off x="3884613" y="0"/>
            <a:ext cx="2971800" cy="457200"/>
          </a:xfrm>
          <a:prstGeom prst="rect">
            <a:avLst/>
          </a:prstGeom>
          <a:noFill/>
        </p:spPr>
        <p:txBody>
          <a:bodyPr/>
          <a:lstStyle/>
          <a:p>
            <a:pPr algn="r" fontAlgn="auto">
              <a:spcBef>
                <a:spcPts val="0"/>
              </a:spcBef>
              <a:spcAft>
                <a:spcPts val="0"/>
              </a:spcAft>
              <a:defRPr/>
            </a:pPr>
            <a:fld id="{477D06D7-1C96-4A93-A772-07F6045696EB}" type="datetime3">
              <a:rPr lang="en-US" sz="1200">
                <a:latin typeface="+mn-lt"/>
              </a:rPr>
              <a:pPr algn="r" fontAlgn="auto">
                <a:spcBef>
                  <a:spcPts val="0"/>
                </a:spcBef>
                <a:spcAft>
                  <a:spcPts val="0"/>
                </a:spcAft>
                <a:defRPr/>
              </a:pPr>
              <a:t>29 October 2020</a:t>
            </a:fld>
            <a:endParaRPr lang="en-US" sz="1200">
              <a:latin typeface="+mn-lt"/>
            </a:endParaRPr>
          </a:p>
        </p:txBody>
      </p:sp>
      <p:sp>
        <p:nvSpPr>
          <p:cNvPr id="6" name="Footer Placeholder 5"/>
          <p:cNvSpPr txBox="1">
            <a:spLocks noGrp="1"/>
          </p:cNvSpPr>
          <p:nvPr/>
        </p:nvSpPr>
        <p:spPr>
          <a:xfrm>
            <a:off x="0" y="8685213"/>
            <a:ext cx="2971800" cy="457200"/>
          </a:xfrm>
          <a:prstGeom prst="rect">
            <a:avLst/>
          </a:prstGeom>
          <a:noFill/>
        </p:spPr>
        <p:txBody>
          <a:bodyPr anchor="b"/>
          <a:lstStyle/>
          <a:p>
            <a:pPr fontAlgn="auto">
              <a:spcBef>
                <a:spcPts val="0"/>
              </a:spcBef>
              <a:spcAft>
                <a:spcPts val="0"/>
              </a:spcAft>
              <a:defRPr/>
            </a:pPr>
            <a:r>
              <a:rPr lang="en-US" sz="1200">
                <a:latin typeface="+mn-lt"/>
              </a:rPr>
              <a:t>Cont.</a:t>
            </a:r>
          </a:p>
        </p:txBody>
      </p:sp>
    </p:spTree>
    <p:extLst>
      <p:ext uri="{BB962C8B-B14F-4D97-AF65-F5344CB8AC3E}">
        <p14:creationId xmlns:p14="http://schemas.microsoft.com/office/powerpoint/2010/main" val="27560078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Image Placeholder 1"/>
          <p:cNvSpPr>
            <a:spLocks noGrp="1" noRot="1" noChangeAspect="1" noTextEdit="1"/>
          </p:cNvSpPr>
          <p:nvPr>
            <p:ph type="sldImg"/>
          </p:nvPr>
        </p:nvSpPr>
        <p:spPr bwMode="auto">
          <a:noFill/>
          <a:ln>
            <a:solidFill>
              <a:srgbClr val="000000"/>
            </a:solidFill>
            <a:miter lim="800000"/>
            <a:headEnd/>
            <a:tailEnd/>
          </a:ln>
        </p:spPr>
      </p:sp>
      <p:sp>
        <p:nvSpPr>
          <p:cNvPr id="14848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555A8A50-E90B-47ED-AEE9-D37857EC77DA}" type="slidenum">
              <a:rPr lang="en-US" sz="1200">
                <a:latin typeface="+mn-lt"/>
              </a:rPr>
              <a:pPr algn="r">
                <a:defRPr/>
              </a:pPr>
              <a:t>75</a:t>
            </a:fld>
            <a:endParaRPr lang="en-US" sz="1200">
              <a:latin typeface="+mn-lt"/>
            </a:endParaRPr>
          </a:p>
        </p:txBody>
      </p:sp>
      <p:sp>
        <p:nvSpPr>
          <p:cNvPr id="5" name="Date Placeholder 4"/>
          <p:cNvSpPr txBox="1">
            <a:spLocks noGrp="1"/>
          </p:cNvSpPr>
          <p:nvPr/>
        </p:nvSpPr>
        <p:spPr>
          <a:xfrm>
            <a:off x="3884613" y="0"/>
            <a:ext cx="2971800" cy="457200"/>
          </a:xfrm>
          <a:prstGeom prst="rect">
            <a:avLst/>
          </a:prstGeom>
          <a:noFill/>
        </p:spPr>
        <p:txBody>
          <a:bodyPr/>
          <a:lstStyle/>
          <a:p>
            <a:pPr algn="r" fontAlgn="auto">
              <a:spcBef>
                <a:spcPts val="0"/>
              </a:spcBef>
              <a:spcAft>
                <a:spcPts val="0"/>
              </a:spcAft>
              <a:defRPr/>
            </a:pPr>
            <a:fld id="{477D06D7-1C96-4A93-A772-07F6045696EB}" type="datetime3">
              <a:rPr lang="en-US" sz="1200">
                <a:latin typeface="+mn-lt"/>
              </a:rPr>
              <a:pPr algn="r" fontAlgn="auto">
                <a:spcBef>
                  <a:spcPts val="0"/>
                </a:spcBef>
                <a:spcAft>
                  <a:spcPts val="0"/>
                </a:spcAft>
                <a:defRPr/>
              </a:pPr>
              <a:t>29 October 2020</a:t>
            </a:fld>
            <a:endParaRPr lang="en-US" sz="1200">
              <a:latin typeface="+mn-lt"/>
            </a:endParaRPr>
          </a:p>
        </p:txBody>
      </p:sp>
      <p:sp>
        <p:nvSpPr>
          <p:cNvPr id="6" name="Footer Placeholder 5"/>
          <p:cNvSpPr txBox="1">
            <a:spLocks noGrp="1"/>
          </p:cNvSpPr>
          <p:nvPr/>
        </p:nvSpPr>
        <p:spPr>
          <a:xfrm>
            <a:off x="0" y="8685213"/>
            <a:ext cx="2971800" cy="457200"/>
          </a:xfrm>
          <a:prstGeom prst="rect">
            <a:avLst/>
          </a:prstGeom>
          <a:noFill/>
        </p:spPr>
        <p:txBody>
          <a:bodyPr anchor="b"/>
          <a:lstStyle/>
          <a:p>
            <a:pPr fontAlgn="auto">
              <a:spcBef>
                <a:spcPts val="0"/>
              </a:spcBef>
              <a:spcAft>
                <a:spcPts val="0"/>
              </a:spcAft>
              <a:defRPr/>
            </a:pPr>
            <a:r>
              <a:rPr lang="en-US" sz="1200">
                <a:latin typeface="+mn-lt"/>
              </a:rPr>
              <a:t>Cont.</a:t>
            </a:r>
          </a:p>
        </p:txBody>
      </p:sp>
    </p:spTree>
    <p:extLst>
      <p:ext uri="{BB962C8B-B14F-4D97-AF65-F5344CB8AC3E}">
        <p14:creationId xmlns:p14="http://schemas.microsoft.com/office/powerpoint/2010/main" val="11510665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p:cNvSpPr>
            <a:spLocks noGrp="1" noRot="1" noChangeAspect="1" noTextEdit="1"/>
          </p:cNvSpPr>
          <p:nvPr>
            <p:ph type="sldImg"/>
          </p:nvPr>
        </p:nvSpPr>
        <p:spPr bwMode="auto">
          <a:noFill/>
          <a:ln>
            <a:solidFill>
              <a:srgbClr val="000000"/>
            </a:solidFill>
            <a:miter lim="800000"/>
            <a:headEnd/>
            <a:tailEnd/>
          </a:ln>
        </p:spPr>
      </p:sp>
      <p:sp>
        <p:nvSpPr>
          <p:cNvPr id="1495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68F7BA04-BCC7-464C-8129-6287AF574705}" type="slidenum">
              <a:rPr lang="en-US" sz="1200">
                <a:latin typeface="+mn-lt"/>
              </a:rPr>
              <a:pPr algn="r">
                <a:defRPr/>
              </a:pPr>
              <a:t>76</a:t>
            </a:fld>
            <a:endParaRPr lang="en-US" sz="1200">
              <a:latin typeface="+mn-lt"/>
            </a:endParaRPr>
          </a:p>
        </p:txBody>
      </p:sp>
      <p:sp>
        <p:nvSpPr>
          <p:cNvPr id="5" name="Date Placeholder 4"/>
          <p:cNvSpPr txBox="1">
            <a:spLocks noGrp="1"/>
          </p:cNvSpPr>
          <p:nvPr/>
        </p:nvSpPr>
        <p:spPr>
          <a:xfrm>
            <a:off x="3884613" y="0"/>
            <a:ext cx="2971800" cy="457200"/>
          </a:xfrm>
          <a:prstGeom prst="rect">
            <a:avLst/>
          </a:prstGeom>
          <a:noFill/>
        </p:spPr>
        <p:txBody>
          <a:bodyPr/>
          <a:lstStyle/>
          <a:p>
            <a:pPr algn="r" fontAlgn="auto">
              <a:spcBef>
                <a:spcPts val="0"/>
              </a:spcBef>
              <a:spcAft>
                <a:spcPts val="0"/>
              </a:spcAft>
              <a:defRPr/>
            </a:pPr>
            <a:fld id="{477D06D7-1C96-4A93-A772-07F6045696EB}" type="datetime3">
              <a:rPr lang="en-US" sz="1200">
                <a:latin typeface="+mn-lt"/>
              </a:rPr>
              <a:pPr algn="r" fontAlgn="auto">
                <a:spcBef>
                  <a:spcPts val="0"/>
                </a:spcBef>
                <a:spcAft>
                  <a:spcPts val="0"/>
                </a:spcAft>
                <a:defRPr/>
              </a:pPr>
              <a:t>29 October 2020</a:t>
            </a:fld>
            <a:endParaRPr lang="en-US" sz="1200">
              <a:latin typeface="+mn-lt"/>
            </a:endParaRPr>
          </a:p>
        </p:txBody>
      </p:sp>
      <p:sp>
        <p:nvSpPr>
          <p:cNvPr id="6" name="Footer Placeholder 5"/>
          <p:cNvSpPr txBox="1">
            <a:spLocks noGrp="1"/>
          </p:cNvSpPr>
          <p:nvPr/>
        </p:nvSpPr>
        <p:spPr>
          <a:xfrm>
            <a:off x="0" y="8685213"/>
            <a:ext cx="2971800" cy="457200"/>
          </a:xfrm>
          <a:prstGeom prst="rect">
            <a:avLst/>
          </a:prstGeom>
          <a:noFill/>
        </p:spPr>
        <p:txBody>
          <a:bodyPr anchor="b"/>
          <a:lstStyle/>
          <a:p>
            <a:pPr fontAlgn="auto">
              <a:spcBef>
                <a:spcPts val="0"/>
              </a:spcBef>
              <a:spcAft>
                <a:spcPts val="0"/>
              </a:spcAft>
              <a:defRPr/>
            </a:pPr>
            <a:r>
              <a:rPr lang="en-US" sz="1200">
                <a:latin typeface="+mn-lt"/>
              </a:rPr>
              <a:t>Cont.</a:t>
            </a:r>
          </a:p>
        </p:txBody>
      </p:sp>
    </p:spTree>
    <p:extLst>
      <p:ext uri="{BB962C8B-B14F-4D97-AF65-F5344CB8AC3E}">
        <p14:creationId xmlns:p14="http://schemas.microsoft.com/office/powerpoint/2010/main" val="33947505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F39C3527-45EE-4338-9523-39056540EEA5}" type="slidenum">
              <a:rPr lang="en-US" sz="1200">
                <a:latin typeface="+mn-lt"/>
              </a:rPr>
              <a:pPr algn="r">
                <a:defRPr/>
              </a:pPr>
              <a:t>77</a:t>
            </a:fld>
            <a:endParaRPr lang="en-US" sz="1200">
              <a:latin typeface="+mn-lt"/>
            </a:endParaRPr>
          </a:p>
        </p:txBody>
      </p:sp>
      <p:sp>
        <p:nvSpPr>
          <p:cNvPr id="5" name="Date Placeholder 4"/>
          <p:cNvSpPr txBox="1">
            <a:spLocks noGrp="1"/>
          </p:cNvSpPr>
          <p:nvPr/>
        </p:nvSpPr>
        <p:spPr>
          <a:xfrm>
            <a:off x="3884613" y="0"/>
            <a:ext cx="2971800" cy="457200"/>
          </a:xfrm>
          <a:prstGeom prst="rect">
            <a:avLst/>
          </a:prstGeom>
          <a:noFill/>
        </p:spPr>
        <p:txBody>
          <a:bodyPr/>
          <a:lstStyle/>
          <a:p>
            <a:pPr algn="r" fontAlgn="auto">
              <a:spcBef>
                <a:spcPts val="0"/>
              </a:spcBef>
              <a:spcAft>
                <a:spcPts val="0"/>
              </a:spcAft>
              <a:defRPr/>
            </a:pPr>
            <a:fld id="{477D06D7-1C96-4A93-A772-07F6045696EB}" type="datetime3">
              <a:rPr lang="en-US" sz="1200">
                <a:latin typeface="+mn-lt"/>
              </a:rPr>
              <a:pPr algn="r" fontAlgn="auto">
                <a:spcBef>
                  <a:spcPts val="0"/>
                </a:spcBef>
                <a:spcAft>
                  <a:spcPts val="0"/>
                </a:spcAft>
                <a:defRPr/>
              </a:pPr>
              <a:t>29 October 2020</a:t>
            </a:fld>
            <a:endParaRPr lang="en-US" sz="1200">
              <a:latin typeface="+mn-lt"/>
            </a:endParaRPr>
          </a:p>
        </p:txBody>
      </p:sp>
      <p:sp>
        <p:nvSpPr>
          <p:cNvPr id="6" name="Footer Placeholder 5"/>
          <p:cNvSpPr txBox="1">
            <a:spLocks noGrp="1"/>
          </p:cNvSpPr>
          <p:nvPr/>
        </p:nvSpPr>
        <p:spPr>
          <a:xfrm>
            <a:off x="0" y="8685213"/>
            <a:ext cx="2971800" cy="457200"/>
          </a:xfrm>
          <a:prstGeom prst="rect">
            <a:avLst/>
          </a:prstGeom>
          <a:noFill/>
        </p:spPr>
        <p:txBody>
          <a:bodyPr anchor="b"/>
          <a:lstStyle/>
          <a:p>
            <a:pPr fontAlgn="auto">
              <a:spcBef>
                <a:spcPts val="0"/>
              </a:spcBef>
              <a:spcAft>
                <a:spcPts val="0"/>
              </a:spcAft>
              <a:defRPr/>
            </a:pPr>
            <a:r>
              <a:rPr lang="en-US" sz="1200">
                <a:latin typeface="+mn-lt"/>
              </a:rPr>
              <a:t>Cont.</a:t>
            </a:r>
          </a:p>
        </p:txBody>
      </p:sp>
    </p:spTree>
    <p:extLst>
      <p:ext uri="{BB962C8B-B14F-4D97-AF65-F5344CB8AC3E}">
        <p14:creationId xmlns:p14="http://schemas.microsoft.com/office/powerpoint/2010/main" val="8847824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Image Placeholder 1"/>
          <p:cNvSpPr>
            <a:spLocks noGrp="1" noRot="1" noChangeAspect="1" noTextEdit="1"/>
          </p:cNvSpPr>
          <p:nvPr>
            <p:ph type="sldImg"/>
          </p:nvPr>
        </p:nvSpPr>
        <p:spPr bwMode="auto">
          <a:noFill/>
          <a:ln>
            <a:solidFill>
              <a:srgbClr val="000000"/>
            </a:solidFill>
            <a:miter lim="800000"/>
            <a:headEnd/>
            <a:tailEnd/>
          </a:ln>
        </p:spPr>
      </p:sp>
      <p:sp>
        <p:nvSpPr>
          <p:cNvPr id="1536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0C28F4D7-AEDE-47CA-9B80-72E9C07FD743}" type="slidenum">
              <a:rPr lang="en-US" sz="1200">
                <a:latin typeface="+mn-lt"/>
              </a:rPr>
              <a:pPr algn="r">
                <a:defRPr/>
              </a:pPr>
              <a:t>78</a:t>
            </a:fld>
            <a:endParaRPr lang="en-US" sz="1200">
              <a:latin typeface="+mn-lt"/>
            </a:endParaRPr>
          </a:p>
        </p:txBody>
      </p:sp>
      <p:sp>
        <p:nvSpPr>
          <p:cNvPr id="5" name="Date Placeholder 4"/>
          <p:cNvSpPr txBox="1">
            <a:spLocks noGrp="1"/>
          </p:cNvSpPr>
          <p:nvPr/>
        </p:nvSpPr>
        <p:spPr>
          <a:xfrm>
            <a:off x="3884613" y="0"/>
            <a:ext cx="2971800" cy="457200"/>
          </a:xfrm>
          <a:prstGeom prst="rect">
            <a:avLst/>
          </a:prstGeom>
          <a:noFill/>
        </p:spPr>
        <p:txBody>
          <a:bodyPr/>
          <a:lstStyle/>
          <a:p>
            <a:pPr algn="r" fontAlgn="auto">
              <a:spcBef>
                <a:spcPts val="0"/>
              </a:spcBef>
              <a:spcAft>
                <a:spcPts val="0"/>
              </a:spcAft>
              <a:defRPr/>
            </a:pPr>
            <a:fld id="{477D06D7-1C96-4A93-A772-07F6045696EB}" type="datetime3">
              <a:rPr lang="en-US" sz="1200">
                <a:latin typeface="+mn-lt"/>
              </a:rPr>
              <a:pPr algn="r" fontAlgn="auto">
                <a:spcBef>
                  <a:spcPts val="0"/>
                </a:spcBef>
                <a:spcAft>
                  <a:spcPts val="0"/>
                </a:spcAft>
                <a:defRPr/>
              </a:pPr>
              <a:t>29 October 2020</a:t>
            </a:fld>
            <a:endParaRPr lang="en-US" sz="1200">
              <a:latin typeface="+mn-lt"/>
            </a:endParaRPr>
          </a:p>
        </p:txBody>
      </p:sp>
      <p:sp>
        <p:nvSpPr>
          <p:cNvPr id="6" name="Footer Placeholder 5"/>
          <p:cNvSpPr txBox="1">
            <a:spLocks noGrp="1"/>
          </p:cNvSpPr>
          <p:nvPr/>
        </p:nvSpPr>
        <p:spPr>
          <a:xfrm>
            <a:off x="0" y="8685213"/>
            <a:ext cx="2971800" cy="457200"/>
          </a:xfrm>
          <a:prstGeom prst="rect">
            <a:avLst/>
          </a:prstGeom>
          <a:noFill/>
        </p:spPr>
        <p:txBody>
          <a:bodyPr anchor="b"/>
          <a:lstStyle/>
          <a:p>
            <a:pPr fontAlgn="auto">
              <a:spcBef>
                <a:spcPts val="0"/>
              </a:spcBef>
              <a:spcAft>
                <a:spcPts val="0"/>
              </a:spcAft>
              <a:defRPr/>
            </a:pPr>
            <a:r>
              <a:rPr lang="en-US" sz="1200">
                <a:latin typeface="+mn-lt"/>
              </a:rPr>
              <a:t>Cont.</a:t>
            </a:r>
          </a:p>
        </p:txBody>
      </p:sp>
    </p:spTree>
    <p:extLst>
      <p:ext uri="{BB962C8B-B14F-4D97-AF65-F5344CB8AC3E}">
        <p14:creationId xmlns:p14="http://schemas.microsoft.com/office/powerpoint/2010/main" val="38613981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bwMode="auto">
          <a:noFill/>
          <a:ln>
            <a:solidFill>
              <a:srgbClr val="000000"/>
            </a:solidFill>
            <a:miter lim="800000"/>
            <a:headEnd/>
            <a:tailEnd/>
          </a:ln>
        </p:spPr>
      </p:sp>
      <p:sp>
        <p:nvSpPr>
          <p:cNvPr id="12697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0DD173A7-F568-4975-83F4-4BD882BA589C}" type="slidenum">
              <a:rPr lang="en-US" sz="1200">
                <a:latin typeface="+mn-lt"/>
              </a:rPr>
              <a:pPr algn="r">
                <a:defRPr/>
              </a:pPr>
              <a:t>81</a:t>
            </a:fld>
            <a:endParaRPr lang="en-US" sz="1200">
              <a:latin typeface="+mn-lt"/>
            </a:endParaRPr>
          </a:p>
        </p:txBody>
      </p:sp>
      <p:sp>
        <p:nvSpPr>
          <p:cNvPr id="5" name="Date Placeholder 4"/>
          <p:cNvSpPr txBox="1">
            <a:spLocks noGrp="1"/>
          </p:cNvSpPr>
          <p:nvPr/>
        </p:nvSpPr>
        <p:spPr>
          <a:xfrm>
            <a:off x="3884613" y="0"/>
            <a:ext cx="2971800" cy="457200"/>
          </a:xfrm>
          <a:prstGeom prst="rect">
            <a:avLst/>
          </a:prstGeom>
          <a:noFill/>
        </p:spPr>
        <p:txBody>
          <a:bodyPr/>
          <a:lstStyle/>
          <a:p>
            <a:pPr algn="r" fontAlgn="auto">
              <a:spcBef>
                <a:spcPts val="0"/>
              </a:spcBef>
              <a:spcAft>
                <a:spcPts val="0"/>
              </a:spcAft>
              <a:defRPr/>
            </a:pPr>
            <a:fld id="{477D06D7-1C96-4A93-A772-07F6045696EB}" type="datetime3">
              <a:rPr lang="en-US" sz="1200">
                <a:latin typeface="+mn-lt"/>
              </a:rPr>
              <a:pPr algn="r" fontAlgn="auto">
                <a:spcBef>
                  <a:spcPts val="0"/>
                </a:spcBef>
                <a:spcAft>
                  <a:spcPts val="0"/>
                </a:spcAft>
                <a:defRPr/>
              </a:pPr>
              <a:t>29 October 2020</a:t>
            </a:fld>
            <a:endParaRPr lang="en-US" sz="1200">
              <a:latin typeface="+mn-lt"/>
            </a:endParaRPr>
          </a:p>
        </p:txBody>
      </p:sp>
      <p:sp>
        <p:nvSpPr>
          <p:cNvPr id="6" name="Footer Placeholder 5"/>
          <p:cNvSpPr txBox="1">
            <a:spLocks noGrp="1"/>
          </p:cNvSpPr>
          <p:nvPr/>
        </p:nvSpPr>
        <p:spPr>
          <a:xfrm>
            <a:off x="0" y="8685213"/>
            <a:ext cx="2971800" cy="457200"/>
          </a:xfrm>
          <a:prstGeom prst="rect">
            <a:avLst/>
          </a:prstGeom>
          <a:noFill/>
        </p:spPr>
        <p:txBody>
          <a:bodyPr anchor="b"/>
          <a:lstStyle/>
          <a:p>
            <a:pPr fontAlgn="auto">
              <a:spcBef>
                <a:spcPts val="0"/>
              </a:spcBef>
              <a:spcAft>
                <a:spcPts val="0"/>
              </a:spcAft>
              <a:defRPr/>
            </a:pPr>
            <a:r>
              <a:rPr lang="en-US" sz="1200">
                <a:latin typeface="+mn-lt"/>
              </a:rPr>
              <a:t>Cont.</a:t>
            </a:r>
          </a:p>
        </p:txBody>
      </p:sp>
    </p:spTree>
    <p:extLst>
      <p:ext uri="{BB962C8B-B14F-4D97-AF65-F5344CB8AC3E}">
        <p14:creationId xmlns:p14="http://schemas.microsoft.com/office/powerpoint/2010/main" val="10663479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bwMode="auto">
          <a:noFill/>
          <a:ln>
            <a:solidFill>
              <a:srgbClr val="000000"/>
            </a:solidFill>
            <a:miter lim="800000"/>
            <a:headEnd/>
            <a:tailEnd/>
          </a:ln>
        </p:spPr>
      </p:sp>
      <p:sp>
        <p:nvSpPr>
          <p:cNvPr id="1280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6C428105-1A73-4EE7-A9DC-9058A61F8FFC}" type="slidenum">
              <a:rPr lang="en-US" sz="1200">
                <a:latin typeface="+mn-lt"/>
              </a:rPr>
              <a:pPr algn="r">
                <a:defRPr/>
              </a:pPr>
              <a:t>82</a:t>
            </a:fld>
            <a:endParaRPr lang="en-US" sz="1200">
              <a:latin typeface="+mn-lt"/>
            </a:endParaRPr>
          </a:p>
        </p:txBody>
      </p:sp>
      <p:sp>
        <p:nvSpPr>
          <p:cNvPr id="5" name="Date Placeholder 4"/>
          <p:cNvSpPr txBox="1">
            <a:spLocks noGrp="1"/>
          </p:cNvSpPr>
          <p:nvPr/>
        </p:nvSpPr>
        <p:spPr>
          <a:xfrm>
            <a:off x="3884613" y="0"/>
            <a:ext cx="2971800" cy="457200"/>
          </a:xfrm>
          <a:prstGeom prst="rect">
            <a:avLst/>
          </a:prstGeom>
          <a:noFill/>
        </p:spPr>
        <p:txBody>
          <a:bodyPr/>
          <a:lstStyle/>
          <a:p>
            <a:pPr algn="r" fontAlgn="auto">
              <a:spcBef>
                <a:spcPts val="0"/>
              </a:spcBef>
              <a:spcAft>
                <a:spcPts val="0"/>
              </a:spcAft>
              <a:defRPr/>
            </a:pPr>
            <a:fld id="{477D06D7-1C96-4A93-A772-07F6045696EB}" type="datetime3">
              <a:rPr lang="en-US" sz="1200">
                <a:latin typeface="+mn-lt"/>
              </a:rPr>
              <a:pPr algn="r" fontAlgn="auto">
                <a:spcBef>
                  <a:spcPts val="0"/>
                </a:spcBef>
                <a:spcAft>
                  <a:spcPts val="0"/>
                </a:spcAft>
                <a:defRPr/>
              </a:pPr>
              <a:t>29 October 2020</a:t>
            </a:fld>
            <a:endParaRPr lang="en-US" sz="1200">
              <a:latin typeface="+mn-lt"/>
            </a:endParaRPr>
          </a:p>
        </p:txBody>
      </p:sp>
      <p:sp>
        <p:nvSpPr>
          <p:cNvPr id="6" name="Footer Placeholder 5"/>
          <p:cNvSpPr txBox="1">
            <a:spLocks noGrp="1"/>
          </p:cNvSpPr>
          <p:nvPr/>
        </p:nvSpPr>
        <p:spPr>
          <a:xfrm>
            <a:off x="0" y="8685213"/>
            <a:ext cx="2971800" cy="457200"/>
          </a:xfrm>
          <a:prstGeom prst="rect">
            <a:avLst/>
          </a:prstGeom>
          <a:noFill/>
        </p:spPr>
        <p:txBody>
          <a:bodyPr anchor="b"/>
          <a:lstStyle/>
          <a:p>
            <a:pPr fontAlgn="auto">
              <a:spcBef>
                <a:spcPts val="0"/>
              </a:spcBef>
              <a:spcAft>
                <a:spcPts val="0"/>
              </a:spcAft>
              <a:defRPr/>
            </a:pPr>
            <a:r>
              <a:rPr lang="en-US" sz="1200">
                <a:latin typeface="+mn-lt"/>
              </a:rPr>
              <a:t>Cont.</a:t>
            </a:r>
          </a:p>
        </p:txBody>
      </p:sp>
    </p:spTree>
    <p:extLst>
      <p:ext uri="{BB962C8B-B14F-4D97-AF65-F5344CB8AC3E}">
        <p14:creationId xmlns:p14="http://schemas.microsoft.com/office/powerpoint/2010/main" val="8483332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bwMode="auto">
          <a:noFill/>
          <a:ln>
            <a:solidFill>
              <a:srgbClr val="000000"/>
            </a:solidFill>
            <a:miter lim="800000"/>
            <a:headEnd/>
            <a:tailEnd/>
          </a:ln>
        </p:spPr>
      </p:sp>
      <p:sp>
        <p:nvSpPr>
          <p:cNvPr id="12902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FFC11701-F08A-4D2B-B755-050AA5D230E0}" type="slidenum">
              <a:rPr lang="en-US" sz="1200">
                <a:latin typeface="+mn-lt"/>
              </a:rPr>
              <a:pPr algn="r">
                <a:defRPr/>
              </a:pPr>
              <a:t>84</a:t>
            </a:fld>
            <a:endParaRPr lang="en-US" sz="1200">
              <a:latin typeface="+mn-lt"/>
            </a:endParaRPr>
          </a:p>
        </p:txBody>
      </p:sp>
      <p:sp>
        <p:nvSpPr>
          <p:cNvPr id="5" name="Date Placeholder 4"/>
          <p:cNvSpPr txBox="1">
            <a:spLocks noGrp="1"/>
          </p:cNvSpPr>
          <p:nvPr/>
        </p:nvSpPr>
        <p:spPr>
          <a:xfrm>
            <a:off x="3884613" y="0"/>
            <a:ext cx="2971800" cy="457200"/>
          </a:xfrm>
          <a:prstGeom prst="rect">
            <a:avLst/>
          </a:prstGeom>
          <a:noFill/>
        </p:spPr>
        <p:txBody>
          <a:bodyPr/>
          <a:lstStyle/>
          <a:p>
            <a:pPr algn="r" fontAlgn="auto">
              <a:spcBef>
                <a:spcPts val="0"/>
              </a:spcBef>
              <a:spcAft>
                <a:spcPts val="0"/>
              </a:spcAft>
              <a:defRPr/>
            </a:pPr>
            <a:fld id="{477D06D7-1C96-4A93-A772-07F6045696EB}" type="datetime3">
              <a:rPr lang="en-US" sz="1200">
                <a:latin typeface="+mn-lt"/>
              </a:rPr>
              <a:pPr algn="r" fontAlgn="auto">
                <a:spcBef>
                  <a:spcPts val="0"/>
                </a:spcBef>
                <a:spcAft>
                  <a:spcPts val="0"/>
                </a:spcAft>
                <a:defRPr/>
              </a:pPr>
              <a:t>29 October 2020</a:t>
            </a:fld>
            <a:endParaRPr lang="en-US" sz="1200">
              <a:latin typeface="+mn-lt"/>
            </a:endParaRPr>
          </a:p>
        </p:txBody>
      </p:sp>
      <p:sp>
        <p:nvSpPr>
          <p:cNvPr id="6" name="Footer Placeholder 5"/>
          <p:cNvSpPr txBox="1">
            <a:spLocks noGrp="1"/>
          </p:cNvSpPr>
          <p:nvPr/>
        </p:nvSpPr>
        <p:spPr>
          <a:xfrm>
            <a:off x="0" y="8685213"/>
            <a:ext cx="2971800" cy="457200"/>
          </a:xfrm>
          <a:prstGeom prst="rect">
            <a:avLst/>
          </a:prstGeom>
          <a:noFill/>
        </p:spPr>
        <p:txBody>
          <a:bodyPr anchor="b"/>
          <a:lstStyle/>
          <a:p>
            <a:pPr fontAlgn="auto">
              <a:spcBef>
                <a:spcPts val="0"/>
              </a:spcBef>
              <a:spcAft>
                <a:spcPts val="0"/>
              </a:spcAft>
              <a:defRPr/>
            </a:pPr>
            <a:r>
              <a:rPr lang="en-US" sz="1200">
                <a:latin typeface="+mn-lt"/>
              </a:rPr>
              <a:t>Cont.</a:t>
            </a:r>
          </a:p>
        </p:txBody>
      </p:sp>
    </p:spTree>
    <p:extLst>
      <p:ext uri="{BB962C8B-B14F-4D97-AF65-F5344CB8AC3E}">
        <p14:creationId xmlns:p14="http://schemas.microsoft.com/office/powerpoint/2010/main" val="19843676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bwMode="auto">
          <a:noFill/>
          <a:ln>
            <a:solidFill>
              <a:srgbClr val="000000"/>
            </a:solidFill>
            <a:miter lim="800000"/>
            <a:headEnd/>
            <a:tailEnd/>
          </a:ln>
        </p:spPr>
      </p:sp>
      <p:sp>
        <p:nvSpPr>
          <p:cNvPr id="13107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A1E9C66C-7D4B-44D3-B670-FC4C2222DC16}" type="slidenum">
              <a:rPr lang="en-US" sz="1200">
                <a:latin typeface="+mn-lt"/>
              </a:rPr>
              <a:pPr algn="r">
                <a:defRPr/>
              </a:pPr>
              <a:t>85</a:t>
            </a:fld>
            <a:endParaRPr lang="en-US" sz="1200">
              <a:latin typeface="+mn-lt"/>
            </a:endParaRPr>
          </a:p>
        </p:txBody>
      </p:sp>
      <p:sp>
        <p:nvSpPr>
          <p:cNvPr id="5" name="Date Placeholder 4"/>
          <p:cNvSpPr txBox="1">
            <a:spLocks noGrp="1"/>
          </p:cNvSpPr>
          <p:nvPr/>
        </p:nvSpPr>
        <p:spPr>
          <a:xfrm>
            <a:off x="3884613" y="0"/>
            <a:ext cx="2971800" cy="457200"/>
          </a:xfrm>
          <a:prstGeom prst="rect">
            <a:avLst/>
          </a:prstGeom>
          <a:noFill/>
        </p:spPr>
        <p:txBody>
          <a:bodyPr/>
          <a:lstStyle/>
          <a:p>
            <a:pPr algn="r" fontAlgn="auto">
              <a:spcBef>
                <a:spcPts val="0"/>
              </a:spcBef>
              <a:spcAft>
                <a:spcPts val="0"/>
              </a:spcAft>
              <a:defRPr/>
            </a:pPr>
            <a:fld id="{477D06D7-1C96-4A93-A772-07F6045696EB}" type="datetime3">
              <a:rPr lang="en-US" sz="1200">
                <a:latin typeface="+mn-lt"/>
              </a:rPr>
              <a:pPr algn="r" fontAlgn="auto">
                <a:spcBef>
                  <a:spcPts val="0"/>
                </a:spcBef>
                <a:spcAft>
                  <a:spcPts val="0"/>
                </a:spcAft>
                <a:defRPr/>
              </a:pPr>
              <a:t>29 October 2020</a:t>
            </a:fld>
            <a:endParaRPr lang="en-US" sz="1200">
              <a:latin typeface="+mn-lt"/>
            </a:endParaRPr>
          </a:p>
        </p:txBody>
      </p:sp>
      <p:sp>
        <p:nvSpPr>
          <p:cNvPr id="6" name="Footer Placeholder 5"/>
          <p:cNvSpPr txBox="1">
            <a:spLocks noGrp="1"/>
          </p:cNvSpPr>
          <p:nvPr/>
        </p:nvSpPr>
        <p:spPr>
          <a:xfrm>
            <a:off x="0" y="8685213"/>
            <a:ext cx="2971800" cy="457200"/>
          </a:xfrm>
          <a:prstGeom prst="rect">
            <a:avLst/>
          </a:prstGeom>
          <a:noFill/>
        </p:spPr>
        <p:txBody>
          <a:bodyPr anchor="b"/>
          <a:lstStyle/>
          <a:p>
            <a:pPr fontAlgn="auto">
              <a:spcBef>
                <a:spcPts val="0"/>
              </a:spcBef>
              <a:spcAft>
                <a:spcPts val="0"/>
              </a:spcAft>
              <a:defRPr/>
            </a:pPr>
            <a:r>
              <a:rPr lang="en-US" sz="1200">
                <a:latin typeface="+mn-lt"/>
              </a:rPr>
              <a:t>Cont.</a:t>
            </a:r>
          </a:p>
        </p:txBody>
      </p:sp>
    </p:spTree>
    <p:extLst>
      <p:ext uri="{BB962C8B-B14F-4D97-AF65-F5344CB8AC3E}">
        <p14:creationId xmlns:p14="http://schemas.microsoft.com/office/powerpoint/2010/main" val="3855276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bwMode="auto">
          <a:noFill/>
          <a:ln>
            <a:solidFill>
              <a:srgbClr val="000000"/>
            </a:solidFill>
            <a:miter lim="800000"/>
            <a:headEnd/>
            <a:tailEnd/>
          </a:ln>
        </p:spPr>
      </p:sp>
      <p:sp>
        <p:nvSpPr>
          <p:cNvPr id="1320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F2BFE205-6A54-4888-8623-E9B244407A17}" type="slidenum">
              <a:rPr lang="en-US" sz="1200">
                <a:latin typeface="+mn-lt"/>
              </a:rPr>
              <a:pPr algn="r">
                <a:defRPr/>
              </a:pPr>
              <a:t>87</a:t>
            </a:fld>
            <a:endParaRPr lang="en-US" sz="1200">
              <a:latin typeface="+mn-lt"/>
            </a:endParaRPr>
          </a:p>
        </p:txBody>
      </p:sp>
      <p:sp>
        <p:nvSpPr>
          <p:cNvPr id="5" name="Date Placeholder 4"/>
          <p:cNvSpPr txBox="1">
            <a:spLocks noGrp="1"/>
          </p:cNvSpPr>
          <p:nvPr/>
        </p:nvSpPr>
        <p:spPr>
          <a:xfrm>
            <a:off x="3884613" y="0"/>
            <a:ext cx="2971800" cy="457200"/>
          </a:xfrm>
          <a:prstGeom prst="rect">
            <a:avLst/>
          </a:prstGeom>
          <a:noFill/>
        </p:spPr>
        <p:txBody>
          <a:bodyPr/>
          <a:lstStyle/>
          <a:p>
            <a:pPr algn="r" fontAlgn="auto">
              <a:spcBef>
                <a:spcPts val="0"/>
              </a:spcBef>
              <a:spcAft>
                <a:spcPts val="0"/>
              </a:spcAft>
              <a:defRPr/>
            </a:pPr>
            <a:fld id="{477D06D7-1C96-4A93-A772-07F6045696EB}" type="datetime3">
              <a:rPr lang="en-US" sz="1200">
                <a:latin typeface="+mn-lt"/>
              </a:rPr>
              <a:pPr algn="r" fontAlgn="auto">
                <a:spcBef>
                  <a:spcPts val="0"/>
                </a:spcBef>
                <a:spcAft>
                  <a:spcPts val="0"/>
                </a:spcAft>
                <a:defRPr/>
              </a:pPr>
              <a:t>29 October 2020</a:t>
            </a:fld>
            <a:endParaRPr lang="en-US" sz="1200">
              <a:latin typeface="+mn-lt"/>
            </a:endParaRPr>
          </a:p>
        </p:txBody>
      </p:sp>
      <p:sp>
        <p:nvSpPr>
          <p:cNvPr id="6" name="Footer Placeholder 5"/>
          <p:cNvSpPr txBox="1">
            <a:spLocks noGrp="1"/>
          </p:cNvSpPr>
          <p:nvPr/>
        </p:nvSpPr>
        <p:spPr>
          <a:xfrm>
            <a:off x="0" y="8685213"/>
            <a:ext cx="2971800" cy="457200"/>
          </a:xfrm>
          <a:prstGeom prst="rect">
            <a:avLst/>
          </a:prstGeom>
          <a:noFill/>
        </p:spPr>
        <p:txBody>
          <a:bodyPr anchor="b"/>
          <a:lstStyle/>
          <a:p>
            <a:pPr fontAlgn="auto">
              <a:spcBef>
                <a:spcPts val="0"/>
              </a:spcBef>
              <a:spcAft>
                <a:spcPts val="0"/>
              </a:spcAft>
              <a:defRPr/>
            </a:pPr>
            <a:r>
              <a:rPr lang="en-US" sz="1200">
                <a:latin typeface="+mn-lt"/>
              </a:rPr>
              <a:t>Cont.</a:t>
            </a:r>
          </a:p>
        </p:txBody>
      </p:sp>
    </p:spTree>
    <p:extLst>
      <p:ext uri="{BB962C8B-B14F-4D97-AF65-F5344CB8AC3E}">
        <p14:creationId xmlns:p14="http://schemas.microsoft.com/office/powerpoint/2010/main" val="14733471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bwMode="auto">
          <a:noFill/>
          <a:ln>
            <a:solidFill>
              <a:srgbClr val="000000"/>
            </a:solidFill>
            <a:miter lim="800000"/>
            <a:headEnd/>
            <a:tailEnd/>
          </a:ln>
        </p:spPr>
      </p:sp>
      <p:sp>
        <p:nvSpPr>
          <p:cNvPr id="13414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948E537F-3557-46E4-98C1-D2ACA386C55C}" type="slidenum">
              <a:rPr lang="en-US" sz="1200">
                <a:latin typeface="+mn-lt"/>
              </a:rPr>
              <a:pPr algn="r">
                <a:defRPr/>
              </a:pPr>
              <a:t>89</a:t>
            </a:fld>
            <a:endParaRPr lang="en-US" sz="1200">
              <a:latin typeface="+mn-lt"/>
            </a:endParaRPr>
          </a:p>
        </p:txBody>
      </p:sp>
      <p:sp>
        <p:nvSpPr>
          <p:cNvPr id="5" name="Date Placeholder 4"/>
          <p:cNvSpPr txBox="1">
            <a:spLocks noGrp="1"/>
          </p:cNvSpPr>
          <p:nvPr/>
        </p:nvSpPr>
        <p:spPr>
          <a:xfrm>
            <a:off x="3884613" y="0"/>
            <a:ext cx="2971800" cy="457200"/>
          </a:xfrm>
          <a:prstGeom prst="rect">
            <a:avLst/>
          </a:prstGeom>
          <a:noFill/>
        </p:spPr>
        <p:txBody>
          <a:bodyPr/>
          <a:lstStyle/>
          <a:p>
            <a:pPr algn="r" fontAlgn="auto">
              <a:spcBef>
                <a:spcPts val="0"/>
              </a:spcBef>
              <a:spcAft>
                <a:spcPts val="0"/>
              </a:spcAft>
              <a:defRPr/>
            </a:pPr>
            <a:fld id="{477D06D7-1C96-4A93-A772-07F6045696EB}" type="datetime3">
              <a:rPr lang="en-US" sz="1200">
                <a:latin typeface="+mn-lt"/>
              </a:rPr>
              <a:pPr algn="r" fontAlgn="auto">
                <a:spcBef>
                  <a:spcPts val="0"/>
                </a:spcBef>
                <a:spcAft>
                  <a:spcPts val="0"/>
                </a:spcAft>
                <a:defRPr/>
              </a:pPr>
              <a:t>29 October 2020</a:t>
            </a:fld>
            <a:endParaRPr lang="en-US" sz="1200">
              <a:latin typeface="+mn-lt"/>
            </a:endParaRPr>
          </a:p>
        </p:txBody>
      </p:sp>
      <p:sp>
        <p:nvSpPr>
          <p:cNvPr id="6" name="Footer Placeholder 5"/>
          <p:cNvSpPr txBox="1">
            <a:spLocks noGrp="1"/>
          </p:cNvSpPr>
          <p:nvPr/>
        </p:nvSpPr>
        <p:spPr>
          <a:xfrm>
            <a:off x="0" y="8685213"/>
            <a:ext cx="2971800" cy="457200"/>
          </a:xfrm>
          <a:prstGeom prst="rect">
            <a:avLst/>
          </a:prstGeom>
          <a:noFill/>
        </p:spPr>
        <p:txBody>
          <a:bodyPr anchor="b"/>
          <a:lstStyle/>
          <a:p>
            <a:pPr fontAlgn="auto">
              <a:spcBef>
                <a:spcPts val="0"/>
              </a:spcBef>
              <a:spcAft>
                <a:spcPts val="0"/>
              </a:spcAft>
              <a:defRPr/>
            </a:pPr>
            <a:r>
              <a:rPr lang="en-US" sz="1200">
                <a:latin typeface="+mn-lt"/>
              </a:rPr>
              <a:t>Cont.</a:t>
            </a:r>
          </a:p>
        </p:txBody>
      </p:sp>
    </p:spTree>
    <p:extLst>
      <p:ext uri="{BB962C8B-B14F-4D97-AF65-F5344CB8AC3E}">
        <p14:creationId xmlns:p14="http://schemas.microsoft.com/office/powerpoint/2010/main" val="38158819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93</a:t>
            </a:fld>
            <a:endParaRPr lang="en-US"/>
          </a:p>
        </p:txBody>
      </p:sp>
    </p:spTree>
    <p:extLst>
      <p:ext uri="{BB962C8B-B14F-4D97-AF65-F5344CB8AC3E}">
        <p14:creationId xmlns:p14="http://schemas.microsoft.com/office/powerpoint/2010/main" val="4835957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94</a:t>
            </a:fld>
            <a:endParaRPr lang="en-US"/>
          </a:p>
        </p:txBody>
      </p:sp>
    </p:spTree>
    <p:extLst>
      <p:ext uri="{BB962C8B-B14F-4D97-AF65-F5344CB8AC3E}">
        <p14:creationId xmlns:p14="http://schemas.microsoft.com/office/powerpoint/2010/main" val="7518805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95</a:t>
            </a:fld>
            <a:endParaRPr lang="en-US"/>
          </a:p>
        </p:txBody>
      </p:sp>
    </p:spTree>
    <p:extLst>
      <p:ext uri="{BB962C8B-B14F-4D97-AF65-F5344CB8AC3E}">
        <p14:creationId xmlns:p14="http://schemas.microsoft.com/office/powerpoint/2010/main" val="10558044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96</a:t>
            </a:fld>
            <a:endParaRPr lang="en-US"/>
          </a:p>
        </p:txBody>
      </p:sp>
    </p:spTree>
    <p:extLst>
      <p:ext uri="{BB962C8B-B14F-4D97-AF65-F5344CB8AC3E}">
        <p14:creationId xmlns:p14="http://schemas.microsoft.com/office/powerpoint/2010/main" val="21209512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97</a:t>
            </a:fld>
            <a:endParaRPr lang="en-US"/>
          </a:p>
        </p:txBody>
      </p:sp>
    </p:spTree>
    <p:extLst>
      <p:ext uri="{BB962C8B-B14F-4D97-AF65-F5344CB8AC3E}">
        <p14:creationId xmlns:p14="http://schemas.microsoft.com/office/powerpoint/2010/main" val="3914435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98</a:t>
            </a:fld>
            <a:endParaRPr lang="en-US"/>
          </a:p>
        </p:txBody>
      </p:sp>
    </p:spTree>
    <p:extLst>
      <p:ext uri="{BB962C8B-B14F-4D97-AF65-F5344CB8AC3E}">
        <p14:creationId xmlns:p14="http://schemas.microsoft.com/office/powerpoint/2010/main" val="22411616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99</a:t>
            </a:fld>
            <a:endParaRPr lang="en-US"/>
          </a:p>
        </p:txBody>
      </p:sp>
    </p:spTree>
    <p:extLst>
      <p:ext uri="{BB962C8B-B14F-4D97-AF65-F5344CB8AC3E}">
        <p14:creationId xmlns:p14="http://schemas.microsoft.com/office/powerpoint/2010/main" val="14752692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100</a:t>
            </a:fld>
            <a:endParaRPr lang="en-US"/>
          </a:p>
        </p:txBody>
      </p:sp>
    </p:spTree>
    <p:extLst>
      <p:ext uri="{BB962C8B-B14F-4D97-AF65-F5344CB8AC3E}">
        <p14:creationId xmlns:p14="http://schemas.microsoft.com/office/powerpoint/2010/main" val="42500696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101</a:t>
            </a:fld>
            <a:endParaRPr lang="en-US"/>
          </a:p>
        </p:txBody>
      </p:sp>
    </p:spTree>
    <p:extLst>
      <p:ext uri="{BB962C8B-B14F-4D97-AF65-F5344CB8AC3E}">
        <p14:creationId xmlns:p14="http://schemas.microsoft.com/office/powerpoint/2010/main" val="41080183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102</a:t>
            </a:fld>
            <a:endParaRPr lang="en-US"/>
          </a:p>
        </p:txBody>
      </p:sp>
    </p:spTree>
    <p:extLst>
      <p:ext uri="{BB962C8B-B14F-4D97-AF65-F5344CB8AC3E}">
        <p14:creationId xmlns:p14="http://schemas.microsoft.com/office/powerpoint/2010/main" val="30680290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103</a:t>
            </a:fld>
            <a:endParaRPr lang="en-US"/>
          </a:p>
        </p:txBody>
      </p:sp>
    </p:spTree>
    <p:extLst>
      <p:ext uri="{BB962C8B-B14F-4D97-AF65-F5344CB8AC3E}">
        <p14:creationId xmlns:p14="http://schemas.microsoft.com/office/powerpoint/2010/main" val="29064493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104</a:t>
            </a:fld>
            <a:endParaRPr lang="en-US"/>
          </a:p>
        </p:txBody>
      </p:sp>
    </p:spTree>
    <p:extLst>
      <p:ext uri="{BB962C8B-B14F-4D97-AF65-F5344CB8AC3E}">
        <p14:creationId xmlns:p14="http://schemas.microsoft.com/office/powerpoint/2010/main" val="4845457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105</a:t>
            </a:fld>
            <a:endParaRPr lang="en-US"/>
          </a:p>
        </p:txBody>
      </p:sp>
    </p:spTree>
    <p:extLst>
      <p:ext uri="{BB962C8B-B14F-4D97-AF65-F5344CB8AC3E}">
        <p14:creationId xmlns:p14="http://schemas.microsoft.com/office/powerpoint/2010/main" val="11464611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106</a:t>
            </a:fld>
            <a:endParaRPr lang="en-US"/>
          </a:p>
        </p:txBody>
      </p:sp>
    </p:spTree>
    <p:extLst>
      <p:ext uri="{BB962C8B-B14F-4D97-AF65-F5344CB8AC3E}">
        <p14:creationId xmlns:p14="http://schemas.microsoft.com/office/powerpoint/2010/main" val="175239940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107</a:t>
            </a:fld>
            <a:endParaRPr lang="en-US"/>
          </a:p>
        </p:txBody>
      </p:sp>
    </p:spTree>
    <p:extLst>
      <p:ext uri="{BB962C8B-B14F-4D97-AF65-F5344CB8AC3E}">
        <p14:creationId xmlns:p14="http://schemas.microsoft.com/office/powerpoint/2010/main" val="35861070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108</a:t>
            </a:fld>
            <a:endParaRPr lang="en-US"/>
          </a:p>
        </p:txBody>
      </p:sp>
    </p:spTree>
    <p:extLst>
      <p:ext uri="{BB962C8B-B14F-4D97-AF65-F5344CB8AC3E}">
        <p14:creationId xmlns:p14="http://schemas.microsoft.com/office/powerpoint/2010/main" val="15474287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A9E06A-8D5D-4875-98D0-9BDD5024171F}" type="slidenum">
              <a:rPr lang="en-US" smtClean="0"/>
              <a:pPr/>
              <a:t>109</a:t>
            </a:fld>
            <a:endParaRPr lang="en-US"/>
          </a:p>
        </p:txBody>
      </p:sp>
    </p:spTree>
    <p:extLst>
      <p:ext uri="{BB962C8B-B14F-4D97-AF65-F5344CB8AC3E}">
        <p14:creationId xmlns:p14="http://schemas.microsoft.com/office/powerpoint/2010/main" val="4728749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
        <p:nvSpPr>
          <p:cNvPr id="3277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514C464-6861-4955-BC81-59DA9399A8C7}" type="slidenum">
              <a:rPr lang="en-US">
                <a:latin typeface="Calibri" panose="020F0502020204030204" pitchFamily="34" charset="0"/>
              </a:rPr>
              <a:pPr eaLnBrk="1" hangingPunct="1"/>
              <a:t>110</a:t>
            </a:fld>
            <a:endParaRPr lang="en-US">
              <a:latin typeface="Calibri" panose="020F0502020204030204" pitchFamily="34" charset="0"/>
            </a:endParaRPr>
          </a:p>
        </p:txBody>
      </p:sp>
      <p:sp>
        <p:nvSpPr>
          <p:cNvPr id="32773" name="Footer Placeholder 4"/>
          <p:cNvSpPr>
            <a:spLocks noGrp="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smtClean="0"/>
              <a:t>www.rcsaini.blogspot.com</a:t>
            </a:r>
          </a:p>
        </p:txBody>
      </p:sp>
      <p:sp>
        <p:nvSpPr>
          <p:cNvPr id="32774" name="Header Placeholder 5"/>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n-US" smtClean="0"/>
              <a:t>www.rcsaini.blogspot.com</a:t>
            </a:r>
          </a:p>
        </p:txBody>
      </p:sp>
    </p:spTree>
    <p:extLst>
      <p:ext uri="{BB962C8B-B14F-4D97-AF65-F5344CB8AC3E}">
        <p14:creationId xmlns:p14="http://schemas.microsoft.com/office/powerpoint/2010/main" val="1864778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4D26C26-1818-4218-96E9-279624ED1631}" type="datetime1">
              <a:rPr lang="en-US" smtClean="0">
                <a:solidFill>
                  <a:prstClr val="black">
                    <a:tint val="75000"/>
                  </a:prstClr>
                </a:solidFill>
              </a:rPr>
              <a:t>10/29/2020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5191DE1-7F5A-44CD-9F3E-A95E2D010AE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238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14993A-7C1F-4C33-ADBE-8B4BB8E29E7A}" type="datetime1">
              <a:rPr lang="en-US" smtClean="0">
                <a:solidFill>
                  <a:prstClr val="black">
                    <a:tint val="75000"/>
                  </a:prstClr>
                </a:solidFill>
              </a:rPr>
              <a:t>10/29/2020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5191DE1-7F5A-44CD-9F3E-A95E2D010AE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83897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C1CFBB80-103A-4A1F-941A-128659CFDC9F}" type="datetimeFigureOut">
              <a:rPr lang="en-US" smtClean="0"/>
              <a:pPr/>
              <a:t>10/29/2020</a:t>
            </a:fld>
            <a:endParaRPr lang="en-IN"/>
          </a:p>
        </p:txBody>
      </p:sp>
      <p:sp>
        <p:nvSpPr>
          <p:cNvPr id="9" name="Slide Number Placeholder 8"/>
          <p:cNvSpPr>
            <a:spLocks noGrp="1"/>
          </p:cNvSpPr>
          <p:nvPr>
            <p:ph type="sldNum" sz="quarter" idx="15"/>
          </p:nvPr>
        </p:nvSpPr>
        <p:spPr/>
        <p:txBody>
          <a:bodyPr rtlCol="0"/>
          <a:lstStyle/>
          <a:p>
            <a:fld id="{41F94EDD-D845-48AB-B01E-E1FCDA2D3009}" type="slidenum">
              <a:rPr lang="en-IN" smtClean="0"/>
              <a:pPr/>
              <a:t>‹#›</a:t>
            </a:fld>
            <a:endParaRPr lang="en-IN"/>
          </a:p>
        </p:txBody>
      </p:sp>
      <p:sp>
        <p:nvSpPr>
          <p:cNvPr id="10" name="Footer Placeholder 9"/>
          <p:cNvSpPr>
            <a:spLocks noGrp="1"/>
          </p:cNvSpPr>
          <p:nvPr>
            <p:ph type="ftr" sz="quarter" idx="16"/>
          </p:nvPr>
        </p:nvSpPr>
        <p:spPr/>
        <p:txBody>
          <a:bodyPr rtlCol="0"/>
          <a:lstStyle/>
          <a:p>
            <a:endParaRPr lang="en-IN"/>
          </a:p>
        </p:txBody>
      </p:sp>
    </p:spTree>
    <p:extLst>
      <p:ext uri="{BB962C8B-B14F-4D97-AF65-F5344CB8AC3E}">
        <p14:creationId xmlns:p14="http://schemas.microsoft.com/office/powerpoint/2010/main" val="2307694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C1CFBB80-103A-4A1F-941A-128659CFDC9F}" type="datetimeFigureOut">
              <a:rPr lang="en-US" smtClean="0"/>
              <a:pPr/>
              <a:t>10/29/2020</a:t>
            </a:fld>
            <a:endParaRPr lang="en-IN"/>
          </a:p>
        </p:txBody>
      </p:sp>
      <p:sp>
        <p:nvSpPr>
          <p:cNvPr id="7" name="Slide Number Placeholder 6"/>
          <p:cNvSpPr>
            <a:spLocks noGrp="1"/>
          </p:cNvSpPr>
          <p:nvPr>
            <p:ph type="sldNum" sz="quarter" idx="11"/>
          </p:nvPr>
        </p:nvSpPr>
        <p:spPr/>
        <p:txBody>
          <a:bodyPr rtlCol="0"/>
          <a:lstStyle/>
          <a:p>
            <a:fld id="{41F94EDD-D845-48AB-B01E-E1FCDA2D3009}" type="slidenum">
              <a:rPr lang="en-IN" smtClean="0"/>
              <a:pPr/>
              <a:t>‹#›</a:t>
            </a:fld>
            <a:endParaRPr lang="en-IN"/>
          </a:p>
        </p:txBody>
      </p:sp>
      <p:sp>
        <p:nvSpPr>
          <p:cNvPr id="8" name="Footer Placeholder 7"/>
          <p:cNvSpPr>
            <a:spLocks noGrp="1"/>
          </p:cNvSpPr>
          <p:nvPr>
            <p:ph type="ftr" sz="quarter" idx="12"/>
          </p:nvPr>
        </p:nvSpPr>
        <p:spPr/>
        <p:txBody>
          <a:bodyPr rtlCol="0"/>
          <a:lstStyle/>
          <a:p>
            <a:endParaRPr lang="en-IN"/>
          </a:p>
        </p:txBody>
      </p:sp>
    </p:spTree>
    <p:extLst>
      <p:ext uri="{BB962C8B-B14F-4D97-AF65-F5344CB8AC3E}">
        <p14:creationId xmlns:p14="http://schemas.microsoft.com/office/powerpoint/2010/main" val="729405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CFBB80-103A-4A1F-941A-128659CFDC9F}" type="datetimeFigureOut">
              <a:rPr lang="en-US" smtClean="0"/>
              <a:pPr/>
              <a:t>10/29/2020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F94EDD-D845-48AB-B01E-E1FCDA2D3009}" type="slidenum">
              <a:rPr lang="en-IN" smtClean="0"/>
              <a:pPr/>
              <a:t>‹#›</a:t>
            </a:fld>
            <a:endParaRPr lang="en-IN"/>
          </a:p>
        </p:txBody>
      </p:sp>
    </p:spTree>
    <p:extLst>
      <p:ext uri="{BB962C8B-B14F-4D97-AF65-F5344CB8AC3E}">
        <p14:creationId xmlns:p14="http://schemas.microsoft.com/office/powerpoint/2010/main" val="2143633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1CFBB80-103A-4A1F-941A-128659CFDC9F}" type="datetimeFigureOut">
              <a:rPr lang="en-US" smtClean="0"/>
              <a:pPr/>
              <a:t>10/29/2020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F94EDD-D845-48AB-B01E-E1FCDA2D3009}" type="slidenum">
              <a:rPr lang="en-IN" smtClean="0"/>
              <a:pPr/>
              <a:t>‹#›</a:t>
            </a:fld>
            <a:endParaRPr lang="en-IN"/>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p14="http://schemas.microsoft.com/office/powerpoint/2010/main" val="1654709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C4AF3B7-F85C-4BB8-82C6-4CDF5F20F2D1}" type="datetime1">
              <a:rPr lang="en-US" smtClean="0"/>
              <a:t>10/29/2020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787099-67DC-48B7-8B5D-B4E4F9957F64}" type="slidenum">
              <a:rPr lang="en-US" smtClean="0"/>
              <a:t>‹#›</a:t>
            </a:fld>
            <a:endParaRPr lang="en-US"/>
          </a:p>
        </p:txBody>
      </p:sp>
    </p:spTree>
    <p:extLst>
      <p:ext uri="{BB962C8B-B14F-4D97-AF65-F5344CB8AC3E}">
        <p14:creationId xmlns:p14="http://schemas.microsoft.com/office/powerpoint/2010/main" val="1080467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E8EF3E-F3E0-4AA8-BC53-F79B42D3E8E8}" type="datetime1">
              <a:rPr lang="en-US" smtClean="0"/>
              <a:t>10/29/2020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787099-67DC-48B7-8B5D-B4E4F9957F64}" type="slidenum">
              <a:rPr lang="en-US" smtClean="0"/>
              <a:t>‹#›</a:t>
            </a:fld>
            <a:endParaRPr lang="en-US"/>
          </a:p>
        </p:txBody>
      </p:sp>
    </p:spTree>
    <p:extLst>
      <p:ext uri="{BB962C8B-B14F-4D97-AF65-F5344CB8AC3E}">
        <p14:creationId xmlns:p14="http://schemas.microsoft.com/office/powerpoint/2010/main" val="3338664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4361F6-C92B-4C33-9BF4-46797BCB986A}" type="datetime1">
              <a:rPr lang="en-US" smtClean="0"/>
              <a:t>10/29/2020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787099-67DC-48B7-8B5D-B4E4F9957F64}" type="slidenum">
              <a:rPr lang="en-US" smtClean="0"/>
              <a:t>‹#›</a:t>
            </a:fld>
            <a:endParaRPr lang="en-US"/>
          </a:p>
        </p:txBody>
      </p:sp>
    </p:spTree>
    <p:extLst>
      <p:ext uri="{BB962C8B-B14F-4D97-AF65-F5344CB8AC3E}">
        <p14:creationId xmlns:p14="http://schemas.microsoft.com/office/powerpoint/2010/main" val="2463533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24A3B45-D52A-4BA3-B031-28B85860F2BE}" type="datetime1">
              <a:rPr lang="en-US" smtClean="0"/>
              <a:t>10/29/2020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787099-67DC-48B7-8B5D-B4E4F9957F64}" type="slidenum">
              <a:rPr lang="en-US" smtClean="0"/>
              <a:t>‹#›</a:t>
            </a:fld>
            <a:endParaRPr lang="en-US"/>
          </a:p>
        </p:txBody>
      </p:sp>
    </p:spTree>
    <p:extLst>
      <p:ext uri="{BB962C8B-B14F-4D97-AF65-F5344CB8AC3E}">
        <p14:creationId xmlns:p14="http://schemas.microsoft.com/office/powerpoint/2010/main" val="319951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EC1640B-2DA0-414D-B6EC-BD790DFB2297}" type="datetime1">
              <a:rPr lang="en-US" smtClean="0"/>
              <a:t>10/29/2020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787099-67DC-48B7-8B5D-B4E4F9957F64}" type="slidenum">
              <a:rPr lang="en-US" smtClean="0"/>
              <a:t>‹#›</a:t>
            </a:fld>
            <a:endParaRPr lang="en-US"/>
          </a:p>
        </p:txBody>
      </p:sp>
    </p:spTree>
    <p:extLst>
      <p:ext uri="{BB962C8B-B14F-4D97-AF65-F5344CB8AC3E}">
        <p14:creationId xmlns:p14="http://schemas.microsoft.com/office/powerpoint/2010/main" val="1651477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BC2AAC-EFB1-4020-9FAD-24A98883D163}" type="datetime1">
              <a:rPr lang="en-US" smtClean="0"/>
              <a:t>10/29/2020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787099-67DC-48B7-8B5D-B4E4F9957F64}" type="slidenum">
              <a:rPr lang="en-US" smtClean="0"/>
              <a:t>‹#›</a:t>
            </a:fld>
            <a:endParaRPr lang="en-US"/>
          </a:p>
        </p:txBody>
      </p:sp>
    </p:spTree>
    <p:extLst>
      <p:ext uri="{BB962C8B-B14F-4D97-AF65-F5344CB8AC3E}">
        <p14:creationId xmlns:p14="http://schemas.microsoft.com/office/powerpoint/2010/main" val="14385227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45061A-D88D-49BC-81A2-06BB26905D2F}" type="datetime1">
              <a:rPr lang="en-US" smtClean="0"/>
              <a:t>10/29/2020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787099-67DC-48B7-8B5D-B4E4F9957F64}" type="slidenum">
              <a:rPr lang="en-US" smtClean="0"/>
              <a:t>‹#›</a:t>
            </a:fld>
            <a:endParaRPr lang="en-US"/>
          </a:p>
        </p:txBody>
      </p:sp>
    </p:spTree>
    <p:extLst>
      <p:ext uri="{BB962C8B-B14F-4D97-AF65-F5344CB8AC3E}">
        <p14:creationId xmlns:p14="http://schemas.microsoft.com/office/powerpoint/2010/main" val="29860605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46F699-B529-4893-B1C6-07401177C3A3}" type="datetime1">
              <a:rPr lang="en-US" smtClean="0"/>
              <a:t>10/29/2020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787099-67DC-48B7-8B5D-B4E4F9957F64}" type="slidenum">
              <a:rPr lang="en-US" smtClean="0"/>
              <a:t>‹#›</a:t>
            </a:fld>
            <a:endParaRPr lang="en-US"/>
          </a:p>
        </p:txBody>
      </p:sp>
    </p:spTree>
    <p:extLst>
      <p:ext uri="{BB962C8B-B14F-4D97-AF65-F5344CB8AC3E}">
        <p14:creationId xmlns:p14="http://schemas.microsoft.com/office/powerpoint/2010/main" val="11449582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663253-3715-46F9-A8B6-04F9AA263393}" type="datetime1">
              <a:rPr lang="en-US" smtClean="0"/>
              <a:t>10/29/2020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787099-67DC-48B7-8B5D-B4E4F9957F64}" type="slidenum">
              <a:rPr lang="en-US" smtClean="0"/>
              <a:t>‹#›</a:t>
            </a:fld>
            <a:endParaRPr lang="en-US"/>
          </a:p>
        </p:txBody>
      </p:sp>
    </p:spTree>
    <p:extLst>
      <p:ext uri="{BB962C8B-B14F-4D97-AF65-F5344CB8AC3E}">
        <p14:creationId xmlns:p14="http://schemas.microsoft.com/office/powerpoint/2010/main" val="2703322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44916E-565E-4CE2-8294-04C89979E998}" type="datetime1">
              <a:rPr lang="en-US" smtClean="0"/>
              <a:t>10/29/2020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787099-67DC-48B7-8B5D-B4E4F9957F64}" type="slidenum">
              <a:rPr lang="en-US" smtClean="0"/>
              <a:t>‹#›</a:t>
            </a:fld>
            <a:endParaRPr lang="en-US"/>
          </a:p>
        </p:txBody>
      </p:sp>
    </p:spTree>
    <p:extLst>
      <p:ext uri="{BB962C8B-B14F-4D97-AF65-F5344CB8AC3E}">
        <p14:creationId xmlns:p14="http://schemas.microsoft.com/office/powerpoint/2010/main" val="19849417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0FA3DF-0E00-4EB7-8621-E1BBD3C0725F}" type="datetime1">
              <a:rPr lang="en-US" smtClean="0"/>
              <a:t>10/29/2020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787099-67DC-48B7-8B5D-B4E4F9957F64}" type="slidenum">
              <a:rPr lang="en-US" smtClean="0"/>
              <a:t>‹#›</a:t>
            </a:fld>
            <a:endParaRPr lang="en-US"/>
          </a:p>
        </p:txBody>
      </p:sp>
    </p:spTree>
    <p:extLst>
      <p:ext uri="{BB962C8B-B14F-4D97-AF65-F5344CB8AC3E}">
        <p14:creationId xmlns:p14="http://schemas.microsoft.com/office/powerpoint/2010/main" val="586185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hyperlink" Target="https://www.google.com/url?sa=i&amp;url=http://geebangladesh.com/srmist&amp;psig=AOvVaw3J_0Sc7hN6F75wUWqNW0I_&amp;ust=1593345629570000&amp;source=images&amp;cd=vfe&amp;ved=0CAIQjRxqFwoTCKjQ3ZT5oeoCFQAAAAAdAAAAABAN" TargetMode="Externa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5870" y="152400"/>
            <a:ext cx="6700930" cy="10668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F60429-F5BE-4A0B-AD13-6F47B9CA1DFD}" type="datetime1">
              <a:rPr lang="en-US" smtClean="0">
                <a:solidFill>
                  <a:prstClr val="black">
                    <a:tint val="75000"/>
                  </a:prstClr>
                </a:solidFill>
              </a:rPr>
              <a:t>10/29/2020</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191DE1-7F5A-44CD-9F3E-A95E2D010AEE}" type="slidenum">
              <a:rPr lang="en-US" smtClean="0">
                <a:solidFill>
                  <a:prstClr val="black">
                    <a:tint val="75000"/>
                  </a:prstClr>
                </a:solidFill>
              </a:rPr>
              <a:pPr/>
              <a:t>‹#›</a:t>
            </a:fld>
            <a:endParaRPr lang="en-US">
              <a:solidFill>
                <a:prstClr val="black">
                  <a:tint val="75000"/>
                </a:prstClr>
              </a:solidFill>
            </a:endParaRPr>
          </a:p>
        </p:txBody>
      </p:sp>
      <p:pic>
        <p:nvPicPr>
          <p:cNvPr id="1026" name="Picture 2" descr="SRMIST">
            <a:hlinkClick r:id="rId8"/>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1" y="45228"/>
            <a:ext cx="1981200" cy="869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7692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5" r:id="rId3"/>
    <p:sldLayoutId id="2147483676" r:id="rId4"/>
    <p:sldLayoutId id="2147483677" r:id="rId5"/>
    <p:sldLayoutId id="2147483678" r:id="rId6"/>
  </p:sldLayoutIdLst>
  <p:hf hdr="0"/>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3D8FA0-1E32-41A5-8975-F6155539437C}" type="datetime1">
              <a:rPr lang="en-US" smtClean="0"/>
              <a:t>10/29/2020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787099-67DC-48B7-8B5D-B4E4F9957F64}" type="slidenum">
              <a:rPr lang="en-US" smtClean="0"/>
              <a:t>‹#›</a:t>
            </a:fld>
            <a:endParaRPr lang="en-US"/>
          </a:p>
        </p:txBody>
      </p:sp>
    </p:spTree>
    <p:extLst>
      <p:ext uri="{BB962C8B-B14F-4D97-AF65-F5344CB8AC3E}">
        <p14:creationId xmlns:p14="http://schemas.microsoft.com/office/powerpoint/2010/main" val="1602798087"/>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5.png"/><Relationship Id="rId1" Type="http://schemas.openxmlformats.org/officeDocument/2006/relationships/slideLayout" Target="../slideLayouts/slideLayout3.xml"/><Relationship Id="rId5" Type="http://schemas.microsoft.com/office/2007/relationships/hdphoto" Target="../media/hdphoto4.wdp"/><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microsoft.com/office/2007/relationships/hdphoto" Target="../media/hdphoto5.wdp"/><Relationship Id="rId7" Type="http://schemas.microsoft.com/office/2007/relationships/hdphoto" Target="../media/hdphoto7.wdp"/><Relationship Id="rId2"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19.png"/><Relationship Id="rId5" Type="http://schemas.microsoft.com/office/2007/relationships/hdphoto" Target="../media/hdphoto6.wdp"/><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27.png"/><Relationship Id="rId5" Type="http://schemas.openxmlformats.org/officeDocument/2006/relationships/oleObject" Target="../embeddings/oleObject1.bin"/><Relationship Id="rId4" Type="http://schemas.openxmlformats.org/officeDocument/2006/relationships/image" Target="../media/image28.jpeg"/></Relationships>
</file>

<file path=ppt/slides/_rels/slide40.xml.rels><?xml version="1.0" encoding="UTF-8" standalone="yes"?>
<Relationships xmlns="http://schemas.openxmlformats.org/package/2006/relationships"><Relationship Id="rId3" Type="http://schemas.openxmlformats.org/officeDocument/2006/relationships/hyperlink" Target="Lego%20gantry%20robot%20with%20machine%20vision.mp4"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30.jpeg"/><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9.png"/><Relationship Id="rId1" Type="http://schemas.openxmlformats.org/officeDocument/2006/relationships/slideLayout" Target="../slideLayouts/slideLayout4.xml"/><Relationship Id="rId4" Type="http://schemas.microsoft.com/office/2007/relationships/hdphoto" Target="../media/hdphoto9.wdp"/></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33.png"/><Relationship Id="rId5" Type="http://schemas.openxmlformats.org/officeDocument/2006/relationships/oleObject" Target="../embeddings/oleObject2.bin"/><Relationship Id="rId4" Type="http://schemas.openxmlformats.org/officeDocument/2006/relationships/image" Target="../media/image34.jpeg"/></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4.jpe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hyperlink" Target="Project%201%20%20Spherical%20Polar%20Coordinates%20Robot.mp4" TargetMode="External"/><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image" Target="../media/image38.png"/><Relationship Id="rId5" Type="http://schemas.openxmlformats.org/officeDocument/2006/relationships/oleObject" Target="../embeddings/oleObject3.bin"/><Relationship Id="rId4" Type="http://schemas.openxmlformats.org/officeDocument/2006/relationships/image" Target="../media/image39.jpeg"/></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1.png"/><Relationship Id="rId1" Type="http://schemas.openxmlformats.org/officeDocument/2006/relationships/slideLayout" Target="../slideLayouts/slideLayout4.xml"/><Relationship Id="rId4" Type="http://schemas.microsoft.com/office/2007/relationships/hdphoto" Target="../media/hdphoto10.wdp"/></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45.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hyperlink" Target="joint%20arm%20configuration.mp4"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image" Target="../media/image46.png"/><Relationship Id="rId5" Type="http://schemas.openxmlformats.org/officeDocument/2006/relationships/oleObject" Target="../embeddings/oleObject4.bin"/><Relationship Id="rId4" Type="http://schemas.openxmlformats.org/officeDocument/2006/relationships/hyperlink" Target="joint%20arm%20configuration.mp4"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microsoft.com/office/2007/relationships/hdphoto" Target="../media/hdphoto11.wdp"/><Relationship Id="rId5" Type="http://schemas.openxmlformats.org/officeDocument/2006/relationships/image" Target="../media/image49.png"/><Relationship Id="rId4" Type="http://schemas.openxmlformats.org/officeDocument/2006/relationships/image" Target="../media/image46.png"/></Relationships>
</file>

<file path=ppt/slides/_rels/slide62.xml.rels><?xml version="1.0" encoding="UTF-8" standalone="yes"?>
<Relationships xmlns="http://schemas.openxmlformats.org/package/2006/relationships"><Relationship Id="rId3" Type="http://schemas.openxmlformats.org/officeDocument/2006/relationships/hyperlink" Target="3d%20Animation%20Automation%20Scara%20Roboter%20flexible%20Zuf&#252;hrung.mp4" TargetMode="External"/><Relationship Id="rId2" Type="http://schemas.openxmlformats.org/officeDocument/2006/relationships/slideLayout" Target="../slideLayouts/slideLayout5.xml"/><Relationship Id="rId1" Type="http://schemas.openxmlformats.org/officeDocument/2006/relationships/vmlDrawing" Target="../drawings/vmlDrawing6.vml"/><Relationship Id="rId6" Type="http://schemas.openxmlformats.org/officeDocument/2006/relationships/image" Target="../media/image50.png"/><Relationship Id="rId5" Type="http://schemas.openxmlformats.org/officeDocument/2006/relationships/oleObject" Target="../embeddings/oleObject6.bin"/><Relationship Id="rId4" Type="http://schemas.openxmlformats.org/officeDocument/2006/relationships/image" Target="../media/image51.png"/></Relationships>
</file>

<file path=ppt/slides/_rels/slide6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hyperlink" Target="3d%20Animation%20Automation%20Scara%20Roboter%20flexible%20Zuf&#252;hrung.mp4" TargetMode="External"/><Relationship Id="rId4" Type="http://schemas.openxmlformats.org/officeDocument/2006/relationships/image" Target="../media/image53.jpeg"/></Relationships>
</file>

<file path=ppt/slides/_rels/slide6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5.xml"/><Relationship Id="rId1" Type="http://schemas.openxmlformats.org/officeDocument/2006/relationships/vmlDrawing" Target="../drawings/vmlDrawing7.vml"/><Relationship Id="rId6" Type="http://schemas.openxmlformats.org/officeDocument/2006/relationships/image" Target="../media/image50.png"/><Relationship Id="rId5" Type="http://schemas.openxmlformats.org/officeDocument/2006/relationships/oleObject" Target="../embeddings/oleObject7.bin"/><Relationship Id="rId4" Type="http://schemas.microsoft.com/office/2007/relationships/hdphoto" Target="../media/hdphoto12.wdp"/></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58.gif"/><Relationship Id="rId2" Type="http://schemas.openxmlformats.org/officeDocument/2006/relationships/image" Target="../media/image57.gif"/><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vmlDrawing" Target="../drawings/vmlDrawing8.vml"/><Relationship Id="rId5" Type="http://schemas.openxmlformats.org/officeDocument/2006/relationships/image" Target="../media/image61.png"/><Relationship Id="rId4" Type="http://schemas.openxmlformats.org/officeDocument/2006/relationships/oleObject" Target="../embeddings/oleObject8.bin"/></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63.png"/><Relationship Id="rId2" Type="http://schemas.openxmlformats.org/officeDocument/2006/relationships/slideLayout" Target="../slideLayouts/slideLayout5.xml"/><Relationship Id="rId1" Type="http://schemas.openxmlformats.org/officeDocument/2006/relationships/vmlDrawing" Target="../drawings/vmlDrawing9.vml"/><Relationship Id="rId6" Type="http://schemas.openxmlformats.org/officeDocument/2006/relationships/oleObject" Target="../embeddings/oleObject10.bin"/><Relationship Id="rId5" Type="http://schemas.openxmlformats.org/officeDocument/2006/relationships/image" Target="../media/image62.png"/><Relationship Id="rId4" Type="http://schemas.openxmlformats.org/officeDocument/2006/relationships/oleObject" Target="../embeddings/oleObject9.bin"/></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64.png"/><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microsoft.com/office/2007/relationships/hdphoto" Target="../media/hdphoto15.wdp"/></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67.png"/><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70.gif"/><Relationship Id="rId2" Type="http://schemas.openxmlformats.org/officeDocument/2006/relationships/image" Target="../media/image69.jpeg"/><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72.jpe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74.png"/></Relationships>
</file>

<file path=ppt/slides/_rels/slide10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76.png"/></Relationships>
</file>

<file path=ppt/slides/_rels/slide10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78.png"/></Relationships>
</file>

<file path=ppt/slides/_rels/slide10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3" Type="http://schemas.openxmlformats.org/officeDocument/2006/relationships/image" Target="../media/image81.gif"/><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3" Type="http://schemas.openxmlformats.org/officeDocument/2006/relationships/hyperlink" Target="Vacuum%20Gripper.mp4" TargetMode="External"/><Relationship Id="rId2" Type="http://schemas.openxmlformats.org/officeDocument/2006/relationships/notesSlide" Target="../notesSlides/notesSlide50.xml"/><Relationship Id="rId1" Type="http://schemas.openxmlformats.org/officeDocument/2006/relationships/slideLayout" Target="../slideLayouts/slideLayout3.xml"/><Relationship Id="rId5" Type="http://schemas.openxmlformats.org/officeDocument/2006/relationships/image" Target="../media/image84.jpeg"/><Relationship Id="rId4" Type="http://schemas.openxmlformats.org/officeDocument/2006/relationships/hyperlink" Target="VMECA,%20Vacuum%20Gripper%20System%20with%20Suction%20cups,%20Handle%20a%20plastic%20bag.mp4" TargetMode="External"/></Relationships>
</file>

<file path=ppt/slides/_rels/slide109.xml.rels><?xml version="1.0" encoding="UTF-8" standalone="yes"?>
<Relationships xmlns="http://schemas.openxmlformats.org/package/2006/relationships"><Relationship Id="rId3" Type="http://schemas.openxmlformats.org/officeDocument/2006/relationships/hyperlink" Target="Fanuc%20R-2000iA%20Robot%20with%20Magnet%20Gripper.mp4" TargetMode="External"/><Relationship Id="rId2" Type="http://schemas.openxmlformats.org/officeDocument/2006/relationships/notesSlide" Target="../notesSlides/notesSlide51.xml"/><Relationship Id="rId1" Type="http://schemas.openxmlformats.org/officeDocument/2006/relationships/slideLayout" Target="../slideLayouts/slideLayout3.xml"/><Relationship Id="rId5" Type="http://schemas.openxmlformats.org/officeDocument/2006/relationships/hyperlink" Target="Collection%20of%20Grippers%20-%20RobotWorx.mp4" TargetMode="External"/><Relationship Id="rId4" Type="http://schemas.openxmlformats.org/officeDocument/2006/relationships/image" Target="../media/image85.jpeg"/></Relationships>
</file>

<file path=ppt/slides/_rels/slide11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3.xml"/><Relationship Id="rId4" Type="http://schemas.openxmlformats.org/officeDocument/2006/relationships/image" Target="../media/image89.png"/></Relationships>
</file>

<file path=ppt/slides/_rels/slide11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91.png"/><Relationship Id="rId1" Type="http://schemas.openxmlformats.org/officeDocument/2006/relationships/slideLayout" Target="../slideLayouts/slideLayout1.xml"/><Relationship Id="rId5" Type="http://schemas.openxmlformats.org/officeDocument/2006/relationships/image" Target="../media/image93.png"/><Relationship Id="rId4" Type="http://schemas.openxmlformats.org/officeDocument/2006/relationships/image" Target="../media/image92.png"/></Relationships>
</file>

<file path=ppt/slides/_rels/slide11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4.png"/><Relationship Id="rId1" Type="http://schemas.openxmlformats.org/officeDocument/2006/relationships/slideLayout" Target="../slideLayouts/slideLayout3.xml"/><Relationship Id="rId4" Type="http://schemas.openxmlformats.org/officeDocument/2006/relationships/image" Target="../media/image95.png"/></Relationships>
</file>

<file path=ppt/slides/_rels/slide11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96.png"/><Relationship Id="rId1" Type="http://schemas.openxmlformats.org/officeDocument/2006/relationships/slideLayout" Target="../slideLayouts/slideLayout3.xml"/><Relationship Id="rId4" Type="http://schemas.openxmlformats.org/officeDocument/2006/relationships/image" Target="../media/image97.png"/></Relationships>
</file>

<file path=ppt/slides/_rels/slide11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101.png"/><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3" Type="http://schemas.microsoft.com/office/2007/relationships/hdphoto" Target="../media/hdphoto20.wdp"/><Relationship Id="rId2" Type="http://schemas.openxmlformats.org/officeDocument/2006/relationships/image" Target="../media/image102.png"/><Relationship Id="rId1" Type="http://schemas.openxmlformats.org/officeDocument/2006/relationships/slideLayout" Target="../slideLayouts/slideLayout5.xml"/><Relationship Id="rId5" Type="http://schemas.microsoft.com/office/2007/relationships/hdphoto" Target="../media/hdphoto21.wdp"/><Relationship Id="rId4" Type="http://schemas.openxmlformats.org/officeDocument/2006/relationships/image" Target="../media/image103.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3" Type="http://schemas.microsoft.com/office/2007/relationships/hdphoto" Target="../media/hdphoto22.wdp"/><Relationship Id="rId2" Type="http://schemas.openxmlformats.org/officeDocument/2006/relationships/image" Target="../media/image104.png"/><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3" Type="http://schemas.microsoft.com/office/2007/relationships/hdphoto" Target="../media/hdphoto23.wdp"/><Relationship Id="rId2" Type="http://schemas.openxmlformats.org/officeDocument/2006/relationships/image" Target="../media/image105.png"/><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3" Type="http://schemas.microsoft.com/office/2007/relationships/hdphoto" Target="../media/hdphoto24.wdp"/><Relationship Id="rId2" Type="http://schemas.openxmlformats.org/officeDocument/2006/relationships/image" Target="../media/image106.png"/><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3" Type="http://schemas.microsoft.com/office/2007/relationships/hdphoto" Target="../media/hdphoto25.wdp"/><Relationship Id="rId2" Type="http://schemas.openxmlformats.org/officeDocument/2006/relationships/image" Target="../media/image107.png"/><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microsoft.com/office/2007/relationships/hdphoto" Target="../media/hdphoto26.wdp"/><Relationship Id="rId2" Type="http://schemas.openxmlformats.org/officeDocument/2006/relationships/image" Target="../media/image1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95401"/>
            <a:ext cx="7772400" cy="3429000"/>
          </a:xfrm>
        </p:spPr>
        <p:txBody>
          <a:bodyPr>
            <a:normAutofit/>
          </a:bodyPr>
          <a:lstStyle/>
          <a:p>
            <a:r>
              <a:rPr lang="en-US" b="1" dirty="0">
                <a:solidFill>
                  <a:srgbClr val="0070C0"/>
                </a:solidFill>
              </a:rPr>
              <a:t>20MEC521J</a:t>
            </a:r>
            <a:br>
              <a:rPr lang="en-US" b="1" dirty="0">
                <a:solidFill>
                  <a:srgbClr val="0070C0"/>
                </a:solidFill>
              </a:rPr>
            </a:br>
            <a:r>
              <a:rPr lang="en-US" b="1" dirty="0">
                <a:solidFill>
                  <a:srgbClr val="0070C0"/>
                </a:solidFill>
              </a:rPr>
              <a:t>Fundamentals of Robotic systems</a:t>
            </a:r>
            <a:r>
              <a:rPr lang="en-US" dirty="0">
                <a:solidFill>
                  <a:srgbClr val="0070C0"/>
                </a:solidFill>
              </a:rPr>
              <a:t/>
            </a:r>
            <a:br>
              <a:rPr lang="en-US" dirty="0">
                <a:solidFill>
                  <a:srgbClr val="0070C0"/>
                </a:solidFill>
              </a:rPr>
            </a:br>
            <a:r>
              <a:rPr lang="en-US" dirty="0">
                <a:solidFill>
                  <a:srgbClr val="0070C0"/>
                </a:solidFill>
              </a:rPr>
              <a:t>Unit I </a:t>
            </a:r>
          </a:p>
        </p:txBody>
      </p:sp>
      <p:sp>
        <p:nvSpPr>
          <p:cNvPr id="4" name="Date Placeholder 3"/>
          <p:cNvSpPr>
            <a:spLocks noGrp="1"/>
          </p:cNvSpPr>
          <p:nvPr>
            <p:ph type="dt" sz="half" idx="10"/>
          </p:nvPr>
        </p:nvSpPr>
        <p:spPr/>
        <p:txBody>
          <a:bodyPr/>
          <a:lstStyle/>
          <a:p>
            <a:fld id="{5D7D9F48-F052-4E8F-9CAD-4107DD884FC7}" type="datetime1">
              <a:rPr lang="en-US" smtClean="0">
                <a:solidFill>
                  <a:prstClr val="black">
                    <a:tint val="75000"/>
                  </a:prstClr>
                </a:solidFill>
              </a:rPr>
              <a:t>10/29/2020</a:t>
            </a:fld>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5191DE1-7F5A-44CD-9F3E-A95E2D010AEE}" type="slidenum">
              <a:rPr lang="en-US" smtClean="0">
                <a:solidFill>
                  <a:prstClr val="black">
                    <a:tint val="75000"/>
                  </a:prstClr>
                </a:solidFill>
              </a:rPr>
              <a:pPr/>
              <a:t>1</a:t>
            </a:fld>
            <a:endParaRPr lang="en-US">
              <a:solidFill>
                <a:prstClr val="black">
                  <a:tint val="75000"/>
                </a:prstClr>
              </a:solidFill>
            </a:endParaRPr>
          </a:p>
        </p:txBody>
      </p:sp>
      <p:sp>
        <p:nvSpPr>
          <p:cNvPr id="3" name="Footer Placeholder 2">
            <a:extLst>
              <a:ext uri="{FF2B5EF4-FFF2-40B4-BE49-F238E27FC236}">
                <a16:creationId xmlns="" xmlns:a16="http://schemas.microsoft.com/office/drawing/2014/main" id="{52C08ED6-6874-4C83-AE8F-4E80C836B111}"/>
              </a:ext>
            </a:extLst>
          </p:cNvPr>
          <p:cNvSpPr>
            <a:spLocks noGrp="1"/>
          </p:cNvSpPr>
          <p:nvPr>
            <p:ph type="ftr" sz="quarter" idx="11"/>
          </p:nvPr>
        </p:nvSpPr>
        <p:spPr/>
        <p:txBody>
          <a:bodyPr/>
          <a:lstStyle/>
          <a:p>
            <a:endParaRPr lang="en-US">
              <a:solidFill>
                <a:prstClr val="black">
                  <a:tint val="75000"/>
                </a:prstClr>
              </a:solidFill>
            </a:endParaRPr>
          </a:p>
        </p:txBody>
      </p:sp>
    </p:spTree>
    <p:extLst>
      <p:ext uri="{BB962C8B-B14F-4D97-AF65-F5344CB8AC3E}">
        <p14:creationId xmlns:p14="http://schemas.microsoft.com/office/powerpoint/2010/main" val="24609851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20E5D5-1BC5-45A3-9555-0CCAA13E02F3}"/>
              </a:ext>
            </a:extLst>
          </p:cNvPr>
          <p:cNvSpPr>
            <a:spLocks noGrp="1"/>
          </p:cNvSpPr>
          <p:nvPr>
            <p:ph type="title"/>
          </p:nvPr>
        </p:nvSpPr>
        <p:spPr>
          <a:xfrm>
            <a:off x="1985870" y="152400"/>
            <a:ext cx="6700930" cy="533400"/>
          </a:xfrm>
        </p:spPr>
        <p:txBody>
          <a:bodyPr>
            <a:normAutofit fontScale="90000"/>
          </a:bodyPr>
          <a:lstStyle/>
          <a:p>
            <a:r>
              <a:rPr lang="en-US" dirty="0"/>
              <a:t>Unit I</a:t>
            </a:r>
            <a:endParaRPr lang="en-IN" dirty="0"/>
          </a:p>
        </p:txBody>
      </p:sp>
      <p:sp>
        <p:nvSpPr>
          <p:cNvPr id="3" name="Date Placeholder 2">
            <a:extLst>
              <a:ext uri="{FF2B5EF4-FFF2-40B4-BE49-F238E27FC236}">
                <a16:creationId xmlns="" xmlns:a16="http://schemas.microsoft.com/office/drawing/2014/main" id="{3E5F22F7-4B96-4D36-AADB-C3230DE40E86}"/>
              </a:ext>
            </a:extLst>
          </p:cNvPr>
          <p:cNvSpPr>
            <a:spLocks noGrp="1"/>
          </p:cNvSpPr>
          <p:nvPr>
            <p:ph type="dt" sz="half" idx="10"/>
          </p:nvPr>
        </p:nvSpPr>
        <p:spPr/>
        <p:txBody>
          <a:bodyPr/>
          <a:lstStyle/>
          <a:p>
            <a:fld id="{0CB28906-D0E0-4871-B74B-B52A8603DB05}" type="datetime1">
              <a:rPr lang="en-US" smtClean="0">
                <a:solidFill>
                  <a:prstClr val="black">
                    <a:tint val="75000"/>
                  </a:prstClr>
                </a:solidFill>
              </a:rPr>
              <a:t>10/29/2020</a:t>
            </a:fld>
            <a:endParaRPr lang="en-US">
              <a:solidFill>
                <a:prstClr val="black">
                  <a:tint val="75000"/>
                </a:prstClr>
              </a:solidFill>
            </a:endParaRPr>
          </a:p>
        </p:txBody>
      </p:sp>
      <p:sp>
        <p:nvSpPr>
          <p:cNvPr id="5" name="Slide Number Placeholder 4">
            <a:extLst>
              <a:ext uri="{FF2B5EF4-FFF2-40B4-BE49-F238E27FC236}">
                <a16:creationId xmlns="" xmlns:a16="http://schemas.microsoft.com/office/drawing/2014/main" id="{4D85B1CB-E106-4C2D-999A-28194854EB43}"/>
              </a:ext>
            </a:extLst>
          </p:cNvPr>
          <p:cNvSpPr>
            <a:spLocks noGrp="1"/>
          </p:cNvSpPr>
          <p:nvPr>
            <p:ph type="sldNum" sz="quarter" idx="12"/>
          </p:nvPr>
        </p:nvSpPr>
        <p:spPr/>
        <p:txBody>
          <a:bodyPr/>
          <a:lstStyle/>
          <a:p>
            <a:fld id="{F5191DE1-7F5A-44CD-9F3E-A95E2D010AEE}" type="slidenum">
              <a:rPr lang="en-US" smtClean="0">
                <a:solidFill>
                  <a:prstClr val="black">
                    <a:tint val="75000"/>
                  </a:prstClr>
                </a:solidFill>
              </a:rPr>
              <a:pPr/>
              <a:t>2</a:t>
            </a:fld>
            <a:endParaRPr lang="en-US">
              <a:solidFill>
                <a:prstClr val="black">
                  <a:tint val="75000"/>
                </a:prstClr>
              </a:solidFill>
            </a:endParaRPr>
          </a:p>
        </p:txBody>
      </p:sp>
      <p:sp>
        <p:nvSpPr>
          <p:cNvPr id="6" name="Footer Placeholder 5">
            <a:extLst>
              <a:ext uri="{FF2B5EF4-FFF2-40B4-BE49-F238E27FC236}">
                <a16:creationId xmlns="" xmlns:a16="http://schemas.microsoft.com/office/drawing/2014/main" id="{C30E0C96-BF36-489B-8496-4143A3440708}"/>
              </a:ext>
            </a:extLst>
          </p:cNvPr>
          <p:cNvSpPr>
            <a:spLocks noGrp="1"/>
          </p:cNvSpPr>
          <p:nvPr>
            <p:ph type="ftr" sz="quarter" idx="11"/>
          </p:nvPr>
        </p:nvSpPr>
        <p:spPr/>
        <p:txBody>
          <a:bodyPr/>
          <a:lstStyle/>
          <a:p>
            <a:endParaRPr lang="en-US">
              <a:solidFill>
                <a:prstClr val="black">
                  <a:tint val="75000"/>
                </a:prstClr>
              </a:solidFill>
            </a:endParaRPr>
          </a:p>
        </p:txBody>
      </p:sp>
      <p:graphicFrame>
        <p:nvGraphicFramePr>
          <p:cNvPr id="10" name="Table 10">
            <a:extLst>
              <a:ext uri="{FF2B5EF4-FFF2-40B4-BE49-F238E27FC236}">
                <a16:creationId xmlns="" xmlns:a16="http://schemas.microsoft.com/office/drawing/2014/main" id="{C520C80D-CCBC-475E-8262-D12AD0BBB453}"/>
              </a:ext>
            </a:extLst>
          </p:cNvPr>
          <p:cNvGraphicFramePr>
            <a:graphicFrameLocks noGrp="1"/>
          </p:cNvGraphicFramePr>
          <p:nvPr>
            <p:extLst>
              <p:ext uri="{D42A27DB-BD31-4B8C-83A1-F6EECF244321}">
                <p14:modId xmlns:p14="http://schemas.microsoft.com/office/powerpoint/2010/main" val="2194807093"/>
              </p:ext>
            </p:extLst>
          </p:nvPr>
        </p:nvGraphicFramePr>
        <p:xfrm>
          <a:off x="1143000" y="990600"/>
          <a:ext cx="7086600" cy="5354318"/>
        </p:xfrm>
        <a:graphic>
          <a:graphicData uri="http://schemas.openxmlformats.org/drawingml/2006/table">
            <a:tbl>
              <a:tblPr firstRow="1" bandRow="1">
                <a:tableStyleId>{5C22544A-7EE6-4342-B048-85BDC9FD1C3A}</a:tableStyleId>
              </a:tblPr>
              <a:tblGrid>
                <a:gridCol w="974408">
                  <a:extLst>
                    <a:ext uri="{9D8B030D-6E8A-4147-A177-3AD203B41FA5}">
                      <a16:colId xmlns="" xmlns:a16="http://schemas.microsoft.com/office/drawing/2014/main" val="2832393431"/>
                    </a:ext>
                  </a:extLst>
                </a:gridCol>
                <a:gridCol w="6112192">
                  <a:extLst>
                    <a:ext uri="{9D8B030D-6E8A-4147-A177-3AD203B41FA5}">
                      <a16:colId xmlns="" xmlns:a16="http://schemas.microsoft.com/office/drawing/2014/main" val="2244806118"/>
                    </a:ext>
                  </a:extLst>
                </a:gridCol>
              </a:tblGrid>
              <a:tr h="692653">
                <a:tc>
                  <a:txBody>
                    <a:bodyPr/>
                    <a:lstStyle/>
                    <a:p>
                      <a:pPr algn="ctr"/>
                      <a:r>
                        <a:rPr lang="en-US" b="0" dirty="0">
                          <a:solidFill>
                            <a:schemeClr val="tx1"/>
                          </a:solidFill>
                        </a:rPr>
                        <a:t>1</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mn-lt"/>
                          <a:ea typeface="+mn-ea"/>
                          <a:cs typeface="+mn-cs"/>
                        </a:rPr>
                        <a:t>Introduction to Robotics, History - Developments in Robotics</a:t>
                      </a:r>
                      <a:endParaRPr lang="en-IN" sz="1800" b="0"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899587422"/>
                  </a:ext>
                </a:extLst>
              </a:tr>
              <a:tr h="401299">
                <a:tc>
                  <a:txBody>
                    <a:bodyPr/>
                    <a:lstStyle/>
                    <a:p>
                      <a:pPr algn="ctr"/>
                      <a:r>
                        <a:rPr lang="en-US" dirty="0"/>
                        <a:t>2</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kern="1200" dirty="0">
                          <a:solidFill>
                            <a:schemeClr val="dk1"/>
                          </a:solidFill>
                          <a:effectLst/>
                          <a:latin typeface="+mn-lt"/>
                          <a:ea typeface="+mn-ea"/>
                          <a:cs typeface="+mn-cs"/>
                        </a:rPr>
                        <a:t>Robot anatomy, Definition and law of robotics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379704773"/>
                  </a:ext>
                </a:extLst>
              </a:tr>
              <a:tr h="692653">
                <a:tc>
                  <a:txBody>
                    <a:bodyPr/>
                    <a:lstStyle/>
                    <a:p>
                      <a:pPr algn="ctr"/>
                      <a:r>
                        <a:rPr lang="en-US" dirty="0"/>
                        <a:t>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kern="1200" dirty="0">
                          <a:solidFill>
                            <a:schemeClr val="dk1"/>
                          </a:solidFill>
                          <a:effectLst/>
                          <a:latin typeface="+mn-lt"/>
                          <a:ea typeface="+mn-ea"/>
                          <a:cs typeface="+mn-cs"/>
                        </a:rPr>
                        <a:t>Terminology of Robotics, Accuracy and repeatability, dexterity, compliance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266965443"/>
                  </a:ext>
                </a:extLst>
              </a:tr>
              <a:tr h="401299">
                <a:tc>
                  <a:txBody>
                    <a:bodyPr/>
                    <a:lstStyle/>
                    <a:p>
                      <a:pPr algn="ctr"/>
                      <a:r>
                        <a:rPr lang="en-US" dirty="0"/>
                        <a:t>4</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kern="1200" dirty="0">
                          <a:solidFill>
                            <a:schemeClr val="dk1"/>
                          </a:solidFill>
                          <a:effectLst/>
                          <a:latin typeface="+mn-lt"/>
                          <a:ea typeface="+mn-ea"/>
                          <a:cs typeface="+mn-cs"/>
                        </a:rPr>
                        <a:t>RCC device of Robotics-Simple problems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930281772"/>
                  </a:ext>
                </a:extLst>
              </a:tr>
              <a:tr h="692653">
                <a:tc>
                  <a:txBody>
                    <a:bodyPr/>
                    <a:lstStyle/>
                    <a:p>
                      <a:pPr algn="ctr"/>
                      <a:r>
                        <a:rPr lang="en-US" dirty="0"/>
                        <a:t>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kern="1200" dirty="0">
                          <a:solidFill>
                            <a:schemeClr val="dk1"/>
                          </a:solidFill>
                          <a:effectLst/>
                          <a:latin typeface="+mn-lt"/>
                          <a:ea typeface="+mn-ea"/>
                          <a:cs typeface="+mn-cs"/>
                        </a:rPr>
                        <a:t>Specifications of Robot-Speed of Robot- Robot joints and links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917421721"/>
                  </a:ext>
                </a:extLst>
              </a:tr>
              <a:tr h="692653">
                <a:tc>
                  <a:txBody>
                    <a:bodyPr/>
                    <a:lstStyle/>
                    <a:p>
                      <a:pPr algn="ctr"/>
                      <a:r>
                        <a:rPr lang="en-US" dirty="0"/>
                        <a:t>6</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kern="1200" dirty="0">
                          <a:solidFill>
                            <a:schemeClr val="dk1"/>
                          </a:solidFill>
                          <a:effectLst/>
                          <a:latin typeface="+mn-lt"/>
                          <a:ea typeface="+mn-ea"/>
                          <a:cs typeface="+mn-cs"/>
                        </a:rPr>
                        <a:t>Robot Drive Systems-Hydraulic, Pneumatic and Electric system.</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50756691"/>
                  </a:ext>
                </a:extLst>
              </a:tr>
              <a:tr h="692653">
                <a:tc>
                  <a:txBody>
                    <a:bodyPr/>
                    <a:lstStyle/>
                    <a:p>
                      <a:pPr algn="ctr"/>
                      <a:r>
                        <a:rPr lang="en-US" dirty="0"/>
                        <a:t>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kern="1200" dirty="0">
                          <a:solidFill>
                            <a:schemeClr val="dk1"/>
                          </a:solidFill>
                          <a:effectLst/>
                          <a:latin typeface="+mn-lt"/>
                          <a:ea typeface="+mn-ea"/>
                          <a:cs typeface="+mn-cs"/>
                        </a:rPr>
                        <a:t>Mechanical grippers-Slider crank mechanism, Screw type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994309451"/>
                  </a:ext>
                </a:extLst>
              </a:tr>
              <a:tr h="692653">
                <a:tc>
                  <a:txBody>
                    <a:bodyPr/>
                    <a:lstStyle/>
                    <a:p>
                      <a:pPr algn="ctr"/>
                      <a:r>
                        <a:rPr lang="en-US" dirty="0"/>
                        <a:t>8</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kern="1200" dirty="0">
                          <a:solidFill>
                            <a:schemeClr val="dk1"/>
                          </a:solidFill>
                          <a:effectLst/>
                          <a:latin typeface="+mn-lt"/>
                          <a:ea typeface="+mn-ea"/>
                          <a:cs typeface="+mn-cs"/>
                        </a:rPr>
                        <a:t>Rotary actuators, cam type-Magnetic grippers- Vacuum grippers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57192969"/>
                  </a:ext>
                </a:extLst>
              </a:tr>
              <a:tr h="395802">
                <a:tc>
                  <a:txBody>
                    <a:bodyPr/>
                    <a:lstStyle/>
                    <a:p>
                      <a:pPr algn="ctr"/>
                      <a:r>
                        <a:rPr lang="en-US" dirty="0"/>
                        <a:t>9</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kern="1200" dirty="0">
                          <a:solidFill>
                            <a:schemeClr val="dk1"/>
                          </a:solidFill>
                          <a:effectLst/>
                          <a:latin typeface="+mn-lt"/>
                          <a:ea typeface="+mn-ea"/>
                          <a:cs typeface="+mn-cs"/>
                        </a:rPr>
                        <a:t>Gripper force analysis, Gripper selection and design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657539956"/>
                  </a:ext>
                </a:extLst>
              </a:tr>
            </a:tbl>
          </a:graphicData>
        </a:graphic>
      </p:graphicFrame>
    </p:spTree>
    <p:extLst>
      <p:ext uri="{BB962C8B-B14F-4D97-AF65-F5344CB8AC3E}">
        <p14:creationId xmlns:p14="http://schemas.microsoft.com/office/powerpoint/2010/main" val="11371793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 xmlns:a16="http://schemas.microsoft.com/office/drawing/2014/main" id="{2D135E2E-BF91-476F-8633-E0ED6EFD9DFE}"/>
              </a:ext>
            </a:extLst>
          </p:cNvPr>
          <p:cNvSpPr>
            <a:spLocks noGrp="1"/>
          </p:cNvSpPr>
          <p:nvPr>
            <p:ph type="dt" sz="half" idx="10"/>
          </p:nvPr>
        </p:nvSpPr>
        <p:spPr/>
        <p:txBody>
          <a:bodyPr/>
          <a:lstStyle/>
          <a:p>
            <a:fld id="{6014993A-7C1F-4C33-ADBE-8B4BB8E29E7A}" type="datetime1">
              <a:rPr lang="en-US" smtClean="0">
                <a:solidFill>
                  <a:prstClr val="black">
                    <a:tint val="75000"/>
                  </a:prstClr>
                </a:solidFill>
              </a:rPr>
              <a:t>10/29/2020</a:t>
            </a:fld>
            <a:endParaRPr lang="en-US">
              <a:solidFill>
                <a:prstClr val="black">
                  <a:tint val="75000"/>
                </a:prstClr>
              </a:solidFill>
            </a:endParaRPr>
          </a:p>
        </p:txBody>
      </p:sp>
      <p:sp>
        <p:nvSpPr>
          <p:cNvPr id="4" name="Footer Placeholder 3">
            <a:extLst>
              <a:ext uri="{FF2B5EF4-FFF2-40B4-BE49-F238E27FC236}">
                <a16:creationId xmlns="" xmlns:a16="http://schemas.microsoft.com/office/drawing/2014/main" id="{0CADAAF0-A083-4A89-A415-BFDBC214021A}"/>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 xmlns:a16="http://schemas.microsoft.com/office/drawing/2014/main" id="{928EAA81-96DF-44BD-9D4B-0FB71B8CCEAB}"/>
              </a:ext>
            </a:extLst>
          </p:cNvPr>
          <p:cNvSpPr>
            <a:spLocks noGrp="1"/>
          </p:cNvSpPr>
          <p:nvPr>
            <p:ph type="sldNum" sz="quarter" idx="12"/>
          </p:nvPr>
        </p:nvSpPr>
        <p:spPr/>
        <p:txBody>
          <a:bodyPr/>
          <a:lstStyle/>
          <a:p>
            <a:fld id="{F5191DE1-7F5A-44CD-9F3E-A95E2D010AEE}" type="slidenum">
              <a:rPr lang="en-US" smtClean="0">
                <a:solidFill>
                  <a:prstClr val="black">
                    <a:tint val="75000"/>
                  </a:prstClr>
                </a:solidFill>
              </a:rPr>
              <a:pPr/>
              <a:t>3</a:t>
            </a:fld>
            <a:endParaRPr lang="en-US">
              <a:solidFill>
                <a:prstClr val="black">
                  <a:tint val="75000"/>
                </a:prstClr>
              </a:solidFill>
            </a:endParaRPr>
          </a:p>
        </p:txBody>
      </p:sp>
      <p:sp>
        <p:nvSpPr>
          <p:cNvPr id="6" name="Title 1">
            <a:extLst>
              <a:ext uri="{FF2B5EF4-FFF2-40B4-BE49-F238E27FC236}">
                <a16:creationId xmlns="" xmlns:a16="http://schemas.microsoft.com/office/drawing/2014/main" id="{12C18A00-FE30-4CAF-A943-E2D7059F3676}"/>
              </a:ext>
            </a:extLst>
          </p:cNvPr>
          <p:cNvSpPr txBox="1">
            <a:spLocks/>
          </p:cNvSpPr>
          <p:nvPr/>
        </p:nvSpPr>
        <p:spPr>
          <a:xfrm>
            <a:off x="1676400" y="209677"/>
            <a:ext cx="7467600" cy="1143000"/>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000" kern="1200">
                <a:solidFill>
                  <a:schemeClr val="tx1"/>
                </a:solidFill>
                <a:latin typeface="+mj-lt"/>
                <a:ea typeface="+mj-ea"/>
                <a:cs typeface="+mj-cs"/>
              </a:defRPr>
            </a:lvl1pPr>
          </a:lstStyle>
          <a:p>
            <a:r>
              <a:rPr lang="en-IN" dirty="0">
                <a:solidFill>
                  <a:srgbClr val="0070C0"/>
                </a:solidFill>
              </a:rPr>
              <a:t>Definition (RIA – Robot institute of </a:t>
            </a:r>
            <a:r>
              <a:rPr lang="en-IN" dirty="0" err="1">
                <a:solidFill>
                  <a:srgbClr val="0070C0"/>
                </a:solidFill>
              </a:rPr>
              <a:t>america</a:t>
            </a:r>
            <a:r>
              <a:rPr lang="en-IN" dirty="0">
                <a:solidFill>
                  <a:srgbClr val="0070C0"/>
                </a:solidFill>
              </a:rPr>
              <a:t>)</a:t>
            </a:r>
          </a:p>
        </p:txBody>
      </p:sp>
      <p:sp>
        <p:nvSpPr>
          <p:cNvPr id="7" name="Content Placeholder 2">
            <a:extLst>
              <a:ext uri="{FF2B5EF4-FFF2-40B4-BE49-F238E27FC236}">
                <a16:creationId xmlns="" xmlns:a16="http://schemas.microsoft.com/office/drawing/2014/main" id="{3A17FF75-769B-4C4B-8432-252209C0F4CF}"/>
              </a:ext>
            </a:extLst>
          </p:cNvPr>
          <p:cNvSpPr txBox="1">
            <a:spLocks/>
          </p:cNvSpPr>
          <p:nvPr/>
        </p:nvSpPr>
        <p:spPr>
          <a:xfrm>
            <a:off x="457200" y="1600200"/>
            <a:ext cx="8458200" cy="487375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en-US" dirty="0"/>
              <a:t>“ A </a:t>
            </a:r>
            <a:r>
              <a:rPr lang="en-US" dirty="0">
                <a:solidFill>
                  <a:srgbClr val="FF0000"/>
                </a:solidFill>
              </a:rPr>
              <a:t>reprogrammable, multifunctional </a:t>
            </a:r>
            <a:r>
              <a:rPr lang="en-US" dirty="0"/>
              <a:t>manipulator designed to move material, parts, tools, or specialized devices through various programmed motions for the performance of a  variety of tasks”</a:t>
            </a:r>
          </a:p>
          <a:p>
            <a:pPr algn="just">
              <a:lnSpc>
                <a:spcPct val="150000"/>
              </a:lnSpc>
            </a:pPr>
            <a:endParaRPr lang="en-IN" dirty="0"/>
          </a:p>
        </p:txBody>
      </p:sp>
    </p:spTree>
    <p:extLst>
      <p:ext uri="{BB962C8B-B14F-4D97-AF65-F5344CB8AC3E}">
        <p14:creationId xmlns:p14="http://schemas.microsoft.com/office/powerpoint/2010/main" val="25401788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D92598-54D4-4755-98F6-B082269D7DC3}"/>
              </a:ext>
            </a:extLst>
          </p:cNvPr>
          <p:cNvSpPr>
            <a:spLocks noGrp="1"/>
          </p:cNvSpPr>
          <p:nvPr>
            <p:ph type="title"/>
          </p:nvPr>
        </p:nvSpPr>
        <p:spPr>
          <a:xfrm>
            <a:off x="1985870" y="152400"/>
            <a:ext cx="6853330" cy="1371600"/>
          </a:xfrm>
        </p:spPr>
        <p:txBody>
          <a:bodyPr>
            <a:noAutofit/>
          </a:bodyPr>
          <a:lstStyle/>
          <a:p>
            <a:r>
              <a:rPr lang="en-IN" sz="3200" dirty="0">
                <a:solidFill>
                  <a:srgbClr val="0070C0"/>
                </a:solidFill>
              </a:rPr>
              <a:t>Definition – (International Organization for Standardization -ISO): </a:t>
            </a:r>
          </a:p>
        </p:txBody>
      </p:sp>
      <p:sp>
        <p:nvSpPr>
          <p:cNvPr id="3" name="Date Placeholder 2">
            <a:extLst>
              <a:ext uri="{FF2B5EF4-FFF2-40B4-BE49-F238E27FC236}">
                <a16:creationId xmlns="" xmlns:a16="http://schemas.microsoft.com/office/drawing/2014/main" id="{16660E53-4755-44BA-A52B-9EFDA8C1765A}"/>
              </a:ext>
            </a:extLst>
          </p:cNvPr>
          <p:cNvSpPr>
            <a:spLocks noGrp="1"/>
          </p:cNvSpPr>
          <p:nvPr>
            <p:ph type="dt" sz="half" idx="10"/>
          </p:nvPr>
        </p:nvSpPr>
        <p:spPr/>
        <p:txBody>
          <a:bodyPr/>
          <a:lstStyle/>
          <a:p>
            <a:fld id="{6014993A-7C1F-4C33-ADBE-8B4BB8E29E7A}" type="datetime1">
              <a:rPr lang="en-US" smtClean="0">
                <a:solidFill>
                  <a:prstClr val="black">
                    <a:tint val="75000"/>
                  </a:prstClr>
                </a:solidFill>
              </a:rPr>
              <a:t>10/29/2020</a:t>
            </a:fld>
            <a:endParaRPr lang="en-US">
              <a:solidFill>
                <a:prstClr val="black">
                  <a:tint val="75000"/>
                </a:prstClr>
              </a:solidFill>
            </a:endParaRPr>
          </a:p>
        </p:txBody>
      </p:sp>
      <p:sp>
        <p:nvSpPr>
          <p:cNvPr id="4" name="Footer Placeholder 3">
            <a:extLst>
              <a:ext uri="{FF2B5EF4-FFF2-40B4-BE49-F238E27FC236}">
                <a16:creationId xmlns="" xmlns:a16="http://schemas.microsoft.com/office/drawing/2014/main" id="{71D8FF8A-DC13-406E-BBC3-D0D0155C5B99}"/>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 xmlns:a16="http://schemas.microsoft.com/office/drawing/2014/main" id="{230D5395-6434-474A-8999-7535E8ADC35C}"/>
              </a:ext>
            </a:extLst>
          </p:cNvPr>
          <p:cNvSpPr>
            <a:spLocks noGrp="1"/>
          </p:cNvSpPr>
          <p:nvPr>
            <p:ph type="sldNum" sz="quarter" idx="12"/>
          </p:nvPr>
        </p:nvSpPr>
        <p:spPr/>
        <p:txBody>
          <a:bodyPr/>
          <a:lstStyle/>
          <a:p>
            <a:fld id="{F5191DE1-7F5A-44CD-9F3E-A95E2D010AEE}" type="slidenum">
              <a:rPr lang="en-US" smtClean="0">
                <a:solidFill>
                  <a:prstClr val="black">
                    <a:tint val="75000"/>
                  </a:prstClr>
                </a:solidFill>
              </a:rPr>
              <a:pPr/>
              <a:t>4</a:t>
            </a:fld>
            <a:endParaRPr lang="en-US">
              <a:solidFill>
                <a:prstClr val="black">
                  <a:tint val="75000"/>
                </a:prstClr>
              </a:solidFill>
            </a:endParaRPr>
          </a:p>
        </p:txBody>
      </p:sp>
      <p:sp>
        <p:nvSpPr>
          <p:cNvPr id="6" name="Rectangle 5">
            <a:extLst>
              <a:ext uri="{FF2B5EF4-FFF2-40B4-BE49-F238E27FC236}">
                <a16:creationId xmlns="" xmlns:a16="http://schemas.microsoft.com/office/drawing/2014/main" id="{F5C95932-8A04-4AD1-A30D-F22EEDAD0D19}"/>
              </a:ext>
            </a:extLst>
          </p:cNvPr>
          <p:cNvSpPr/>
          <p:nvPr/>
        </p:nvSpPr>
        <p:spPr>
          <a:xfrm>
            <a:off x="674716" y="1489633"/>
            <a:ext cx="8001000" cy="4866717"/>
          </a:xfrm>
          <a:prstGeom prst="rect">
            <a:avLst/>
          </a:prstGeom>
        </p:spPr>
        <p:txBody>
          <a:bodyPr wrap="square">
            <a:spAutoFit/>
          </a:bodyPr>
          <a:lstStyle/>
          <a:p>
            <a:pPr algn="just">
              <a:lnSpc>
                <a:spcPct val="200000"/>
              </a:lnSpc>
            </a:pPr>
            <a:r>
              <a:rPr lang="en-IN" sz="3200" dirty="0"/>
              <a:t>“An automatically controlled, reprogrammable, multipurpose manipulator programmable in three or more axes, which can be either fixed in place or mobile for use in industrial automation applications”</a:t>
            </a:r>
          </a:p>
        </p:txBody>
      </p:sp>
    </p:spTree>
    <p:extLst>
      <p:ext uri="{BB962C8B-B14F-4D97-AF65-F5344CB8AC3E}">
        <p14:creationId xmlns:p14="http://schemas.microsoft.com/office/powerpoint/2010/main" val="21363667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9E5C7E-65AF-48D6-B80E-498107A49ED6}"/>
              </a:ext>
            </a:extLst>
          </p:cNvPr>
          <p:cNvSpPr>
            <a:spLocks noGrp="1"/>
          </p:cNvSpPr>
          <p:nvPr>
            <p:ph type="title"/>
          </p:nvPr>
        </p:nvSpPr>
        <p:spPr/>
        <p:txBody>
          <a:bodyPr>
            <a:normAutofit fontScale="90000"/>
          </a:bodyPr>
          <a:lstStyle/>
          <a:p>
            <a:r>
              <a:rPr lang="en-IN" dirty="0">
                <a:solidFill>
                  <a:srgbClr val="0070C0"/>
                </a:solidFill>
              </a:rPr>
              <a:t>To qualify as a robot, a machine must be able to: </a:t>
            </a:r>
          </a:p>
        </p:txBody>
      </p:sp>
      <p:sp>
        <p:nvSpPr>
          <p:cNvPr id="3" name="Date Placeholder 2">
            <a:extLst>
              <a:ext uri="{FF2B5EF4-FFF2-40B4-BE49-F238E27FC236}">
                <a16:creationId xmlns="" xmlns:a16="http://schemas.microsoft.com/office/drawing/2014/main" id="{4CAF380D-483A-4BFE-BACB-C28928849CB7}"/>
              </a:ext>
            </a:extLst>
          </p:cNvPr>
          <p:cNvSpPr>
            <a:spLocks noGrp="1"/>
          </p:cNvSpPr>
          <p:nvPr>
            <p:ph type="dt" sz="half" idx="10"/>
          </p:nvPr>
        </p:nvSpPr>
        <p:spPr/>
        <p:txBody>
          <a:bodyPr/>
          <a:lstStyle/>
          <a:p>
            <a:fld id="{6014993A-7C1F-4C33-ADBE-8B4BB8E29E7A}" type="datetime1">
              <a:rPr lang="en-US" smtClean="0">
                <a:solidFill>
                  <a:prstClr val="black">
                    <a:tint val="75000"/>
                  </a:prstClr>
                </a:solidFill>
              </a:rPr>
              <a:t>10/29/2020</a:t>
            </a:fld>
            <a:endParaRPr lang="en-US">
              <a:solidFill>
                <a:prstClr val="black">
                  <a:tint val="75000"/>
                </a:prstClr>
              </a:solidFill>
            </a:endParaRPr>
          </a:p>
        </p:txBody>
      </p:sp>
      <p:sp>
        <p:nvSpPr>
          <p:cNvPr id="4" name="Footer Placeholder 3">
            <a:extLst>
              <a:ext uri="{FF2B5EF4-FFF2-40B4-BE49-F238E27FC236}">
                <a16:creationId xmlns="" xmlns:a16="http://schemas.microsoft.com/office/drawing/2014/main" id="{5CB22C69-A2BB-4A2B-A0A5-F450002D59D4}"/>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 xmlns:a16="http://schemas.microsoft.com/office/drawing/2014/main" id="{A4F29EBF-3911-48D4-9CB3-E9AF6BBC9B0B}"/>
              </a:ext>
            </a:extLst>
          </p:cNvPr>
          <p:cNvSpPr>
            <a:spLocks noGrp="1"/>
          </p:cNvSpPr>
          <p:nvPr>
            <p:ph type="sldNum" sz="quarter" idx="12"/>
          </p:nvPr>
        </p:nvSpPr>
        <p:spPr/>
        <p:txBody>
          <a:bodyPr/>
          <a:lstStyle/>
          <a:p>
            <a:fld id="{F5191DE1-7F5A-44CD-9F3E-A95E2D010AEE}" type="slidenum">
              <a:rPr lang="en-US" smtClean="0">
                <a:solidFill>
                  <a:prstClr val="black">
                    <a:tint val="75000"/>
                  </a:prstClr>
                </a:solidFill>
              </a:rPr>
              <a:pPr/>
              <a:t>5</a:t>
            </a:fld>
            <a:endParaRPr lang="en-US">
              <a:solidFill>
                <a:prstClr val="black">
                  <a:tint val="75000"/>
                </a:prstClr>
              </a:solidFill>
            </a:endParaRPr>
          </a:p>
        </p:txBody>
      </p:sp>
      <p:sp>
        <p:nvSpPr>
          <p:cNvPr id="6" name="Content Placeholder 2">
            <a:extLst>
              <a:ext uri="{FF2B5EF4-FFF2-40B4-BE49-F238E27FC236}">
                <a16:creationId xmlns="" xmlns:a16="http://schemas.microsoft.com/office/drawing/2014/main" id="{52EAA230-D2BA-476C-B78F-361C28D0B609}"/>
              </a:ext>
            </a:extLst>
          </p:cNvPr>
          <p:cNvSpPr txBox="1">
            <a:spLocks/>
          </p:cNvSpPr>
          <p:nvPr/>
        </p:nvSpPr>
        <p:spPr>
          <a:xfrm>
            <a:off x="457200" y="1600200"/>
            <a:ext cx="8229600" cy="487375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buFont typeface="Arial" pitchFamily="34" charset="0"/>
              <a:buNone/>
            </a:pPr>
            <a:r>
              <a:rPr lang="en-IN" sz="2600" dirty="0"/>
              <a:t>1) Sensing and perception: get information from its surroundings </a:t>
            </a:r>
          </a:p>
          <a:p>
            <a:pPr algn="just">
              <a:lnSpc>
                <a:spcPct val="150000"/>
              </a:lnSpc>
              <a:buFont typeface="Arial" pitchFamily="34" charset="0"/>
              <a:buNone/>
            </a:pPr>
            <a:r>
              <a:rPr lang="en-IN" sz="2600" dirty="0"/>
              <a:t>2) Carry out different tasks: Locomotion or manipulation, do something physical–such as move or manipulate objects</a:t>
            </a:r>
          </a:p>
          <a:p>
            <a:pPr algn="just">
              <a:lnSpc>
                <a:spcPct val="150000"/>
              </a:lnSpc>
              <a:buFont typeface="Arial" pitchFamily="34" charset="0"/>
              <a:buNone/>
            </a:pPr>
            <a:r>
              <a:rPr lang="en-IN" sz="2600" dirty="0"/>
              <a:t>3) Re-programmable: can do different things</a:t>
            </a:r>
          </a:p>
          <a:p>
            <a:pPr algn="just">
              <a:lnSpc>
                <a:spcPct val="150000"/>
              </a:lnSpc>
              <a:buFont typeface="Arial" pitchFamily="34" charset="0"/>
              <a:buNone/>
            </a:pPr>
            <a:r>
              <a:rPr lang="en-IN" sz="2600" dirty="0"/>
              <a:t>4) Function autonomously and/or interact with human beings</a:t>
            </a:r>
          </a:p>
        </p:txBody>
      </p:sp>
    </p:spTree>
    <p:extLst>
      <p:ext uri="{BB962C8B-B14F-4D97-AF65-F5344CB8AC3E}">
        <p14:creationId xmlns:p14="http://schemas.microsoft.com/office/powerpoint/2010/main" val="1947209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linds(horizontal)">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7D93928-95E0-4EDA-9A64-0DA225991992}"/>
              </a:ext>
            </a:extLst>
          </p:cNvPr>
          <p:cNvSpPr>
            <a:spLocks noGrp="1"/>
          </p:cNvSpPr>
          <p:nvPr>
            <p:ph type="title"/>
          </p:nvPr>
        </p:nvSpPr>
        <p:spPr/>
        <p:txBody>
          <a:bodyPr/>
          <a:lstStyle/>
          <a:p>
            <a:r>
              <a:rPr lang="tr-TR" b="1" dirty="0">
                <a:solidFill>
                  <a:srgbClr val="3333CC"/>
                </a:solidFill>
                <a:latin typeface="Garamond" pitchFamily="18" charset="0"/>
              </a:rPr>
              <a:t>Three Laws of Robotics</a:t>
            </a:r>
            <a:endParaRPr lang="en-IN" dirty="0"/>
          </a:p>
        </p:txBody>
      </p:sp>
      <p:sp>
        <p:nvSpPr>
          <p:cNvPr id="3" name="Date Placeholder 2">
            <a:extLst>
              <a:ext uri="{FF2B5EF4-FFF2-40B4-BE49-F238E27FC236}">
                <a16:creationId xmlns="" xmlns:a16="http://schemas.microsoft.com/office/drawing/2014/main" id="{D272EDE2-B9A0-478A-9BDE-C47154EBE99F}"/>
              </a:ext>
            </a:extLst>
          </p:cNvPr>
          <p:cNvSpPr>
            <a:spLocks noGrp="1"/>
          </p:cNvSpPr>
          <p:nvPr>
            <p:ph type="dt" sz="half" idx="10"/>
          </p:nvPr>
        </p:nvSpPr>
        <p:spPr/>
        <p:txBody>
          <a:bodyPr/>
          <a:lstStyle/>
          <a:p>
            <a:fld id="{6014993A-7C1F-4C33-ADBE-8B4BB8E29E7A}" type="datetime1">
              <a:rPr lang="en-US" smtClean="0">
                <a:solidFill>
                  <a:prstClr val="black">
                    <a:tint val="75000"/>
                  </a:prstClr>
                </a:solidFill>
              </a:rPr>
              <a:t>10/29/2020</a:t>
            </a:fld>
            <a:endParaRPr lang="en-US">
              <a:solidFill>
                <a:prstClr val="black">
                  <a:tint val="75000"/>
                </a:prstClr>
              </a:solidFill>
            </a:endParaRPr>
          </a:p>
        </p:txBody>
      </p:sp>
      <p:sp>
        <p:nvSpPr>
          <p:cNvPr id="4" name="Footer Placeholder 3">
            <a:extLst>
              <a:ext uri="{FF2B5EF4-FFF2-40B4-BE49-F238E27FC236}">
                <a16:creationId xmlns="" xmlns:a16="http://schemas.microsoft.com/office/drawing/2014/main" id="{F6110C43-27EA-47D2-849C-FA15123FD370}"/>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 xmlns:a16="http://schemas.microsoft.com/office/drawing/2014/main" id="{461063BF-731B-4FE4-83F6-7A21AC4F61CA}"/>
              </a:ext>
            </a:extLst>
          </p:cNvPr>
          <p:cNvSpPr>
            <a:spLocks noGrp="1"/>
          </p:cNvSpPr>
          <p:nvPr>
            <p:ph type="sldNum" sz="quarter" idx="12"/>
          </p:nvPr>
        </p:nvSpPr>
        <p:spPr/>
        <p:txBody>
          <a:bodyPr/>
          <a:lstStyle/>
          <a:p>
            <a:fld id="{F5191DE1-7F5A-44CD-9F3E-A95E2D010AEE}" type="slidenum">
              <a:rPr lang="en-US" smtClean="0">
                <a:solidFill>
                  <a:prstClr val="black">
                    <a:tint val="75000"/>
                  </a:prstClr>
                </a:solidFill>
              </a:rPr>
              <a:pPr/>
              <a:t>6</a:t>
            </a:fld>
            <a:endParaRPr lang="en-US">
              <a:solidFill>
                <a:prstClr val="black">
                  <a:tint val="75000"/>
                </a:prstClr>
              </a:solidFill>
            </a:endParaRPr>
          </a:p>
        </p:txBody>
      </p:sp>
      <p:sp>
        <p:nvSpPr>
          <p:cNvPr id="6" name="Content Placeholder 2">
            <a:extLst>
              <a:ext uri="{FF2B5EF4-FFF2-40B4-BE49-F238E27FC236}">
                <a16:creationId xmlns="" xmlns:a16="http://schemas.microsoft.com/office/drawing/2014/main" id="{FEADBAC1-228D-46F4-BE54-8E8A7497CE1C}"/>
              </a:ext>
            </a:extLst>
          </p:cNvPr>
          <p:cNvSpPr txBox="1">
            <a:spLocks/>
          </p:cNvSpPr>
          <p:nvPr/>
        </p:nvSpPr>
        <p:spPr>
          <a:xfrm>
            <a:off x="457200" y="1219200"/>
            <a:ext cx="8229600" cy="525475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Arial" pitchFamily="34" charset="0"/>
              <a:buNone/>
            </a:pPr>
            <a:r>
              <a:rPr lang="en-IN" sz="2700" dirty="0"/>
              <a:t>FIRST LAW: </a:t>
            </a:r>
            <a:r>
              <a:rPr lang="en-IN" sz="2700" dirty="0">
                <a:solidFill>
                  <a:srgbClr val="FF0000"/>
                </a:solidFill>
              </a:rPr>
              <a:t>Do not harm human being</a:t>
            </a:r>
            <a:endParaRPr lang="en-IN" sz="2700" dirty="0"/>
          </a:p>
          <a:p>
            <a:pPr algn="just">
              <a:buFont typeface="Arial" pitchFamily="34" charset="0"/>
              <a:buNone/>
            </a:pPr>
            <a:r>
              <a:rPr lang="en-IN" sz="2700" dirty="0"/>
              <a:t>	 A robot must not harm a human being, or, through inaction, allow a human being to come to harm.</a:t>
            </a:r>
          </a:p>
          <a:p>
            <a:pPr algn="just">
              <a:buFont typeface="Arial" pitchFamily="34" charset="0"/>
              <a:buNone/>
            </a:pPr>
            <a:r>
              <a:rPr lang="en-IN" sz="2700" dirty="0"/>
              <a:t>SECOND LAW: </a:t>
            </a:r>
            <a:r>
              <a:rPr lang="en-IN" sz="2700" dirty="0">
                <a:solidFill>
                  <a:srgbClr val="FF0000"/>
                </a:solidFill>
              </a:rPr>
              <a:t>Obey human being </a:t>
            </a:r>
            <a:endParaRPr lang="en-IN" sz="2700" dirty="0"/>
          </a:p>
          <a:p>
            <a:pPr algn="just">
              <a:buFont typeface="Arial" pitchFamily="34" charset="0"/>
              <a:buNone/>
            </a:pPr>
            <a:r>
              <a:rPr lang="en-IN" sz="2700" dirty="0"/>
              <a:t>	A robot must always obey the orders given it by human beings except where such orders would conflict with the First Law.</a:t>
            </a:r>
          </a:p>
          <a:p>
            <a:pPr algn="just">
              <a:buFont typeface="Arial" pitchFamily="34" charset="0"/>
              <a:buNone/>
            </a:pPr>
            <a:r>
              <a:rPr lang="en-IN" sz="2700" dirty="0"/>
              <a:t>THIRD LAW: </a:t>
            </a:r>
            <a:r>
              <a:rPr lang="en-IN" sz="2700" dirty="0">
                <a:solidFill>
                  <a:srgbClr val="FF0000"/>
                </a:solidFill>
              </a:rPr>
              <a:t>Protects itself from harm</a:t>
            </a:r>
            <a:endParaRPr lang="en-IN" sz="2700" dirty="0"/>
          </a:p>
          <a:p>
            <a:pPr algn="just">
              <a:buFont typeface="Arial" pitchFamily="34" charset="0"/>
              <a:buNone/>
            </a:pPr>
            <a:r>
              <a:rPr lang="en-IN" sz="2700" dirty="0"/>
              <a:t> 	A robot must protect its own existence as long as such protection does not conflict with the First or Second Law.</a:t>
            </a:r>
          </a:p>
          <a:p>
            <a:pPr algn="just">
              <a:buFont typeface="Arial" pitchFamily="34" charset="0"/>
              <a:buNone/>
            </a:pPr>
            <a:endParaRPr lang="en-IN" sz="2700" dirty="0"/>
          </a:p>
        </p:txBody>
      </p:sp>
    </p:spTree>
    <p:extLst>
      <p:ext uri="{BB962C8B-B14F-4D97-AF65-F5344CB8AC3E}">
        <p14:creationId xmlns:p14="http://schemas.microsoft.com/office/powerpoint/2010/main" val="1478321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linds(horizontal)">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blinds(horizontal)">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blinds(horizontal)">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CB8E72-FF19-4E12-B058-5A73619669CE}"/>
              </a:ext>
            </a:extLst>
          </p:cNvPr>
          <p:cNvSpPr>
            <a:spLocks noGrp="1"/>
          </p:cNvSpPr>
          <p:nvPr>
            <p:ph type="title"/>
          </p:nvPr>
        </p:nvSpPr>
        <p:spPr/>
        <p:txBody>
          <a:bodyPr/>
          <a:lstStyle/>
          <a:p>
            <a:r>
              <a:rPr lang="en-US" dirty="0">
                <a:solidFill>
                  <a:srgbClr val="0070C0"/>
                </a:solidFill>
              </a:rPr>
              <a:t>Components of robotic system</a:t>
            </a:r>
            <a:endParaRPr lang="en-IN" dirty="0">
              <a:solidFill>
                <a:srgbClr val="0070C0"/>
              </a:solidFill>
            </a:endParaRPr>
          </a:p>
        </p:txBody>
      </p:sp>
      <p:sp>
        <p:nvSpPr>
          <p:cNvPr id="3" name="Date Placeholder 2">
            <a:extLst>
              <a:ext uri="{FF2B5EF4-FFF2-40B4-BE49-F238E27FC236}">
                <a16:creationId xmlns="" xmlns:a16="http://schemas.microsoft.com/office/drawing/2014/main" id="{AADADFAD-D0DC-43C3-9CD0-DC5FAEE02765}"/>
              </a:ext>
            </a:extLst>
          </p:cNvPr>
          <p:cNvSpPr>
            <a:spLocks noGrp="1"/>
          </p:cNvSpPr>
          <p:nvPr>
            <p:ph type="dt" sz="half" idx="10"/>
          </p:nvPr>
        </p:nvSpPr>
        <p:spPr/>
        <p:txBody>
          <a:bodyPr/>
          <a:lstStyle/>
          <a:p>
            <a:fld id="{6014993A-7C1F-4C33-ADBE-8B4BB8E29E7A}" type="datetime1">
              <a:rPr lang="en-US" smtClean="0">
                <a:solidFill>
                  <a:prstClr val="black">
                    <a:tint val="75000"/>
                  </a:prstClr>
                </a:solidFill>
              </a:rPr>
              <a:t>10/29/2020</a:t>
            </a:fld>
            <a:endParaRPr lang="en-US">
              <a:solidFill>
                <a:prstClr val="black">
                  <a:tint val="75000"/>
                </a:prstClr>
              </a:solidFill>
            </a:endParaRPr>
          </a:p>
        </p:txBody>
      </p:sp>
      <p:sp>
        <p:nvSpPr>
          <p:cNvPr id="4" name="Footer Placeholder 3">
            <a:extLst>
              <a:ext uri="{FF2B5EF4-FFF2-40B4-BE49-F238E27FC236}">
                <a16:creationId xmlns="" xmlns:a16="http://schemas.microsoft.com/office/drawing/2014/main" id="{936A09E6-9D9D-4E9A-B75D-E49BA2B93263}"/>
              </a:ext>
            </a:extLst>
          </p:cNvPr>
          <p:cNvSpPr>
            <a:spLocks noGrp="1"/>
          </p:cNvSpPr>
          <p:nvPr>
            <p:ph type="ftr" sz="quarter" idx="11"/>
          </p:nvPr>
        </p:nvSpPr>
        <p:spPr/>
        <p:txBody>
          <a:bodyPr/>
          <a:lstStyle/>
          <a:p>
            <a:r>
              <a:rPr lang="en-IN" dirty="0">
                <a:solidFill>
                  <a:prstClr val="black">
                    <a:tint val="75000"/>
                  </a:prstClr>
                </a:solidFill>
              </a:rPr>
              <a:t>Fundamentals of robotics by dk </a:t>
            </a:r>
            <a:r>
              <a:rPr lang="en-IN" dirty="0" err="1">
                <a:solidFill>
                  <a:prstClr val="black">
                    <a:tint val="75000"/>
                  </a:prstClr>
                </a:solidFill>
              </a:rPr>
              <a:t>pratihar</a:t>
            </a:r>
            <a:endParaRPr lang="en-US" dirty="0">
              <a:solidFill>
                <a:prstClr val="black">
                  <a:tint val="75000"/>
                </a:prstClr>
              </a:solidFill>
            </a:endParaRPr>
          </a:p>
        </p:txBody>
      </p:sp>
      <p:sp>
        <p:nvSpPr>
          <p:cNvPr id="5" name="Slide Number Placeholder 4">
            <a:extLst>
              <a:ext uri="{FF2B5EF4-FFF2-40B4-BE49-F238E27FC236}">
                <a16:creationId xmlns="" xmlns:a16="http://schemas.microsoft.com/office/drawing/2014/main" id="{5454E02E-A3AD-4A30-AE5E-18D28EE1ABC9}"/>
              </a:ext>
            </a:extLst>
          </p:cNvPr>
          <p:cNvSpPr>
            <a:spLocks noGrp="1"/>
          </p:cNvSpPr>
          <p:nvPr>
            <p:ph type="sldNum" sz="quarter" idx="12"/>
          </p:nvPr>
        </p:nvSpPr>
        <p:spPr/>
        <p:txBody>
          <a:bodyPr/>
          <a:lstStyle/>
          <a:p>
            <a:fld id="{F5191DE1-7F5A-44CD-9F3E-A95E2D010AEE}" type="slidenum">
              <a:rPr lang="en-US" smtClean="0">
                <a:solidFill>
                  <a:prstClr val="black">
                    <a:tint val="75000"/>
                  </a:prstClr>
                </a:solidFill>
              </a:rPr>
              <a:pPr/>
              <a:t>7</a:t>
            </a:fld>
            <a:endParaRPr lang="en-US">
              <a:solidFill>
                <a:prstClr val="black">
                  <a:tint val="75000"/>
                </a:prstClr>
              </a:solidFill>
            </a:endParaRPr>
          </a:p>
        </p:txBody>
      </p:sp>
      <p:pic>
        <p:nvPicPr>
          <p:cNvPr id="7" name="Picture 6">
            <a:extLst>
              <a:ext uri="{FF2B5EF4-FFF2-40B4-BE49-F238E27FC236}">
                <a16:creationId xmlns="" xmlns:a16="http://schemas.microsoft.com/office/drawing/2014/main" id="{F63BCD2B-EC34-4177-A141-D24DA7931F1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59971" y="990600"/>
            <a:ext cx="8264769" cy="3581400"/>
          </a:xfrm>
          <a:prstGeom prst="rect">
            <a:avLst/>
          </a:prstGeom>
        </p:spPr>
      </p:pic>
      <p:sp>
        <p:nvSpPr>
          <p:cNvPr id="8" name="Rectangle 7">
            <a:extLst>
              <a:ext uri="{FF2B5EF4-FFF2-40B4-BE49-F238E27FC236}">
                <a16:creationId xmlns="" xmlns:a16="http://schemas.microsoft.com/office/drawing/2014/main" id="{DD6253E0-390A-4AE4-A548-C61A5A025EE0}"/>
              </a:ext>
            </a:extLst>
          </p:cNvPr>
          <p:cNvSpPr/>
          <p:nvPr/>
        </p:nvSpPr>
        <p:spPr>
          <a:xfrm>
            <a:off x="609600" y="4817843"/>
            <a:ext cx="8115140" cy="830997"/>
          </a:xfrm>
          <a:prstGeom prst="rect">
            <a:avLst/>
          </a:prstGeom>
        </p:spPr>
        <p:txBody>
          <a:bodyPr wrap="square">
            <a:spAutoFit/>
          </a:bodyPr>
          <a:lstStyle/>
          <a:p>
            <a:pPr marR="99480"/>
            <a:r>
              <a:rPr lang="en-IN" sz="2400" dirty="0">
                <a:solidFill>
                  <a:srgbClr val="0070C0"/>
                </a:solidFill>
                <a:latin typeface="+mj-lt"/>
              </a:rPr>
              <a:t>Various Components : </a:t>
            </a:r>
            <a:r>
              <a:rPr lang="en-IN" sz="2400" dirty="0">
                <a:solidFill>
                  <a:srgbClr val="000000"/>
                </a:solidFill>
                <a:latin typeface="+mj-lt"/>
              </a:rPr>
              <a:t>1.Base 2.Links and Joints 3.End-effector / gripper  4.Wrist 5.Drive / Actuator  6.Controller  7.Sensors </a:t>
            </a:r>
          </a:p>
        </p:txBody>
      </p:sp>
    </p:spTree>
    <p:extLst>
      <p:ext uri="{BB962C8B-B14F-4D97-AF65-F5344CB8AC3E}">
        <p14:creationId xmlns:p14="http://schemas.microsoft.com/office/powerpoint/2010/main" val="18451462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7E48950-61F8-4588-8FAF-D6E6B42CE273}"/>
              </a:ext>
            </a:extLst>
          </p:cNvPr>
          <p:cNvSpPr>
            <a:spLocks noGrp="1"/>
          </p:cNvSpPr>
          <p:nvPr>
            <p:ph type="title"/>
          </p:nvPr>
        </p:nvSpPr>
        <p:spPr/>
        <p:txBody>
          <a:bodyPr/>
          <a:lstStyle/>
          <a:p>
            <a:r>
              <a:rPr lang="en-IN" dirty="0">
                <a:solidFill>
                  <a:srgbClr val="0070C0"/>
                </a:solidFill>
              </a:rPr>
              <a:t>Serial Manipulator </a:t>
            </a:r>
          </a:p>
        </p:txBody>
      </p:sp>
      <p:sp>
        <p:nvSpPr>
          <p:cNvPr id="3" name="Date Placeholder 2">
            <a:extLst>
              <a:ext uri="{FF2B5EF4-FFF2-40B4-BE49-F238E27FC236}">
                <a16:creationId xmlns="" xmlns:a16="http://schemas.microsoft.com/office/drawing/2014/main" id="{A75D3D53-65EE-4EE5-A702-745EEB73BDA0}"/>
              </a:ext>
            </a:extLst>
          </p:cNvPr>
          <p:cNvSpPr>
            <a:spLocks noGrp="1"/>
          </p:cNvSpPr>
          <p:nvPr>
            <p:ph type="dt" sz="half" idx="10"/>
          </p:nvPr>
        </p:nvSpPr>
        <p:spPr/>
        <p:txBody>
          <a:bodyPr/>
          <a:lstStyle/>
          <a:p>
            <a:fld id="{6014993A-7C1F-4C33-ADBE-8B4BB8E29E7A}" type="datetime1">
              <a:rPr lang="en-US" smtClean="0">
                <a:solidFill>
                  <a:prstClr val="black">
                    <a:tint val="75000"/>
                  </a:prstClr>
                </a:solidFill>
              </a:rPr>
              <a:t>10/29/2020</a:t>
            </a:fld>
            <a:endParaRPr lang="en-US">
              <a:solidFill>
                <a:prstClr val="black">
                  <a:tint val="75000"/>
                </a:prstClr>
              </a:solidFill>
            </a:endParaRPr>
          </a:p>
        </p:txBody>
      </p:sp>
      <p:sp>
        <p:nvSpPr>
          <p:cNvPr id="4" name="Footer Placeholder 3">
            <a:extLst>
              <a:ext uri="{FF2B5EF4-FFF2-40B4-BE49-F238E27FC236}">
                <a16:creationId xmlns="" xmlns:a16="http://schemas.microsoft.com/office/drawing/2014/main" id="{F72430D8-FF4C-4492-9330-D81DCF2D3A31}"/>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 xmlns:a16="http://schemas.microsoft.com/office/drawing/2014/main" id="{9AF18957-6CA5-4FA8-949C-8E619DBC77CA}"/>
              </a:ext>
            </a:extLst>
          </p:cNvPr>
          <p:cNvSpPr>
            <a:spLocks noGrp="1"/>
          </p:cNvSpPr>
          <p:nvPr>
            <p:ph type="sldNum" sz="quarter" idx="12"/>
          </p:nvPr>
        </p:nvSpPr>
        <p:spPr/>
        <p:txBody>
          <a:bodyPr/>
          <a:lstStyle/>
          <a:p>
            <a:fld id="{F5191DE1-7F5A-44CD-9F3E-A95E2D010AEE}" type="slidenum">
              <a:rPr lang="en-US" smtClean="0">
                <a:solidFill>
                  <a:prstClr val="black">
                    <a:tint val="75000"/>
                  </a:prstClr>
                </a:solidFill>
              </a:rPr>
              <a:pPr/>
              <a:t>8</a:t>
            </a:fld>
            <a:endParaRPr lang="en-US">
              <a:solidFill>
                <a:prstClr val="black">
                  <a:tint val="75000"/>
                </a:prstClr>
              </a:solidFill>
            </a:endParaRPr>
          </a:p>
        </p:txBody>
      </p:sp>
      <p:pic>
        <p:nvPicPr>
          <p:cNvPr id="7" name="Picture 6">
            <a:extLst>
              <a:ext uri="{FF2B5EF4-FFF2-40B4-BE49-F238E27FC236}">
                <a16:creationId xmlns="" xmlns:a16="http://schemas.microsoft.com/office/drawing/2014/main" id="{D736B8A0-D4B5-44FC-953A-C31833458E9F}"/>
              </a:ext>
            </a:extLst>
          </p:cNvPr>
          <p:cNvPicPr>
            <a:picLocks noChangeAspect="1"/>
          </p:cNvPicPr>
          <p:nvPr/>
        </p:nvPicPr>
        <p:blipFill>
          <a:blip r:embed="rId2"/>
          <a:stretch>
            <a:fillRect/>
          </a:stretch>
        </p:blipFill>
        <p:spPr>
          <a:xfrm>
            <a:off x="1507375" y="1219200"/>
            <a:ext cx="6700930" cy="5025698"/>
          </a:xfrm>
          <a:prstGeom prst="rect">
            <a:avLst/>
          </a:prstGeom>
        </p:spPr>
      </p:pic>
    </p:spTree>
    <p:extLst>
      <p:ext uri="{BB962C8B-B14F-4D97-AF65-F5344CB8AC3E}">
        <p14:creationId xmlns:p14="http://schemas.microsoft.com/office/powerpoint/2010/main" val="22676357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6328A4-063F-417B-92A2-145D14D6D327}"/>
              </a:ext>
            </a:extLst>
          </p:cNvPr>
          <p:cNvSpPr>
            <a:spLocks noGrp="1"/>
          </p:cNvSpPr>
          <p:nvPr>
            <p:ph type="title"/>
          </p:nvPr>
        </p:nvSpPr>
        <p:spPr/>
        <p:txBody>
          <a:bodyPr>
            <a:normAutofit/>
          </a:bodyPr>
          <a:lstStyle/>
          <a:p>
            <a:r>
              <a:rPr lang="en-US" dirty="0">
                <a:solidFill>
                  <a:srgbClr val="0070C0"/>
                </a:solidFill>
              </a:rPr>
              <a:t>Parallel </a:t>
            </a:r>
            <a:r>
              <a:rPr lang="en-IN" dirty="0">
                <a:solidFill>
                  <a:srgbClr val="0070C0"/>
                </a:solidFill>
              </a:rPr>
              <a:t>Manipulator</a:t>
            </a:r>
            <a:r>
              <a:rPr lang="en-US" dirty="0">
                <a:solidFill>
                  <a:srgbClr val="0070C0"/>
                </a:solidFill>
              </a:rPr>
              <a:t> </a:t>
            </a:r>
            <a:endParaRPr lang="en-IN" dirty="0">
              <a:solidFill>
                <a:srgbClr val="0070C0"/>
              </a:solidFill>
            </a:endParaRPr>
          </a:p>
        </p:txBody>
      </p:sp>
      <p:sp>
        <p:nvSpPr>
          <p:cNvPr id="3" name="Date Placeholder 2">
            <a:extLst>
              <a:ext uri="{FF2B5EF4-FFF2-40B4-BE49-F238E27FC236}">
                <a16:creationId xmlns="" xmlns:a16="http://schemas.microsoft.com/office/drawing/2014/main" id="{F07CF78E-307E-4C9D-A988-C06D207A1C62}"/>
              </a:ext>
            </a:extLst>
          </p:cNvPr>
          <p:cNvSpPr>
            <a:spLocks noGrp="1"/>
          </p:cNvSpPr>
          <p:nvPr>
            <p:ph type="dt" sz="half" idx="10"/>
          </p:nvPr>
        </p:nvSpPr>
        <p:spPr/>
        <p:txBody>
          <a:bodyPr/>
          <a:lstStyle/>
          <a:p>
            <a:fld id="{6014993A-7C1F-4C33-ADBE-8B4BB8E29E7A}" type="datetime1">
              <a:rPr lang="en-US" smtClean="0">
                <a:solidFill>
                  <a:prstClr val="black">
                    <a:tint val="75000"/>
                  </a:prstClr>
                </a:solidFill>
              </a:rPr>
              <a:t>10/29/2020</a:t>
            </a:fld>
            <a:endParaRPr lang="en-US">
              <a:solidFill>
                <a:prstClr val="black">
                  <a:tint val="75000"/>
                </a:prstClr>
              </a:solidFill>
            </a:endParaRPr>
          </a:p>
        </p:txBody>
      </p:sp>
      <p:sp>
        <p:nvSpPr>
          <p:cNvPr id="4" name="Footer Placeholder 3">
            <a:extLst>
              <a:ext uri="{FF2B5EF4-FFF2-40B4-BE49-F238E27FC236}">
                <a16:creationId xmlns="" xmlns:a16="http://schemas.microsoft.com/office/drawing/2014/main" id="{5187B51D-1F9F-4064-8227-C560F479E2E3}"/>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 xmlns:a16="http://schemas.microsoft.com/office/drawing/2014/main" id="{DE24FF28-F858-4CA6-9532-6DA8B6A10D88}"/>
              </a:ext>
            </a:extLst>
          </p:cNvPr>
          <p:cNvSpPr>
            <a:spLocks noGrp="1"/>
          </p:cNvSpPr>
          <p:nvPr>
            <p:ph type="sldNum" sz="quarter" idx="12"/>
          </p:nvPr>
        </p:nvSpPr>
        <p:spPr/>
        <p:txBody>
          <a:bodyPr/>
          <a:lstStyle/>
          <a:p>
            <a:fld id="{F5191DE1-7F5A-44CD-9F3E-A95E2D010AEE}" type="slidenum">
              <a:rPr lang="en-US" smtClean="0">
                <a:solidFill>
                  <a:prstClr val="black">
                    <a:tint val="75000"/>
                  </a:prstClr>
                </a:solidFill>
              </a:rPr>
              <a:pPr/>
              <a:t>9</a:t>
            </a:fld>
            <a:endParaRPr lang="en-US">
              <a:solidFill>
                <a:prstClr val="black">
                  <a:tint val="75000"/>
                </a:prstClr>
              </a:solidFill>
            </a:endParaRPr>
          </a:p>
        </p:txBody>
      </p:sp>
      <p:pic>
        <p:nvPicPr>
          <p:cNvPr id="7" name="Picture 6">
            <a:extLst>
              <a:ext uri="{FF2B5EF4-FFF2-40B4-BE49-F238E27FC236}">
                <a16:creationId xmlns="" xmlns:a16="http://schemas.microsoft.com/office/drawing/2014/main" id="{3D33066E-32EA-48B4-ACBF-C509B4515D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7600" y="1050925"/>
            <a:ext cx="6908800" cy="5181600"/>
          </a:xfrm>
          <a:prstGeom prst="rect">
            <a:avLst/>
          </a:prstGeom>
        </p:spPr>
      </p:pic>
    </p:spTree>
    <p:extLst>
      <p:ext uri="{BB962C8B-B14F-4D97-AF65-F5344CB8AC3E}">
        <p14:creationId xmlns:p14="http://schemas.microsoft.com/office/powerpoint/2010/main" val="15030954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457200" y="214290"/>
            <a:ext cx="7467600" cy="1143000"/>
          </a:xfrm>
        </p:spPr>
        <p:txBody>
          <a:bodyPr/>
          <a:lstStyle/>
          <a:p>
            <a:pPr eaLnBrk="1" hangingPunct="1"/>
            <a:r>
              <a:rPr lang="en-US" dirty="0">
                <a:solidFill>
                  <a:srgbClr val="0070C0"/>
                </a:solidFill>
              </a:rPr>
              <a:t>Robot Anatomy</a:t>
            </a:r>
          </a:p>
        </p:txBody>
      </p:sp>
      <p:sp>
        <p:nvSpPr>
          <p:cNvPr id="15364" name="Rectangle 3"/>
          <p:cNvSpPr>
            <a:spLocks noGrp="1" noChangeArrowheads="1"/>
          </p:cNvSpPr>
          <p:nvPr>
            <p:ph type="body" idx="1"/>
          </p:nvPr>
        </p:nvSpPr>
        <p:spPr>
          <a:xfrm>
            <a:off x="428596" y="1500174"/>
            <a:ext cx="8153400" cy="4786346"/>
          </a:xfrm>
        </p:spPr>
        <p:txBody>
          <a:bodyPr>
            <a:normAutofit/>
          </a:bodyPr>
          <a:lstStyle/>
          <a:p>
            <a:pPr eaLnBrk="1" hangingPunct="1"/>
            <a:r>
              <a:rPr lang="en-US" dirty="0"/>
              <a:t>Manipulator consists of joints and links</a:t>
            </a:r>
          </a:p>
          <a:p>
            <a:pPr lvl="1" eaLnBrk="1" hangingPunct="1"/>
            <a:r>
              <a:rPr lang="en-US" sz="2400" dirty="0"/>
              <a:t>Joints provide relative motion</a:t>
            </a:r>
          </a:p>
          <a:p>
            <a:pPr lvl="1" eaLnBrk="1" hangingPunct="1"/>
            <a:r>
              <a:rPr lang="en-US" sz="2400" dirty="0"/>
              <a:t>Links are rigid members between joints</a:t>
            </a:r>
          </a:p>
          <a:p>
            <a:pPr lvl="1" eaLnBrk="1" hangingPunct="1"/>
            <a:r>
              <a:rPr lang="en-US" sz="2400" dirty="0"/>
              <a:t>Various joint types: linear and rotary</a:t>
            </a:r>
          </a:p>
          <a:p>
            <a:pPr lvl="1" eaLnBrk="1" hangingPunct="1"/>
            <a:r>
              <a:rPr lang="en-US" sz="2400" dirty="0"/>
              <a:t>Each joint provides a “degree-of-freedom”</a:t>
            </a:r>
          </a:p>
          <a:p>
            <a:pPr lvl="1" eaLnBrk="1" hangingPunct="1"/>
            <a:r>
              <a:rPr lang="en-US" sz="2400" dirty="0"/>
              <a:t>Most robots possess five or six degrees-of-freedom</a:t>
            </a:r>
          </a:p>
          <a:p>
            <a:pPr eaLnBrk="1" hangingPunct="1"/>
            <a:r>
              <a:rPr lang="en-US" dirty="0"/>
              <a:t>Robot manipulator consists of two sections:</a:t>
            </a:r>
          </a:p>
          <a:p>
            <a:pPr lvl="1" eaLnBrk="1" hangingPunct="1"/>
            <a:r>
              <a:rPr lang="en-US" sz="2400" dirty="0"/>
              <a:t>Body-and-arm – for positioning of objects in the robot's work volume</a:t>
            </a:r>
          </a:p>
          <a:p>
            <a:pPr lvl="1" eaLnBrk="1" hangingPunct="1"/>
            <a:r>
              <a:rPr lang="en-US" sz="2400" dirty="0"/>
              <a:t>Wrist assembly – for orientation of objects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CF4FC426-8E81-4F1E-BE4E-434D10C9E0B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85800" y="1495258"/>
            <a:ext cx="7048500" cy="3676650"/>
          </a:xfrm>
          <a:prstGeom prst="rect">
            <a:avLst/>
          </a:prstGeom>
        </p:spPr>
      </p:pic>
      <p:sp>
        <p:nvSpPr>
          <p:cNvPr id="16387" name="Rectangle 2"/>
          <p:cNvSpPr>
            <a:spLocks noGrp="1" noChangeArrowheads="1"/>
          </p:cNvSpPr>
          <p:nvPr>
            <p:ph type="title"/>
          </p:nvPr>
        </p:nvSpPr>
        <p:spPr/>
        <p:txBody>
          <a:bodyPr/>
          <a:lstStyle/>
          <a:p>
            <a:pPr eaLnBrk="1" hangingPunct="1"/>
            <a:r>
              <a:rPr lang="en-US" dirty="0">
                <a:solidFill>
                  <a:srgbClr val="0070C0"/>
                </a:solidFill>
              </a:rPr>
              <a:t>Robot Anatomy</a:t>
            </a:r>
          </a:p>
        </p:txBody>
      </p:sp>
      <p:pic>
        <p:nvPicPr>
          <p:cNvPr id="1026" name="Picture 2" descr="http://blenderartists.org/forum/attachment.php?attachmentid=355981&amp;d=1421402982"/>
          <p:cNvPicPr>
            <a:picLocks noChangeAspect="1" noChangeArrowheads="1"/>
          </p:cNvPicPr>
          <p:nvPr/>
        </p:nvPicPr>
        <p:blipFill>
          <a:blip r:embed="rId4"/>
          <a:srcRect/>
          <a:stretch>
            <a:fillRect/>
          </a:stretch>
        </p:blipFill>
        <p:spPr bwMode="auto">
          <a:xfrm>
            <a:off x="5429256" y="3786190"/>
            <a:ext cx="3354936" cy="2790833"/>
          </a:xfrm>
          <a:prstGeom prst="rect">
            <a:avLst/>
          </a:prstGeom>
          <a:noFill/>
        </p:spPr>
      </p:pic>
    </p:spTree>
  </p:cSld>
  <p:clrMapOvr>
    <a:masterClrMapping/>
  </p:clrMapOvr>
  <p:transition advClick="0"/>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solidFill>
                  <a:srgbClr val="0070C0"/>
                </a:solidFill>
              </a:rPr>
              <a:t>Degrees of freedom (DOF)</a:t>
            </a:r>
          </a:p>
        </p:txBody>
      </p:sp>
      <p:sp>
        <p:nvSpPr>
          <p:cNvPr id="23555" name="Content Placeholder 2"/>
          <p:cNvSpPr>
            <a:spLocks noGrp="1"/>
          </p:cNvSpPr>
          <p:nvPr>
            <p:ph idx="1"/>
          </p:nvPr>
        </p:nvSpPr>
        <p:spPr>
          <a:xfrm>
            <a:off x="457200" y="1600200"/>
            <a:ext cx="8229600" cy="4873752"/>
          </a:xfrm>
        </p:spPr>
        <p:txBody>
          <a:bodyPr/>
          <a:lstStyle/>
          <a:p>
            <a:pPr algn="just"/>
            <a:r>
              <a:rPr lang="en-US" b="1" dirty="0">
                <a:solidFill>
                  <a:srgbClr val="00B0F0"/>
                </a:solidFill>
              </a:rPr>
              <a:t>DOF / </a:t>
            </a:r>
            <a:r>
              <a:rPr lang="en-IN" b="1" dirty="0">
                <a:solidFill>
                  <a:srgbClr val="00B0F0"/>
                </a:solidFill>
              </a:rPr>
              <a:t>Connectivity </a:t>
            </a:r>
            <a:r>
              <a:rPr lang="en-US" b="1" dirty="0">
                <a:solidFill>
                  <a:srgbClr val="00B0F0"/>
                </a:solidFill>
              </a:rPr>
              <a:t> </a:t>
            </a:r>
            <a:r>
              <a:rPr lang="en-US" dirty="0"/>
              <a:t>is defined as one of the variable required to define the motion of the body in space. </a:t>
            </a:r>
          </a:p>
          <a:p>
            <a:pPr algn="just"/>
            <a:r>
              <a:rPr lang="en-US" dirty="0"/>
              <a:t>Degree of freedom of a system depends on the number of variable or coordinates that are needed to describe its position.</a:t>
            </a:r>
          </a:p>
          <a:p>
            <a:pPr algn="just"/>
            <a:r>
              <a:rPr lang="en-US" dirty="0"/>
              <a:t>Each joint in a robotic system gives the robot one degree of freedom.</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dirty="0">
                <a:solidFill>
                  <a:srgbClr val="0070C0"/>
                </a:solidFill>
              </a:rPr>
              <a:t>The Robotic Joints</a:t>
            </a:r>
            <a:r>
              <a:rPr lang="tr-TR" dirty="0">
                <a:solidFill>
                  <a:srgbClr val="0070C0"/>
                </a:solidFill>
              </a:rPr>
              <a:t> </a:t>
            </a:r>
          </a:p>
        </p:txBody>
      </p:sp>
      <p:sp>
        <p:nvSpPr>
          <p:cNvPr id="24579" name="Rectangle 3"/>
          <p:cNvSpPr>
            <a:spLocks noGrp="1" noChangeArrowheads="1"/>
          </p:cNvSpPr>
          <p:nvPr>
            <p:ph type="body" idx="1"/>
          </p:nvPr>
        </p:nvSpPr>
        <p:spPr>
          <a:xfrm>
            <a:off x="457200" y="1600200"/>
            <a:ext cx="8229600" cy="3268663"/>
          </a:xfrm>
        </p:spPr>
        <p:txBody>
          <a:bodyPr>
            <a:normAutofit fontScale="92500"/>
          </a:bodyPr>
          <a:lstStyle/>
          <a:p>
            <a:pPr algn="just"/>
            <a:r>
              <a:rPr lang="en-US" dirty="0"/>
              <a:t>A robot joint is a mechanism that permits relative movement between parts of a robot arm.  </a:t>
            </a:r>
          </a:p>
          <a:p>
            <a:pPr marL="0" indent="0" algn="just">
              <a:buNone/>
            </a:pPr>
            <a:r>
              <a:rPr lang="en-US" dirty="0"/>
              <a:t>	</a:t>
            </a:r>
          </a:p>
          <a:p>
            <a:pPr algn="just"/>
            <a:r>
              <a:rPr lang="en-US" dirty="0"/>
              <a:t>The joints of a robot are designed to enable the robot to move its end - effector along a path from one position to another as desired.</a:t>
            </a:r>
            <a:r>
              <a:rPr lang="tr-TR" dirty="0"/>
              <a:t>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dirty="0">
                <a:solidFill>
                  <a:srgbClr val="0070C0"/>
                </a:solidFill>
              </a:rPr>
              <a:t>The Robotic Joints</a:t>
            </a:r>
            <a:endParaRPr lang="tr-TR" dirty="0">
              <a:solidFill>
                <a:srgbClr val="0070C0"/>
              </a:solidFill>
            </a:endParaRPr>
          </a:p>
        </p:txBody>
      </p:sp>
      <p:sp>
        <p:nvSpPr>
          <p:cNvPr id="26627" name="Rectangle 3"/>
          <p:cNvSpPr>
            <a:spLocks noGrp="1" noChangeArrowheads="1"/>
          </p:cNvSpPr>
          <p:nvPr>
            <p:ph type="body" idx="1"/>
          </p:nvPr>
        </p:nvSpPr>
        <p:spPr>
          <a:xfrm>
            <a:off x="457200" y="1600200"/>
            <a:ext cx="8229600" cy="4873752"/>
          </a:xfrm>
        </p:spPr>
        <p:txBody>
          <a:bodyPr>
            <a:normAutofit fontScale="85000" lnSpcReduction="20000"/>
          </a:bodyPr>
          <a:lstStyle/>
          <a:p>
            <a:pPr algn="just">
              <a:lnSpc>
                <a:spcPct val="110000"/>
              </a:lnSpc>
            </a:pPr>
            <a:r>
              <a:rPr lang="en-US" dirty="0"/>
              <a:t>These degrees of freedom, independently or in combination with others, define the complete motion of the end-effector. </a:t>
            </a:r>
          </a:p>
          <a:p>
            <a:pPr algn="just">
              <a:lnSpc>
                <a:spcPct val="110000"/>
              </a:lnSpc>
            </a:pPr>
            <a:endParaRPr lang="en-US" dirty="0"/>
          </a:p>
          <a:p>
            <a:pPr algn="just">
              <a:lnSpc>
                <a:spcPct val="110000"/>
              </a:lnSpc>
            </a:pPr>
            <a:r>
              <a:rPr lang="en-US" dirty="0"/>
              <a:t>These motions are accomplished by movements of individual joints of the robot arm. The joint movements are basically the same as relative motion of adjoining links. </a:t>
            </a:r>
          </a:p>
          <a:p>
            <a:pPr algn="just">
              <a:lnSpc>
                <a:spcPct val="110000"/>
              </a:lnSpc>
            </a:pPr>
            <a:endParaRPr lang="en-US" dirty="0"/>
          </a:p>
          <a:p>
            <a:pPr algn="just">
              <a:lnSpc>
                <a:spcPct val="110000"/>
              </a:lnSpc>
            </a:pPr>
            <a:r>
              <a:rPr lang="en-US" dirty="0"/>
              <a:t>Depending on the nature of this relative motion, the joints are classified as </a:t>
            </a:r>
            <a:r>
              <a:rPr lang="en-US" b="1" i="1" dirty="0">
                <a:solidFill>
                  <a:srgbClr val="FF0000"/>
                </a:solidFill>
              </a:rPr>
              <a:t>prismatic</a:t>
            </a:r>
            <a:r>
              <a:rPr lang="en-US" b="1" dirty="0"/>
              <a:t> </a:t>
            </a:r>
            <a:r>
              <a:rPr lang="en-US" dirty="0"/>
              <a:t>or</a:t>
            </a:r>
            <a:r>
              <a:rPr lang="en-US" i="1" dirty="0"/>
              <a:t> </a:t>
            </a:r>
            <a:r>
              <a:rPr lang="en-US" b="1" i="1" dirty="0">
                <a:solidFill>
                  <a:srgbClr val="FF0000"/>
                </a:solidFill>
              </a:rPr>
              <a:t>revolute</a:t>
            </a:r>
            <a:r>
              <a:rPr lang="en-US" i="1" dirty="0">
                <a:solidFill>
                  <a:srgbClr val="FF0000"/>
                </a:solidFill>
              </a:rPr>
              <a:t>.</a:t>
            </a:r>
            <a:endParaRPr lang="tr-TR" i="1" dirty="0">
              <a:solidFill>
                <a:srgbClr val="FF000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dirty="0">
                <a:solidFill>
                  <a:srgbClr val="0070C0"/>
                </a:solidFill>
              </a:rPr>
              <a:t>The Robotic Joints</a:t>
            </a:r>
            <a:endParaRPr lang="tr-TR" dirty="0">
              <a:solidFill>
                <a:srgbClr val="0070C0"/>
              </a:solidFill>
            </a:endParaRPr>
          </a:p>
        </p:txBody>
      </p:sp>
      <p:sp>
        <p:nvSpPr>
          <p:cNvPr id="27651" name="Rectangle 3"/>
          <p:cNvSpPr>
            <a:spLocks noGrp="1" noChangeArrowheads="1"/>
          </p:cNvSpPr>
          <p:nvPr>
            <p:ph type="body" idx="1"/>
          </p:nvPr>
        </p:nvSpPr>
        <p:spPr>
          <a:xfrm>
            <a:off x="500034" y="1984248"/>
            <a:ext cx="8186766" cy="4340352"/>
          </a:xfrm>
        </p:spPr>
        <p:txBody>
          <a:bodyPr/>
          <a:lstStyle/>
          <a:p>
            <a:pPr eaLnBrk="1" hangingPunct="1"/>
            <a:r>
              <a:rPr lang="en-US" b="1" i="1" dirty="0">
                <a:solidFill>
                  <a:schemeClr val="tx2">
                    <a:lumMod val="60000"/>
                    <a:lumOff val="40000"/>
                  </a:schemeClr>
                </a:solidFill>
              </a:rPr>
              <a:t>Prismatic</a:t>
            </a:r>
            <a:r>
              <a:rPr lang="tr-TR" b="1" i="1" dirty="0">
                <a:solidFill>
                  <a:schemeClr val="tx2">
                    <a:lumMod val="60000"/>
                    <a:lumOff val="40000"/>
                  </a:schemeClr>
                </a:solidFill>
              </a:rPr>
              <a:t> </a:t>
            </a:r>
            <a:r>
              <a:rPr lang="en-US" b="1" i="1" dirty="0">
                <a:solidFill>
                  <a:schemeClr val="tx2">
                    <a:lumMod val="60000"/>
                    <a:lumOff val="40000"/>
                  </a:schemeClr>
                </a:solidFill>
              </a:rPr>
              <a:t>joints</a:t>
            </a:r>
            <a:r>
              <a:rPr lang="en-US" dirty="0">
                <a:solidFill>
                  <a:schemeClr val="tx2">
                    <a:lumMod val="60000"/>
                    <a:lumOff val="40000"/>
                  </a:schemeClr>
                </a:solidFill>
              </a:rPr>
              <a:t> </a:t>
            </a:r>
            <a:r>
              <a:rPr lang="tr-TR" dirty="0">
                <a:solidFill>
                  <a:schemeClr val="tx2">
                    <a:lumMod val="60000"/>
                    <a:lumOff val="40000"/>
                  </a:schemeClr>
                </a:solidFill>
              </a:rPr>
              <a:t>(L)</a:t>
            </a:r>
            <a:r>
              <a:rPr lang="tr-TR" i="1" dirty="0">
                <a:solidFill>
                  <a:schemeClr val="tx2">
                    <a:lumMod val="60000"/>
                    <a:lumOff val="40000"/>
                  </a:schemeClr>
                </a:solidFill>
              </a:rPr>
              <a:t> </a:t>
            </a:r>
            <a:r>
              <a:rPr lang="en-US" dirty="0"/>
              <a:t>are also known as sliding as well as linear joints. </a:t>
            </a:r>
          </a:p>
          <a:p>
            <a:pPr eaLnBrk="1" hangingPunct="1">
              <a:buNone/>
            </a:pPr>
            <a:endParaRPr lang="en-US" dirty="0"/>
          </a:p>
          <a:p>
            <a:pPr eaLnBrk="1" hangingPunct="1"/>
            <a:r>
              <a:rPr lang="en-US" dirty="0"/>
              <a:t>They are called </a:t>
            </a:r>
            <a:r>
              <a:rPr lang="en-US" b="1" i="1" dirty="0"/>
              <a:t>prismatic</a:t>
            </a:r>
            <a:r>
              <a:rPr lang="en-US" dirty="0"/>
              <a:t> because the cross section of the joint is considered as a generalized prism. They permit links to move in a linear relationship.</a:t>
            </a:r>
            <a:endParaRPr lang="tr-T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dirty="0">
                <a:solidFill>
                  <a:srgbClr val="0070C0"/>
                </a:solidFill>
              </a:rPr>
              <a:t>The Robotic Joints</a:t>
            </a:r>
            <a:endParaRPr lang="tr-TR" dirty="0">
              <a:solidFill>
                <a:srgbClr val="0070C0"/>
              </a:solidFill>
            </a:endParaRPr>
          </a:p>
        </p:txBody>
      </p:sp>
      <p:sp>
        <p:nvSpPr>
          <p:cNvPr id="28675" name="Rectangle 3"/>
          <p:cNvSpPr>
            <a:spLocks noGrp="1" noChangeArrowheads="1"/>
          </p:cNvSpPr>
          <p:nvPr>
            <p:ph type="body" idx="1"/>
          </p:nvPr>
        </p:nvSpPr>
        <p:spPr>
          <a:xfrm>
            <a:off x="457200" y="1600200"/>
            <a:ext cx="8229600" cy="3413125"/>
          </a:xfrm>
        </p:spPr>
        <p:txBody>
          <a:bodyPr>
            <a:noAutofit/>
          </a:bodyPr>
          <a:lstStyle/>
          <a:p>
            <a:pPr eaLnBrk="1" hangingPunct="1">
              <a:buFontTx/>
              <a:buNone/>
            </a:pPr>
            <a:r>
              <a:rPr lang="tr-TR" sz="2800" i="1" dirty="0"/>
              <a:t>	</a:t>
            </a:r>
            <a:r>
              <a:rPr lang="en-US" sz="2800" b="1" i="1" dirty="0">
                <a:solidFill>
                  <a:srgbClr val="00B0F0"/>
                </a:solidFill>
              </a:rPr>
              <a:t>Revolute joints</a:t>
            </a:r>
            <a:r>
              <a:rPr lang="en-US" sz="2800" dirty="0">
                <a:solidFill>
                  <a:srgbClr val="00B0F0"/>
                </a:solidFill>
              </a:rPr>
              <a:t> </a:t>
            </a:r>
            <a:r>
              <a:rPr lang="en-US" sz="2800" dirty="0"/>
              <a:t>permit only angular motion between links. Their variations include:</a:t>
            </a:r>
          </a:p>
          <a:p>
            <a:pPr lvl="1" eaLnBrk="1" hangingPunct="1">
              <a:lnSpc>
                <a:spcPct val="200000"/>
              </a:lnSpc>
            </a:pPr>
            <a:r>
              <a:rPr lang="en-US" b="1" dirty="0">
                <a:solidFill>
                  <a:srgbClr val="0070C0"/>
                </a:solidFill>
              </a:rPr>
              <a:t>Rotational joint</a:t>
            </a:r>
            <a:r>
              <a:rPr lang="en-US" dirty="0">
                <a:solidFill>
                  <a:srgbClr val="0070C0"/>
                </a:solidFill>
              </a:rPr>
              <a:t> (R)</a:t>
            </a:r>
          </a:p>
          <a:p>
            <a:pPr lvl="1" eaLnBrk="1" hangingPunct="1">
              <a:lnSpc>
                <a:spcPct val="200000"/>
              </a:lnSpc>
            </a:pPr>
            <a:r>
              <a:rPr lang="en-US" b="1" dirty="0">
                <a:solidFill>
                  <a:srgbClr val="0070C0"/>
                </a:solidFill>
              </a:rPr>
              <a:t>Twisting joint</a:t>
            </a:r>
            <a:r>
              <a:rPr lang="en-US" dirty="0">
                <a:solidFill>
                  <a:srgbClr val="0070C0"/>
                </a:solidFill>
              </a:rPr>
              <a:t> (T)</a:t>
            </a:r>
          </a:p>
          <a:p>
            <a:pPr lvl="1" eaLnBrk="1" hangingPunct="1">
              <a:lnSpc>
                <a:spcPct val="200000"/>
              </a:lnSpc>
            </a:pPr>
            <a:r>
              <a:rPr lang="en-US" b="1" dirty="0">
                <a:solidFill>
                  <a:srgbClr val="0070C0"/>
                </a:solidFill>
              </a:rPr>
              <a:t>Revolving joint</a:t>
            </a:r>
            <a:r>
              <a:rPr lang="en-US" dirty="0">
                <a:solidFill>
                  <a:srgbClr val="0070C0"/>
                </a:solidFill>
              </a:rPr>
              <a:t> (V)</a:t>
            </a:r>
            <a:endParaRPr lang="tr-TR" dirty="0">
              <a:solidFill>
                <a:srgbClr val="0070C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http://i36.tinypic.com/5mha1j.jpg"/>
          <p:cNvPicPr>
            <a:picLocks noChangeAspect="1" noChangeArrowheads="1"/>
          </p:cNvPicPr>
          <p:nvPr/>
        </p:nvPicPr>
        <p:blipFill>
          <a:blip r:embed="rId2"/>
          <a:srcRect t="6447"/>
          <a:stretch>
            <a:fillRect/>
          </a:stretch>
        </p:blipFill>
        <p:spPr bwMode="auto">
          <a:xfrm>
            <a:off x="471319" y="1857364"/>
            <a:ext cx="7886895" cy="3500462"/>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70C0"/>
                </a:solidFill>
              </a:rPr>
              <a:t>Mechanical Joints for Robots</a:t>
            </a:r>
          </a:p>
        </p:txBody>
      </p:sp>
      <p:sp>
        <p:nvSpPr>
          <p:cNvPr id="3" name="Content Placeholder 2"/>
          <p:cNvSpPr>
            <a:spLocks noGrp="1"/>
          </p:cNvSpPr>
          <p:nvPr>
            <p:ph sz="quarter" idx="1"/>
          </p:nvPr>
        </p:nvSpPr>
        <p:spPr/>
        <p:txBody>
          <a:bodyPr>
            <a:normAutofit fontScale="85000" lnSpcReduction="10000"/>
          </a:bodyPr>
          <a:lstStyle/>
          <a:p>
            <a:pPr>
              <a:lnSpc>
                <a:spcPct val="150000"/>
              </a:lnSpc>
            </a:pPr>
            <a:r>
              <a:rPr lang="en-US" dirty="0"/>
              <a:t>Translational motion - </a:t>
            </a:r>
            <a:r>
              <a:rPr lang="en-US" b="1" i="1" dirty="0"/>
              <a:t>Prismatic</a:t>
            </a:r>
            <a:r>
              <a:rPr lang="tr-TR" b="1" i="1" dirty="0"/>
              <a:t> </a:t>
            </a:r>
            <a:r>
              <a:rPr lang="en-US" b="1" i="1" dirty="0"/>
              <a:t>joints</a:t>
            </a:r>
            <a:r>
              <a:rPr lang="en-US" dirty="0"/>
              <a:t> </a:t>
            </a:r>
          </a:p>
          <a:p>
            <a:pPr lvl="1">
              <a:lnSpc>
                <a:spcPct val="150000"/>
              </a:lnSpc>
            </a:pPr>
            <a:r>
              <a:rPr lang="en-US" dirty="0"/>
              <a:t>Linear joint (type L)</a:t>
            </a:r>
          </a:p>
          <a:p>
            <a:pPr lvl="1">
              <a:lnSpc>
                <a:spcPct val="150000"/>
              </a:lnSpc>
            </a:pPr>
            <a:r>
              <a:rPr lang="en-US" dirty="0"/>
              <a:t>Orthogonal joint (type O)</a:t>
            </a:r>
          </a:p>
          <a:p>
            <a:pPr lvl="1">
              <a:lnSpc>
                <a:spcPct val="150000"/>
              </a:lnSpc>
              <a:buNone/>
            </a:pPr>
            <a:endParaRPr lang="en-US" dirty="0"/>
          </a:p>
          <a:p>
            <a:pPr>
              <a:lnSpc>
                <a:spcPct val="150000"/>
              </a:lnSpc>
            </a:pPr>
            <a:r>
              <a:rPr lang="en-US" dirty="0"/>
              <a:t>Rotary motion - </a:t>
            </a:r>
            <a:r>
              <a:rPr lang="en-US" b="1" i="1" dirty="0"/>
              <a:t>Revolute joints</a:t>
            </a:r>
            <a:r>
              <a:rPr lang="en-US" dirty="0"/>
              <a:t> </a:t>
            </a:r>
          </a:p>
          <a:p>
            <a:pPr lvl="1">
              <a:lnSpc>
                <a:spcPct val="150000"/>
              </a:lnSpc>
            </a:pPr>
            <a:r>
              <a:rPr lang="en-US" dirty="0"/>
              <a:t>Rotational joint (type R) </a:t>
            </a:r>
          </a:p>
          <a:p>
            <a:pPr lvl="1">
              <a:lnSpc>
                <a:spcPct val="150000"/>
              </a:lnSpc>
            </a:pPr>
            <a:r>
              <a:rPr lang="en-US" dirty="0"/>
              <a:t>Twisting joint (type T)</a:t>
            </a:r>
          </a:p>
          <a:p>
            <a:pPr lvl="1">
              <a:lnSpc>
                <a:spcPct val="150000"/>
              </a:lnSpc>
            </a:pPr>
            <a:r>
              <a:rPr lang="en-US" dirty="0"/>
              <a:t>Revolving joint (type V)</a:t>
            </a:r>
          </a:p>
          <a:p>
            <a:pPr>
              <a:lnSpc>
                <a:spcPct val="150000"/>
              </a:lnSpc>
              <a:buNone/>
            </a:pPr>
            <a:endParaRPr lang="en-IN"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Translational Motion Joints</a:t>
            </a:r>
            <a:endParaRPr lang="en-IN" dirty="0">
              <a:solidFill>
                <a:srgbClr val="0070C0"/>
              </a:solidFill>
            </a:endParaRPr>
          </a:p>
        </p:txBody>
      </p:sp>
      <p:sp>
        <p:nvSpPr>
          <p:cNvPr id="3" name="Content Placeholder 2"/>
          <p:cNvSpPr>
            <a:spLocks noGrp="1"/>
          </p:cNvSpPr>
          <p:nvPr>
            <p:ph sz="quarter" idx="1"/>
          </p:nvPr>
        </p:nvSpPr>
        <p:spPr/>
        <p:txBody>
          <a:bodyPr/>
          <a:lstStyle/>
          <a:p>
            <a:pPr algn="just"/>
            <a:r>
              <a:rPr lang="en-IN" dirty="0">
                <a:solidFill>
                  <a:srgbClr val="FF0000"/>
                </a:solidFill>
              </a:rPr>
              <a:t>Linear joint </a:t>
            </a:r>
            <a:r>
              <a:rPr lang="en-IN" dirty="0"/>
              <a:t>	</a:t>
            </a:r>
          </a:p>
          <a:p>
            <a:pPr algn="just">
              <a:buNone/>
            </a:pPr>
            <a:r>
              <a:rPr lang="en-IN" dirty="0"/>
              <a:t>		Type L joint; the relative movement between the input link and the output link is a translational sliding motion, with the axes of the two links parallel. 	</a:t>
            </a:r>
          </a:p>
          <a:p>
            <a:pPr algn="just"/>
            <a:endParaRPr lang="en-IN" dirty="0"/>
          </a:p>
        </p:txBody>
      </p:sp>
      <p:pic>
        <p:nvPicPr>
          <p:cNvPr id="50177" name="Picture 1"/>
          <p:cNvPicPr>
            <a:picLocks noChangeAspect="1" noChangeArrowheads="1"/>
          </p:cNvPicPr>
          <p:nvPr/>
        </p:nvPicPr>
        <p:blipFill>
          <a:blip r:embed="rId2"/>
          <a:srcRect/>
          <a:stretch>
            <a:fillRect/>
          </a:stretch>
        </p:blipFill>
        <p:spPr bwMode="auto">
          <a:xfrm>
            <a:off x="1554556" y="4507701"/>
            <a:ext cx="6034888" cy="150019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Translational Motion Joints</a:t>
            </a:r>
            <a:endParaRPr lang="en-IN" dirty="0">
              <a:solidFill>
                <a:srgbClr val="0070C0"/>
              </a:solidFill>
            </a:endParaRPr>
          </a:p>
        </p:txBody>
      </p:sp>
      <p:sp>
        <p:nvSpPr>
          <p:cNvPr id="3" name="Content Placeholder 2"/>
          <p:cNvSpPr>
            <a:spLocks noGrp="1"/>
          </p:cNvSpPr>
          <p:nvPr>
            <p:ph sz="quarter" idx="1"/>
          </p:nvPr>
        </p:nvSpPr>
        <p:spPr>
          <a:xfrm>
            <a:off x="457200" y="1600200"/>
            <a:ext cx="8001000" cy="4873752"/>
          </a:xfrm>
        </p:spPr>
        <p:txBody>
          <a:bodyPr/>
          <a:lstStyle/>
          <a:p>
            <a:pPr algn="just"/>
            <a:r>
              <a:rPr lang="en-IN" dirty="0">
                <a:solidFill>
                  <a:srgbClr val="FF0000"/>
                </a:solidFill>
              </a:rPr>
              <a:t>Orthogonal joint</a:t>
            </a:r>
            <a:r>
              <a:rPr lang="en-IN" dirty="0"/>
              <a:t> 	</a:t>
            </a:r>
          </a:p>
          <a:p>
            <a:pPr algn="just">
              <a:buNone/>
            </a:pPr>
            <a:r>
              <a:rPr lang="en-US" dirty="0"/>
              <a:t> 	</a:t>
            </a:r>
            <a:r>
              <a:rPr lang="en-IN" dirty="0"/>
              <a:t>Type O joint; the relative movement between the input link and the output link is a translational sliding motion, but the output link is perpendicular to the input link. 	</a:t>
            </a:r>
          </a:p>
          <a:p>
            <a:pPr algn="just">
              <a:buNone/>
            </a:pPr>
            <a:endParaRPr lang="en-IN" dirty="0"/>
          </a:p>
        </p:txBody>
      </p:sp>
      <p:pic>
        <p:nvPicPr>
          <p:cNvPr id="52226" name="Picture 2"/>
          <p:cNvPicPr>
            <a:picLocks noChangeAspect="1" noChangeArrowheads="1"/>
          </p:cNvPicPr>
          <p:nvPr/>
        </p:nvPicPr>
        <p:blipFill>
          <a:blip r:embed="rId2"/>
          <a:srcRect/>
          <a:stretch>
            <a:fillRect/>
          </a:stretch>
        </p:blipFill>
        <p:spPr bwMode="auto">
          <a:xfrm>
            <a:off x="2438062" y="4354630"/>
            <a:ext cx="4267876" cy="211932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Rotary motion</a:t>
            </a:r>
            <a:endParaRPr lang="en-IN" dirty="0">
              <a:solidFill>
                <a:srgbClr val="0070C0"/>
              </a:solidFill>
            </a:endParaRPr>
          </a:p>
        </p:txBody>
      </p:sp>
      <p:sp>
        <p:nvSpPr>
          <p:cNvPr id="3" name="Content Placeholder 2"/>
          <p:cNvSpPr>
            <a:spLocks noGrp="1"/>
          </p:cNvSpPr>
          <p:nvPr>
            <p:ph sz="quarter" idx="1"/>
          </p:nvPr>
        </p:nvSpPr>
        <p:spPr/>
        <p:txBody>
          <a:bodyPr/>
          <a:lstStyle/>
          <a:p>
            <a:pPr algn="just"/>
            <a:r>
              <a:rPr lang="en-IN" dirty="0">
                <a:solidFill>
                  <a:srgbClr val="FF0000"/>
                </a:solidFill>
              </a:rPr>
              <a:t>Rotational joint </a:t>
            </a:r>
            <a:r>
              <a:rPr lang="en-IN" dirty="0"/>
              <a:t>	</a:t>
            </a:r>
          </a:p>
          <a:p>
            <a:pPr algn="just">
              <a:buNone/>
            </a:pPr>
            <a:r>
              <a:rPr lang="en-IN" dirty="0"/>
              <a:t>	Type R joint; this provides rotational relative motion, with the axis of rotation perpendicular to the axes of the input and output links. 	</a:t>
            </a:r>
          </a:p>
          <a:p>
            <a:pPr algn="just"/>
            <a:endParaRPr lang="en-IN" dirty="0"/>
          </a:p>
        </p:txBody>
      </p:sp>
      <p:pic>
        <p:nvPicPr>
          <p:cNvPr id="53251" name="Picture 3"/>
          <p:cNvPicPr>
            <a:picLocks noChangeAspect="1" noChangeArrowheads="1"/>
          </p:cNvPicPr>
          <p:nvPr/>
        </p:nvPicPr>
        <p:blipFill>
          <a:blip r:embed="rId2"/>
          <a:srcRect/>
          <a:stretch>
            <a:fillRect/>
          </a:stretch>
        </p:blipFill>
        <p:spPr bwMode="auto">
          <a:xfrm>
            <a:off x="1989525" y="4167196"/>
            <a:ext cx="4225549" cy="154782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Rotary motion</a:t>
            </a:r>
            <a:endParaRPr lang="en-IN" dirty="0">
              <a:solidFill>
                <a:srgbClr val="0070C0"/>
              </a:solidFill>
            </a:endParaRPr>
          </a:p>
        </p:txBody>
      </p:sp>
      <p:sp>
        <p:nvSpPr>
          <p:cNvPr id="3" name="Content Placeholder 2"/>
          <p:cNvSpPr>
            <a:spLocks noGrp="1"/>
          </p:cNvSpPr>
          <p:nvPr>
            <p:ph sz="quarter" idx="1"/>
          </p:nvPr>
        </p:nvSpPr>
        <p:spPr/>
        <p:txBody>
          <a:bodyPr/>
          <a:lstStyle/>
          <a:p>
            <a:pPr algn="just"/>
            <a:r>
              <a:rPr lang="en-IN" dirty="0">
                <a:solidFill>
                  <a:srgbClr val="FF0000"/>
                </a:solidFill>
              </a:rPr>
              <a:t>Twisting joint </a:t>
            </a:r>
            <a:r>
              <a:rPr lang="en-IN" dirty="0"/>
              <a:t>	</a:t>
            </a:r>
          </a:p>
          <a:p>
            <a:pPr algn="just">
              <a:buNone/>
            </a:pPr>
            <a:r>
              <a:rPr lang="en-IN" dirty="0"/>
              <a:t>		Type T joint; this provides rotary motion, but the axis of rotation is parallel to the axes of the two links. 	</a:t>
            </a:r>
          </a:p>
          <a:p>
            <a:pPr algn="just"/>
            <a:endParaRPr lang="en-IN" dirty="0"/>
          </a:p>
        </p:txBody>
      </p:sp>
      <p:pic>
        <p:nvPicPr>
          <p:cNvPr id="55298" name="Picture 2"/>
          <p:cNvPicPr>
            <a:picLocks noChangeAspect="1" noChangeArrowheads="1"/>
          </p:cNvPicPr>
          <p:nvPr/>
        </p:nvPicPr>
        <p:blipFill>
          <a:blip r:embed="rId2"/>
          <a:srcRect/>
          <a:stretch>
            <a:fillRect/>
          </a:stretch>
        </p:blipFill>
        <p:spPr bwMode="auto">
          <a:xfrm>
            <a:off x="2071671" y="4045824"/>
            <a:ext cx="4857784" cy="187397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Rotary motion</a:t>
            </a:r>
            <a:endParaRPr lang="en-IN" dirty="0">
              <a:solidFill>
                <a:srgbClr val="0070C0"/>
              </a:solidFill>
            </a:endParaRPr>
          </a:p>
        </p:txBody>
      </p:sp>
      <p:sp>
        <p:nvSpPr>
          <p:cNvPr id="3" name="Content Placeholder 2"/>
          <p:cNvSpPr>
            <a:spLocks noGrp="1"/>
          </p:cNvSpPr>
          <p:nvPr>
            <p:ph sz="quarter" idx="1"/>
          </p:nvPr>
        </p:nvSpPr>
        <p:spPr/>
        <p:txBody>
          <a:bodyPr/>
          <a:lstStyle/>
          <a:p>
            <a:pPr algn="just"/>
            <a:r>
              <a:rPr lang="en-IN" dirty="0">
                <a:solidFill>
                  <a:srgbClr val="FF0000"/>
                </a:solidFill>
              </a:rPr>
              <a:t>Revolving joint </a:t>
            </a:r>
            <a:r>
              <a:rPr lang="en-IN" dirty="0"/>
              <a:t>	</a:t>
            </a:r>
          </a:p>
          <a:p>
            <a:pPr algn="just">
              <a:buNone/>
            </a:pPr>
            <a:r>
              <a:rPr lang="en-IN" dirty="0"/>
              <a:t>		Type V joint; the axis of the input link is parallel to the axis of rotation of the joint, and the axis of the output link is perpendicular to the axis of rotation.	</a:t>
            </a:r>
          </a:p>
          <a:p>
            <a:pPr algn="just"/>
            <a:endParaRPr lang="en-IN" dirty="0"/>
          </a:p>
        </p:txBody>
      </p:sp>
      <p:pic>
        <p:nvPicPr>
          <p:cNvPr id="54274" name="Picture 2"/>
          <p:cNvPicPr>
            <a:picLocks noChangeAspect="1" noChangeArrowheads="1"/>
          </p:cNvPicPr>
          <p:nvPr/>
        </p:nvPicPr>
        <p:blipFill>
          <a:blip r:embed="rId2"/>
          <a:srcRect/>
          <a:stretch>
            <a:fillRect/>
          </a:stretch>
        </p:blipFill>
        <p:spPr bwMode="auto">
          <a:xfrm>
            <a:off x="2143108" y="4117657"/>
            <a:ext cx="4500594" cy="234030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70C0"/>
                </a:solidFill>
              </a:rPr>
              <a:t>Constraints???</a:t>
            </a:r>
          </a:p>
        </p:txBody>
      </p:sp>
      <p:pic>
        <p:nvPicPr>
          <p:cNvPr id="117770" name="Picture 10" descr="Image result for example for prismatic joint and revolute joint"/>
          <p:cNvPicPr>
            <a:picLocks noChangeAspect="1" noChangeArrowheads="1"/>
          </p:cNvPicPr>
          <p:nvPr/>
        </p:nvPicPr>
        <p:blipFill>
          <a:blip r:embed="rId2"/>
          <a:srcRect/>
          <a:stretch>
            <a:fillRect/>
          </a:stretch>
        </p:blipFill>
        <p:spPr bwMode="auto">
          <a:xfrm>
            <a:off x="4857752" y="3857628"/>
            <a:ext cx="3643338" cy="2287678"/>
          </a:xfrm>
          <a:prstGeom prst="rect">
            <a:avLst/>
          </a:prstGeom>
          <a:noFill/>
        </p:spPr>
      </p:pic>
      <p:pic>
        <p:nvPicPr>
          <p:cNvPr id="117772" name="Picture 12" descr="Related image"/>
          <p:cNvPicPr>
            <a:picLocks noChangeAspect="1" noChangeArrowheads="1"/>
          </p:cNvPicPr>
          <p:nvPr/>
        </p:nvPicPr>
        <p:blipFill>
          <a:blip r:embed="rId3"/>
          <a:srcRect/>
          <a:stretch>
            <a:fillRect/>
          </a:stretch>
        </p:blipFill>
        <p:spPr bwMode="auto">
          <a:xfrm>
            <a:off x="1428728" y="2285992"/>
            <a:ext cx="3486148" cy="2368117"/>
          </a:xfrm>
          <a:prstGeom prst="rect">
            <a:avLst/>
          </a:prstGeom>
          <a:noFill/>
        </p:spPr>
      </p:pic>
    </p:spTree>
    <p:extLst>
      <p:ext uri="{BB962C8B-B14F-4D97-AF65-F5344CB8AC3E}">
        <p14:creationId xmlns:p14="http://schemas.microsoft.com/office/powerpoint/2010/main" val="3983688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7772"/>
                                        </p:tgtEl>
                                        <p:attrNameLst>
                                          <p:attrName>style.visibility</p:attrName>
                                        </p:attrNameLst>
                                      </p:cBhvr>
                                      <p:to>
                                        <p:strVal val="visible"/>
                                      </p:to>
                                    </p:set>
                                    <p:animEffect transition="in" filter="blinds(horizontal)">
                                      <p:cBhvr>
                                        <p:cTn id="12" dur="500"/>
                                        <p:tgtEl>
                                          <p:spTgt spid="11777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7770"/>
                                        </p:tgtEl>
                                        <p:attrNameLst>
                                          <p:attrName>style.visibility</p:attrName>
                                        </p:attrNameLst>
                                      </p:cBhvr>
                                      <p:to>
                                        <p:strVal val="visible"/>
                                      </p:to>
                                    </p:set>
                                    <p:animEffect transition="in" filter="blinds(horizontal)">
                                      <p:cBhvr>
                                        <p:cTn id="17" dur="500"/>
                                        <p:tgtEl>
                                          <p:spTgt spid="117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6EFAA4A-5467-413A-8C81-CCB143623AC7}"/>
              </a:ext>
            </a:extLst>
          </p:cNvPr>
          <p:cNvSpPr>
            <a:spLocks noGrp="1"/>
          </p:cNvSpPr>
          <p:nvPr>
            <p:ph type="title"/>
          </p:nvPr>
        </p:nvSpPr>
        <p:spPr/>
        <p:txBody>
          <a:bodyPr/>
          <a:lstStyle/>
          <a:p>
            <a:r>
              <a:rPr lang="en-US" dirty="0">
                <a:solidFill>
                  <a:srgbClr val="0070C0"/>
                </a:solidFill>
              </a:rPr>
              <a:t>DOF??</a:t>
            </a:r>
            <a:endParaRPr lang="en-IN" dirty="0">
              <a:solidFill>
                <a:srgbClr val="0070C0"/>
              </a:solidFill>
            </a:endParaRPr>
          </a:p>
        </p:txBody>
      </p:sp>
      <p:sp>
        <p:nvSpPr>
          <p:cNvPr id="4" name="Date Placeholder 3">
            <a:extLst>
              <a:ext uri="{FF2B5EF4-FFF2-40B4-BE49-F238E27FC236}">
                <a16:creationId xmlns="" xmlns:a16="http://schemas.microsoft.com/office/drawing/2014/main" id="{2930551A-8825-40E4-9110-F9811111BA3F}"/>
              </a:ext>
            </a:extLst>
          </p:cNvPr>
          <p:cNvSpPr>
            <a:spLocks noGrp="1"/>
          </p:cNvSpPr>
          <p:nvPr>
            <p:ph type="dt" sz="half" idx="14"/>
          </p:nvPr>
        </p:nvSpPr>
        <p:spPr/>
        <p:txBody>
          <a:bodyPr/>
          <a:lstStyle/>
          <a:p>
            <a:fld id="{1CA53EC9-7D63-4538-82B4-D4B347EBBD7F}" type="datetime1">
              <a:rPr lang="en-US" smtClean="0"/>
              <a:t>10/29/2020</a:t>
            </a:fld>
            <a:endParaRPr lang="en-IN"/>
          </a:p>
        </p:txBody>
      </p:sp>
      <p:sp>
        <p:nvSpPr>
          <p:cNvPr id="5" name="Slide Number Placeholder 4">
            <a:extLst>
              <a:ext uri="{FF2B5EF4-FFF2-40B4-BE49-F238E27FC236}">
                <a16:creationId xmlns="" xmlns:a16="http://schemas.microsoft.com/office/drawing/2014/main" id="{F6DE3A24-DDC3-459B-98B7-4E31D0DC2DD7}"/>
              </a:ext>
            </a:extLst>
          </p:cNvPr>
          <p:cNvSpPr>
            <a:spLocks noGrp="1"/>
          </p:cNvSpPr>
          <p:nvPr>
            <p:ph type="sldNum" sz="quarter" idx="15"/>
          </p:nvPr>
        </p:nvSpPr>
        <p:spPr/>
        <p:txBody>
          <a:bodyPr/>
          <a:lstStyle/>
          <a:p>
            <a:fld id="{41F94EDD-D845-48AB-B01E-E1FCDA2D3009}" type="slidenum">
              <a:rPr lang="en-IN" smtClean="0"/>
              <a:pPr/>
              <a:t>25</a:t>
            </a:fld>
            <a:endParaRPr lang="en-IN"/>
          </a:p>
        </p:txBody>
      </p:sp>
      <p:sp>
        <p:nvSpPr>
          <p:cNvPr id="6" name="Footer Placeholder 5">
            <a:extLst>
              <a:ext uri="{FF2B5EF4-FFF2-40B4-BE49-F238E27FC236}">
                <a16:creationId xmlns="" xmlns:a16="http://schemas.microsoft.com/office/drawing/2014/main" id="{81591380-7EC2-42D9-857D-4E0575E62A48}"/>
              </a:ext>
            </a:extLst>
          </p:cNvPr>
          <p:cNvSpPr>
            <a:spLocks noGrp="1"/>
          </p:cNvSpPr>
          <p:nvPr>
            <p:ph type="ftr" sz="quarter" idx="16"/>
          </p:nvPr>
        </p:nvSpPr>
        <p:spPr/>
        <p:txBody>
          <a:bodyPr/>
          <a:lstStyle/>
          <a:p>
            <a:endParaRPr lang="en-IN"/>
          </a:p>
        </p:txBody>
      </p:sp>
      <p:pic>
        <p:nvPicPr>
          <p:cNvPr id="9" name="Picture 8">
            <a:extLst>
              <a:ext uri="{FF2B5EF4-FFF2-40B4-BE49-F238E27FC236}">
                <a16:creationId xmlns="" xmlns:a16="http://schemas.microsoft.com/office/drawing/2014/main" id="{E3646217-B6F3-4239-AEA0-4420F1D3DA57}"/>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28600" y="1219200"/>
            <a:ext cx="4200102" cy="3810000"/>
          </a:xfrm>
          <a:prstGeom prst="rect">
            <a:avLst/>
          </a:prstGeom>
        </p:spPr>
      </p:pic>
      <p:pic>
        <p:nvPicPr>
          <p:cNvPr id="12" name="Picture 11">
            <a:extLst>
              <a:ext uri="{FF2B5EF4-FFF2-40B4-BE49-F238E27FC236}">
                <a16:creationId xmlns="" xmlns:a16="http://schemas.microsoft.com/office/drawing/2014/main" id="{88271D46-0ACA-4E38-B1EC-E45ABCA6829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4428702" y="1600200"/>
            <a:ext cx="4527143" cy="3657600"/>
          </a:xfrm>
          <a:prstGeom prst="rect">
            <a:avLst/>
          </a:prstGeom>
        </p:spPr>
      </p:pic>
      <p:sp>
        <p:nvSpPr>
          <p:cNvPr id="13" name="TextBox 12">
            <a:extLst>
              <a:ext uri="{FF2B5EF4-FFF2-40B4-BE49-F238E27FC236}">
                <a16:creationId xmlns="" xmlns:a16="http://schemas.microsoft.com/office/drawing/2014/main" id="{EC772085-81A7-4479-8A4E-032D2DBD847E}"/>
              </a:ext>
            </a:extLst>
          </p:cNvPr>
          <p:cNvSpPr txBox="1"/>
          <p:nvPr/>
        </p:nvSpPr>
        <p:spPr>
          <a:xfrm>
            <a:off x="690866" y="5454134"/>
            <a:ext cx="2416046" cy="461665"/>
          </a:xfrm>
          <a:prstGeom prst="rect">
            <a:avLst/>
          </a:prstGeom>
          <a:noFill/>
        </p:spPr>
        <p:txBody>
          <a:bodyPr wrap="none" rtlCol="0">
            <a:spAutoFit/>
          </a:bodyPr>
          <a:lstStyle/>
          <a:p>
            <a:r>
              <a:rPr lang="en-US" sz="2400" dirty="0"/>
              <a:t>1 DOF - </a:t>
            </a:r>
            <a:r>
              <a:rPr lang="en-US" sz="2400" dirty="0" err="1"/>
              <a:t>Rovolute</a:t>
            </a:r>
            <a:endParaRPr lang="en-IN" sz="2400" dirty="0"/>
          </a:p>
        </p:txBody>
      </p:sp>
      <p:sp>
        <p:nvSpPr>
          <p:cNvPr id="14" name="TextBox 13">
            <a:extLst>
              <a:ext uri="{FF2B5EF4-FFF2-40B4-BE49-F238E27FC236}">
                <a16:creationId xmlns="" xmlns:a16="http://schemas.microsoft.com/office/drawing/2014/main" id="{C86FD225-7F6C-4FAA-BA80-9931C2B181BD}"/>
              </a:ext>
            </a:extLst>
          </p:cNvPr>
          <p:cNvSpPr txBox="1"/>
          <p:nvPr/>
        </p:nvSpPr>
        <p:spPr>
          <a:xfrm>
            <a:off x="5077875" y="5454134"/>
            <a:ext cx="2449710" cy="461665"/>
          </a:xfrm>
          <a:prstGeom prst="rect">
            <a:avLst/>
          </a:prstGeom>
          <a:noFill/>
        </p:spPr>
        <p:txBody>
          <a:bodyPr wrap="none" rtlCol="0">
            <a:spAutoFit/>
          </a:bodyPr>
          <a:lstStyle/>
          <a:p>
            <a:r>
              <a:rPr lang="en-US" sz="2400" dirty="0"/>
              <a:t>1 DOF - Prismatic</a:t>
            </a:r>
            <a:endParaRPr lang="en-IN" sz="2400" dirty="0"/>
          </a:p>
        </p:txBody>
      </p:sp>
    </p:spTree>
    <p:extLst>
      <p:ext uri="{BB962C8B-B14F-4D97-AF65-F5344CB8AC3E}">
        <p14:creationId xmlns:p14="http://schemas.microsoft.com/office/powerpoint/2010/main" val="299965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A52181F3-FA32-49FA-94DD-0E8B946963DB}"/>
              </a:ext>
            </a:extLst>
          </p:cNvPr>
          <p:cNvSpPr>
            <a:spLocks noGrp="1"/>
          </p:cNvSpPr>
          <p:nvPr>
            <p:ph type="dt" sz="half" idx="14"/>
          </p:nvPr>
        </p:nvSpPr>
        <p:spPr/>
        <p:txBody>
          <a:bodyPr/>
          <a:lstStyle/>
          <a:p>
            <a:fld id="{B3D86189-D612-44CD-A6A3-94F6815738DC}" type="datetime1">
              <a:rPr lang="en-US" smtClean="0"/>
              <a:t>10/29/2020</a:t>
            </a:fld>
            <a:endParaRPr lang="en-IN"/>
          </a:p>
        </p:txBody>
      </p:sp>
      <p:sp>
        <p:nvSpPr>
          <p:cNvPr id="5" name="Slide Number Placeholder 4">
            <a:extLst>
              <a:ext uri="{FF2B5EF4-FFF2-40B4-BE49-F238E27FC236}">
                <a16:creationId xmlns="" xmlns:a16="http://schemas.microsoft.com/office/drawing/2014/main" id="{964FCAA3-D2BF-46A0-B27A-F4D95DD9F05A}"/>
              </a:ext>
            </a:extLst>
          </p:cNvPr>
          <p:cNvSpPr>
            <a:spLocks noGrp="1"/>
          </p:cNvSpPr>
          <p:nvPr>
            <p:ph type="sldNum" sz="quarter" idx="15"/>
          </p:nvPr>
        </p:nvSpPr>
        <p:spPr/>
        <p:txBody>
          <a:bodyPr/>
          <a:lstStyle/>
          <a:p>
            <a:fld id="{41F94EDD-D845-48AB-B01E-E1FCDA2D3009}" type="slidenum">
              <a:rPr lang="en-IN" smtClean="0"/>
              <a:pPr/>
              <a:t>26</a:t>
            </a:fld>
            <a:endParaRPr lang="en-IN"/>
          </a:p>
        </p:txBody>
      </p:sp>
      <p:sp>
        <p:nvSpPr>
          <p:cNvPr id="6" name="Footer Placeholder 5">
            <a:extLst>
              <a:ext uri="{FF2B5EF4-FFF2-40B4-BE49-F238E27FC236}">
                <a16:creationId xmlns="" xmlns:a16="http://schemas.microsoft.com/office/drawing/2014/main" id="{87BD7292-E069-4651-85A8-B5B0A0D50202}"/>
              </a:ext>
            </a:extLst>
          </p:cNvPr>
          <p:cNvSpPr>
            <a:spLocks noGrp="1"/>
          </p:cNvSpPr>
          <p:nvPr>
            <p:ph type="ftr" sz="quarter" idx="16"/>
          </p:nvPr>
        </p:nvSpPr>
        <p:spPr/>
        <p:txBody>
          <a:bodyPr/>
          <a:lstStyle/>
          <a:p>
            <a:endParaRPr lang="en-IN"/>
          </a:p>
        </p:txBody>
      </p:sp>
      <p:pic>
        <p:nvPicPr>
          <p:cNvPr id="7" name="Picture 6">
            <a:extLst>
              <a:ext uri="{FF2B5EF4-FFF2-40B4-BE49-F238E27FC236}">
                <a16:creationId xmlns="" xmlns:a16="http://schemas.microsoft.com/office/drawing/2014/main" id="{5A66236C-7BEC-4388-958B-8061B92C2BC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70240" y="872651"/>
            <a:ext cx="4429313" cy="3382166"/>
          </a:xfrm>
          <a:prstGeom prst="rect">
            <a:avLst/>
          </a:prstGeom>
        </p:spPr>
      </p:pic>
      <p:pic>
        <p:nvPicPr>
          <p:cNvPr id="8" name="Picture 7">
            <a:extLst>
              <a:ext uri="{FF2B5EF4-FFF2-40B4-BE49-F238E27FC236}">
                <a16:creationId xmlns="" xmlns:a16="http://schemas.microsoft.com/office/drawing/2014/main" id="{09A7501D-94E1-4BC1-B6FE-5F386E6A3BB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4527282" y="304800"/>
            <a:ext cx="4159518" cy="3382166"/>
          </a:xfrm>
          <a:prstGeom prst="rect">
            <a:avLst/>
          </a:prstGeom>
        </p:spPr>
      </p:pic>
      <p:pic>
        <p:nvPicPr>
          <p:cNvPr id="9" name="Picture 8">
            <a:extLst>
              <a:ext uri="{FF2B5EF4-FFF2-40B4-BE49-F238E27FC236}">
                <a16:creationId xmlns="" xmlns:a16="http://schemas.microsoft.com/office/drawing/2014/main" id="{5D77D86B-8FCD-4635-B085-433C830FB777}"/>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5705474" y="4254817"/>
            <a:ext cx="3230784" cy="2466657"/>
          </a:xfrm>
          <a:prstGeom prst="rect">
            <a:avLst/>
          </a:prstGeom>
        </p:spPr>
      </p:pic>
      <p:sp>
        <p:nvSpPr>
          <p:cNvPr id="10" name="TextBox 9">
            <a:extLst>
              <a:ext uri="{FF2B5EF4-FFF2-40B4-BE49-F238E27FC236}">
                <a16:creationId xmlns="" xmlns:a16="http://schemas.microsoft.com/office/drawing/2014/main" id="{457137E2-2548-4354-A98C-87E0D017ADF9}"/>
              </a:ext>
            </a:extLst>
          </p:cNvPr>
          <p:cNvSpPr txBox="1"/>
          <p:nvPr/>
        </p:nvSpPr>
        <p:spPr>
          <a:xfrm>
            <a:off x="708154" y="4254817"/>
            <a:ext cx="3361818" cy="461665"/>
          </a:xfrm>
          <a:prstGeom prst="rect">
            <a:avLst/>
          </a:prstGeom>
          <a:noFill/>
        </p:spPr>
        <p:txBody>
          <a:bodyPr wrap="none" rtlCol="0">
            <a:spAutoFit/>
          </a:bodyPr>
          <a:lstStyle/>
          <a:p>
            <a:r>
              <a:rPr lang="en-US" sz="2400" dirty="0"/>
              <a:t>2 DOF – Cylindrical joint</a:t>
            </a:r>
            <a:endParaRPr lang="en-IN" sz="2400" dirty="0"/>
          </a:p>
        </p:txBody>
      </p:sp>
      <p:sp>
        <p:nvSpPr>
          <p:cNvPr id="11" name="TextBox 10">
            <a:extLst>
              <a:ext uri="{FF2B5EF4-FFF2-40B4-BE49-F238E27FC236}">
                <a16:creationId xmlns="" xmlns:a16="http://schemas.microsoft.com/office/drawing/2014/main" id="{27A2CC1B-578E-40EE-A87F-439E014BD8BD}"/>
              </a:ext>
            </a:extLst>
          </p:cNvPr>
          <p:cNvSpPr txBox="1"/>
          <p:nvPr/>
        </p:nvSpPr>
        <p:spPr>
          <a:xfrm>
            <a:off x="5686078" y="3633596"/>
            <a:ext cx="2800767" cy="461665"/>
          </a:xfrm>
          <a:prstGeom prst="rect">
            <a:avLst/>
          </a:prstGeom>
          <a:noFill/>
        </p:spPr>
        <p:txBody>
          <a:bodyPr wrap="none" rtlCol="0">
            <a:spAutoFit/>
          </a:bodyPr>
          <a:lstStyle/>
          <a:p>
            <a:r>
              <a:rPr lang="en-US" sz="2400" dirty="0"/>
              <a:t>2 DOF – Hooke joint</a:t>
            </a:r>
            <a:endParaRPr lang="en-IN" sz="2400" dirty="0"/>
          </a:p>
        </p:txBody>
      </p:sp>
      <p:sp>
        <p:nvSpPr>
          <p:cNvPr id="12" name="TextBox 11">
            <a:extLst>
              <a:ext uri="{FF2B5EF4-FFF2-40B4-BE49-F238E27FC236}">
                <a16:creationId xmlns="" xmlns:a16="http://schemas.microsoft.com/office/drawing/2014/main" id="{4D883488-8285-45F9-8C86-C60111632ACB}"/>
              </a:ext>
            </a:extLst>
          </p:cNvPr>
          <p:cNvSpPr txBox="1"/>
          <p:nvPr/>
        </p:nvSpPr>
        <p:spPr>
          <a:xfrm>
            <a:off x="1957469" y="5504297"/>
            <a:ext cx="4062331" cy="461665"/>
          </a:xfrm>
          <a:prstGeom prst="rect">
            <a:avLst/>
          </a:prstGeom>
          <a:noFill/>
        </p:spPr>
        <p:txBody>
          <a:bodyPr wrap="none" rtlCol="0">
            <a:spAutoFit/>
          </a:bodyPr>
          <a:lstStyle/>
          <a:p>
            <a:r>
              <a:rPr lang="en-US" sz="2400" dirty="0"/>
              <a:t>3 DOF – Ball and Socket joint</a:t>
            </a:r>
            <a:endParaRPr lang="en-IN" sz="2400" dirty="0"/>
          </a:p>
        </p:txBody>
      </p:sp>
    </p:spTree>
    <p:extLst>
      <p:ext uri="{BB962C8B-B14F-4D97-AF65-F5344CB8AC3E}">
        <p14:creationId xmlns:p14="http://schemas.microsoft.com/office/powerpoint/2010/main" val="528011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Picture 2" descr="Image result for example for prismatic joint and revolute joint"/>
          <p:cNvPicPr>
            <a:picLocks noChangeAspect="1" noChangeArrowheads="1"/>
          </p:cNvPicPr>
          <p:nvPr/>
        </p:nvPicPr>
        <p:blipFill>
          <a:blip r:embed="rId2"/>
          <a:srcRect/>
          <a:stretch>
            <a:fillRect/>
          </a:stretch>
        </p:blipFill>
        <p:spPr bwMode="auto">
          <a:xfrm>
            <a:off x="1000100" y="642918"/>
            <a:ext cx="6450164" cy="5286412"/>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descr="Related image"/>
          <p:cNvPicPr>
            <a:picLocks noChangeAspect="1" noChangeArrowheads="1"/>
          </p:cNvPicPr>
          <p:nvPr/>
        </p:nvPicPr>
        <p:blipFill>
          <a:blip r:embed="rId2"/>
          <a:srcRect/>
          <a:stretch>
            <a:fillRect/>
          </a:stretch>
        </p:blipFill>
        <p:spPr bwMode="auto">
          <a:xfrm>
            <a:off x="304800" y="1125124"/>
            <a:ext cx="7643834" cy="5732876"/>
          </a:xfrm>
          <a:prstGeom prst="rect">
            <a:avLst/>
          </a:prstGeom>
          <a:noFill/>
        </p:spPr>
      </p:pic>
      <p:pic>
        <p:nvPicPr>
          <p:cNvPr id="6146" name="Picture 2" descr="What is Hooke's joint? - Quora">
            <a:extLst>
              <a:ext uri="{FF2B5EF4-FFF2-40B4-BE49-F238E27FC236}">
                <a16:creationId xmlns="" xmlns:a16="http://schemas.microsoft.com/office/drawing/2014/main" id="{7C4FE9DD-85B0-4B09-93F2-433A814AE6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4648200"/>
            <a:ext cx="1822444" cy="18801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2082792"/>
          </a:xfrm>
        </p:spPr>
        <p:txBody>
          <a:bodyPr>
            <a:normAutofit fontScale="90000"/>
          </a:bodyPr>
          <a:lstStyle/>
          <a:p>
            <a:r>
              <a:rPr lang="en-US" dirty="0">
                <a:solidFill>
                  <a:srgbClr val="0070C0"/>
                </a:solidFill>
              </a:rPr>
              <a:t>Name the joints?</a:t>
            </a:r>
            <a:br>
              <a:rPr lang="en-US" dirty="0">
                <a:solidFill>
                  <a:srgbClr val="0070C0"/>
                </a:solidFill>
              </a:rPr>
            </a:br>
            <a:r>
              <a:rPr lang="en-US" dirty="0">
                <a:solidFill>
                  <a:srgbClr val="0070C0"/>
                </a:solidFill>
              </a:rPr>
              <a:t/>
            </a:r>
            <a:br>
              <a:rPr lang="en-US" dirty="0">
                <a:solidFill>
                  <a:srgbClr val="0070C0"/>
                </a:solidFill>
              </a:rPr>
            </a:br>
            <a:r>
              <a:rPr lang="en-US" dirty="0">
                <a:solidFill>
                  <a:srgbClr val="0070C0"/>
                </a:solidFill>
              </a:rPr>
              <a:t>DOF?</a:t>
            </a:r>
            <a:br>
              <a:rPr lang="en-US" dirty="0">
                <a:solidFill>
                  <a:srgbClr val="0070C0"/>
                </a:solidFill>
              </a:rPr>
            </a:br>
            <a:endParaRPr lang="en-IN" dirty="0">
              <a:solidFill>
                <a:srgbClr val="0070C0"/>
              </a:solidFill>
            </a:endParaRPr>
          </a:p>
        </p:txBody>
      </p:sp>
      <p:pic>
        <p:nvPicPr>
          <p:cNvPr id="56322" name="Picture 2" descr="http://www.toshiba-machine.co.jp/images/en/product/robot/cace/ba_layout3.png"/>
          <p:cNvPicPr>
            <a:picLocks noChangeAspect="1" noChangeArrowheads="1"/>
          </p:cNvPicPr>
          <p:nvPr/>
        </p:nvPicPr>
        <p:blipFill>
          <a:blip r:embed="rId2"/>
          <a:srcRect/>
          <a:stretch>
            <a:fillRect/>
          </a:stretch>
        </p:blipFill>
        <p:spPr bwMode="auto">
          <a:xfrm>
            <a:off x="1285852" y="2714620"/>
            <a:ext cx="7256768" cy="3000396"/>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8518" y="209677"/>
            <a:ext cx="6700930" cy="717135"/>
          </a:xfrm>
        </p:spPr>
        <p:txBody>
          <a:bodyPr>
            <a:normAutofit/>
          </a:bodyPr>
          <a:lstStyle/>
          <a:p>
            <a:r>
              <a:rPr lang="en-US" sz="3200" dirty="0" smtClean="0">
                <a:solidFill>
                  <a:srgbClr val="0070C0"/>
                </a:solidFill>
              </a:rPr>
              <a:t>DOF</a:t>
            </a:r>
            <a:endParaRPr lang="en-IN" sz="3200" dirty="0">
              <a:solidFill>
                <a:srgbClr val="0070C0"/>
              </a:solidFill>
            </a:endParaRPr>
          </a:p>
        </p:txBody>
      </p:sp>
      <p:sp>
        <p:nvSpPr>
          <p:cNvPr id="3" name="Content Placeholder 2"/>
          <p:cNvSpPr>
            <a:spLocks noGrp="1"/>
          </p:cNvSpPr>
          <p:nvPr>
            <p:ph sz="quarter" idx="1"/>
          </p:nvPr>
        </p:nvSpPr>
        <p:spPr>
          <a:xfrm>
            <a:off x="457200" y="1524000"/>
            <a:ext cx="5105400" cy="4949952"/>
          </a:xfrm>
        </p:spPr>
        <p:txBody>
          <a:bodyPr/>
          <a:lstStyle/>
          <a:p>
            <a:r>
              <a:rPr lang="en-IN" dirty="0"/>
              <a:t>A point in 2-D: </a:t>
            </a:r>
            <a:endParaRPr lang="en-IN" dirty="0" smtClean="0"/>
          </a:p>
          <a:p>
            <a:r>
              <a:rPr lang="en-IN" dirty="0" smtClean="0"/>
              <a:t>A point in </a:t>
            </a:r>
            <a:r>
              <a:rPr lang="en-IN" dirty="0"/>
              <a:t>3-D space</a:t>
            </a:r>
            <a:r>
              <a:rPr lang="en-IN" dirty="0" smtClean="0"/>
              <a:t>:</a:t>
            </a:r>
            <a:endParaRPr lang="en-IN" dirty="0"/>
          </a:p>
          <a:p>
            <a:r>
              <a:rPr lang="en-IN" dirty="0" smtClean="0"/>
              <a:t>A </a:t>
            </a:r>
            <a:r>
              <a:rPr lang="en-IN" dirty="0"/>
              <a:t>rigid body in 3-D: </a:t>
            </a:r>
          </a:p>
          <a:p>
            <a:r>
              <a:rPr lang="en-IN" dirty="0" smtClean="0"/>
              <a:t>Spatial </a:t>
            </a:r>
            <a:r>
              <a:rPr lang="en-IN" dirty="0"/>
              <a:t>Manipulator: </a:t>
            </a:r>
          </a:p>
          <a:p>
            <a:r>
              <a:rPr lang="en-IN" dirty="0" smtClean="0"/>
              <a:t>Planar </a:t>
            </a:r>
            <a:r>
              <a:rPr lang="en-IN" dirty="0"/>
              <a:t>Manipulator: </a:t>
            </a:r>
          </a:p>
        </p:txBody>
      </p:sp>
      <p:sp>
        <p:nvSpPr>
          <p:cNvPr id="4" name="Date Placeholder 3"/>
          <p:cNvSpPr>
            <a:spLocks noGrp="1"/>
          </p:cNvSpPr>
          <p:nvPr>
            <p:ph type="dt" sz="half" idx="14"/>
          </p:nvPr>
        </p:nvSpPr>
        <p:spPr/>
        <p:txBody>
          <a:bodyPr/>
          <a:lstStyle/>
          <a:p>
            <a:fld id="{19F6D89D-8249-4E56-803B-2748305CE91C}" type="datetime1">
              <a:rPr lang="en-US" smtClean="0"/>
              <a:t>10/29/2020</a:t>
            </a:fld>
            <a:endParaRPr lang="en-IN"/>
          </a:p>
        </p:txBody>
      </p:sp>
      <p:sp>
        <p:nvSpPr>
          <p:cNvPr id="5" name="Slide Number Placeholder 4"/>
          <p:cNvSpPr>
            <a:spLocks noGrp="1"/>
          </p:cNvSpPr>
          <p:nvPr>
            <p:ph type="sldNum" sz="quarter" idx="15"/>
          </p:nvPr>
        </p:nvSpPr>
        <p:spPr/>
        <p:txBody>
          <a:bodyPr/>
          <a:lstStyle/>
          <a:p>
            <a:fld id="{41F94EDD-D845-48AB-B01E-E1FCDA2D3009}" type="slidenum">
              <a:rPr lang="en-IN" smtClean="0"/>
              <a:pPr/>
              <a:t>30</a:t>
            </a:fld>
            <a:endParaRPr lang="en-IN"/>
          </a:p>
        </p:txBody>
      </p:sp>
      <p:sp>
        <p:nvSpPr>
          <p:cNvPr id="6" name="Footer Placeholder 5"/>
          <p:cNvSpPr>
            <a:spLocks noGrp="1"/>
          </p:cNvSpPr>
          <p:nvPr>
            <p:ph type="ftr" sz="quarter" idx="16"/>
          </p:nvPr>
        </p:nvSpPr>
        <p:spPr/>
        <p:txBody>
          <a:bodyPr/>
          <a:lstStyle/>
          <a:p>
            <a:endParaRPr lang="en-IN"/>
          </a:p>
        </p:txBody>
      </p:sp>
      <p:sp>
        <p:nvSpPr>
          <p:cNvPr id="7" name="Rectangle 6"/>
          <p:cNvSpPr/>
          <p:nvPr/>
        </p:nvSpPr>
        <p:spPr>
          <a:xfrm>
            <a:off x="4572000" y="1597491"/>
            <a:ext cx="4191000" cy="3431709"/>
          </a:xfrm>
          <a:prstGeom prst="rect">
            <a:avLst/>
          </a:prstGeom>
        </p:spPr>
        <p:txBody>
          <a:bodyPr wrap="square">
            <a:spAutoFit/>
          </a:bodyPr>
          <a:lstStyle/>
          <a:p>
            <a:pPr>
              <a:spcAft>
                <a:spcPts val="600"/>
              </a:spcAft>
            </a:pPr>
            <a:r>
              <a:rPr lang="en-IN" sz="3200" dirty="0"/>
              <a:t>2 </a:t>
            </a:r>
            <a:r>
              <a:rPr lang="en-IN" sz="3200" dirty="0" smtClean="0"/>
              <a:t>DOF</a:t>
            </a:r>
          </a:p>
          <a:p>
            <a:pPr>
              <a:spcAft>
                <a:spcPts val="600"/>
              </a:spcAft>
            </a:pPr>
            <a:r>
              <a:rPr lang="en-US" sz="3200" dirty="0" smtClean="0"/>
              <a:t>3 DOF</a:t>
            </a:r>
          </a:p>
          <a:p>
            <a:pPr>
              <a:spcAft>
                <a:spcPts val="600"/>
              </a:spcAft>
            </a:pPr>
            <a:r>
              <a:rPr lang="en-US" sz="3200" dirty="0" smtClean="0"/>
              <a:t>6 DOF</a:t>
            </a:r>
          </a:p>
          <a:p>
            <a:pPr>
              <a:spcAft>
                <a:spcPts val="600"/>
              </a:spcAft>
            </a:pPr>
            <a:r>
              <a:rPr lang="en-US" sz="3200" dirty="0" smtClean="0"/>
              <a:t>6 DOF</a:t>
            </a:r>
          </a:p>
          <a:p>
            <a:pPr>
              <a:spcAft>
                <a:spcPts val="600"/>
              </a:spcAft>
            </a:pPr>
            <a:r>
              <a:rPr lang="en-US" sz="3200" dirty="0" smtClean="0"/>
              <a:t>3 DOF</a:t>
            </a:r>
            <a:endParaRPr lang="en-IN" sz="3200" dirty="0" smtClean="0"/>
          </a:p>
          <a:p>
            <a:endParaRPr lang="en-IN" sz="3200" dirty="0"/>
          </a:p>
        </p:txBody>
      </p:sp>
    </p:spTree>
    <p:extLst>
      <p:ext uri="{BB962C8B-B14F-4D97-AF65-F5344CB8AC3E}">
        <p14:creationId xmlns:p14="http://schemas.microsoft.com/office/powerpoint/2010/main" val="232592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 calcmode="lin" valueType="num">
                                      <p:cBhvr additive="base">
                                        <p:cTn id="19"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animEffect transition="in" filter="barn(inVertical)">
                                      <p:cBhvr>
                                        <p:cTn id="25" dur="500"/>
                                        <p:tgtEl>
                                          <p:spTgt spid="7">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7">
                                            <p:txEl>
                                              <p:pRg st="2" end="2"/>
                                            </p:txEl>
                                          </p:spTgt>
                                        </p:tgtEl>
                                        <p:attrNameLst>
                                          <p:attrName>style.visibility</p:attrName>
                                        </p:attrNameLst>
                                      </p:cBhvr>
                                      <p:to>
                                        <p:strVal val="visible"/>
                                      </p:to>
                                    </p:set>
                                    <p:animEffect transition="in" filter="wipe(down)">
                                      <p:cBhvr>
                                        <p:cTn id="30" dur="500"/>
                                        <p:tgtEl>
                                          <p:spTgt spid="7">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500"/>
                                        <p:tgtEl>
                                          <p:spTgt spid="7">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7">
                                            <p:txEl>
                                              <p:pRg st="4" end="4"/>
                                            </p:txEl>
                                          </p:spTgt>
                                        </p:tgtEl>
                                        <p:attrNameLst>
                                          <p:attrName>style.visibility</p:attrName>
                                        </p:attrNameLst>
                                      </p:cBhvr>
                                      <p:to>
                                        <p:strVal val="visible"/>
                                      </p:to>
                                    </p:set>
                                    <p:anim calcmode="lin" valueType="num">
                                      <p:cBhvr additive="base">
                                        <p:cTn id="40"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a:xfrm>
            <a:off x="457200" y="1219200"/>
            <a:ext cx="8382000" cy="5254752"/>
          </a:xfrm>
        </p:spPr>
        <p:txBody>
          <a:bodyPr>
            <a:normAutofit/>
          </a:bodyPr>
          <a:lstStyle/>
          <a:p>
            <a:pPr marL="0" indent="0" algn="just">
              <a:buNone/>
            </a:pPr>
            <a:r>
              <a:rPr lang="en-IN" dirty="0">
                <a:solidFill>
                  <a:srgbClr val="0070C0"/>
                </a:solidFill>
              </a:rPr>
              <a:t>Redundant </a:t>
            </a:r>
            <a:r>
              <a:rPr lang="en-IN" dirty="0" smtClean="0">
                <a:solidFill>
                  <a:srgbClr val="0070C0"/>
                </a:solidFill>
              </a:rPr>
              <a:t>Manipulator:</a:t>
            </a:r>
            <a:endParaRPr lang="en-IN" dirty="0">
              <a:solidFill>
                <a:srgbClr val="0070C0"/>
              </a:solidFill>
            </a:endParaRPr>
          </a:p>
          <a:p>
            <a:pPr algn="just"/>
            <a:r>
              <a:rPr lang="en-IN" dirty="0"/>
              <a:t>Either a Spatial Manipulator with more than 6 </a:t>
            </a:r>
            <a:r>
              <a:rPr lang="en-IN" dirty="0" err="1" smtClean="0"/>
              <a:t>dof</a:t>
            </a:r>
            <a:r>
              <a:rPr lang="en-IN" dirty="0" smtClean="0"/>
              <a:t> or </a:t>
            </a:r>
            <a:r>
              <a:rPr lang="en-IN" dirty="0"/>
              <a:t>a Planar Manipulator with more than 3 </a:t>
            </a:r>
            <a:r>
              <a:rPr lang="en-IN" dirty="0" err="1" smtClean="0"/>
              <a:t>dof</a:t>
            </a:r>
            <a:r>
              <a:rPr lang="en-IN" dirty="0" smtClean="0"/>
              <a:t> </a:t>
            </a:r>
          </a:p>
          <a:p>
            <a:pPr marL="0" indent="0" algn="just">
              <a:buNone/>
            </a:pPr>
            <a:r>
              <a:rPr lang="en-IN" dirty="0" smtClean="0">
                <a:solidFill>
                  <a:srgbClr val="0070C0"/>
                </a:solidFill>
              </a:rPr>
              <a:t>Under-actuated </a:t>
            </a:r>
            <a:r>
              <a:rPr lang="en-IN" dirty="0">
                <a:solidFill>
                  <a:srgbClr val="0070C0"/>
                </a:solidFill>
              </a:rPr>
              <a:t>Manipulator</a:t>
            </a:r>
          </a:p>
          <a:p>
            <a:pPr algn="just"/>
            <a:r>
              <a:rPr lang="en-IN" dirty="0"/>
              <a:t>Either a Spatial Manipulator with less than 6 </a:t>
            </a:r>
            <a:r>
              <a:rPr lang="en-IN" dirty="0" err="1" smtClean="0"/>
              <a:t>dof</a:t>
            </a:r>
            <a:r>
              <a:rPr lang="en-IN" dirty="0" smtClean="0"/>
              <a:t> or </a:t>
            </a:r>
            <a:r>
              <a:rPr lang="en-IN" dirty="0"/>
              <a:t>a Planar Manipulator with less than 3 </a:t>
            </a:r>
            <a:r>
              <a:rPr lang="en-IN" dirty="0" err="1"/>
              <a:t>dof</a:t>
            </a:r>
            <a:endParaRPr lang="en-IN" dirty="0"/>
          </a:p>
        </p:txBody>
      </p:sp>
      <p:sp>
        <p:nvSpPr>
          <p:cNvPr id="4" name="Date Placeholder 3"/>
          <p:cNvSpPr>
            <a:spLocks noGrp="1"/>
          </p:cNvSpPr>
          <p:nvPr>
            <p:ph type="dt" sz="half" idx="14"/>
          </p:nvPr>
        </p:nvSpPr>
        <p:spPr/>
        <p:txBody>
          <a:bodyPr/>
          <a:lstStyle/>
          <a:p>
            <a:fld id="{FA02A9AD-96DB-4E5C-8485-11BFC92E6284}" type="datetime1">
              <a:rPr lang="en-US" smtClean="0"/>
              <a:t>10/29/2020</a:t>
            </a:fld>
            <a:endParaRPr lang="en-IN"/>
          </a:p>
        </p:txBody>
      </p:sp>
      <p:sp>
        <p:nvSpPr>
          <p:cNvPr id="5" name="Slide Number Placeholder 4"/>
          <p:cNvSpPr>
            <a:spLocks noGrp="1"/>
          </p:cNvSpPr>
          <p:nvPr>
            <p:ph type="sldNum" sz="quarter" idx="15"/>
          </p:nvPr>
        </p:nvSpPr>
        <p:spPr/>
        <p:txBody>
          <a:bodyPr/>
          <a:lstStyle/>
          <a:p>
            <a:fld id="{41F94EDD-D845-48AB-B01E-E1FCDA2D3009}" type="slidenum">
              <a:rPr lang="en-IN" smtClean="0"/>
              <a:pPr/>
              <a:t>31</a:t>
            </a:fld>
            <a:endParaRPr lang="en-IN"/>
          </a:p>
        </p:txBody>
      </p:sp>
      <p:sp>
        <p:nvSpPr>
          <p:cNvPr id="6" name="Footer Placeholder 5"/>
          <p:cNvSpPr>
            <a:spLocks noGrp="1"/>
          </p:cNvSpPr>
          <p:nvPr>
            <p:ph type="ftr" sz="quarter" idx="16"/>
          </p:nvPr>
        </p:nvSpPr>
        <p:spPr/>
        <p:txBody>
          <a:bodyPr/>
          <a:lstStyle/>
          <a:p>
            <a:endParaRPr lang="en-IN"/>
          </a:p>
        </p:txBody>
      </p:sp>
    </p:spTree>
    <p:extLst>
      <p:ext uri="{BB962C8B-B14F-4D97-AF65-F5344CB8AC3E}">
        <p14:creationId xmlns:p14="http://schemas.microsoft.com/office/powerpoint/2010/main" val="336094977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Exercise</a:t>
            </a:r>
            <a:endParaRPr lang="en-IN" dirty="0">
              <a:solidFill>
                <a:srgbClr val="0070C0"/>
              </a:solidFill>
            </a:endParaRPr>
          </a:p>
        </p:txBody>
      </p:sp>
      <p:sp>
        <p:nvSpPr>
          <p:cNvPr id="3" name="Content Placeholder 2"/>
          <p:cNvSpPr>
            <a:spLocks noGrp="1"/>
          </p:cNvSpPr>
          <p:nvPr>
            <p:ph sz="quarter" idx="1"/>
          </p:nvPr>
        </p:nvSpPr>
        <p:spPr/>
        <p:txBody>
          <a:bodyPr>
            <a:normAutofit lnSpcReduction="10000"/>
          </a:bodyPr>
          <a:lstStyle/>
          <a:p>
            <a:r>
              <a:rPr lang="en-US" dirty="0"/>
              <a:t>Draw the following configurations </a:t>
            </a:r>
          </a:p>
          <a:p>
            <a:endParaRPr lang="en-US" dirty="0"/>
          </a:p>
          <a:p>
            <a:pPr lvl="1">
              <a:lnSpc>
                <a:spcPct val="200000"/>
              </a:lnSpc>
            </a:pPr>
            <a:r>
              <a:rPr lang="en-US" dirty="0"/>
              <a:t>LRL - ORO</a:t>
            </a:r>
          </a:p>
          <a:p>
            <a:pPr lvl="1">
              <a:lnSpc>
                <a:spcPct val="200000"/>
              </a:lnSpc>
            </a:pPr>
            <a:r>
              <a:rPr lang="en-US" dirty="0"/>
              <a:t>RRL  - RRO</a:t>
            </a:r>
          </a:p>
          <a:p>
            <a:pPr lvl="1">
              <a:lnSpc>
                <a:spcPct val="200000"/>
              </a:lnSpc>
            </a:pPr>
            <a:r>
              <a:rPr lang="en-US" dirty="0"/>
              <a:t>TRL</a:t>
            </a:r>
          </a:p>
          <a:p>
            <a:pPr lvl="1">
              <a:lnSpc>
                <a:spcPct val="200000"/>
              </a:lnSpc>
            </a:pPr>
            <a:r>
              <a:rPr lang="en-US" dirty="0"/>
              <a:t>LVL - OVO</a:t>
            </a:r>
            <a:endParaRPr lang="en-IN"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srcRect b="15082"/>
          <a:stretch>
            <a:fillRect/>
          </a:stretch>
        </p:blipFill>
        <p:spPr>
          <a:xfrm>
            <a:off x="971550" y="692150"/>
            <a:ext cx="7272338" cy="4451362"/>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Content Placeholder 2"/>
          <p:cNvSpPr>
            <a:spLocks noGrp="1"/>
          </p:cNvSpPr>
          <p:nvPr>
            <p:ph idx="1"/>
          </p:nvPr>
        </p:nvSpPr>
        <p:spPr>
          <a:xfrm>
            <a:off x="457200" y="838200"/>
            <a:ext cx="7467600" cy="5635752"/>
          </a:xfrm>
        </p:spPr>
        <p:txBody>
          <a:bodyPr/>
          <a:lstStyle/>
          <a:p>
            <a:r>
              <a:rPr lang="en-US" dirty="0">
                <a:solidFill>
                  <a:srgbClr val="0070C0"/>
                </a:solidFill>
              </a:rPr>
              <a:t>Sketch following manipulator configurations </a:t>
            </a:r>
          </a:p>
          <a:p>
            <a:r>
              <a:rPr lang="en-US" dirty="0"/>
              <a:t>(a) TRT:R, (b) TVR:TR, (c) RR:T.</a:t>
            </a:r>
            <a:endParaRPr lang="en-IE" dirty="0"/>
          </a:p>
          <a:p>
            <a:pPr>
              <a:buFont typeface="Wingdings" pitchFamily="2" charset="2"/>
              <a:buNone/>
            </a:pPr>
            <a:endParaRPr lang="en-US" b="1" dirty="0"/>
          </a:p>
          <a:p>
            <a:pPr>
              <a:buFont typeface="Wingdings" pitchFamily="2" charset="2"/>
              <a:buNone/>
            </a:pPr>
            <a:r>
              <a:rPr lang="en-US" b="1" dirty="0"/>
              <a:t>Solution</a:t>
            </a:r>
            <a:r>
              <a:rPr lang="en-US" dirty="0"/>
              <a:t>: </a:t>
            </a:r>
            <a:endParaRPr lang="en-IE" dirty="0"/>
          </a:p>
        </p:txBody>
      </p:sp>
      <p:pic>
        <p:nvPicPr>
          <p:cNvPr id="24580" name="Picture 2"/>
          <p:cNvPicPr>
            <a:picLocks noChangeAspect="1" noChangeArrowheads="1"/>
          </p:cNvPicPr>
          <p:nvPr/>
        </p:nvPicPr>
        <p:blipFill>
          <a:blip r:embed="rId2"/>
          <a:srcRect/>
          <a:stretch>
            <a:fillRect/>
          </a:stretch>
        </p:blipFill>
        <p:spPr bwMode="auto">
          <a:xfrm>
            <a:off x="285720" y="3143248"/>
            <a:ext cx="8255000" cy="3571875"/>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580"/>
                                        </p:tgtEl>
                                        <p:attrNameLst>
                                          <p:attrName>style.visibility</p:attrName>
                                        </p:attrNameLst>
                                      </p:cBhvr>
                                      <p:to>
                                        <p:strVal val="visible"/>
                                      </p:to>
                                    </p:set>
                                    <p:animEffect transition="in" filter="blinds(horizontal)">
                                      <p:cBhvr>
                                        <p:cTn id="7" dur="500"/>
                                        <p:tgtEl>
                                          <p:spTgt spid="24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Joint representations</a:t>
            </a:r>
            <a:endParaRPr lang="en-IN" dirty="0">
              <a:solidFill>
                <a:srgbClr val="0070C0"/>
              </a:solidFill>
            </a:endParaRPr>
          </a:p>
        </p:txBody>
      </p:sp>
      <p:sp>
        <p:nvSpPr>
          <p:cNvPr id="3" name="Content Placeholder 2"/>
          <p:cNvSpPr>
            <a:spLocks noGrp="1"/>
          </p:cNvSpPr>
          <p:nvPr>
            <p:ph sz="quarter" idx="1"/>
          </p:nvPr>
        </p:nvSpPr>
        <p:spPr>
          <a:xfrm>
            <a:off x="457200" y="4227449"/>
            <a:ext cx="8077200" cy="1882902"/>
          </a:xfrm>
        </p:spPr>
        <p:txBody>
          <a:bodyPr>
            <a:noAutofit/>
          </a:bodyPr>
          <a:lstStyle/>
          <a:p>
            <a:pPr marL="0" indent="0">
              <a:buNone/>
            </a:pPr>
            <a:r>
              <a:rPr lang="en-IN" sz="2400" dirty="0"/>
              <a:t>Symbols of joints (arrows show direction of motion). (a) Prismatic joint. (b) Revolute joint</a:t>
            </a:r>
          </a:p>
          <a:p>
            <a:pPr marL="0" indent="0">
              <a:buNone/>
            </a:pPr>
            <a:r>
              <a:rPr lang="en-IN" sz="2400" dirty="0"/>
              <a:t>1. (c) Revolute joint 2. (cl) Up-and-down rotation. (c2) Back-and-forth rotation.</a:t>
            </a:r>
          </a:p>
        </p:txBody>
      </p:sp>
      <p:sp>
        <p:nvSpPr>
          <p:cNvPr id="4" name="Date Placeholder 3"/>
          <p:cNvSpPr>
            <a:spLocks noGrp="1"/>
          </p:cNvSpPr>
          <p:nvPr>
            <p:ph type="dt" sz="half" idx="14"/>
          </p:nvPr>
        </p:nvSpPr>
        <p:spPr/>
        <p:txBody>
          <a:bodyPr/>
          <a:lstStyle/>
          <a:p>
            <a:fld id="{987DDCAF-52F7-420B-A2F2-C9E0B53C06D1}" type="datetime1">
              <a:rPr lang="en-US" smtClean="0"/>
              <a:t>10/29/2020</a:t>
            </a:fld>
            <a:endParaRPr lang="en-IN"/>
          </a:p>
        </p:txBody>
      </p:sp>
      <p:sp>
        <p:nvSpPr>
          <p:cNvPr id="5" name="Slide Number Placeholder 4"/>
          <p:cNvSpPr>
            <a:spLocks noGrp="1"/>
          </p:cNvSpPr>
          <p:nvPr>
            <p:ph type="sldNum" sz="quarter" idx="15"/>
          </p:nvPr>
        </p:nvSpPr>
        <p:spPr/>
        <p:txBody>
          <a:bodyPr/>
          <a:lstStyle/>
          <a:p>
            <a:fld id="{41F94EDD-D845-48AB-B01E-E1FCDA2D3009}" type="slidenum">
              <a:rPr lang="en-IN" smtClean="0"/>
              <a:pPr/>
              <a:t>35</a:t>
            </a:fld>
            <a:endParaRPr lang="en-IN"/>
          </a:p>
        </p:txBody>
      </p:sp>
      <p:sp>
        <p:nvSpPr>
          <p:cNvPr id="6" name="Footer Placeholder 5"/>
          <p:cNvSpPr>
            <a:spLocks noGrp="1"/>
          </p:cNvSpPr>
          <p:nvPr>
            <p:ph type="ftr" sz="quarter" idx="16"/>
          </p:nvPr>
        </p:nvSpPr>
        <p:spPr>
          <a:xfrm>
            <a:off x="2819400" y="6110352"/>
            <a:ext cx="3200400" cy="611124"/>
          </a:xfrm>
        </p:spPr>
        <p:txBody>
          <a:bodyPr/>
          <a:lstStyle/>
          <a:p>
            <a:r>
              <a:rPr lang="en-IN" dirty="0"/>
              <a:t>Foundations of Robotics</a:t>
            </a:r>
          </a:p>
          <a:p>
            <a:r>
              <a:rPr lang="en-IN" dirty="0"/>
              <a:t>Analysis and Control</a:t>
            </a:r>
          </a:p>
          <a:p>
            <a:r>
              <a:rPr lang="en-IN" dirty="0"/>
              <a:t>Tsuneo Yoshikawa</a:t>
            </a:r>
          </a:p>
        </p:txBody>
      </p:sp>
      <p:pic>
        <p:nvPicPr>
          <p:cNvPr id="8" name="Picture 7"/>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539766" y="1219200"/>
            <a:ext cx="5543550" cy="2762250"/>
          </a:xfrm>
          <a:prstGeom prst="rect">
            <a:avLst/>
          </a:prstGeom>
        </p:spPr>
      </p:pic>
    </p:spTree>
    <p:extLst>
      <p:ext uri="{BB962C8B-B14F-4D97-AF65-F5344CB8AC3E}">
        <p14:creationId xmlns:p14="http://schemas.microsoft.com/office/powerpoint/2010/main" val="71294748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0070C0"/>
                </a:solidFill>
              </a:rPr>
              <a:t>Can you name the common coordinate systems in robots????</a:t>
            </a:r>
            <a:endParaRPr lang="en-IN" dirty="0">
              <a:solidFill>
                <a:srgbClr val="0070C0"/>
              </a:solidFill>
            </a:endParaRPr>
          </a:p>
        </p:txBody>
      </p:sp>
      <p:sp>
        <p:nvSpPr>
          <p:cNvPr id="3" name="Content Placeholder 2"/>
          <p:cNvSpPr>
            <a:spLocks noGrp="1"/>
          </p:cNvSpPr>
          <p:nvPr>
            <p:ph sz="quarter" idx="1"/>
          </p:nvPr>
        </p:nvSpPr>
        <p:spPr>
          <a:xfrm>
            <a:off x="1385894" y="2071678"/>
            <a:ext cx="5972188" cy="4116522"/>
          </a:xfrm>
        </p:spPr>
        <p:txBody>
          <a:bodyPr>
            <a:normAutofit fontScale="92500" lnSpcReduction="10000"/>
          </a:bodyPr>
          <a:lstStyle/>
          <a:p>
            <a:r>
              <a:rPr lang="en-US" dirty="0" smtClean="0"/>
              <a:t>Cartesian coordinate system</a:t>
            </a:r>
          </a:p>
          <a:p>
            <a:endParaRPr lang="en-US" dirty="0" smtClean="0"/>
          </a:p>
          <a:p>
            <a:r>
              <a:rPr lang="en-US" dirty="0" smtClean="0"/>
              <a:t>Cylindrical coordinate system</a:t>
            </a:r>
          </a:p>
          <a:p>
            <a:endParaRPr lang="en-US" dirty="0" smtClean="0"/>
          </a:p>
          <a:p>
            <a:r>
              <a:rPr lang="en-US" dirty="0" smtClean="0"/>
              <a:t>Polar or Spherical coordinate system</a:t>
            </a:r>
          </a:p>
          <a:p>
            <a:endParaRPr lang="en-US" dirty="0" smtClean="0"/>
          </a:p>
          <a:p>
            <a:r>
              <a:rPr lang="en-US" dirty="0" smtClean="0"/>
              <a:t>Revolute coordinate system</a:t>
            </a:r>
            <a:endParaRPr lang="en-IN" dirty="0"/>
          </a:p>
        </p:txBody>
      </p:sp>
    </p:spTree>
    <p:extLst>
      <p:ext uri="{BB962C8B-B14F-4D97-AF65-F5344CB8AC3E}">
        <p14:creationId xmlns:p14="http://schemas.microsoft.com/office/powerpoint/2010/main" val="73971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linds(horizontal)">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normAutofit fontScale="90000"/>
          </a:bodyPr>
          <a:lstStyle/>
          <a:p>
            <a:pPr eaLnBrk="1" hangingPunct="1"/>
            <a:r>
              <a:rPr lang="en-US" dirty="0" smtClean="0">
                <a:solidFill>
                  <a:srgbClr val="0070C0"/>
                </a:solidFill>
              </a:rPr>
              <a:t>Robot Body-and-Arm Configurations</a:t>
            </a:r>
          </a:p>
        </p:txBody>
      </p:sp>
      <p:sp>
        <p:nvSpPr>
          <p:cNvPr id="21508" name="Rectangle 3"/>
          <p:cNvSpPr>
            <a:spLocks noGrp="1" noChangeArrowheads="1"/>
          </p:cNvSpPr>
          <p:nvPr>
            <p:ph type="body" idx="1"/>
          </p:nvPr>
        </p:nvSpPr>
        <p:spPr>
          <a:xfrm>
            <a:off x="428596" y="1447800"/>
            <a:ext cx="8458200" cy="4686288"/>
          </a:xfrm>
        </p:spPr>
        <p:txBody>
          <a:bodyPr>
            <a:noAutofit/>
          </a:bodyPr>
          <a:lstStyle/>
          <a:p>
            <a:pPr marL="457200" indent="-457200" algn="just" eaLnBrk="1" hangingPunct="1"/>
            <a:r>
              <a:rPr lang="en-US" sz="2800" dirty="0" smtClean="0"/>
              <a:t>Five common body-and-arm configurations for industrial robots:</a:t>
            </a:r>
          </a:p>
          <a:p>
            <a:pPr marL="914400" lvl="1" indent="-457200" algn="just" eaLnBrk="1" hangingPunct="1">
              <a:buFont typeface="Wingdings" pitchFamily="2" charset="2"/>
              <a:buAutoNum type="arabicPeriod"/>
            </a:pPr>
            <a:r>
              <a:rPr lang="en-US" dirty="0" smtClean="0">
                <a:solidFill>
                  <a:srgbClr val="FF0000"/>
                </a:solidFill>
              </a:rPr>
              <a:t>Polar coordinate body-and-arm assembly</a:t>
            </a:r>
          </a:p>
          <a:p>
            <a:pPr marL="914400" lvl="1" indent="-457200" algn="just" eaLnBrk="1" hangingPunct="1">
              <a:buFont typeface="Wingdings" pitchFamily="2" charset="2"/>
              <a:buAutoNum type="arabicPeriod"/>
            </a:pPr>
            <a:r>
              <a:rPr lang="en-US" dirty="0" smtClean="0">
                <a:solidFill>
                  <a:srgbClr val="FF0000"/>
                </a:solidFill>
              </a:rPr>
              <a:t>Cylindrical body-and-arm assembly</a:t>
            </a:r>
          </a:p>
          <a:p>
            <a:pPr marL="914400" lvl="1" indent="-457200" algn="just" eaLnBrk="1" hangingPunct="1">
              <a:buFont typeface="Wingdings" pitchFamily="2" charset="2"/>
              <a:buAutoNum type="arabicPeriod"/>
            </a:pPr>
            <a:r>
              <a:rPr lang="en-US" dirty="0" smtClean="0">
                <a:solidFill>
                  <a:srgbClr val="FF0000"/>
                </a:solidFill>
              </a:rPr>
              <a:t>Cartesian coordinate body-and-arm assembly</a:t>
            </a:r>
          </a:p>
          <a:p>
            <a:pPr marL="914400" lvl="1" indent="-457200" algn="just" eaLnBrk="1" hangingPunct="1">
              <a:buFont typeface="Wingdings" pitchFamily="2" charset="2"/>
              <a:buAutoNum type="arabicPeriod"/>
            </a:pPr>
            <a:r>
              <a:rPr lang="en-US" dirty="0" smtClean="0">
                <a:solidFill>
                  <a:srgbClr val="FF0000"/>
                </a:solidFill>
              </a:rPr>
              <a:t>Jointed-arm body-and-arm assembly</a:t>
            </a:r>
          </a:p>
          <a:p>
            <a:pPr marL="914400" lvl="1" indent="-457200" algn="just" eaLnBrk="1" hangingPunct="1">
              <a:buFont typeface="Wingdings" pitchFamily="2" charset="2"/>
              <a:buAutoNum type="arabicPeriod"/>
            </a:pPr>
            <a:r>
              <a:rPr lang="en-US" dirty="0" smtClean="0">
                <a:solidFill>
                  <a:srgbClr val="FF0000"/>
                </a:solidFill>
              </a:rPr>
              <a:t>Selective Compliance Assembly Robot Arm (SCARA)</a:t>
            </a:r>
          </a:p>
          <a:p>
            <a:pPr marL="457200" indent="-457200" algn="just" eaLnBrk="1" hangingPunct="1"/>
            <a:r>
              <a:rPr lang="en-US" sz="2800" dirty="0" smtClean="0"/>
              <a:t>Function of body-and-arm assembly is to position an end </a:t>
            </a:r>
            <a:r>
              <a:rPr lang="en-US" sz="2800" dirty="0" err="1" smtClean="0"/>
              <a:t>effector</a:t>
            </a:r>
            <a:r>
              <a:rPr lang="en-US" sz="2800" dirty="0" smtClean="0"/>
              <a:t> (e.g., gripper, tool) in space</a:t>
            </a:r>
          </a:p>
        </p:txBody>
      </p:sp>
    </p:spTree>
    <p:extLst>
      <p:ext uri="{BB962C8B-B14F-4D97-AF65-F5344CB8AC3E}">
        <p14:creationId xmlns:p14="http://schemas.microsoft.com/office/powerpoint/2010/main" val="403195307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Work volume (Work envelope)</a:t>
            </a:r>
            <a:endParaRPr lang="en-IN" dirty="0">
              <a:solidFill>
                <a:srgbClr val="0070C0"/>
              </a:solidFill>
            </a:endParaRPr>
          </a:p>
        </p:txBody>
      </p:sp>
      <p:sp>
        <p:nvSpPr>
          <p:cNvPr id="3" name="Content Placeholder 2"/>
          <p:cNvSpPr>
            <a:spLocks noGrp="1"/>
          </p:cNvSpPr>
          <p:nvPr>
            <p:ph sz="quarter" idx="1"/>
          </p:nvPr>
        </p:nvSpPr>
        <p:spPr>
          <a:xfrm>
            <a:off x="457200" y="1219200"/>
            <a:ext cx="8001000" cy="5407152"/>
          </a:xfrm>
        </p:spPr>
        <p:txBody>
          <a:bodyPr>
            <a:normAutofit lnSpcReduction="10000"/>
          </a:bodyPr>
          <a:lstStyle/>
          <a:p>
            <a:pPr lvl="2">
              <a:buFontTx/>
              <a:buChar char="-"/>
            </a:pPr>
            <a:r>
              <a:rPr lang="en-US" sz="2600" dirty="0" smtClean="0">
                <a:solidFill>
                  <a:srgbClr val="00B0F0"/>
                </a:solidFill>
              </a:rPr>
              <a:t>Volume in which the robot is able to work.</a:t>
            </a:r>
          </a:p>
          <a:p>
            <a:r>
              <a:rPr lang="en-US" sz="2600" dirty="0" smtClean="0"/>
              <a:t>The work volume is determined by the following physical characteristics of the robot:</a:t>
            </a:r>
          </a:p>
          <a:p>
            <a:pPr lvl="1"/>
            <a:r>
              <a:rPr lang="en-US" sz="2600" dirty="0" smtClean="0"/>
              <a:t>The robots physical configuration</a:t>
            </a:r>
          </a:p>
          <a:p>
            <a:pPr lvl="1"/>
            <a:r>
              <a:rPr lang="en-US" sz="2600" dirty="0" smtClean="0"/>
              <a:t>The size of the body, arm, and wrist components</a:t>
            </a:r>
          </a:p>
          <a:p>
            <a:pPr lvl="1"/>
            <a:r>
              <a:rPr lang="en-US" sz="2600" dirty="0" smtClean="0"/>
              <a:t>The limits of the robots joint movements.</a:t>
            </a:r>
          </a:p>
          <a:p>
            <a:pPr marL="0" lvl="1" indent="0">
              <a:buNone/>
            </a:pPr>
            <a:r>
              <a:rPr lang="en-IN" sz="2600" dirty="0">
                <a:solidFill>
                  <a:srgbClr val="0070C0"/>
                </a:solidFill>
              </a:rPr>
              <a:t>Dextrous Workspace</a:t>
            </a:r>
          </a:p>
          <a:p>
            <a:pPr marL="0" lvl="1" indent="0">
              <a:buNone/>
            </a:pPr>
            <a:r>
              <a:rPr lang="en-IN" sz="2600" dirty="0"/>
              <a:t>It is the volume of space, which the robot’s end-effector can </a:t>
            </a:r>
            <a:r>
              <a:rPr lang="en-IN" sz="2600" dirty="0" smtClean="0"/>
              <a:t>reach with </a:t>
            </a:r>
            <a:r>
              <a:rPr lang="en-IN" sz="2600" dirty="0"/>
              <a:t>various orientations</a:t>
            </a:r>
          </a:p>
          <a:p>
            <a:pPr marL="0" lvl="1" indent="0">
              <a:buNone/>
            </a:pPr>
            <a:r>
              <a:rPr lang="en-IN" sz="2600" dirty="0">
                <a:solidFill>
                  <a:srgbClr val="0070C0"/>
                </a:solidFill>
              </a:rPr>
              <a:t>Reachable Workspace</a:t>
            </a:r>
          </a:p>
          <a:p>
            <a:pPr marL="0" lvl="1" indent="0">
              <a:buNone/>
            </a:pPr>
            <a:r>
              <a:rPr lang="en-IN" sz="2600" dirty="0"/>
              <a:t>It is the volume of space that the end-effector can reach with </a:t>
            </a:r>
            <a:r>
              <a:rPr lang="en-IN" sz="2600" dirty="0" smtClean="0"/>
              <a:t>one orientation</a:t>
            </a:r>
            <a:endParaRPr lang="en-IN" sz="2600" dirty="0"/>
          </a:p>
        </p:txBody>
      </p:sp>
    </p:spTree>
    <p:extLst>
      <p:ext uri="{BB962C8B-B14F-4D97-AF65-F5344CB8AC3E}">
        <p14:creationId xmlns:p14="http://schemas.microsoft.com/office/powerpoint/2010/main" val="188519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linds(horizontal)">
                                      <p:cBhvr>
                                        <p:cTn id="10" dur="500"/>
                                        <p:tgtEl>
                                          <p:spTgt spid="3">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linds(horizontal)">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blinds(horizontal)">
                                      <p:cBhvr>
                                        <p:cTn id="18" dur="500"/>
                                        <p:tgtEl>
                                          <p:spTgt spid="3">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blinds(horizontal)">
                                      <p:cBhvr>
                                        <p:cTn id="21" dur="500"/>
                                        <p:tgtEl>
                                          <p:spTgt spid="3">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blinds(horizontal)">
                                      <p:cBhvr>
                                        <p:cTn id="26" dur="500"/>
                                        <p:tgtEl>
                                          <p:spTgt spid="3">
                                            <p:txEl>
                                              <p:pRg st="7" end="7"/>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blinds(horizontal)">
                                      <p:cBhvr>
                                        <p:cTn id="2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857224" y="92070"/>
            <a:ext cx="8229600" cy="850900"/>
          </a:xfrm>
        </p:spPr>
        <p:txBody>
          <a:bodyPr/>
          <a:lstStyle/>
          <a:p>
            <a:pPr eaLnBrk="1" hangingPunct="1"/>
            <a:r>
              <a:rPr lang="en-US" sz="4000" dirty="0" smtClean="0">
                <a:solidFill>
                  <a:srgbClr val="0070C0"/>
                </a:solidFill>
              </a:rPr>
              <a:t>ROBOT CLASSIFICATION</a:t>
            </a:r>
            <a:endParaRPr lang="tr-TR" sz="4000" dirty="0" smtClean="0">
              <a:solidFill>
                <a:srgbClr val="0070C0"/>
              </a:solidFill>
            </a:endParaRPr>
          </a:p>
        </p:txBody>
      </p:sp>
      <p:sp>
        <p:nvSpPr>
          <p:cNvPr id="1028" name="Rectangle 3"/>
          <p:cNvSpPr>
            <a:spLocks noGrp="1" noChangeArrowheads="1"/>
          </p:cNvSpPr>
          <p:nvPr>
            <p:ph type="body" idx="1"/>
          </p:nvPr>
        </p:nvSpPr>
        <p:spPr>
          <a:xfrm>
            <a:off x="468313" y="1268413"/>
            <a:ext cx="8229600" cy="2692400"/>
          </a:xfrm>
        </p:spPr>
        <p:txBody>
          <a:bodyPr>
            <a:normAutofit fontScale="85000" lnSpcReduction="20000"/>
          </a:bodyPr>
          <a:lstStyle/>
          <a:p>
            <a:pPr eaLnBrk="1" hangingPunct="1">
              <a:buFontTx/>
              <a:buNone/>
            </a:pPr>
            <a:r>
              <a:rPr lang="en-US" dirty="0" smtClean="0">
                <a:solidFill>
                  <a:srgbClr val="00B0F0"/>
                </a:solidFill>
              </a:rPr>
              <a:t>Cartesian Configuration:</a:t>
            </a:r>
          </a:p>
          <a:p>
            <a:pPr eaLnBrk="1" hangingPunct="1"/>
            <a:r>
              <a:rPr lang="en-US" dirty="0" smtClean="0"/>
              <a:t>Robots with Cartesian configurations consists of links connected by linear joints (L). Gantry robots are Cartesian robots (LLL).</a:t>
            </a:r>
          </a:p>
          <a:p>
            <a:r>
              <a:rPr lang="en-IN" dirty="0" smtClean="0"/>
              <a:t>Also known as rectilinear robot and x-y-z robot. Consists of three sliding joints, two of which orthogonal (O joint). 	</a:t>
            </a:r>
          </a:p>
          <a:p>
            <a:pPr eaLnBrk="1" hangingPunct="1"/>
            <a:endParaRPr lang="tr-TR" dirty="0" smtClean="0"/>
          </a:p>
        </p:txBody>
      </p:sp>
      <p:sp>
        <p:nvSpPr>
          <p:cNvPr id="1029" name="Rectangle 4"/>
          <p:cNvSpPr>
            <a:spLocks noChangeArrowheads="1"/>
          </p:cNvSpPr>
          <p:nvPr/>
        </p:nvSpPr>
        <p:spPr bwMode="auto">
          <a:xfrm>
            <a:off x="0" y="2200275"/>
            <a:ext cx="9144000" cy="0"/>
          </a:xfrm>
          <a:prstGeom prst="rect">
            <a:avLst/>
          </a:prstGeom>
          <a:noFill/>
          <a:ln w="9525">
            <a:noFill/>
            <a:miter lim="800000"/>
            <a:headEnd/>
            <a:tailEnd/>
          </a:ln>
        </p:spPr>
        <p:txBody>
          <a:bodyPr wrap="none" anchor="ctr">
            <a:spAutoFit/>
          </a:bodyPr>
          <a:lstStyle/>
          <a:p>
            <a:endParaRPr lang="en-US">
              <a:solidFill>
                <a:srgbClr val="000000"/>
              </a:solidFill>
            </a:endParaRPr>
          </a:p>
        </p:txBody>
      </p:sp>
      <p:pic>
        <p:nvPicPr>
          <p:cNvPr id="8" name="Picture 2052" descr="C:\My Documents\Books\APSCIM-3e\Figures - Completed\8\8.5C.JPG"/>
          <p:cNvPicPr>
            <a:picLocks noChangeAspect="1" noChangeArrowheads="1"/>
          </p:cNvPicPr>
          <p:nvPr/>
        </p:nvPicPr>
        <p:blipFill>
          <a:blip r:embed="rId4"/>
          <a:srcRect/>
          <a:stretch>
            <a:fillRect/>
          </a:stretch>
        </p:blipFill>
        <p:spPr bwMode="auto">
          <a:xfrm>
            <a:off x="5000628" y="3719690"/>
            <a:ext cx="2357454" cy="2781144"/>
          </a:xfrm>
          <a:prstGeom prst="rect">
            <a:avLst/>
          </a:prstGeom>
          <a:noFill/>
          <a:ln w="9525">
            <a:noFill/>
            <a:miter lim="800000"/>
            <a:headEnd/>
            <a:tailEnd/>
          </a:ln>
        </p:spPr>
      </p:pic>
      <p:graphicFrame>
        <p:nvGraphicFramePr>
          <p:cNvPr id="1026" name="Object 7"/>
          <p:cNvGraphicFramePr>
            <a:graphicFrameLocks noChangeAspect="1"/>
          </p:cNvGraphicFramePr>
          <p:nvPr/>
        </p:nvGraphicFramePr>
        <p:xfrm>
          <a:off x="857224" y="4286256"/>
          <a:ext cx="3781425" cy="2076450"/>
        </p:xfrm>
        <a:graphic>
          <a:graphicData uri="http://schemas.openxmlformats.org/presentationml/2006/ole">
            <mc:AlternateContent xmlns:mc="http://schemas.openxmlformats.org/markup-compatibility/2006">
              <mc:Choice xmlns:v="urn:schemas-microsoft-com:vml" Requires="v">
                <p:oleObj spid="_x0000_s1068" name="Bitmap Image" r:id="rId5" imgW="3780952" imgH="2076740" progId="PBrush">
                  <p:embed/>
                </p:oleObj>
              </mc:Choice>
              <mc:Fallback>
                <p:oleObj name="Bitmap Image" r:id="rId5" imgW="3780952" imgH="2076740" progId="PBrush">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7224" y="4286256"/>
                        <a:ext cx="3781425"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13126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8">
                                            <p:txEl>
                                              <p:pRg st="0" end="0"/>
                                            </p:txEl>
                                          </p:spTgt>
                                        </p:tgtEl>
                                        <p:attrNameLst>
                                          <p:attrName>style.visibility</p:attrName>
                                        </p:attrNameLst>
                                      </p:cBhvr>
                                      <p:to>
                                        <p:strVal val="visible"/>
                                      </p:to>
                                    </p:set>
                                    <p:animEffect transition="in" filter="blinds(horizontal)">
                                      <p:cBhvr>
                                        <p:cTn id="7" dur="500"/>
                                        <p:tgtEl>
                                          <p:spTgt spid="1028">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28">
                                            <p:txEl>
                                              <p:pRg st="1" end="1"/>
                                            </p:txEl>
                                          </p:spTgt>
                                        </p:tgtEl>
                                        <p:attrNameLst>
                                          <p:attrName>style.visibility</p:attrName>
                                        </p:attrNameLst>
                                      </p:cBhvr>
                                      <p:to>
                                        <p:strVal val="visible"/>
                                      </p:to>
                                    </p:set>
                                    <p:animEffect transition="in" filter="blinds(horizontal)">
                                      <p:cBhvr>
                                        <p:cTn id="10" dur="500"/>
                                        <p:tgtEl>
                                          <p:spTgt spid="1028">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28">
                                            <p:txEl>
                                              <p:pRg st="2" end="2"/>
                                            </p:txEl>
                                          </p:spTgt>
                                        </p:tgtEl>
                                        <p:attrNameLst>
                                          <p:attrName>style.visibility</p:attrName>
                                        </p:attrNameLst>
                                      </p:cBhvr>
                                      <p:to>
                                        <p:strVal val="visible"/>
                                      </p:to>
                                    </p:set>
                                    <p:animEffect transition="in" filter="blinds(horizontal)">
                                      <p:cBhvr>
                                        <p:cTn id="13" dur="500"/>
                                        <p:tgtEl>
                                          <p:spTgt spid="102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026"/>
                                        </p:tgtEl>
                                        <p:attrNameLst>
                                          <p:attrName>style.visibility</p:attrName>
                                        </p:attrNameLst>
                                      </p:cBhvr>
                                      <p:to>
                                        <p:strVal val="visible"/>
                                      </p:to>
                                    </p:set>
                                    <p:animEffect transition="in" filter="blinds(horizontal)">
                                      <p:cBhvr>
                                        <p:cTn id="18" dur="500"/>
                                        <p:tgtEl>
                                          <p:spTgt spid="1026"/>
                                        </p:tgtEl>
                                      </p:cBhvr>
                                    </p:animEffect>
                                  </p:childTnLst>
                                </p:cTn>
                              </p:par>
                              <p:par>
                                <p:cTn id="19" presetID="3" presetClass="entr" presetSubtype="1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457200" y="457200"/>
            <a:ext cx="7543800" cy="960438"/>
          </a:xfrm>
          <a:prstGeom prst="rect">
            <a:avLst/>
          </a:prstGeom>
          <a:noFill/>
          <a:ln w="9525">
            <a:noFill/>
            <a:miter lim="800000"/>
            <a:headEnd/>
            <a:tailEnd/>
          </a:ln>
        </p:spPr>
        <p:txBody>
          <a:bodyPr anchor="b"/>
          <a:lstStyle/>
          <a:p>
            <a:pPr algn="ctr"/>
            <a:r>
              <a:rPr lang="en-US" sz="3200" dirty="0" smtClean="0">
                <a:hlinkClick r:id="rId3" action="ppaction://hlinkfile"/>
              </a:rPr>
              <a:t>Cartesian Coordinate </a:t>
            </a:r>
            <a:br>
              <a:rPr lang="en-US" sz="3200" dirty="0" smtClean="0">
                <a:hlinkClick r:id="rId3" action="ppaction://hlinkfile"/>
              </a:rPr>
            </a:br>
            <a:r>
              <a:rPr lang="en-US" sz="3200" dirty="0" smtClean="0">
                <a:hlinkClick r:id="rId3" action="ppaction://hlinkfile"/>
              </a:rPr>
              <a:t>Body-and-Arm Assembly</a:t>
            </a:r>
            <a:endParaRPr lang="en-US" sz="3200" dirty="0">
              <a:solidFill>
                <a:srgbClr val="FF0000"/>
              </a:solidFill>
            </a:endParaRPr>
          </a:p>
        </p:txBody>
      </p:sp>
      <p:sp>
        <p:nvSpPr>
          <p:cNvPr id="40963" name="Text Box 3"/>
          <p:cNvSpPr txBox="1">
            <a:spLocks noChangeArrowheads="1"/>
          </p:cNvSpPr>
          <p:nvPr/>
        </p:nvSpPr>
        <p:spPr bwMode="auto">
          <a:xfrm>
            <a:off x="457200" y="1600200"/>
            <a:ext cx="4191000" cy="3785652"/>
          </a:xfrm>
          <a:prstGeom prst="rect">
            <a:avLst/>
          </a:prstGeom>
          <a:noFill/>
          <a:ln w="9525">
            <a:noFill/>
            <a:miter lim="800000"/>
            <a:headEnd/>
            <a:tailEnd/>
          </a:ln>
        </p:spPr>
        <p:txBody>
          <a:bodyPr>
            <a:spAutoFit/>
          </a:bodyPr>
          <a:lstStyle/>
          <a:p>
            <a:pPr algn="just"/>
            <a:r>
              <a:rPr lang="en-US" sz="2400" dirty="0">
                <a:solidFill>
                  <a:srgbClr val="000000"/>
                </a:solidFill>
              </a:rPr>
              <a:t>A robot with 3 prismatic joints – the axes consistent with a Cartesian coordinate system.</a:t>
            </a:r>
          </a:p>
          <a:p>
            <a:pPr algn="just"/>
            <a:endParaRPr lang="tr-TR" sz="2400" dirty="0">
              <a:solidFill>
                <a:srgbClr val="000000"/>
              </a:solidFill>
            </a:endParaRPr>
          </a:p>
          <a:p>
            <a:pPr algn="just"/>
            <a:endParaRPr lang="en-US" sz="2400" dirty="0">
              <a:solidFill>
                <a:srgbClr val="000000"/>
              </a:solidFill>
            </a:endParaRPr>
          </a:p>
          <a:p>
            <a:pPr algn="just"/>
            <a:r>
              <a:rPr lang="en-US" sz="2400" dirty="0">
                <a:solidFill>
                  <a:srgbClr val="000000"/>
                </a:solidFill>
              </a:rPr>
              <a:t>Commonly used for:</a:t>
            </a:r>
          </a:p>
          <a:p>
            <a:pPr algn="just">
              <a:buFontTx/>
              <a:buChar char="•"/>
            </a:pPr>
            <a:r>
              <a:rPr lang="en-US" sz="2400" dirty="0">
                <a:solidFill>
                  <a:srgbClr val="000000"/>
                </a:solidFill>
              </a:rPr>
              <a:t>pick and place work</a:t>
            </a:r>
          </a:p>
          <a:p>
            <a:pPr algn="just">
              <a:buFontTx/>
              <a:buChar char="•"/>
            </a:pPr>
            <a:r>
              <a:rPr lang="en-US" sz="2400" dirty="0">
                <a:solidFill>
                  <a:srgbClr val="000000"/>
                </a:solidFill>
              </a:rPr>
              <a:t>assembly operations</a:t>
            </a:r>
          </a:p>
          <a:p>
            <a:pPr algn="just">
              <a:buFontTx/>
              <a:buChar char="•"/>
            </a:pPr>
            <a:r>
              <a:rPr lang="en-US" sz="2400" dirty="0">
                <a:solidFill>
                  <a:srgbClr val="000000"/>
                </a:solidFill>
              </a:rPr>
              <a:t>handling machine tools</a:t>
            </a:r>
          </a:p>
          <a:p>
            <a:pPr algn="just">
              <a:buFontTx/>
              <a:buChar char="•"/>
            </a:pPr>
            <a:r>
              <a:rPr lang="en-US" sz="2400" dirty="0">
                <a:solidFill>
                  <a:srgbClr val="000000"/>
                </a:solidFill>
              </a:rPr>
              <a:t>arc welding</a:t>
            </a:r>
          </a:p>
        </p:txBody>
      </p:sp>
      <p:pic>
        <p:nvPicPr>
          <p:cNvPr id="40964" name="Picture 4" descr="cartesian"/>
          <p:cNvPicPr>
            <a:picLocks noChangeAspect="1" noChangeArrowheads="1"/>
          </p:cNvPicPr>
          <p:nvPr/>
        </p:nvPicPr>
        <p:blipFill>
          <a:blip r:embed="rId4"/>
          <a:srcRect l="9599" t="12801" r="10080" b="16426"/>
          <a:stretch>
            <a:fillRect/>
          </a:stretch>
        </p:blipFill>
        <p:spPr bwMode="auto">
          <a:xfrm>
            <a:off x="4800600" y="1600200"/>
            <a:ext cx="4038600" cy="2286000"/>
          </a:xfrm>
          <a:prstGeom prst="rect">
            <a:avLst/>
          </a:prstGeom>
          <a:solidFill>
            <a:schemeClr val="accent1">
              <a:alpha val="0"/>
            </a:schemeClr>
          </a:solidFill>
          <a:ln w="9525">
            <a:noFill/>
            <a:miter lim="800000"/>
            <a:headEnd/>
            <a:tailEnd/>
          </a:ln>
        </p:spPr>
      </p:pic>
      <p:pic>
        <p:nvPicPr>
          <p:cNvPr id="40965" name="Picture 5" descr="104"/>
          <p:cNvPicPr>
            <a:picLocks noChangeAspect="1" noChangeArrowheads="1"/>
          </p:cNvPicPr>
          <p:nvPr/>
        </p:nvPicPr>
        <p:blipFill>
          <a:blip r:embed="rId5"/>
          <a:srcRect/>
          <a:stretch>
            <a:fillRect/>
          </a:stretch>
        </p:blipFill>
        <p:spPr bwMode="auto">
          <a:xfrm>
            <a:off x="4800600" y="3810000"/>
            <a:ext cx="4038600" cy="2819400"/>
          </a:xfrm>
          <a:prstGeom prst="rect">
            <a:avLst/>
          </a:prstGeom>
          <a:solidFill>
            <a:schemeClr val="tx2">
              <a:alpha val="0"/>
            </a:schemeClr>
          </a:solidFill>
          <a:ln w="9525">
            <a:noFill/>
            <a:miter lim="800000"/>
            <a:headEnd/>
            <a:tailEnd/>
          </a:ln>
        </p:spPr>
      </p:pic>
    </p:spTree>
    <p:extLst>
      <p:ext uri="{BB962C8B-B14F-4D97-AF65-F5344CB8AC3E}">
        <p14:creationId xmlns:p14="http://schemas.microsoft.com/office/powerpoint/2010/main" val="191665519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2"/>
          <p:cNvSpPr>
            <a:spLocks noGrp="1"/>
          </p:cNvSpPr>
          <p:nvPr>
            <p:ph idx="4294967295"/>
          </p:nvPr>
        </p:nvSpPr>
        <p:spPr>
          <a:xfrm>
            <a:off x="428596" y="928670"/>
            <a:ext cx="8429684" cy="5357850"/>
          </a:xfrm>
        </p:spPr>
        <p:txBody>
          <a:bodyPr>
            <a:normAutofit/>
          </a:bodyPr>
          <a:lstStyle/>
          <a:p>
            <a:pPr marL="692150" indent="-609600" eaLnBrk="1" hangingPunct="1">
              <a:buClr>
                <a:srgbClr val="003300"/>
              </a:buClr>
              <a:buFont typeface="Wingdings" pitchFamily="2" charset="2"/>
              <a:buChar char="Ø"/>
            </a:pPr>
            <a:r>
              <a:rPr lang="en-US" sz="3600" dirty="0" smtClean="0"/>
              <a:t>Advantages</a:t>
            </a:r>
          </a:p>
          <a:p>
            <a:pPr marL="1371600" lvl="2" indent="-457200" eaLnBrk="1" hangingPunct="1">
              <a:buClr>
                <a:schemeClr val="hlink"/>
              </a:buClr>
              <a:buFont typeface="Wingdings" pitchFamily="2" charset="2"/>
              <a:buChar char="§"/>
            </a:pPr>
            <a:r>
              <a:rPr lang="en-US" sz="2400" dirty="0" smtClean="0"/>
              <a:t>Linear motion in three dimension</a:t>
            </a:r>
          </a:p>
          <a:p>
            <a:pPr marL="1371600" lvl="2" indent="-457200" eaLnBrk="1" hangingPunct="1">
              <a:buClr>
                <a:schemeClr val="hlink"/>
              </a:buClr>
              <a:buFont typeface="Wingdings" pitchFamily="2" charset="2"/>
              <a:buChar char="§"/>
            </a:pPr>
            <a:r>
              <a:rPr lang="en-US" sz="2400" dirty="0" smtClean="0"/>
              <a:t>Simple kinematic model</a:t>
            </a:r>
          </a:p>
          <a:p>
            <a:pPr marL="1371600" lvl="2" indent="-457200" eaLnBrk="1" hangingPunct="1">
              <a:buClr>
                <a:schemeClr val="hlink"/>
              </a:buClr>
              <a:buFont typeface="Wingdings" pitchFamily="2" charset="2"/>
              <a:buChar char="§"/>
            </a:pPr>
            <a:r>
              <a:rPr lang="en-US" sz="2400" dirty="0" smtClean="0"/>
              <a:t>Rigid structure</a:t>
            </a:r>
          </a:p>
          <a:p>
            <a:pPr marL="1371600" lvl="2" indent="-457200" eaLnBrk="1" hangingPunct="1">
              <a:buClr>
                <a:schemeClr val="hlink"/>
              </a:buClr>
              <a:buFont typeface="Wingdings" pitchFamily="2" charset="2"/>
              <a:buChar char="§"/>
            </a:pPr>
            <a:r>
              <a:rPr lang="en-US" sz="2400" dirty="0" smtClean="0"/>
              <a:t>Higher repeatability and accuracy</a:t>
            </a:r>
          </a:p>
          <a:p>
            <a:pPr marL="1371600" lvl="2" indent="-457200" eaLnBrk="1" hangingPunct="1">
              <a:buClr>
                <a:schemeClr val="hlink"/>
              </a:buClr>
              <a:buFont typeface="Wingdings" pitchFamily="2" charset="2"/>
              <a:buChar char="§"/>
            </a:pPr>
            <a:r>
              <a:rPr lang="en-US" sz="2400" dirty="0" smtClean="0"/>
              <a:t>High lift-carrying capacity as it doesn’t vary at different locations in work volume</a:t>
            </a:r>
          </a:p>
          <a:p>
            <a:pPr marL="1371600" lvl="2" indent="-457200" eaLnBrk="1" hangingPunct="1">
              <a:buClr>
                <a:schemeClr val="hlink"/>
              </a:buClr>
              <a:buFont typeface="Wingdings" pitchFamily="2" charset="2"/>
              <a:buChar char="§"/>
            </a:pPr>
            <a:r>
              <a:rPr lang="en-US" sz="2400" dirty="0" smtClean="0"/>
              <a:t>Easily visualize</a:t>
            </a:r>
          </a:p>
          <a:p>
            <a:pPr marL="1371600" lvl="2" indent="-457200" eaLnBrk="1" hangingPunct="1">
              <a:buClr>
                <a:schemeClr val="hlink"/>
              </a:buClr>
              <a:buFont typeface="Wingdings" pitchFamily="2" charset="2"/>
              <a:buChar char="§"/>
            </a:pPr>
            <a:r>
              <a:rPr lang="en-US" sz="2400" dirty="0" smtClean="0"/>
              <a:t>Can increase work volume easily</a:t>
            </a:r>
          </a:p>
          <a:p>
            <a:pPr marL="1371600" lvl="2" indent="-457200" eaLnBrk="1" hangingPunct="1">
              <a:buClr>
                <a:schemeClr val="hlink"/>
              </a:buClr>
              <a:buFont typeface="Wingdings" pitchFamily="2" charset="2"/>
              <a:buChar char="§"/>
            </a:pPr>
            <a:r>
              <a:rPr lang="en-US" sz="2400" dirty="0" smtClean="0"/>
              <a:t>Inexpensive pneumatic drive can be used for P&amp;P operation</a:t>
            </a:r>
            <a:endParaRPr lang="en-US" sz="2800" dirty="0" smtClean="0"/>
          </a:p>
        </p:txBody>
      </p:sp>
    </p:spTree>
    <p:extLst>
      <p:ext uri="{BB962C8B-B14F-4D97-AF65-F5344CB8AC3E}">
        <p14:creationId xmlns:p14="http://schemas.microsoft.com/office/powerpoint/2010/main" val="57677015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Content Placeholder 2"/>
          <p:cNvSpPr>
            <a:spLocks noGrp="1"/>
          </p:cNvSpPr>
          <p:nvPr>
            <p:ph idx="4294967295"/>
          </p:nvPr>
        </p:nvSpPr>
        <p:spPr>
          <a:xfrm>
            <a:off x="714348" y="928670"/>
            <a:ext cx="7642226" cy="5429288"/>
          </a:xfrm>
        </p:spPr>
        <p:txBody>
          <a:bodyPr>
            <a:noAutofit/>
          </a:bodyPr>
          <a:lstStyle/>
          <a:p>
            <a:pPr marL="692150" indent="-609600" eaLnBrk="1" hangingPunct="1">
              <a:buClr>
                <a:srgbClr val="003300"/>
              </a:buClr>
              <a:buFont typeface="Wingdings" pitchFamily="2" charset="2"/>
              <a:buChar char="Ø"/>
            </a:pPr>
            <a:r>
              <a:rPr lang="en-US" sz="3600" dirty="0" smtClean="0"/>
              <a:t>Disadvantages</a:t>
            </a:r>
          </a:p>
          <a:p>
            <a:pPr marL="1371600" lvl="2" indent="-457200" eaLnBrk="1" hangingPunct="1">
              <a:buClr>
                <a:schemeClr val="hlink"/>
              </a:buClr>
              <a:buFont typeface="Wingdings" pitchFamily="2" charset="2"/>
              <a:buChar char="§"/>
            </a:pPr>
            <a:r>
              <a:rPr lang="en-US" sz="2400" dirty="0" smtClean="0"/>
              <a:t>requires a large volume to operate in</a:t>
            </a:r>
          </a:p>
          <a:p>
            <a:pPr marL="1371600" lvl="2" indent="-457200" eaLnBrk="1" hangingPunct="1">
              <a:buClr>
                <a:schemeClr val="hlink"/>
              </a:buClr>
              <a:buFont typeface="Wingdings" pitchFamily="2" charset="2"/>
              <a:buChar char="§"/>
            </a:pPr>
            <a:r>
              <a:rPr lang="en-US" sz="2400" dirty="0" smtClean="0"/>
              <a:t>work space is smaller than robot volume</a:t>
            </a:r>
          </a:p>
          <a:p>
            <a:pPr marL="1371600" lvl="2" indent="-457200" eaLnBrk="1" hangingPunct="1">
              <a:buClr>
                <a:schemeClr val="hlink"/>
              </a:buClr>
              <a:buFont typeface="Wingdings" pitchFamily="2" charset="2"/>
              <a:buChar char="§"/>
            </a:pPr>
            <a:r>
              <a:rPr lang="en-US" sz="2400" dirty="0" smtClean="0"/>
              <a:t>unable to reach areas under objects</a:t>
            </a:r>
          </a:p>
          <a:p>
            <a:pPr marL="1371600" lvl="2" indent="-457200" eaLnBrk="1" hangingPunct="1">
              <a:buClr>
                <a:schemeClr val="hlink"/>
              </a:buClr>
              <a:buFont typeface="Wingdings" pitchFamily="2" charset="2"/>
              <a:buChar char="§"/>
            </a:pPr>
            <a:r>
              <a:rPr lang="en-US" sz="2400" dirty="0" smtClean="0"/>
              <a:t>must be covered from dust</a:t>
            </a:r>
          </a:p>
          <a:p>
            <a:pPr marL="1371600" lvl="2" indent="-457200" eaLnBrk="1" hangingPunct="1">
              <a:buClr>
                <a:srgbClr val="003300"/>
              </a:buClr>
              <a:buFont typeface="Wingdings" pitchFamily="2" charset="2"/>
              <a:buNone/>
            </a:pPr>
            <a:endParaRPr lang="en-US" sz="2800" dirty="0" smtClean="0"/>
          </a:p>
          <a:p>
            <a:pPr marL="692150" indent="-609600" eaLnBrk="1" hangingPunct="1">
              <a:buClr>
                <a:srgbClr val="003300"/>
              </a:buClr>
              <a:buFont typeface="Wingdings" pitchFamily="2" charset="2"/>
              <a:buChar char="Ø"/>
            </a:pPr>
            <a:r>
              <a:rPr lang="en-US" sz="3600" dirty="0" smtClean="0"/>
              <a:t>Applications</a:t>
            </a:r>
          </a:p>
          <a:p>
            <a:pPr marL="1371600" lvl="2" indent="-457200" eaLnBrk="1" hangingPunct="1">
              <a:buClr>
                <a:schemeClr val="hlink"/>
              </a:buClr>
              <a:buFont typeface="Wingdings" pitchFamily="2" charset="2"/>
              <a:buChar char="§"/>
            </a:pPr>
            <a:r>
              <a:rPr lang="en-US" sz="2400" dirty="0" smtClean="0"/>
              <a:t>Assembly</a:t>
            </a:r>
          </a:p>
          <a:p>
            <a:pPr marL="1371600" lvl="2" indent="-457200" eaLnBrk="1" hangingPunct="1">
              <a:buClr>
                <a:schemeClr val="hlink"/>
              </a:buClr>
              <a:buFont typeface="Wingdings" pitchFamily="2" charset="2"/>
              <a:buChar char="§"/>
            </a:pPr>
            <a:r>
              <a:rPr lang="en-US" sz="2400" dirty="0" smtClean="0"/>
              <a:t>Palletizing and loading-unloading machine tools, </a:t>
            </a:r>
          </a:p>
          <a:p>
            <a:pPr marL="1371600" lvl="2" indent="-457200" eaLnBrk="1" hangingPunct="1">
              <a:buClr>
                <a:schemeClr val="hlink"/>
              </a:buClr>
              <a:buFont typeface="Wingdings" pitchFamily="2" charset="2"/>
              <a:buChar char="§"/>
            </a:pPr>
            <a:r>
              <a:rPr lang="en-US" sz="2400" dirty="0" smtClean="0"/>
              <a:t>Handling</a:t>
            </a:r>
          </a:p>
          <a:p>
            <a:pPr marL="1371600" lvl="2" indent="-457200" eaLnBrk="1" hangingPunct="1">
              <a:buClr>
                <a:schemeClr val="hlink"/>
              </a:buClr>
              <a:buFont typeface="Wingdings" pitchFamily="2" charset="2"/>
              <a:buChar char="§"/>
            </a:pPr>
            <a:r>
              <a:rPr lang="en-US" sz="2400" dirty="0" smtClean="0"/>
              <a:t>Welding</a:t>
            </a:r>
          </a:p>
        </p:txBody>
      </p:sp>
    </p:spTree>
    <p:extLst>
      <p:ext uri="{BB962C8B-B14F-4D97-AF65-F5344CB8AC3E}">
        <p14:creationId xmlns:p14="http://schemas.microsoft.com/office/powerpoint/2010/main" val="268047686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noFill/>
          <a:ln/>
        </p:spPr>
        <p:txBody>
          <a:bodyPr lIns="92075" tIns="46038" rIns="92075" bIns="46038">
            <a:normAutofit fontScale="90000"/>
          </a:bodyPr>
          <a:lstStyle/>
          <a:p>
            <a:r>
              <a:rPr lang="en-US">
                <a:solidFill>
                  <a:srgbClr val="0070C0"/>
                </a:solidFill>
              </a:rPr>
              <a:t>Cartesian Robot - Work Envelope</a:t>
            </a:r>
          </a:p>
        </p:txBody>
      </p:sp>
      <p:pic>
        <p:nvPicPr>
          <p:cNvPr id="24579" name="Picture 3"/>
          <p:cNvPicPr>
            <a:picLocks noChangeArrowheads="1"/>
          </p:cNvPicPr>
          <p:nvPr/>
        </p:nvPicPr>
        <p:blipFill>
          <a:blip r:embed="rId3"/>
          <a:srcRect/>
          <a:stretch>
            <a:fillRect/>
          </a:stretch>
        </p:blipFill>
        <p:spPr bwMode="auto">
          <a:xfrm>
            <a:off x="457200" y="1524000"/>
            <a:ext cx="8305800" cy="4141787"/>
          </a:xfrm>
          <a:prstGeom prst="rect">
            <a:avLst/>
          </a:prstGeom>
          <a:noFill/>
          <a:ln w="9525">
            <a:noFill/>
            <a:miter lim="800000"/>
            <a:headEnd/>
            <a:tailEnd/>
          </a:ln>
          <a:effectLst/>
        </p:spPr>
      </p:pic>
    </p:spTree>
    <p:extLst>
      <p:ext uri="{BB962C8B-B14F-4D97-AF65-F5344CB8AC3E}">
        <p14:creationId xmlns:p14="http://schemas.microsoft.com/office/powerpoint/2010/main" val="388596379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5870" y="304800"/>
            <a:ext cx="6700930" cy="1066800"/>
          </a:xfrm>
        </p:spPr>
        <p:txBody>
          <a:bodyPr>
            <a:normAutofit fontScale="90000"/>
          </a:bodyPr>
          <a:lstStyle/>
          <a:p>
            <a:r>
              <a:rPr lang="en-US" dirty="0" smtClean="0">
                <a:solidFill>
                  <a:srgbClr val="0070C0"/>
                </a:solidFill>
              </a:rPr>
              <a:t>Can you draw </a:t>
            </a:r>
            <a:r>
              <a:rPr lang="en-IN" dirty="0">
                <a:solidFill>
                  <a:srgbClr val="0070C0"/>
                </a:solidFill>
              </a:rPr>
              <a:t>Orthogonal-coordinate </a:t>
            </a:r>
            <a:r>
              <a:rPr lang="en-IN" dirty="0" smtClean="0">
                <a:solidFill>
                  <a:srgbClr val="0070C0"/>
                </a:solidFill>
              </a:rPr>
              <a:t>type robot?</a:t>
            </a:r>
            <a:r>
              <a:rPr lang="en-US" dirty="0" smtClean="0">
                <a:solidFill>
                  <a:srgbClr val="0070C0"/>
                </a:solidFill>
              </a:rPr>
              <a:t> </a:t>
            </a:r>
            <a:br>
              <a:rPr lang="en-US" dirty="0" smtClean="0">
                <a:solidFill>
                  <a:srgbClr val="0070C0"/>
                </a:solidFill>
              </a:rPr>
            </a:br>
            <a:r>
              <a:rPr lang="en-US" sz="3100" dirty="0" smtClean="0">
                <a:solidFill>
                  <a:srgbClr val="0070C0"/>
                </a:solidFill>
              </a:rPr>
              <a:t>(Symbolic representation)</a:t>
            </a:r>
            <a:endParaRPr lang="en-IN" dirty="0">
              <a:solidFill>
                <a:srgbClr val="0070C0"/>
              </a:solidFill>
            </a:endParaRPr>
          </a:p>
        </p:txBody>
      </p:sp>
      <p:sp>
        <p:nvSpPr>
          <p:cNvPr id="3" name="Date Placeholder 2"/>
          <p:cNvSpPr>
            <a:spLocks noGrp="1"/>
          </p:cNvSpPr>
          <p:nvPr>
            <p:ph type="dt" sz="half" idx="10"/>
          </p:nvPr>
        </p:nvSpPr>
        <p:spPr/>
        <p:txBody>
          <a:bodyPr/>
          <a:lstStyle/>
          <a:p>
            <a:fld id="{D6621C39-6094-4F20-A1BB-021D8CE65F06}" type="datetime1">
              <a:rPr lang="en-US" smtClean="0"/>
              <a:t>10/29/2020</a:t>
            </a:fld>
            <a:endParaRPr lang="en-IN"/>
          </a:p>
        </p:txBody>
      </p:sp>
      <p:sp>
        <p:nvSpPr>
          <p:cNvPr id="4" name="Slide Number Placeholder 3"/>
          <p:cNvSpPr>
            <a:spLocks noGrp="1"/>
          </p:cNvSpPr>
          <p:nvPr>
            <p:ph type="sldNum" sz="quarter" idx="11"/>
          </p:nvPr>
        </p:nvSpPr>
        <p:spPr/>
        <p:txBody>
          <a:bodyPr/>
          <a:lstStyle/>
          <a:p>
            <a:fld id="{41F94EDD-D845-48AB-B01E-E1FCDA2D3009}" type="slidenum">
              <a:rPr lang="en-IN" smtClean="0"/>
              <a:pPr/>
              <a:t>44</a:t>
            </a:fld>
            <a:endParaRPr lang="en-IN"/>
          </a:p>
        </p:txBody>
      </p:sp>
      <p:sp>
        <p:nvSpPr>
          <p:cNvPr id="5" name="Footer Placeholder 4"/>
          <p:cNvSpPr>
            <a:spLocks noGrp="1"/>
          </p:cNvSpPr>
          <p:nvPr>
            <p:ph type="ftr" sz="quarter" idx="12"/>
          </p:nvPr>
        </p:nvSpPr>
        <p:spPr/>
        <p:txBody>
          <a:bodyPr/>
          <a:lstStyle/>
          <a:p>
            <a:endParaRPr lang="en-IN"/>
          </a:p>
        </p:txBody>
      </p:sp>
      <p:pic>
        <p:nvPicPr>
          <p:cNvPr id="6" name="Picture 4" descr="cartesian"/>
          <p:cNvPicPr>
            <a:picLocks noChangeAspect="1" noChangeArrowheads="1"/>
          </p:cNvPicPr>
          <p:nvPr/>
        </p:nvPicPr>
        <p:blipFill>
          <a:blip r:embed="rId2"/>
          <a:srcRect l="9599" t="12801" r="10080" b="16426"/>
          <a:stretch>
            <a:fillRect/>
          </a:stretch>
        </p:blipFill>
        <p:spPr bwMode="auto">
          <a:xfrm>
            <a:off x="533400" y="2514600"/>
            <a:ext cx="4038600" cy="2286000"/>
          </a:xfrm>
          <a:prstGeom prst="rect">
            <a:avLst/>
          </a:prstGeom>
          <a:solidFill>
            <a:schemeClr val="accent1">
              <a:alpha val="0"/>
            </a:schemeClr>
          </a:solidFill>
          <a:ln w="9525">
            <a:noFill/>
            <a:miter lim="800000"/>
            <a:headEnd/>
            <a:tailEnd/>
          </a:ln>
        </p:spPr>
      </p:pic>
      <p:pic>
        <p:nvPicPr>
          <p:cNvPr id="7" name="Picture 6"/>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5029200" y="2057400"/>
            <a:ext cx="3257550" cy="2895600"/>
          </a:xfrm>
          <a:prstGeom prst="rect">
            <a:avLst/>
          </a:prstGeom>
        </p:spPr>
      </p:pic>
    </p:spTree>
    <p:extLst>
      <p:ext uri="{BB962C8B-B14F-4D97-AF65-F5344CB8AC3E}">
        <p14:creationId xmlns:p14="http://schemas.microsoft.com/office/powerpoint/2010/main" val="1088545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985870" y="228600"/>
            <a:ext cx="6700930" cy="1066800"/>
          </a:xfrm>
        </p:spPr>
        <p:txBody>
          <a:bodyPr anchor="b">
            <a:normAutofit/>
          </a:bodyPr>
          <a:lstStyle/>
          <a:p>
            <a:pPr eaLnBrk="1" hangingPunct="1"/>
            <a:r>
              <a:rPr lang="en-US" sz="4800" dirty="0" smtClean="0">
                <a:solidFill>
                  <a:srgbClr val="00B0F0"/>
                </a:solidFill>
              </a:rPr>
              <a:t>Cylindrical coordinate</a:t>
            </a:r>
          </a:p>
        </p:txBody>
      </p:sp>
      <p:sp>
        <p:nvSpPr>
          <p:cNvPr id="41988" name="Text Box 4"/>
          <p:cNvSpPr txBox="1">
            <a:spLocks noChangeArrowheads="1"/>
          </p:cNvSpPr>
          <p:nvPr/>
        </p:nvSpPr>
        <p:spPr bwMode="auto">
          <a:xfrm>
            <a:off x="457200" y="1676400"/>
            <a:ext cx="4614866" cy="4893647"/>
          </a:xfrm>
          <a:prstGeom prst="rect">
            <a:avLst/>
          </a:prstGeom>
          <a:noFill/>
          <a:ln w="9525">
            <a:noFill/>
            <a:miter lim="800000"/>
            <a:headEnd/>
            <a:tailEnd/>
          </a:ln>
        </p:spPr>
        <p:txBody>
          <a:bodyPr wrap="square">
            <a:spAutoFit/>
          </a:bodyPr>
          <a:lstStyle/>
          <a:p>
            <a:pPr algn="just"/>
            <a:r>
              <a:rPr lang="en-IN" sz="2400" dirty="0" smtClean="0"/>
              <a:t>Consists of a vertical column, relative to which an arm assembly is moved up or down. The arm can be moved in and out relative to the axis of the column. Common configuration is to use a T joint to rotate the column about its axis. An L joint is used to move the arm assembly vertically along the column, while an O joint is used to achieve radial movement of the arm.</a:t>
            </a:r>
          </a:p>
        </p:txBody>
      </p:sp>
      <p:pic>
        <p:nvPicPr>
          <p:cNvPr id="7" name="Picture 1028" descr="C:\My Documents\Books\APSCIM-3e\Figures - Completed\8\8.4C.JPG"/>
          <p:cNvPicPr>
            <a:picLocks noChangeAspect="1" noChangeArrowheads="1"/>
          </p:cNvPicPr>
          <p:nvPr/>
        </p:nvPicPr>
        <p:blipFill>
          <a:blip r:embed="rId4"/>
          <a:srcRect/>
          <a:stretch>
            <a:fillRect/>
          </a:stretch>
        </p:blipFill>
        <p:spPr bwMode="auto">
          <a:xfrm>
            <a:off x="6143636" y="4316931"/>
            <a:ext cx="1828800" cy="2541069"/>
          </a:xfrm>
          <a:prstGeom prst="rect">
            <a:avLst/>
          </a:prstGeom>
          <a:noFill/>
          <a:ln w="9525">
            <a:noFill/>
            <a:miter lim="800000"/>
            <a:headEnd/>
            <a:tailEnd/>
          </a:ln>
        </p:spPr>
      </p:pic>
      <p:graphicFrame>
        <p:nvGraphicFramePr>
          <p:cNvPr id="2050" name="Object 11"/>
          <p:cNvGraphicFramePr>
            <a:graphicFrameLocks noChangeAspect="1"/>
          </p:cNvGraphicFramePr>
          <p:nvPr/>
        </p:nvGraphicFramePr>
        <p:xfrm>
          <a:off x="6215074" y="1357298"/>
          <a:ext cx="2214578" cy="2984866"/>
        </p:xfrm>
        <a:graphic>
          <a:graphicData uri="http://schemas.openxmlformats.org/presentationml/2006/ole">
            <mc:AlternateContent xmlns:mc="http://schemas.openxmlformats.org/markup-compatibility/2006">
              <mc:Choice xmlns:v="urn:schemas-microsoft-com:vml" Requires="v">
                <p:oleObj spid="_x0000_s2093" name="Bitmap Image" r:id="rId5" imgW="2409524" imgH="3247619" progId="PBrush">
                  <p:embed/>
                </p:oleObj>
              </mc:Choice>
              <mc:Fallback>
                <p:oleObj name="Bitmap Image" r:id="rId5" imgW="2409524" imgH="3247619" progId="PBrush">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15074" y="1357298"/>
                        <a:ext cx="2214578" cy="2984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79275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blinds(horizontal)">
                                      <p:cBhvr>
                                        <p:cTn id="7" dur="500"/>
                                        <p:tgtEl>
                                          <p:spTgt spid="4198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blinds(horizontal)">
                                      <p:cBhvr>
                                        <p:cTn id="12" dur="500"/>
                                        <p:tgtEl>
                                          <p:spTgt spid="2050"/>
                                        </p:tgtEl>
                                      </p:cBhvr>
                                    </p:animEffect>
                                  </p:childTnLst>
                                </p:cTn>
                              </p:par>
                              <p:par>
                                <p:cTn id="13" presetID="3" presetClass="entr" presetSubtype="1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descr="cylindrical2"/>
          <p:cNvPicPr>
            <a:picLocks noGrp="1" noChangeAspect="1" noChangeArrowheads="1"/>
          </p:cNvPicPr>
          <p:nvPr>
            <p:ph sz="half" idx="1"/>
          </p:nvPr>
        </p:nvPicPr>
        <p:blipFill>
          <a:blip r:embed="rId2"/>
          <a:srcRect t="8942" b="5215"/>
          <a:stretch>
            <a:fillRect/>
          </a:stretch>
        </p:blipFill>
        <p:spPr>
          <a:xfrm>
            <a:off x="5997084" y="4953000"/>
            <a:ext cx="2994516" cy="1894490"/>
          </a:xfrm>
        </p:spPr>
      </p:pic>
      <p:sp>
        <p:nvSpPr>
          <p:cNvPr id="6" name="Rectangle 5"/>
          <p:cNvSpPr/>
          <p:nvPr/>
        </p:nvSpPr>
        <p:spPr>
          <a:xfrm>
            <a:off x="381000" y="914400"/>
            <a:ext cx="7858180" cy="4154984"/>
          </a:xfrm>
          <a:prstGeom prst="rect">
            <a:avLst/>
          </a:prstGeom>
        </p:spPr>
        <p:txBody>
          <a:bodyPr wrap="square">
            <a:spAutoFit/>
          </a:bodyPr>
          <a:lstStyle/>
          <a:p>
            <a:pPr marL="692150" indent="-609600">
              <a:buClr>
                <a:srgbClr val="003300"/>
              </a:buClr>
              <a:buFont typeface="Wingdings" pitchFamily="2" charset="2"/>
              <a:buChar char="Ø"/>
            </a:pPr>
            <a:r>
              <a:rPr lang="en-US" sz="2200" dirty="0" smtClean="0"/>
              <a:t>Advantages</a:t>
            </a:r>
          </a:p>
          <a:p>
            <a:pPr marL="1371600" lvl="2" indent="-457200">
              <a:buClr>
                <a:schemeClr val="hlink"/>
              </a:buClr>
              <a:buFont typeface="Wingdings" pitchFamily="2" charset="2"/>
              <a:buChar char="§"/>
            </a:pPr>
            <a:r>
              <a:rPr lang="en-US" sz="2200" dirty="0" smtClean="0"/>
              <a:t>Simple kinematic model</a:t>
            </a:r>
          </a:p>
          <a:p>
            <a:pPr marL="1371600" lvl="2" indent="-457200">
              <a:buClr>
                <a:schemeClr val="hlink"/>
              </a:buClr>
              <a:buFont typeface="Wingdings" pitchFamily="2" charset="2"/>
              <a:buChar char="§"/>
            </a:pPr>
            <a:r>
              <a:rPr lang="en-US" sz="2200" dirty="0" smtClean="0"/>
              <a:t>Rigid structure &amp; high lift-carrying capacity</a:t>
            </a:r>
          </a:p>
          <a:p>
            <a:pPr marL="1371600" lvl="2" indent="-457200">
              <a:buClr>
                <a:schemeClr val="hlink"/>
              </a:buClr>
              <a:buFont typeface="Wingdings" pitchFamily="2" charset="2"/>
              <a:buChar char="§"/>
            </a:pPr>
            <a:r>
              <a:rPr lang="en-US" sz="2200" dirty="0" smtClean="0"/>
              <a:t>Easily visualize</a:t>
            </a:r>
          </a:p>
          <a:p>
            <a:pPr marL="1371600" lvl="2" indent="-457200">
              <a:buClr>
                <a:schemeClr val="hlink"/>
              </a:buClr>
              <a:buFont typeface="Wingdings" pitchFamily="2" charset="2"/>
              <a:buChar char="§"/>
            </a:pPr>
            <a:r>
              <a:rPr lang="en-US" sz="2200" dirty="0" smtClean="0"/>
              <a:t>Very powerful when hydraulic drives used</a:t>
            </a:r>
          </a:p>
          <a:p>
            <a:pPr marL="692150" indent="-609600">
              <a:buClr>
                <a:srgbClr val="003300"/>
              </a:buClr>
              <a:buFont typeface="Wingdings" pitchFamily="2" charset="2"/>
              <a:buChar char="Ø"/>
            </a:pPr>
            <a:r>
              <a:rPr lang="en-US" sz="2200" dirty="0" smtClean="0"/>
              <a:t>Disadvantages</a:t>
            </a:r>
          </a:p>
          <a:p>
            <a:pPr marL="1371600" lvl="2" indent="-457200">
              <a:buClr>
                <a:schemeClr val="hlink"/>
              </a:buClr>
              <a:buFont typeface="Wingdings" pitchFamily="2" charset="2"/>
              <a:buChar char="§"/>
            </a:pPr>
            <a:r>
              <a:rPr lang="en-US" sz="2200" dirty="0" smtClean="0"/>
              <a:t>Restricted work space</a:t>
            </a:r>
          </a:p>
          <a:p>
            <a:pPr marL="1371600" lvl="2" indent="-457200">
              <a:buClr>
                <a:schemeClr val="hlink"/>
              </a:buClr>
              <a:buFont typeface="Wingdings" pitchFamily="2" charset="2"/>
              <a:buChar char="§"/>
            </a:pPr>
            <a:r>
              <a:rPr lang="en-US" sz="2200" dirty="0" smtClean="0"/>
              <a:t>Lower repeatability and accuracy </a:t>
            </a:r>
          </a:p>
          <a:p>
            <a:pPr marL="1371600" lvl="2" indent="-457200">
              <a:buClr>
                <a:schemeClr val="hlink"/>
              </a:buClr>
              <a:buFont typeface="Wingdings" pitchFamily="2" charset="2"/>
              <a:buChar char="§"/>
            </a:pPr>
            <a:r>
              <a:rPr lang="en-US" sz="2200" dirty="0" smtClean="0"/>
              <a:t>Require more sophisticated control</a:t>
            </a:r>
          </a:p>
          <a:p>
            <a:pPr marL="692150" indent="-609600">
              <a:buClr>
                <a:srgbClr val="003300"/>
              </a:buClr>
              <a:buFont typeface="Wingdings" pitchFamily="2" charset="2"/>
              <a:buChar char="Ø"/>
            </a:pPr>
            <a:r>
              <a:rPr lang="en-US" sz="2200" dirty="0" smtClean="0"/>
              <a:t>Applications</a:t>
            </a:r>
          </a:p>
          <a:p>
            <a:pPr marL="1371600" lvl="2" indent="-457200">
              <a:buClr>
                <a:schemeClr val="hlink"/>
              </a:buClr>
              <a:buFont typeface="Wingdings" pitchFamily="2" charset="2"/>
              <a:buChar char="§"/>
            </a:pPr>
            <a:r>
              <a:rPr lang="en-US" sz="2200" dirty="0" smtClean="0"/>
              <a:t>Palletizing, Loading and unloading</a:t>
            </a:r>
          </a:p>
          <a:p>
            <a:pPr marL="1371600" lvl="2" indent="-457200">
              <a:buClr>
                <a:schemeClr val="hlink"/>
              </a:buClr>
              <a:buFont typeface="Wingdings" pitchFamily="2" charset="2"/>
              <a:buChar char="§"/>
            </a:pPr>
            <a:r>
              <a:rPr lang="en-US" sz="2200" dirty="0" smtClean="0"/>
              <a:t>Material transfer, foundry and forging </a:t>
            </a:r>
            <a:endParaRPr lang="en-IN" sz="2200" dirty="0"/>
          </a:p>
        </p:txBody>
      </p:sp>
    </p:spTree>
    <p:extLst>
      <p:ext uri="{BB962C8B-B14F-4D97-AF65-F5344CB8AC3E}">
        <p14:creationId xmlns:p14="http://schemas.microsoft.com/office/powerpoint/2010/main" val="397154727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6"/>
          <p:cNvSpPr>
            <a:spLocks noGrp="1" noChangeArrowheads="1"/>
          </p:cNvSpPr>
          <p:nvPr>
            <p:ph type="title"/>
          </p:nvPr>
        </p:nvSpPr>
        <p:spPr>
          <a:noFill/>
          <a:ln/>
        </p:spPr>
        <p:txBody>
          <a:bodyPr lIns="92075" tIns="46038" rIns="92075" bIns="46038">
            <a:normAutofit fontScale="90000"/>
          </a:bodyPr>
          <a:lstStyle/>
          <a:p>
            <a:r>
              <a:rPr lang="en-US" dirty="0">
                <a:solidFill>
                  <a:srgbClr val="0070C0"/>
                </a:solidFill>
              </a:rPr>
              <a:t>Cylindrical Robot - Work Envelope</a:t>
            </a:r>
          </a:p>
        </p:txBody>
      </p:sp>
      <p:pic>
        <p:nvPicPr>
          <p:cNvPr id="26627" name="Picture 1027"/>
          <p:cNvPicPr>
            <a:picLocks noChangeArrowheads="1"/>
          </p:cNvPicPr>
          <p:nvPr/>
        </p:nvPicPr>
        <p:blipFill>
          <a:blip r:embed="rId3"/>
          <a:srcRect/>
          <a:stretch>
            <a:fillRect/>
          </a:stretch>
        </p:blipFill>
        <p:spPr bwMode="auto">
          <a:xfrm>
            <a:off x="618249" y="1600200"/>
            <a:ext cx="8499475" cy="3967163"/>
          </a:xfrm>
          <a:prstGeom prst="rect">
            <a:avLst/>
          </a:prstGeom>
          <a:noFill/>
          <a:ln w="9525">
            <a:noFill/>
            <a:miter lim="800000"/>
            <a:headEnd/>
            <a:tailEnd/>
          </a:ln>
          <a:effectLst/>
        </p:spPr>
      </p:pic>
    </p:spTree>
    <p:extLst>
      <p:ext uri="{BB962C8B-B14F-4D97-AF65-F5344CB8AC3E}">
        <p14:creationId xmlns:p14="http://schemas.microsoft.com/office/powerpoint/2010/main" val="1240383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blinds(horizontal)">
                                      <p:cBhvr>
                                        <p:cTn id="7" dur="500"/>
                                        <p:tgtEl>
                                          <p:spTgt spid="2662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627"/>
                                        </p:tgtEl>
                                        <p:attrNameLst>
                                          <p:attrName>style.visibility</p:attrName>
                                        </p:attrNameLst>
                                      </p:cBhvr>
                                      <p:to>
                                        <p:strVal val="visible"/>
                                      </p:to>
                                    </p:set>
                                    <p:animEffect transition="in" filter="blinds(horizontal)">
                                      <p:cBhvr>
                                        <p:cTn id="12" dur="500"/>
                                        <p:tgtEl>
                                          <p:spTgt spid="2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3242" y="457200"/>
            <a:ext cx="6700930" cy="1066800"/>
          </a:xfrm>
        </p:spPr>
        <p:txBody>
          <a:bodyPr>
            <a:normAutofit fontScale="90000"/>
          </a:bodyPr>
          <a:lstStyle/>
          <a:p>
            <a:r>
              <a:rPr lang="en-US" dirty="0">
                <a:solidFill>
                  <a:srgbClr val="0070C0"/>
                </a:solidFill>
              </a:rPr>
              <a:t>Can you draw </a:t>
            </a:r>
            <a:r>
              <a:rPr lang="en-IN" dirty="0" smtClean="0">
                <a:solidFill>
                  <a:srgbClr val="0070C0"/>
                </a:solidFill>
              </a:rPr>
              <a:t>Cylindrical-coordinate </a:t>
            </a:r>
            <a:r>
              <a:rPr lang="en-IN" dirty="0">
                <a:solidFill>
                  <a:srgbClr val="0070C0"/>
                </a:solidFill>
              </a:rPr>
              <a:t>type robot?</a:t>
            </a:r>
            <a:r>
              <a:rPr lang="en-US" dirty="0">
                <a:solidFill>
                  <a:srgbClr val="0070C0"/>
                </a:solidFill>
              </a:rPr>
              <a:t> </a:t>
            </a:r>
            <a:br>
              <a:rPr lang="en-US" dirty="0">
                <a:solidFill>
                  <a:srgbClr val="0070C0"/>
                </a:solidFill>
              </a:rPr>
            </a:br>
            <a:r>
              <a:rPr lang="en-US" sz="3100" dirty="0">
                <a:solidFill>
                  <a:srgbClr val="0070C0"/>
                </a:solidFill>
              </a:rPr>
              <a:t>(Symbolic representation)</a:t>
            </a:r>
            <a:endParaRPr lang="en-IN" dirty="0"/>
          </a:p>
        </p:txBody>
      </p:sp>
      <p:sp>
        <p:nvSpPr>
          <p:cNvPr id="3" name="Date Placeholder 2"/>
          <p:cNvSpPr>
            <a:spLocks noGrp="1"/>
          </p:cNvSpPr>
          <p:nvPr>
            <p:ph type="dt" sz="half" idx="10"/>
          </p:nvPr>
        </p:nvSpPr>
        <p:spPr/>
        <p:txBody>
          <a:bodyPr/>
          <a:lstStyle/>
          <a:p>
            <a:fld id="{E6AACC29-C4D3-4E1D-8ACE-9E62F00F0EFE}" type="datetime1">
              <a:rPr lang="en-US" smtClean="0"/>
              <a:t>10/29/2020</a:t>
            </a:fld>
            <a:endParaRPr lang="en-IN"/>
          </a:p>
        </p:txBody>
      </p:sp>
      <p:sp>
        <p:nvSpPr>
          <p:cNvPr id="4" name="Slide Number Placeholder 3"/>
          <p:cNvSpPr>
            <a:spLocks noGrp="1"/>
          </p:cNvSpPr>
          <p:nvPr>
            <p:ph type="sldNum" sz="quarter" idx="11"/>
          </p:nvPr>
        </p:nvSpPr>
        <p:spPr/>
        <p:txBody>
          <a:bodyPr/>
          <a:lstStyle/>
          <a:p>
            <a:fld id="{41F94EDD-D845-48AB-B01E-E1FCDA2D3009}" type="slidenum">
              <a:rPr lang="en-IN" smtClean="0"/>
              <a:pPr/>
              <a:t>48</a:t>
            </a:fld>
            <a:endParaRPr lang="en-IN"/>
          </a:p>
        </p:txBody>
      </p:sp>
      <p:sp>
        <p:nvSpPr>
          <p:cNvPr id="5" name="Footer Placeholder 4"/>
          <p:cNvSpPr>
            <a:spLocks noGrp="1"/>
          </p:cNvSpPr>
          <p:nvPr>
            <p:ph type="ftr" sz="quarter" idx="12"/>
          </p:nvPr>
        </p:nvSpPr>
        <p:spPr/>
        <p:txBody>
          <a:bodyPr/>
          <a:lstStyle/>
          <a:p>
            <a:endParaRPr lang="en-IN"/>
          </a:p>
        </p:txBody>
      </p:sp>
      <p:pic>
        <p:nvPicPr>
          <p:cNvPr id="6" name="Picture 1028" descr="C:\My Documents\Books\APSCIM-3e\Figures - Completed\8\8.4C.JPG"/>
          <p:cNvPicPr>
            <a:picLocks noChangeAspect="1" noChangeArrowheads="1"/>
          </p:cNvPicPr>
          <p:nvPr/>
        </p:nvPicPr>
        <p:blipFill>
          <a:blip r:embed="rId2"/>
          <a:srcRect/>
          <a:stretch>
            <a:fillRect/>
          </a:stretch>
        </p:blipFill>
        <p:spPr bwMode="auto">
          <a:xfrm>
            <a:off x="638304" y="2209800"/>
            <a:ext cx="2522682" cy="3505200"/>
          </a:xfrm>
          <a:prstGeom prst="rect">
            <a:avLst/>
          </a:prstGeom>
          <a:noFill/>
          <a:ln w="9525">
            <a:noFill/>
            <a:miter lim="800000"/>
            <a:headEnd/>
            <a:tailEnd/>
          </a:ln>
        </p:spPr>
      </p:pic>
      <p:pic>
        <p:nvPicPr>
          <p:cNvPr id="8" name="Picture 7"/>
          <p:cNvPicPr>
            <a:picLocks noChangeAspect="1"/>
          </p:cNvPicPr>
          <p:nvPr/>
        </p:nvPicPr>
        <p:blipFill>
          <a:blip r:embed="rId3"/>
          <a:stretch>
            <a:fillRect/>
          </a:stretch>
        </p:blipFill>
        <p:spPr>
          <a:xfrm>
            <a:off x="4300244" y="2105682"/>
            <a:ext cx="2066925" cy="3590925"/>
          </a:xfrm>
          <a:prstGeom prst="rect">
            <a:avLst/>
          </a:prstGeom>
        </p:spPr>
      </p:pic>
    </p:spTree>
    <p:extLst>
      <p:ext uri="{BB962C8B-B14F-4D97-AF65-F5344CB8AC3E}">
        <p14:creationId xmlns:p14="http://schemas.microsoft.com/office/powerpoint/2010/main" val="273498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1676400" y="228600"/>
            <a:ext cx="7162800" cy="1066800"/>
          </a:xfrm>
        </p:spPr>
        <p:txBody>
          <a:bodyPr>
            <a:normAutofit fontScale="90000"/>
          </a:bodyPr>
          <a:lstStyle/>
          <a:p>
            <a:pPr eaLnBrk="1" hangingPunct="1"/>
            <a:r>
              <a:rPr lang="en-US" dirty="0" smtClean="0">
                <a:hlinkClick r:id="rId3" action="ppaction://hlinkfile"/>
              </a:rPr>
              <a:t>Polar Coordinate </a:t>
            </a:r>
            <a:br>
              <a:rPr lang="en-US" dirty="0" smtClean="0">
                <a:hlinkClick r:id="rId3" action="ppaction://hlinkfile"/>
              </a:rPr>
            </a:br>
            <a:r>
              <a:rPr lang="en-US" dirty="0" smtClean="0">
                <a:hlinkClick r:id="rId3" action="ppaction://hlinkfile"/>
              </a:rPr>
              <a:t>Body-and-Arm Assembly</a:t>
            </a:r>
            <a:endParaRPr lang="en-US" dirty="0" smtClean="0"/>
          </a:p>
        </p:txBody>
      </p:sp>
      <p:sp>
        <p:nvSpPr>
          <p:cNvPr id="22532" name="Rectangle 3"/>
          <p:cNvSpPr>
            <a:spLocks noGrp="1" noChangeArrowheads="1"/>
          </p:cNvSpPr>
          <p:nvPr>
            <p:ph type="body" idx="1"/>
          </p:nvPr>
        </p:nvSpPr>
        <p:spPr>
          <a:xfrm>
            <a:off x="285720" y="1428736"/>
            <a:ext cx="5781692" cy="5000660"/>
          </a:xfrm>
        </p:spPr>
        <p:txBody>
          <a:bodyPr>
            <a:normAutofit fontScale="92500" lnSpcReduction="10000"/>
          </a:bodyPr>
          <a:lstStyle/>
          <a:p>
            <a:pPr algn="just" eaLnBrk="1" hangingPunct="1">
              <a:lnSpc>
                <a:spcPct val="90000"/>
              </a:lnSpc>
              <a:buFont typeface="Wingdings" pitchFamily="2" charset="2"/>
              <a:buNone/>
            </a:pPr>
            <a:endParaRPr lang="en-US" dirty="0" smtClean="0"/>
          </a:p>
          <a:p>
            <a:pPr algn="just" eaLnBrk="1" hangingPunct="1">
              <a:lnSpc>
                <a:spcPct val="90000"/>
              </a:lnSpc>
            </a:pPr>
            <a:r>
              <a:rPr lang="en-US" dirty="0" smtClean="0"/>
              <a:t>Notation TRL:</a:t>
            </a:r>
          </a:p>
          <a:p>
            <a:pPr algn="just" eaLnBrk="1" hangingPunct="1">
              <a:lnSpc>
                <a:spcPct val="90000"/>
              </a:lnSpc>
            </a:pPr>
            <a:r>
              <a:rPr lang="en-US" dirty="0" smtClean="0"/>
              <a:t>Consists of a sliding arm (L joint) actuated relative to the body, which can rotate about both a vertical axis (T joint) and horizontal axis (R joint)</a:t>
            </a:r>
          </a:p>
          <a:p>
            <a:pPr algn="just">
              <a:lnSpc>
                <a:spcPct val="90000"/>
              </a:lnSpc>
            </a:pPr>
            <a:r>
              <a:rPr lang="en-US" dirty="0" smtClean="0"/>
              <a:t>Polar robots have a work space of </a:t>
            </a:r>
            <a:r>
              <a:rPr lang="en-US" b="1" dirty="0" smtClean="0"/>
              <a:t>spherical shape</a:t>
            </a:r>
            <a:r>
              <a:rPr lang="en-US" dirty="0" smtClean="0"/>
              <a:t>. Generally, the arm is connected to the base with a twisting (T) joint and </a:t>
            </a:r>
            <a:r>
              <a:rPr lang="en-US" dirty="0" err="1" smtClean="0"/>
              <a:t>rotatory</a:t>
            </a:r>
            <a:r>
              <a:rPr lang="en-US" dirty="0" smtClean="0"/>
              <a:t> (R) and linear (L) joints follow. </a:t>
            </a:r>
            <a:endParaRPr lang="tr-TR" dirty="0" smtClean="0"/>
          </a:p>
          <a:p>
            <a:pPr algn="just" eaLnBrk="1" hangingPunct="1">
              <a:lnSpc>
                <a:spcPct val="90000"/>
              </a:lnSpc>
            </a:pPr>
            <a:endParaRPr lang="en-US" dirty="0" smtClean="0"/>
          </a:p>
          <a:p>
            <a:pPr algn="just" eaLnBrk="1" hangingPunct="1">
              <a:lnSpc>
                <a:spcPct val="90000"/>
              </a:lnSpc>
            </a:pPr>
            <a:endParaRPr lang="en-US" dirty="0" smtClean="0"/>
          </a:p>
        </p:txBody>
      </p:sp>
      <p:pic>
        <p:nvPicPr>
          <p:cNvPr id="6" name="Picture 4" descr="C:\My Documents\Books\APSCIM-3e\Figures - Completed\8\8.3C.JPG"/>
          <p:cNvPicPr>
            <a:picLocks noChangeAspect="1" noChangeArrowheads="1"/>
          </p:cNvPicPr>
          <p:nvPr/>
        </p:nvPicPr>
        <p:blipFill>
          <a:blip r:embed="rId4"/>
          <a:srcRect/>
          <a:stretch>
            <a:fillRect/>
          </a:stretch>
        </p:blipFill>
        <p:spPr bwMode="auto">
          <a:xfrm>
            <a:off x="6357950" y="4839419"/>
            <a:ext cx="2362200" cy="2018581"/>
          </a:xfrm>
          <a:prstGeom prst="rect">
            <a:avLst/>
          </a:prstGeom>
          <a:noFill/>
          <a:ln w="9525">
            <a:noFill/>
            <a:miter lim="800000"/>
            <a:headEnd/>
            <a:tailEnd/>
          </a:ln>
        </p:spPr>
      </p:pic>
      <p:graphicFrame>
        <p:nvGraphicFramePr>
          <p:cNvPr id="3074" name="Object 10"/>
          <p:cNvGraphicFramePr>
            <a:graphicFrameLocks noChangeAspect="1"/>
          </p:cNvGraphicFramePr>
          <p:nvPr/>
        </p:nvGraphicFramePr>
        <p:xfrm>
          <a:off x="6286512" y="1643050"/>
          <a:ext cx="2295525" cy="2895600"/>
        </p:xfrm>
        <a:graphic>
          <a:graphicData uri="http://schemas.openxmlformats.org/presentationml/2006/ole">
            <mc:AlternateContent xmlns:mc="http://schemas.openxmlformats.org/markup-compatibility/2006">
              <mc:Choice xmlns:v="urn:schemas-microsoft-com:vml" Requires="v">
                <p:oleObj spid="_x0000_s3117" name="Bitmap Image" r:id="rId5" imgW="2295238" imgH="2895238" progId="PBrush">
                  <p:embed/>
                </p:oleObj>
              </mc:Choice>
              <mc:Fallback>
                <p:oleObj name="Bitmap Image" r:id="rId5" imgW="2295238" imgH="2895238" progId="PBrush">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86512" y="1643050"/>
                        <a:ext cx="2295525"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992769927"/>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2">
                                            <p:txEl>
                                              <p:pRg st="1" end="1"/>
                                            </p:txEl>
                                          </p:spTgt>
                                        </p:tgtEl>
                                        <p:attrNameLst>
                                          <p:attrName>style.visibility</p:attrName>
                                        </p:attrNameLst>
                                      </p:cBhvr>
                                      <p:to>
                                        <p:strVal val="visible"/>
                                      </p:to>
                                    </p:set>
                                    <p:animEffect transition="in" filter="blinds(horizontal)">
                                      <p:cBhvr>
                                        <p:cTn id="7" dur="500"/>
                                        <p:tgtEl>
                                          <p:spTgt spid="22532">
                                            <p:txEl>
                                              <p:pRg st="1" end="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532">
                                            <p:txEl>
                                              <p:pRg st="2" end="2"/>
                                            </p:txEl>
                                          </p:spTgt>
                                        </p:tgtEl>
                                        <p:attrNameLst>
                                          <p:attrName>style.visibility</p:attrName>
                                        </p:attrNameLst>
                                      </p:cBhvr>
                                      <p:to>
                                        <p:strVal val="visible"/>
                                      </p:to>
                                    </p:set>
                                    <p:animEffect transition="in" filter="blinds(horizontal)">
                                      <p:cBhvr>
                                        <p:cTn id="10" dur="500"/>
                                        <p:tgtEl>
                                          <p:spTgt spid="22532">
                                            <p:txEl>
                                              <p:pRg st="2" end="2"/>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2532">
                                            <p:txEl>
                                              <p:pRg st="3" end="3"/>
                                            </p:txEl>
                                          </p:spTgt>
                                        </p:tgtEl>
                                        <p:attrNameLst>
                                          <p:attrName>style.visibility</p:attrName>
                                        </p:attrNameLst>
                                      </p:cBhvr>
                                      <p:to>
                                        <p:strVal val="visible"/>
                                      </p:to>
                                    </p:set>
                                    <p:animEffect transition="in" filter="blinds(horizontal)">
                                      <p:cBhvr>
                                        <p:cTn id="13" dur="500"/>
                                        <p:tgtEl>
                                          <p:spTgt spid="22532">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074"/>
                                        </p:tgtEl>
                                        <p:attrNameLst>
                                          <p:attrName>style.visibility</p:attrName>
                                        </p:attrNameLst>
                                      </p:cBhvr>
                                      <p:to>
                                        <p:strVal val="visible"/>
                                      </p:to>
                                    </p:set>
                                    <p:animEffect transition="in" filter="blinds(horizontal)">
                                      <p:cBhvr>
                                        <p:cTn id="18" dur="500"/>
                                        <p:tgtEl>
                                          <p:spTgt spid="3074"/>
                                        </p:tgtEl>
                                      </p:cBhvr>
                                    </p:animEffect>
                                  </p:childTnLst>
                                </p:cTn>
                              </p:par>
                              <p:par>
                                <p:cTn id="19" presetID="3" presetClass="entr" presetSubtype="1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linds(horizontal)">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457200" y="274638"/>
            <a:ext cx="8229600" cy="639762"/>
          </a:xfrm>
        </p:spPr>
        <p:txBody>
          <a:bodyPr anchor="b">
            <a:normAutofit fontScale="90000"/>
          </a:bodyPr>
          <a:lstStyle/>
          <a:p>
            <a:pPr eaLnBrk="1" hangingPunct="1"/>
            <a:r>
              <a:rPr lang="en-US" sz="4800" dirty="0" smtClean="0">
                <a:solidFill>
                  <a:srgbClr val="0070C0"/>
                </a:solidFill>
              </a:rPr>
              <a:t>Spherical/Polar Robots</a:t>
            </a:r>
          </a:p>
        </p:txBody>
      </p:sp>
      <p:pic>
        <p:nvPicPr>
          <p:cNvPr id="48131" name="Picture 3" descr="sphericalpolar"/>
          <p:cNvPicPr>
            <a:picLocks noGrp="1" noChangeAspect="1" noChangeArrowheads="1"/>
          </p:cNvPicPr>
          <p:nvPr>
            <p:ph sz="half" idx="1"/>
          </p:nvPr>
        </p:nvPicPr>
        <p:blipFill>
          <a:blip r:embed="rId3"/>
          <a:srcRect l="13423" t="14317" r="11409" b="14095"/>
          <a:stretch>
            <a:fillRect/>
          </a:stretch>
        </p:blipFill>
        <p:spPr>
          <a:xfrm>
            <a:off x="4786314" y="1676400"/>
            <a:ext cx="3962400" cy="2133600"/>
          </a:xfrm>
        </p:spPr>
      </p:pic>
      <p:sp>
        <p:nvSpPr>
          <p:cNvPr id="48132" name="Text Box 4"/>
          <p:cNvSpPr txBox="1">
            <a:spLocks noChangeArrowheads="1"/>
          </p:cNvSpPr>
          <p:nvPr/>
        </p:nvSpPr>
        <p:spPr bwMode="auto">
          <a:xfrm>
            <a:off x="563673" y="1748373"/>
            <a:ext cx="4206875" cy="3785652"/>
          </a:xfrm>
          <a:prstGeom prst="rect">
            <a:avLst/>
          </a:prstGeom>
          <a:noFill/>
          <a:ln w="9525">
            <a:noFill/>
            <a:miter lim="800000"/>
            <a:headEnd/>
            <a:tailEnd/>
          </a:ln>
        </p:spPr>
        <p:txBody>
          <a:bodyPr wrap="square">
            <a:spAutoFit/>
          </a:bodyPr>
          <a:lstStyle/>
          <a:p>
            <a:pPr algn="just"/>
            <a:r>
              <a:rPr lang="en-US" sz="2400" dirty="0">
                <a:solidFill>
                  <a:srgbClr val="000000"/>
                </a:solidFill>
              </a:rPr>
              <a:t>A robot with 1 prismatic joint and 2 rotary joints – the axes consistent with a polar coordinate system.</a:t>
            </a:r>
          </a:p>
          <a:p>
            <a:pPr algn="just"/>
            <a:endParaRPr lang="en-US" sz="2400" dirty="0">
              <a:solidFill>
                <a:srgbClr val="000000"/>
              </a:solidFill>
            </a:endParaRPr>
          </a:p>
          <a:p>
            <a:pPr algn="just"/>
            <a:r>
              <a:rPr lang="en-US" sz="2400" dirty="0">
                <a:solidFill>
                  <a:srgbClr val="000000"/>
                </a:solidFill>
              </a:rPr>
              <a:t>Commonly used for:</a:t>
            </a:r>
          </a:p>
          <a:p>
            <a:pPr algn="just">
              <a:buFontTx/>
              <a:buChar char="•"/>
            </a:pPr>
            <a:r>
              <a:rPr lang="en-US" sz="2400" dirty="0">
                <a:solidFill>
                  <a:srgbClr val="000000"/>
                </a:solidFill>
              </a:rPr>
              <a:t>handling at die casting or fettling machines</a:t>
            </a:r>
          </a:p>
          <a:p>
            <a:pPr algn="just">
              <a:buFontTx/>
              <a:buChar char="•"/>
            </a:pPr>
            <a:r>
              <a:rPr lang="en-US" sz="2400" dirty="0">
                <a:solidFill>
                  <a:srgbClr val="000000"/>
                </a:solidFill>
              </a:rPr>
              <a:t>handling machine tools</a:t>
            </a:r>
          </a:p>
          <a:p>
            <a:pPr algn="just">
              <a:buFontTx/>
              <a:buChar char="•"/>
            </a:pPr>
            <a:r>
              <a:rPr lang="en-US" sz="2400" dirty="0">
                <a:solidFill>
                  <a:srgbClr val="000000"/>
                </a:solidFill>
              </a:rPr>
              <a:t>arc/spot welding</a:t>
            </a:r>
          </a:p>
        </p:txBody>
      </p:sp>
      <p:pic>
        <p:nvPicPr>
          <p:cNvPr id="48134" name="Picture 1"/>
          <p:cNvPicPr>
            <a:picLocks noChangeAspect="1" noChangeArrowheads="1"/>
          </p:cNvPicPr>
          <p:nvPr/>
        </p:nvPicPr>
        <p:blipFill>
          <a:blip r:embed="rId4"/>
          <a:srcRect r="34222"/>
          <a:stretch>
            <a:fillRect/>
          </a:stretch>
        </p:blipFill>
        <p:spPr bwMode="auto">
          <a:xfrm>
            <a:off x="5715000" y="3962400"/>
            <a:ext cx="2700338" cy="2647950"/>
          </a:xfrm>
          <a:prstGeom prst="rect">
            <a:avLst/>
          </a:prstGeom>
          <a:noFill/>
          <a:ln w="9525">
            <a:noFill/>
            <a:miter lim="800000"/>
            <a:headEnd/>
            <a:tailEnd/>
          </a:ln>
        </p:spPr>
      </p:pic>
    </p:spTree>
    <p:extLst>
      <p:ext uri="{BB962C8B-B14F-4D97-AF65-F5344CB8AC3E}">
        <p14:creationId xmlns:p14="http://schemas.microsoft.com/office/powerpoint/2010/main" val="129012272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00200"/>
            <a:ext cx="7929618" cy="4708981"/>
          </a:xfrm>
          <a:prstGeom prst="rect">
            <a:avLst/>
          </a:prstGeom>
        </p:spPr>
        <p:txBody>
          <a:bodyPr wrap="square">
            <a:spAutoFit/>
          </a:bodyPr>
          <a:lstStyle/>
          <a:p>
            <a:pPr marL="692150" indent="-609600">
              <a:buClr>
                <a:srgbClr val="003300"/>
              </a:buClr>
              <a:buFont typeface="Wingdings" pitchFamily="2" charset="2"/>
              <a:buChar char="Ø"/>
            </a:pPr>
            <a:r>
              <a:rPr lang="en-US" sz="3600" dirty="0" smtClean="0"/>
              <a:t>Advantages</a:t>
            </a:r>
          </a:p>
          <a:p>
            <a:pPr marL="1371600" lvl="2" indent="-457200">
              <a:buClr>
                <a:schemeClr val="hlink"/>
              </a:buClr>
              <a:buFont typeface="Wingdings" pitchFamily="2" charset="2"/>
              <a:buChar char="§"/>
            </a:pPr>
            <a:r>
              <a:rPr lang="en-US" sz="2400" dirty="0" smtClean="0"/>
              <a:t>Covers a large volume </a:t>
            </a:r>
          </a:p>
          <a:p>
            <a:pPr marL="1371600" lvl="2" indent="-457200">
              <a:buClr>
                <a:schemeClr val="hlink"/>
              </a:buClr>
              <a:buFont typeface="Wingdings" pitchFamily="2" charset="2"/>
              <a:buChar char="§"/>
            </a:pPr>
            <a:r>
              <a:rPr lang="en-US" sz="2400" dirty="0" smtClean="0"/>
              <a:t>Can bend down to pick objects up off the floor</a:t>
            </a:r>
          </a:p>
          <a:p>
            <a:pPr marL="1371600" lvl="2" indent="-457200">
              <a:buClr>
                <a:schemeClr val="hlink"/>
              </a:buClr>
              <a:buFont typeface="Wingdings" pitchFamily="2" charset="2"/>
              <a:buChar char="§"/>
            </a:pPr>
            <a:r>
              <a:rPr lang="en-US" sz="2400" dirty="0" smtClean="0"/>
              <a:t>Higher reach ability</a:t>
            </a:r>
            <a:endParaRPr lang="en-US" sz="2800" dirty="0" smtClean="0"/>
          </a:p>
          <a:p>
            <a:pPr marL="692150" indent="-609600">
              <a:buClr>
                <a:srgbClr val="003300"/>
              </a:buClr>
              <a:buFont typeface="Wingdings" pitchFamily="2" charset="2"/>
              <a:buChar char="Ø"/>
            </a:pPr>
            <a:r>
              <a:rPr lang="en-US" sz="3600" dirty="0" smtClean="0"/>
              <a:t>Disadvantages</a:t>
            </a:r>
          </a:p>
          <a:p>
            <a:pPr marL="1371600" lvl="2" indent="-457200">
              <a:buClr>
                <a:schemeClr val="hlink"/>
              </a:buClr>
              <a:buFont typeface="Wingdings" pitchFamily="2" charset="2"/>
              <a:buChar char="§"/>
            </a:pPr>
            <a:r>
              <a:rPr lang="en-US" sz="2400" dirty="0" smtClean="0"/>
              <a:t>Complex kinematic model</a:t>
            </a:r>
          </a:p>
          <a:p>
            <a:pPr marL="1371600" lvl="2" indent="-457200">
              <a:buClr>
                <a:schemeClr val="hlink"/>
              </a:buClr>
              <a:buFont typeface="Wingdings" pitchFamily="2" charset="2"/>
              <a:buChar char="§"/>
            </a:pPr>
            <a:r>
              <a:rPr lang="en-US" sz="2400" dirty="0" smtClean="0"/>
              <a:t>Difficult to visualize</a:t>
            </a:r>
          </a:p>
          <a:p>
            <a:pPr marL="692150" indent="-609600">
              <a:buClr>
                <a:srgbClr val="003300"/>
              </a:buClr>
              <a:buFont typeface="Wingdings" pitchFamily="2" charset="2"/>
              <a:buChar char="Ø"/>
            </a:pPr>
            <a:r>
              <a:rPr lang="en-US" sz="3600" dirty="0" smtClean="0"/>
              <a:t>Applications</a:t>
            </a:r>
          </a:p>
          <a:p>
            <a:pPr marL="1371600" lvl="2" indent="-457200">
              <a:buClr>
                <a:schemeClr val="hlink"/>
              </a:buClr>
              <a:buFont typeface="Wingdings" pitchFamily="2" charset="2"/>
              <a:buChar char="§"/>
            </a:pPr>
            <a:r>
              <a:rPr lang="en-US" sz="2400" dirty="0" smtClean="0"/>
              <a:t>Palletizing</a:t>
            </a:r>
          </a:p>
          <a:p>
            <a:pPr marL="1371600" lvl="2" indent="-457200">
              <a:buClr>
                <a:schemeClr val="hlink"/>
              </a:buClr>
              <a:buFont typeface="Wingdings" pitchFamily="2" charset="2"/>
              <a:buChar char="§"/>
            </a:pPr>
            <a:r>
              <a:rPr lang="en-US" sz="2400" dirty="0" smtClean="0"/>
              <a:t>Handling of heavy loads e.g. casting, forging</a:t>
            </a:r>
          </a:p>
        </p:txBody>
      </p:sp>
    </p:spTree>
    <p:extLst>
      <p:ext uri="{BB962C8B-B14F-4D97-AF65-F5344CB8AC3E}">
        <p14:creationId xmlns:p14="http://schemas.microsoft.com/office/powerpoint/2010/main" val="288387967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p:cNvSpPr>
            <a:spLocks noGrp="1" noChangeArrowheads="1"/>
          </p:cNvSpPr>
          <p:nvPr>
            <p:ph type="title"/>
          </p:nvPr>
        </p:nvSpPr>
        <p:spPr>
          <a:noFill/>
          <a:ln/>
        </p:spPr>
        <p:txBody>
          <a:bodyPr lIns="92075" tIns="46038" rIns="92075" bIns="46038">
            <a:normAutofit fontScale="90000"/>
          </a:bodyPr>
          <a:lstStyle/>
          <a:p>
            <a:r>
              <a:rPr lang="en-US" dirty="0">
                <a:solidFill>
                  <a:srgbClr val="0070C0"/>
                </a:solidFill>
              </a:rPr>
              <a:t>Spherical Robot - Work Envelope</a:t>
            </a:r>
          </a:p>
        </p:txBody>
      </p:sp>
      <p:pic>
        <p:nvPicPr>
          <p:cNvPr id="28675" name="Picture 1027"/>
          <p:cNvPicPr>
            <a:picLocks noChangeArrowheads="1"/>
          </p:cNvPicPr>
          <p:nvPr/>
        </p:nvPicPr>
        <p:blipFill>
          <a:blip r:embed="rId3"/>
          <a:srcRect/>
          <a:stretch>
            <a:fillRect/>
          </a:stretch>
        </p:blipFill>
        <p:spPr bwMode="auto">
          <a:xfrm>
            <a:off x="974725" y="1828800"/>
            <a:ext cx="7712075" cy="4206875"/>
          </a:xfrm>
          <a:prstGeom prst="rect">
            <a:avLst/>
          </a:prstGeom>
          <a:noFill/>
          <a:ln w="9525">
            <a:noFill/>
            <a:miter lim="800000"/>
            <a:headEnd/>
            <a:tailEnd/>
          </a:ln>
          <a:effectLst/>
        </p:spPr>
      </p:pic>
    </p:spTree>
    <p:extLst>
      <p:ext uri="{BB962C8B-B14F-4D97-AF65-F5344CB8AC3E}">
        <p14:creationId xmlns:p14="http://schemas.microsoft.com/office/powerpoint/2010/main" val="3404876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blinds(horizontal)">
                                      <p:cBhvr>
                                        <p:cTn id="7" dur="500"/>
                                        <p:tgtEl>
                                          <p:spTgt spid="2867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675"/>
                                        </p:tgtEl>
                                        <p:attrNameLst>
                                          <p:attrName>style.visibility</p:attrName>
                                        </p:attrNameLst>
                                      </p:cBhvr>
                                      <p:to>
                                        <p:strVal val="visible"/>
                                      </p:to>
                                    </p:set>
                                    <p:animEffect transition="in" filter="blinds(horizontal)">
                                      <p:cBhvr>
                                        <p:cTn id="12" dur="500"/>
                                        <p:tgtEl>
                                          <p:spTgt spid="28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12A8F3D-ABE5-4B53-A8F9-BC2D11A5EFF3}" type="datetime1">
              <a:rPr lang="en-US" smtClean="0"/>
              <a:t>10/29/2020</a:t>
            </a:fld>
            <a:endParaRPr lang="en-IN"/>
          </a:p>
        </p:txBody>
      </p:sp>
      <p:sp>
        <p:nvSpPr>
          <p:cNvPr id="4" name="Slide Number Placeholder 3"/>
          <p:cNvSpPr>
            <a:spLocks noGrp="1"/>
          </p:cNvSpPr>
          <p:nvPr>
            <p:ph type="sldNum" sz="quarter" idx="11"/>
          </p:nvPr>
        </p:nvSpPr>
        <p:spPr/>
        <p:txBody>
          <a:bodyPr/>
          <a:lstStyle/>
          <a:p>
            <a:fld id="{41F94EDD-D845-48AB-B01E-E1FCDA2D3009}" type="slidenum">
              <a:rPr lang="en-IN" smtClean="0"/>
              <a:pPr/>
              <a:t>53</a:t>
            </a:fld>
            <a:endParaRPr lang="en-IN"/>
          </a:p>
        </p:txBody>
      </p:sp>
      <p:sp>
        <p:nvSpPr>
          <p:cNvPr id="5" name="Footer Placeholder 4"/>
          <p:cNvSpPr>
            <a:spLocks noGrp="1"/>
          </p:cNvSpPr>
          <p:nvPr>
            <p:ph type="ftr" sz="quarter" idx="12"/>
          </p:nvPr>
        </p:nvSpPr>
        <p:spPr/>
        <p:txBody>
          <a:bodyPr/>
          <a:lstStyle/>
          <a:p>
            <a:endParaRPr lang="en-IN"/>
          </a:p>
        </p:txBody>
      </p:sp>
      <p:sp>
        <p:nvSpPr>
          <p:cNvPr id="6" name="Title 1"/>
          <p:cNvSpPr>
            <a:spLocks noGrp="1"/>
          </p:cNvSpPr>
          <p:nvPr>
            <p:ph type="title"/>
          </p:nvPr>
        </p:nvSpPr>
        <p:spPr>
          <a:xfrm>
            <a:off x="1993753" y="304800"/>
            <a:ext cx="6700930" cy="1066800"/>
          </a:xfrm>
        </p:spPr>
        <p:txBody>
          <a:bodyPr>
            <a:normAutofit fontScale="90000"/>
          </a:bodyPr>
          <a:lstStyle/>
          <a:p>
            <a:r>
              <a:rPr lang="en-US" dirty="0">
                <a:solidFill>
                  <a:srgbClr val="0070C0"/>
                </a:solidFill>
              </a:rPr>
              <a:t>Can you draw </a:t>
            </a:r>
            <a:r>
              <a:rPr lang="en-IN" dirty="0" smtClean="0">
                <a:solidFill>
                  <a:srgbClr val="0070C0"/>
                </a:solidFill>
              </a:rPr>
              <a:t>Polar-coordinate </a:t>
            </a:r>
            <a:r>
              <a:rPr lang="en-IN" dirty="0">
                <a:solidFill>
                  <a:srgbClr val="0070C0"/>
                </a:solidFill>
              </a:rPr>
              <a:t>type robot?</a:t>
            </a:r>
            <a:r>
              <a:rPr lang="en-US" dirty="0">
                <a:solidFill>
                  <a:srgbClr val="0070C0"/>
                </a:solidFill>
              </a:rPr>
              <a:t> </a:t>
            </a:r>
            <a:br>
              <a:rPr lang="en-US" dirty="0">
                <a:solidFill>
                  <a:srgbClr val="0070C0"/>
                </a:solidFill>
              </a:rPr>
            </a:br>
            <a:r>
              <a:rPr lang="en-US" sz="3100" dirty="0">
                <a:solidFill>
                  <a:srgbClr val="0070C0"/>
                </a:solidFill>
              </a:rPr>
              <a:t>(Symbolic representation)</a:t>
            </a:r>
            <a:endParaRPr lang="en-IN" dirty="0"/>
          </a:p>
        </p:txBody>
      </p:sp>
      <p:pic>
        <p:nvPicPr>
          <p:cNvPr id="7" name="Picture 1"/>
          <p:cNvPicPr>
            <a:picLocks noChangeAspect="1" noChangeArrowheads="1"/>
          </p:cNvPicPr>
          <p:nvPr/>
        </p:nvPicPr>
        <p:blipFill>
          <a:blip r:embed="rId2"/>
          <a:srcRect r="34222"/>
          <a:stretch>
            <a:fillRect/>
          </a:stretch>
        </p:blipFill>
        <p:spPr bwMode="auto">
          <a:xfrm>
            <a:off x="685800" y="2133600"/>
            <a:ext cx="3419133" cy="3352800"/>
          </a:xfrm>
          <a:prstGeom prst="rect">
            <a:avLst/>
          </a:prstGeom>
          <a:noFill/>
          <a:ln w="9525">
            <a:noFill/>
            <a:miter lim="800000"/>
            <a:headEnd/>
            <a:tailEnd/>
          </a:ln>
        </p:spPr>
      </p:pic>
      <p:pic>
        <p:nvPicPr>
          <p:cNvPr id="8" name="Picture 7"/>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5344218" y="2281237"/>
            <a:ext cx="3105150" cy="3057525"/>
          </a:xfrm>
          <a:prstGeom prst="rect">
            <a:avLst/>
          </a:prstGeom>
        </p:spPr>
      </p:pic>
    </p:spTree>
    <p:extLst>
      <p:ext uri="{BB962C8B-B14F-4D97-AF65-F5344CB8AC3E}">
        <p14:creationId xmlns:p14="http://schemas.microsoft.com/office/powerpoint/2010/main" val="1444041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sz="4000" dirty="0" smtClean="0">
                <a:solidFill>
                  <a:srgbClr val="0070C0"/>
                </a:solidFill>
              </a:rPr>
              <a:t>ROBOT CLASSIFICATION</a:t>
            </a:r>
            <a:endParaRPr lang="tr-TR" sz="4000" dirty="0" smtClean="0">
              <a:solidFill>
                <a:srgbClr val="0070C0"/>
              </a:solidFill>
            </a:endParaRPr>
          </a:p>
        </p:txBody>
      </p:sp>
      <p:sp>
        <p:nvSpPr>
          <p:cNvPr id="43011" name="Rectangle 3"/>
          <p:cNvSpPr>
            <a:spLocks noGrp="1" noChangeArrowheads="1"/>
          </p:cNvSpPr>
          <p:nvPr>
            <p:ph type="body" idx="1"/>
          </p:nvPr>
        </p:nvSpPr>
        <p:spPr>
          <a:xfrm>
            <a:off x="457200" y="1600200"/>
            <a:ext cx="8229600" cy="4873752"/>
          </a:xfrm>
        </p:spPr>
        <p:txBody>
          <a:bodyPr/>
          <a:lstStyle/>
          <a:p>
            <a:pPr algn="just" eaLnBrk="1" hangingPunct="1"/>
            <a:r>
              <a:rPr lang="en-US" dirty="0" smtClean="0"/>
              <a:t>The designation of the arm for this configuration can be TRL or TRR. </a:t>
            </a:r>
          </a:p>
          <a:p>
            <a:pPr algn="just" eaLnBrk="1" hangingPunct="1"/>
            <a:r>
              <a:rPr lang="en-US" dirty="0" smtClean="0"/>
              <a:t>Robots with the designation TRL are also called </a:t>
            </a:r>
            <a:r>
              <a:rPr lang="en-US" b="1" dirty="0" smtClean="0">
                <a:solidFill>
                  <a:srgbClr val="00B0F0"/>
                </a:solidFill>
              </a:rPr>
              <a:t>spherical robots</a:t>
            </a:r>
            <a:r>
              <a:rPr lang="en-US" dirty="0" smtClean="0">
                <a:solidFill>
                  <a:srgbClr val="00B0F0"/>
                </a:solidFill>
              </a:rPr>
              <a:t>. </a:t>
            </a:r>
            <a:r>
              <a:rPr lang="en-US" dirty="0" smtClean="0"/>
              <a:t>Those with the designation TRR are also called </a:t>
            </a:r>
            <a:r>
              <a:rPr lang="en-US" b="1" dirty="0" smtClean="0">
                <a:solidFill>
                  <a:srgbClr val="00B0F0"/>
                </a:solidFill>
              </a:rPr>
              <a:t>articulated robots</a:t>
            </a:r>
            <a:r>
              <a:rPr lang="en-US" dirty="0" smtClean="0">
                <a:solidFill>
                  <a:srgbClr val="00B0F0"/>
                </a:solidFill>
              </a:rPr>
              <a:t>. </a:t>
            </a:r>
            <a:r>
              <a:rPr lang="en-US" dirty="0" smtClean="0"/>
              <a:t>An articulated robot more closely resembles the human arm.</a:t>
            </a:r>
            <a:endParaRPr lang="tr-TR" dirty="0" smtClean="0"/>
          </a:p>
        </p:txBody>
      </p:sp>
    </p:spTree>
    <p:extLst>
      <p:ext uri="{BB962C8B-B14F-4D97-AF65-F5344CB8AC3E}">
        <p14:creationId xmlns:p14="http://schemas.microsoft.com/office/powerpoint/2010/main" val="263870614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304800" y="457200"/>
            <a:ext cx="8534400" cy="914400"/>
          </a:xfrm>
          <a:prstGeom prst="rect">
            <a:avLst/>
          </a:prstGeom>
          <a:noFill/>
          <a:ln w="9525">
            <a:noFill/>
            <a:miter lim="800000"/>
            <a:headEnd/>
            <a:tailEnd/>
          </a:ln>
        </p:spPr>
        <p:txBody>
          <a:bodyPr anchor="b"/>
          <a:lstStyle/>
          <a:p>
            <a:pPr algn="ctr"/>
            <a:r>
              <a:rPr lang="en-US" sz="4800" dirty="0">
                <a:solidFill>
                  <a:srgbClr val="0070C0"/>
                </a:solidFill>
              </a:rPr>
              <a:t>Articulated Robots</a:t>
            </a:r>
          </a:p>
        </p:txBody>
      </p:sp>
      <p:sp>
        <p:nvSpPr>
          <p:cNvPr id="45059" name="Text Box 3"/>
          <p:cNvSpPr txBox="1">
            <a:spLocks noChangeArrowheads="1"/>
          </p:cNvSpPr>
          <p:nvPr/>
        </p:nvSpPr>
        <p:spPr bwMode="auto">
          <a:xfrm>
            <a:off x="304800" y="1600200"/>
            <a:ext cx="4206875" cy="4108450"/>
          </a:xfrm>
          <a:prstGeom prst="rect">
            <a:avLst/>
          </a:prstGeom>
          <a:noFill/>
          <a:ln w="9525">
            <a:noFill/>
            <a:miter lim="800000"/>
            <a:headEnd/>
            <a:tailEnd/>
          </a:ln>
        </p:spPr>
        <p:txBody>
          <a:bodyPr>
            <a:spAutoFit/>
          </a:bodyPr>
          <a:lstStyle/>
          <a:p>
            <a:r>
              <a:rPr lang="en-US" sz="2400">
                <a:solidFill>
                  <a:srgbClr val="000000"/>
                </a:solidFill>
              </a:rPr>
              <a:t>A robot with at least 3 rotary joints.</a:t>
            </a:r>
          </a:p>
          <a:p>
            <a:endParaRPr lang="tr-TR" sz="2400">
              <a:solidFill>
                <a:srgbClr val="000000"/>
              </a:solidFill>
            </a:endParaRPr>
          </a:p>
          <a:p>
            <a:endParaRPr lang="en-US" sz="2400">
              <a:solidFill>
                <a:srgbClr val="000000"/>
              </a:solidFill>
            </a:endParaRPr>
          </a:p>
          <a:p>
            <a:r>
              <a:rPr lang="en-US" sz="2400">
                <a:solidFill>
                  <a:srgbClr val="000000"/>
                </a:solidFill>
              </a:rPr>
              <a:t>Commonly used for:</a:t>
            </a:r>
          </a:p>
          <a:p>
            <a:pPr>
              <a:buFontTx/>
              <a:buChar char="•"/>
            </a:pPr>
            <a:r>
              <a:rPr lang="en-US" sz="2400">
                <a:solidFill>
                  <a:srgbClr val="000000"/>
                </a:solidFill>
              </a:rPr>
              <a:t>assembly operations</a:t>
            </a:r>
          </a:p>
          <a:p>
            <a:pPr>
              <a:buFontTx/>
              <a:buChar char="•"/>
            </a:pPr>
            <a:r>
              <a:rPr lang="en-US" sz="2400">
                <a:solidFill>
                  <a:srgbClr val="000000"/>
                </a:solidFill>
              </a:rPr>
              <a:t>welding</a:t>
            </a:r>
          </a:p>
          <a:p>
            <a:pPr>
              <a:buFontTx/>
              <a:buChar char="•"/>
            </a:pPr>
            <a:r>
              <a:rPr lang="en-US" sz="2400">
                <a:solidFill>
                  <a:srgbClr val="000000"/>
                </a:solidFill>
              </a:rPr>
              <a:t>weld sealing</a:t>
            </a:r>
          </a:p>
          <a:p>
            <a:pPr>
              <a:buFontTx/>
              <a:buChar char="•"/>
            </a:pPr>
            <a:r>
              <a:rPr lang="en-US" sz="2400">
                <a:solidFill>
                  <a:srgbClr val="000000"/>
                </a:solidFill>
              </a:rPr>
              <a:t>spray painting</a:t>
            </a:r>
          </a:p>
          <a:p>
            <a:pPr>
              <a:buFontTx/>
              <a:buChar char="•"/>
            </a:pPr>
            <a:r>
              <a:rPr lang="en-US" sz="2400">
                <a:solidFill>
                  <a:srgbClr val="000000"/>
                </a:solidFill>
              </a:rPr>
              <a:t>handling at die casting or fettling machines</a:t>
            </a:r>
          </a:p>
        </p:txBody>
      </p:sp>
      <p:pic>
        <p:nvPicPr>
          <p:cNvPr id="45060" name="Picture 5" descr="bild8c"/>
          <p:cNvPicPr>
            <a:picLocks noChangeAspect="1" noChangeArrowheads="1"/>
          </p:cNvPicPr>
          <p:nvPr/>
        </p:nvPicPr>
        <p:blipFill>
          <a:blip r:embed="rId3"/>
          <a:srcRect/>
          <a:stretch>
            <a:fillRect/>
          </a:stretch>
        </p:blipFill>
        <p:spPr bwMode="auto">
          <a:xfrm>
            <a:off x="4572000" y="3733800"/>
            <a:ext cx="4343400" cy="2895600"/>
          </a:xfrm>
          <a:prstGeom prst="rect">
            <a:avLst/>
          </a:prstGeom>
          <a:noFill/>
          <a:ln w="9525">
            <a:noFill/>
            <a:miter lim="800000"/>
            <a:headEnd/>
            <a:tailEnd/>
          </a:ln>
        </p:spPr>
      </p:pic>
      <p:pic>
        <p:nvPicPr>
          <p:cNvPr id="45061" name="Picture 1"/>
          <p:cNvPicPr>
            <a:picLocks noChangeAspect="1" noChangeArrowheads="1"/>
          </p:cNvPicPr>
          <p:nvPr/>
        </p:nvPicPr>
        <p:blipFill>
          <a:blip r:embed="rId4"/>
          <a:srcRect/>
          <a:stretch>
            <a:fillRect/>
          </a:stretch>
        </p:blipFill>
        <p:spPr bwMode="auto">
          <a:xfrm>
            <a:off x="5334000" y="1752600"/>
            <a:ext cx="2989263" cy="1885950"/>
          </a:xfrm>
          <a:prstGeom prst="rect">
            <a:avLst/>
          </a:prstGeom>
          <a:noFill/>
          <a:ln w="9525">
            <a:noFill/>
            <a:miter lim="800000"/>
            <a:headEnd/>
            <a:tailEnd/>
          </a:ln>
        </p:spPr>
      </p:pic>
    </p:spTree>
    <p:extLst>
      <p:ext uri="{BB962C8B-B14F-4D97-AF65-F5344CB8AC3E}">
        <p14:creationId xmlns:p14="http://schemas.microsoft.com/office/powerpoint/2010/main" val="362778285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ChangeArrowheads="1"/>
          </p:cNvSpPr>
          <p:nvPr/>
        </p:nvSpPr>
        <p:spPr bwMode="auto">
          <a:xfrm>
            <a:off x="457200" y="1719263"/>
            <a:ext cx="8229600" cy="4411662"/>
          </a:xfrm>
          <a:prstGeom prst="rect">
            <a:avLst/>
          </a:prstGeom>
          <a:noFill/>
          <a:ln w="9525">
            <a:noFill/>
            <a:miter lim="800000"/>
            <a:headEnd/>
            <a:tailEnd/>
          </a:ln>
        </p:spPr>
        <p:txBody>
          <a:bodyPr/>
          <a:lstStyle/>
          <a:p>
            <a:pPr marL="342900" indent="-342900">
              <a:spcBef>
                <a:spcPct val="20000"/>
              </a:spcBef>
            </a:pPr>
            <a:r>
              <a:rPr lang="en-US" sz="2400" i="1" dirty="0">
                <a:solidFill>
                  <a:srgbClr val="000000"/>
                </a:solidFill>
              </a:rPr>
              <a:t>Advantages:</a:t>
            </a:r>
          </a:p>
          <a:p>
            <a:pPr marL="342900" indent="-342900">
              <a:spcBef>
                <a:spcPct val="20000"/>
              </a:spcBef>
              <a:buFontTx/>
              <a:buChar char="•"/>
            </a:pPr>
            <a:r>
              <a:rPr lang="en-US" sz="2400" dirty="0">
                <a:solidFill>
                  <a:srgbClr val="000000"/>
                </a:solidFill>
              </a:rPr>
              <a:t>all rotary joints allows for maximum flexibility</a:t>
            </a:r>
          </a:p>
          <a:p>
            <a:pPr marL="342900" indent="-342900">
              <a:spcBef>
                <a:spcPct val="20000"/>
              </a:spcBef>
              <a:buFontTx/>
              <a:buChar char="•"/>
            </a:pPr>
            <a:r>
              <a:rPr lang="en-US" sz="2400" dirty="0">
                <a:solidFill>
                  <a:srgbClr val="000000"/>
                </a:solidFill>
              </a:rPr>
              <a:t>any point in total volume can be reached.</a:t>
            </a:r>
          </a:p>
          <a:p>
            <a:pPr marL="342900" indent="-342900">
              <a:spcBef>
                <a:spcPct val="20000"/>
              </a:spcBef>
              <a:buFontTx/>
              <a:buChar char="•"/>
            </a:pPr>
            <a:r>
              <a:rPr lang="en-US" sz="2400" dirty="0">
                <a:solidFill>
                  <a:srgbClr val="000000"/>
                </a:solidFill>
              </a:rPr>
              <a:t>all joints can be sealed from the environment. </a:t>
            </a:r>
            <a:endParaRPr lang="tr-TR" sz="2400" dirty="0">
              <a:solidFill>
                <a:srgbClr val="000000"/>
              </a:solidFill>
            </a:endParaRPr>
          </a:p>
          <a:p>
            <a:pPr marL="342900" indent="-342900">
              <a:spcBef>
                <a:spcPct val="20000"/>
              </a:spcBef>
              <a:buFontTx/>
              <a:buChar char="•"/>
            </a:pPr>
            <a:endParaRPr lang="en-US" sz="2400" dirty="0">
              <a:solidFill>
                <a:srgbClr val="000000"/>
              </a:solidFill>
            </a:endParaRPr>
          </a:p>
          <a:p>
            <a:pPr marL="342900" indent="-342900">
              <a:spcBef>
                <a:spcPct val="20000"/>
              </a:spcBef>
            </a:pPr>
            <a:r>
              <a:rPr lang="en-US" sz="2400" i="1" dirty="0">
                <a:solidFill>
                  <a:srgbClr val="000000"/>
                </a:solidFill>
              </a:rPr>
              <a:t>Disadvantages:</a:t>
            </a:r>
          </a:p>
          <a:p>
            <a:pPr marL="342900" indent="-342900">
              <a:spcBef>
                <a:spcPct val="20000"/>
              </a:spcBef>
              <a:buFontTx/>
              <a:buChar char="•"/>
            </a:pPr>
            <a:r>
              <a:rPr lang="en-US" sz="2400" dirty="0">
                <a:solidFill>
                  <a:srgbClr val="000000"/>
                </a:solidFill>
              </a:rPr>
              <a:t>extremely difficult to visualize, control, and program.</a:t>
            </a:r>
          </a:p>
          <a:p>
            <a:pPr marL="342900" indent="-342900">
              <a:spcBef>
                <a:spcPct val="20000"/>
              </a:spcBef>
              <a:buFontTx/>
              <a:buChar char="•"/>
            </a:pPr>
            <a:r>
              <a:rPr lang="en-US" sz="2400" dirty="0">
                <a:solidFill>
                  <a:srgbClr val="000000"/>
                </a:solidFill>
              </a:rPr>
              <a:t>restricted volume coverage.</a:t>
            </a:r>
          </a:p>
          <a:p>
            <a:pPr marL="342900" indent="-342900">
              <a:spcBef>
                <a:spcPct val="20000"/>
              </a:spcBef>
              <a:buFontTx/>
              <a:buChar char="•"/>
            </a:pPr>
            <a:r>
              <a:rPr lang="en-US" sz="2400" dirty="0">
                <a:solidFill>
                  <a:srgbClr val="000000"/>
                </a:solidFill>
              </a:rPr>
              <a:t>low accuracy</a:t>
            </a:r>
          </a:p>
        </p:txBody>
      </p:sp>
      <p:sp>
        <p:nvSpPr>
          <p:cNvPr id="46083" name="Rectangle 3"/>
          <p:cNvSpPr>
            <a:spLocks noChangeArrowheads="1"/>
          </p:cNvSpPr>
          <p:nvPr/>
        </p:nvSpPr>
        <p:spPr bwMode="auto">
          <a:xfrm>
            <a:off x="457200" y="533400"/>
            <a:ext cx="8229600" cy="884238"/>
          </a:xfrm>
          <a:prstGeom prst="rect">
            <a:avLst/>
          </a:prstGeom>
          <a:noFill/>
          <a:ln w="9525">
            <a:noFill/>
            <a:miter lim="800000"/>
            <a:headEnd/>
            <a:tailEnd/>
          </a:ln>
        </p:spPr>
        <p:txBody>
          <a:bodyPr anchor="b"/>
          <a:lstStyle/>
          <a:p>
            <a:pPr algn="ctr"/>
            <a:r>
              <a:rPr lang="en-US" sz="4800" dirty="0">
                <a:solidFill>
                  <a:srgbClr val="0070C0"/>
                </a:solidFill>
              </a:rPr>
              <a:t>Articulated Robots</a:t>
            </a:r>
          </a:p>
        </p:txBody>
      </p:sp>
    </p:spTree>
    <p:extLst>
      <p:ext uri="{BB962C8B-B14F-4D97-AF65-F5344CB8AC3E}">
        <p14:creationId xmlns:p14="http://schemas.microsoft.com/office/powerpoint/2010/main" val="25508329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sz="4000" dirty="0" smtClean="0">
                <a:hlinkClick r:id="rId3" action="ppaction://hlinkfile"/>
              </a:rPr>
              <a:t>Joint-arm Configuration</a:t>
            </a:r>
            <a:endParaRPr lang="tr-TR" sz="4000" dirty="0" smtClean="0"/>
          </a:p>
        </p:txBody>
      </p:sp>
      <p:sp>
        <p:nvSpPr>
          <p:cNvPr id="44035" name="Rectangle 3"/>
          <p:cNvSpPr>
            <a:spLocks noGrp="1" noChangeArrowheads="1"/>
          </p:cNvSpPr>
          <p:nvPr>
            <p:ph type="body" idx="1"/>
          </p:nvPr>
        </p:nvSpPr>
        <p:spPr>
          <a:xfrm>
            <a:off x="457200" y="1600200"/>
            <a:ext cx="7848600" cy="4873752"/>
          </a:xfrm>
        </p:spPr>
        <p:txBody>
          <a:bodyPr>
            <a:normAutofit/>
          </a:bodyPr>
          <a:lstStyle/>
          <a:p>
            <a:pPr algn="just"/>
            <a:r>
              <a:rPr lang="en-US" sz="2600" dirty="0" smtClean="0"/>
              <a:t>The jointed-arm is a combination of cylindrical and articulated configurations. The arm of the robot is connected to the base with a twisting joint. The links in the arm are connected by </a:t>
            </a:r>
            <a:r>
              <a:rPr lang="en-US" sz="2600" dirty="0" err="1" smtClean="0"/>
              <a:t>rotatory</a:t>
            </a:r>
            <a:r>
              <a:rPr lang="en-US" sz="2600" dirty="0" smtClean="0"/>
              <a:t> joints. Many commercially available robots have this configuration. </a:t>
            </a:r>
          </a:p>
          <a:p>
            <a:pPr algn="just"/>
            <a:r>
              <a:rPr lang="en-IN" sz="2600" dirty="0" smtClean="0"/>
              <a:t>General configuration of a human arm, this consists of a vertical column that swivels about the base using a T joint. At the top of the column is a shoulder joint (an R joint), output to an elbow joint (another R joint). 	</a:t>
            </a:r>
          </a:p>
          <a:p>
            <a:pPr algn="just"/>
            <a:endParaRPr lang="en-US" sz="2600" dirty="0" smtClean="0"/>
          </a:p>
          <a:p>
            <a:pPr algn="just"/>
            <a:endParaRPr lang="tr-TR" sz="2600" dirty="0" smtClean="0"/>
          </a:p>
        </p:txBody>
      </p:sp>
    </p:spTree>
    <p:extLst>
      <p:ext uri="{BB962C8B-B14F-4D97-AF65-F5344CB8AC3E}">
        <p14:creationId xmlns:p14="http://schemas.microsoft.com/office/powerpoint/2010/main" val="315511843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srcRect/>
          <a:stretch>
            <a:fillRect/>
          </a:stretch>
        </p:blipFill>
        <p:spPr bwMode="auto">
          <a:xfrm>
            <a:off x="5500694" y="2000240"/>
            <a:ext cx="3124216" cy="4189290"/>
          </a:xfrm>
          <a:prstGeom prst="rect">
            <a:avLst/>
          </a:prstGeom>
          <a:noFill/>
          <a:ln w="9525">
            <a:noFill/>
            <a:miter lim="800000"/>
            <a:headEnd/>
            <a:tailEnd/>
          </a:ln>
          <a:effectLst/>
        </p:spPr>
      </p:pic>
      <p:sp>
        <p:nvSpPr>
          <p:cNvPr id="5" name="Rectangle 2"/>
          <p:cNvSpPr>
            <a:spLocks noGrp="1" noChangeArrowheads="1"/>
          </p:cNvSpPr>
          <p:nvPr>
            <p:ph type="title"/>
          </p:nvPr>
        </p:nvSpPr>
        <p:spPr>
          <a:xfrm>
            <a:off x="914400" y="304800"/>
            <a:ext cx="7467600" cy="1143000"/>
          </a:xfrm>
        </p:spPr>
        <p:txBody>
          <a:bodyPr/>
          <a:lstStyle/>
          <a:p>
            <a:r>
              <a:rPr lang="en-US" sz="4000" dirty="0" smtClean="0">
                <a:hlinkClick r:id="rId4" action="ppaction://hlinkfile"/>
              </a:rPr>
              <a:t>Joint-arm Configuration</a:t>
            </a:r>
            <a:endParaRPr lang="tr-TR" sz="4000" dirty="0" smtClean="0"/>
          </a:p>
        </p:txBody>
      </p:sp>
      <p:graphicFrame>
        <p:nvGraphicFramePr>
          <p:cNvPr id="4098" name="Object 10"/>
          <p:cNvGraphicFramePr>
            <a:graphicFrameLocks noChangeAspect="1"/>
          </p:cNvGraphicFramePr>
          <p:nvPr/>
        </p:nvGraphicFramePr>
        <p:xfrm>
          <a:off x="785786" y="2500306"/>
          <a:ext cx="4532164" cy="2995618"/>
        </p:xfrm>
        <a:graphic>
          <a:graphicData uri="http://schemas.openxmlformats.org/presentationml/2006/ole">
            <mc:AlternateContent xmlns:mc="http://schemas.openxmlformats.org/markup-compatibility/2006">
              <mc:Choice xmlns:v="urn:schemas-microsoft-com:vml" Requires="v">
                <p:oleObj spid="_x0000_s4141" name="Bitmap Image" r:id="rId5" imgW="3343742" imgH="2209524" progId="PBrush">
                  <p:embed/>
                </p:oleObj>
              </mc:Choice>
              <mc:Fallback>
                <p:oleObj name="Bitmap Image" r:id="rId5" imgW="3343742" imgH="2209524" progId="PBrush">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5786" y="2500306"/>
                        <a:ext cx="4532164" cy="2995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2808776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85786" y="1071547"/>
            <a:ext cx="6286544" cy="5589108"/>
          </a:xfrm>
          <a:prstGeom prst="rect">
            <a:avLst/>
          </a:prstGeom>
        </p:spPr>
        <p:txBody>
          <a:bodyPr wrap="square">
            <a:spAutoFit/>
          </a:bodyPr>
          <a:lstStyle/>
          <a:p>
            <a:pPr marL="692150" indent="-609600">
              <a:buClr>
                <a:srgbClr val="003300"/>
              </a:buClr>
              <a:buFont typeface="Wingdings" pitchFamily="2" charset="2"/>
              <a:buChar char="Ø"/>
            </a:pPr>
            <a:r>
              <a:rPr lang="en-US" sz="3600" dirty="0" smtClean="0"/>
              <a:t>Advantages</a:t>
            </a:r>
          </a:p>
          <a:p>
            <a:pPr marL="1371600" lvl="2" indent="-457200">
              <a:buClr>
                <a:schemeClr val="hlink"/>
              </a:buClr>
              <a:buFont typeface="Wingdings" pitchFamily="2" charset="2"/>
              <a:buChar char="§"/>
            </a:pPr>
            <a:r>
              <a:rPr lang="en-US" sz="2400" dirty="0" smtClean="0"/>
              <a:t>Maximum flexibility </a:t>
            </a:r>
          </a:p>
          <a:p>
            <a:pPr marL="1371600" lvl="2" indent="-457200">
              <a:buClr>
                <a:schemeClr val="hlink"/>
              </a:buClr>
              <a:buFont typeface="Wingdings" pitchFamily="2" charset="2"/>
              <a:buChar char="§"/>
            </a:pPr>
            <a:r>
              <a:rPr lang="en-US" sz="2400" dirty="0" smtClean="0"/>
              <a:t>Cover large space relative to work volume objects up off the floor</a:t>
            </a:r>
          </a:p>
          <a:p>
            <a:pPr marL="1371600" lvl="2" indent="-457200">
              <a:buClr>
                <a:schemeClr val="hlink"/>
              </a:buClr>
              <a:buFont typeface="Wingdings" pitchFamily="2" charset="2"/>
              <a:buChar char="§"/>
            </a:pPr>
            <a:r>
              <a:rPr lang="en-US" sz="2400" dirty="0" smtClean="0"/>
              <a:t>Suits electric motors</a:t>
            </a:r>
          </a:p>
          <a:p>
            <a:pPr marL="1371600" lvl="2" indent="-457200">
              <a:buClr>
                <a:schemeClr val="hlink"/>
              </a:buClr>
              <a:buFont typeface="Wingdings" pitchFamily="2" charset="2"/>
              <a:buChar char="§"/>
            </a:pPr>
            <a:r>
              <a:rPr lang="en-US" sz="2400" dirty="0" smtClean="0"/>
              <a:t>Higher reach ability</a:t>
            </a:r>
            <a:endParaRPr lang="en-US" sz="2800" dirty="0" smtClean="0"/>
          </a:p>
          <a:p>
            <a:pPr marL="692150" indent="-609600">
              <a:buClr>
                <a:srgbClr val="003300"/>
              </a:buClr>
              <a:buFont typeface="Wingdings" pitchFamily="2" charset="2"/>
              <a:buChar char="Ø"/>
            </a:pPr>
            <a:r>
              <a:rPr lang="en-US" sz="3600" dirty="0" smtClean="0"/>
              <a:t>Disadvantages</a:t>
            </a:r>
          </a:p>
          <a:p>
            <a:pPr marL="1371600" lvl="2" indent="-457200">
              <a:buClr>
                <a:schemeClr val="hlink"/>
              </a:buClr>
              <a:buFont typeface="Wingdings" pitchFamily="2" charset="2"/>
              <a:buChar char="§"/>
            </a:pPr>
            <a:r>
              <a:rPr lang="en-US" sz="2400" dirty="0" smtClean="0"/>
              <a:t>Complex kinematic model</a:t>
            </a:r>
          </a:p>
          <a:p>
            <a:pPr marL="1371600" lvl="2" indent="-457200">
              <a:buClr>
                <a:schemeClr val="hlink"/>
              </a:buClr>
              <a:buFont typeface="Wingdings" pitchFamily="2" charset="2"/>
              <a:buChar char="§"/>
            </a:pPr>
            <a:r>
              <a:rPr lang="en-US" sz="2400" dirty="0" smtClean="0"/>
              <a:t>Difficult to visualize</a:t>
            </a:r>
          </a:p>
          <a:p>
            <a:pPr marL="1371600" lvl="2" indent="-457200">
              <a:buClr>
                <a:schemeClr val="hlink"/>
              </a:buClr>
              <a:buFont typeface="Wingdings" pitchFamily="2" charset="2"/>
              <a:buChar char="§"/>
            </a:pPr>
            <a:r>
              <a:rPr lang="en-US" sz="2400" dirty="0" smtClean="0"/>
              <a:t>Structure not rigid at full reach</a:t>
            </a:r>
          </a:p>
          <a:p>
            <a:pPr marL="692150" indent="-609600">
              <a:buClr>
                <a:srgbClr val="003300"/>
              </a:buClr>
              <a:buFont typeface="Wingdings" pitchFamily="2" charset="2"/>
              <a:buChar char="Ø"/>
            </a:pPr>
            <a:r>
              <a:rPr lang="en-US" sz="3600" dirty="0" smtClean="0"/>
              <a:t>Applications</a:t>
            </a:r>
          </a:p>
          <a:p>
            <a:pPr marL="1371600" lvl="2" indent="-457200">
              <a:buClr>
                <a:schemeClr val="hlink"/>
              </a:buClr>
              <a:buFont typeface="Wingdings" pitchFamily="2" charset="2"/>
              <a:buChar char="§"/>
            </a:pPr>
            <a:r>
              <a:rPr lang="en-US" sz="2400" dirty="0" smtClean="0"/>
              <a:t>Spot welding, Arc welding</a:t>
            </a:r>
          </a:p>
        </p:txBody>
      </p:sp>
    </p:spTree>
    <p:extLst>
      <p:ext uri="{BB962C8B-B14F-4D97-AF65-F5344CB8AC3E}">
        <p14:creationId xmlns:p14="http://schemas.microsoft.com/office/powerpoint/2010/main" val="26420178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xfrm>
            <a:off x="685800" y="485775"/>
            <a:ext cx="7772400" cy="5610225"/>
          </a:xfrm>
          <a:noFill/>
          <a:ln/>
        </p:spPr>
        <p:txBody>
          <a:bodyPr lIns="92075" tIns="46038" rIns="92075" bIns="46038"/>
          <a:lstStyle/>
          <a:p>
            <a:pPr algn="ctr">
              <a:buFontTx/>
              <a:buNone/>
            </a:pPr>
            <a:r>
              <a:rPr lang="en-US" dirty="0" smtClean="0"/>
              <a:t> </a:t>
            </a:r>
            <a:r>
              <a:rPr lang="en-US" dirty="0">
                <a:solidFill>
                  <a:srgbClr val="0070C0"/>
                </a:solidFill>
              </a:rPr>
              <a:t>Jointed Arm - Work envelope</a:t>
            </a:r>
          </a:p>
        </p:txBody>
      </p:sp>
      <p:pic>
        <p:nvPicPr>
          <p:cNvPr id="30723" name="Picture 3"/>
          <p:cNvPicPr>
            <a:picLocks noChangeArrowheads="1"/>
          </p:cNvPicPr>
          <p:nvPr/>
        </p:nvPicPr>
        <p:blipFill>
          <a:blip r:embed="rId3"/>
          <a:srcRect/>
          <a:stretch>
            <a:fillRect/>
          </a:stretch>
        </p:blipFill>
        <p:spPr bwMode="auto">
          <a:xfrm>
            <a:off x="384175" y="2052638"/>
            <a:ext cx="8375650" cy="4602162"/>
          </a:xfrm>
          <a:prstGeom prst="rect">
            <a:avLst/>
          </a:prstGeom>
          <a:noFill/>
          <a:ln w="9525">
            <a:noFill/>
            <a:miter lim="800000"/>
            <a:headEnd/>
            <a:tailEnd/>
          </a:ln>
          <a:effectLst/>
        </p:spPr>
      </p:pic>
    </p:spTree>
    <p:extLst>
      <p:ext uri="{BB962C8B-B14F-4D97-AF65-F5344CB8AC3E}">
        <p14:creationId xmlns:p14="http://schemas.microsoft.com/office/powerpoint/2010/main" val="286185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22">
                                            <p:txEl>
                                              <p:pRg st="0" end="0"/>
                                            </p:txEl>
                                          </p:spTgt>
                                        </p:tgtEl>
                                        <p:attrNameLst>
                                          <p:attrName>style.visibility</p:attrName>
                                        </p:attrNameLst>
                                      </p:cBhvr>
                                      <p:to>
                                        <p:strVal val="visible"/>
                                      </p:to>
                                    </p:set>
                                    <p:animEffect transition="in" filter="blinds(horizontal)">
                                      <p:cBhvr>
                                        <p:cTn id="7" dur="500"/>
                                        <p:tgtEl>
                                          <p:spTgt spid="307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723"/>
                                        </p:tgtEl>
                                        <p:attrNameLst>
                                          <p:attrName>style.visibility</p:attrName>
                                        </p:attrNameLst>
                                      </p:cBhvr>
                                      <p:to>
                                        <p:strVal val="visible"/>
                                      </p:to>
                                    </p:set>
                                    <p:animEffect transition="in" filter="blinds(horizontal)">
                                      <p:cBhvr>
                                        <p:cTn id="12" dur="500"/>
                                        <p:tgtEl>
                                          <p:spTgt spid="30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5870" y="381000"/>
            <a:ext cx="6700930" cy="1066800"/>
          </a:xfrm>
        </p:spPr>
        <p:txBody>
          <a:bodyPr>
            <a:normAutofit fontScale="90000"/>
          </a:bodyPr>
          <a:lstStyle/>
          <a:p>
            <a:r>
              <a:rPr lang="en-US" dirty="0">
                <a:solidFill>
                  <a:srgbClr val="0070C0"/>
                </a:solidFill>
              </a:rPr>
              <a:t>Can you draw Jointed Arm</a:t>
            </a:r>
            <a:r>
              <a:rPr lang="en-IN" dirty="0" smtClean="0">
                <a:solidFill>
                  <a:srgbClr val="0070C0"/>
                </a:solidFill>
              </a:rPr>
              <a:t> </a:t>
            </a:r>
            <a:r>
              <a:rPr lang="en-IN" dirty="0">
                <a:solidFill>
                  <a:srgbClr val="0070C0"/>
                </a:solidFill>
              </a:rPr>
              <a:t>type robot?</a:t>
            </a:r>
            <a:r>
              <a:rPr lang="en-US" dirty="0">
                <a:solidFill>
                  <a:srgbClr val="0070C0"/>
                </a:solidFill>
              </a:rPr>
              <a:t> </a:t>
            </a:r>
            <a:br>
              <a:rPr lang="en-US" dirty="0">
                <a:solidFill>
                  <a:srgbClr val="0070C0"/>
                </a:solidFill>
              </a:rPr>
            </a:br>
            <a:r>
              <a:rPr lang="en-US" sz="3100" dirty="0">
                <a:solidFill>
                  <a:srgbClr val="0070C0"/>
                </a:solidFill>
              </a:rPr>
              <a:t>(Symbolic representation)</a:t>
            </a:r>
            <a:endParaRPr lang="en-IN" dirty="0"/>
          </a:p>
        </p:txBody>
      </p:sp>
      <p:sp>
        <p:nvSpPr>
          <p:cNvPr id="4" name="Date Placeholder 3"/>
          <p:cNvSpPr>
            <a:spLocks noGrp="1"/>
          </p:cNvSpPr>
          <p:nvPr>
            <p:ph type="dt" sz="half" idx="14"/>
          </p:nvPr>
        </p:nvSpPr>
        <p:spPr/>
        <p:txBody>
          <a:bodyPr/>
          <a:lstStyle/>
          <a:p>
            <a:fld id="{F5B96332-99F4-40B1-89C7-48C599AA4837}" type="datetime1">
              <a:rPr lang="en-US" smtClean="0"/>
              <a:t>10/29/2020</a:t>
            </a:fld>
            <a:endParaRPr lang="en-IN"/>
          </a:p>
        </p:txBody>
      </p:sp>
      <p:sp>
        <p:nvSpPr>
          <p:cNvPr id="5" name="Slide Number Placeholder 4"/>
          <p:cNvSpPr>
            <a:spLocks noGrp="1"/>
          </p:cNvSpPr>
          <p:nvPr>
            <p:ph type="sldNum" sz="quarter" idx="15"/>
          </p:nvPr>
        </p:nvSpPr>
        <p:spPr/>
        <p:txBody>
          <a:bodyPr/>
          <a:lstStyle/>
          <a:p>
            <a:fld id="{41F94EDD-D845-48AB-B01E-E1FCDA2D3009}" type="slidenum">
              <a:rPr lang="en-IN" smtClean="0"/>
              <a:pPr/>
              <a:t>61</a:t>
            </a:fld>
            <a:endParaRPr lang="en-IN"/>
          </a:p>
        </p:txBody>
      </p:sp>
      <p:sp>
        <p:nvSpPr>
          <p:cNvPr id="6" name="Footer Placeholder 5"/>
          <p:cNvSpPr>
            <a:spLocks noGrp="1"/>
          </p:cNvSpPr>
          <p:nvPr>
            <p:ph type="ftr" sz="quarter" idx="16"/>
          </p:nvPr>
        </p:nvSpPr>
        <p:spPr/>
        <p:txBody>
          <a:bodyPr/>
          <a:lstStyle/>
          <a:p>
            <a:endParaRPr lang="en-IN"/>
          </a:p>
        </p:txBody>
      </p:sp>
      <p:graphicFrame>
        <p:nvGraphicFramePr>
          <p:cNvPr id="7" name="Object 10"/>
          <p:cNvGraphicFramePr>
            <a:graphicFrameLocks noChangeAspect="1"/>
          </p:cNvGraphicFramePr>
          <p:nvPr>
            <p:extLst>
              <p:ext uri="{D42A27DB-BD31-4B8C-83A1-F6EECF244321}">
                <p14:modId xmlns:p14="http://schemas.microsoft.com/office/powerpoint/2010/main" val="1405403380"/>
              </p:ext>
            </p:extLst>
          </p:nvPr>
        </p:nvGraphicFramePr>
        <p:xfrm>
          <a:off x="457200" y="2667000"/>
          <a:ext cx="4049397" cy="2676524"/>
        </p:xfrm>
        <a:graphic>
          <a:graphicData uri="http://schemas.openxmlformats.org/presentationml/2006/ole">
            <mc:AlternateContent xmlns:mc="http://schemas.openxmlformats.org/markup-compatibility/2006">
              <mc:Choice xmlns:v="urn:schemas-microsoft-com:vml" Requires="v">
                <p:oleObj spid="_x0000_s6182" name="Bitmap Image" r:id="rId3" imgW="3343742" imgH="2209524" progId="PBrush">
                  <p:embed/>
                </p:oleObj>
              </mc:Choice>
              <mc:Fallback>
                <p:oleObj name="Bitmap Image" r:id="rId3" imgW="3343742" imgH="2209524" progId="PBrush">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667000"/>
                        <a:ext cx="4049397" cy="2676524"/>
                      </a:xfrm>
                      <a:prstGeom prst="rect">
                        <a:avLst/>
                      </a:prstGeom>
                      <a:noFill/>
                      <a:ln>
                        <a:noFill/>
                      </a:ln>
                      <a:effectLst/>
                    </p:spPr>
                  </p:pic>
                </p:oleObj>
              </mc:Fallback>
            </mc:AlternateContent>
          </a:graphicData>
        </a:graphic>
      </p:graphicFrame>
      <p:pic>
        <p:nvPicPr>
          <p:cNvPr id="8" name="Picture 7"/>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5016391" y="2362200"/>
            <a:ext cx="3129252" cy="2981324"/>
          </a:xfrm>
          <a:prstGeom prst="rect">
            <a:avLst/>
          </a:prstGeom>
        </p:spPr>
      </p:pic>
    </p:spTree>
    <p:extLst>
      <p:ext uri="{BB962C8B-B14F-4D97-AF65-F5344CB8AC3E}">
        <p14:creationId xmlns:p14="http://schemas.microsoft.com/office/powerpoint/2010/main" val="1717783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2910" y="2000240"/>
            <a:ext cx="3786214" cy="4583162"/>
          </a:xfrm>
          <a:prstGeom prst="rect">
            <a:avLst/>
          </a:prstGeom>
        </p:spPr>
        <p:txBody>
          <a:bodyPr wrap="square">
            <a:spAutoFit/>
          </a:bodyPr>
          <a:lstStyle/>
          <a:p>
            <a:pPr algn="just"/>
            <a:r>
              <a:rPr lang="en-IN" sz="2400" dirty="0" smtClean="0"/>
              <a:t>Selective Compliance Assembly Robot Arm. Similar in construction to the jointer-arm robot, except that the shoulder and elbow rotational axes are vertical, which means that the arm is very rigid in the vertical direction, but compliant in the horizontal direction. 	</a:t>
            </a:r>
          </a:p>
        </p:txBody>
      </p:sp>
      <p:sp>
        <p:nvSpPr>
          <p:cNvPr id="3" name="Rectangle 2"/>
          <p:cNvSpPr>
            <a:spLocks noChangeArrowheads="1"/>
          </p:cNvSpPr>
          <p:nvPr/>
        </p:nvSpPr>
        <p:spPr bwMode="auto">
          <a:xfrm>
            <a:off x="381000" y="533400"/>
            <a:ext cx="8763000" cy="1219200"/>
          </a:xfrm>
          <a:prstGeom prst="rect">
            <a:avLst/>
          </a:prstGeom>
          <a:noFill/>
          <a:ln w="9525">
            <a:noFill/>
            <a:miter lim="800000"/>
            <a:headEnd/>
            <a:tailEnd/>
          </a:ln>
        </p:spPr>
        <p:txBody>
          <a:bodyPr anchor="b"/>
          <a:lstStyle/>
          <a:p>
            <a:pPr algn="ctr"/>
            <a:r>
              <a:rPr lang="en-US" sz="4800" dirty="0">
                <a:solidFill>
                  <a:srgbClr val="000000"/>
                </a:solidFill>
                <a:hlinkClick r:id="rId3" action="ppaction://hlinkfile"/>
              </a:rPr>
              <a:t>SCARA</a:t>
            </a:r>
            <a:r>
              <a:rPr lang="tr-TR" sz="4800" dirty="0">
                <a:solidFill>
                  <a:srgbClr val="000000"/>
                </a:solidFill>
                <a:hlinkClick r:id="rId3" action="ppaction://hlinkfile"/>
              </a:rPr>
              <a:t> </a:t>
            </a:r>
            <a:r>
              <a:rPr lang="en-US" sz="4800" dirty="0" smtClean="0">
                <a:solidFill>
                  <a:srgbClr val="0070C0"/>
                </a:solidFill>
                <a:hlinkClick r:id="rId3" action="ppaction://hlinkfile"/>
              </a:rPr>
              <a:t>Robots</a:t>
            </a:r>
            <a:endParaRPr lang="en-US" sz="4800" dirty="0" smtClean="0">
              <a:solidFill>
                <a:srgbClr val="0070C0"/>
              </a:solidFill>
            </a:endParaRPr>
          </a:p>
          <a:p>
            <a:pPr algn="ctr"/>
            <a:r>
              <a:rPr lang="tr-TR" sz="3200" dirty="0" smtClean="0">
                <a:solidFill>
                  <a:srgbClr val="000000"/>
                </a:solidFill>
              </a:rPr>
              <a:t>(</a:t>
            </a:r>
            <a:r>
              <a:rPr lang="en-US" sz="3200" i="1" dirty="0">
                <a:solidFill>
                  <a:srgbClr val="000000"/>
                </a:solidFill>
              </a:rPr>
              <a:t>S</a:t>
            </a:r>
            <a:r>
              <a:rPr lang="en-US" i="1" dirty="0">
                <a:solidFill>
                  <a:srgbClr val="000000"/>
                </a:solidFill>
              </a:rPr>
              <a:t>elective</a:t>
            </a:r>
            <a:r>
              <a:rPr lang="en-US" sz="3200" i="1" dirty="0">
                <a:solidFill>
                  <a:srgbClr val="000000"/>
                </a:solidFill>
              </a:rPr>
              <a:t> C</a:t>
            </a:r>
            <a:r>
              <a:rPr lang="en-US" i="1" dirty="0">
                <a:solidFill>
                  <a:srgbClr val="000000"/>
                </a:solidFill>
              </a:rPr>
              <a:t>ompliance</a:t>
            </a:r>
            <a:r>
              <a:rPr lang="tr-TR" sz="3200" i="1" dirty="0">
                <a:solidFill>
                  <a:srgbClr val="000000"/>
                </a:solidFill>
              </a:rPr>
              <a:t> </a:t>
            </a:r>
            <a:r>
              <a:rPr lang="en-US" sz="3200" i="1" dirty="0">
                <a:solidFill>
                  <a:srgbClr val="000000"/>
                </a:solidFill>
              </a:rPr>
              <a:t>A</a:t>
            </a:r>
            <a:r>
              <a:rPr lang="en-US" i="1" dirty="0">
                <a:solidFill>
                  <a:srgbClr val="000000"/>
                </a:solidFill>
              </a:rPr>
              <a:t>rticulated</a:t>
            </a:r>
            <a:r>
              <a:rPr lang="en-US" sz="3200" i="1" dirty="0">
                <a:solidFill>
                  <a:srgbClr val="000000"/>
                </a:solidFill>
              </a:rPr>
              <a:t> R</a:t>
            </a:r>
            <a:r>
              <a:rPr lang="en-US" i="1" dirty="0">
                <a:solidFill>
                  <a:srgbClr val="000000"/>
                </a:solidFill>
              </a:rPr>
              <a:t>obot </a:t>
            </a:r>
            <a:r>
              <a:rPr lang="en-US" sz="3200" i="1" dirty="0">
                <a:solidFill>
                  <a:srgbClr val="000000"/>
                </a:solidFill>
              </a:rPr>
              <a:t>A</a:t>
            </a:r>
            <a:r>
              <a:rPr lang="en-US" i="1" dirty="0">
                <a:solidFill>
                  <a:srgbClr val="000000"/>
                </a:solidFill>
              </a:rPr>
              <a:t>rm</a:t>
            </a:r>
            <a:r>
              <a:rPr lang="en-US" sz="3200" i="1" dirty="0" smtClean="0">
                <a:solidFill>
                  <a:srgbClr val="000000"/>
                </a:solidFill>
              </a:rPr>
              <a:t>)</a:t>
            </a:r>
            <a:endParaRPr lang="en-US" sz="3200" dirty="0">
              <a:solidFill>
                <a:srgbClr val="000000"/>
              </a:solidFill>
            </a:endParaRPr>
          </a:p>
        </p:txBody>
      </p:sp>
      <p:pic>
        <p:nvPicPr>
          <p:cNvPr id="4" name="Picture 1"/>
          <p:cNvPicPr>
            <a:picLocks noChangeAspect="1" noChangeArrowheads="1"/>
          </p:cNvPicPr>
          <p:nvPr/>
        </p:nvPicPr>
        <p:blipFill>
          <a:blip r:embed="rId4"/>
          <a:srcRect r="39790" b="32513"/>
          <a:stretch>
            <a:fillRect/>
          </a:stretch>
        </p:blipFill>
        <p:spPr bwMode="auto">
          <a:xfrm>
            <a:off x="5072066" y="1857364"/>
            <a:ext cx="3504063" cy="2500330"/>
          </a:xfrm>
          <a:prstGeom prst="rect">
            <a:avLst/>
          </a:prstGeom>
          <a:noFill/>
          <a:ln w="9525">
            <a:noFill/>
            <a:miter lim="800000"/>
            <a:headEnd/>
            <a:tailEnd/>
          </a:ln>
        </p:spPr>
      </p:pic>
      <p:graphicFrame>
        <p:nvGraphicFramePr>
          <p:cNvPr id="5123" name="Object 10"/>
          <p:cNvGraphicFramePr>
            <a:graphicFrameLocks noChangeAspect="1"/>
          </p:cNvGraphicFramePr>
          <p:nvPr/>
        </p:nvGraphicFramePr>
        <p:xfrm>
          <a:off x="5572132" y="4357694"/>
          <a:ext cx="3000375" cy="2247900"/>
        </p:xfrm>
        <a:graphic>
          <a:graphicData uri="http://schemas.openxmlformats.org/presentationml/2006/ole">
            <mc:AlternateContent xmlns:mc="http://schemas.openxmlformats.org/markup-compatibility/2006">
              <mc:Choice xmlns:v="urn:schemas-microsoft-com:vml" Requires="v">
                <p:oleObj spid="_x0000_s5165" name="Bitmap Image" r:id="rId5" imgW="3000000" imgH="2247619" progId="PBrush">
                  <p:embed/>
                </p:oleObj>
              </mc:Choice>
              <mc:Fallback>
                <p:oleObj name="Bitmap Image" r:id="rId5" imgW="3000000" imgH="2247619" progId="PBrush">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72132" y="4357694"/>
                        <a:ext cx="3000375" cy="224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88197522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3"/>
          <p:cNvSpPr txBox="1">
            <a:spLocks noChangeArrowheads="1"/>
          </p:cNvSpPr>
          <p:nvPr/>
        </p:nvSpPr>
        <p:spPr bwMode="auto">
          <a:xfrm>
            <a:off x="152400" y="2209800"/>
            <a:ext cx="4206875" cy="2647950"/>
          </a:xfrm>
          <a:prstGeom prst="rect">
            <a:avLst/>
          </a:prstGeom>
          <a:noFill/>
          <a:ln w="9525">
            <a:noFill/>
            <a:miter lim="800000"/>
            <a:headEnd/>
            <a:tailEnd/>
          </a:ln>
        </p:spPr>
        <p:txBody>
          <a:bodyPr>
            <a:spAutoFit/>
          </a:bodyPr>
          <a:lstStyle/>
          <a:p>
            <a:r>
              <a:rPr lang="en-US" sz="2400">
                <a:solidFill>
                  <a:srgbClr val="000000"/>
                </a:solidFill>
              </a:rPr>
              <a:t>A robot with at least 2 parallel rotary joints.</a:t>
            </a:r>
          </a:p>
          <a:p>
            <a:endParaRPr lang="tr-TR" sz="2400">
              <a:solidFill>
                <a:srgbClr val="000000"/>
              </a:solidFill>
            </a:endParaRPr>
          </a:p>
          <a:p>
            <a:endParaRPr lang="en-US" sz="2400">
              <a:solidFill>
                <a:srgbClr val="000000"/>
              </a:solidFill>
            </a:endParaRPr>
          </a:p>
          <a:p>
            <a:r>
              <a:rPr lang="en-US" sz="2400">
                <a:solidFill>
                  <a:srgbClr val="000000"/>
                </a:solidFill>
              </a:rPr>
              <a:t>Commonly used for:</a:t>
            </a:r>
          </a:p>
          <a:p>
            <a:pPr>
              <a:buFontTx/>
              <a:buChar char="•"/>
            </a:pPr>
            <a:r>
              <a:rPr lang="en-US" sz="2400">
                <a:solidFill>
                  <a:srgbClr val="000000"/>
                </a:solidFill>
              </a:rPr>
              <a:t>pick and place work</a:t>
            </a:r>
          </a:p>
          <a:p>
            <a:pPr>
              <a:buFontTx/>
              <a:buChar char="•"/>
            </a:pPr>
            <a:r>
              <a:rPr lang="en-US" sz="2400">
                <a:solidFill>
                  <a:srgbClr val="000000"/>
                </a:solidFill>
              </a:rPr>
              <a:t>assembly operations</a:t>
            </a:r>
          </a:p>
        </p:txBody>
      </p:sp>
      <p:pic>
        <p:nvPicPr>
          <p:cNvPr id="47108" name="Picture 4" descr="SCARA"/>
          <p:cNvPicPr>
            <a:picLocks noChangeAspect="1" noChangeArrowheads="1"/>
          </p:cNvPicPr>
          <p:nvPr/>
        </p:nvPicPr>
        <p:blipFill>
          <a:blip r:embed="rId3"/>
          <a:srcRect l="7674" t="19446" r="7913" b="24294"/>
          <a:stretch>
            <a:fillRect/>
          </a:stretch>
        </p:blipFill>
        <p:spPr bwMode="auto">
          <a:xfrm>
            <a:off x="4572000" y="1676400"/>
            <a:ext cx="4343400" cy="2311400"/>
          </a:xfrm>
          <a:prstGeom prst="rect">
            <a:avLst/>
          </a:prstGeom>
          <a:noFill/>
          <a:ln w="9525">
            <a:noFill/>
            <a:miter lim="800000"/>
            <a:headEnd/>
            <a:tailEnd/>
          </a:ln>
        </p:spPr>
      </p:pic>
      <p:pic>
        <p:nvPicPr>
          <p:cNvPr id="47109" name="Picture 5" descr="rfa_1606_10326491"/>
          <p:cNvPicPr>
            <a:picLocks noChangeAspect="1" noChangeArrowheads="1"/>
          </p:cNvPicPr>
          <p:nvPr/>
        </p:nvPicPr>
        <p:blipFill>
          <a:blip r:embed="rId4"/>
          <a:srcRect/>
          <a:stretch>
            <a:fillRect/>
          </a:stretch>
        </p:blipFill>
        <p:spPr bwMode="auto">
          <a:xfrm>
            <a:off x="4572000" y="4267200"/>
            <a:ext cx="4343400" cy="2438400"/>
          </a:xfrm>
          <a:prstGeom prst="rect">
            <a:avLst/>
          </a:prstGeom>
          <a:noFill/>
          <a:ln w="9525">
            <a:noFill/>
            <a:miter lim="800000"/>
            <a:headEnd/>
            <a:tailEnd/>
          </a:ln>
        </p:spPr>
      </p:pic>
      <p:sp>
        <p:nvSpPr>
          <p:cNvPr id="6" name="Rectangle 5"/>
          <p:cNvSpPr>
            <a:spLocks noChangeArrowheads="1"/>
          </p:cNvSpPr>
          <p:nvPr/>
        </p:nvSpPr>
        <p:spPr bwMode="auto">
          <a:xfrm>
            <a:off x="381000" y="533400"/>
            <a:ext cx="8763000" cy="1219200"/>
          </a:xfrm>
          <a:prstGeom prst="rect">
            <a:avLst/>
          </a:prstGeom>
          <a:noFill/>
          <a:ln w="9525">
            <a:noFill/>
            <a:miter lim="800000"/>
            <a:headEnd/>
            <a:tailEnd/>
          </a:ln>
        </p:spPr>
        <p:txBody>
          <a:bodyPr anchor="b"/>
          <a:lstStyle/>
          <a:p>
            <a:pPr algn="ctr"/>
            <a:r>
              <a:rPr lang="en-US" sz="4800" dirty="0">
                <a:solidFill>
                  <a:srgbClr val="000000"/>
                </a:solidFill>
                <a:hlinkClick r:id="rId5" action="ppaction://hlinkfile"/>
              </a:rPr>
              <a:t>SCARA</a:t>
            </a:r>
            <a:r>
              <a:rPr lang="tr-TR" sz="4800" dirty="0">
                <a:solidFill>
                  <a:srgbClr val="000000"/>
                </a:solidFill>
                <a:hlinkClick r:id="rId5" action="ppaction://hlinkfile"/>
              </a:rPr>
              <a:t> </a:t>
            </a:r>
            <a:r>
              <a:rPr lang="en-US" sz="4800" dirty="0" smtClean="0">
                <a:solidFill>
                  <a:srgbClr val="0070C0"/>
                </a:solidFill>
                <a:hlinkClick r:id="rId5" action="ppaction://hlinkfile"/>
              </a:rPr>
              <a:t>Robots</a:t>
            </a:r>
            <a:endParaRPr lang="en-US" sz="4800" dirty="0" smtClean="0">
              <a:solidFill>
                <a:srgbClr val="0070C0"/>
              </a:solidFill>
            </a:endParaRPr>
          </a:p>
          <a:p>
            <a:pPr algn="ctr"/>
            <a:r>
              <a:rPr lang="tr-TR" sz="3200" dirty="0" smtClean="0">
                <a:solidFill>
                  <a:srgbClr val="000000"/>
                </a:solidFill>
              </a:rPr>
              <a:t>(</a:t>
            </a:r>
            <a:r>
              <a:rPr lang="en-US" sz="3200" i="1" dirty="0">
                <a:solidFill>
                  <a:srgbClr val="000000"/>
                </a:solidFill>
              </a:rPr>
              <a:t>S</a:t>
            </a:r>
            <a:r>
              <a:rPr lang="en-US" i="1" dirty="0">
                <a:solidFill>
                  <a:srgbClr val="000000"/>
                </a:solidFill>
              </a:rPr>
              <a:t>elective</a:t>
            </a:r>
            <a:r>
              <a:rPr lang="en-US" sz="3200" i="1" dirty="0">
                <a:solidFill>
                  <a:srgbClr val="000000"/>
                </a:solidFill>
              </a:rPr>
              <a:t> C</a:t>
            </a:r>
            <a:r>
              <a:rPr lang="en-US" i="1" dirty="0">
                <a:solidFill>
                  <a:srgbClr val="000000"/>
                </a:solidFill>
              </a:rPr>
              <a:t>ompliance</a:t>
            </a:r>
            <a:r>
              <a:rPr lang="tr-TR" sz="3200" i="1" dirty="0">
                <a:solidFill>
                  <a:srgbClr val="000000"/>
                </a:solidFill>
              </a:rPr>
              <a:t> </a:t>
            </a:r>
            <a:r>
              <a:rPr lang="en-US" sz="3200" i="1" dirty="0">
                <a:solidFill>
                  <a:srgbClr val="000000"/>
                </a:solidFill>
              </a:rPr>
              <a:t>A</a:t>
            </a:r>
            <a:r>
              <a:rPr lang="en-US" i="1" dirty="0">
                <a:solidFill>
                  <a:srgbClr val="000000"/>
                </a:solidFill>
              </a:rPr>
              <a:t>rticulated</a:t>
            </a:r>
            <a:r>
              <a:rPr lang="en-US" sz="3200" i="1" dirty="0">
                <a:solidFill>
                  <a:srgbClr val="000000"/>
                </a:solidFill>
              </a:rPr>
              <a:t> R</a:t>
            </a:r>
            <a:r>
              <a:rPr lang="en-US" i="1" dirty="0">
                <a:solidFill>
                  <a:srgbClr val="000000"/>
                </a:solidFill>
              </a:rPr>
              <a:t>obot </a:t>
            </a:r>
            <a:r>
              <a:rPr lang="en-US" sz="3200" i="1" dirty="0">
                <a:solidFill>
                  <a:srgbClr val="000000"/>
                </a:solidFill>
              </a:rPr>
              <a:t>A</a:t>
            </a:r>
            <a:r>
              <a:rPr lang="en-US" i="1" dirty="0">
                <a:solidFill>
                  <a:srgbClr val="000000"/>
                </a:solidFill>
              </a:rPr>
              <a:t>rm</a:t>
            </a:r>
            <a:r>
              <a:rPr lang="en-US" sz="3200" i="1" dirty="0" smtClean="0">
                <a:solidFill>
                  <a:srgbClr val="000000"/>
                </a:solidFill>
              </a:rPr>
              <a:t>)</a:t>
            </a:r>
            <a:endParaRPr lang="en-US" sz="3200" dirty="0">
              <a:solidFill>
                <a:srgbClr val="000000"/>
              </a:solidFill>
            </a:endParaRPr>
          </a:p>
        </p:txBody>
      </p:sp>
    </p:spTree>
    <p:extLst>
      <p:ext uri="{BB962C8B-B14F-4D97-AF65-F5344CB8AC3E}">
        <p14:creationId xmlns:p14="http://schemas.microsoft.com/office/powerpoint/2010/main" val="15350630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64C51E-230F-4DC7-A19F-01032FAF45D4}" type="datetime1">
              <a:rPr lang="en-US" smtClean="0"/>
              <a:t>10/29/2020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F94EDD-D845-48AB-B01E-E1FCDA2D3009}" type="slidenum">
              <a:rPr lang="en-IN" smtClean="0"/>
              <a:pPr/>
              <a:t>64</a:t>
            </a:fld>
            <a:endParaRPr lang="en-IN"/>
          </a:p>
        </p:txBody>
      </p:sp>
      <p:sp>
        <p:nvSpPr>
          <p:cNvPr id="5" name="Rectangle 4"/>
          <p:cNvSpPr/>
          <p:nvPr/>
        </p:nvSpPr>
        <p:spPr>
          <a:xfrm>
            <a:off x="2590800" y="381000"/>
            <a:ext cx="5791200" cy="830997"/>
          </a:xfrm>
          <a:prstGeom prst="rect">
            <a:avLst/>
          </a:prstGeom>
        </p:spPr>
        <p:txBody>
          <a:bodyPr wrap="square">
            <a:spAutoFit/>
          </a:bodyPr>
          <a:lstStyle/>
          <a:p>
            <a:pPr algn="ctr"/>
            <a:r>
              <a:rPr lang="en-US" sz="2800" dirty="0">
                <a:solidFill>
                  <a:srgbClr val="0070C0"/>
                </a:solidFill>
              </a:rPr>
              <a:t>Can you draw </a:t>
            </a:r>
            <a:r>
              <a:rPr lang="en-US" sz="2800" dirty="0" smtClean="0">
                <a:solidFill>
                  <a:srgbClr val="0070C0"/>
                </a:solidFill>
              </a:rPr>
              <a:t>SCARA </a:t>
            </a:r>
            <a:r>
              <a:rPr lang="en-IN" sz="2800" dirty="0" smtClean="0">
                <a:solidFill>
                  <a:srgbClr val="0070C0"/>
                </a:solidFill>
              </a:rPr>
              <a:t>type </a:t>
            </a:r>
            <a:r>
              <a:rPr lang="en-IN" sz="2800" dirty="0">
                <a:solidFill>
                  <a:srgbClr val="0070C0"/>
                </a:solidFill>
              </a:rPr>
              <a:t>robot?</a:t>
            </a:r>
            <a:r>
              <a:rPr lang="en-US" sz="2800" dirty="0">
                <a:solidFill>
                  <a:srgbClr val="0070C0"/>
                </a:solidFill>
              </a:rPr>
              <a:t> </a:t>
            </a:r>
            <a:br>
              <a:rPr lang="en-US" sz="2800" dirty="0">
                <a:solidFill>
                  <a:srgbClr val="0070C0"/>
                </a:solidFill>
              </a:rPr>
            </a:br>
            <a:r>
              <a:rPr lang="en-US" sz="2000" dirty="0">
                <a:solidFill>
                  <a:srgbClr val="0070C0"/>
                </a:solidFill>
              </a:rPr>
              <a:t>(Symbolic representation)</a:t>
            </a:r>
            <a:endParaRPr lang="en-IN" sz="2800" dirty="0"/>
          </a:p>
        </p:txBody>
      </p:sp>
      <p:pic>
        <p:nvPicPr>
          <p:cNvPr id="6" name="Picture 5"/>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4800600" y="2240181"/>
            <a:ext cx="3581400" cy="2737116"/>
          </a:xfrm>
          <a:prstGeom prst="rect">
            <a:avLst/>
          </a:prstGeom>
        </p:spPr>
      </p:pic>
      <p:graphicFrame>
        <p:nvGraphicFramePr>
          <p:cNvPr id="7" name="Object 10"/>
          <p:cNvGraphicFramePr>
            <a:graphicFrameLocks noChangeAspect="1"/>
          </p:cNvGraphicFramePr>
          <p:nvPr>
            <p:extLst>
              <p:ext uri="{D42A27DB-BD31-4B8C-83A1-F6EECF244321}">
                <p14:modId xmlns:p14="http://schemas.microsoft.com/office/powerpoint/2010/main" val="1986008233"/>
              </p:ext>
            </p:extLst>
          </p:nvPr>
        </p:nvGraphicFramePr>
        <p:xfrm>
          <a:off x="914400" y="2271712"/>
          <a:ext cx="3000375" cy="2247900"/>
        </p:xfrm>
        <a:graphic>
          <a:graphicData uri="http://schemas.openxmlformats.org/presentationml/2006/ole">
            <mc:AlternateContent xmlns:mc="http://schemas.openxmlformats.org/markup-compatibility/2006">
              <mc:Choice xmlns:v="urn:schemas-microsoft-com:vml" Requires="v">
                <p:oleObj spid="_x0000_s7206" name="Bitmap Image" r:id="rId5" imgW="3000000" imgH="2247619" progId="PBrush">
                  <p:embed/>
                </p:oleObj>
              </mc:Choice>
              <mc:Fallback>
                <p:oleObj name="Bitmap Image" r:id="rId5" imgW="3000000" imgH="2247619" progId="PBrush">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2271712"/>
                        <a:ext cx="3000375" cy="224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15322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617784874"/>
              </p:ext>
            </p:extLst>
          </p:nvPr>
        </p:nvGraphicFramePr>
        <p:xfrm>
          <a:off x="1828800" y="228600"/>
          <a:ext cx="7157693" cy="6487723"/>
        </p:xfrm>
        <a:graphic>
          <a:graphicData uri="http://schemas.openxmlformats.org/drawingml/2006/table">
            <a:tbl>
              <a:tblPr/>
              <a:tblGrid>
                <a:gridCol w="1809758"/>
                <a:gridCol w="2257115"/>
                <a:gridCol w="3090820"/>
              </a:tblGrid>
              <a:tr h="195943">
                <a:tc>
                  <a:txBody>
                    <a:bodyPr/>
                    <a:lstStyle/>
                    <a:p>
                      <a:pPr algn="ctr" fontAlgn="t"/>
                      <a:r>
                        <a:rPr lang="en-US" sz="1600" b="1" i="0" u="none" strike="noStrike" dirty="0">
                          <a:solidFill>
                            <a:srgbClr val="333333"/>
                          </a:solidFill>
                          <a:latin typeface="Arial"/>
                        </a:rPr>
                        <a:t>Configuration</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1" i="0" u="none" strike="noStrike">
                          <a:solidFill>
                            <a:srgbClr val="333333"/>
                          </a:solidFill>
                          <a:latin typeface="Arial"/>
                        </a:rPr>
                        <a:t>Advantages</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600" b="1" i="0" u="none" strike="noStrike" dirty="0">
                          <a:solidFill>
                            <a:srgbClr val="333333"/>
                          </a:solidFill>
                          <a:latin typeface="Arial"/>
                        </a:rPr>
                        <a:t>Disadvantages</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077685">
                <a:tc>
                  <a:txBody>
                    <a:bodyPr/>
                    <a:lstStyle/>
                    <a:p>
                      <a:pPr algn="ctr" fontAlgn="t"/>
                      <a:r>
                        <a:rPr lang="en-US" sz="1800" b="1" i="0" u="none" strike="noStrike" dirty="0">
                          <a:solidFill>
                            <a:srgbClr val="333333"/>
                          </a:solidFill>
                          <a:latin typeface="Arial"/>
                        </a:rPr>
                        <a:t>Cartesian coordinates</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800" b="0" i="0" u="none" strike="noStrike" dirty="0">
                          <a:solidFill>
                            <a:srgbClr val="000000"/>
                          </a:solidFill>
                          <a:latin typeface="Calibri"/>
                        </a:rPr>
                        <a:t>3 linear axes, easy to visualize, rigid structure, easy to program</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800" b="0" i="0" u="none" strike="noStrike">
                          <a:solidFill>
                            <a:srgbClr val="000000"/>
                          </a:solidFill>
                          <a:latin typeface="Calibri"/>
                        </a:rPr>
                        <a:t>Can only reach front of itself, requires large floor space, axes hard to seal</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63486">
                <a:tc>
                  <a:txBody>
                    <a:bodyPr/>
                    <a:lstStyle/>
                    <a:p>
                      <a:pPr algn="ctr" fontAlgn="t"/>
                      <a:r>
                        <a:rPr lang="en-US" sz="1800" b="1" i="0" u="none" strike="noStrike">
                          <a:solidFill>
                            <a:srgbClr val="333333"/>
                          </a:solidFill>
                          <a:latin typeface="Arial"/>
                        </a:rPr>
                        <a:t>Cylindrical coordinates</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800" b="0" i="0" u="none" strike="noStrike" dirty="0">
                          <a:solidFill>
                            <a:srgbClr val="000000"/>
                          </a:solidFill>
                          <a:latin typeface="Calibri"/>
                        </a:rPr>
                        <a:t>2 linear axes +1 rotating, can reach all around itself, reach and height axes rigid, rotational axis easy to seal</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800" b="0" i="0" u="none" strike="noStrike" dirty="0">
                          <a:solidFill>
                            <a:srgbClr val="000000"/>
                          </a:solidFill>
                          <a:latin typeface="Calibri"/>
                        </a:rPr>
                        <a:t>Can’t reach above itself, base rotation axis as less rigid, linear axes is hard to seal, won’t reach around obstacles</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175657">
                <a:tc>
                  <a:txBody>
                    <a:bodyPr/>
                    <a:lstStyle/>
                    <a:p>
                      <a:pPr algn="ctr" fontAlgn="t"/>
                      <a:r>
                        <a:rPr lang="en-US" sz="1800" b="1" i="0" u="none" strike="noStrike">
                          <a:solidFill>
                            <a:srgbClr val="333333"/>
                          </a:solidFill>
                          <a:latin typeface="Arial"/>
                        </a:rPr>
                        <a:t>SCARA coordinates</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800" b="0" i="0" u="none" strike="noStrike" dirty="0">
                          <a:solidFill>
                            <a:srgbClr val="000000"/>
                          </a:solidFill>
                          <a:latin typeface="Calibri"/>
                        </a:rPr>
                        <a:t>1 linear + 2 rotating axes, height axis is rigid, large work area for floor space</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800" b="0" i="0" u="none" strike="noStrike" dirty="0">
                          <a:solidFill>
                            <a:srgbClr val="000000"/>
                          </a:solidFill>
                          <a:latin typeface="Calibri"/>
                        </a:rPr>
                        <a:t>2 ways to reach point, difficult to program off-line, highly complex arm</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85801">
                <a:tc>
                  <a:txBody>
                    <a:bodyPr/>
                    <a:lstStyle/>
                    <a:p>
                      <a:pPr algn="ctr" fontAlgn="t"/>
                      <a:r>
                        <a:rPr lang="en-US" sz="1800" b="1" i="0" u="none" strike="noStrike">
                          <a:solidFill>
                            <a:srgbClr val="333333"/>
                          </a:solidFill>
                          <a:latin typeface="Arial"/>
                        </a:rPr>
                        <a:t>Spherical coordinates</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800" b="0" i="0" u="none" strike="noStrike">
                          <a:solidFill>
                            <a:srgbClr val="000000"/>
                          </a:solidFill>
                          <a:latin typeface="Calibri"/>
                        </a:rPr>
                        <a:t>1 linear + 2 rotating axes, long horizontal reach</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800" b="0" i="0" u="none" strike="noStrike" dirty="0">
                          <a:solidFill>
                            <a:srgbClr val="000000"/>
                          </a:solidFill>
                          <a:latin typeface="Calibri"/>
                        </a:rPr>
                        <a:t>Can’t reach around obstacles, short vertical reach</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73628">
                <a:tc>
                  <a:txBody>
                    <a:bodyPr/>
                    <a:lstStyle/>
                    <a:p>
                      <a:pPr algn="ctr" fontAlgn="t"/>
                      <a:r>
                        <a:rPr lang="en-US" sz="1800" b="1" i="0" u="none" strike="noStrike">
                          <a:solidFill>
                            <a:srgbClr val="333333"/>
                          </a:solidFill>
                          <a:latin typeface="Arial"/>
                        </a:rPr>
                        <a:t>Revolute coordinates</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800" b="0" i="0" u="none" strike="noStrike">
                          <a:solidFill>
                            <a:srgbClr val="000000"/>
                          </a:solidFill>
                          <a:latin typeface="Calibri"/>
                        </a:rPr>
                        <a:t>3 rotating axes can reach above or below obstacles, largest work area for least floor space</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800" b="0" i="0" u="none" strike="noStrike" dirty="0">
                          <a:solidFill>
                            <a:srgbClr val="000000"/>
                          </a:solidFill>
                          <a:latin typeface="Calibri"/>
                        </a:rPr>
                        <a:t>Difficult to program off-line, 2 or 4 ways to reach a point, most complex manipulator</a:t>
                      </a:r>
                    </a:p>
                  </a:txBody>
                  <a:tcPr marL="3225" marR="3225" marT="32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3584104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descr="http://nptel.ac.in/courses/112103174/module7/lec5/images/02.png"/>
          <p:cNvPicPr>
            <a:picLocks noChangeAspect="1" noChangeArrowheads="1"/>
          </p:cNvPicPr>
          <p:nvPr/>
        </p:nvPicPr>
        <p:blipFill>
          <a:blip r:embed="rId2"/>
          <a:srcRect/>
          <a:stretch>
            <a:fillRect/>
          </a:stretch>
        </p:blipFill>
        <p:spPr bwMode="auto">
          <a:xfrm>
            <a:off x="685800" y="914400"/>
            <a:ext cx="8086756" cy="5479733"/>
          </a:xfrm>
          <a:prstGeom prst="rect">
            <a:avLst/>
          </a:prstGeom>
          <a:noFill/>
        </p:spPr>
      </p:pic>
    </p:spTree>
    <p:extLst>
      <p:ext uri="{BB962C8B-B14F-4D97-AF65-F5344CB8AC3E}">
        <p14:creationId xmlns:p14="http://schemas.microsoft.com/office/powerpoint/2010/main" val="195689537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457200" y="274638"/>
            <a:ext cx="7467600" cy="796908"/>
          </a:xfrm>
        </p:spPr>
        <p:txBody>
          <a:bodyPr/>
          <a:lstStyle/>
          <a:p>
            <a:r>
              <a:rPr lang="en-GB" dirty="0" smtClean="0">
                <a:solidFill>
                  <a:srgbClr val="FF0000"/>
                </a:solidFill>
              </a:rPr>
              <a:t>Working Envelope </a:t>
            </a:r>
            <a:endParaRPr lang="en-IE" dirty="0" smtClean="0">
              <a:solidFill>
                <a:srgbClr val="FF0000"/>
              </a:solidFill>
            </a:endParaRPr>
          </a:p>
        </p:txBody>
      </p:sp>
      <p:pic>
        <p:nvPicPr>
          <p:cNvPr id="30723" name="Picture 3" descr="http://www.osha.gov/dts/osta/otm/otm_iv/otm_iv_4fig06.gif"/>
          <p:cNvPicPr>
            <a:picLocks noChangeAspect="1" noChangeArrowheads="1"/>
          </p:cNvPicPr>
          <p:nvPr/>
        </p:nvPicPr>
        <p:blipFill>
          <a:blip r:embed="rId2"/>
          <a:srcRect/>
          <a:stretch>
            <a:fillRect/>
          </a:stretch>
        </p:blipFill>
        <p:spPr bwMode="auto">
          <a:xfrm>
            <a:off x="642910" y="1357298"/>
            <a:ext cx="7500937" cy="5286375"/>
          </a:xfrm>
          <a:prstGeom prst="rect">
            <a:avLst/>
          </a:prstGeom>
          <a:noFill/>
          <a:ln w="9525">
            <a:noFill/>
            <a:miter lim="800000"/>
            <a:headEnd/>
            <a:tailEnd/>
          </a:ln>
        </p:spPr>
      </p:pic>
    </p:spTree>
    <p:extLst>
      <p:ext uri="{BB962C8B-B14F-4D97-AF65-F5344CB8AC3E}">
        <p14:creationId xmlns:p14="http://schemas.microsoft.com/office/powerpoint/2010/main" val="93501400"/>
      </p:ext>
    </p:extLst>
  </p:cSld>
  <p:clrMapOvr>
    <a:masterClrMapping/>
  </p:clrMapOvr>
  <p:transition advClick="0"/>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8" name="Picture 4" descr="http://www.robot-welding.com/images/robots.gif"/>
          <p:cNvPicPr>
            <a:picLocks noChangeAspect="1" noChangeArrowheads="1"/>
          </p:cNvPicPr>
          <p:nvPr/>
        </p:nvPicPr>
        <p:blipFill>
          <a:blip r:embed="rId2"/>
          <a:srcRect/>
          <a:stretch>
            <a:fillRect/>
          </a:stretch>
        </p:blipFill>
        <p:spPr bwMode="auto">
          <a:xfrm>
            <a:off x="1828800" y="2628"/>
            <a:ext cx="4000528" cy="6624201"/>
          </a:xfrm>
          <a:prstGeom prst="rect">
            <a:avLst/>
          </a:prstGeom>
          <a:noFill/>
        </p:spPr>
      </p:pic>
      <p:pic>
        <p:nvPicPr>
          <p:cNvPr id="88070" name="Picture 6" descr="https://www.prismnet.com/~hcexres/textbook/examples/images/TWCLASF1.GIF"/>
          <p:cNvPicPr>
            <a:picLocks noChangeAspect="1" noChangeArrowheads="1"/>
          </p:cNvPicPr>
          <p:nvPr/>
        </p:nvPicPr>
        <p:blipFill>
          <a:blip r:embed="rId3"/>
          <a:srcRect/>
          <a:stretch>
            <a:fillRect/>
          </a:stretch>
        </p:blipFill>
        <p:spPr bwMode="auto">
          <a:xfrm>
            <a:off x="5682812" y="2628"/>
            <a:ext cx="3448050" cy="6858001"/>
          </a:xfrm>
          <a:prstGeom prst="rect">
            <a:avLst/>
          </a:prstGeom>
          <a:noFill/>
        </p:spPr>
      </p:pic>
    </p:spTree>
    <p:extLst>
      <p:ext uri="{BB962C8B-B14F-4D97-AF65-F5344CB8AC3E}">
        <p14:creationId xmlns:p14="http://schemas.microsoft.com/office/powerpoint/2010/main" val="239364302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4" descr="8"/>
          <p:cNvPicPr>
            <a:picLocks noChangeAspect="1" noChangeArrowheads="1"/>
          </p:cNvPicPr>
          <p:nvPr/>
        </p:nvPicPr>
        <p:blipFill>
          <a:blip r:embed="rId2"/>
          <a:srcRect/>
          <a:stretch>
            <a:fillRect/>
          </a:stretch>
        </p:blipFill>
        <p:spPr bwMode="auto">
          <a:xfrm>
            <a:off x="3693036" y="4071966"/>
            <a:ext cx="5022368" cy="2714620"/>
          </a:xfrm>
          <a:prstGeom prst="rect">
            <a:avLst/>
          </a:prstGeom>
          <a:noFill/>
          <a:ln w="9525">
            <a:noFill/>
            <a:miter lim="800000"/>
            <a:headEnd/>
            <a:tailEnd/>
          </a:ln>
        </p:spPr>
      </p:pic>
      <p:sp>
        <p:nvSpPr>
          <p:cNvPr id="23555" name="Rectangle 2"/>
          <p:cNvSpPr>
            <a:spLocks noGrp="1" noChangeArrowheads="1"/>
          </p:cNvSpPr>
          <p:nvPr>
            <p:ph type="title"/>
          </p:nvPr>
        </p:nvSpPr>
        <p:spPr/>
        <p:txBody>
          <a:bodyPr/>
          <a:lstStyle/>
          <a:p>
            <a:pPr eaLnBrk="1" hangingPunct="1"/>
            <a:r>
              <a:rPr lang="en-US" dirty="0" smtClean="0">
                <a:solidFill>
                  <a:srgbClr val="0070C0"/>
                </a:solidFill>
              </a:rPr>
              <a:t>Wrist Configurations</a:t>
            </a:r>
          </a:p>
        </p:txBody>
      </p:sp>
      <p:sp>
        <p:nvSpPr>
          <p:cNvPr id="23556" name="Rectangle 3"/>
          <p:cNvSpPr>
            <a:spLocks noGrp="1" noChangeArrowheads="1"/>
          </p:cNvSpPr>
          <p:nvPr>
            <p:ph type="body" idx="1"/>
          </p:nvPr>
        </p:nvSpPr>
        <p:spPr>
          <a:xfrm>
            <a:off x="457200" y="1600200"/>
            <a:ext cx="8229600" cy="4614882"/>
          </a:xfrm>
        </p:spPr>
        <p:txBody>
          <a:bodyPr>
            <a:normAutofit/>
          </a:bodyPr>
          <a:lstStyle/>
          <a:p>
            <a:pPr eaLnBrk="1" hangingPunct="1"/>
            <a:r>
              <a:rPr lang="en-US" sz="2800" dirty="0" smtClean="0"/>
              <a:t>Wrist assembly is attached to end-of-arm</a:t>
            </a:r>
          </a:p>
          <a:p>
            <a:pPr eaLnBrk="1" hangingPunct="1"/>
            <a:r>
              <a:rPr lang="en-US" sz="2800" dirty="0" smtClean="0"/>
              <a:t>End </a:t>
            </a:r>
            <a:r>
              <a:rPr lang="en-US" sz="2800" dirty="0" err="1" smtClean="0"/>
              <a:t>effector</a:t>
            </a:r>
            <a:r>
              <a:rPr lang="en-US" sz="2800" dirty="0" smtClean="0"/>
              <a:t> is attached to wrist assembly </a:t>
            </a:r>
          </a:p>
          <a:p>
            <a:pPr eaLnBrk="1" hangingPunct="1"/>
            <a:r>
              <a:rPr lang="en-US" sz="2800" dirty="0" smtClean="0"/>
              <a:t>Function of wrist assembly is to orient end </a:t>
            </a:r>
            <a:r>
              <a:rPr lang="en-US" sz="2800" dirty="0" err="1" smtClean="0"/>
              <a:t>effector</a:t>
            </a:r>
            <a:r>
              <a:rPr lang="en-US" sz="2800" dirty="0" smtClean="0"/>
              <a:t> </a:t>
            </a:r>
          </a:p>
          <a:p>
            <a:pPr lvl="1" eaLnBrk="1" hangingPunct="1"/>
            <a:r>
              <a:rPr lang="en-US" sz="2400" dirty="0" smtClean="0"/>
              <a:t>Body-and-arm determines global position of end </a:t>
            </a:r>
            <a:r>
              <a:rPr lang="en-US" sz="2400" dirty="0" err="1" smtClean="0"/>
              <a:t>effector</a:t>
            </a:r>
            <a:endParaRPr lang="en-US" sz="2400" dirty="0" smtClean="0"/>
          </a:p>
          <a:p>
            <a:pPr eaLnBrk="1" hangingPunct="1"/>
            <a:r>
              <a:rPr lang="en-US" sz="2800" dirty="0" smtClean="0"/>
              <a:t>Two or three degrees of freedom:</a:t>
            </a:r>
          </a:p>
          <a:p>
            <a:pPr lvl="1" eaLnBrk="1" hangingPunct="1"/>
            <a:r>
              <a:rPr lang="en-US" sz="2400" dirty="0" smtClean="0"/>
              <a:t>Roll </a:t>
            </a:r>
          </a:p>
          <a:p>
            <a:pPr lvl="1" eaLnBrk="1" hangingPunct="1"/>
            <a:r>
              <a:rPr lang="en-US" sz="2400" dirty="0" smtClean="0"/>
              <a:t>Pitch</a:t>
            </a:r>
          </a:p>
          <a:p>
            <a:pPr lvl="1" eaLnBrk="1" hangingPunct="1"/>
            <a:r>
              <a:rPr lang="en-US" sz="2400" dirty="0" smtClean="0"/>
              <a:t>Yaw</a:t>
            </a:r>
          </a:p>
          <a:p>
            <a:pPr eaLnBrk="1" hangingPunct="1">
              <a:buNone/>
            </a:pPr>
            <a:endParaRPr lang="en-US" sz="2800" dirty="0" smtClean="0"/>
          </a:p>
          <a:p>
            <a:pPr eaLnBrk="1" hangingPunct="1"/>
            <a:endParaRPr lang="en-US" sz="2800" dirty="0" smtClean="0"/>
          </a:p>
        </p:txBody>
      </p:sp>
    </p:spTree>
    <p:extLst>
      <p:ext uri="{BB962C8B-B14F-4D97-AF65-F5344CB8AC3E}">
        <p14:creationId xmlns:p14="http://schemas.microsoft.com/office/powerpoint/2010/main" val="99382707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Six basic robot motions are ???</a:t>
            </a:r>
            <a:endParaRPr lang="en-IN" dirty="0">
              <a:solidFill>
                <a:srgbClr val="0070C0"/>
              </a:solidFill>
            </a:endParaRPr>
          </a:p>
        </p:txBody>
      </p:sp>
      <p:sp>
        <p:nvSpPr>
          <p:cNvPr id="3" name="Content Placeholder 2"/>
          <p:cNvSpPr>
            <a:spLocks noGrp="1"/>
          </p:cNvSpPr>
          <p:nvPr>
            <p:ph sz="quarter" idx="1"/>
          </p:nvPr>
        </p:nvSpPr>
        <p:spPr>
          <a:xfrm>
            <a:off x="457200" y="1600200"/>
            <a:ext cx="7829576" cy="4873752"/>
          </a:xfrm>
        </p:spPr>
        <p:txBody>
          <a:bodyPr>
            <a:normAutofit fontScale="85000" lnSpcReduction="20000"/>
          </a:bodyPr>
          <a:lstStyle/>
          <a:p>
            <a:pPr marL="457200" indent="-457200" algn="just">
              <a:buFont typeface="+mj-lt"/>
              <a:buAutoNum type="arabicPeriod"/>
            </a:pPr>
            <a:r>
              <a:rPr lang="en-IN" dirty="0" smtClean="0">
                <a:solidFill>
                  <a:srgbClr val="FF0000"/>
                </a:solidFill>
              </a:rPr>
              <a:t>Radial traverse: </a:t>
            </a:r>
            <a:r>
              <a:rPr lang="en-IN" dirty="0" smtClean="0"/>
              <a:t>Involve the extension and retraction (in or out movement) of the arm relative to the base</a:t>
            </a:r>
          </a:p>
          <a:p>
            <a:pPr marL="457200" indent="-457200" algn="just">
              <a:buFont typeface="+mj-lt"/>
              <a:buAutoNum type="arabicPeriod"/>
            </a:pPr>
            <a:r>
              <a:rPr lang="en-IN" dirty="0" smtClean="0">
                <a:solidFill>
                  <a:srgbClr val="FF0000"/>
                </a:solidFill>
              </a:rPr>
              <a:t>Vertical traverse: </a:t>
            </a:r>
            <a:r>
              <a:rPr lang="en-IN" dirty="0" smtClean="0"/>
              <a:t>Provide up-and-down motion of the arm </a:t>
            </a:r>
          </a:p>
          <a:p>
            <a:pPr marL="457200" indent="-457200" algn="just">
              <a:buFont typeface="+mj-lt"/>
              <a:buAutoNum type="arabicPeriod"/>
            </a:pPr>
            <a:r>
              <a:rPr lang="en-IN" dirty="0" smtClean="0">
                <a:solidFill>
                  <a:srgbClr val="FF0000"/>
                </a:solidFill>
              </a:rPr>
              <a:t>Rotational traverse: </a:t>
            </a:r>
            <a:r>
              <a:rPr lang="en-IN" dirty="0" smtClean="0"/>
              <a:t>Rotation of the arm about vertical axis such as left-and-right swivel of the robot arm about a base</a:t>
            </a:r>
          </a:p>
          <a:p>
            <a:pPr marL="457200" indent="-457200" algn="just">
              <a:buFont typeface="+mj-lt"/>
              <a:buAutoNum type="arabicPeriod"/>
            </a:pPr>
            <a:r>
              <a:rPr lang="en-IN" dirty="0" smtClean="0">
                <a:solidFill>
                  <a:srgbClr val="FF0000"/>
                </a:solidFill>
              </a:rPr>
              <a:t>Wrist Pitch/Bend: </a:t>
            </a:r>
            <a:r>
              <a:rPr lang="en-IN" dirty="0" smtClean="0"/>
              <a:t>Provide up-and-down rotation to the wrist</a:t>
            </a:r>
          </a:p>
          <a:p>
            <a:pPr marL="457200" indent="-457200" algn="just">
              <a:buFont typeface="+mj-lt"/>
              <a:buAutoNum type="arabicPeriod"/>
            </a:pPr>
            <a:r>
              <a:rPr lang="en-IN" dirty="0" smtClean="0">
                <a:solidFill>
                  <a:srgbClr val="FF0000"/>
                </a:solidFill>
              </a:rPr>
              <a:t>Wrist Yaw:</a:t>
            </a:r>
            <a:r>
              <a:rPr lang="en-IN" dirty="0" smtClean="0"/>
              <a:t> Involve right-and-left rotation of the wrist</a:t>
            </a:r>
          </a:p>
          <a:p>
            <a:pPr marL="457200" indent="-457200" algn="just">
              <a:buFont typeface="+mj-lt"/>
              <a:buAutoNum type="arabicPeriod"/>
            </a:pPr>
            <a:r>
              <a:rPr lang="en-IN" dirty="0" smtClean="0">
                <a:solidFill>
                  <a:srgbClr val="FF0000"/>
                </a:solidFill>
              </a:rPr>
              <a:t>Wrist Roll/Swivel: </a:t>
            </a:r>
            <a:r>
              <a:rPr lang="en-IN" dirty="0" smtClean="0"/>
              <a:t>Is the rotation of the wrist about the arm axis</a:t>
            </a:r>
          </a:p>
          <a:p>
            <a:pPr algn="just">
              <a:buNone/>
            </a:pPr>
            <a:endParaRPr lang="en-IN" dirty="0"/>
          </a:p>
        </p:txBody>
      </p:sp>
    </p:spTree>
    <p:extLst>
      <p:ext uri="{BB962C8B-B14F-4D97-AF65-F5344CB8AC3E}">
        <p14:creationId xmlns:p14="http://schemas.microsoft.com/office/powerpoint/2010/main" val="2169917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3" name="Picture 3"/>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rcRect/>
          <a:stretch>
            <a:fillRect/>
          </a:stretch>
        </p:blipFill>
        <p:spPr bwMode="auto">
          <a:xfrm>
            <a:off x="1905000" y="790525"/>
            <a:ext cx="7124728" cy="5676932"/>
          </a:xfrm>
          <a:prstGeom prst="rect">
            <a:avLst/>
          </a:prstGeom>
          <a:noFill/>
        </p:spPr>
      </p:pic>
    </p:spTree>
    <p:extLst>
      <p:ext uri="{BB962C8B-B14F-4D97-AF65-F5344CB8AC3E}">
        <p14:creationId xmlns:p14="http://schemas.microsoft.com/office/powerpoint/2010/main" val="314681425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435100" y="0"/>
            <a:ext cx="7499350" cy="1143000"/>
          </a:xfrm>
        </p:spPr>
        <p:txBody>
          <a:bodyPr vert="horz" wrap="square" lIns="91440" tIns="45720" rIns="91440" bIns="45720" numCol="1" anchorCtr="0" compatLnSpc="1">
            <a:prstTxWarp prst="textNoShape">
              <a:avLst/>
            </a:prstTxWarp>
          </a:bodyPr>
          <a:lstStyle/>
          <a:p>
            <a:pPr eaLnBrk="1" hangingPunct="1">
              <a:defRPr/>
            </a:pPr>
            <a:r>
              <a:rPr lang="en-US" sz="3600" b="1" i="1" u="sng" dirty="0" smtClean="0">
                <a:effectLst>
                  <a:outerShdw blurRad="38100" dist="38100" dir="2700000" algn="tl">
                    <a:srgbClr val="C0C0C0"/>
                  </a:outerShdw>
                </a:effectLst>
                <a:latin typeface="Bell MT" pitchFamily="18" charset="0"/>
              </a:rPr>
              <a:t>Spatial Resolution</a:t>
            </a:r>
          </a:p>
        </p:txBody>
      </p:sp>
      <p:graphicFrame>
        <p:nvGraphicFramePr>
          <p:cNvPr id="17410" name="Object 7"/>
          <p:cNvGraphicFramePr>
            <a:graphicFrameLocks noChangeAspect="1"/>
          </p:cNvGraphicFramePr>
          <p:nvPr>
            <p:extLst>
              <p:ext uri="{D42A27DB-BD31-4B8C-83A1-F6EECF244321}">
                <p14:modId xmlns:p14="http://schemas.microsoft.com/office/powerpoint/2010/main" val="705910006"/>
              </p:ext>
            </p:extLst>
          </p:nvPr>
        </p:nvGraphicFramePr>
        <p:xfrm>
          <a:off x="685800" y="2133600"/>
          <a:ext cx="8078787" cy="3409950"/>
        </p:xfrm>
        <a:graphic>
          <a:graphicData uri="http://schemas.openxmlformats.org/presentationml/2006/ole">
            <mc:AlternateContent xmlns:mc="http://schemas.openxmlformats.org/markup-compatibility/2006">
              <mc:Choice xmlns:v="urn:schemas-microsoft-com:vml" Requires="v">
                <p:oleObj spid="_x0000_s8227" name="Bitmap Image" r:id="rId4" imgW="8078328" imgH="3409524" progId="PBrush">
                  <p:embed/>
                </p:oleObj>
              </mc:Choice>
              <mc:Fallback>
                <p:oleObj name="Bitmap Image" r:id="rId4" imgW="8078328" imgH="3409524" progId="PBrush">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2133600"/>
                        <a:ext cx="8078787" cy="340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86404792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71472" y="0"/>
            <a:ext cx="8362978" cy="1143000"/>
          </a:xfrm>
        </p:spPr>
        <p:txBody>
          <a:bodyPr vert="horz" wrap="square" lIns="91440" tIns="45720" rIns="91440" bIns="45720" numCol="1" anchorCtr="0" compatLnSpc="1">
            <a:prstTxWarp prst="textNoShape">
              <a:avLst/>
            </a:prstTxWarp>
          </a:bodyPr>
          <a:lstStyle/>
          <a:p>
            <a:pPr eaLnBrk="1" hangingPunct="1">
              <a:defRPr/>
            </a:pPr>
            <a:r>
              <a:rPr lang="en-US" sz="3600" b="1" dirty="0" smtClean="0">
                <a:solidFill>
                  <a:srgbClr val="FF0000"/>
                </a:solidFill>
                <a:latin typeface="Bell MT" pitchFamily="18" charset="0"/>
              </a:rPr>
              <a:t>Spatial Resolution</a:t>
            </a:r>
          </a:p>
        </p:txBody>
      </p:sp>
      <p:sp>
        <p:nvSpPr>
          <p:cNvPr id="74755" name="Content Placeholder 2"/>
          <p:cNvSpPr>
            <a:spLocks noGrp="1"/>
          </p:cNvSpPr>
          <p:nvPr>
            <p:ph idx="4294967295"/>
          </p:nvPr>
        </p:nvSpPr>
        <p:spPr>
          <a:xfrm>
            <a:off x="285720" y="1066800"/>
            <a:ext cx="8248680" cy="5486400"/>
          </a:xfrm>
        </p:spPr>
        <p:txBody>
          <a:bodyPr>
            <a:noAutofit/>
          </a:bodyPr>
          <a:lstStyle/>
          <a:p>
            <a:pPr marL="692150" indent="-609600" algn="just" eaLnBrk="1" hangingPunct="1">
              <a:buClr>
                <a:srgbClr val="003300"/>
              </a:buClr>
              <a:buFont typeface="Courier New" pitchFamily="49" charset="0"/>
              <a:buChar char="o"/>
            </a:pPr>
            <a:r>
              <a:rPr lang="en-US" sz="2600" dirty="0" smtClean="0"/>
              <a:t>Defined as smallest increment of movement into which the robot can divide its work volume</a:t>
            </a:r>
          </a:p>
          <a:p>
            <a:pPr marL="692150" indent="-609600" algn="just" eaLnBrk="1" hangingPunct="1">
              <a:buClr>
                <a:srgbClr val="003300"/>
              </a:buClr>
              <a:buFont typeface="Courier New" pitchFamily="49" charset="0"/>
              <a:buChar char="o"/>
            </a:pPr>
            <a:r>
              <a:rPr lang="en-US" sz="2600" dirty="0" smtClean="0"/>
              <a:t>Depends on two factors: system’s control resolution and the robot’s mechanical inaccuracies</a:t>
            </a:r>
          </a:p>
          <a:p>
            <a:pPr marL="692150" indent="-609600" algn="just" eaLnBrk="1" hangingPunct="1">
              <a:buClr>
                <a:srgbClr val="003300"/>
              </a:buClr>
              <a:buFont typeface="Courier New" pitchFamily="49" charset="0"/>
              <a:buChar char="o"/>
            </a:pPr>
            <a:r>
              <a:rPr lang="en-US" sz="2600" dirty="0" smtClean="0"/>
              <a:t>Control resolution is determined by robot’s position control system and its feedback measurement system </a:t>
            </a:r>
          </a:p>
          <a:p>
            <a:pPr marL="692150" indent="-609600" algn="just" eaLnBrk="1" hangingPunct="1">
              <a:buClr>
                <a:srgbClr val="003300"/>
              </a:buClr>
              <a:buFont typeface="Courier New" pitchFamily="49" charset="0"/>
              <a:buChar char="o"/>
            </a:pPr>
            <a:r>
              <a:rPr lang="en-US" sz="2600" dirty="0" smtClean="0"/>
              <a:t>Ability to divide total range of movement for the particular joint into individual increments that can be addressed in the controller</a:t>
            </a:r>
          </a:p>
          <a:p>
            <a:pPr marL="692150" indent="-609600" algn="just" eaLnBrk="1" hangingPunct="1">
              <a:buClr>
                <a:srgbClr val="003300"/>
              </a:buClr>
              <a:buFont typeface="Courier New" pitchFamily="49" charset="0"/>
              <a:buChar char="o"/>
            </a:pPr>
            <a:r>
              <a:rPr lang="en-US" sz="2600" dirty="0" smtClean="0"/>
              <a:t>The increments are sometimes referred to as      “ addressable points”</a:t>
            </a:r>
          </a:p>
          <a:p>
            <a:pPr marL="692150" indent="-609600" algn="just" eaLnBrk="1" hangingPunct="1">
              <a:buClr>
                <a:srgbClr val="003300"/>
              </a:buClr>
              <a:buFont typeface="Courier New" pitchFamily="49" charset="0"/>
              <a:buChar char="o"/>
            </a:pPr>
            <a:endParaRPr lang="en-US" sz="2600" dirty="0" smtClean="0"/>
          </a:p>
        </p:txBody>
      </p:sp>
    </p:spTree>
    <p:extLst>
      <p:ext uri="{BB962C8B-B14F-4D97-AF65-F5344CB8AC3E}">
        <p14:creationId xmlns:p14="http://schemas.microsoft.com/office/powerpoint/2010/main" val="43058646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Content Placeholder 2"/>
          <p:cNvSpPr>
            <a:spLocks noGrp="1"/>
          </p:cNvSpPr>
          <p:nvPr>
            <p:ph idx="4294967295"/>
          </p:nvPr>
        </p:nvSpPr>
        <p:spPr>
          <a:xfrm>
            <a:off x="285720" y="1357298"/>
            <a:ext cx="7499350" cy="5143536"/>
          </a:xfrm>
        </p:spPr>
        <p:txBody>
          <a:bodyPr>
            <a:normAutofit/>
          </a:bodyPr>
          <a:lstStyle/>
          <a:p>
            <a:pPr marL="692150" indent="-609600" eaLnBrk="1" hangingPunct="1">
              <a:buClr>
                <a:srgbClr val="003300"/>
              </a:buClr>
              <a:buFont typeface="Courier New" pitchFamily="49" charset="0"/>
              <a:buChar char="o"/>
            </a:pPr>
            <a:r>
              <a:rPr lang="en-US" sz="2800" dirty="0" smtClean="0"/>
              <a:t>Joint range depends on the bit storage capacity in the control memory</a:t>
            </a:r>
          </a:p>
          <a:p>
            <a:pPr marL="692150" indent="-609600" eaLnBrk="1" hangingPunct="1">
              <a:buClr>
                <a:srgbClr val="003300"/>
              </a:buClr>
              <a:buFont typeface="Courier New" pitchFamily="49" charset="0"/>
              <a:buChar char="o"/>
            </a:pPr>
            <a:r>
              <a:rPr lang="en-US" sz="2800" dirty="0" smtClean="0"/>
              <a:t>Number of increments for a axis is given by</a:t>
            </a:r>
          </a:p>
          <a:p>
            <a:pPr marL="692150" indent="-609600">
              <a:buClr>
                <a:srgbClr val="003300"/>
              </a:buClr>
              <a:buFont typeface="Courier New" pitchFamily="49" charset="0"/>
              <a:buChar char="o"/>
            </a:pPr>
            <a:r>
              <a:rPr lang="en-US" sz="2800" dirty="0" smtClean="0"/>
              <a:t>         </a:t>
            </a:r>
            <a:r>
              <a:rPr lang="en-US" sz="2400" dirty="0" smtClean="0"/>
              <a:t>Number of Increments = 2</a:t>
            </a:r>
            <a:r>
              <a:rPr lang="en-US" sz="2400" baseline="30000" dirty="0" smtClean="0"/>
              <a:t>n</a:t>
            </a:r>
          </a:p>
          <a:p>
            <a:pPr marL="692150" indent="-609600" eaLnBrk="1" hangingPunct="1">
              <a:buClr>
                <a:srgbClr val="003300"/>
              </a:buClr>
              <a:buFont typeface="Courier New" pitchFamily="49" charset="0"/>
              <a:buChar char="o"/>
            </a:pPr>
            <a:r>
              <a:rPr lang="en-US" sz="2800" dirty="0" smtClean="0"/>
              <a:t>n = the number of bits in the control memory</a:t>
            </a:r>
          </a:p>
          <a:p>
            <a:pPr marL="692150" indent="-609600" eaLnBrk="1" hangingPunct="1">
              <a:buClr>
                <a:srgbClr val="003300"/>
              </a:buClr>
              <a:buFont typeface="Courier New" pitchFamily="49" charset="0"/>
              <a:buChar char="o"/>
            </a:pPr>
            <a:r>
              <a:rPr lang="en-US" sz="2800" dirty="0" smtClean="0"/>
              <a:t>Have a control resolution for each joint in case of several DOF</a:t>
            </a:r>
          </a:p>
          <a:p>
            <a:pPr marL="692150" indent="-609600" eaLnBrk="1" hangingPunct="1">
              <a:buClr>
                <a:srgbClr val="003300"/>
              </a:buClr>
              <a:buFont typeface="Courier New" pitchFamily="49" charset="0"/>
              <a:buChar char="o"/>
            </a:pPr>
            <a:r>
              <a:rPr lang="en-US" sz="2800" dirty="0" smtClean="0"/>
              <a:t>Total control resolution depend on the wrist motions as well as the body and arm motions        </a:t>
            </a:r>
          </a:p>
        </p:txBody>
      </p:sp>
      <p:sp>
        <p:nvSpPr>
          <p:cNvPr id="8" name="Title 1"/>
          <p:cNvSpPr txBox="1">
            <a:spLocks/>
          </p:cNvSpPr>
          <p:nvPr/>
        </p:nvSpPr>
        <p:spPr>
          <a:xfrm>
            <a:off x="571472" y="0"/>
            <a:ext cx="8362978" cy="1143000"/>
          </a:xfrm>
          <a:prstGeom prst="rect">
            <a:avLst/>
          </a:prstGeom>
        </p:spPr>
        <p:txBody>
          <a:bodyPr vert="horz" wrap="square" lIns="91440" tIns="45720" rIns="91440" bIns="45720" numCol="1" anchor="b" anchorCtr="0" compatLnSpc="1">
            <a:prstTxWarp prst="textNoShape">
              <a:avLst/>
            </a:prstTxWarp>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small" spc="0" normalizeH="0" baseline="0" noProof="0" smtClean="0">
                <a:ln>
                  <a:noFill/>
                </a:ln>
                <a:solidFill>
                  <a:srgbClr val="FF0000"/>
                </a:solidFill>
                <a:effectLst/>
                <a:uLnTx/>
                <a:uFillTx/>
                <a:latin typeface="Bell MT" pitchFamily="18" charset="0"/>
                <a:ea typeface="+mj-ea"/>
                <a:cs typeface="+mj-cs"/>
              </a:rPr>
              <a:t>Spatial Resolution</a:t>
            </a:r>
            <a:endParaRPr kumimoji="0" lang="en-US" sz="3600" b="1" i="0" u="none" strike="noStrike" kern="1200" cap="small" spc="0" normalizeH="0" baseline="0" noProof="0" dirty="0" smtClean="0">
              <a:ln>
                <a:noFill/>
              </a:ln>
              <a:solidFill>
                <a:srgbClr val="FF0000"/>
              </a:solidFill>
              <a:effectLst/>
              <a:uLnTx/>
              <a:uFillTx/>
              <a:latin typeface="Bell MT" pitchFamily="18" charset="0"/>
              <a:ea typeface="+mj-ea"/>
              <a:cs typeface="+mj-cs"/>
            </a:endParaRPr>
          </a:p>
        </p:txBody>
      </p:sp>
    </p:spTree>
    <p:extLst>
      <p:ext uri="{BB962C8B-B14F-4D97-AF65-F5344CB8AC3E}">
        <p14:creationId xmlns:p14="http://schemas.microsoft.com/office/powerpoint/2010/main" val="23326212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Content Placeholder 2"/>
          <p:cNvSpPr>
            <a:spLocks noGrp="1"/>
          </p:cNvSpPr>
          <p:nvPr>
            <p:ph idx="4294967295"/>
          </p:nvPr>
        </p:nvSpPr>
        <p:spPr>
          <a:xfrm>
            <a:off x="357158" y="2000240"/>
            <a:ext cx="7499350" cy="4400560"/>
          </a:xfrm>
        </p:spPr>
        <p:txBody>
          <a:bodyPr/>
          <a:lstStyle/>
          <a:p>
            <a:pPr marL="692150" indent="-609600" algn="just" eaLnBrk="1" hangingPunct="1">
              <a:buClr>
                <a:srgbClr val="003300"/>
              </a:buClr>
              <a:buFont typeface="Courier New" pitchFamily="49" charset="0"/>
              <a:buChar char="o"/>
            </a:pPr>
            <a:r>
              <a:rPr lang="en-US" sz="2800" dirty="0" smtClean="0"/>
              <a:t>Mechanical inaccuracies come from elastic deflection in the structure elements, gear backlash, stretching of pulley cords, leakage of hydraulic fluids and other imperfections in the mechanical system</a:t>
            </a:r>
          </a:p>
          <a:p>
            <a:pPr marL="692150" indent="-609600" algn="just" eaLnBrk="1" hangingPunct="1">
              <a:buClr>
                <a:srgbClr val="003300"/>
              </a:buClr>
              <a:buFont typeface="Courier New" pitchFamily="49" charset="0"/>
              <a:buChar char="o"/>
            </a:pPr>
            <a:r>
              <a:rPr lang="en-US" sz="2800" dirty="0" smtClean="0"/>
              <a:t>Also affected by load being handled, the speed of arm moving, condition of maintenance of robot   </a:t>
            </a:r>
          </a:p>
        </p:txBody>
      </p:sp>
      <p:sp>
        <p:nvSpPr>
          <p:cNvPr id="8" name="Title 1"/>
          <p:cNvSpPr txBox="1">
            <a:spLocks/>
          </p:cNvSpPr>
          <p:nvPr/>
        </p:nvSpPr>
        <p:spPr>
          <a:xfrm>
            <a:off x="357158" y="285736"/>
            <a:ext cx="8362978" cy="1143000"/>
          </a:xfrm>
          <a:prstGeom prst="rect">
            <a:avLst/>
          </a:prstGeom>
        </p:spPr>
        <p:txBody>
          <a:bodyPr vert="horz" wrap="square" lIns="91440" tIns="45720" rIns="91440" bIns="45720" numCol="1" anchor="b" anchorCtr="0" compatLnSpc="1">
            <a:prstTxWarp prst="textNoShape">
              <a:avLst/>
            </a:prstTxWarp>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small" spc="0" normalizeH="0" baseline="0" noProof="0" smtClean="0">
                <a:ln>
                  <a:noFill/>
                </a:ln>
                <a:solidFill>
                  <a:srgbClr val="FF0000"/>
                </a:solidFill>
                <a:effectLst/>
                <a:uLnTx/>
                <a:uFillTx/>
                <a:latin typeface="Bell MT" pitchFamily="18" charset="0"/>
                <a:ea typeface="+mj-ea"/>
                <a:cs typeface="+mj-cs"/>
              </a:rPr>
              <a:t>Spatial Resolution</a:t>
            </a:r>
            <a:endParaRPr kumimoji="0" lang="en-US" sz="3600" b="1" i="0" u="none" strike="noStrike" kern="1200" cap="small" spc="0" normalizeH="0" baseline="0" noProof="0" dirty="0" smtClean="0">
              <a:ln>
                <a:noFill/>
              </a:ln>
              <a:solidFill>
                <a:srgbClr val="FF0000"/>
              </a:solidFill>
              <a:effectLst/>
              <a:uLnTx/>
              <a:uFillTx/>
              <a:latin typeface="Bell MT" pitchFamily="18" charset="0"/>
              <a:ea typeface="+mj-ea"/>
              <a:cs typeface="+mj-cs"/>
            </a:endParaRPr>
          </a:p>
        </p:txBody>
      </p:sp>
    </p:spTree>
    <p:extLst>
      <p:ext uri="{BB962C8B-B14F-4D97-AF65-F5344CB8AC3E}">
        <p14:creationId xmlns:p14="http://schemas.microsoft.com/office/powerpoint/2010/main" val="370512368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42844" y="0"/>
            <a:ext cx="8791606" cy="1143000"/>
          </a:xfrm>
        </p:spPr>
        <p:txBody>
          <a:bodyPr vert="horz" wrap="square" lIns="91440" tIns="45720" rIns="91440" bIns="45720" numCol="1" anchorCtr="0" compatLnSpc="1">
            <a:prstTxWarp prst="textNoShape">
              <a:avLst/>
            </a:prstTxWarp>
          </a:bodyPr>
          <a:lstStyle/>
          <a:p>
            <a:pPr eaLnBrk="1" hangingPunct="1">
              <a:defRPr/>
            </a:pPr>
            <a:r>
              <a:rPr lang="en-US" sz="3600" b="1" dirty="0" smtClean="0">
                <a:solidFill>
                  <a:srgbClr val="FF0000"/>
                </a:solidFill>
                <a:latin typeface="Bell MT" pitchFamily="18" charset="0"/>
              </a:rPr>
              <a:t>Accuracy</a:t>
            </a:r>
          </a:p>
        </p:txBody>
      </p:sp>
      <p:sp>
        <p:nvSpPr>
          <p:cNvPr id="18436" name="Content Placeholder 2"/>
          <p:cNvSpPr>
            <a:spLocks noGrp="1"/>
          </p:cNvSpPr>
          <p:nvPr>
            <p:ph idx="4294967295"/>
          </p:nvPr>
        </p:nvSpPr>
        <p:spPr>
          <a:xfrm>
            <a:off x="500034" y="1142984"/>
            <a:ext cx="7499350" cy="5486400"/>
          </a:xfrm>
        </p:spPr>
        <p:txBody>
          <a:bodyPr>
            <a:normAutofit/>
          </a:bodyPr>
          <a:lstStyle/>
          <a:p>
            <a:pPr marL="692150" indent="-609600" eaLnBrk="1" hangingPunct="1">
              <a:buClr>
                <a:srgbClr val="003300"/>
              </a:buClr>
              <a:buFont typeface="Wingdings" pitchFamily="2" charset="2"/>
              <a:buChar char="Ø"/>
            </a:pPr>
            <a:r>
              <a:rPr lang="en-US" sz="2800" dirty="0" smtClean="0"/>
              <a:t>Ability to position its wrist end at a desired target point within the work volume</a:t>
            </a:r>
          </a:p>
          <a:p>
            <a:pPr marL="692150" indent="-609600">
              <a:buClr>
                <a:srgbClr val="003300"/>
              </a:buClr>
              <a:buFont typeface="Wingdings" pitchFamily="2" charset="2"/>
              <a:buChar char="Ø"/>
            </a:pPr>
            <a:r>
              <a:rPr lang="en-US" sz="2800" dirty="0" smtClean="0"/>
              <a:t>Depends on spatial resolution means how closely the robot can define the control increments</a:t>
            </a:r>
          </a:p>
          <a:p>
            <a:pPr marL="692150" indent="-609600">
              <a:buClr>
                <a:srgbClr val="003300"/>
              </a:buClr>
              <a:buFont typeface="Wingdings" pitchFamily="2" charset="2"/>
              <a:buChar char="Ø"/>
            </a:pPr>
            <a:r>
              <a:rPr lang="en-US" sz="2800" dirty="0" smtClean="0"/>
              <a:t>One half of the control resolution by ignoring the mechanical inaccuracies</a:t>
            </a:r>
          </a:p>
          <a:p>
            <a:pPr marL="692150" indent="-609600" eaLnBrk="1" hangingPunct="1">
              <a:buClr>
                <a:srgbClr val="003300"/>
              </a:buClr>
              <a:buFont typeface="Wingdings" pitchFamily="2" charset="2"/>
              <a:buChar char="Ø"/>
            </a:pPr>
            <a:endParaRPr lang="en-US" sz="2800" dirty="0" smtClean="0"/>
          </a:p>
          <a:p>
            <a:pPr marL="692150" indent="-609600" eaLnBrk="1" hangingPunct="1">
              <a:buClr>
                <a:srgbClr val="003300"/>
              </a:buClr>
              <a:buFont typeface="Wingdings" pitchFamily="2" charset="2"/>
              <a:buNone/>
            </a:pPr>
            <a:r>
              <a:rPr lang="en-US" sz="2800" dirty="0" smtClean="0"/>
              <a:t>  </a:t>
            </a:r>
          </a:p>
          <a:p>
            <a:pPr marL="692150" indent="-609600" eaLnBrk="1" hangingPunct="1">
              <a:buClr>
                <a:srgbClr val="003300"/>
              </a:buClr>
              <a:buFont typeface="Wingdings" pitchFamily="2" charset="2"/>
              <a:buNone/>
            </a:pPr>
            <a:endParaRPr lang="en-US" sz="2800" dirty="0" smtClean="0"/>
          </a:p>
          <a:p>
            <a:pPr marL="692150" indent="-609600" eaLnBrk="1" hangingPunct="1">
              <a:buClr>
                <a:srgbClr val="003300"/>
              </a:buClr>
              <a:buFont typeface="Wingdings" pitchFamily="2" charset="2"/>
              <a:buNone/>
            </a:pPr>
            <a:r>
              <a:rPr lang="en-US" sz="2800" dirty="0" smtClean="0"/>
              <a:t>      </a:t>
            </a:r>
          </a:p>
        </p:txBody>
      </p:sp>
    </p:spTree>
    <p:extLst>
      <p:ext uri="{BB962C8B-B14F-4D97-AF65-F5344CB8AC3E}">
        <p14:creationId xmlns:p14="http://schemas.microsoft.com/office/powerpoint/2010/main" val="69848263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Content Placeholder 2"/>
          <p:cNvSpPr>
            <a:spLocks noGrp="1"/>
          </p:cNvSpPr>
          <p:nvPr>
            <p:ph idx="4294967295"/>
          </p:nvPr>
        </p:nvSpPr>
        <p:spPr>
          <a:xfrm>
            <a:off x="1435100" y="914400"/>
            <a:ext cx="7499350" cy="5486400"/>
          </a:xfrm>
        </p:spPr>
        <p:txBody>
          <a:bodyPr/>
          <a:lstStyle/>
          <a:p>
            <a:pPr marL="692150" indent="-609600" eaLnBrk="1" hangingPunct="1">
              <a:buClr>
                <a:srgbClr val="003300"/>
              </a:buClr>
              <a:buFont typeface="Wingdings" pitchFamily="2" charset="2"/>
              <a:buNone/>
            </a:pPr>
            <a:r>
              <a:rPr lang="en-US" sz="2800" dirty="0" smtClean="0"/>
              <a:t>  </a:t>
            </a:r>
          </a:p>
          <a:p>
            <a:pPr marL="692150" indent="-609600" eaLnBrk="1" hangingPunct="1">
              <a:buClr>
                <a:srgbClr val="003300"/>
              </a:buClr>
              <a:buFont typeface="Wingdings" pitchFamily="2" charset="2"/>
              <a:buNone/>
            </a:pPr>
            <a:endParaRPr lang="en-US" sz="2800" dirty="0" smtClean="0"/>
          </a:p>
          <a:p>
            <a:pPr marL="692150" indent="-609600" eaLnBrk="1" hangingPunct="1">
              <a:buClr>
                <a:srgbClr val="003300"/>
              </a:buClr>
              <a:buFont typeface="Wingdings" pitchFamily="2" charset="2"/>
              <a:buNone/>
            </a:pPr>
            <a:r>
              <a:rPr lang="en-US" sz="2800" dirty="0" smtClean="0"/>
              <a:t>      </a:t>
            </a:r>
          </a:p>
        </p:txBody>
      </p:sp>
      <p:graphicFrame>
        <p:nvGraphicFramePr>
          <p:cNvPr id="19458" name="Object 9"/>
          <p:cNvGraphicFramePr>
            <a:graphicFrameLocks noChangeAspect="1"/>
          </p:cNvGraphicFramePr>
          <p:nvPr/>
        </p:nvGraphicFramePr>
        <p:xfrm>
          <a:off x="500034" y="3929066"/>
          <a:ext cx="7488362" cy="2500330"/>
        </p:xfrm>
        <a:graphic>
          <a:graphicData uri="http://schemas.openxmlformats.org/presentationml/2006/ole">
            <mc:AlternateContent xmlns:mc="http://schemas.openxmlformats.org/markup-compatibility/2006">
              <mc:Choice xmlns:v="urn:schemas-microsoft-com:vml" Requires="v">
                <p:oleObj spid="_x0000_s9284" name="Bitmap Image" r:id="rId4" imgW="6590476" imgH="2200582" progId="PBrush">
                  <p:embed/>
                </p:oleObj>
              </mc:Choice>
              <mc:Fallback>
                <p:oleObj name="Bitmap Image" r:id="rId4" imgW="6590476" imgH="2200582" progId="PBrush">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034" y="3929066"/>
                        <a:ext cx="7488362" cy="2500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9091" name="Object 7"/>
          <p:cNvGraphicFramePr>
            <a:graphicFrameLocks noChangeAspect="1"/>
          </p:cNvGraphicFramePr>
          <p:nvPr/>
        </p:nvGraphicFramePr>
        <p:xfrm>
          <a:off x="642910" y="857232"/>
          <a:ext cx="7412038" cy="2838450"/>
        </p:xfrm>
        <a:graphic>
          <a:graphicData uri="http://schemas.openxmlformats.org/presentationml/2006/ole">
            <mc:AlternateContent xmlns:mc="http://schemas.openxmlformats.org/markup-compatibility/2006">
              <mc:Choice xmlns:v="urn:schemas-microsoft-com:vml" Requires="v">
                <p:oleObj spid="_x0000_s9285" name="Bitmap Image" r:id="rId6" imgW="7411485" imgH="2838846" progId="PBrush">
                  <p:embed/>
                </p:oleObj>
              </mc:Choice>
              <mc:Fallback>
                <p:oleObj name="Bitmap Image" r:id="rId6" imgW="7411485" imgH="2838846" progId="PBrush">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2910" y="857232"/>
                        <a:ext cx="7412038"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5896101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00034" y="0"/>
            <a:ext cx="8434416" cy="1143000"/>
          </a:xfrm>
        </p:spPr>
        <p:txBody>
          <a:bodyPr vert="horz" wrap="square" lIns="91440" tIns="45720" rIns="91440" bIns="45720" numCol="1" anchorCtr="0" compatLnSpc="1">
            <a:prstTxWarp prst="textNoShape">
              <a:avLst/>
            </a:prstTxWarp>
          </a:bodyPr>
          <a:lstStyle/>
          <a:p>
            <a:pPr eaLnBrk="1" hangingPunct="1">
              <a:defRPr/>
            </a:pPr>
            <a:r>
              <a:rPr lang="en-US" sz="3600" b="1" dirty="0" smtClean="0">
                <a:solidFill>
                  <a:srgbClr val="FF0000"/>
                </a:solidFill>
                <a:latin typeface="Bell MT" pitchFamily="18" charset="0"/>
              </a:rPr>
              <a:t>Repeatability</a:t>
            </a:r>
          </a:p>
        </p:txBody>
      </p:sp>
      <p:sp>
        <p:nvSpPr>
          <p:cNvPr id="79875" name="Content Placeholder 2"/>
          <p:cNvSpPr>
            <a:spLocks noGrp="1"/>
          </p:cNvSpPr>
          <p:nvPr>
            <p:ph idx="4294967295"/>
          </p:nvPr>
        </p:nvSpPr>
        <p:spPr>
          <a:xfrm>
            <a:off x="642910" y="1371600"/>
            <a:ext cx="7499350" cy="5486400"/>
          </a:xfrm>
        </p:spPr>
        <p:txBody>
          <a:bodyPr>
            <a:normAutofit/>
          </a:bodyPr>
          <a:lstStyle/>
          <a:p>
            <a:pPr marL="692150" indent="-609600" eaLnBrk="1" hangingPunct="1">
              <a:buClr>
                <a:srgbClr val="003300"/>
              </a:buClr>
              <a:buFont typeface="Wingdings" pitchFamily="2" charset="2"/>
              <a:buChar char="Ø"/>
            </a:pPr>
            <a:r>
              <a:rPr lang="en-US" sz="2800" dirty="0" smtClean="0"/>
              <a:t>Ability to position its wrist at a point in space that had been taught</a:t>
            </a:r>
          </a:p>
          <a:p>
            <a:pPr marL="692150" indent="-609600" eaLnBrk="1" hangingPunct="1">
              <a:buClr>
                <a:srgbClr val="003300"/>
              </a:buClr>
              <a:buFont typeface="Wingdings" pitchFamily="2" charset="2"/>
              <a:buChar char="Ø"/>
            </a:pPr>
            <a:r>
              <a:rPr lang="en-US" sz="2800" dirty="0" smtClean="0"/>
              <a:t>Accuracy relates to its capacity to be programmed to achieve a given target point</a:t>
            </a:r>
          </a:p>
          <a:p>
            <a:pPr marL="692150" indent="-609600" eaLnBrk="1" hangingPunct="1">
              <a:buClr>
                <a:srgbClr val="003300"/>
              </a:buClr>
              <a:buFont typeface="Wingdings" pitchFamily="2" charset="2"/>
              <a:buChar char="Ø"/>
            </a:pPr>
            <a:r>
              <a:rPr lang="en-US" sz="2800" dirty="0" smtClean="0"/>
              <a:t>Programmed point and target point may be different due to limitations of resolution</a:t>
            </a:r>
          </a:p>
          <a:p>
            <a:pPr marL="692150" indent="-609600" eaLnBrk="1" hangingPunct="1">
              <a:buClr>
                <a:srgbClr val="003300"/>
              </a:buClr>
              <a:buFont typeface="Wingdings" pitchFamily="2" charset="2"/>
              <a:buChar char="Ø"/>
            </a:pPr>
            <a:r>
              <a:rPr lang="en-US" sz="2800" dirty="0" smtClean="0"/>
              <a:t>Repeatability refers to ability to return to the programmed point when commanded to do so</a:t>
            </a:r>
          </a:p>
          <a:p>
            <a:pPr marL="692150" indent="-609600" eaLnBrk="1" hangingPunct="1">
              <a:buClr>
                <a:srgbClr val="003300"/>
              </a:buClr>
              <a:buFont typeface="Wingdings" pitchFamily="2" charset="2"/>
              <a:buNone/>
            </a:pPr>
            <a:endParaRPr lang="en-US" sz="2800" dirty="0" smtClean="0"/>
          </a:p>
        </p:txBody>
      </p:sp>
    </p:spTree>
    <p:extLst>
      <p:ext uri="{BB962C8B-B14F-4D97-AF65-F5344CB8AC3E}">
        <p14:creationId xmlns:p14="http://schemas.microsoft.com/office/powerpoint/2010/main" val="225244042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rcRect/>
          <a:stretch>
            <a:fillRect/>
          </a:stretch>
        </p:blipFill>
        <p:spPr bwMode="auto">
          <a:xfrm>
            <a:off x="533400" y="1524000"/>
            <a:ext cx="7698069" cy="4357718"/>
          </a:xfrm>
          <a:prstGeom prst="rect">
            <a:avLst/>
          </a:prstGeom>
          <a:noFill/>
          <a:ln w="9525">
            <a:noFill/>
            <a:miter lim="800000"/>
            <a:headEnd/>
            <a:tailEnd/>
          </a:ln>
          <a:effectLst/>
        </p:spPr>
      </p:pic>
    </p:spTree>
    <p:extLst>
      <p:ext uri="{BB962C8B-B14F-4D97-AF65-F5344CB8AC3E}">
        <p14:creationId xmlns:p14="http://schemas.microsoft.com/office/powerpoint/2010/main" val="37730954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rmAutofit/>
          </a:bodyPr>
          <a:lstStyle/>
          <a:p>
            <a:r>
              <a:rPr lang="en-US" sz="4400" dirty="0" smtClean="0">
                <a:solidFill>
                  <a:srgbClr val="0070C0"/>
                </a:solidFill>
              </a:rPr>
              <a:t>Robot drive systems</a:t>
            </a:r>
            <a:endParaRPr lang="en-IN" sz="4400" dirty="0">
              <a:solidFill>
                <a:srgbClr val="0070C0"/>
              </a:solidFill>
            </a:endParaRPr>
          </a:p>
        </p:txBody>
      </p:sp>
      <p:sp>
        <p:nvSpPr>
          <p:cNvPr id="2" name="Date Placeholder 1"/>
          <p:cNvSpPr>
            <a:spLocks noGrp="1"/>
          </p:cNvSpPr>
          <p:nvPr>
            <p:ph type="dt" sz="half" idx="10"/>
          </p:nvPr>
        </p:nvSpPr>
        <p:spPr/>
        <p:txBody>
          <a:bodyPr/>
          <a:lstStyle/>
          <a:p>
            <a:fld id="{75E207FA-1C72-417A-BCF6-5198727890B0}" type="datetime1">
              <a:rPr lang="en-US" smtClean="0"/>
              <a:t>10/29/2020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F94EDD-D845-48AB-B01E-E1FCDA2D3009}" type="slidenum">
              <a:rPr lang="en-IN" smtClean="0"/>
              <a:pPr/>
              <a:t>80</a:t>
            </a:fld>
            <a:endParaRPr lang="en-IN"/>
          </a:p>
        </p:txBody>
      </p:sp>
    </p:spTree>
    <p:extLst>
      <p:ext uri="{BB962C8B-B14F-4D97-AF65-F5344CB8AC3E}">
        <p14:creationId xmlns:p14="http://schemas.microsoft.com/office/powerpoint/2010/main" val="18457819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76200"/>
            <a:ext cx="7499350" cy="1066800"/>
          </a:xfrm>
        </p:spPr>
        <p:txBody>
          <a:bodyPr vert="horz" wrap="square" lIns="91440" tIns="45720" rIns="91440" bIns="45720" numCol="1" anchorCtr="0" compatLnSpc="1">
            <a:prstTxWarp prst="textNoShape">
              <a:avLst/>
            </a:prstTxWarp>
          </a:bodyPr>
          <a:lstStyle/>
          <a:p>
            <a:pPr eaLnBrk="1" hangingPunct="1">
              <a:defRPr/>
            </a:pPr>
            <a:r>
              <a:rPr lang="en-US" sz="3600" dirty="0" smtClean="0"/>
              <a:t>Drive Systems</a:t>
            </a:r>
          </a:p>
        </p:txBody>
      </p:sp>
      <p:sp>
        <p:nvSpPr>
          <p:cNvPr id="282627" name="Content Placeholder 2"/>
          <p:cNvSpPr>
            <a:spLocks noGrp="1"/>
          </p:cNvSpPr>
          <p:nvPr>
            <p:ph idx="4294967295"/>
          </p:nvPr>
        </p:nvSpPr>
        <p:spPr>
          <a:xfrm>
            <a:off x="1435100" y="914400"/>
            <a:ext cx="7499350" cy="5486400"/>
          </a:xfrm>
        </p:spPr>
        <p:txBody>
          <a:bodyPr/>
          <a:lstStyle/>
          <a:p>
            <a:pPr marL="539750" indent="-457200">
              <a:buClr>
                <a:srgbClr val="003300"/>
              </a:buClr>
              <a:defRPr/>
            </a:pPr>
            <a:r>
              <a:rPr lang="en-US" sz="2800" dirty="0" smtClean="0"/>
              <a:t>Capacity to move robot’s body, arm and wrist</a:t>
            </a:r>
          </a:p>
          <a:p>
            <a:pPr marL="539750" indent="-457200">
              <a:buClr>
                <a:srgbClr val="003300"/>
              </a:buClr>
              <a:defRPr/>
            </a:pPr>
            <a:r>
              <a:rPr lang="en-US" sz="2800" dirty="0" smtClean="0"/>
              <a:t>Determine speed of the arm movements, strength of the robot &amp; dynamic performance</a:t>
            </a:r>
          </a:p>
          <a:p>
            <a:pPr marL="539750" indent="-457200">
              <a:buClr>
                <a:srgbClr val="003300"/>
              </a:buClr>
              <a:defRPr/>
            </a:pPr>
            <a:r>
              <a:rPr lang="en-US" sz="2800" dirty="0" smtClean="0"/>
              <a:t>Type of applications that the robot can accomplish</a:t>
            </a:r>
          </a:p>
          <a:p>
            <a:pPr marL="539750" indent="-457200">
              <a:buClr>
                <a:srgbClr val="003300"/>
              </a:buClr>
              <a:defRPr/>
            </a:pPr>
            <a:r>
              <a:rPr lang="en-US" sz="2800" dirty="0" smtClean="0"/>
              <a:t>Powered by three types of drive systems:</a:t>
            </a:r>
          </a:p>
          <a:p>
            <a:pPr marL="1157288" lvl="3" indent="-342900">
              <a:buClr>
                <a:schemeClr val="accent3"/>
              </a:buClr>
              <a:defRPr/>
            </a:pPr>
            <a:r>
              <a:rPr lang="en-US" dirty="0" smtClean="0">
                <a:solidFill>
                  <a:srgbClr val="0070C0"/>
                </a:solidFill>
              </a:rPr>
              <a:t>Hydraulic</a:t>
            </a:r>
          </a:p>
          <a:p>
            <a:pPr marL="1157288" lvl="3" indent="-342900">
              <a:buClr>
                <a:schemeClr val="accent3"/>
              </a:buClr>
              <a:defRPr/>
            </a:pPr>
            <a:r>
              <a:rPr lang="en-US" dirty="0" smtClean="0">
                <a:solidFill>
                  <a:srgbClr val="0070C0"/>
                </a:solidFill>
              </a:rPr>
              <a:t>Pneumatic </a:t>
            </a:r>
          </a:p>
          <a:p>
            <a:pPr marL="1157288" lvl="3" indent="-342900">
              <a:buClr>
                <a:schemeClr val="accent3"/>
              </a:buClr>
              <a:defRPr/>
            </a:pPr>
            <a:r>
              <a:rPr lang="en-US" dirty="0" smtClean="0">
                <a:solidFill>
                  <a:srgbClr val="0070C0"/>
                </a:solidFill>
              </a:rPr>
              <a:t>Electric</a:t>
            </a:r>
          </a:p>
        </p:txBody>
      </p:sp>
    </p:spTree>
    <p:extLst>
      <p:ext uri="{BB962C8B-B14F-4D97-AF65-F5344CB8AC3E}">
        <p14:creationId xmlns:p14="http://schemas.microsoft.com/office/powerpoint/2010/main" val="331591243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50" name="Picture 2"/>
          <p:cNvPicPr>
            <a:picLocks noChangeAspect="1" noChangeArrowheads="1"/>
          </p:cNvPicPr>
          <p:nvPr/>
        </p:nvPicPr>
        <p:blipFill>
          <a:blip r:embed="rId3">
            <a:lum bright="4000"/>
            <a:extLst>
              <a:ext uri="{BEBA8EAE-BF5A-486C-A8C5-ECC9F3942E4B}">
                <a14:imgProps xmlns:a14="http://schemas.microsoft.com/office/drawing/2010/main">
                  <a14:imgLayer r:embed="rId4">
                    <a14:imgEffect>
                      <a14:sharpenSoften amount="50000"/>
                    </a14:imgEffect>
                  </a14:imgLayer>
                </a14:imgProps>
              </a:ext>
            </a:extLst>
          </a:blip>
          <a:srcRect/>
          <a:stretch>
            <a:fillRect/>
          </a:stretch>
        </p:blipFill>
        <p:spPr bwMode="auto">
          <a:xfrm>
            <a:off x="533400" y="1066800"/>
            <a:ext cx="8362567" cy="5562600"/>
          </a:xfrm>
          <a:prstGeom prst="rect">
            <a:avLst/>
          </a:prstGeom>
          <a:noFill/>
          <a:ln w="9525">
            <a:noFill/>
            <a:miter lim="800000"/>
            <a:headEnd/>
            <a:tailEnd/>
          </a:ln>
        </p:spPr>
      </p:pic>
    </p:spTree>
    <p:extLst>
      <p:ext uri="{BB962C8B-B14F-4D97-AF65-F5344CB8AC3E}">
        <p14:creationId xmlns:p14="http://schemas.microsoft.com/office/powerpoint/2010/main" val="282980882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A8D521-924D-4FF2-AA2B-623FDBCBA4BE}" type="datetime1">
              <a:rPr lang="en-US" smtClean="0"/>
              <a:t>10/29/2020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F94EDD-D845-48AB-B01E-E1FCDA2D3009}" type="slidenum">
              <a:rPr lang="en-IN" smtClean="0"/>
              <a:pPr/>
              <a:t>83</a:t>
            </a:fld>
            <a:endParaRPr lang="en-IN"/>
          </a:p>
        </p:txBody>
      </p:sp>
      <p:sp>
        <p:nvSpPr>
          <p:cNvPr id="5" name="Rectangle 4"/>
          <p:cNvSpPr/>
          <p:nvPr/>
        </p:nvSpPr>
        <p:spPr>
          <a:xfrm>
            <a:off x="3429000" y="457200"/>
            <a:ext cx="3124200" cy="523220"/>
          </a:xfrm>
          <a:prstGeom prst="rect">
            <a:avLst/>
          </a:prstGeom>
        </p:spPr>
        <p:txBody>
          <a:bodyPr wrap="square">
            <a:spAutoFit/>
          </a:bodyPr>
          <a:lstStyle/>
          <a:p>
            <a:pPr marL="82550">
              <a:buClr>
                <a:schemeClr val="accent3"/>
              </a:buClr>
              <a:defRPr/>
            </a:pPr>
            <a:r>
              <a:rPr lang="en-US" sz="2800" dirty="0">
                <a:solidFill>
                  <a:srgbClr val="0070C0"/>
                </a:solidFill>
              </a:rPr>
              <a:t>Hydraulic Drive</a:t>
            </a:r>
          </a:p>
        </p:txBody>
      </p:sp>
      <p:sp>
        <p:nvSpPr>
          <p:cNvPr id="6" name="Rectangle 5"/>
          <p:cNvSpPr/>
          <p:nvPr/>
        </p:nvSpPr>
        <p:spPr>
          <a:xfrm>
            <a:off x="457200" y="1221561"/>
            <a:ext cx="8229600" cy="4893647"/>
          </a:xfrm>
          <a:prstGeom prst="rect">
            <a:avLst/>
          </a:prstGeom>
        </p:spPr>
        <p:txBody>
          <a:bodyPr wrap="square">
            <a:spAutoFit/>
          </a:bodyPr>
          <a:lstStyle/>
          <a:p>
            <a:pPr marL="457200" indent="-457200" algn="just">
              <a:buAutoNum type="arabicPeriod"/>
            </a:pPr>
            <a:r>
              <a:rPr lang="en-IN" sz="2400" dirty="0" smtClean="0">
                <a:solidFill>
                  <a:srgbClr val="000000"/>
                </a:solidFill>
                <a:latin typeface="Times New Roman" panose="02020603050405020304" pitchFamily="18" charset="0"/>
              </a:rPr>
              <a:t>Linear </a:t>
            </a:r>
            <a:r>
              <a:rPr lang="en-IN" sz="2400" dirty="0">
                <a:solidFill>
                  <a:srgbClr val="000000"/>
                </a:solidFill>
                <a:latin typeface="Times New Roman" panose="02020603050405020304" pitchFamily="18" charset="0"/>
              </a:rPr>
              <a:t>piston or rotary vane types. </a:t>
            </a:r>
            <a:endParaRPr lang="en-IN" sz="2400" dirty="0" smtClean="0">
              <a:solidFill>
                <a:srgbClr val="000000"/>
              </a:solidFill>
              <a:latin typeface="Times New Roman" panose="02020603050405020304" pitchFamily="18" charset="0"/>
            </a:endParaRPr>
          </a:p>
          <a:p>
            <a:pPr marL="457200" indent="-457200" algn="just">
              <a:buAutoNum type="arabicPeriod"/>
            </a:pPr>
            <a:r>
              <a:rPr lang="en-IN" sz="2400" dirty="0" smtClean="0">
                <a:solidFill>
                  <a:srgbClr val="000000"/>
                </a:solidFill>
                <a:latin typeface="Times New Roman" panose="02020603050405020304" pitchFamily="18" charset="0"/>
              </a:rPr>
              <a:t>High </a:t>
            </a:r>
            <a:r>
              <a:rPr lang="en-IN" sz="2400" dirty="0">
                <a:solidFill>
                  <a:srgbClr val="000000"/>
                </a:solidFill>
                <a:latin typeface="Times New Roman" panose="02020603050405020304" pitchFamily="18" charset="0"/>
              </a:rPr>
              <a:t>power-to-weight ratio suitable for high loads at moderate speeds. </a:t>
            </a:r>
          </a:p>
          <a:p>
            <a:pPr marL="457200" indent="-457200" algn="just">
              <a:buAutoNum type="arabicPeriod"/>
            </a:pPr>
            <a:r>
              <a:rPr lang="en-IN" sz="2400" dirty="0" smtClean="0">
                <a:solidFill>
                  <a:srgbClr val="000000"/>
                </a:solidFill>
                <a:latin typeface="Times New Roman" panose="02020603050405020304" pitchFamily="18" charset="0"/>
              </a:rPr>
              <a:t>Easily </a:t>
            </a:r>
            <a:r>
              <a:rPr lang="en-IN" sz="2400" dirty="0">
                <a:solidFill>
                  <a:srgbClr val="000000"/>
                </a:solidFill>
                <a:latin typeface="Times New Roman" panose="02020603050405020304" pitchFamily="18" charset="0"/>
              </a:rPr>
              <a:t>controllable due to high stiffness of hydraulic </a:t>
            </a:r>
            <a:r>
              <a:rPr lang="en-IN" sz="2400" dirty="0" smtClean="0">
                <a:solidFill>
                  <a:srgbClr val="000000"/>
                </a:solidFill>
                <a:latin typeface="Times New Roman" panose="02020603050405020304" pitchFamily="18" charset="0"/>
              </a:rPr>
              <a:t>system.</a:t>
            </a:r>
          </a:p>
          <a:p>
            <a:pPr marL="457200" indent="-457200" algn="just">
              <a:buAutoNum type="arabicPeriod"/>
            </a:pPr>
            <a:r>
              <a:rPr lang="en-IN" sz="2400" dirty="0" smtClean="0">
                <a:solidFill>
                  <a:srgbClr val="000000"/>
                </a:solidFill>
                <a:latin typeface="Times New Roman" panose="02020603050405020304" pitchFamily="18" charset="0"/>
              </a:rPr>
              <a:t>Require </a:t>
            </a:r>
            <a:r>
              <a:rPr lang="en-IN" sz="2400" dirty="0">
                <a:solidFill>
                  <a:srgbClr val="000000"/>
                </a:solidFill>
                <a:latin typeface="Times New Roman" panose="02020603050405020304" pitchFamily="18" charset="0"/>
              </a:rPr>
              <a:t>high energy storage systems such as pumps and </a:t>
            </a:r>
            <a:r>
              <a:rPr lang="en-IN" sz="2400" dirty="0" smtClean="0">
                <a:solidFill>
                  <a:srgbClr val="000000"/>
                </a:solidFill>
                <a:latin typeface="Times New Roman" panose="02020603050405020304" pitchFamily="18" charset="0"/>
              </a:rPr>
              <a:t>accumulators.</a:t>
            </a:r>
          </a:p>
          <a:p>
            <a:pPr marL="457200" indent="-457200" algn="just">
              <a:buAutoNum type="arabicPeriod"/>
            </a:pPr>
            <a:r>
              <a:rPr lang="en-IN" sz="2400" dirty="0" smtClean="0">
                <a:solidFill>
                  <a:srgbClr val="000000"/>
                </a:solidFill>
                <a:latin typeface="Times New Roman" panose="02020603050405020304" pitchFamily="18" charset="0"/>
              </a:rPr>
              <a:t>Susceptible </a:t>
            </a:r>
            <a:r>
              <a:rPr lang="en-IN" sz="2400" dirty="0">
                <a:solidFill>
                  <a:srgbClr val="000000"/>
                </a:solidFill>
                <a:latin typeface="Times New Roman" panose="02020603050405020304" pitchFamily="18" charset="0"/>
              </a:rPr>
              <a:t>to leakage, which may reduce efficiency. </a:t>
            </a:r>
            <a:endParaRPr lang="en-IN" sz="2400" dirty="0" smtClean="0">
              <a:solidFill>
                <a:srgbClr val="000000"/>
              </a:solidFill>
              <a:latin typeface="Times New Roman" panose="02020603050405020304" pitchFamily="18" charset="0"/>
            </a:endParaRPr>
          </a:p>
          <a:p>
            <a:pPr marL="457200" indent="-457200" algn="just">
              <a:buAutoNum type="arabicPeriod"/>
            </a:pPr>
            <a:r>
              <a:rPr lang="en-IN" sz="2400" dirty="0" smtClean="0">
                <a:solidFill>
                  <a:srgbClr val="000000"/>
                </a:solidFill>
                <a:latin typeface="Times New Roman" panose="02020603050405020304" pitchFamily="18" charset="0"/>
              </a:rPr>
              <a:t>Require </a:t>
            </a:r>
            <a:r>
              <a:rPr lang="en-IN" sz="2400" dirty="0">
                <a:solidFill>
                  <a:srgbClr val="000000"/>
                </a:solidFill>
                <a:latin typeface="Times New Roman" panose="02020603050405020304" pitchFamily="18" charset="0"/>
              </a:rPr>
              <a:t>filtration. </a:t>
            </a:r>
            <a:endParaRPr lang="en-IN" sz="2400" dirty="0" smtClean="0">
              <a:solidFill>
                <a:srgbClr val="000000"/>
              </a:solidFill>
              <a:latin typeface="Times New Roman" panose="02020603050405020304" pitchFamily="18" charset="0"/>
            </a:endParaRPr>
          </a:p>
          <a:p>
            <a:pPr marL="457200" indent="-457200" algn="just">
              <a:buAutoNum type="arabicPeriod"/>
            </a:pPr>
            <a:r>
              <a:rPr lang="en-IN" sz="2400" dirty="0" smtClean="0">
                <a:solidFill>
                  <a:srgbClr val="000000"/>
                </a:solidFill>
                <a:latin typeface="Times New Roman" panose="02020603050405020304" pitchFamily="18" charset="0"/>
              </a:rPr>
              <a:t>Air </a:t>
            </a:r>
            <a:r>
              <a:rPr lang="en-IN" sz="2400" dirty="0">
                <a:solidFill>
                  <a:srgbClr val="000000"/>
                </a:solidFill>
                <a:latin typeface="Times New Roman" panose="02020603050405020304" pitchFamily="18" charset="0"/>
              </a:rPr>
              <a:t>entrapment and cavitation may cause difficulties. </a:t>
            </a:r>
            <a:endParaRPr lang="en-IN" sz="2400" dirty="0" smtClean="0">
              <a:solidFill>
                <a:srgbClr val="000000"/>
              </a:solidFill>
              <a:latin typeface="Times New Roman" panose="02020603050405020304" pitchFamily="18" charset="0"/>
            </a:endParaRPr>
          </a:p>
          <a:p>
            <a:pPr marL="457200" indent="-457200" algn="just">
              <a:buAutoNum type="arabicPeriod"/>
            </a:pPr>
            <a:r>
              <a:rPr lang="en-IN" sz="2400" dirty="0" smtClean="0">
                <a:solidFill>
                  <a:srgbClr val="000000"/>
                </a:solidFill>
                <a:latin typeface="Times New Roman" panose="02020603050405020304" pitchFamily="18" charset="0"/>
              </a:rPr>
              <a:t>Servo </a:t>
            </a:r>
            <a:r>
              <a:rPr lang="en-IN" sz="2400" dirty="0">
                <a:solidFill>
                  <a:srgbClr val="000000"/>
                </a:solidFill>
                <a:latin typeface="Times New Roman" panose="02020603050405020304" pitchFamily="18" charset="0"/>
              </a:rPr>
              <a:t>valves controlling the fluid flow must be placed close to the actuators to increase the stiffness of the control </a:t>
            </a:r>
            <a:r>
              <a:rPr lang="en-IN" sz="2400" dirty="0" smtClean="0">
                <a:solidFill>
                  <a:srgbClr val="000000"/>
                </a:solidFill>
                <a:latin typeface="Times New Roman" panose="02020603050405020304" pitchFamily="18" charset="0"/>
              </a:rPr>
              <a:t>system.</a:t>
            </a:r>
          </a:p>
          <a:p>
            <a:pPr marL="457200" indent="-457200" algn="just">
              <a:buAutoNum type="arabicPeriod"/>
            </a:pPr>
            <a:r>
              <a:rPr lang="en-IN" sz="2400" dirty="0" smtClean="0">
                <a:solidFill>
                  <a:srgbClr val="000000"/>
                </a:solidFill>
                <a:latin typeface="Times New Roman" panose="02020603050405020304" pitchFamily="18" charset="0"/>
              </a:rPr>
              <a:t>Suitable </a:t>
            </a:r>
            <a:r>
              <a:rPr lang="en-IN" sz="2400" dirty="0">
                <a:solidFill>
                  <a:srgbClr val="000000"/>
                </a:solidFill>
                <a:latin typeface="Times New Roman" panose="02020603050405020304" pitchFamily="18" charset="0"/>
              </a:rPr>
              <a:t>for harsh environments caused by dust, dirt, and moisture. </a:t>
            </a:r>
            <a:endParaRPr lang="en-IN" sz="2400" dirty="0"/>
          </a:p>
        </p:txBody>
      </p:sp>
    </p:spTree>
    <p:extLst>
      <p:ext uri="{BB962C8B-B14F-4D97-AF65-F5344CB8AC3E}">
        <p14:creationId xmlns:p14="http://schemas.microsoft.com/office/powerpoint/2010/main" val="33388078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7" name="Content Placeholder 2"/>
          <p:cNvSpPr>
            <a:spLocks noGrp="1"/>
          </p:cNvSpPr>
          <p:nvPr>
            <p:ph idx="4294967295"/>
          </p:nvPr>
        </p:nvSpPr>
        <p:spPr>
          <a:xfrm>
            <a:off x="1435100" y="914400"/>
            <a:ext cx="7499350" cy="5486400"/>
          </a:xfrm>
        </p:spPr>
        <p:txBody>
          <a:bodyPr/>
          <a:lstStyle/>
          <a:p>
            <a:pPr marL="692150" indent="-609600" eaLnBrk="1" hangingPunct="1">
              <a:buClr>
                <a:schemeClr val="accent3"/>
              </a:buClr>
              <a:buFont typeface="+mj-lt"/>
              <a:buAutoNum type="arabicPeriod"/>
              <a:defRPr/>
            </a:pPr>
            <a:r>
              <a:rPr lang="en-US" sz="2800" dirty="0" smtClean="0">
                <a:solidFill>
                  <a:srgbClr val="0070C0"/>
                </a:solidFill>
              </a:rPr>
              <a:t>Hydraulic Drive</a:t>
            </a:r>
          </a:p>
          <a:p>
            <a:pPr marL="700088" lvl="1" indent="-342900">
              <a:buClr>
                <a:schemeClr val="accent4">
                  <a:lumMod val="50000"/>
                </a:schemeClr>
              </a:buClr>
              <a:defRPr/>
            </a:pPr>
            <a:r>
              <a:rPr lang="en-US" sz="2400" dirty="0" smtClean="0"/>
              <a:t>Associated with large robot</a:t>
            </a:r>
          </a:p>
          <a:p>
            <a:pPr marL="700088" lvl="1" indent="-342900">
              <a:buClr>
                <a:schemeClr val="accent4">
                  <a:lumMod val="50000"/>
                </a:schemeClr>
              </a:buClr>
              <a:defRPr/>
            </a:pPr>
            <a:r>
              <a:rPr lang="en-US" sz="2400" dirty="0" smtClean="0"/>
              <a:t>Provide greater speed &amp; strength</a:t>
            </a:r>
          </a:p>
          <a:p>
            <a:pPr marL="700088" lvl="1" indent="-342900">
              <a:buClr>
                <a:schemeClr val="accent4">
                  <a:lumMod val="50000"/>
                </a:schemeClr>
              </a:buClr>
              <a:defRPr/>
            </a:pPr>
            <a:r>
              <a:rPr lang="en-US" sz="2400" dirty="0" smtClean="0"/>
              <a:t>Add floor space</a:t>
            </a:r>
          </a:p>
          <a:p>
            <a:pPr marL="700088" lvl="1" indent="-342900">
              <a:buClr>
                <a:schemeClr val="accent4">
                  <a:lumMod val="50000"/>
                </a:schemeClr>
              </a:buClr>
              <a:defRPr/>
            </a:pPr>
            <a:r>
              <a:rPr lang="en-US" sz="2400" dirty="0" smtClean="0"/>
              <a:t>Leakage of oil</a:t>
            </a:r>
          </a:p>
          <a:p>
            <a:pPr marL="700088" lvl="1" indent="-342900">
              <a:buClr>
                <a:schemeClr val="accent4">
                  <a:lumMod val="50000"/>
                </a:schemeClr>
              </a:buClr>
              <a:defRPr/>
            </a:pPr>
            <a:r>
              <a:rPr lang="en-US" sz="2400" dirty="0" smtClean="0"/>
              <a:t>Provide either rotational or linear motions</a:t>
            </a:r>
          </a:p>
          <a:p>
            <a:pPr marL="700088" lvl="1" indent="-342900">
              <a:buClr>
                <a:schemeClr val="accent4">
                  <a:lumMod val="50000"/>
                </a:schemeClr>
              </a:buClr>
              <a:defRPr/>
            </a:pPr>
            <a:r>
              <a:rPr lang="en-US" sz="2400" dirty="0" smtClean="0"/>
              <a:t>Applications such as:</a:t>
            </a:r>
          </a:p>
          <a:p>
            <a:pPr marL="1157288" lvl="3" indent="-342900">
              <a:buClr>
                <a:schemeClr val="accent4">
                  <a:lumMod val="50000"/>
                </a:schemeClr>
              </a:buClr>
              <a:buFont typeface="Arial" panose="020B0604020202020204" pitchFamily="34" charset="0"/>
              <a:buChar char="•"/>
              <a:defRPr/>
            </a:pPr>
            <a:r>
              <a:rPr lang="en-US" dirty="0" smtClean="0"/>
              <a:t>Spray coating robot</a:t>
            </a:r>
          </a:p>
          <a:p>
            <a:pPr marL="1157288" lvl="3" indent="-342900">
              <a:buClr>
                <a:schemeClr val="accent4">
                  <a:lumMod val="50000"/>
                </a:schemeClr>
              </a:buClr>
              <a:buFont typeface="Arial" panose="020B0604020202020204" pitchFamily="34" charset="0"/>
              <a:buChar char="•"/>
              <a:defRPr/>
            </a:pPr>
            <a:r>
              <a:rPr lang="en-US" dirty="0" smtClean="0"/>
              <a:t>Heavy part loading robot</a:t>
            </a:r>
          </a:p>
          <a:p>
            <a:pPr marL="1157288" lvl="3" indent="-342900">
              <a:buClr>
                <a:schemeClr val="accent4">
                  <a:lumMod val="50000"/>
                </a:schemeClr>
              </a:buClr>
              <a:buFont typeface="Arial" panose="020B0604020202020204" pitchFamily="34" charset="0"/>
              <a:buChar char="•"/>
              <a:defRPr/>
            </a:pPr>
            <a:r>
              <a:rPr lang="en-US" dirty="0" smtClean="0"/>
              <a:t>Material handling robot</a:t>
            </a:r>
          </a:p>
          <a:p>
            <a:pPr marL="1157288" lvl="3" indent="-342900">
              <a:buClr>
                <a:schemeClr val="accent4">
                  <a:lumMod val="50000"/>
                </a:schemeClr>
              </a:buClr>
              <a:buFont typeface="Arial" panose="020B0604020202020204" pitchFamily="34" charset="0"/>
              <a:buChar char="•"/>
              <a:defRPr/>
            </a:pPr>
            <a:r>
              <a:rPr lang="en-US" dirty="0" err="1" smtClean="0"/>
              <a:t>Translatory</a:t>
            </a:r>
            <a:r>
              <a:rPr lang="en-US" dirty="0" smtClean="0"/>
              <a:t> motions in </a:t>
            </a:r>
            <a:r>
              <a:rPr lang="en-US" dirty="0" err="1" smtClean="0"/>
              <a:t>cartesian</a:t>
            </a:r>
            <a:r>
              <a:rPr lang="en-US" dirty="0" smtClean="0"/>
              <a:t> robot</a:t>
            </a:r>
          </a:p>
          <a:p>
            <a:pPr marL="1157288" lvl="3" indent="-342900">
              <a:buClr>
                <a:schemeClr val="accent4">
                  <a:lumMod val="50000"/>
                </a:schemeClr>
              </a:buClr>
              <a:buFont typeface="Arial" panose="020B0604020202020204" pitchFamily="34" charset="0"/>
              <a:buChar char="•"/>
              <a:defRPr/>
            </a:pPr>
            <a:r>
              <a:rPr lang="en-US" dirty="0" smtClean="0"/>
              <a:t>Gripper mechanism </a:t>
            </a:r>
          </a:p>
        </p:txBody>
      </p:sp>
    </p:spTree>
    <p:extLst>
      <p:ext uri="{BB962C8B-B14F-4D97-AF65-F5344CB8AC3E}">
        <p14:creationId xmlns:p14="http://schemas.microsoft.com/office/powerpoint/2010/main" val="84991320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7" name="Content Placeholder 2"/>
          <p:cNvSpPr>
            <a:spLocks noGrp="1"/>
          </p:cNvSpPr>
          <p:nvPr>
            <p:ph idx="4294967295"/>
          </p:nvPr>
        </p:nvSpPr>
        <p:spPr>
          <a:xfrm>
            <a:off x="1435100" y="914400"/>
            <a:ext cx="7499350" cy="5486400"/>
          </a:xfrm>
        </p:spPr>
        <p:txBody>
          <a:bodyPr/>
          <a:lstStyle/>
          <a:p>
            <a:pPr marL="692150" indent="-609600" eaLnBrk="1" hangingPunct="1">
              <a:buClr>
                <a:schemeClr val="accent3"/>
              </a:buClr>
              <a:buFont typeface="+mj-lt"/>
              <a:buAutoNum type="arabicPeriod"/>
              <a:defRPr/>
            </a:pPr>
            <a:r>
              <a:rPr lang="en-US" sz="2800" dirty="0" smtClean="0">
                <a:solidFill>
                  <a:srgbClr val="0070C0"/>
                </a:solidFill>
              </a:rPr>
              <a:t>Hydraulic Drive..</a:t>
            </a:r>
          </a:p>
          <a:p>
            <a:pPr marL="966788" lvl="1" indent="-609600" eaLnBrk="1" hangingPunct="1">
              <a:buClr>
                <a:schemeClr val="accent4">
                  <a:lumMod val="50000"/>
                </a:schemeClr>
              </a:buClr>
              <a:buFont typeface="Wingdings" pitchFamily="2" charset="2"/>
              <a:buChar char="ü"/>
              <a:defRPr/>
            </a:pPr>
            <a:endParaRPr lang="en-US" sz="2400" dirty="0" smtClean="0"/>
          </a:p>
          <a:p>
            <a:pPr marL="1624013" lvl="4" indent="-609600" eaLnBrk="1" hangingPunct="1">
              <a:buClr>
                <a:schemeClr val="accent3"/>
              </a:buClr>
              <a:buFont typeface="Wingdings 2" pitchFamily="18" charset="2"/>
              <a:buNone/>
              <a:defRPr/>
            </a:pPr>
            <a:endParaRPr lang="en-US" sz="2400" dirty="0" smtClean="0"/>
          </a:p>
        </p:txBody>
      </p:sp>
      <p:pic>
        <p:nvPicPr>
          <p:cNvPr id="60423" name="Picture 2"/>
          <p:cNvPicPr>
            <a:picLocks noChangeAspect="1" noChangeArrowheads="1"/>
          </p:cNvPicPr>
          <p:nvPr/>
        </p:nvPicPr>
        <p:blipFill>
          <a:blip r:embed="rId3">
            <a:lum bright="4000"/>
          </a:blip>
          <a:srcRect/>
          <a:stretch>
            <a:fillRect/>
          </a:stretch>
        </p:blipFill>
        <p:spPr bwMode="auto">
          <a:xfrm>
            <a:off x="2362200" y="1447800"/>
            <a:ext cx="4116388" cy="4957763"/>
          </a:xfrm>
          <a:prstGeom prst="rect">
            <a:avLst/>
          </a:prstGeom>
          <a:noFill/>
          <a:ln w="9525">
            <a:noFill/>
            <a:miter lim="800000"/>
            <a:headEnd/>
            <a:tailEnd/>
          </a:ln>
        </p:spPr>
      </p:pic>
    </p:spTree>
    <p:extLst>
      <p:ext uri="{BB962C8B-B14F-4D97-AF65-F5344CB8AC3E}">
        <p14:creationId xmlns:p14="http://schemas.microsoft.com/office/powerpoint/2010/main" val="55431375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B10DD6-D204-41FA-AA00-2416FF9E7019}" type="datetime1">
              <a:rPr lang="en-US" smtClean="0"/>
              <a:t>10/29/2020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F94EDD-D845-48AB-B01E-E1FCDA2D3009}" type="slidenum">
              <a:rPr lang="en-IN" smtClean="0"/>
              <a:pPr/>
              <a:t>86</a:t>
            </a:fld>
            <a:endParaRPr lang="en-IN"/>
          </a:p>
        </p:txBody>
      </p:sp>
      <p:sp>
        <p:nvSpPr>
          <p:cNvPr id="5" name="Rectangle 4"/>
          <p:cNvSpPr/>
          <p:nvPr/>
        </p:nvSpPr>
        <p:spPr>
          <a:xfrm>
            <a:off x="838200" y="1219201"/>
            <a:ext cx="7848600" cy="3416320"/>
          </a:xfrm>
          <a:prstGeom prst="rect">
            <a:avLst/>
          </a:prstGeom>
        </p:spPr>
        <p:txBody>
          <a:bodyPr wrap="square">
            <a:spAutoFit/>
          </a:bodyPr>
          <a:lstStyle/>
          <a:p>
            <a:pPr marL="342900" indent="-342900" algn="just">
              <a:buAutoNum type="arabicPeriod"/>
            </a:pPr>
            <a:r>
              <a:rPr lang="en-IN" sz="2400" dirty="0" smtClean="0">
                <a:solidFill>
                  <a:srgbClr val="000000"/>
                </a:solidFill>
                <a:latin typeface="Times New Roman" panose="02020603050405020304" pitchFamily="18" charset="0"/>
              </a:rPr>
              <a:t>Used </a:t>
            </a:r>
            <a:r>
              <a:rPr lang="en-IN" sz="2400" dirty="0">
                <a:solidFill>
                  <a:srgbClr val="000000"/>
                </a:solidFill>
                <a:latin typeface="Times New Roman" panose="02020603050405020304" pitchFamily="18" charset="0"/>
              </a:rPr>
              <a:t>in inexpensive manipulators with low load-carrying capacity. </a:t>
            </a:r>
            <a:endParaRPr lang="en-IN" sz="2400" dirty="0" smtClean="0">
              <a:solidFill>
                <a:srgbClr val="000000"/>
              </a:solidFill>
              <a:latin typeface="Times New Roman" panose="02020603050405020304" pitchFamily="18" charset="0"/>
            </a:endParaRPr>
          </a:p>
          <a:p>
            <a:pPr marL="342900" indent="-342900" algn="just">
              <a:buAutoNum type="arabicPeriod"/>
            </a:pPr>
            <a:r>
              <a:rPr lang="en-IN" sz="2400" dirty="0" smtClean="0">
                <a:solidFill>
                  <a:srgbClr val="000000"/>
                </a:solidFill>
                <a:latin typeface="Times New Roman" panose="02020603050405020304" pitchFamily="18" charset="0"/>
              </a:rPr>
              <a:t>Usually </a:t>
            </a:r>
            <a:r>
              <a:rPr lang="en-IN" sz="2400" dirty="0">
                <a:solidFill>
                  <a:srgbClr val="000000"/>
                </a:solidFill>
                <a:latin typeface="Times New Roman" panose="02020603050405020304" pitchFamily="18" charset="0"/>
              </a:rPr>
              <a:t>require mechanical stops for accurate positioning in non-servo control. </a:t>
            </a:r>
            <a:endParaRPr lang="en-IN" sz="2400" dirty="0" smtClean="0">
              <a:solidFill>
                <a:srgbClr val="000000"/>
              </a:solidFill>
              <a:latin typeface="Times New Roman" panose="02020603050405020304" pitchFamily="18" charset="0"/>
            </a:endParaRPr>
          </a:p>
          <a:p>
            <a:pPr marL="342900" indent="-342900" algn="just">
              <a:buAutoNum type="arabicPeriod"/>
            </a:pPr>
            <a:r>
              <a:rPr lang="en-IN" sz="2400" dirty="0" smtClean="0">
                <a:solidFill>
                  <a:srgbClr val="000000"/>
                </a:solidFill>
                <a:latin typeface="Times New Roman" panose="02020603050405020304" pitchFamily="18" charset="0"/>
              </a:rPr>
              <a:t> </a:t>
            </a:r>
            <a:r>
              <a:rPr lang="en-IN" sz="2400" dirty="0">
                <a:solidFill>
                  <a:srgbClr val="000000"/>
                </a:solidFill>
                <a:latin typeface="Times New Roman" panose="02020603050405020304" pitchFamily="18" charset="0"/>
              </a:rPr>
              <a:t>Single- and double-acting piston or rotary vane types are </a:t>
            </a:r>
            <a:r>
              <a:rPr lang="en-IN" sz="2400" dirty="0" smtClean="0">
                <a:solidFill>
                  <a:srgbClr val="000000"/>
                </a:solidFill>
                <a:latin typeface="Times New Roman" panose="02020603050405020304" pitchFamily="18" charset="0"/>
              </a:rPr>
              <a:t>commonly </a:t>
            </a:r>
            <a:r>
              <a:rPr lang="en-IN" sz="2400" dirty="0">
                <a:solidFill>
                  <a:srgbClr val="000000"/>
                </a:solidFill>
                <a:latin typeface="Times New Roman" panose="02020603050405020304" pitchFamily="18" charset="0"/>
              </a:rPr>
              <a:t>used. </a:t>
            </a:r>
          </a:p>
          <a:p>
            <a:pPr marL="342900" indent="-342900" algn="just">
              <a:buAutoNum type="arabicPeriod"/>
            </a:pPr>
            <a:r>
              <a:rPr lang="en-IN" sz="2400" dirty="0" smtClean="0">
                <a:solidFill>
                  <a:srgbClr val="000000"/>
                </a:solidFill>
                <a:latin typeface="Times New Roman" panose="02020603050405020304" pitchFamily="18" charset="0"/>
              </a:rPr>
              <a:t>Inherently </a:t>
            </a:r>
            <a:r>
              <a:rPr lang="en-IN" sz="2400" dirty="0">
                <a:solidFill>
                  <a:srgbClr val="000000"/>
                </a:solidFill>
                <a:latin typeface="Times New Roman" panose="02020603050405020304" pitchFamily="18" charset="0"/>
              </a:rPr>
              <a:t>lightweight at moderate operating pressures. </a:t>
            </a:r>
            <a:endParaRPr lang="en-IN" sz="2400" dirty="0" smtClean="0">
              <a:solidFill>
                <a:srgbClr val="000000"/>
              </a:solidFill>
              <a:latin typeface="Times New Roman" panose="02020603050405020304" pitchFamily="18" charset="0"/>
            </a:endParaRPr>
          </a:p>
          <a:p>
            <a:pPr marL="342900" indent="-342900" algn="just">
              <a:buAutoNum type="arabicPeriod"/>
            </a:pPr>
            <a:r>
              <a:rPr lang="en-IN" sz="2400" dirty="0" smtClean="0">
                <a:solidFill>
                  <a:srgbClr val="000000"/>
                </a:solidFill>
                <a:latin typeface="Times New Roman" panose="02020603050405020304" pitchFamily="18" charset="0"/>
              </a:rPr>
              <a:t>Limited </a:t>
            </a:r>
            <a:r>
              <a:rPr lang="en-IN" sz="2400" dirty="0">
                <a:solidFill>
                  <a:srgbClr val="000000"/>
                </a:solidFill>
                <a:latin typeface="Times New Roman" panose="02020603050405020304" pitchFamily="18" charset="0"/>
              </a:rPr>
              <a:t>by low efficiency at reduced loads and low stiffness due to compressibility. </a:t>
            </a:r>
            <a:endParaRPr lang="en-IN" sz="2400" dirty="0"/>
          </a:p>
        </p:txBody>
      </p:sp>
      <p:sp>
        <p:nvSpPr>
          <p:cNvPr id="6" name="Rectangle 5"/>
          <p:cNvSpPr/>
          <p:nvPr/>
        </p:nvSpPr>
        <p:spPr>
          <a:xfrm>
            <a:off x="3485805" y="316985"/>
            <a:ext cx="3605474" cy="584775"/>
          </a:xfrm>
          <a:prstGeom prst="rect">
            <a:avLst/>
          </a:prstGeom>
        </p:spPr>
        <p:txBody>
          <a:bodyPr wrap="none">
            <a:spAutoFit/>
          </a:bodyPr>
          <a:lstStyle/>
          <a:p>
            <a:r>
              <a:rPr lang="en-IN" sz="3200" dirty="0">
                <a:solidFill>
                  <a:srgbClr val="0070C0"/>
                </a:solidFill>
                <a:latin typeface="Times New Roman" panose="02020603050405020304" pitchFamily="18" charset="0"/>
              </a:rPr>
              <a:t>Pneumatic </a:t>
            </a:r>
            <a:r>
              <a:rPr lang="en-IN" sz="3200" dirty="0" smtClean="0">
                <a:solidFill>
                  <a:srgbClr val="0070C0"/>
                </a:solidFill>
                <a:latin typeface="Times New Roman" panose="02020603050405020304" pitchFamily="18" charset="0"/>
              </a:rPr>
              <a:t>actuators </a:t>
            </a:r>
            <a:endParaRPr lang="en-IN" sz="3200" dirty="0">
              <a:solidFill>
                <a:srgbClr val="0070C0"/>
              </a:solidFill>
            </a:endParaRPr>
          </a:p>
        </p:txBody>
      </p:sp>
    </p:spTree>
    <p:extLst>
      <p:ext uri="{BB962C8B-B14F-4D97-AF65-F5344CB8AC3E}">
        <p14:creationId xmlns:p14="http://schemas.microsoft.com/office/powerpoint/2010/main" val="296776146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7" name="Content Placeholder 2"/>
          <p:cNvSpPr>
            <a:spLocks noGrp="1"/>
          </p:cNvSpPr>
          <p:nvPr>
            <p:ph idx="4294967295"/>
          </p:nvPr>
        </p:nvSpPr>
        <p:spPr>
          <a:xfrm>
            <a:off x="1435100" y="914400"/>
            <a:ext cx="7499350" cy="5486400"/>
          </a:xfrm>
        </p:spPr>
        <p:txBody>
          <a:bodyPr/>
          <a:lstStyle/>
          <a:p>
            <a:pPr marL="692150" indent="-609600" eaLnBrk="1" hangingPunct="1">
              <a:buClr>
                <a:schemeClr val="accent3"/>
              </a:buClr>
              <a:buFont typeface="+mj-lt"/>
              <a:buAutoNum type="arabicPeriod" startAt="2"/>
              <a:defRPr/>
            </a:pPr>
            <a:r>
              <a:rPr lang="en-US" sz="2800" dirty="0" smtClean="0">
                <a:solidFill>
                  <a:srgbClr val="0070C0"/>
                </a:solidFill>
              </a:rPr>
              <a:t>Pneumatic Drive</a:t>
            </a:r>
          </a:p>
          <a:p>
            <a:pPr marL="700088" lvl="1" indent="-342900">
              <a:buClr>
                <a:schemeClr val="accent4">
                  <a:lumMod val="50000"/>
                </a:schemeClr>
              </a:buClr>
              <a:defRPr/>
            </a:pPr>
            <a:r>
              <a:rPr lang="en-US" sz="2400" dirty="0" smtClean="0"/>
              <a:t>Reserved for smaller robot</a:t>
            </a:r>
          </a:p>
          <a:p>
            <a:pPr marL="700088" lvl="1" indent="-342900">
              <a:buClr>
                <a:schemeClr val="accent4">
                  <a:lumMod val="50000"/>
                </a:schemeClr>
              </a:buClr>
              <a:defRPr/>
            </a:pPr>
            <a:r>
              <a:rPr lang="en-US" sz="2400" dirty="0" smtClean="0"/>
              <a:t>Limited to “pick-and-place” operations with fast cycles</a:t>
            </a:r>
          </a:p>
          <a:p>
            <a:pPr marL="700088" lvl="1" indent="-342900">
              <a:buClr>
                <a:schemeClr val="accent4">
                  <a:lumMod val="50000"/>
                </a:schemeClr>
              </a:buClr>
              <a:defRPr/>
            </a:pPr>
            <a:r>
              <a:rPr lang="en-US" sz="2400" dirty="0" smtClean="0"/>
              <a:t>Drift under load as air is compressible </a:t>
            </a:r>
          </a:p>
          <a:p>
            <a:pPr marL="700088" lvl="1" indent="-342900">
              <a:buClr>
                <a:schemeClr val="accent4">
                  <a:lumMod val="50000"/>
                </a:schemeClr>
              </a:buClr>
              <a:defRPr/>
            </a:pPr>
            <a:r>
              <a:rPr lang="en-US" sz="2400" dirty="0" smtClean="0"/>
              <a:t>Provide either rotational or linear motions</a:t>
            </a:r>
          </a:p>
          <a:p>
            <a:pPr marL="700088" lvl="1" indent="-342900">
              <a:buClr>
                <a:schemeClr val="accent4">
                  <a:lumMod val="50000"/>
                </a:schemeClr>
              </a:buClr>
              <a:defRPr/>
            </a:pPr>
            <a:r>
              <a:rPr lang="en-US" sz="2400" dirty="0" smtClean="0"/>
              <a:t>Simple and low cost components</a:t>
            </a:r>
          </a:p>
          <a:p>
            <a:pPr marL="700088" lvl="1" indent="-342900">
              <a:buClr>
                <a:schemeClr val="accent4">
                  <a:lumMod val="50000"/>
                </a:schemeClr>
              </a:buClr>
              <a:defRPr/>
            </a:pPr>
            <a:r>
              <a:rPr lang="en-US" sz="2400" dirty="0" smtClean="0"/>
              <a:t>Used to open and close gripper</a:t>
            </a:r>
          </a:p>
        </p:txBody>
      </p:sp>
    </p:spTree>
    <p:extLst>
      <p:ext uri="{BB962C8B-B14F-4D97-AF65-F5344CB8AC3E}">
        <p14:creationId xmlns:p14="http://schemas.microsoft.com/office/powerpoint/2010/main" val="277137483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924F58-47E1-45E2-A0C9-EFBBFCECAA91}" type="datetime1">
              <a:rPr lang="en-US" smtClean="0"/>
              <a:t>10/29/2020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F94EDD-D845-48AB-B01E-E1FCDA2D3009}" type="slidenum">
              <a:rPr lang="en-IN" smtClean="0"/>
              <a:pPr/>
              <a:t>88</a:t>
            </a:fld>
            <a:endParaRPr lang="en-IN"/>
          </a:p>
        </p:txBody>
      </p:sp>
      <p:sp>
        <p:nvSpPr>
          <p:cNvPr id="5" name="Rectangle 4"/>
          <p:cNvSpPr/>
          <p:nvPr/>
        </p:nvSpPr>
        <p:spPr>
          <a:xfrm>
            <a:off x="1066800" y="1313904"/>
            <a:ext cx="7238999" cy="3416320"/>
          </a:xfrm>
          <a:prstGeom prst="rect">
            <a:avLst/>
          </a:prstGeom>
        </p:spPr>
        <p:txBody>
          <a:bodyPr wrap="square">
            <a:spAutoFit/>
          </a:bodyPr>
          <a:lstStyle/>
          <a:p>
            <a:pPr marL="457200" indent="-457200" algn="just">
              <a:buAutoNum type="arabicPeriod"/>
            </a:pPr>
            <a:r>
              <a:rPr lang="en-IN" sz="2400" dirty="0" smtClean="0">
                <a:solidFill>
                  <a:srgbClr val="000000"/>
                </a:solidFill>
                <a:latin typeface="Times New Roman" panose="02020603050405020304" pitchFamily="18" charset="0"/>
              </a:rPr>
              <a:t>Provide </a:t>
            </a:r>
            <a:r>
              <a:rPr lang="en-IN" sz="2400" dirty="0">
                <a:solidFill>
                  <a:srgbClr val="000000"/>
                </a:solidFill>
                <a:latin typeface="Times New Roman" panose="02020603050405020304" pitchFamily="18" charset="0"/>
              </a:rPr>
              <a:t>a variety of power </a:t>
            </a:r>
            <a:r>
              <a:rPr lang="en-IN" sz="2400" dirty="0" smtClean="0">
                <a:solidFill>
                  <a:srgbClr val="000000"/>
                </a:solidFill>
                <a:latin typeface="Times New Roman" panose="02020603050405020304" pitchFamily="18" charset="0"/>
              </a:rPr>
              <a:t>systems.</a:t>
            </a:r>
          </a:p>
          <a:p>
            <a:pPr marL="457200" indent="-457200" algn="just">
              <a:buAutoNum type="arabicPeriod"/>
            </a:pPr>
            <a:r>
              <a:rPr lang="en-IN" sz="2400" dirty="0" smtClean="0">
                <a:solidFill>
                  <a:srgbClr val="000000"/>
                </a:solidFill>
                <a:latin typeface="Times New Roman" panose="02020603050405020304" pitchFamily="18" charset="0"/>
              </a:rPr>
              <a:t>Easier </a:t>
            </a:r>
            <a:r>
              <a:rPr lang="en-IN" sz="2400" dirty="0">
                <a:solidFill>
                  <a:srgbClr val="000000"/>
                </a:solidFill>
                <a:latin typeface="Times New Roman" panose="02020603050405020304" pitchFamily="18" charset="0"/>
              </a:rPr>
              <a:t>to control. </a:t>
            </a:r>
            <a:endParaRPr lang="en-IN" sz="2400" dirty="0" smtClean="0">
              <a:solidFill>
                <a:srgbClr val="000000"/>
              </a:solidFill>
              <a:latin typeface="Times New Roman" panose="02020603050405020304" pitchFamily="18" charset="0"/>
            </a:endParaRPr>
          </a:p>
          <a:p>
            <a:pPr marL="457200" indent="-457200" algn="just">
              <a:buAutoNum type="arabicPeriod"/>
            </a:pPr>
            <a:r>
              <a:rPr lang="en-IN" sz="2400" dirty="0" smtClean="0">
                <a:solidFill>
                  <a:srgbClr val="000000"/>
                </a:solidFill>
                <a:latin typeface="Times New Roman" panose="02020603050405020304" pitchFamily="18" charset="0"/>
              </a:rPr>
              <a:t>May </a:t>
            </a:r>
            <a:r>
              <a:rPr lang="en-IN" sz="2400" dirty="0">
                <a:solidFill>
                  <a:srgbClr val="000000"/>
                </a:solidFill>
                <a:latin typeface="Times New Roman" panose="02020603050405020304" pitchFamily="18" charset="0"/>
              </a:rPr>
              <a:t>not be as responsive as hydraulic systems and stiffer than pneumatic systems with low pressure. </a:t>
            </a:r>
          </a:p>
          <a:p>
            <a:pPr marL="457200" indent="-457200" algn="just">
              <a:buAutoNum type="arabicPeriod"/>
            </a:pPr>
            <a:r>
              <a:rPr lang="en-IN" sz="2400" dirty="0" smtClean="0">
                <a:solidFill>
                  <a:srgbClr val="000000"/>
                </a:solidFill>
                <a:latin typeface="Times New Roman" panose="02020603050405020304" pitchFamily="18" charset="0"/>
              </a:rPr>
              <a:t>Normally </a:t>
            </a:r>
            <a:r>
              <a:rPr lang="en-IN" sz="2400" dirty="0">
                <a:solidFill>
                  <a:srgbClr val="000000"/>
                </a:solidFill>
                <a:latin typeface="Times New Roman" panose="02020603050405020304" pitchFamily="18" charset="0"/>
              </a:rPr>
              <a:t>require speed reducers, which introduce inefficiency and error in operation. </a:t>
            </a:r>
          </a:p>
          <a:p>
            <a:pPr marL="457200" indent="-457200" algn="just">
              <a:buAutoNum type="arabicPeriod"/>
            </a:pPr>
            <a:r>
              <a:rPr lang="en-IN" sz="2400" dirty="0" smtClean="0">
                <a:solidFill>
                  <a:srgbClr val="000000"/>
                </a:solidFill>
                <a:latin typeface="Times New Roman" panose="02020603050405020304" pitchFamily="18" charset="0"/>
              </a:rPr>
              <a:t>Variety </a:t>
            </a:r>
            <a:r>
              <a:rPr lang="en-IN" sz="2400" dirty="0">
                <a:solidFill>
                  <a:srgbClr val="000000"/>
                </a:solidFill>
                <a:latin typeface="Times New Roman" panose="02020603050405020304" pitchFamily="18" charset="0"/>
              </a:rPr>
              <a:t>of types such as permanent magnet DC motors, </a:t>
            </a:r>
            <a:r>
              <a:rPr lang="en-IN" sz="2400" dirty="0" err="1">
                <a:solidFill>
                  <a:srgbClr val="000000"/>
                </a:solidFill>
                <a:latin typeface="Times New Roman" panose="02020603050405020304" pitchFamily="18" charset="0"/>
              </a:rPr>
              <a:t>printedcircuit</a:t>
            </a:r>
            <a:r>
              <a:rPr lang="en-IN" sz="2400" dirty="0">
                <a:solidFill>
                  <a:srgbClr val="000000"/>
                </a:solidFill>
                <a:latin typeface="Times New Roman" panose="02020603050405020304" pitchFamily="18" charset="0"/>
              </a:rPr>
              <a:t> motors , stepping motors, and direct drives. </a:t>
            </a:r>
            <a:endParaRPr lang="en-IN" sz="2400" dirty="0"/>
          </a:p>
        </p:txBody>
      </p:sp>
      <p:sp>
        <p:nvSpPr>
          <p:cNvPr id="6" name="Rectangle 5"/>
          <p:cNvSpPr/>
          <p:nvPr/>
        </p:nvSpPr>
        <p:spPr>
          <a:xfrm>
            <a:off x="3220508" y="303333"/>
            <a:ext cx="2702984" cy="584775"/>
          </a:xfrm>
          <a:prstGeom prst="rect">
            <a:avLst/>
          </a:prstGeom>
        </p:spPr>
        <p:txBody>
          <a:bodyPr wrap="none">
            <a:spAutoFit/>
          </a:bodyPr>
          <a:lstStyle/>
          <a:p>
            <a:r>
              <a:rPr lang="en-IN" sz="3200" dirty="0">
                <a:solidFill>
                  <a:srgbClr val="0070C0"/>
                </a:solidFill>
                <a:latin typeface="Times New Roman" panose="02020603050405020304" pitchFamily="18" charset="0"/>
              </a:rPr>
              <a:t>Electric </a:t>
            </a:r>
            <a:r>
              <a:rPr lang="en-IN" sz="3200" dirty="0" smtClean="0">
                <a:solidFill>
                  <a:srgbClr val="0070C0"/>
                </a:solidFill>
                <a:latin typeface="Times New Roman" panose="02020603050405020304" pitchFamily="18" charset="0"/>
              </a:rPr>
              <a:t>motors</a:t>
            </a:r>
            <a:endParaRPr lang="en-IN" sz="3200" dirty="0">
              <a:solidFill>
                <a:srgbClr val="0070C0"/>
              </a:solidFill>
            </a:endParaRPr>
          </a:p>
        </p:txBody>
      </p:sp>
    </p:spTree>
    <p:extLst>
      <p:ext uri="{BB962C8B-B14F-4D97-AF65-F5344CB8AC3E}">
        <p14:creationId xmlns:p14="http://schemas.microsoft.com/office/powerpoint/2010/main" val="85605144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7" name="Content Placeholder 2"/>
          <p:cNvSpPr>
            <a:spLocks noGrp="1"/>
          </p:cNvSpPr>
          <p:nvPr>
            <p:ph idx="4294967295"/>
          </p:nvPr>
        </p:nvSpPr>
        <p:spPr>
          <a:xfrm>
            <a:off x="533400" y="914400"/>
            <a:ext cx="7499350" cy="5486400"/>
          </a:xfrm>
        </p:spPr>
        <p:txBody>
          <a:bodyPr/>
          <a:lstStyle/>
          <a:p>
            <a:pPr marL="692150" indent="-609600" eaLnBrk="1" hangingPunct="1">
              <a:buClr>
                <a:schemeClr val="accent3"/>
              </a:buClr>
              <a:buFont typeface="+mj-lt"/>
              <a:buAutoNum type="arabicPeriod" startAt="3"/>
              <a:defRPr/>
            </a:pPr>
            <a:r>
              <a:rPr lang="en-US" sz="2800" dirty="0" smtClean="0">
                <a:solidFill>
                  <a:srgbClr val="0070C0"/>
                </a:solidFill>
              </a:rPr>
              <a:t>Electric Drive</a:t>
            </a:r>
          </a:p>
          <a:p>
            <a:pPr marL="700088" lvl="1" indent="-342900">
              <a:buClr>
                <a:schemeClr val="accent4">
                  <a:lumMod val="50000"/>
                </a:schemeClr>
              </a:buClr>
              <a:defRPr/>
            </a:pPr>
            <a:r>
              <a:rPr lang="en-US" sz="2400" dirty="0" smtClean="0"/>
              <a:t>Rotor, stator, brush and commutator assembly</a:t>
            </a:r>
          </a:p>
          <a:p>
            <a:pPr marL="700088" lvl="1" indent="-342900">
              <a:buClr>
                <a:schemeClr val="accent4">
                  <a:lumMod val="50000"/>
                </a:schemeClr>
              </a:buClr>
              <a:defRPr/>
            </a:pPr>
            <a:r>
              <a:rPr lang="en-US" sz="2400" dirty="0" smtClean="0"/>
              <a:t>Rotor has got windings of armature and stator has got magnets</a:t>
            </a:r>
          </a:p>
          <a:p>
            <a:pPr marL="700088" lvl="1" indent="-342900">
              <a:buClr>
                <a:schemeClr val="accent4">
                  <a:lumMod val="50000"/>
                </a:schemeClr>
              </a:buClr>
              <a:defRPr/>
            </a:pPr>
            <a:r>
              <a:rPr lang="en-US" sz="2400" dirty="0" smtClean="0"/>
              <a:t>The brush and the commutator assembly switch the current in armature windings</a:t>
            </a:r>
          </a:p>
          <a:p>
            <a:pPr marL="700088" lvl="1" indent="-342900">
              <a:buClr>
                <a:schemeClr val="accent4">
                  <a:lumMod val="50000"/>
                </a:schemeClr>
              </a:buClr>
              <a:defRPr/>
            </a:pPr>
            <a:r>
              <a:rPr lang="en-US" sz="2400" dirty="0" smtClean="0"/>
              <a:t>The most commonly used are DC servomotors, AC servomotors and stepper motors</a:t>
            </a:r>
          </a:p>
        </p:txBody>
      </p:sp>
    </p:spTree>
    <p:extLst>
      <p:ext uri="{BB962C8B-B14F-4D97-AF65-F5344CB8AC3E}">
        <p14:creationId xmlns:p14="http://schemas.microsoft.com/office/powerpoint/2010/main" val="298957027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EA0D3-7551-40B7-82E3-88AC844ECE82}" type="datetime1">
              <a:rPr lang="en-US" smtClean="0"/>
              <a:t>10/29/2020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F94EDD-D845-48AB-B01E-E1FCDA2D3009}" type="slidenum">
              <a:rPr lang="en-IN" smtClean="0"/>
              <a:pPr/>
              <a:t>90</a:t>
            </a:fld>
            <a:endParaRPr lang="en-IN"/>
          </a:p>
        </p:txBody>
      </p:sp>
      <p:sp>
        <p:nvSpPr>
          <p:cNvPr id="5" name="Rectangle 4"/>
          <p:cNvSpPr/>
          <p:nvPr/>
        </p:nvSpPr>
        <p:spPr>
          <a:xfrm>
            <a:off x="2286000" y="381000"/>
            <a:ext cx="6096000" cy="954107"/>
          </a:xfrm>
          <a:prstGeom prst="rect">
            <a:avLst/>
          </a:prstGeom>
        </p:spPr>
        <p:txBody>
          <a:bodyPr wrap="square">
            <a:spAutoFit/>
          </a:bodyPr>
          <a:lstStyle/>
          <a:p>
            <a:pPr algn="ctr"/>
            <a:r>
              <a:rPr lang="en-IN" sz="2800" dirty="0">
                <a:solidFill>
                  <a:srgbClr val="0070C0"/>
                </a:solidFill>
                <a:latin typeface="Times New Roman" panose="02020603050405020304" pitchFamily="18" charset="0"/>
              </a:rPr>
              <a:t>Robot Controls with Hydraulic, Pneumatic, and Electric Systems </a:t>
            </a:r>
            <a:endParaRPr lang="en-IN" sz="2800" dirty="0">
              <a:solidFill>
                <a:srgbClr val="0070C0"/>
              </a:solidFill>
            </a:endParaRPr>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73117" y="1676400"/>
            <a:ext cx="8594341" cy="3429000"/>
          </a:xfrm>
          <a:prstGeom prst="rect">
            <a:avLst/>
          </a:prstGeom>
        </p:spPr>
      </p:pic>
    </p:spTree>
    <p:extLst>
      <p:ext uri="{BB962C8B-B14F-4D97-AF65-F5344CB8AC3E}">
        <p14:creationId xmlns:p14="http://schemas.microsoft.com/office/powerpoint/2010/main" val="413656676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solidFill>
                  <a:srgbClr val="0070C0"/>
                </a:solidFill>
              </a:rPr>
              <a:t>Speed of motion and Load carrying capacity</a:t>
            </a:r>
            <a:endParaRPr lang="en-IN" dirty="0">
              <a:solidFill>
                <a:srgbClr val="0070C0"/>
              </a:solidFill>
            </a:endParaRPr>
          </a:p>
        </p:txBody>
      </p:sp>
      <p:sp>
        <p:nvSpPr>
          <p:cNvPr id="2" name="Date Placeholder 1"/>
          <p:cNvSpPr>
            <a:spLocks noGrp="1"/>
          </p:cNvSpPr>
          <p:nvPr>
            <p:ph type="dt" sz="half" idx="10"/>
          </p:nvPr>
        </p:nvSpPr>
        <p:spPr/>
        <p:txBody>
          <a:bodyPr/>
          <a:lstStyle/>
          <a:p>
            <a:fld id="{4D9DA567-2275-4913-8F1A-AE2FFB6EA75A}" type="datetime1">
              <a:rPr lang="en-US" smtClean="0"/>
              <a:t>10/29/2020</a:t>
            </a:fld>
            <a:endParaRPr lang="en-IN"/>
          </a:p>
        </p:txBody>
      </p:sp>
      <p:sp>
        <p:nvSpPr>
          <p:cNvPr id="4" name="Slide Number Placeholder 3"/>
          <p:cNvSpPr>
            <a:spLocks noGrp="1"/>
          </p:cNvSpPr>
          <p:nvPr>
            <p:ph type="sldNum" sz="quarter" idx="11"/>
          </p:nvPr>
        </p:nvSpPr>
        <p:spPr/>
        <p:txBody>
          <a:bodyPr/>
          <a:lstStyle/>
          <a:p>
            <a:fld id="{41F94EDD-D845-48AB-B01E-E1FCDA2D3009}" type="slidenum">
              <a:rPr lang="en-IN" smtClean="0"/>
              <a:pPr/>
              <a:t>91</a:t>
            </a:fld>
            <a:endParaRPr lang="en-IN"/>
          </a:p>
        </p:txBody>
      </p:sp>
      <p:sp>
        <p:nvSpPr>
          <p:cNvPr id="3" name="Footer Placeholder 2"/>
          <p:cNvSpPr>
            <a:spLocks noGrp="1"/>
          </p:cNvSpPr>
          <p:nvPr>
            <p:ph type="ftr" sz="quarter" idx="12"/>
          </p:nvPr>
        </p:nvSpPr>
        <p:spPr/>
        <p:txBody>
          <a:bodyPr/>
          <a:lstStyle/>
          <a:p>
            <a:endParaRPr lang="en-IN"/>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608083" y="3048000"/>
            <a:ext cx="5573696" cy="2854819"/>
          </a:xfrm>
          <a:prstGeom prst="rect">
            <a:avLst/>
          </a:prstGeom>
        </p:spPr>
      </p:pic>
      <p:sp>
        <p:nvSpPr>
          <p:cNvPr id="7" name="TextBox 6"/>
          <p:cNvSpPr txBox="1"/>
          <p:nvPr/>
        </p:nvSpPr>
        <p:spPr>
          <a:xfrm>
            <a:off x="281557" y="1271034"/>
            <a:ext cx="8580885" cy="1569660"/>
          </a:xfrm>
          <a:prstGeom prst="rect">
            <a:avLst/>
          </a:prstGeom>
          <a:noFill/>
        </p:spPr>
        <p:txBody>
          <a:bodyPr wrap="square" rtlCol="0">
            <a:spAutoFit/>
          </a:bodyPr>
          <a:lstStyle/>
          <a:p>
            <a:r>
              <a:rPr lang="en-US" sz="2400" dirty="0" smtClean="0"/>
              <a:t>Speed depends on the following factors</a:t>
            </a:r>
          </a:p>
          <a:p>
            <a:pPr marL="285750" indent="-285750">
              <a:buFont typeface="Arial" panose="020B0604020202020204" pitchFamily="34" charset="0"/>
              <a:buChar char="•"/>
            </a:pPr>
            <a:r>
              <a:rPr lang="en-US" sz="2400" dirty="0" smtClean="0"/>
              <a:t>The accuracy with which the end effector must be positioned</a:t>
            </a:r>
          </a:p>
          <a:p>
            <a:pPr marL="285750" indent="-285750">
              <a:buFont typeface="Arial" panose="020B0604020202020204" pitchFamily="34" charset="0"/>
              <a:buChar char="•"/>
            </a:pPr>
            <a:r>
              <a:rPr lang="en-US" sz="2400" dirty="0" smtClean="0"/>
              <a:t>The weight of the object being manipulated</a:t>
            </a:r>
          </a:p>
          <a:p>
            <a:pPr marL="285750" indent="-285750">
              <a:buFont typeface="Arial" panose="020B0604020202020204" pitchFamily="34" charset="0"/>
              <a:buChar char="•"/>
            </a:pPr>
            <a:r>
              <a:rPr lang="en-US" sz="2400" dirty="0" smtClean="0"/>
              <a:t>The distance to be moved</a:t>
            </a:r>
            <a:endParaRPr lang="en-IN" sz="2400" dirty="0"/>
          </a:p>
        </p:txBody>
      </p:sp>
    </p:spTree>
    <p:extLst>
      <p:ext uri="{BB962C8B-B14F-4D97-AF65-F5344CB8AC3E}">
        <p14:creationId xmlns:p14="http://schemas.microsoft.com/office/powerpoint/2010/main" val="59239239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70C0"/>
                </a:solidFill>
              </a:rPr>
              <a:t>Speed of motion and Load carrying capacity</a:t>
            </a:r>
            <a:endParaRPr lang="en-IN" dirty="0"/>
          </a:p>
        </p:txBody>
      </p:sp>
      <p:sp>
        <p:nvSpPr>
          <p:cNvPr id="3" name="Date Placeholder 2"/>
          <p:cNvSpPr>
            <a:spLocks noGrp="1"/>
          </p:cNvSpPr>
          <p:nvPr>
            <p:ph type="dt" sz="half" idx="10"/>
          </p:nvPr>
        </p:nvSpPr>
        <p:spPr/>
        <p:txBody>
          <a:bodyPr/>
          <a:lstStyle/>
          <a:p>
            <a:fld id="{CA4986B4-9378-42E0-9F06-F6F8B53E24F2}" type="datetime1">
              <a:rPr lang="en-US" smtClean="0"/>
              <a:t>10/29/2020</a:t>
            </a:fld>
            <a:endParaRPr lang="en-IN"/>
          </a:p>
        </p:txBody>
      </p:sp>
      <p:sp>
        <p:nvSpPr>
          <p:cNvPr id="4" name="Slide Number Placeholder 3"/>
          <p:cNvSpPr>
            <a:spLocks noGrp="1"/>
          </p:cNvSpPr>
          <p:nvPr>
            <p:ph type="sldNum" sz="quarter" idx="11"/>
          </p:nvPr>
        </p:nvSpPr>
        <p:spPr/>
        <p:txBody>
          <a:bodyPr/>
          <a:lstStyle/>
          <a:p>
            <a:fld id="{41F94EDD-D845-48AB-B01E-E1FCDA2D3009}" type="slidenum">
              <a:rPr lang="en-IN" smtClean="0"/>
              <a:pPr/>
              <a:t>92</a:t>
            </a:fld>
            <a:endParaRPr lang="en-IN"/>
          </a:p>
        </p:txBody>
      </p:sp>
      <p:sp>
        <p:nvSpPr>
          <p:cNvPr id="5" name="Footer Placeholder 4"/>
          <p:cNvSpPr>
            <a:spLocks noGrp="1"/>
          </p:cNvSpPr>
          <p:nvPr>
            <p:ph type="ftr" sz="quarter" idx="12"/>
          </p:nvPr>
        </p:nvSpPr>
        <p:spPr/>
        <p:txBody>
          <a:bodyPr/>
          <a:lstStyle/>
          <a:p>
            <a:endParaRPr lang="en-IN"/>
          </a:p>
        </p:txBody>
      </p:sp>
      <p:sp>
        <p:nvSpPr>
          <p:cNvPr id="6" name="TextBox 5"/>
          <p:cNvSpPr txBox="1"/>
          <p:nvPr/>
        </p:nvSpPr>
        <p:spPr>
          <a:xfrm>
            <a:off x="1143000" y="1600200"/>
            <a:ext cx="7125669" cy="523220"/>
          </a:xfrm>
          <a:prstGeom prst="rect">
            <a:avLst/>
          </a:prstGeom>
          <a:noFill/>
        </p:spPr>
        <p:txBody>
          <a:bodyPr wrap="none" rtlCol="0">
            <a:spAutoFit/>
          </a:bodyPr>
          <a:lstStyle/>
          <a:p>
            <a:r>
              <a:rPr lang="en-US" sz="2800" dirty="0" smtClean="0">
                <a:solidFill>
                  <a:srgbClr val="00B050"/>
                </a:solidFill>
              </a:rPr>
              <a:t>Can you tell me how much load you can carry??</a:t>
            </a:r>
            <a:endParaRPr lang="en-IN" sz="2800" dirty="0">
              <a:solidFill>
                <a:srgbClr val="00B050"/>
              </a:solidFill>
            </a:endParaRPr>
          </a:p>
        </p:txBody>
      </p:sp>
      <p:sp>
        <p:nvSpPr>
          <p:cNvPr id="7" name="TextBox 6"/>
          <p:cNvSpPr txBox="1"/>
          <p:nvPr/>
        </p:nvSpPr>
        <p:spPr>
          <a:xfrm>
            <a:off x="1143000" y="5029200"/>
            <a:ext cx="6629399" cy="1200329"/>
          </a:xfrm>
          <a:prstGeom prst="rect">
            <a:avLst/>
          </a:prstGeom>
          <a:noFill/>
        </p:spPr>
        <p:txBody>
          <a:bodyPr wrap="square" rtlCol="0">
            <a:spAutoFit/>
          </a:bodyPr>
          <a:lstStyle/>
          <a:p>
            <a:r>
              <a:rPr lang="en-US" sz="2400" dirty="0" smtClean="0"/>
              <a:t>The load carrying capacity should be specified under the condition that the robots arm is in its weakest position.</a:t>
            </a:r>
            <a:endParaRPr lang="en-IN" sz="2400" dirty="0"/>
          </a:p>
        </p:txBody>
      </p:sp>
      <p:pic>
        <p:nvPicPr>
          <p:cNvPr id="10242" name="Picture 2" descr="Weight Lifting Cartoon Images, Stock Photos &amp; Vectors | Shutter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230948"/>
            <a:ext cx="2376652" cy="2559471"/>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ID# 12338 - Figure Unsuccessful Weight Lift - PowerPoint Animation |  Powerpoint animation, Animated clipart, Fun projects for kids"/>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972050" y="2462932"/>
            <a:ext cx="2327486" cy="2327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6456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0070C0"/>
                </a:solidFill>
              </a:rPr>
              <a:t>End effectors</a:t>
            </a:r>
            <a:endParaRPr lang="en-IN" dirty="0">
              <a:solidFill>
                <a:srgbClr val="0070C0"/>
              </a:solidFill>
            </a:endParaRPr>
          </a:p>
        </p:txBody>
      </p:sp>
      <p:pic>
        <p:nvPicPr>
          <p:cNvPr id="1026" name="Picture 2" descr="http://www.dimec.unige.it/pmar/pages/research/robot/grippers/immagini/12a.jpg"/>
          <p:cNvPicPr>
            <a:picLocks noChangeAspect="1" noChangeArrowheads="1"/>
          </p:cNvPicPr>
          <p:nvPr/>
        </p:nvPicPr>
        <p:blipFill>
          <a:blip r:embed="rId3" cstate="print"/>
          <a:srcRect/>
          <a:stretch>
            <a:fillRect/>
          </a:stretch>
        </p:blipFill>
        <p:spPr bwMode="auto">
          <a:xfrm>
            <a:off x="152400" y="3163016"/>
            <a:ext cx="4572000" cy="2776819"/>
          </a:xfrm>
          <a:prstGeom prst="rect">
            <a:avLst/>
          </a:prstGeom>
          <a:noFill/>
        </p:spPr>
      </p:pic>
      <p:pic>
        <p:nvPicPr>
          <p:cNvPr id="1028" name="Picture 4" descr="http://www.dimec.unige.it/pmar/pages/research/robot/grippers/immagini/20a%20big.jpg"/>
          <p:cNvPicPr>
            <a:picLocks noChangeAspect="1" noChangeArrowheads="1"/>
          </p:cNvPicPr>
          <p:nvPr/>
        </p:nvPicPr>
        <p:blipFill>
          <a:blip r:embed="rId4" cstate="print"/>
          <a:srcRect/>
          <a:stretch>
            <a:fillRect/>
          </a:stretch>
        </p:blipFill>
        <p:spPr bwMode="auto">
          <a:xfrm>
            <a:off x="4724400" y="1371600"/>
            <a:ext cx="4345588" cy="3027426"/>
          </a:xfrm>
          <a:prstGeom prst="rect">
            <a:avLst/>
          </a:prstGeom>
          <a:noFill/>
        </p:spPr>
      </p:pic>
    </p:spTree>
    <p:extLst>
      <p:ext uri="{BB962C8B-B14F-4D97-AF65-F5344CB8AC3E}">
        <p14:creationId xmlns:p14="http://schemas.microsoft.com/office/powerpoint/2010/main" val="82278873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rgbClr val="0070C0"/>
                </a:solidFill>
              </a:rPr>
              <a:t>Classification</a:t>
            </a:r>
            <a:endParaRPr lang="en-IN" sz="3600" dirty="0">
              <a:solidFill>
                <a:srgbClr val="0070C0"/>
              </a:solidFill>
            </a:endParaRPr>
          </a:p>
        </p:txBody>
      </p:sp>
      <p:sp>
        <p:nvSpPr>
          <p:cNvPr id="3" name="Content Placeholder 2"/>
          <p:cNvSpPr>
            <a:spLocks noGrp="1"/>
          </p:cNvSpPr>
          <p:nvPr>
            <p:ph sz="quarter" idx="1"/>
          </p:nvPr>
        </p:nvSpPr>
        <p:spPr>
          <a:xfrm>
            <a:off x="457200" y="1600200"/>
            <a:ext cx="8229600" cy="4873752"/>
          </a:xfrm>
        </p:spPr>
        <p:txBody>
          <a:bodyPr>
            <a:normAutofit fontScale="92500" lnSpcReduction="20000"/>
          </a:bodyPr>
          <a:lstStyle/>
          <a:p>
            <a:pPr>
              <a:buNone/>
            </a:pPr>
            <a:r>
              <a:rPr lang="en-IN" sz="3000" dirty="0" smtClean="0"/>
              <a:t>Two categories of end effectors are </a:t>
            </a:r>
          </a:p>
          <a:p>
            <a:pPr lvl="2">
              <a:lnSpc>
                <a:spcPct val="200000"/>
              </a:lnSpc>
            </a:pPr>
            <a:r>
              <a:rPr lang="en-IN" sz="2400" dirty="0" smtClean="0">
                <a:solidFill>
                  <a:srgbClr val="FF0000"/>
                </a:solidFill>
              </a:rPr>
              <a:t>Grippers</a:t>
            </a:r>
          </a:p>
          <a:p>
            <a:pPr lvl="2">
              <a:lnSpc>
                <a:spcPct val="200000"/>
              </a:lnSpc>
            </a:pPr>
            <a:r>
              <a:rPr lang="en-IN" sz="2400" dirty="0" smtClean="0">
                <a:solidFill>
                  <a:srgbClr val="FF0000"/>
                </a:solidFill>
              </a:rPr>
              <a:t>Tools</a:t>
            </a:r>
          </a:p>
          <a:p>
            <a:pPr>
              <a:buNone/>
            </a:pPr>
            <a:r>
              <a:rPr lang="en-US" sz="3000" dirty="0" smtClean="0"/>
              <a:t>According to the types of grasping, the end effectors are grouped in to</a:t>
            </a:r>
          </a:p>
          <a:p>
            <a:pPr lvl="2">
              <a:lnSpc>
                <a:spcPct val="200000"/>
              </a:lnSpc>
            </a:pPr>
            <a:r>
              <a:rPr lang="en-US" sz="2500" dirty="0" smtClean="0">
                <a:solidFill>
                  <a:srgbClr val="FF0000"/>
                </a:solidFill>
              </a:rPr>
              <a:t> </a:t>
            </a:r>
            <a:r>
              <a:rPr lang="en-US" sz="2400" dirty="0" smtClean="0">
                <a:solidFill>
                  <a:srgbClr val="FF0000"/>
                </a:solidFill>
              </a:rPr>
              <a:t>Mechanical fingers</a:t>
            </a:r>
          </a:p>
          <a:p>
            <a:pPr lvl="2">
              <a:lnSpc>
                <a:spcPct val="200000"/>
              </a:lnSpc>
            </a:pPr>
            <a:r>
              <a:rPr lang="en-US" sz="2400" dirty="0" smtClean="0">
                <a:solidFill>
                  <a:srgbClr val="FF0000"/>
                </a:solidFill>
              </a:rPr>
              <a:t> Special tools</a:t>
            </a:r>
          </a:p>
          <a:p>
            <a:pPr lvl="2">
              <a:lnSpc>
                <a:spcPct val="200000"/>
              </a:lnSpc>
            </a:pPr>
            <a:r>
              <a:rPr lang="en-US" sz="2400" dirty="0" smtClean="0">
                <a:solidFill>
                  <a:srgbClr val="FF0000"/>
                </a:solidFill>
              </a:rPr>
              <a:t> Universal fingers</a:t>
            </a:r>
            <a:endParaRPr lang="en-IN" sz="2400" dirty="0">
              <a:solidFill>
                <a:srgbClr val="FF0000"/>
              </a:solidFill>
            </a:endParaRPr>
          </a:p>
        </p:txBody>
      </p:sp>
    </p:spTree>
    <p:extLst>
      <p:ext uri="{BB962C8B-B14F-4D97-AF65-F5344CB8AC3E}">
        <p14:creationId xmlns:p14="http://schemas.microsoft.com/office/powerpoint/2010/main" val="228012120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a:xfrm>
            <a:off x="457200" y="1600200"/>
            <a:ext cx="8077200" cy="4873752"/>
          </a:xfrm>
        </p:spPr>
        <p:txBody>
          <a:bodyPr>
            <a:normAutofit/>
          </a:bodyPr>
          <a:lstStyle/>
          <a:p>
            <a:pPr algn="just">
              <a:buNone/>
            </a:pPr>
            <a:r>
              <a:rPr lang="en-IN" sz="2800" dirty="0" smtClean="0"/>
              <a:t>   Tools are used in applications where the robot must perform some processing operation on the part. Examples of the tools are:</a:t>
            </a:r>
          </a:p>
          <a:p>
            <a:pPr lvl="2" algn="just">
              <a:lnSpc>
                <a:spcPct val="110000"/>
              </a:lnSpc>
            </a:pPr>
            <a:r>
              <a:rPr lang="en-IN" sz="2400" dirty="0" smtClean="0">
                <a:solidFill>
                  <a:srgbClr val="FF0000"/>
                </a:solidFill>
              </a:rPr>
              <a:t>Spot welding gun.</a:t>
            </a:r>
          </a:p>
          <a:p>
            <a:pPr lvl="2" algn="just">
              <a:lnSpc>
                <a:spcPct val="110000"/>
              </a:lnSpc>
            </a:pPr>
            <a:r>
              <a:rPr lang="en-IN" sz="2400" dirty="0" smtClean="0">
                <a:solidFill>
                  <a:srgbClr val="FF0000"/>
                </a:solidFill>
              </a:rPr>
              <a:t>Arc welding tool.</a:t>
            </a:r>
          </a:p>
          <a:p>
            <a:pPr lvl="2" algn="just">
              <a:lnSpc>
                <a:spcPct val="110000"/>
              </a:lnSpc>
            </a:pPr>
            <a:r>
              <a:rPr lang="en-IN" sz="2400" dirty="0" smtClean="0">
                <a:solidFill>
                  <a:srgbClr val="FF0000"/>
                </a:solidFill>
              </a:rPr>
              <a:t>Spray painting gun.</a:t>
            </a:r>
          </a:p>
          <a:p>
            <a:pPr lvl="2" algn="just">
              <a:lnSpc>
                <a:spcPct val="110000"/>
              </a:lnSpc>
            </a:pPr>
            <a:r>
              <a:rPr lang="en-IN" sz="2400" dirty="0" smtClean="0">
                <a:solidFill>
                  <a:srgbClr val="FF0000"/>
                </a:solidFill>
              </a:rPr>
              <a:t>Rotating spindle for drilling, grinding, and so forth.</a:t>
            </a:r>
          </a:p>
          <a:p>
            <a:pPr lvl="2" algn="just">
              <a:lnSpc>
                <a:spcPct val="110000"/>
              </a:lnSpc>
            </a:pPr>
            <a:r>
              <a:rPr lang="en-IN" sz="2400" dirty="0" smtClean="0">
                <a:solidFill>
                  <a:srgbClr val="FF0000"/>
                </a:solidFill>
              </a:rPr>
              <a:t>Assembly tool (e.g. automatic screw driver)</a:t>
            </a:r>
          </a:p>
          <a:p>
            <a:pPr lvl="2" algn="just">
              <a:lnSpc>
                <a:spcPct val="110000"/>
              </a:lnSpc>
            </a:pPr>
            <a:r>
              <a:rPr lang="en-IN" sz="2400" dirty="0" smtClean="0">
                <a:solidFill>
                  <a:srgbClr val="FF0000"/>
                </a:solidFill>
              </a:rPr>
              <a:t>Heating torch.</a:t>
            </a:r>
          </a:p>
          <a:p>
            <a:pPr algn="just">
              <a:buNone/>
            </a:pPr>
            <a:endParaRPr lang="en-IN" dirty="0"/>
          </a:p>
        </p:txBody>
      </p:sp>
    </p:spTree>
    <p:extLst>
      <p:ext uri="{BB962C8B-B14F-4D97-AF65-F5344CB8AC3E}">
        <p14:creationId xmlns:p14="http://schemas.microsoft.com/office/powerpoint/2010/main" val="138932436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0070C0"/>
                </a:solidFill>
              </a:rPr>
              <a:t>Types of grippers</a:t>
            </a:r>
            <a:endParaRPr lang="en-IN" dirty="0">
              <a:solidFill>
                <a:srgbClr val="0070C0"/>
              </a:solidFill>
            </a:endParaRPr>
          </a:p>
        </p:txBody>
      </p:sp>
      <p:sp>
        <p:nvSpPr>
          <p:cNvPr id="3" name="Content Placeholder 2"/>
          <p:cNvSpPr>
            <a:spLocks noGrp="1"/>
          </p:cNvSpPr>
          <p:nvPr>
            <p:ph sz="quarter" idx="1"/>
          </p:nvPr>
        </p:nvSpPr>
        <p:spPr/>
        <p:txBody>
          <a:bodyPr>
            <a:normAutofit/>
          </a:bodyPr>
          <a:lstStyle/>
          <a:p>
            <a:r>
              <a:rPr lang="en-US" sz="2800" dirty="0" smtClean="0"/>
              <a:t>Mechanical grippers</a:t>
            </a:r>
          </a:p>
          <a:p>
            <a:r>
              <a:rPr lang="en-US" sz="2800" dirty="0" smtClean="0"/>
              <a:t>Hooking or lifting grippers</a:t>
            </a:r>
          </a:p>
          <a:p>
            <a:r>
              <a:rPr lang="en-US" sz="2800" dirty="0" smtClean="0"/>
              <a:t>Grippers for scooping or ladling powders or molten metals or plastics</a:t>
            </a:r>
          </a:p>
          <a:p>
            <a:r>
              <a:rPr lang="en-US" sz="2800" dirty="0" smtClean="0"/>
              <a:t>Vacuum cups (Negative Pressure)</a:t>
            </a:r>
          </a:p>
          <a:p>
            <a:r>
              <a:rPr lang="en-US" sz="2800" dirty="0" smtClean="0"/>
              <a:t> Magnetic grippers</a:t>
            </a:r>
          </a:p>
          <a:p>
            <a:r>
              <a:rPr lang="en-US" sz="2800" dirty="0" smtClean="0"/>
              <a:t>Adhesive</a:t>
            </a:r>
          </a:p>
          <a:p>
            <a:r>
              <a:rPr lang="en-US" sz="2800" dirty="0" smtClean="0"/>
              <a:t>Electrostatic grippers</a:t>
            </a:r>
            <a:endParaRPr lang="en-IN" sz="2800" dirty="0"/>
          </a:p>
        </p:txBody>
      </p:sp>
    </p:spTree>
    <p:extLst>
      <p:ext uri="{BB962C8B-B14F-4D97-AF65-F5344CB8AC3E}">
        <p14:creationId xmlns:p14="http://schemas.microsoft.com/office/powerpoint/2010/main" val="206233412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020762"/>
          </a:xfrm>
        </p:spPr>
        <p:txBody>
          <a:bodyPr>
            <a:normAutofit/>
          </a:bodyPr>
          <a:lstStyle/>
          <a:p>
            <a:r>
              <a:rPr lang="en-US" sz="3200" dirty="0" smtClean="0">
                <a:solidFill>
                  <a:srgbClr val="0070C0"/>
                </a:solidFill>
              </a:rPr>
              <a:t>Mechanical grippers</a:t>
            </a:r>
            <a:endParaRPr lang="en-IN" sz="3200" dirty="0">
              <a:solidFill>
                <a:srgbClr val="0070C0"/>
              </a:solidFill>
            </a:endParaRPr>
          </a:p>
        </p:txBody>
      </p:sp>
      <p:sp>
        <p:nvSpPr>
          <p:cNvPr id="3" name="Content Placeholder 2"/>
          <p:cNvSpPr>
            <a:spLocks noGrp="1"/>
          </p:cNvSpPr>
          <p:nvPr>
            <p:ph sz="quarter" idx="1"/>
          </p:nvPr>
        </p:nvSpPr>
        <p:spPr>
          <a:xfrm>
            <a:off x="457200" y="1371600"/>
            <a:ext cx="7467600" cy="5486400"/>
          </a:xfrm>
        </p:spPr>
        <p:txBody>
          <a:bodyPr>
            <a:normAutofit fontScale="92500" lnSpcReduction="20000"/>
          </a:bodyPr>
          <a:lstStyle/>
          <a:p>
            <a:r>
              <a:rPr lang="en-US" dirty="0" smtClean="0"/>
              <a:t>It uses mechanical fingers actuated by a mechanism to grip an object. </a:t>
            </a:r>
          </a:p>
          <a:p>
            <a:r>
              <a:rPr lang="en-US" dirty="0" smtClean="0"/>
              <a:t>Various mechanisms used in mechanical grippers are</a:t>
            </a:r>
          </a:p>
          <a:p>
            <a:pPr lvl="1"/>
            <a:r>
              <a:rPr lang="en-US" dirty="0" smtClean="0"/>
              <a:t>Linkage</a:t>
            </a:r>
          </a:p>
          <a:p>
            <a:pPr lvl="1"/>
            <a:r>
              <a:rPr lang="en-US" dirty="0" smtClean="0"/>
              <a:t>Gear and rack</a:t>
            </a:r>
          </a:p>
          <a:p>
            <a:pPr lvl="1"/>
            <a:r>
              <a:rPr lang="en-US" dirty="0" smtClean="0"/>
              <a:t>Cam</a:t>
            </a:r>
          </a:p>
          <a:p>
            <a:pPr lvl="1"/>
            <a:r>
              <a:rPr lang="en-US" dirty="0" smtClean="0"/>
              <a:t>Screw</a:t>
            </a:r>
          </a:p>
          <a:p>
            <a:pPr lvl="1"/>
            <a:r>
              <a:rPr lang="en-US" dirty="0" smtClean="0"/>
              <a:t>Cable and pulley, etc.,</a:t>
            </a:r>
          </a:p>
          <a:p>
            <a:pPr marL="0" lvl="1" indent="6350">
              <a:buNone/>
            </a:pPr>
            <a:r>
              <a:rPr lang="en-US" dirty="0" smtClean="0"/>
              <a:t>	</a:t>
            </a:r>
            <a:r>
              <a:rPr lang="en-US" sz="2400" dirty="0" smtClean="0"/>
              <a:t>The grippers can actuate the opening or closing of the fingers by</a:t>
            </a:r>
            <a:endParaRPr lang="en-US" dirty="0" smtClean="0"/>
          </a:p>
          <a:p>
            <a:pPr lvl="1"/>
            <a:r>
              <a:rPr lang="en-US" dirty="0" smtClean="0"/>
              <a:t>Pivoting or swinging movement</a:t>
            </a:r>
          </a:p>
          <a:p>
            <a:pPr lvl="1"/>
            <a:r>
              <a:rPr lang="en-US" dirty="0" smtClean="0"/>
              <a:t>Linear or translational movement</a:t>
            </a:r>
          </a:p>
          <a:p>
            <a:pPr lvl="1">
              <a:buNone/>
            </a:pPr>
            <a:endParaRPr lang="en-IN" dirty="0"/>
          </a:p>
        </p:txBody>
      </p:sp>
    </p:spTree>
    <p:extLst>
      <p:ext uri="{BB962C8B-B14F-4D97-AF65-F5344CB8AC3E}">
        <p14:creationId xmlns:p14="http://schemas.microsoft.com/office/powerpoint/2010/main" val="2612807533"/>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rgbClr val="0070C0"/>
                </a:solidFill>
              </a:rPr>
              <a:t>Mechanical grippers</a:t>
            </a:r>
            <a:endParaRPr lang="en-IN" sz="4800" dirty="0">
              <a:solidFill>
                <a:srgbClr val="0070C0"/>
              </a:solidFill>
            </a:endParaRPr>
          </a:p>
        </p:txBody>
      </p:sp>
      <p:sp>
        <p:nvSpPr>
          <p:cNvPr id="3" name="Content Placeholder 2"/>
          <p:cNvSpPr>
            <a:spLocks noGrp="1"/>
          </p:cNvSpPr>
          <p:nvPr>
            <p:ph sz="quarter" idx="1"/>
          </p:nvPr>
        </p:nvSpPr>
        <p:spPr>
          <a:xfrm>
            <a:off x="304800" y="1524000"/>
            <a:ext cx="8534400" cy="4953000"/>
          </a:xfrm>
        </p:spPr>
        <p:txBody>
          <a:bodyPr>
            <a:normAutofit fontScale="85000" lnSpcReduction="20000"/>
          </a:bodyPr>
          <a:lstStyle/>
          <a:p>
            <a:pPr algn="just"/>
            <a:r>
              <a:rPr lang="en-US" dirty="0" smtClean="0"/>
              <a:t>The function of the gripper mechanism is to translate some form of power input into the grasping action of the fingers against the part. </a:t>
            </a:r>
          </a:p>
          <a:p>
            <a:pPr algn="just"/>
            <a:r>
              <a:rPr lang="en-US" dirty="0" smtClean="0"/>
              <a:t>There are two ways of constraining the part in the gripper. </a:t>
            </a:r>
          </a:p>
          <a:p>
            <a:pPr marL="457200" indent="-457200" algn="just">
              <a:buFont typeface="+mj-lt"/>
              <a:buAutoNum type="arabicPeriod"/>
            </a:pPr>
            <a:r>
              <a:rPr lang="en-US" dirty="0" smtClean="0">
                <a:solidFill>
                  <a:srgbClr val="FF0000"/>
                </a:solidFill>
              </a:rPr>
              <a:t>By physical constriction of the part within the fingers </a:t>
            </a:r>
            <a:r>
              <a:rPr lang="en-US" dirty="0" smtClean="0"/>
              <a:t>– this is usually accomplished by the contacting surfaces of the fingers to ne in the approximate shape of the work geometry</a:t>
            </a:r>
            <a:endParaRPr lang="en-IN" dirty="0" smtClean="0"/>
          </a:p>
          <a:p>
            <a:pPr marL="457200" indent="-457200" algn="just">
              <a:buFont typeface="+mj-lt"/>
              <a:buAutoNum type="arabicPeriod"/>
            </a:pPr>
            <a:r>
              <a:rPr lang="en-US" dirty="0" smtClean="0">
                <a:solidFill>
                  <a:srgbClr val="FF0000"/>
                </a:solidFill>
              </a:rPr>
              <a:t>By friction between the fingers and the </a:t>
            </a:r>
            <a:r>
              <a:rPr lang="en-US" dirty="0" err="1" smtClean="0">
                <a:solidFill>
                  <a:srgbClr val="FF0000"/>
                </a:solidFill>
              </a:rPr>
              <a:t>workpart</a:t>
            </a:r>
            <a:r>
              <a:rPr lang="en-US" dirty="0" smtClean="0">
                <a:solidFill>
                  <a:srgbClr val="FF0000"/>
                </a:solidFill>
              </a:rPr>
              <a:t> </a:t>
            </a:r>
            <a:r>
              <a:rPr lang="en-US" dirty="0" smtClean="0"/>
              <a:t>– the fingers must apply a force that is sufficient for friction to retain the part against gravity, acceleration, and any other force that might arise during the holding portion of the work cycle.</a:t>
            </a:r>
          </a:p>
        </p:txBody>
      </p:sp>
    </p:spTree>
    <p:extLst>
      <p:ext uri="{BB962C8B-B14F-4D97-AF65-F5344CB8AC3E}">
        <p14:creationId xmlns:p14="http://schemas.microsoft.com/office/powerpoint/2010/main" val="311265746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8" name="Picture 6"/>
          <p:cNvPicPr>
            <a:picLocks noChangeAspect="1" noChangeArrowheads="1"/>
          </p:cNvPicPr>
          <p:nvPr/>
        </p:nvPicPr>
        <p:blipFill>
          <a:blip r:embed="rId3" cstate="print"/>
          <a:srcRect/>
          <a:stretch>
            <a:fillRect/>
          </a:stretch>
        </p:blipFill>
        <p:spPr bwMode="auto">
          <a:xfrm>
            <a:off x="457200" y="609600"/>
            <a:ext cx="3690938" cy="3999686"/>
          </a:xfrm>
          <a:prstGeom prst="rect">
            <a:avLst/>
          </a:prstGeom>
          <a:noFill/>
          <a:ln w="9525">
            <a:noFill/>
            <a:miter lim="800000"/>
            <a:headEnd/>
            <a:tailEnd/>
          </a:ln>
          <a:effectLst/>
        </p:spPr>
      </p:pic>
      <p:pic>
        <p:nvPicPr>
          <p:cNvPr id="28679" name="Picture 7"/>
          <p:cNvPicPr>
            <a:picLocks noChangeAspect="1" noChangeArrowheads="1"/>
          </p:cNvPicPr>
          <p:nvPr/>
        </p:nvPicPr>
        <p:blipFill>
          <a:blip r:embed="rId4" cstate="print"/>
          <a:srcRect/>
          <a:stretch>
            <a:fillRect/>
          </a:stretch>
        </p:blipFill>
        <p:spPr bwMode="auto">
          <a:xfrm>
            <a:off x="4090988" y="685800"/>
            <a:ext cx="3757612" cy="3716916"/>
          </a:xfrm>
          <a:prstGeom prst="rect">
            <a:avLst/>
          </a:prstGeom>
          <a:noFill/>
          <a:ln w="9525">
            <a:noFill/>
            <a:miter lim="800000"/>
            <a:headEnd/>
            <a:tailEnd/>
          </a:ln>
          <a:effectLst/>
        </p:spPr>
      </p:pic>
      <p:sp>
        <p:nvSpPr>
          <p:cNvPr id="9" name="Rectangle 8"/>
          <p:cNvSpPr/>
          <p:nvPr/>
        </p:nvSpPr>
        <p:spPr>
          <a:xfrm>
            <a:off x="4114800" y="5124271"/>
            <a:ext cx="4038600" cy="1200329"/>
          </a:xfrm>
          <a:prstGeom prst="rect">
            <a:avLst/>
          </a:prstGeom>
        </p:spPr>
        <p:txBody>
          <a:bodyPr wrap="square">
            <a:spAutoFit/>
          </a:bodyPr>
          <a:lstStyle/>
          <a:p>
            <a:pPr algn="ctr"/>
            <a:r>
              <a:rPr lang="en-US" sz="2400" b="1" dirty="0" smtClean="0"/>
              <a:t>By physical constriction of the part within the fingers </a:t>
            </a:r>
            <a:endParaRPr lang="en-IN" sz="2400" b="1" dirty="0"/>
          </a:p>
        </p:txBody>
      </p:sp>
      <p:sp>
        <p:nvSpPr>
          <p:cNvPr id="10" name="Rectangle 9"/>
          <p:cNvSpPr/>
          <p:nvPr/>
        </p:nvSpPr>
        <p:spPr>
          <a:xfrm>
            <a:off x="304800" y="5029200"/>
            <a:ext cx="3581400" cy="1200329"/>
          </a:xfrm>
          <a:prstGeom prst="rect">
            <a:avLst/>
          </a:prstGeom>
        </p:spPr>
        <p:txBody>
          <a:bodyPr wrap="square">
            <a:spAutoFit/>
          </a:bodyPr>
          <a:lstStyle/>
          <a:p>
            <a:pPr algn="ctr"/>
            <a:r>
              <a:rPr lang="en-US" sz="2400" b="1" dirty="0" smtClean="0"/>
              <a:t>By friction between the fingers and the </a:t>
            </a:r>
            <a:r>
              <a:rPr lang="en-US" sz="2400" b="1" dirty="0" err="1" smtClean="0"/>
              <a:t>workpart</a:t>
            </a:r>
            <a:r>
              <a:rPr lang="en-US" sz="2400" b="1" dirty="0" smtClean="0"/>
              <a:t> </a:t>
            </a:r>
            <a:endParaRPr lang="en-IN" sz="2400" b="1" dirty="0"/>
          </a:p>
        </p:txBody>
      </p:sp>
    </p:spTree>
    <p:extLst>
      <p:ext uri="{BB962C8B-B14F-4D97-AF65-F5344CB8AC3E}">
        <p14:creationId xmlns:p14="http://schemas.microsoft.com/office/powerpoint/2010/main" val="272286985"/>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066800"/>
            <a:ext cx="4648200" cy="5407152"/>
          </a:xfrm>
        </p:spPr>
        <p:txBody>
          <a:bodyPr>
            <a:normAutofit fontScale="85000" lnSpcReduction="10000"/>
          </a:bodyPr>
          <a:lstStyle/>
          <a:p>
            <a:pPr algn="just"/>
            <a:r>
              <a:rPr lang="en-US" dirty="0" smtClean="0"/>
              <a:t>The part might slip out of the gripper if the applied force is insufficient. </a:t>
            </a:r>
          </a:p>
          <a:p>
            <a:pPr algn="just"/>
            <a:r>
              <a:rPr lang="en-US" dirty="0" smtClean="0"/>
              <a:t>To resist this slippage, the gripper must be designed to exert a force that depends on </a:t>
            </a:r>
            <a:r>
              <a:rPr lang="en-US" dirty="0" smtClean="0">
                <a:solidFill>
                  <a:srgbClr val="FF0000"/>
                </a:solidFill>
              </a:rPr>
              <a:t>the weight of the object, the co-efficient of friction between the part surface and the finger, the acceleration of the part and the orientation between the direction of motion during acceleration and the direction of fingers.</a:t>
            </a:r>
            <a:endParaRPr lang="en-IN" dirty="0"/>
          </a:p>
        </p:txBody>
      </p:sp>
      <p:pic>
        <p:nvPicPr>
          <p:cNvPr id="4" name="Picture 6"/>
          <p:cNvPicPr>
            <a:picLocks noChangeAspect="1" noChangeArrowheads="1"/>
          </p:cNvPicPr>
          <p:nvPr/>
        </p:nvPicPr>
        <p:blipFill>
          <a:blip r:embed="rId3" cstate="print"/>
          <a:srcRect/>
          <a:stretch>
            <a:fillRect/>
          </a:stretch>
        </p:blipFill>
        <p:spPr bwMode="auto">
          <a:xfrm>
            <a:off x="5105400" y="381000"/>
            <a:ext cx="3690938" cy="3999686"/>
          </a:xfrm>
          <a:prstGeom prst="rect">
            <a:avLst/>
          </a:prstGeom>
          <a:noFill/>
          <a:ln w="9525">
            <a:noFill/>
            <a:miter lim="800000"/>
            <a:headEnd/>
            <a:tailEnd/>
          </a:ln>
          <a:effectLst/>
        </p:spPr>
      </p:pic>
      <p:sp>
        <p:nvSpPr>
          <p:cNvPr id="5" name="Down Arrow 4"/>
          <p:cNvSpPr/>
          <p:nvPr/>
        </p:nvSpPr>
        <p:spPr>
          <a:xfrm flipH="1">
            <a:off x="6781800" y="4267200"/>
            <a:ext cx="304800" cy="1219200"/>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872104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l" rtl="0">
              <a:spcBef>
                <a:spcPct val="0"/>
              </a:spcBef>
            </a:pPr>
            <a:r>
              <a:rPr lang="en-US" sz="2400" dirty="0" smtClean="0">
                <a:solidFill>
                  <a:srgbClr val="0070C0"/>
                </a:solidFill>
              </a:rPr>
              <a:t>Types of mechanical actuation - </a:t>
            </a:r>
            <a:r>
              <a:rPr lang="en-US" sz="2400" dirty="0" smtClean="0"/>
              <a:t>Pivoting or swinging movement</a:t>
            </a:r>
            <a:endParaRPr lang="en-IN" sz="2400" dirty="0">
              <a:solidFill>
                <a:srgbClr val="0070C0"/>
              </a:solidFill>
            </a:endParaRPr>
          </a:p>
        </p:txBody>
      </p:sp>
      <p:sp>
        <p:nvSpPr>
          <p:cNvPr id="3" name="Content Placeholder 2"/>
          <p:cNvSpPr>
            <a:spLocks noGrp="1"/>
          </p:cNvSpPr>
          <p:nvPr>
            <p:ph sz="quarter" idx="1"/>
          </p:nvPr>
        </p:nvSpPr>
        <p:spPr>
          <a:xfrm>
            <a:off x="457200" y="1447800"/>
            <a:ext cx="4648200" cy="5026152"/>
          </a:xfrm>
        </p:spPr>
        <p:txBody>
          <a:bodyPr/>
          <a:lstStyle/>
          <a:p>
            <a:pPr>
              <a:buNone/>
            </a:pPr>
            <a:r>
              <a:rPr lang="en-US" dirty="0" smtClean="0"/>
              <a:t>Linkage actuation:</a:t>
            </a:r>
          </a:p>
          <a:p>
            <a:pPr>
              <a:buNone/>
            </a:pPr>
            <a:endParaRPr lang="en-IN" dirty="0"/>
          </a:p>
        </p:txBody>
      </p:sp>
      <p:pic>
        <p:nvPicPr>
          <p:cNvPr id="27650" name="Picture 2"/>
          <p:cNvPicPr>
            <a:picLocks noChangeAspect="1" noChangeArrowheads="1"/>
          </p:cNvPicPr>
          <p:nvPr/>
        </p:nvPicPr>
        <p:blipFill>
          <a:blip r:embed="rId3" cstate="print">
            <a:duotone>
              <a:prstClr val="black"/>
              <a:srgbClr val="D9C3A5">
                <a:tint val="50000"/>
                <a:satMod val="180000"/>
              </a:srgbClr>
            </a:duotone>
          </a:blip>
          <a:srcRect/>
          <a:stretch>
            <a:fillRect/>
          </a:stretch>
        </p:blipFill>
        <p:spPr bwMode="auto">
          <a:xfrm>
            <a:off x="5682278" y="1524000"/>
            <a:ext cx="2928322" cy="4029468"/>
          </a:xfrm>
          <a:prstGeom prst="rect">
            <a:avLst/>
          </a:prstGeom>
          <a:noFill/>
          <a:ln w="9525">
            <a:noFill/>
            <a:miter lim="800000"/>
            <a:headEnd/>
            <a:tailEnd/>
          </a:ln>
          <a:effectLst/>
        </p:spPr>
      </p:pic>
      <p:pic>
        <p:nvPicPr>
          <p:cNvPr id="1026" name="Picture 2"/>
          <p:cNvPicPr>
            <a:picLocks noChangeAspect="1" noChangeArrowheads="1"/>
          </p:cNvPicPr>
          <p:nvPr/>
        </p:nvPicPr>
        <p:blipFill>
          <a:blip r:embed="rId4" cstate="print"/>
          <a:srcRect/>
          <a:stretch>
            <a:fillRect/>
          </a:stretch>
        </p:blipFill>
        <p:spPr bwMode="auto">
          <a:xfrm>
            <a:off x="36936" y="1981200"/>
            <a:ext cx="5601864" cy="4876800"/>
          </a:xfrm>
          <a:prstGeom prst="rect">
            <a:avLst/>
          </a:prstGeom>
          <a:noFill/>
          <a:ln w="9525">
            <a:noFill/>
            <a:miter lim="800000"/>
            <a:headEnd/>
            <a:tailEnd/>
          </a:ln>
          <a:effectLst/>
        </p:spPr>
      </p:pic>
    </p:spTree>
    <p:extLst>
      <p:ext uri="{BB962C8B-B14F-4D97-AF65-F5344CB8AC3E}">
        <p14:creationId xmlns:p14="http://schemas.microsoft.com/office/powerpoint/2010/main" val="2952524626"/>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533400"/>
            <a:ext cx="4648200" cy="5026152"/>
          </a:xfrm>
        </p:spPr>
        <p:txBody>
          <a:bodyPr/>
          <a:lstStyle/>
          <a:p>
            <a:pPr algn="just">
              <a:buNone/>
            </a:pPr>
            <a:r>
              <a:rPr lang="en-US" dirty="0" smtClean="0"/>
              <a:t>Rack and Pinion actuation:</a:t>
            </a:r>
          </a:p>
          <a:p>
            <a:pPr algn="just"/>
            <a:r>
              <a:rPr lang="en-US" dirty="0" smtClean="0"/>
              <a:t>A rack actuated by a hydraulic / pneumatic cylinder operates two pivoted pinions. </a:t>
            </a:r>
          </a:p>
          <a:p>
            <a:pPr algn="just"/>
            <a:r>
              <a:rPr lang="en-US" dirty="0" smtClean="0"/>
              <a:t>The fingers attached to the racks open and close to grab and release the object.</a:t>
            </a:r>
            <a:endParaRPr lang="en-IN" dirty="0"/>
          </a:p>
        </p:txBody>
      </p:sp>
      <p:pic>
        <p:nvPicPr>
          <p:cNvPr id="2050" name="Picture 2"/>
          <p:cNvPicPr>
            <a:picLocks noChangeAspect="1" noChangeArrowheads="1"/>
          </p:cNvPicPr>
          <p:nvPr/>
        </p:nvPicPr>
        <p:blipFill>
          <a:blip r:embed="rId3" cstate="print">
            <a:duotone>
              <a:prstClr val="black"/>
              <a:srgbClr val="D9C3A5">
                <a:tint val="50000"/>
                <a:satMod val="180000"/>
              </a:srgbClr>
            </a:duotone>
          </a:blip>
          <a:srcRect/>
          <a:stretch>
            <a:fillRect/>
          </a:stretch>
        </p:blipFill>
        <p:spPr bwMode="auto">
          <a:xfrm>
            <a:off x="5410200" y="1057072"/>
            <a:ext cx="3214048" cy="4581728"/>
          </a:xfrm>
          <a:prstGeom prst="rect">
            <a:avLst/>
          </a:prstGeom>
          <a:noFill/>
          <a:ln w="9525">
            <a:noFill/>
            <a:miter lim="800000"/>
            <a:headEnd/>
            <a:tailEnd/>
          </a:ln>
          <a:effectLst/>
        </p:spPr>
      </p:pic>
      <p:pic>
        <p:nvPicPr>
          <p:cNvPr id="6" name="Picture 4"/>
          <p:cNvPicPr>
            <a:picLocks noChangeAspect="1" noChangeArrowheads="1"/>
          </p:cNvPicPr>
          <p:nvPr/>
        </p:nvPicPr>
        <p:blipFill>
          <a:blip r:embed="rId4" cstate="print"/>
          <a:srcRect/>
          <a:stretch>
            <a:fillRect/>
          </a:stretch>
        </p:blipFill>
        <p:spPr bwMode="auto">
          <a:xfrm>
            <a:off x="304412" y="3733800"/>
            <a:ext cx="4953388" cy="2895600"/>
          </a:xfrm>
          <a:prstGeom prst="rect">
            <a:avLst/>
          </a:prstGeom>
          <a:noFill/>
          <a:ln w="9525">
            <a:noFill/>
            <a:miter lim="800000"/>
            <a:headEnd/>
            <a:tailEnd/>
          </a:ln>
          <a:effectLst/>
        </p:spPr>
      </p:pic>
    </p:spTree>
    <p:extLst>
      <p:ext uri="{BB962C8B-B14F-4D97-AF65-F5344CB8AC3E}">
        <p14:creationId xmlns:p14="http://schemas.microsoft.com/office/powerpoint/2010/main" val="1242895081"/>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cstate="print">
            <a:duotone>
              <a:prstClr val="black"/>
              <a:srgbClr val="D9C3A5">
                <a:tint val="50000"/>
                <a:satMod val="180000"/>
              </a:srgbClr>
            </a:duotone>
          </a:blip>
          <a:srcRect/>
          <a:stretch>
            <a:fillRect/>
          </a:stretch>
        </p:blipFill>
        <p:spPr bwMode="auto">
          <a:xfrm>
            <a:off x="5638800" y="1219200"/>
            <a:ext cx="2795588" cy="4238060"/>
          </a:xfrm>
          <a:prstGeom prst="rect">
            <a:avLst/>
          </a:prstGeom>
          <a:noFill/>
          <a:ln w="9525">
            <a:noFill/>
            <a:miter lim="800000"/>
            <a:headEnd/>
            <a:tailEnd/>
          </a:ln>
          <a:effectLst/>
        </p:spPr>
      </p:pic>
      <p:sp>
        <p:nvSpPr>
          <p:cNvPr id="5" name="Content Placeholder 2"/>
          <p:cNvSpPr>
            <a:spLocks noGrp="1"/>
          </p:cNvSpPr>
          <p:nvPr>
            <p:ph sz="quarter" idx="1"/>
          </p:nvPr>
        </p:nvSpPr>
        <p:spPr>
          <a:xfrm>
            <a:off x="533400" y="1143000"/>
            <a:ext cx="4648200" cy="5026152"/>
          </a:xfrm>
        </p:spPr>
        <p:txBody>
          <a:bodyPr>
            <a:normAutofit fontScale="92500"/>
          </a:bodyPr>
          <a:lstStyle/>
          <a:p>
            <a:pPr algn="just">
              <a:buNone/>
            </a:pPr>
            <a:r>
              <a:rPr lang="en-US" dirty="0" smtClean="0"/>
              <a:t>CAM actuation:</a:t>
            </a:r>
          </a:p>
          <a:p>
            <a:pPr algn="just"/>
            <a:r>
              <a:rPr lang="en-US" dirty="0" smtClean="0"/>
              <a:t>A cam attached to a cylinder moves to and fro.</a:t>
            </a:r>
          </a:p>
          <a:p>
            <a:pPr algn="just"/>
            <a:r>
              <a:rPr lang="en-US" dirty="0" smtClean="0"/>
              <a:t>Spring loaded followers moves on the cam profile. </a:t>
            </a:r>
          </a:p>
          <a:p>
            <a:pPr algn="just"/>
            <a:r>
              <a:rPr lang="en-US" dirty="0" smtClean="0"/>
              <a:t>The finger pads attached to the pivoted liver connected to the followers open and close to release and grab the object </a:t>
            </a:r>
          </a:p>
          <a:p>
            <a:pPr algn="just">
              <a:buNone/>
            </a:pPr>
            <a:endParaRPr lang="en-IN" dirty="0"/>
          </a:p>
        </p:txBody>
      </p:sp>
    </p:spTree>
    <p:extLst>
      <p:ext uri="{BB962C8B-B14F-4D97-AF65-F5344CB8AC3E}">
        <p14:creationId xmlns:p14="http://schemas.microsoft.com/office/powerpoint/2010/main" val="3451327628"/>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cstate="print">
            <a:duotone>
              <a:prstClr val="black"/>
              <a:srgbClr val="D9C3A5">
                <a:tint val="50000"/>
                <a:satMod val="180000"/>
              </a:srgbClr>
            </a:duotone>
          </a:blip>
          <a:srcRect/>
          <a:stretch>
            <a:fillRect/>
          </a:stretch>
        </p:blipFill>
        <p:spPr bwMode="auto">
          <a:xfrm>
            <a:off x="5721688" y="1371600"/>
            <a:ext cx="2803187" cy="3733800"/>
          </a:xfrm>
          <a:prstGeom prst="rect">
            <a:avLst/>
          </a:prstGeom>
          <a:noFill/>
          <a:ln w="9525">
            <a:noFill/>
            <a:miter lim="800000"/>
            <a:headEnd/>
            <a:tailEnd/>
          </a:ln>
          <a:effectLst/>
        </p:spPr>
      </p:pic>
      <p:sp>
        <p:nvSpPr>
          <p:cNvPr id="5" name="Content Placeholder 2"/>
          <p:cNvSpPr>
            <a:spLocks noGrp="1"/>
          </p:cNvSpPr>
          <p:nvPr>
            <p:ph sz="quarter" idx="1"/>
          </p:nvPr>
        </p:nvSpPr>
        <p:spPr>
          <a:xfrm>
            <a:off x="457200" y="1447800"/>
            <a:ext cx="4648200" cy="5026152"/>
          </a:xfrm>
        </p:spPr>
        <p:txBody>
          <a:bodyPr>
            <a:normAutofit fontScale="85000" lnSpcReduction="10000"/>
          </a:bodyPr>
          <a:lstStyle/>
          <a:p>
            <a:pPr algn="just">
              <a:buNone/>
            </a:pPr>
            <a:r>
              <a:rPr lang="en-US" dirty="0" smtClean="0"/>
              <a:t>Screw actuation:</a:t>
            </a:r>
          </a:p>
          <a:p>
            <a:pPr algn="just"/>
            <a:r>
              <a:rPr lang="en-US" dirty="0" smtClean="0"/>
              <a:t>A threaded block engages with a screw moves forward and backward, the fingers attached to levers connected to the threaded block by a hinged joint, open and close providing releasing and gripping action.</a:t>
            </a:r>
          </a:p>
          <a:p>
            <a:pPr algn="just"/>
            <a:r>
              <a:rPr lang="en-US" dirty="0" smtClean="0"/>
              <a:t>The screw is rotated by a motor through reduction box.</a:t>
            </a:r>
          </a:p>
          <a:p>
            <a:pPr algn="just">
              <a:buNone/>
            </a:pPr>
            <a:endParaRPr lang="en-IN" dirty="0"/>
          </a:p>
        </p:txBody>
      </p:sp>
    </p:spTree>
    <p:extLst>
      <p:ext uri="{BB962C8B-B14F-4D97-AF65-F5344CB8AC3E}">
        <p14:creationId xmlns:p14="http://schemas.microsoft.com/office/powerpoint/2010/main" val="214854691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dirty="0" smtClean="0">
                <a:solidFill>
                  <a:srgbClr val="0070C0"/>
                </a:solidFill>
              </a:rPr>
              <a:t>Types of mechanical actuation –</a:t>
            </a:r>
            <a:r>
              <a:rPr lang="en-US" dirty="0" smtClean="0"/>
              <a:t>translational movement</a:t>
            </a:r>
            <a:endParaRPr lang="en-US" dirty="0"/>
          </a:p>
        </p:txBody>
      </p:sp>
      <p:pic>
        <p:nvPicPr>
          <p:cNvPr id="2050" name="Picture 2" descr="http://engineeronadisk.com/notes_mechtron/images/robotics106.gif"/>
          <p:cNvPicPr>
            <a:picLocks noChangeAspect="1" noChangeArrowheads="1"/>
          </p:cNvPicPr>
          <p:nvPr/>
        </p:nvPicPr>
        <p:blipFill>
          <a:blip r:embed="rId3" cstate="print"/>
          <a:srcRect/>
          <a:stretch>
            <a:fillRect/>
          </a:stretch>
        </p:blipFill>
        <p:spPr bwMode="auto">
          <a:xfrm>
            <a:off x="609600" y="3124200"/>
            <a:ext cx="7772400" cy="2590800"/>
          </a:xfrm>
          <a:prstGeom prst="rect">
            <a:avLst/>
          </a:prstGeom>
          <a:noFill/>
        </p:spPr>
      </p:pic>
    </p:spTree>
    <p:extLst>
      <p:ext uri="{BB962C8B-B14F-4D97-AF65-F5344CB8AC3E}">
        <p14:creationId xmlns:p14="http://schemas.microsoft.com/office/powerpoint/2010/main" val="3594100355"/>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Gear and Rack Grippers</a:t>
            </a:r>
            <a:endParaRPr lang="en-US" dirty="0"/>
          </a:p>
        </p:txBody>
      </p:sp>
      <p:sp>
        <p:nvSpPr>
          <p:cNvPr id="3" name="Content Placeholder 2"/>
          <p:cNvSpPr>
            <a:spLocks noGrp="1"/>
          </p:cNvSpPr>
          <p:nvPr>
            <p:ph sz="quarter" idx="1"/>
          </p:nvPr>
        </p:nvSpPr>
        <p:spPr>
          <a:xfrm>
            <a:off x="457200" y="1600200"/>
            <a:ext cx="7467600" cy="2895600"/>
          </a:xfrm>
        </p:spPr>
        <p:txBody>
          <a:bodyPr/>
          <a:lstStyle/>
          <a:p>
            <a:pPr algn="just">
              <a:buNone/>
            </a:pPr>
            <a:r>
              <a:rPr lang="en-US" dirty="0" smtClean="0"/>
              <a:t> movement of input due to gear motion which makes connecting links to go in motion to make gripping action at the output link.</a:t>
            </a:r>
            <a:endParaRPr lang="en-US" dirty="0"/>
          </a:p>
        </p:txBody>
      </p:sp>
      <p:pic>
        <p:nvPicPr>
          <p:cNvPr id="48130" name="Picture 2" descr="http://sra.vjti.info/_/rsrc/1249218931296/knowledgebase/posts-on-a-roll-1/gripper-mechanisms/gripper2.TIF"/>
          <p:cNvPicPr>
            <a:picLocks noChangeAspect="1" noChangeArrowheads="1"/>
          </p:cNvPicPr>
          <p:nvPr/>
        </p:nvPicPr>
        <p:blipFill>
          <a:blip r:embed="rId3" cstate="print"/>
          <a:srcRect/>
          <a:stretch>
            <a:fillRect/>
          </a:stretch>
        </p:blipFill>
        <p:spPr bwMode="auto">
          <a:xfrm>
            <a:off x="3541657" y="3239869"/>
            <a:ext cx="3589356" cy="2819400"/>
          </a:xfrm>
          <a:prstGeom prst="rect">
            <a:avLst/>
          </a:prstGeom>
          <a:noFill/>
        </p:spPr>
      </p:pic>
      <p:sp>
        <p:nvSpPr>
          <p:cNvPr id="5" name="Rectangle 4"/>
          <p:cNvSpPr/>
          <p:nvPr/>
        </p:nvSpPr>
        <p:spPr>
          <a:xfrm>
            <a:off x="762000" y="6059269"/>
            <a:ext cx="6705600" cy="646331"/>
          </a:xfrm>
          <a:prstGeom prst="rect">
            <a:avLst/>
          </a:prstGeom>
        </p:spPr>
        <p:txBody>
          <a:bodyPr wrap="square">
            <a:spAutoFit/>
          </a:bodyPr>
          <a:lstStyle/>
          <a:p>
            <a:r>
              <a:rPr lang="en-US" dirty="0" smtClean="0"/>
              <a:t>http://sra.vjti.info/knowledgebase/posts-on-a-roll-1/gripper-mechanisms</a:t>
            </a:r>
            <a:endParaRPr lang="en-US" dirty="0"/>
          </a:p>
        </p:txBody>
      </p:sp>
    </p:spTree>
    <p:extLst>
      <p:ext uri="{BB962C8B-B14F-4D97-AF65-F5344CB8AC3E}">
        <p14:creationId xmlns:p14="http://schemas.microsoft.com/office/powerpoint/2010/main" val="1679685888"/>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Three Fingered Grippers</a:t>
            </a:r>
            <a:endParaRPr lang="en-US" dirty="0"/>
          </a:p>
        </p:txBody>
      </p:sp>
      <p:pic>
        <p:nvPicPr>
          <p:cNvPr id="44034" name="Picture 2" descr="http://sra.vjti.info/_/rsrc/1249219120072/knowledgebase/posts-on-a-roll-1/gripper-mechanisms/gripper10.TIF"/>
          <p:cNvPicPr>
            <a:picLocks noChangeAspect="1" noChangeArrowheads="1"/>
          </p:cNvPicPr>
          <p:nvPr/>
        </p:nvPicPr>
        <p:blipFill>
          <a:blip r:embed="rId3" cstate="print"/>
          <a:srcRect/>
          <a:stretch>
            <a:fillRect/>
          </a:stretch>
        </p:blipFill>
        <p:spPr bwMode="auto">
          <a:xfrm>
            <a:off x="1618524" y="1905000"/>
            <a:ext cx="5572852" cy="3657600"/>
          </a:xfrm>
          <a:prstGeom prst="rect">
            <a:avLst/>
          </a:prstGeom>
          <a:noFill/>
        </p:spPr>
      </p:pic>
      <p:sp>
        <p:nvSpPr>
          <p:cNvPr id="5" name="Rectangle 4"/>
          <p:cNvSpPr/>
          <p:nvPr/>
        </p:nvSpPr>
        <p:spPr>
          <a:xfrm>
            <a:off x="533400" y="5943600"/>
            <a:ext cx="6705600" cy="646331"/>
          </a:xfrm>
          <a:prstGeom prst="rect">
            <a:avLst/>
          </a:prstGeom>
        </p:spPr>
        <p:txBody>
          <a:bodyPr wrap="square">
            <a:spAutoFit/>
          </a:bodyPr>
          <a:lstStyle/>
          <a:p>
            <a:r>
              <a:rPr lang="en-US" dirty="0" smtClean="0"/>
              <a:t>http://sra.vjti.info/knowledgebase/posts-on-a-roll-1/gripper-mechanisms</a:t>
            </a:r>
            <a:endParaRPr lang="en-US" dirty="0"/>
          </a:p>
        </p:txBody>
      </p:sp>
    </p:spTree>
    <p:extLst>
      <p:ext uri="{BB962C8B-B14F-4D97-AF65-F5344CB8AC3E}">
        <p14:creationId xmlns:p14="http://schemas.microsoft.com/office/powerpoint/2010/main" val="400977183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467600" cy="1143000"/>
          </a:xfrm>
        </p:spPr>
        <p:txBody>
          <a:bodyPr>
            <a:normAutofit/>
          </a:bodyPr>
          <a:lstStyle/>
          <a:p>
            <a:pPr algn="r"/>
            <a:r>
              <a:rPr lang="en-US" b="1" dirty="0" smtClean="0">
                <a:hlinkClick r:id="rId3" action="ppaction://hlinkfile"/>
              </a:rPr>
              <a:t>Vacuum Grippers</a:t>
            </a:r>
            <a:r>
              <a:rPr lang="en-US" b="1" dirty="0" smtClean="0"/>
              <a:t>      </a:t>
            </a:r>
            <a:r>
              <a:rPr lang="en-US" b="1" dirty="0" smtClean="0">
                <a:hlinkClick r:id="rId4" action="ppaction://hlinkfile"/>
              </a:rPr>
              <a:t>link</a:t>
            </a:r>
            <a:endParaRPr lang="en-US" dirty="0"/>
          </a:p>
        </p:txBody>
      </p:sp>
      <p:sp>
        <p:nvSpPr>
          <p:cNvPr id="3" name="Content Placeholder 2"/>
          <p:cNvSpPr>
            <a:spLocks noGrp="1"/>
          </p:cNvSpPr>
          <p:nvPr>
            <p:ph sz="quarter" idx="1"/>
          </p:nvPr>
        </p:nvSpPr>
        <p:spPr>
          <a:xfrm>
            <a:off x="457200" y="1066800"/>
            <a:ext cx="7467600" cy="5208714"/>
          </a:xfrm>
        </p:spPr>
        <p:txBody>
          <a:bodyPr>
            <a:normAutofit/>
          </a:bodyPr>
          <a:lstStyle/>
          <a:p>
            <a:pPr algn="just">
              <a:buNone/>
            </a:pPr>
            <a:r>
              <a:rPr lang="en-US" sz="2800" dirty="0" smtClean="0"/>
              <a:t>for non-ferrous components with flat and smooth surfaces, grippers can be built using standard vacuum cups or pads made of rubber-like materials. Not suitable for components with curved surfaces or with holes.</a:t>
            </a:r>
            <a:endParaRPr lang="en-US" sz="2800" dirty="0"/>
          </a:p>
        </p:txBody>
      </p:sp>
      <p:pic>
        <p:nvPicPr>
          <p:cNvPr id="46082" name="Picture 2" descr="http://sra.vjti.info/_/rsrc/1249219045750/knowledgebase/posts-on-a-roll-1/gripper-mechanisms/gripper6.TIF"/>
          <p:cNvPicPr>
            <a:picLocks noChangeAspect="1" noChangeArrowheads="1"/>
          </p:cNvPicPr>
          <p:nvPr/>
        </p:nvPicPr>
        <p:blipFill>
          <a:blip r:embed="rId5" cstate="print"/>
          <a:srcRect/>
          <a:stretch>
            <a:fillRect/>
          </a:stretch>
        </p:blipFill>
        <p:spPr bwMode="auto">
          <a:xfrm>
            <a:off x="1371600" y="3295682"/>
            <a:ext cx="6248400" cy="2829277"/>
          </a:xfrm>
          <a:prstGeom prst="rect">
            <a:avLst/>
          </a:prstGeom>
          <a:noFill/>
        </p:spPr>
      </p:pic>
      <p:sp>
        <p:nvSpPr>
          <p:cNvPr id="5" name="Rectangle 4"/>
          <p:cNvSpPr/>
          <p:nvPr/>
        </p:nvSpPr>
        <p:spPr>
          <a:xfrm>
            <a:off x="533400" y="6135469"/>
            <a:ext cx="6705600" cy="646331"/>
          </a:xfrm>
          <a:prstGeom prst="rect">
            <a:avLst/>
          </a:prstGeom>
        </p:spPr>
        <p:txBody>
          <a:bodyPr wrap="square">
            <a:spAutoFit/>
          </a:bodyPr>
          <a:lstStyle/>
          <a:p>
            <a:r>
              <a:rPr lang="en-US" dirty="0" smtClean="0"/>
              <a:t>http://sra.vjti.info/knowledgebase/posts-on-a-roll-1/gripper-mechanisms</a:t>
            </a:r>
            <a:endParaRPr lang="en-US" dirty="0"/>
          </a:p>
        </p:txBody>
      </p:sp>
    </p:spTree>
    <p:extLst>
      <p:ext uri="{BB962C8B-B14F-4D97-AF65-F5344CB8AC3E}">
        <p14:creationId xmlns:p14="http://schemas.microsoft.com/office/powerpoint/2010/main" val="274873142"/>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hlinkClick r:id="rId3" action="ppaction://hlinkfile"/>
              </a:rPr>
              <a:t>Magnetic Gripper</a:t>
            </a:r>
            <a:endParaRPr lang="en-US" dirty="0"/>
          </a:p>
        </p:txBody>
      </p:sp>
      <p:pic>
        <p:nvPicPr>
          <p:cNvPr id="50178" name="Picture 2" descr="http://sra.vjti.info/_/rsrc/1249219054327/knowledgebase/posts-on-a-roll-1/gripper-mechanisms/gripper7.TIF"/>
          <p:cNvPicPr>
            <a:picLocks noChangeAspect="1" noChangeArrowheads="1"/>
          </p:cNvPicPr>
          <p:nvPr/>
        </p:nvPicPr>
        <p:blipFill>
          <a:blip r:embed="rId4" cstate="print"/>
          <a:srcRect/>
          <a:stretch>
            <a:fillRect/>
          </a:stretch>
        </p:blipFill>
        <p:spPr bwMode="auto">
          <a:xfrm>
            <a:off x="533400" y="1513490"/>
            <a:ext cx="8360499" cy="4267200"/>
          </a:xfrm>
          <a:prstGeom prst="rect">
            <a:avLst/>
          </a:prstGeom>
          <a:noFill/>
        </p:spPr>
      </p:pic>
      <p:sp>
        <p:nvSpPr>
          <p:cNvPr id="5" name="Rectangle 4"/>
          <p:cNvSpPr/>
          <p:nvPr/>
        </p:nvSpPr>
        <p:spPr>
          <a:xfrm>
            <a:off x="533400" y="6096001"/>
            <a:ext cx="6858000" cy="646331"/>
          </a:xfrm>
          <a:prstGeom prst="rect">
            <a:avLst/>
          </a:prstGeom>
        </p:spPr>
        <p:txBody>
          <a:bodyPr wrap="square">
            <a:spAutoFit/>
          </a:bodyPr>
          <a:lstStyle/>
          <a:p>
            <a:r>
              <a:rPr lang="en-US" dirty="0" smtClean="0"/>
              <a:t>http://sra.vjti.info/knowledgebase/posts-on-a-roll-1/gripper-mechanisms</a:t>
            </a:r>
            <a:endParaRPr lang="en-US" dirty="0"/>
          </a:p>
        </p:txBody>
      </p:sp>
      <p:sp>
        <p:nvSpPr>
          <p:cNvPr id="6" name="Title 1"/>
          <p:cNvSpPr txBox="1">
            <a:spLocks/>
          </p:cNvSpPr>
          <p:nvPr/>
        </p:nvSpPr>
        <p:spPr>
          <a:xfrm>
            <a:off x="5981700" y="5404946"/>
            <a:ext cx="2819400" cy="533400"/>
          </a:xfrm>
          <a:prstGeom prst="rect">
            <a:avLst/>
          </a:prstGeom>
        </p:spPr>
        <p:txBody>
          <a:bodyPr vert="horz" lIns="91440" tIns="45720" rIns="91440" bIns="45720" rtlCol="0" anchor="ctr">
            <a:normAutofit fontScale="85000" lnSpcReduction="20000"/>
          </a:bodyPr>
          <a:lstStyle>
            <a:lvl1pPr algn="ctr" defTabSz="914400" rtl="0" eaLnBrk="1" latinLnBrk="0" hangingPunct="1">
              <a:spcBef>
                <a:spcPct val="0"/>
              </a:spcBef>
              <a:buNone/>
              <a:defRPr sz="4000" kern="1200">
                <a:solidFill>
                  <a:schemeClr val="tx1"/>
                </a:solidFill>
                <a:latin typeface="+mj-lt"/>
                <a:ea typeface="+mj-ea"/>
                <a:cs typeface="+mj-cs"/>
              </a:defRPr>
            </a:lvl1pPr>
          </a:lstStyle>
          <a:p>
            <a:r>
              <a:rPr lang="en-US" smtClean="0">
                <a:hlinkClick r:id="rId5" action="ppaction://hlinkfile"/>
              </a:rPr>
              <a:t>gripper</a:t>
            </a:r>
            <a:endParaRPr lang="en-IN" dirty="0"/>
          </a:p>
        </p:txBody>
      </p:sp>
    </p:spTree>
    <p:extLst>
      <p:ext uri="{BB962C8B-B14F-4D97-AF65-F5344CB8AC3E}">
        <p14:creationId xmlns:p14="http://schemas.microsoft.com/office/powerpoint/2010/main" val="2920918344"/>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326931" y="0"/>
            <a:ext cx="7359869" cy="1143000"/>
          </a:xfrm>
        </p:spPr>
        <p:txBody>
          <a:bodyPr>
            <a:normAutofit/>
          </a:bodyPr>
          <a:lstStyle/>
          <a:p>
            <a:pPr eaLnBrk="1" hangingPunct="1"/>
            <a:r>
              <a:rPr lang="en-US" sz="3600" dirty="0" smtClean="0">
                <a:solidFill>
                  <a:schemeClr val="accent1"/>
                </a:solidFill>
              </a:rPr>
              <a:t>GRIPPER FORCE ANALYSIS</a:t>
            </a:r>
          </a:p>
        </p:txBody>
      </p:sp>
      <p:sp>
        <p:nvSpPr>
          <p:cNvPr id="3" name="Content Placeholder 2"/>
          <p:cNvSpPr>
            <a:spLocks noGrp="1"/>
          </p:cNvSpPr>
          <p:nvPr>
            <p:ph idx="1"/>
          </p:nvPr>
        </p:nvSpPr>
        <p:spPr>
          <a:xfrm>
            <a:off x="304800" y="1066800"/>
            <a:ext cx="8077200" cy="2286000"/>
          </a:xfrm>
        </p:spPr>
        <p:txBody>
          <a:bodyPr rtlCol="0">
            <a:normAutofit/>
          </a:bodyPr>
          <a:lstStyle/>
          <a:p>
            <a:pPr algn="just" eaLnBrk="1" fontAlgn="auto" hangingPunct="1">
              <a:spcAft>
                <a:spcPts val="0"/>
              </a:spcAft>
              <a:buFont typeface="Arial" panose="020B0604020202020204" pitchFamily="34" charset="0"/>
              <a:buNone/>
              <a:defRPr/>
            </a:pPr>
            <a:r>
              <a:rPr lang="en-US" sz="2400" dirty="0" smtClean="0"/>
              <a:t>    The fig. shows the linkage mechanism and dimensions of a gripper used to handle a </a:t>
            </a:r>
            <a:r>
              <a:rPr lang="en-US" sz="2400" dirty="0" err="1" smtClean="0"/>
              <a:t>workpart</a:t>
            </a:r>
            <a:r>
              <a:rPr lang="en-US" sz="2400" dirty="0" smtClean="0"/>
              <a:t> for a machining operation. Suppose it has been determine that the gripper force is to be 25 </a:t>
            </a:r>
            <a:r>
              <a:rPr lang="en-US" sz="2400" dirty="0"/>
              <a:t>N</a:t>
            </a:r>
            <a:r>
              <a:rPr lang="en-US" sz="2400" dirty="0" smtClean="0"/>
              <a:t>. What is required is to compute the actuating force to deliver this force of 25 </a:t>
            </a:r>
            <a:r>
              <a:rPr lang="en-US" sz="2400" dirty="0"/>
              <a:t>N</a:t>
            </a:r>
            <a:r>
              <a:rPr lang="en-US" sz="2400" dirty="0" smtClean="0"/>
              <a:t>.</a:t>
            </a:r>
            <a:endParaRPr lang="en-US" sz="2400" dirty="0"/>
          </a:p>
        </p:txBody>
      </p:sp>
      <p:pic>
        <p:nvPicPr>
          <p:cNvPr id="1229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3048000"/>
            <a:ext cx="65278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294967295"/>
          </p:nvPr>
        </p:nvSpPr>
        <p:spPr>
          <a:xfrm>
            <a:off x="6553200" y="6356350"/>
            <a:ext cx="2133600" cy="365125"/>
          </a:xfrm>
          <a:prstGeom prst="rect">
            <a:avLst/>
          </a:prstGeom>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D955F7D-797A-4FD6-9E66-F0A78336A72B}" type="slidenum">
              <a:rPr lang="en-US">
                <a:solidFill>
                  <a:srgbClr val="898989"/>
                </a:solidFill>
                <a:latin typeface="Calibri" panose="020F0502020204030204" pitchFamily="34" charset="0"/>
              </a:rPr>
              <a:pPr eaLnBrk="1" hangingPunct="1"/>
              <a:t>110</a:t>
            </a:fld>
            <a:endParaRPr lang="en-US">
              <a:solidFill>
                <a:srgbClr val="898989"/>
              </a:solidFill>
              <a:latin typeface="Calibri" panose="020F0502020204030204" pitchFamily="34" charset="0"/>
            </a:endParaRPr>
          </a:p>
        </p:txBody>
      </p:sp>
    </p:spTree>
    <p:extLst>
      <p:ext uri="{BB962C8B-B14F-4D97-AF65-F5344CB8AC3E}">
        <p14:creationId xmlns:p14="http://schemas.microsoft.com/office/powerpoint/2010/main" val="367380070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p:cNvSpPr>
            <a:spLocks noGrp="1"/>
          </p:cNvSpPr>
          <p:nvPr>
            <p:ph idx="1"/>
          </p:nvPr>
        </p:nvSpPr>
        <p:spPr>
          <a:xfrm>
            <a:off x="152400" y="914400"/>
            <a:ext cx="4419600" cy="5211763"/>
          </a:xfrm>
        </p:spPr>
        <p:txBody>
          <a:bodyPr rtlCol="0">
            <a:normAutofit fontScale="92500" lnSpcReduction="20000"/>
          </a:bodyPr>
          <a:lstStyle/>
          <a:p>
            <a:pPr algn="just" eaLnBrk="1" fontAlgn="auto" hangingPunct="1">
              <a:spcAft>
                <a:spcPts val="0"/>
              </a:spcAft>
              <a:buFont typeface="Arial" panose="020B0604020202020204" pitchFamily="34" charset="0"/>
              <a:buNone/>
              <a:defRPr/>
            </a:pPr>
            <a:r>
              <a:rPr lang="en-US" sz="2400" dirty="0" smtClean="0"/>
              <a:t>Due to symmetry of the gripper consider only one half of the mechanism.</a:t>
            </a:r>
          </a:p>
          <a:p>
            <a:pPr algn="just" eaLnBrk="1" fontAlgn="auto" hangingPunct="1">
              <a:spcAft>
                <a:spcPts val="0"/>
              </a:spcAft>
              <a:buFont typeface="Arial" panose="020B0604020202020204" pitchFamily="34" charset="0"/>
              <a:buNone/>
              <a:defRPr/>
            </a:pPr>
            <a:r>
              <a:rPr lang="en-US" sz="2400" dirty="0" smtClean="0"/>
              <a:t>Moments :-</a:t>
            </a:r>
          </a:p>
          <a:p>
            <a:pPr algn="just" eaLnBrk="1" fontAlgn="auto" hangingPunct="1">
              <a:spcAft>
                <a:spcPts val="0"/>
              </a:spcAft>
              <a:buFont typeface="Arial" panose="020B0604020202020204" pitchFamily="34" charset="0"/>
              <a:buNone/>
              <a:defRPr/>
            </a:pPr>
            <a:r>
              <a:rPr lang="en-US" sz="2400" dirty="0" smtClean="0"/>
              <a:t>25(4cos 15°) = </a:t>
            </a:r>
            <a:r>
              <a:rPr lang="en-US" sz="2400" dirty="0" err="1" smtClean="0"/>
              <a:t>Fsin</a:t>
            </a:r>
            <a:r>
              <a:rPr lang="en-US" sz="2400" dirty="0" smtClean="0"/>
              <a:t> 45°(1.5cos15°)  		+ Fcos45°(1.5sin15°)</a:t>
            </a:r>
          </a:p>
          <a:p>
            <a:pPr algn="just" eaLnBrk="1" fontAlgn="auto" hangingPunct="1">
              <a:spcAft>
                <a:spcPts val="0"/>
              </a:spcAft>
              <a:buFont typeface="Arial" panose="020B0604020202020204" pitchFamily="34" charset="0"/>
              <a:buNone/>
              <a:defRPr/>
            </a:pPr>
            <a:endParaRPr lang="en-US" sz="2400" dirty="0" smtClean="0"/>
          </a:p>
          <a:p>
            <a:pPr algn="just" eaLnBrk="1" fontAlgn="auto" hangingPunct="1">
              <a:spcAft>
                <a:spcPts val="0"/>
              </a:spcAft>
              <a:buFont typeface="Arial" panose="020B0604020202020204" pitchFamily="34" charset="0"/>
              <a:buNone/>
              <a:defRPr/>
            </a:pPr>
            <a:r>
              <a:rPr lang="en-US" sz="2400" dirty="0" smtClean="0"/>
              <a:t>96.6 = F(1.0246+0.2745) =1.2991F</a:t>
            </a:r>
          </a:p>
          <a:p>
            <a:pPr algn="just" eaLnBrk="1" fontAlgn="auto" hangingPunct="1">
              <a:spcAft>
                <a:spcPts val="0"/>
              </a:spcAft>
              <a:buFont typeface="Arial" panose="020B0604020202020204" pitchFamily="34" charset="0"/>
              <a:buNone/>
              <a:defRPr/>
            </a:pPr>
            <a:endParaRPr lang="en-US" sz="2400" dirty="0" smtClean="0"/>
          </a:p>
          <a:p>
            <a:pPr algn="just" eaLnBrk="1" fontAlgn="auto" hangingPunct="1">
              <a:spcAft>
                <a:spcPts val="0"/>
              </a:spcAft>
              <a:buFont typeface="Arial" panose="020B0604020202020204" pitchFamily="34" charset="0"/>
              <a:buNone/>
              <a:defRPr/>
            </a:pPr>
            <a:r>
              <a:rPr lang="en-US" sz="2400" dirty="0" smtClean="0"/>
              <a:t>F = 74.4 N</a:t>
            </a:r>
          </a:p>
          <a:p>
            <a:pPr algn="just">
              <a:buNone/>
              <a:defRPr/>
            </a:pPr>
            <a:r>
              <a:rPr lang="en-US" sz="2400" dirty="0"/>
              <a:t>The actuation force applied to the plunger to deliver this force of 74.4 </a:t>
            </a:r>
            <a:r>
              <a:rPr lang="en-US" sz="2400" dirty="0" smtClean="0"/>
              <a:t>N to </a:t>
            </a:r>
            <a:r>
              <a:rPr lang="en-US" sz="2400" dirty="0"/>
              <a:t>each finger.</a:t>
            </a:r>
          </a:p>
          <a:p>
            <a:pPr algn="just">
              <a:buNone/>
              <a:defRPr/>
            </a:pPr>
            <a:r>
              <a:rPr lang="en-US" sz="2400" dirty="0"/>
              <a:t>So,</a:t>
            </a:r>
          </a:p>
          <a:p>
            <a:pPr algn="just">
              <a:buNone/>
              <a:defRPr/>
            </a:pPr>
            <a:r>
              <a:rPr lang="en-US" sz="2400" dirty="0"/>
              <a:t> </a:t>
            </a:r>
            <a:r>
              <a:rPr lang="en-US" sz="2400" i="1" dirty="0" err="1">
                <a:cs typeface="Arial" pitchFamily="34" charset="0"/>
              </a:rPr>
              <a:t>Fa</a:t>
            </a:r>
            <a:r>
              <a:rPr lang="en-US" sz="2400" i="1" dirty="0">
                <a:cs typeface="Arial" pitchFamily="34" charset="0"/>
              </a:rPr>
              <a:t> = </a:t>
            </a:r>
            <a:r>
              <a:rPr lang="en-US" sz="2400" dirty="0">
                <a:cs typeface="Arial" pitchFamily="34" charset="0"/>
              </a:rPr>
              <a:t>2 X 74.4 X cos45</a:t>
            </a:r>
            <a:r>
              <a:rPr lang="en-US" sz="2400" dirty="0"/>
              <a:t>°</a:t>
            </a:r>
          </a:p>
          <a:p>
            <a:pPr algn="just">
              <a:buNone/>
              <a:defRPr/>
            </a:pPr>
            <a:r>
              <a:rPr lang="en-US" sz="2400" i="1" dirty="0">
                <a:cs typeface="Arial" pitchFamily="34" charset="0"/>
              </a:rPr>
              <a:t> </a:t>
            </a:r>
            <a:r>
              <a:rPr lang="en-US" sz="2400" i="1" dirty="0" err="1">
                <a:cs typeface="Arial" pitchFamily="34" charset="0"/>
              </a:rPr>
              <a:t>Fa</a:t>
            </a:r>
            <a:r>
              <a:rPr lang="en-US" sz="2400" i="1" dirty="0">
                <a:cs typeface="Arial" pitchFamily="34" charset="0"/>
              </a:rPr>
              <a:t> = 105.2 N</a:t>
            </a:r>
            <a:endParaRPr lang="en-US" sz="2400" dirty="0"/>
          </a:p>
          <a:p>
            <a:pPr algn="just" eaLnBrk="1" fontAlgn="auto" hangingPunct="1">
              <a:spcAft>
                <a:spcPts val="0"/>
              </a:spcAft>
              <a:buFont typeface="Arial" panose="020B0604020202020204" pitchFamily="34" charset="0"/>
              <a:buNone/>
              <a:defRPr/>
            </a:pPr>
            <a:endParaRPr lang="en-US" sz="2400" dirty="0" smtClean="0"/>
          </a:p>
          <a:p>
            <a:pPr algn="just" eaLnBrk="1" fontAlgn="auto" hangingPunct="1">
              <a:spcAft>
                <a:spcPts val="0"/>
              </a:spcAft>
              <a:buFont typeface="Arial" panose="020B0604020202020204" pitchFamily="34" charset="0"/>
              <a:buNone/>
              <a:defRPr/>
            </a:pPr>
            <a:endParaRPr lang="en-US" sz="2400" dirty="0" smtClean="0"/>
          </a:p>
          <a:p>
            <a:pPr eaLnBrk="1" fontAlgn="auto" hangingPunct="1">
              <a:spcAft>
                <a:spcPts val="0"/>
              </a:spcAft>
              <a:buFont typeface="Arial" panose="020B0604020202020204" pitchFamily="34" charset="0"/>
              <a:buNone/>
              <a:defRPr/>
            </a:pPr>
            <a:endParaRPr lang="en-US" sz="2400" dirty="0"/>
          </a:p>
        </p:txBody>
      </p:sp>
      <p:pic>
        <p:nvPicPr>
          <p:cNvPr id="1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1066800"/>
            <a:ext cx="3570288" cy="185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2895600"/>
            <a:ext cx="3956050" cy="173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4800600"/>
            <a:ext cx="196056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1823392"/>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accent1"/>
                </a:solidFill>
              </a:rPr>
              <a:t>GRIPPER FORCE ANALYSIS</a:t>
            </a:r>
            <a:endParaRPr lang="en-IN" sz="3600" dirty="0"/>
          </a:p>
        </p:txBody>
      </p:sp>
      <p:sp>
        <p:nvSpPr>
          <p:cNvPr id="4" name="Date Placeholder 3"/>
          <p:cNvSpPr>
            <a:spLocks noGrp="1"/>
          </p:cNvSpPr>
          <p:nvPr>
            <p:ph type="dt" sz="half" idx="14"/>
          </p:nvPr>
        </p:nvSpPr>
        <p:spPr/>
        <p:txBody>
          <a:bodyPr/>
          <a:lstStyle/>
          <a:p>
            <a:fld id="{41158482-3060-4633-A66A-ECA21A4A5870}" type="datetime1">
              <a:rPr lang="en-US" smtClean="0"/>
              <a:t>10/29/2020</a:t>
            </a:fld>
            <a:endParaRPr lang="en-IN"/>
          </a:p>
        </p:txBody>
      </p:sp>
      <p:sp>
        <p:nvSpPr>
          <p:cNvPr id="5" name="Slide Number Placeholder 4"/>
          <p:cNvSpPr>
            <a:spLocks noGrp="1"/>
          </p:cNvSpPr>
          <p:nvPr>
            <p:ph type="sldNum" sz="quarter" idx="15"/>
          </p:nvPr>
        </p:nvSpPr>
        <p:spPr/>
        <p:txBody>
          <a:bodyPr/>
          <a:lstStyle/>
          <a:p>
            <a:fld id="{41F94EDD-D845-48AB-B01E-E1FCDA2D3009}" type="slidenum">
              <a:rPr lang="en-IN" smtClean="0"/>
              <a:pPr/>
              <a:t>112</a:t>
            </a:fld>
            <a:endParaRPr lang="en-IN"/>
          </a:p>
        </p:txBody>
      </p:sp>
      <p:sp>
        <p:nvSpPr>
          <p:cNvPr id="6" name="Footer Placeholder 5"/>
          <p:cNvSpPr>
            <a:spLocks noGrp="1"/>
          </p:cNvSpPr>
          <p:nvPr>
            <p:ph type="ftr" sz="quarter" idx="16"/>
          </p:nvPr>
        </p:nvSpPr>
        <p:spPr/>
        <p:txBody>
          <a:bodyPr/>
          <a:lstStyle/>
          <a:p>
            <a:endParaRPr lang="en-IN"/>
          </a:p>
        </p:txBody>
      </p:sp>
      <p:pic>
        <p:nvPicPr>
          <p:cNvPr id="7" name="Picture 6"/>
          <p:cNvPicPr>
            <a:picLocks noChangeAspect="1"/>
          </p:cNvPicPr>
          <p:nvPr/>
        </p:nvPicPr>
        <p:blipFill>
          <a:blip r:embed="rId2">
            <a:biLevel thresh="75000"/>
          </a:blip>
          <a:stretch>
            <a:fillRect/>
          </a:stretch>
        </p:blipFill>
        <p:spPr>
          <a:xfrm>
            <a:off x="2133600" y="1219200"/>
            <a:ext cx="6665282" cy="4263758"/>
          </a:xfrm>
          <a:prstGeom prst="rect">
            <a:avLst/>
          </a:prstGeom>
        </p:spPr>
      </p:pic>
    </p:spTree>
    <p:extLst>
      <p:ext uri="{BB962C8B-B14F-4D97-AF65-F5344CB8AC3E}">
        <p14:creationId xmlns:p14="http://schemas.microsoft.com/office/powerpoint/2010/main" val="2519110627"/>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biLevel thresh="75000"/>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981200" y="533400"/>
            <a:ext cx="6346701" cy="1702261"/>
          </a:xfrm>
          <a:prstGeom prst="rect">
            <a:avLst/>
          </a:prstGeom>
        </p:spPr>
      </p:pic>
      <p:pic>
        <p:nvPicPr>
          <p:cNvPr id="5" name="Picture 4"/>
          <p:cNvPicPr>
            <a:picLocks noChangeAspect="1"/>
          </p:cNvPicPr>
          <p:nvPr/>
        </p:nvPicPr>
        <p:blipFill>
          <a:blip r:embed="rId4">
            <a:biLevel thresh="75000"/>
          </a:blip>
          <a:stretch>
            <a:fillRect/>
          </a:stretch>
        </p:blipFill>
        <p:spPr>
          <a:xfrm>
            <a:off x="3097656" y="2429811"/>
            <a:ext cx="3583276" cy="1065299"/>
          </a:xfrm>
          <a:prstGeom prst="rect">
            <a:avLst/>
          </a:prstGeom>
        </p:spPr>
      </p:pic>
      <p:pic>
        <p:nvPicPr>
          <p:cNvPr id="6" name="Picture 5"/>
          <p:cNvPicPr>
            <a:picLocks noChangeAspect="1"/>
          </p:cNvPicPr>
          <p:nvPr/>
        </p:nvPicPr>
        <p:blipFill>
          <a:blip r:embed="rId5">
            <a:biLevel thresh="75000"/>
          </a:blip>
          <a:stretch>
            <a:fillRect/>
          </a:stretch>
        </p:blipFill>
        <p:spPr>
          <a:xfrm>
            <a:off x="1981200" y="3495110"/>
            <a:ext cx="6903197" cy="2616620"/>
          </a:xfrm>
          <a:prstGeom prst="rect">
            <a:avLst/>
          </a:prstGeom>
        </p:spPr>
      </p:pic>
    </p:spTree>
    <p:extLst>
      <p:ext uri="{BB962C8B-B14F-4D97-AF65-F5344CB8AC3E}">
        <p14:creationId xmlns:p14="http://schemas.microsoft.com/office/powerpoint/2010/main" val="166859229"/>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biLevel thresh="75000"/>
          </a:blip>
          <a:stretch>
            <a:fillRect/>
          </a:stretch>
        </p:blipFill>
        <p:spPr>
          <a:xfrm>
            <a:off x="903561" y="1295359"/>
            <a:ext cx="6753002" cy="2032457"/>
          </a:xfrm>
          <a:prstGeom prst="rect">
            <a:avLst/>
          </a:prstGeom>
        </p:spPr>
      </p:pic>
      <p:pic>
        <p:nvPicPr>
          <p:cNvPr id="5" name="Picture 4"/>
          <p:cNvPicPr>
            <a:picLocks noChangeAspect="1"/>
          </p:cNvPicPr>
          <p:nvPr/>
        </p:nvPicPr>
        <p:blipFill rotWithShape="1">
          <a:blip r:embed="rId3">
            <a:biLevel thresh="75000"/>
          </a:blip>
          <a:srcRect l="39064" t="60234" r="27495"/>
          <a:stretch/>
        </p:blipFill>
        <p:spPr>
          <a:xfrm>
            <a:off x="3125820" y="254833"/>
            <a:ext cx="2308485" cy="1040526"/>
          </a:xfrm>
          <a:prstGeom prst="rect">
            <a:avLst/>
          </a:prstGeom>
        </p:spPr>
      </p:pic>
      <p:pic>
        <p:nvPicPr>
          <p:cNvPr id="6" name="Picture 5"/>
          <p:cNvPicPr>
            <a:picLocks noChangeAspect="1"/>
          </p:cNvPicPr>
          <p:nvPr/>
        </p:nvPicPr>
        <p:blipFill>
          <a:blip r:embed="rId4">
            <a:biLevel thresh="75000"/>
          </a:blip>
          <a:stretch>
            <a:fillRect/>
          </a:stretch>
        </p:blipFill>
        <p:spPr>
          <a:xfrm>
            <a:off x="565623" y="3520031"/>
            <a:ext cx="7498353" cy="1696621"/>
          </a:xfrm>
          <a:prstGeom prst="rect">
            <a:avLst/>
          </a:prstGeom>
        </p:spPr>
      </p:pic>
    </p:spTree>
    <p:extLst>
      <p:ext uri="{BB962C8B-B14F-4D97-AF65-F5344CB8AC3E}">
        <p14:creationId xmlns:p14="http://schemas.microsoft.com/office/powerpoint/2010/main" val="3716606372"/>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biLevel thresh="75000"/>
          </a:blip>
          <a:stretch>
            <a:fillRect/>
          </a:stretch>
        </p:blipFill>
        <p:spPr>
          <a:xfrm>
            <a:off x="698006" y="3463033"/>
            <a:ext cx="3634255" cy="1822933"/>
          </a:xfrm>
          <a:prstGeom prst="rect">
            <a:avLst/>
          </a:prstGeom>
        </p:spPr>
      </p:pic>
      <p:pic>
        <p:nvPicPr>
          <p:cNvPr id="5" name="Picture 4"/>
          <p:cNvPicPr>
            <a:picLocks noChangeAspect="1"/>
          </p:cNvPicPr>
          <p:nvPr/>
        </p:nvPicPr>
        <p:blipFill>
          <a:blip r:embed="rId3">
            <a:biLevel thresh="50000"/>
          </a:blip>
          <a:stretch>
            <a:fillRect/>
          </a:stretch>
        </p:blipFill>
        <p:spPr>
          <a:xfrm>
            <a:off x="4122295" y="450624"/>
            <a:ext cx="4362957" cy="2790969"/>
          </a:xfrm>
          <a:prstGeom prst="rect">
            <a:avLst/>
          </a:prstGeom>
        </p:spPr>
      </p:pic>
      <p:pic>
        <p:nvPicPr>
          <p:cNvPr id="6" name="Picture 5"/>
          <p:cNvPicPr>
            <a:picLocks noChangeAspect="1"/>
          </p:cNvPicPr>
          <p:nvPr/>
        </p:nvPicPr>
        <p:blipFill>
          <a:blip r:embed="rId4">
            <a:biLevel thresh="75000"/>
          </a:blip>
          <a:stretch>
            <a:fillRect/>
          </a:stretch>
        </p:blipFill>
        <p:spPr>
          <a:xfrm>
            <a:off x="533556" y="5507406"/>
            <a:ext cx="6457950" cy="838200"/>
          </a:xfrm>
          <a:prstGeom prst="rect">
            <a:avLst/>
          </a:prstGeom>
        </p:spPr>
      </p:pic>
    </p:spTree>
    <p:extLst>
      <p:ext uri="{BB962C8B-B14F-4D97-AF65-F5344CB8AC3E}">
        <p14:creationId xmlns:p14="http://schemas.microsoft.com/office/powerpoint/2010/main" val="764073246"/>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biLevel thresh="75000"/>
          </a:blip>
          <a:stretch>
            <a:fillRect/>
          </a:stretch>
        </p:blipFill>
        <p:spPr>
          <a:xfrm>
            <a:off x="1154243" y="602574"/>
            <a:ext cx="5794089" cy="1979554"/>
          </a:xfrm>
          <a:prstGeom prst="rect">
            <a:avLst/>
          </a:prstGeom>
        </p:spPr>
      </p:pic>
      <p:pic>
        <p:nvPicPr>
          <p:cNvPr id="5" name="Picture 4"/>
          <p:cNvPicPr>
            <a:picLocks noChangeAspect="1"/>
          </p:cNvPicPr>
          <p:nvPr/>
        </p:nvPicPr>
        <p:blipFill>
          <a:blip r:embed="rId3">
            <a:biLevel thresh="75000"/>
          </a:blip>
          <a:stretch>
            <a:fillRect/>
          </a:stretch>
        </p:blipFill>
        <p:spPr>
          <a:xfrm>
            <a:off x="2020783" y="2646295"/>
            <a:ext cx="4664830" cy="3827815"/>
          </a:xfrm>
          <a:prstGeom prst="rect">
            <a:avLst/>
          </a:prstGeom>
        </p:spPr>
      </p:pic>
    </p:spTree>
    <p:extLst>
      <p:ext uri="{BB962C8B-B14F-4D97-AF65-F5344CB8AC3E}">
        <p14:creationId xmlns:p14="http://schemas.microsoft.com/office/powerpoint/2010/main" val="1814108094"/>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biLevel thresh="75000"/>
          </a:blip>
          <a:stretch>
            <a:fillRect/>
          </a:stretch>
        </p:blipFill>
        <p:spPr>
          <a:xfrm>
            <a:off x="838200" y="1066800"/>
            <a:ext cx="7687297" cy="4736891"/>
          </a:xfrm>
          <a:prstGeom prst="rect">
            <a:avLst/>
          </a:prstGeom>
        </p:spPr>
      </p:pic>
    </p:spTree>
    <p:extLst>
      <p:ext uri="{BB962C8B-B14F-4D97-AF65-F5344CB8AC3E}">
        <p14:creationId xmlns:p14="http://schemas.microsoft.com/office/powerpoint/2010/main" val="2565075852"/>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Date Placeholder 3"/>
          <p:cNvSpPr>
            <a:spLocks noGrp="1"/>
          </p:cNvSpPr>
          <p:nvPr>
            <p:ph type="dt" sz="half" idx="14"/>
          </p:nvPr>
        </p:nvSpPr>
        <p:spPr/>
        <p:txBody>
          <a:bodyPr/>
          <a:lstStyle/>
          <a:p>
            <a:fld id="{FAE9D9C1-9532-4BE7-91E7-C303010F415C}" type="datetime1">
              <a:rPr lang="en-US" smtClean="0"/>
              <a:t>10/30/2020</a:t>
            </a:fld>
            <a:endParaRPr lang="en-IN"/>
          </a:p>
        </p:txBody>
      </p:sp>
      <p:sp>
        <p:nvSpPr>
          <p:cNvPr id="5" name="Slide Number Placeholder 4"/>
          <p:cNvSpPr>
            <a:spLocks noGrp="1"/>
          </p:cNvSpPr>
          <p:nvPr>
            <p:ph type="sldNum" sz="quarter" idx="15"/>
          </p:nvPr>
        </p:nvSpPr>
        <p:spPr/>
        <p:txBody>
          <a:bodyPr/>
          <a:lstStyle/>
          <a:p>
            <a:fld id="{41F94EDD-D845-48AB-B01E-E1FCDA2D3009}" type="slidenum">
              <a:rPr lang="en-IN" smtClean="0"/>
              <a:pPr/>
              <a:t>118</a:t>
            </a:fld>
            <a:endParaRPr lang="en-IN"/>
          </a:p>
        </p:txBody>
      </p:sp>
      <p:sp>
        <p:nvSpPr>
          <p:cNvPr id="6" name="Footer Placeholder 5"/>
          <p:cNvSpPr>
            <a:spLocks noGrp="1"/>
          </p:cNvSpPr>
          <p:nvPr>
            <p:ph type="ftr" sz="quarter" idx="16"/>
          </p:nvPr>
        </p:nvSpPr>
        <p:spPr/>
        <p:txBody>
          <a:bodyPr/>
          <a:lstStyle/>
          <a:p>
            <a:endParaRPr lang="en-IN"/>
          </a:p>
        </p:txBody>
      </p:sp>
      <p:sp>
        <p:nvSpPr>
          <p:cNvPr id="7" name="TextBox 6"/>
          <p:cNvSpPr txBox="1"/>
          <p:nvPr/>
        </p:nvSpPr>
        <p:spPr>
          <a:xfrm>
            <a:off x="495300" y="1219200"/>
            <a:ext cx="8153400" cy="1200329"/>
          </a:xfrm>
          <a:prstGeom prst="rect">
            <a:avLst/>
          </a:prstGeom>
          <a:noFill/>
        </p:spPr>
        <p:txBody>
          <a:bodyPr wrap="square" rtlCol="0">
            <a:spAutoFit/>
          </a:bodyPr>
          <a:lstStyle/>
          <a:p>
            <a:pPr algn="just"/>
            <a:r>
              <a:rPr lang="en-US" sz="2400" dirty="0" smtClean="0"/>
              <a:t>A Cartesian robot has a horizontal reach of 450 mm and a horizontal stroke of 250 mm. What is the maximum limit within which the object placed is not reachable?</a:t>
            </a:r>
            <a:endParaRPr lang="en-IN" sz="2400" dirty="0"/>
          </a:p>
        </p:txBody>
      </p:sp>
      <p:pic>
        <p:nvPicPr>
          <p:cNvPr id="8" name="Picture 7"/>
          <p:cNvPicPr>
            <a:picLocks noChangeAspect="1"/>
          </p:cNvPicPr>
          <p:nvPr/>
        </p:nvPicPr>
        <p:blipFill>
          <a:blip r:embed="rId2">
            <a:biLevel thresh="75000"/>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13693" y="3048000"/>
            <a:ext cx="7970180" cy="2473504"/>
          </a:xfrm>
          <a:prstGeom prst="rect">
            <a:avLst/>
          </a:prstGeom>
        </p:spPr>
      </p:pic>
    </p:spTree>
    <p:extLst>
      <p:ext uri="{BB962C8B-B14F-4D97-AF65-F5344CB8AC3E}">
        <p14:creationId xmlns:p14="http://schemas.microsoft.com/office/powerpoint/2010/main" val="3466244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B6FD4B2-2072-4D7A-8122-BAB4A3E29DE8}" type="datetime1">
              <a:rPr lang="en-US" smtClean="0"/>
              <a:t>10/30/2020</a:t>
            </a:fld>
            <a:endParaRPr lang="en-IN"/>
          </a:p>
        </p:txBody>
      </p:sp>
      <p:sp>
        <p:nvSpPr>
          <p:cNvPr id="6" name="Footer Placeholder 5"/>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1F94EDD-D845-48AB-B01E-E1FCDA2D3009}" type="slidenum">
              <a:rPr lang="en-IN" smtClean="0"/>
              <a:pPr/>
              <a:t>119</a:t>
            </a:fld>
            <a:endParaRPr lang="en-IN"/>
          </a:p>
        </p:txBody>
      </p:sp>
      <p:pic>
        <p:nvPicPr>
          <p:cNvPr id="7" name="Picture 6"/>
          <p:cNvPicPr>
            <a:picLocks noChangeAspect="1"/>
          </p:cNvPicPr>
          <p:nvPr/>
        </p:nvPicPr>
        <p:blipFill>
          <a:blip r:embed="rId2">
            <a:biLevel thresh="75000"/>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26641" y="990600"/>
            <a:ext cx="8796338" cy="854238"/>
          </a:xfrm>
          <a:prstGeom prst="rect">
            <a:avLst/>
          </a:prstGeom>
        </p:spPr>
      </p:pic>
      <p:pic>
        <p:nvPicPr>
          <p:cNvPr id="8" name="Picture 7"/>
          <p:cNvPicPr>
            <a:picLocks noChangeAspect="1"/>
          </p:cNvPicPr>
          <p:nvPr/>
        </p:nvPicPr>
        <p:blipFill>
          <a:blip r:embed="rId4">
            <a:biLevel thresh="75000"/>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611240" y="2362200"/>
            <a:ext cx="8075560" cy="2609850"/>
          </a:xfrm>
          <a:prstGeom prst="rect">
            <a:avLst/>
          </a:prstGeom>
        </p:spPr>
      </p:pic>
    </p:spTree>
    <p:extLst>
      <p:ext uri="{BB962C8B-B14F-4D97-AF65-F5344CB8AC3E}">
        <p14:creationId xmlns:p14="http://schemas.microsoft.com/office/powerpoint/2010/main" val="3253583006"/>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7A8276-598C-4376-8483-75FBB0CA9670}" type="datetime1">
              <a:rPr lang="en-US" smtClean="0"/>
              <a:t>10/30/2020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F94EDD-D845-48AB-B01E-E1FCDA2D3009}" type="slidenum">
              <a:rPr lang="en-IN" smtClean="0"/>
              <a:pPr/>
              <a:t>120</a:t>
            </a:fld>
            <a:endParaRPr lang="en-IN"/>
          </a:p>
        </p:txBody>
      </p:sp>
    </p:spTree>
    <p:extLst>
      <p:ext uri="{BB962C8B-B14F-4D97-AF65-F5344CB8AC3E}">
        <p14:creationId xmlns:p14="http://schemas.microsoft.com/office/powerpoint/2010/main" val="3609968805"/>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200" dirty="0">
                <a:solidFill>
                  <a:srgbClr val="0070C0"/>
                </a:solidFill>
              </a:rPr>
              <a:t>CONSIDERATIONS IN GRIPPER </a:t>
            </a:r>
            <a:r>
              <a:rPr lang="en-IN" sz="3200" dirty="0" smtClean="0">
                <a:solidFill>
                  <a:srgbClr val="0070C0"/>
                </a:solidFill>
              </a:rPr>
              <a:t>SELECTION AND </a:t>
            </a:r>
            <a:r>
              <a:rPr lang="en-IN" sz="3200" dirty="0">
                <a:solidFill>
                  <a:srgbClr val="0070C0"/>
                </a:solidFill>
              </a:rPr>
              <a:t>DESIGN</a:t>
            </a:r>
            <a:endParaRPr lang="en-IN" sz="3200" dirty="0">
              <a:solidFill>
                <a:srgbClr val="0070C0"/>
              </a:solidFill>
            </a:endParaRPr>
          </a:p>
        </p:txBody>
      </p:sp>
      <p:sp>
        <p:nvSpPr>
          <p:cNvPr id="3" name="Content Placeholder 2"/>
          <p:cNvSpPr>
            <a:spLocks noGrp="1"/>
          </p:cNvSpPr>
          <p:nvPr>
            <p:ph sz="quarter" idx="1"/>
          </p:nvPr>
        </p:nvSpPr>
        <p:spPr>
          <a:xfrm>
            <a:off x="457200" y="1371600"/>
            <a:ext cx="8229600" cy="5102352"/>
          </a:xfrm>
        </p:spPr>
        <p:txBody>
          <a:bodyPr>
            <a:noAutofit/>
          </a:bodyPr>
          <a:lstStyle/>
          <a:p>
            <a:pPr marL="0" indent="0" algn="just">
              <a:buNone/>
            </a:pPr>
            <a:r>
              <a:rPr lang="en-IN" sz="2300" dirty="0"/>
              <a:t>The important factors that </a:t>
            </a:r>
            <a:r>
              <a:rPr lang="en-IN" sz="2300" dirty="0" smtClean="0"/>
              <a:t>determine the </a:t>
            </a:r>
            <a:r>
              <a:rPr lang="en-IN" sz="2300" dirty="0"/>
              <a:t>required grasping force are</a:t>
            </a:r>
            <a:r>
              <a:rPr lang="en-IN" sz="2300" dirty="0" smtClean="0"/>
              <a:t>:</a:t>
            </a:r>
          </a:p>
          <a:p>
            <a:pPr algn="just"/>
            <a:r>
              <a:rPr lang="en-IN" sz="2300" dirty="0" smtClean="0"/>
              <a:t>The </a:t>
            </a:r>
            <a:r>
              <a:rPr lang="en-IN" sz="2300" dirty="0"/>
              <a:t>weight of the object. Consideration of whether the part can be </a:t>
            </a:r>
            <a:r>
              <a:rPr lang="en-IN" sz="2300" dirty="0" smtClean="0"/>
              <a:t>grasped consistently </a:t>
            </a:r>
            <a:r>
              <a:rPr lang="en-IN" sz="2300" dirty="0"/>
              <a:t>about its </a:t>
            </a:r>
            <a:r>
              <a:rPr lang="en-IN" sz="2300" dirty="0" err="1"/>
              <a:t>center</a:t>
            </a:r>
            <a:r>
              <a:rPr lang="en-IN" sz="2300" dirty="0"/>
              <a:t> of mass. If not, an analysis of the possible </a:t>
            </a:r>
            <a:r>
              <a:rPr lang="en-IN" sz="2300" dirty="0" smtClean="0"/>
              <a:t>moments from </a:t>
            </a:r>
            <a:r>
              <a:rPr lang="en-IN" sz="2300" dirty="0" err="1"/>
              <a:t>off-center</a:t>
            </a:r>
            <a:r>
              <a:rPr lang="en-IN" sz="2300" dirty="0"/>
              <a:t> grasping should be considered</a:t>
            </a:r>
            <a:r>
              <a:rPr lang="en-IN" sz="2300" dirty="0" smtClean="0"/>
              <a:t>.</a:t>
            </a:r>
          </a:p>
          <a:p>
            <a:pPr algn="just"/>
            <a:r>
              <a:rPr lang="en-IN" sz="2300" dirty="0" smtClean="0"/>
              <a:t>The speed and acceleration with which the robot arm moves (acceleration and deceleration </a:t>
            </a:r>
            <a:r>
              <a:rPr lang="en-IN" sz="2300" dirty="0"/>
              <a:t>forces), and the </a:t>
            </a:r>
            <a:r>
              <a:rPr lang="en-IN" sz="2300" dirty="0" err="1"/>
              <a:t>orientational</a:t>
            </a:r>
            <a:r>
              <a:rPr lang="en-IN" sz="2300" dirty="0"/>
              <a:t> relationship between the direction </a:t>
            </a:r>
            <a:r>
              <a:rPr lang="en-IN" sz="2300" dirty="0" smtClean="0"/>
              <a:t>of movement and the position of the fingers on the object (whether the movement is parallel or perpendicular to the finger surface contacting the part)</a:t>
            </a:r>
            <a:endParaRPr lang="en-IN" sz="2300" dirty="0"/>
          </a:p>
          <a:p>
            <a:pPr algn="just"/>
            <a:r>
              <a:rPr lang="en-IN" sz="2300" dirty="0"/>
              <a:t>Whether physical constriction or friction is used to hold the part</a:t>
            </a:r>
            <a:r>
              <a:rPr lang="en-IN" sz="2300" dirty="0" smtClean="0"/>
              <a:t>.</a:t>
            </a:r>
          </a:p>
          <a:p>
            <a:pPr algn="just"/>
            <a:r>
              <a:rPr lang="en-US" sz="2300" dirty="0" smtClean="0"/>
              <a:t>Coefficient of friction between the object and the gripping fingers.</a:t>
            </a:r>
            <a:endParaRPr lang="en-IN" sz="2300" dirty="0"/>
          </a:p>
        </p:txBody>
      </p:sp>
      <p:sp>
        <p:nvSpPr>
          <p:cNvPr id="4" name="Date Placeholder 3"/>
          <p:cNvSpPr>
            <a:spLocks noGrp="1"/>
          </p:cNvSpPr>
          <p:nvPr>
            <p:ph type="dt" sz="half" idx="14"/>
          </p:nvPr>
        </p:nvSpPr>
        <p:spPr/>
        <p:txBody>
          <a:bodyPr/>
          <a:lstStyle/>
          <a:p>
            <a:fld id="{C0DC8885-9BFB-49C1-9022-A3CC52673A7E}" type="datetime1">
              <a:rPr lang="en-US" smtClean="0"/>
              <a:t>10/30/2020</a:t>
            </a:fld>
            <a:endParaRPr lang="en-IN"/>
          </a:p>
        </p:txBody>
      </p:sp>
      <p:sp>
        <p:nvSpPr>
          <p:cNvPr id="5" name="Slide Number Placeholder 4"/>
          <p:cNvSpPr>
            <a:spLocks noGrp="1"/>
          </p:cNvSpPr>
          <p:nvPr>
            <p:ph type="sldNum" sz="quarter" idx="15"/>
          </p:nvPr>
        </p:nvSpPr>
        <p:spPr/>
        <p:txBody>
          <a:bodyPr/>
          <a:lstStyle/>
          <a:p>
            <a:fld id="{41F94EDD-D845-48AB-B01E-E1FCDA2D3009}" type="slidenum">
              <a:rPr lang="en-IN" smtClean="0"/>
              <a:pPr/>
              <a:t>121</a:t>
            </a:fld>
            <a:endParaRPr lang="en-IN"/>
          </a:p>
        </p:txBody>
      </p:sp>
      <p:sp>
        <p:nvSpPr>
          <p:cNvPr id="6" name="Footer Placeholder 5"/>
          <p:cNvSpPr>
            <a:spLocks noGrp="1"/>
          </p:cNvSpPr>
          <p:nvPr>
            <p:ph type="ftr" sz="quarter" idx="16"/>
          </p:nvPr>
        </p:nvSpPr>
        <p:spPr/>
        <p:txBody>
          <a:bodyPr/>
          <a:lstStyle/>
          <a:p>
            <a:endParaRPr lang="en-IN"/>
          </a:p>
        </p:txBody>
      </p:sp>
    </p:spTree>
    <p:extLst>
      <p:ext uri="{BB962C8B-B14F-4D97-AF65-F5344CB8AC3E}">
        <p14:creationId xmlns:p14="http://schemas.microsoft.com/office/powerpoint/2010/main" val="1656255657"/>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Date Placeholder 3"/>
          <p:cNvSpPr>
            <a:spLocks noGrp="1"/>
          </p:cNvSpPr>
          <p:nvPr>
            <p:ph type="dt" sz="half" idx="14"/>
          </p:nvPr>
        </p:nvSpPr>
        <p:spPr/>
        <p:txBody>
          <a:bodyPr/>
          <a:lstStyle/>
          <a:p>
            <a:fld id="{9FC72C9A-B51A-4BF6-86A7-43DB1BDCBE12}" type="datetime1">
              <a:rPr lang="en-US" smtClean="0"/>
              <a:t>10/30/2020</a:t>
            </a:fld>
            <a:endParaRPr lang="en-IN"/>
          </a:p>
        </p:txBody>
      </p:sp>
      <p:sp>
        <p:nvSpPr>
          <p:cNvPr id="5" name="Slide Number Placeholder 4"/>
          <p:cNvSpPr>
            <a:spLocks noGrp="1"/>
          </p:cNvSpPr>
          <p:nvPr>
            <p:ph type="sldNum" sz="quarter" idx="15"/>
          </p:nvPr>
        </p:nvSpPr>
        <p:spPr/>
        <p:txBody>
          <a:bodyPr/>
          <a:lstStyle/>
          <a:p>
            <a:fld id="{41F94EDD-D845-48AB-B01E-E1FCDA2D3009}" type="slidenum">
              <a:rPr lang="en-IN" smtClean="0"/>
              <a:pPr/>
              <a:t>122</a:t>
            </a:fld>
            <a:endParaRPr lang="en-IN"/>
          </a:p>
        </p:txBody>
      </p:sp>
      <p:sp>
        <p:nvSpPr>
          <p:cNvPr id="6" name="Footer Placeholder 5"/>
          <p:cNvSpPr>
            <a:spLocks noGrp="1"/>
          </p:cNvSpPr>
          <p:nvPr>
            <p:ph type="ftr" sz="quarter" idx="16"/>
          </p:nvPr>
        </p:nvSpPr>
        <p:spPr/>
        <p:txBody>
          <a:bodyPr/>
          <a:lstStyle/>
          <a:p>
            <a:endParaRPr lang="en-IN"/>
          </a:p>
        </p:txBody>
      </p:sp>
      <p:pic>
        <p:nvPicPr>
          <p:cNvPr id="7" name="Picture 6"/>
          <p:cNvPicPr>
            <a:picLocks noChangeAspect="1"/>
          </p:cNvPicPr>
          <p:nvPr/>
        </p:nvPicPr>
        <p:blipFill>
          <a:blip r:embed="rId2">
            <a:biLevel thresh="75000"/>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8100" y="1423987"/>
            <a:ext cx="9067800" cy="4010025"/>
          </a:xfrm>
          <a:prstGeom prst="rect">
            <a:avLst/>
          </a:prstGeom>
        </p:spPr>
      </p:pic>
    </p:spTree>
    <p:extLst>
      <p:ext uri="{BB962C8B-B14F-4D97-AF65-F5344CB8AC3E}">
        <p14:creationId xmlns:p14="http://schemas.microsoft.com/office/powerpoint/2010/main" val="2128677992"/>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rgbClr val="0070C0"/>
                </a:solidFill>
              </a:rPr>
              <a:t>Gripper design considerations</a:t>
            </a:r>
            <a:endParaRPr lang="en-IN" sz="3600" dirty="0">
              <a:solidFill>
                <a:srgbClr val="0070C0"/>
              </a:solidFill>
            </a:endParaRPr>
          </a:p>
        </p:txBody>
      </p:sp>
      <p:sp>
        <p:nvSpPr>
          <p:cNvPr id="4" name="Date Placeholder 3"/>
          <p:cNvSpPr>
            <a:spLocks noGrp="1"/>
          </p:cNvSpPr>
          <p:nvPr>
            <p:ph type="dt" sz="half" idx="14"/>
          </p:nvPr>
        </p:nvSpPr>
        <p:spPr/>
        <p:txBody>
          <a:bodyPr/>
          <a:lstStyle/>
          <a:p>
            <a:fld id="{3C6F7DB1-394E-4FDA-9EEC-24784CD577B3}" type="datetime1">
              <a:rPr lang="en-US" smtClean="0"/>
              <a:t>10/30/2020</a:t>
            </a:fld>
            <a:endParaRPr lang="en-IN"/>
          </a:p>
        </p:txBody>
      </p:sp>
      <p:sp>
        <p:nvSpPr>
          <p:cNvPr id="5" name="Slide Number Placeholder 4"/>
          <p:cNvSpPr>
            <a:spLocks noGrp="1"/>
          </p:cNvSpPr>
          <p:nvPr>
            <p:ph type="sldNum" sz="quarter" idx="15"/>
          </p:nvPr>
        </p:nvSpPr>
        <p:spPr/>
        <p:txBody>
          <a:bodyPr/>
          <a:lstStyle/>
          <a:p>
            <a:fld id="{41F94EDD-D845-48AB-B01E-E1FCDA2D3009}" type="slidenum">
              <a:rPr lang="en-IN" smtClean="0"/>
              <a:pPr/>
              <a:t>123</a:t>
            </a:fld>
            <a:endParaRPr lang="en-IN"/>
          </a:p>
        </p:txBody>
      </p:sp>
      <p:sp>
        <p:nvSpPr>
          <p:cNvPr id="6" name="Footer Placeholder 5"/>
          <p:cNvSpPr>
            <a:spLocks noGrp="1"/>
          </p:cNvSpPr>
          <p:nvPr>
            <p:ph type="ftr" sz="quarter" idx="16"/>
          </p:nvPr>
        </p:nvSpPr>
        <p:spPr/>
        <p:txBody>
          <a:bodyPr/>
          <a:lstStyle/>
          <a:p>
            <a:endParaRPr lang="en-IN"/>
          </a:p>
        </p:txBody>
      </p:sp>
      <p:pic>
        <p:nvPicPr>
          <p:cNvPr id="7" name="Picture 6"/>
          <p:cNvPicPr>
            <a:picLocks noChangeAspect="1"/>
          </p:cNvPicPr>
          <p:nvPr/>
        </p:nvPicPr>
        <p:blipFill>
          <a:blip r:embed="rId2">
            <a:biLevel thresh="75000"/>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524000" y="1219200"/>
            <a:ext cx="6621517" cy="5788695"/>
          </a:xfrm>
          <a:prstGeom prst="rect">
            <a:avLst/>
          </a:prstGeom>
        </p:spPr>
      </p:pic>
    </p:spTree>
    <p:extLst>
      <p:ext uri="{BB962C8B-B14F-4D97-AF65-F5344CB8AC3E}">
        <p14:creationId xmlns:p14="http://schemas.microsoft.com/office/powerpoint/2010/main" val="2316072920"/>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Gripper design considerations</a:t>
            </a:r>
            <a:endParaRPr lang="en-IN" dirty="0"/>
          </a:p>
        </p:txBody>
      </p:sp>
      <p:sp>
        <p:nvSpPr>
          <p:cNvPr id="4" name="Date Placeholder 3"/>
          <p:cNvSpPr>
            <a:spLocks noGrp="1"/>
          </p:cNvSpPr>
          <p:nvPr>
            <p:ph type="dt" sz="half" idx="14"/>
          </p:nvPr>
        </p:nvSpPr>
        <p:spPr/>
        <p:txBody>
          <a:bodyPr/>
          <a:lstStyle/>
          <a:p>
            <a:fld id="{8AAFB634-67B2-4425-85D4-6E7C585AED1E}" type="datetime1">
              <a:rPr lang="en-US" smtClean="0"/>
              <a:t>10/30/2020</a:t>
            </a:fld>
            <a:endParaRPr lang="en-IN"/>
          </a:p>
        </p:txBody>
      </p:sp>
      <p:sp>
        <p:nvSpPr>
          <p:cNvPr id="5" name="Slide Number Placeholder 4"/>
          <p:cNvSpPr>
            <a:spLocks noGrp="1"/>
          </p:cNvSpPr>
          <p:nvPr>
            <p:ph type="sldNum" sz="quarter" idx="15"/>
          </p:nvPr>
        </p:nvSpPr>
        <p:spPr/>
        <p:txBody>
          <a:bodyPr/>
          <a:lstStyle/>
          <a:p>
            <a:fld id="{41F94EDD-D845-48AB-B01E-E1FCDA2D3009}" type="slidenum">
              <a:rPr lang="en-IN" smtClean="0"/>
              <a:pPr/>
              <a:t>124</a:t>
            </a:fld>
            <a:endParaRPr lang="en-IN"/>
          </a:p>
        </p:txBody>
      </p:sp>
      <p:sp>
        <p:nvSpPr>
          <p:cNvPr id="6" name="Footer Placeholder 5"/>
          <p:cNvSpPr>
            <a:spLocks noGrp="1"/>
          </p:cNvSpPr>
          <p:nvPr>
            <p:ph type="ftr" sz="quarter" idx="16"/>
          </p:nvPr>
        </p:nvSpPr>
        <p:spPr/>
        <p:txBody>
          <a:bodyPr/>
          <a:lstStyle/>
          <a:p>
            <a:endParaRPr lang="en-IN"/>
          </a:p>
        </p:txBody>
      </p:sp>
      <p:pic>
        <p:nvPicPr>
          <p:cNvPr id="7" name="Picture 6"/>
          <p:cNvPicPr>
            <a:picLocks noChangeAspect="1"/>
          </p:cNvPicPr>
          <p:nvPr/>
        </p:nvPicPr>
        <p:blipFill rotWithShape="1">
          <a:blip r:embed="rId2">
            <a:biLevel thresh="75000"/>
            <a:extLst>
              <a:ext uri="{BEBA8EAE-BF5A-486C-A8C5-ECC9F3942E4B}">
                <a14:imgProps xmlns:a14="http://schemas.microsoft.com/office/drawing/2010/main">
                  <a14:imgLayer r:embed="rId3">
                    <a14:imgEffect>
                      <a14:sharpenSoften amount="50000"/>
                    </a14:imgEffect>
                  </a14:imgLayer>
                </a14:imgProps>
              </a:ext>
            </a:extLst>
          </a:blip>
          <a:srcRect l="-990" t="2348" r="990" b="30756"/>
          <a:stretch/>
        </p:blipFill>
        <p:spPr>
          <a:xfrm>
            <a:off x="529471" y="1371600"/>
            <a:ext cx="8157329" cy="4603641"/>
          </a:xfrm>
          <a:prstGeom prst="rect">
            <a:avLst/>
          </a:prstGeom>
        </p:spPr>
      </p:pic>
    </p:spTree>
    <p:extLst>
      <p:ext uri="{BB962C8B-B14F-4D97-AF65-F5344CB8AC3E}">
        <p14:creationId xmlns:p14="http://schemas.microsoft.com/office/powerpoint/2010/main" val="115688524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solidFill>
                  <a:srgbClr val="0070C0"/>
                </a:solidFill>
              </a:rPr>
              <a:t>Selection consideration of gripper</a:t>
            </a:r>
            <a:endParaRPr lang="en-IN" sz="3200" dirty="0">
              <a:solidFill>
                <a:srgbClr val="0070C0"/>
              </a:solidFill>
            </a:endParaRPr>
          </a:p>
        </p:txBody>
      </p:sp>
      <p:sp>
        <p:nvSpPr>
          <p:cNvPr id="4" name="Date Placeholder 3"/>
          <p:cNvSpPr>
            <a:spLocks noGrp="1"/>
          </p:cNvSpPr>
          <p:nvPr>
            <p:ph type="dt" sz="half" idx="14"/>
          </p:nvPr>
        </p:nvSpPr>
        <p:spPr/>
        <p:txBody>
          <a:bodyPr/>
          <a:lstStyle/>
          <a:p>
            <a:fld id="{D556B7E7-7491-49EB-8A9F-9301CECB7EE6}" type="datetime1">
              <a:rPr lang="en-US" smtClean="0"/>
              <a:t>10/30/2020</a:t>
            </a:fld>
            <a:endParaRPr lang="en-IN"/>
          </a:p>
        </p:txBody>
      </p:sp>
      <p:sp>
        <p:nvSpPr>
          <p:cNvPr id="5" name="Slide Number Placeholder 4"/>
          <p:cNvSpPr>
            <a:spLocks noGrp="1"/>
          </p:cNvSpPr>
          <p:nvPr>
            <p:ph type="sldNum" sz="quarter" idx="15"/>
          </p:nvPr>
        </p:nvSpPr>
        <p:spPr/>
        <p:txBody>
          <a:bodyPr/>
          <a:lstStyle/>
          <a:p>
            <a:fld id="{41F94EDD-D845-48AB-B01E-E1FCDA2D3009}" type="slidenum">
              <a:rPr lang="en-IN" smtClean="0"/>
              <a:pPr/>
              <a:t>125</a:t>
            </a:fld>
            <a:endParaRPr lang="en-IN"/>
          </a:p>
        </p:txBody>
      </p:sp>
      <p:sp>
        <p:nvSpPr>
          <p:cNvPr id="6" name="Footer Placeholder 5"/>
          <p:cNvSpPr>
            <a:spLocks noGrp="1"/>
          </p:cNvSpPr>
          <p:nvPr>
            <p:ph type="ftr" sz="quarter" idx="16"/>
          </p:nvPr>
        </p:nvSpPr>
        <p:spPr/>
        <p:txBody>
          <a:bodyPr/>
          <a:lstStyle/>
          <a:p>
            <a:endParaRPr lang="en-IN"/>
          </a:p>
        </p:txBody>
      </p:sp>
      <p:pic>
        <p:nvPicPr>
          <p:cNvPr id="7" name="Picture 6"/>
          <p:cNvPicPr>
            <a:picLocks noChangeAspect="1"/>
          </p:cNvPicPr>
          <p:nvPr/>
        </p:nvPicPr>
        <p:blipFill rotWithShape="1">
          <a:blip r:embed="rId2">
            <a:biLevel thresh="75000"/>
            <a:extLst>
              <a:ext uri="{BEBA8EAE-BF5A-486C-A8C5-ECC9F3942E4B}">
                <a14:imgProps xmlns:a14="http://schemas.microsoft.com/office/drawing/2010/main">
                  <a14:imgLayer r:embed="rId3">
                    <a14:imgEffect>
                      <a14:sharpenSoften amount="50000"/>
                    </a14:imgEffect>
                  </a14:imgLayer>
                </a14:imgProps>
              </a:ext>
            </a:extLst>
          </a:blip>
          <a:srcRect b="22603"/>
          <a:stretch/>
        </p:blipFill>
        <p:spPr>
          <a:xfrm>
            <a:off x="152400" y="1600200"/>
            <a:ext cx="8915400" cy="4407000"/>
          </a:xfrm>
          <a:prstGeom prst="rect">
            <a:avLst/>
          </a:prstGeom>
        </p:spPr>
      </p:pic>
    </p:spTree>
    <p:extLst>
      <p:ext uri="{BB962C8B-B14F-4D97-AF65-F5344CB8AC3E}">
        <p14:creationId xmlns:p14="http://schemas.microsoft.com/office/powerpoint/2010/main" val="3262946317"/>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solidFill>
                  <a:srgbClr val="0070C0"/>
                </a:solidFill>
              </a:rPr>
              <a:t>Checklist of factors in the selection and design of grippers</a:t>
            </a:r>
            <a:endParaRPr lang="en-IN" sz="3200" dirty="0">
              <a:solidFill>
                <a:srgbClr val="0070C0"/>
              </a:solidFill>
            </a:endParaRPr>
          </a:p>
        </p:txBody>
      </p:sp>
      <p:sp>
        <p:nvSpPr>
          <p:cNvPr id="4" name="Date Placeholder 3"/>
          <p:cNvSpPr>
            <a:spLocks noGrp="1"/>
          </p:cNvSpPr>
          <p:nvPr>
            <p:ph type="dt" sz="half" idx="14"/>
          </p:nvPr>
        </p:nvSpPr>
        <p:spPr/>
        <p:txBody>
          <a:bodyPr/>
          <a:lstStyle/>
          <a:p>
            <a:fld id="{30E0B7D0-EAC5-47E7-A991-40B65445E215}" type="datetime1">
              <a:rPr lang="en-US" smtClean="0"/>
              <a:t>10/30/2020</a:t>
            </a:fld>
            <a:endParaRPr lang="en-IN"/>
          </a:p>
        </p:txBody>
      </p:sp>
      <p:sp>
        <p:nvSpPr>
          <p:cNvPr id="5" name="Slide Number Placeholder 4"/>
          <p:cNvSpPr>
            <a:spLocks noGrp="1"/>
          </p:cNvSpPr>
          <p:nvPr>
            <p:ph type="sldNum" sz="quarter" idx="15"/>
          </p:nvPr>
        </p:nvSpPr>
        <p:spPr/>
        <p:txBody>
          <a:bodyPr/>
          <a:lstStyle/>
          <a:p>
            <a:fld id="{41F94EDD-D845-48AB-B01E-E1FCDA2D3009}" type="slidenum">
              <a:rPr lang="en-IN" smtClean="0"/>
              <a:pPr/>
              <a:t>126</a:t>
            </a:fld>
            <a:endParaRPr lang="en-IN"/>
          </a:p>
        </p:txBody>
      </p:sp>
      <p:sp>
        <p:nvSpPr>
          <p:cNvPr id="6" name="Footer Placeholder 5"/>
          <p:cNvSpPr>
            <a:spLocks noGrp="1"/>
          </p:cNvSpPr>
          <p:nvPr>
            <p:ph type="ftr" sz="quarter" idx="16"/>
          </p:nvPr>
        </p:nvSpPr>
        <p:spPr/>
        <p:txBody>
          <a:bodyPr/>
          <a:lstStyle/>
          <a:p>
            <a:endParaRPr lang="en-IN"/>
          </a:p>
        </p:txBody>
      </p:sp>
      <p:graphicFrame>
        <p:nvGraphicFramePr>
          <p:cNvPr id="8" name="Table 7"/>
          <p:cNvGraphicFramePr>
            <a:graphicFrameLocks noGrp="1"/>
          </p:cNvGraphicFramePr>
          <p:nvPr>
            <p:extLst>
              <p:ext uri="{D42A27DB-BD31-4B8C-83A1-F6EECF244321}">
                <p14:modId xmlns:p14="http://schemas.microsoft.com/office/powerpoint/2010/main" val="3974220454"/>
              </p:ext>
            </p:extLst>
          </p:nvPr>
        </p:nvGraphicFramePr>
        <p:xfrm>
          <a:off x="838200" y="1219200"/>
          <a:ext cx="7467600" cy="4800600"/>
        </p:xfrm>
        <a:graphic>
          <a:graphicData uri="http://schemas.openxmlformats.org/drawingml/2006/table">
            <a:tbl>
              <a:tblPr firstRow="1" bandRow="1">
                <a:tableStyleId>{2D5ABB26-0587-4C30-8999-92F81FD0307C}</a:tableStyleId>
              </a:tblPr>
              <a:tblGrid>
                <a:gridCol w="2675557"/>
                <a:gridCol w="4792043"/>
              </a:tblGrid>
              <a:tr h="462938">
                <a:tc>
                  <a:txBody>
                    <a:bodyPr/>
                    <a:lstStyle/>
                    <a:p>
                      <a:pPr algn="ctr"/>
                      <a:r>
                        <a:rPr lang="en-IN" sz="2000" b="0" i="0" u="none" strike="noStrike" kern="1200" baseline="0" dirty="0" smtClean="0">
                          <a:solidFill>
                            <a:schemeClr val="tx1"/>
                          </a:solidFill>
                          <a:latin typeface="+mn-lt"/>
                          <a:ea typeface="+mn-ea"/>
                          <a:cs typeface="+mn-cs"/>
                        </a:rPr>
                        <a:t>Factor</a:t>
                      </a:r>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b="0" i="0" u="none" strike="noStrike" kern="1200" baseline="0" dirty="0" smtClean="0">
                          <a:solidFill>
                            <a:schemeClr val="tx1"/>
                          </a:solidFill>
                          <a:latin typeface="+mn-lt"/>
                          <a:ea typeface="+mn-ea"/>
                          <a:cs typeface="+mn-cs"/>
                        </a:rPr>
                        <a:t>Consideration</a:t>
                      </a:r>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11278">
                <a:tc>
                  <a:txBody>
                    <a:bodyPr/>
                    <a:lstStyle/>
                    <a:p>
                      <a:pPr algn="ctr"/>
                      <a:r>
                        <a:rPr lang="en-IN" sz="2000" b="0" i="0" u="none" strike="noStrike" kern="1200" baseline="0" dirty="0" smtClean="0">
                          <a:solidFill>
                            <a:schemeClr val="tx1"/>
                          </a:solidFill>
                          <a:latin typeface="+mn-lt"/>
                          <a:ea typeface="+mn-ea"/>
                          <a:cs typeface="+mn-cs"/>
                        </a:rPr>
                        <a:t>Part to be handled</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2000" b="0" i="0" u="none" strike="noStrike" kern="1200" baseline="0" dirty="0" smtClean="0">
                          <a:solidFill>
                            <a:schemeClr val="tx1"/>
                          </a:solidFill>
                          <a:latin typeface="+mn-lt"/>
                          <a:ea typeface="+mn-ea"/>
                          <a:cs typeface="+mn-cs"/>
                        </a:rPr>
                        <a:t>Weight and size</a:t>
                      </a:r>
                    </a:p>
                    <a:p>
                      <a:pPr algn="l"/>
                      <a:r>
                        <a:rPr lang="en-IN" sz="2000" b="0" i="0" u="none" strike="noStrike" kern="1200" baseline="0" dirty="0" smtClean="0">
                          <a:solidFill>
                            <a:schemeClr val="tx1"/>
                          </a:solidFill>
                          <a:latin typeface="+mn-lt"/>
                          <a:ea typeface="+mn-ea"/>
                          <a:cs typeface="+mn-cs"/>
                        </a:rPr>
                        <a:t>Shape</a:t>
                      </a:r>
                    </a:p>
                    <a:p>
                      <a:pPr algn="l"/>
                      <a:r>
                        <a:rPr lang="en-IN" sz="2000" b="0" i="0" u="none" strike="noStrike" kern="1200" baseline="0" dirty="0" smtClean="0">
                          <a:solidFill>
                            <a:schemeClr val="tx1"/>
                          </a:solidFill>
                          <a:latin typeface="+mn-lt"/>
                          <a:ea typeface="+mn-ea"/>
                          <a:cs typeface="+mn-cs"/>
                        </a:rPr>
                        <a:t>Changes in shape during processing</a:t>
                      </a:r>
                    </a:p>
                    <a:p>
                      <a:pPr algn="l"/>
                      <a:r>
                        <a:rPr lang="en-IN" sz="2000" b="0" i="0" u="none" strike="noStrike" kern="1200" baseline="0" dirty="0" smtClean="0">
                          <a:solidFill>
                            <a:schemeClr val="tx1"/>
                          </a:solidFill>
                          <a:latin typeface="+mn-lt"/>
                          <a:ea typeface="+mn-ea"/>
                          <a:cs typeface="+mn-cs"/>
                        </a:rPr>
                        <a:t>Tolerances on the part size</a:t>
                      </a:r>
                    </a:p>
                    <a:p>
                      <a:pPr algn="l"/>
                      <a:r>
                        <a:rPr lang="en-IN" sz="2000" b="0" i="0" u="none" strike="noStrike" kern="1200" baseline="0" dirty="0" smtClean="0">
                          <a:solidFill>
                            <a:schemeClr val="tx1"/>
                          </a:solidFill>
                          <a:latin typeface="+mn-lt"/>
                          <a:ea typeface="+mn-ea"/>
                          <a:cs typeface="+mn-cs"/>
                        </a:rPr>
                        <a:t>Surface condition, protection of delicate surfaces</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826384">
                <a:tc>
                  <a:txBody>
                    <a:bodyPr/>
                    <a:lstStyle/>
                    <a:p>
                      <a:pPr algn="ctr"/>
                      <a:r>
                        <a:rPr lang="en-IN" sz="2000" b="0" i="0" u="none" strike="noStrike" kern="1200" baseline="0" dirty="0" smtClean="0">
                          <a:solidFill>
                            <a:schemeClr val="tx1"/>
                          </a:solidFill>
                          <a:latin typeface="+mn-lt"/>
                          <a:ea typeface="+mn-ea"/>
                          <a:cs typeface="+mn-cs"/>
                        </a:rPr>
                        <a:t>Actuation method</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2000" b="0" i="0" u="none" strike="noStrike" kern="1200" baseline="0" dirty="0" smtClean="0">
                          <a:solidFill>
                            <a:schemeClr val="tx1"/>
                          </a:solidFill>
                          <a:latin typeface="+mn-lt"/>
                          <a:ea typeface="+mn-ea"/>
                          <a:cs typeface="+mn-cs"/>
                        </a:rPr>
                        <a:t>Mechanical grasping</a:t>
                      </a:r>
                    </a:p>
                    <a:p>
                      <a:pPr algn="l"/>
                      <a:r>
                        <a:rPr lang="en-IN" sz="2000" b="0" i="0" u="none" strike="noStrike" kern="1200" baseline="0" dirty="0" smtClean="0">
                          <a:solidFill>
                            <a:schemeClr val="tx1"/>
                          </a:solidFill>
                          <a:latin typeface="+mn-lt"/>
                          <a:ea typeface="+mn-ea"/>
                          <a:cs typeface="+mn-cs"/>
                        </a:rPr>
                        <a:t>Vacuum cup</a:t>
                      </a:r>
                    </a:p>
                    <a:p>
                      <a:pPr algn="l"/>
                      <a:r>
                        <a:rPr lang="en-IN" sz="2000" b="0" i="0" u="none" strike="noStrike" kern="1200" baseline="0" dirty="0" smtClean="0">
                          <a:solidFill>
                            <a:schemeClr val="tx1"/>
                          </a:solidFill>
                          <a:latin typeface="+mn-lt"/>
                          <a:ea typeface="+mn-ea"/>
                          <a:cs typeface="+mn-cs"/>
                        </a:rPr>
                        <a:t>Magnet</a:t>
                      </a:r>
                    </a:p>
                    <a:p>
                      <a:pPr algn="l"/>
                      <a:r>
                        <a:rPr lang="en-IN" sz="2000" b="0" i="0" u="none" strike="noStrike" kern="1200" baseline="0" dirty="0" smtClean="0">
                          <a:solidFill>
                            <a:schemeClr val="tx1"/>
                          </a:solidFill>
                          <a:latin typeface="+mn-lt"/>
                          <a:ea typeface="+mn-ea"/>
                          <a:cs typeface="+mn-cs"/>
                        </a:rPr>
                        <a:t>Other methods (adhesives, scoops, etc.)</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74248946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p>
            <a:fld id="{0FD62DC4-8708-4A4D-AFA8-5AA63ABFC018}" type="datetime1">
              <a:rPr lang="en-US" smtClean="0"/>
              <a:t>10/30/2020</a:t>
            </a:fld>
            <a:endParaRPr lang="en-IN"/>
          </a:p>
        </p:txBody>
      </p:sp>
      <p:sp>
        <p:nvSpPr>
          <p:cNvPr id="5" name="Slide Number Placeholder 4"/>
          <p:cNvSpPr>
            <a:spLocks noGrp="1"/>
          </p:cNvSpPr>
          <p:nvPr>
            <p:ph type="sldNum" sz="quarter" idx="15"/>
          </p:nvPr>
        </p:nvSpPr>
        <p:spPr/>
        <p:txBody>
          <a:bodyPr/>
          <a:lstStyle/>
          <a:p>
            <a:fld id="{41F94EDD-D845-48AB-B01E-E1FCDA2D3009}" type="slidenum">
              <a:rPr lang="en-IN" smtClean="0"/>
              <a:pPr/>
              <a:t>127</a:t>
            </a:fld>
            <a:endParaRPr lang="en-IN"/>
          </a:p>
        </p:txBody>
      </p:sp>
      <p:sp>
        <p:nvSpPr>
          <p:cNvPr id="6" name="Footer Placeholder 5"/>
          <p:cNvSpPr>
            <a:spLocks noGrp="1"/>
          </p:cNvSpPr>
          <p:nvPr>
            <p:ph type="ftr" sz="quarter" idx="16"/>
          </p:nvPr>
        </p:nvSpPr>
        <p:spPr/>
        <p:txBody>
          <a:bodyPr/>
          <a:lstStyle/>
          <a:p>
            <a:endParaRPr lang="en-IN"/>
          </a:p>
        </p:txBody>
      </p:sp>
      <p:graphicFrame>
        <p:nvGraphicFramePr>
          <p:cNvPr id="7" name="Table 6"/>
          <p:cNvGraphicFramePr>
            <a:graphicFrameLocks noGrp="1"/>
          </p:cNvGraphicFramePr>
          <p:nvPr>
            <p:extLst>
              <p:ext uri="{D42A27DB-BD31-4B8C-83A1-F6EECF244321}">
                <p14:modId xmlns:p14="http://schemas.microsoft.com/office/powerpoint/2010/main" val="4285704488"/>
              </p:ext>
            </p:extLst>
          </p:nvPr>
        </p:nvGraphicFramePr>
        <p:xfrm>
          <a:off x="838200" y="1219200"/>
          <a:ext cx="7467600" cy="5137151"/>
        </p:xfrm>
        <a:graphic>
          <a:graphicData uri="http://schemas.openxmlformats.org/drawingml/2006/table">
            <a:tbl>
              <a:tblPr firstRow="1" bandRow="1">
                <a:tableStyleId>{2D5ABB26-0587-4C30-8999-92F81FD0307C}</a:tableStyleId>
              </a:tblPr>
              <a:tblGrid>
                <a:gridCol w="2675557"/>
                <a:gridCol w="4792043"/>
              </a:tblGrid>
              <a:tr h="433851">
                <a:tc>
                  <a:txBody>
                    <a:bodyPr/>
                    <a:lstStyle/>
                    <a:p>
                      <a:pPr algn="ctr"/>
                      <a:r>
                        <a:rPr lang="en-IN" sz="2000" b="0" i="0" u="none" strike="noStrike" kern="1200" baseline="0" dirty="0" smtClean="0">
                          <a:solidFill>
                            <a:schemeClr val="tx1"/>
                          </a:solidFill>
                          <a:latin typeface="+mn-lt"/>
                          <a:ea typeface="+mn-ea"/>
                          <a:cs typeface="+mn-cs"/>
                        </a:rPr>
                        <a:t>Factor</a:t>
                      </a:r>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b="0" i="0" u="none" strike="noStrike" kern="1200" baseline="0" dirty="0" smtClean="0">
                          <a:solidFill>
                            <a:schemeClr val="tx1"/>
                          </a:solidFill>
                          <a:latin typeface="+mn-lt"/>
                          <a:ea typeface="+mn-ea"/>
                          <a:cs typeface="+mn-cs"/>
                        </a:rPr>
                        <a:t>Consideration</a:t>
                      </a:r>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80042">
                <a:tc>
                  <a:txBody>
                    <a:bodyPr/>
                    <a:lstStyle/>
                    <a:p>
                      <a:pPr algn="ctr"/>
                      <a:r>
                        <a:rPr lang="en-IN" sz="1800" b="0" i="0" u="none" strike="noStrike" kern="1200" baseline="0" dirty="0" smtClean="0">
                          <a:solidFill>
                            <a:schemeClr val="tx1"/>
                          </a:solidFill>
                          <a:latin typeface="+mn-lt"/>
                          <a:ea typeface="+mn-ea"/>
                          <a:cs typeface="+mn-cs"/>
                        </a:rPr>
                        <a:t>Power and signal transmission</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i="0" u="none" strike="noStrike" kern="1200" baseline="0" dirty="0" smtClean="0">
                          <a:solidFill>
                            <a:schemeClr val="tx1"/>
                          </a:solidFill>
                          <a:latin typeface="+mn-lt"/>
                          <a:ea typeface="+mn-ea"/>
                          <a:cs typeface="+mn-cs"/>
                        </a:rPr>
                        <a:t>Pneumatic</a:t>
                      </a:r>
                    </a:p>
                    <a:p>
                      <a:r>
                        <a:rPr lang="en-IN" sz="1800" b="0" i="0" u="none" strike="noStrike" kern="1200" baseline="0" dirty="0" smtClean="0">
                          <a:solidFill>
                            <a:schemeClr val="tx1"/>
                          </a:solidFill>
                          <a:latin typeface="+mn-lt"/>
                          <a:ea typeface="+mn-ea"/>
                          <a:cs typeface="+mn-cs"/>
                        </a:rPr>
                        <a:t>Electrical</a:t>
                      </a:r>
                    </a:p>
                    <a:p>
                      <a:r>
                        <a:rPr lang="en-IN" sz="1800" b="0" i="0" u="none" strike="noStrike" kern="1200" baseline="0" dirty="0" smtClean="0">
                          <a:solidFill>
                            <a:schemeClr val="tx1"/>
                          </a:solidFill>
                          <a:latin typeface="+mn-lt"/>
                          <a:ea typeface="+mn-ea"/>
                          <a:cs typeface="+mn-cs"/>
                        </a:rPr>
                        <a:t>Hydraulic</a:t>
                      </a:r>
                    </a:p>
                    <a:p>
                      <a:r>
                        <a:rPr lang="en-IN" sz="1800" b="0" i="0" u="none" strike="noStrike" kern="1200" baseline="0" dirty="0" smtClean="0">
                          <a:solidFill>
                            <a:schemeClr val="tx1"/>
                          </a:solidFill>
                          <a:latin typeface="+mn-lt"/>
                          <a:ea typeface="+mn-ea"/>
                          <a:cs typeface="+mn-cs"/>
                        </a:rPr>
                        <a:t>Mechanical</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711629">
                <a:tc>
                  <a:txBody>
                    <a:bodyPr/>
                    <a:lstStyle/>
                    <a:p>
                      <a:r>
                        <a:rPr lang="en-IN" sz="1800" b="0" i="0" u="none" strike="noStrike" kern="1200" baseline="0" dirty="0" smtClean="0">
                          <a:solidFill>
                            <a:schemeClr val="tx1"/>
                          </a:solidFill>
                          <a:latin typeface="+mn-lt"/>
                          <a:ea typeface="+mn-ea"/>
                          <a:cs typeface="+mn-cs"/>
                        </a:rPr>
                        <a:t>Gripper force (mechanical gripper)</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b="0" i="0" u="none" strike="noStrike" kern="1200" baseline="0" dirty="0" smtClean="0">
                          <a:solidFill>
                            <a:schemeClr val="tx1"/>
                          </a:solidFill>
                          <a:latin typeface="+mn-lt"/>
                          <a:ea typeface="+mn-ea"/>
                          <a:cs typeface="+mn-cs"/>
                        </a:rPr>
                        <a:t>Weight of the object</a:t>
                      </a:r>
                    </a:p>
                    <a:p>
                      <a:r>
                        <a:rPr lang="en-IN" sz="1800" b="0" i="0" u="none" strike="noStrike" kern="1200" baseline="0" dirty="0" smtClean="0">
                          <a:solidFill>
                            <a:schemeClr val="tx1"/>
                          </a:solidFill>
                          <a:latin typeface="+mn-lt"/>
                          <a:ea typeface="+mn-ea"/>
                          <a:cs typeface="+mn-cs"/>
                        </a:rPr>
                        <a:t>Method of holding (physical constriction or friction)</a:t>
                      </a:r>
                    </a:p>
                    <a:p>
                      <a:r>
                        <a:rPr lang="en-IN" sz="1800" b="0" i="0" u="none" strike="noStrike" kern="1200" baseline="0" dirty="0" err="1" smtClean="0">
                          <a:solidFill>
                            <a:schemeClr val="tx1"/>
                          </a:solidFill>
                          <a:latin typeface="+mn-lt"/>
                          <a:ea typeface="+mn-ea"/>
                          <a:cs typeface="+mn-cs"/>
                        </a:rPr>
                        <a:t>Coefficent</a:t>
                      </a:r>
                      <a:r>
                        <a:rPr lang="en-IN" sz="1800" b="0" i="0" u="none" strike="noStrike" kern="1200" baseline="0" dirty="0" smtClean="0">
                          <a:solidFill>
                            <a:schemeClr val="tx1"/>
                          </a:solidFill>
                          <a:latin typeface="+mn-lt"/>
                          <a:ea typeface="+mn-ea"/>
                          <a:cs typeface="+mn-cs"/>
                        </a:rPr>
                        <a:t> of </a:t>
                      </a:r>
                      <a:r>
                        <a:rPr lang="en-IN" sz="1800" b="0" i="0" u="none" strike="noStrike" kern="1200" baseline="0" dirty="0" err="1" smtClean="0">
                          <a:solidFill>
                            <a:schemeClr val="tx1"/>
                          </a:solidFill>
                          <a:latin typeface="+mn-lt"/>
                          <a:ea typeface="+mn-ea"/>
                          <a:cs typeface="+mn-cs"/>
                        </a:rPr>
                        <a:t>firction</a:t>
                      </a:r>
                      <a:r>
                        <a:rPr lang="en-IN" sz="1800" b="0" i="0" u="none" strike="noStrike" kern="1200" baseline="0" dirty="0" smtClean="0">
                          <a:solidFill>
                            <a:schemeClr val="tx1"/>
                          </a:solidFill>
                          <a:latin typeface="+mn-lt"/>
                          <a:ea typeface="+mn-ea"/>
                          <a:cs typeface="+mn-cs"/>
                        </a:rPr>
                        <a:t> between fingers and object</a:t>
                      </a:r>
                    </a:p>
                    <a:p>
                      <a:r>
                        <a:rPr lang="en-IN" sz="1800" b="0" i="0" u="none" strike="noStrike" kern="1200" baseline="0" dirty="0" smtClean="0">
                          <a:solidFill>
                            <a:schemeClr val="tx1"/>
                          </a:solidFill>
                          <a:latin typeface="+mn-lt"/>
                          <a:ea typeface="+mn-ea"/>
                          <a:cs typeface="+mn-cs"/>
                        </a:rPr>
                        <a:t>Speed and acceleration during motion cycle</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711629">
                <a:tc>
                  <a:txBody>
                    <a:bodyPr/>
                    <a:lstStyle/>
                    <a:p>
                      <a:r>
                        <a:rPr lang="en-IN" sz="1800" b="0" i="0" u="none" strike="noStrike" kern="1200" baseline="0" dirty="0" smtClean="0">
                          <a:solidFill>
                            <a:schemeClr val="tx1"/>
                          </a:solidFill>
                          <a:latin typeface="+mn-lt"/>
                          <a:ea typeface="+mn-ea"/>
                          <a:cs typeface="+mn-cs"/>
                        </a:rPr>
                        <a:t>Positioning problems</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i="0" u="none" strike="noStrike" kern="1200" baseline="0" dirty="0" smtClean="0">
                          <a:solidFill>
                            <a:schemeClr val="tx1"/>
                          </a:solidFill>
                          <a:latin typeface="+mn-lt"/>
                          <a:ea typeface="+mn-ea"/>
                          <a:cs typeface="+mn-cs"/>
                        </a:rPr>
                        <a:t>Length of finger's</a:t>
                      </a:r>
                    </a:p>
                    <a:p>
                      <a:r>
                        <a:rPr lang="en-IN" sz="1800" b="0" i="0" u="none" strike="noStrike" kern="1200" baseline="0" dirty="0" smtClean="0">
                          <a:solidFill>
                            <a:schemeClr val="tx1"/>
                          </a:solidFill>
                          <a:latin typeface="+mn-lt"/>
                          <a:ea typeface="+mn-ea"/>
                          <a:cs typeface="+mn-cs"/>
                        </a:rPr>
                        <a:t>Inherent accuracy and repeatability of robot</a:t>
                      </a:r>
                    </a:p>
                    <a:p>
                      <a:r>
                        <a:rPr lang="en-IN" sz="1800" b="0" i="0" u="none" strike="noStrike" kern="1200" baseline="0" dirty="0" smtClean="0">
                          <a:solidFill>
                            <a:schemeClr val="tx1"/>
                          </a:solidFill>
                          <a:latin typeface="+mn-lt"/>
                          <a:ea typeface="+mn-ea"/>
                          <a:cs typeface="+mn-cs"/>
                        </a:rPr>
                        <a:t>Tolerances on the part size</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8" name="Title 1"/>
          <p:cNvSpPr>
            <a:spLocks noGrp="1"/>
          </p:cNvSpPr>
          <p:nvPr>
            <p:ph type="title"/>
          </p:nvPr>
        </p:nvSpPr>
        <p:spPr>
          <a:xfrm>
            <a:off x="1985870" y="152400"/>
            <a:ext cx="6700930" cy="1066800"/>
          </a:xfrm>
        </p:spPr>
        <p:txBody>
          <a:bodyPr>
            <a:normAutofit/>
          </a:bodyPr>
          <a:lstStyle/>
          <a:p>
            <a:r>
              <a:rPr lang="en-US" sz="3200" dirty="0" smtClean="0">
                <a:solidFill>
                  <a:srgbClr val="0070C0"/>
                </a:solidFill>
              </a:rPr>
              <a:t>Checklist of factors in the selection and design of grippers</a:t>
            </a:r>
            <a:endParaRPr lang="en-IN" sz="3200" dirty="0">
              <a:solidFill>
                <a:srgbClr val="0070C0"/>
              </a:solidFill>
            </a:endParaRPr>
          </a:p>
        </p:txBody>
      </p:sp>
    </p:spTree>
    <p:extLst>
      <p:ext uri="{BB962C8B-B14F-4D97-AF65-F5344CB8AC3E}">
        <p14:creationId xmlns:p14="http://schemas.microsoft.com/office/powerpoint/2010/main" val="411958069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3B1342C-6612-4AEB-A9E8-0802C719A3EE}" type="datetime1">
              <a:rPr lang="en-US" smtClean="0"/>
              <a:t>10/30/2020</a:t>
            </a:fld>
            <a:endParaRPr lang="en-IN"/>
          </a:p>
        </p:txBody>
      </p:sp>
      <p:sp>
        <p:nvSpPr>
          <p:cNvPr id="6" name="Footer Placeholder 5"/>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1F94EDD-D845-48AB-B01E-E1FCDA2D3009}" type="slidenum">
              <a:rPr lang="en-IN" smtClean="0"/>
              <a:pPr/>
              <a:t>128</a:t>
            </a:fld>
            <a:endParaRPr lang="en-IN"/>
          </a:p>
        </p:txBody>
      </p:sp>
      <p:graphicFrame>
        <p:nvGraphicFramePr>
          <p:cNvPr id="7" name="Table 6"/>
          <p:cNvGraphicFramePr>
            <a:graphicFrameLocks noGrp="1"/>
          </p:cNvGraphicFramePr>
          <p:nvPr>
            <p:extLst>
              <p:ext uri="{D42A27DB-BD31-4B8C-83A1-F6EECF244321}">
                <p14:modId xmlns:p14="http://schemas.microsoft.com/office/powerpoint/2010/main" val="1654247187"/>
              </p:ext>
            </p:extLst>
          </p:nvPr>
        </p:nvGraphicFramePr>
        <p:xfrm>
          <a:off x="838200" y="1219200"/>
          <a:ext cx="7467600" cy="5137151"/>
        </p:xfrm>
        <a:graphic>
          <a:graphicData uri="http://schemas.openxmlformats.org/drawingml/2006/table">
            <a:tbl>
              <a:tblPr firstRow="1" bandRow="1">
                <a:tableStyleId>{2D5ABB26-0587-4C30-8999-92F81FD0307C}</a:tableStyleId>
              </a:tblPr>
              <a:tblGrid>
                <a:gridCol w="2675557"/>
                <a:gridCol w="4792043"/>
              </a:tblGrid>
              <a:tr h="433851">
                <a:tc>
                  <a:txBody>
                    <a:bodyPr/>
                    <a:lstStyle/>
                    <a:p>
                      <a:pPr algn="ctr"/>
                      <a:r>
                        <a:rPr lang="en-IN" sz="2000" b="0" i="0" u="none" strike="noStrike" kern="1200" baseline="0" dirty="0" smtClean="0">
                          <a:solidFill>
                            <a:schemeClr val="tx1"/>
                          </a:solidFill>
                          <a:latin typeface="+mn-lt"/>
                          <a:ea typeface="+mn-ea"/>
                          <a:cs typeface="+mn-cs"/>
                        </a:rPr>
                        <a:t>Factor</a:t>
                      </a:r>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b="0" i="0" u="none" strike="noStrike" kern="1200" baseline="0" dirty="0" smtClean="0">
                          <a:solidFill>
                            <a:schemeClr val="tx1"/>
                          </a:solidFill>
                          <a:latin typeface="+mn-lt"/>
                          <a:ea typeface="+mn-ea"/>
                          <a:cs typeface="+mn-cs"/>
                        </a:rPr>
                        <a:t>Consideration</a:t>
                      </a:r>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80042">
                <a:tc>
                  <a:txBody>
                    <a:bodyPr/>
                    <a:lstStyle/>
                    <a:p>
                      <a:pPr algn="ctr"/>
                      <a:r>
                        <a:rPr lang="en-IN" sz="1800" b="0" i="0" u="none" strike="noStrike" kern="1200" baseline="0" dirty="0" smtClean="0">
                          <a:solidFill>
                            <a:schemeClr val="tx1"/>
                          </a:solidFill>
                          <a:latin typeface="+mn-lt"/>
                          <a:ea typeface="+mn-ea"/>
                          <a:cs typeface="+mn-cs"/>
                        </a:rPr>
                        <a:t>Service conditions</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i="0" u="none" strike="noStrike" kern="1200" baseline="0" dirty="0" smtClean="0">
                          <a:solidFill>
                            <a:schemeClr val="tx1"/>
                          </a:solidFill>
                          <a:latin typeface="+mn-lt"/>
                          <a:ea typeface="+mn-ea"/>
                          <a:cs typeface="+mn-cs"/>
                        </a:rPr>
                        <a:t>Number of actuations during lifetime of gripper</a:t>
                      </a:r>
                    </a:p>
                    <a:p>
                      <a:r>
                        <a:rPr lang="en-IN" sz="1800" b="0" i="0" u="none" strike="noStrike" kern="1200" baseline="0" dirty="0" err="1" smtClean="0">
                          <a:solidFill>
                            <a:schemeClr val="tx1"/>
                          </a:solidFill>
                          <a:latin typeface="+mn-lt"/>
                          <a:ea typeface="+mn-ea"/>
                          <a:cs typeface="+mn-cs"/>
                        </a:rPr>
                        <a:t>Replaceabilty</a:t>
                      </a:r>
                      <a:r>
                        <a:rPr lang="en-IN" sz="1800" b="0" i="0" u="none" strike="noStrike" kern="1200" baseline="0" dirty="0" smtClean="0">
                          <a:solidFill>
                            <a:schemeClr val="tx1"/>
                          </a:solidFill>
                          <a:latin typeface="+mn-lt"/>
                          <a:ea typeface="+mn-ea"/>
                          <a:cs typeface="+mn-cs"/>
                        </a:rPr>
                        <a:t> of wear components (fingers)</a:t>
                      </a:r>
                    </a:p>
                    <a:p>
                      <a:r>
                        <a:rPr lang="en-IN" sz="1800" b="0" i="0" u="none" strike="noStrike" kern="1200" baseline="0" dirty="0" smtClean="0">
                          <a:solidFill>
                            <a:schemeClr val="tx1"/>
                          </a:solidFill>
                          <a:latin typeface="+mn-lt"/>
                          <a:ea typeface="+mn-ea"/>
                          <a:cs typeface="+mn-cs"/>
                        </a:rPr>
                        <a:t>Maintenance and serviceability</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711629">
                <a:tc>
                  <a:txBody>
                    <a:bodyPr/>
                    <a:lstStyle/>
                    <a:p>
                      <a:r>
                        <a:rPr lang="en-IN" sz="1800" b="0" i="0" u="none" strike="noStrike" kern="1200" baseline="0" dirty="0" smtClean="0">
                          <a:solidFill>
                            <a:schemeClr val="tx1"/>
                          </a:solidFill>
                          <a:latin typeface="+mn-lt"/>
                          <a:ea typeface="+mn-ea"/>
                          <a:cs typeface="+mn-cs"/>
                        </a:rPr>
                        <a:t>Operating environment</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i="0" u="none" strike="noStrike" kern="1200" baseline="0" dirty="0" smtClean="0">
                          <a:solidFill>
                            <a:schemeClr val="tx1"/>
                          </a:solidFill>
                          <a:latin typeface="+mn-lt"/>
                          <a:ea typeface="+mn-ea"/>
                          <a:cs typeface="+mn-cs"/>
                        </a:rPr>
                        <a:t>Heat and temperature</a:t>
                      </a:r>
                    </a:p>
                    <a:p>
                      <a:r>
                        <a:rPr lang="en-IN" sz="1800" b="0" i="0" u="none" strike="noStrike" kern="1200" baseline="0" dirty="0" smtClean="0">
                          <a:solidFill>
                            <a:schemeClr val="tx1"/>
                          </a:solidFill>
                          <a:latin typeface="+mn-lt"/>
                          <a:ea typeface="+mn-ea"/>
                          <a:cs typeface="+mn-cs"/>
                        </a:rPr>
                        <a:t>Humidity, moisture, dirt, chemicals</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711629">
                <a:tc>
                  <a:txBody>
                    <a:bodyPr/>
                    <a:lstStyle/>
                    <a:p>
                      <a:r>
                        <a:rPr lang="en-IN" sz="1800" b="0" i="0" u="none" strike="noStrike" kern="1200" baseline="0" dirty="0" smtClean="0">
                          <a:solidFill>
                            <a:schemeClr val="tx1"/>
                          </a:solidFill>
                          <a:latin typeface="+mn-lt"/>
                          <a:ea typeface="+mn-ea"/>
                          <a:cs typeface="+mn-cs"/>
                        </a:rPr>
                        <a:t>Temperature protection</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i="0" u="none" strike="noStrike" kern="1200" baseline="0" dirty="0" smtClean="0">
                          <a:solidFill>
                            <a:schemeClr val="tx1"/>
                          </a:solidFill>
                          <a:latin typeface="+mn-lt"/>
                          <a:ea typeface="+mn-ea"/>
                          <a:cs typeface="+mn-cs"/>
                        </a:rPr>
                        <a:t>Heat shields</a:t>
                      </a:r>
                    </a:p>
                    <a:p>
                      <a:r>
                        <a:rPr lang="en-IN" sz="1800" b="0" i="0" u="none" strike="noStrike" kern="1200" baseline="0" dirty="0" smtClean="0">
                          <a:solidFill>
                            <a:schemeClr val="tx1"/>
                          </a:solidFill>
                          <a:latin typeface="+mn-lt"/>
                          <a:ea typeface="+mn-ea"/>
                          <a:cs typeface="+mn-cs"/>
                        </a:rPr>
                        <a:t>Long fingers</a:t>
                      </a:r>
                    </a:p>
                    <a:p>
                      <a:r>
                        <a:rPr lang="en-IN" sz="1800" b="0" i="0" u="none" strike="noStrike" kern="1200" baseline="0" dirty="0" smtClean="0">
                          <a:solidFill>
                            <a:schemeClr val="tx1"/>
                          </a:solidFill>
                          <a:latin typeface="+mn-lt"/>
                          <a:ea typeface="+mn-ea"/>
                          <a:cs typeface="+mn-cs"/>
                        </a:rPr>
                        <a:t>Forced cooling (compressed air, water cooling, etc.)</a:t>
                      </a:r>
                    </a:p>
                    <a:p>
                      <a:r>
                        <a:rPr lang="en-IN" sz="1800" b="0" i="0" u="none" strike="noStrike" kern="1200" baseline="0" dirty="0" smtClean="0">
                          <a:solidFill>
                            <a:schemeClr val="tx1"/>
                          </a:solidFill>
                          <a:latin typeface="+mn-lt"/>
                          <a:ea typeface="+mn-ea"/>
                          <a:cs typeface="+mn-cs"/>
                        </a:rPr>
                        <a:t>Use of heat-resistant materials</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8" name="Title 1"/>
          <p:cNvSpPr txBox="1">
            <a:spLocks/>
          </p:cNvSpPr>
          <p:nvPr/>
        </p:nvSpPr>
        <p:spPr>
          <a:xfrm>
            <a:off x="1985870" y="152400"/>
            <a:ext cx="6700930" cy="1066800"/>
          </a:xfrm>
          <a:prstGeom prst="rect">
            <a:avLst/>
          </a:prstGeom>
        </p:spPr>
        <p:txBody>
          <a:bodyPr>
            <a:normAutofit/>
          </a:bodyPr>
          <a:lstStyle>
            <a:lvl1pPr algn="ctr" defTabSz="914400" rtl="0" eaLnBrk="1" latinLnBrk="0" hangingPunct="1">
              <a:spcBef>
                <a:spcPct val="0"/>
              </a:spcBef>
              <a:buNone/>
              <a:defRPr sz="4000" kern="1200">
                <a:solidFill>
                  <a:schemeClr val="tx1"/>
                </a:solidFill>
                <a:latin typeface="+mj-lt"/>
                <a:ea typeface="+mj-ea"/>
                <a:cs typeface="+mj-cs"/>
              </a:defRPr>
            </a:lvl1pPr>
          </a:lstStyle>
          <a:p>
            <a:r>
              <a:rPr lang="en-US" sz="3200" smtClean="0">
                <a:solidFill>
                  <a:srgbClr val="0070C0"/>
                </a:solidFill>
              </a:rPr>
              <a:t>Checklist of factors in the selection and design of grippers</a:t>
            </a:r>
            <a:endParaRPr lang="en-IN" sz="3200" dirty="0">
              <a:solidFill>
                <a:srgbClr val="0070C0"/>
              </a:solidFill>
            </a:endParaRPr>
          </a:p>
        </p:txBody>
      </p:sp>
    </p:spTree>
    <p:extLst>
      <p:ext uri="{BB962C8B-B14F-4D97-AF65-F5344CB8AC3E}">
        <p14:creationId xmlns:p14="http://schemas.microsoft.com/office/powerpoint/2010/main" val="188252469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2B8110-06CC-4786-AE04-3E48ED80A603}" type="datetime1">
              <a:rPr lang="en-US" smtClean="0"/>
              <a:t>10/30/2020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F94EDD-D845-48AB-B01E-E1FCDA2D3009}" type="slidenum">
              <a:rPr lang="en-IN" smtClean="0"/>
              <a:pPr/>
              <a:t>129</a:t>
            </a:fld>
            <a:endParaRPr lang="en-IN"/>
          </a:p>
        </p:txBody>
      </p:sp>
      <p:graphicFrame>
        <p:nvGraphicFramePr>
          <p:cNvPr id="5" name="Table 4"/>
          <p:cNvGraphicFramePr>
            <a:graphicFrameLocks noGrp="1"/>
          </p:cNvGraphicFramePr>
          <p:nvPr>
            <p:extLst>
              <p:ext uri="{D42A27DB-BD31-4B8C-83A1-F6EECF244321}">
                <p14:modId xmlns:p14="http://schemas.microsoft.com/office/powerpoint/2010/main" val="2602956793"/>
              </p:ext>
            </p:extLst>
          </p:nvPr>
        </p:nvGraphicFramePr>
        <p:xfrm>
          <a:off x="838200" y="1219200"/>
          <a:ext cx="7467600" cy="4182891"/>
        </p:xfrm>
        <a:graphic>
          <a:graphicData uri="http://schemas.openxmlformats.org/drawingml/2006/table">
            <a:tbl>
              <a:tblPr firstRow="1" bandRow="1">
                <a:tableStyleId>{2D5ABB26-0587-4C30-8999-92F81FD0307C}</a:tableStyleId>
              </a:tblPr>
              <a:tblGrid>
                <a:gridCol w="2675557"/>
                <a:gridCol w="4792043"/>
              </a:tblGrid>
              <a:tr h="433851">
                <a:tc>
                  <a:txBody>
                    <a:bodyPr/>
                    <a:lstStyle/>
                    <a:p>
                      <a:pPr algn="ctr"/>
                      <a:r>
                        <a:rPr lang="en-IN" sz="2000" b="0" i="0" u="none" strike="noStrike" kern="1200" baseline="0" dirty="0" smtClean="0">
                          <a:solidFill>
                            <a:schemeClr val="tx1"/>
                          </a:solidFill>
                          <a:latin typeface="+mn-lt"/>
                          <a:ea typeface="+mn-ea"/>
                          <a:cs typeface="+mn-cs"/>
                        </a:rPr>
                        <a:t>Factor</a:t>
                      </a:r>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b="0" i="0" u="none" strike="noStrike" kern="1200" baseline="0" dirty="0" smtClean="0">
                          <a:solidFill>
                            <a:schemeClr val="tx1"/>
                          </a:solidFill>
                          <a:latin typeface="+mn-lt"/>
                          <a:ea typeface="+mn-ea"/>
                          <a:cs typeface="+mn-cs"/>
                        </a:rPr>
                        <a:t>Consideration</a:t>
                      </a:r>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80042">
                <a:tc>
                  <a:txBody>
                    <a:bodyPr/>
                    <a:lstStyle/>
                    <a:p>
                      <a:pPr algn="ctr"/>
                      <a:r>
                        <a:rPr lang="en-IN" sz="1800" b="0" i="0" u="none" strike="noStrike" kern="1200" baseline="0" dirty="0" smtClean="0">
                          <a:solidFill>
                            <a:schemeClr val="tx1"/>
                          </a:solidFill>
                          <a:latin typeface="+mn-lt"/>
                          <a:ea typeface="+mn-ea"/>
                          <a:cs typeface="+mn-cs"/>
                        </a:rPr>
                        <a:t>Fabrication materials</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i="0" u="none" strike="noStrike" kern="1200" baseline="0" dirty="0" smtClean="0">
                          <a:solidFill>
                            <a:schemeClr val="tx1"/>
                          </a:solidFill>
                          <a:latin typeface="+mn-lt"/>
                          <a:ea typeface="+mn-ea"/>
                          <a:cs typeface="+mn-cs"/>
                        </a:rPr>
                        <a:t>Strength, rigidity, durability</a:t>
                      </a:r>
                    </a:p>
                    <a:p>
                      <a:r>
                        <a:rPr lang="en-IN" sz="1800" b="0" i="0" u="none" strike="noStrike" kern="1200" baseline="0" dirty="0" smtClean="0">
                          <a:solidFill>
                            <a:schemeClr val="tx1"/>
                          </a:solidFill>
                          <a:latin typeface="+mn-lt"/>
                          <a:ea typeface="+mn-ea"/>
                          <a:cs typeface="+mn-cs"/>
                        </a:rPr>
                        <a:t>Fatigue strength</a:t>
                      </a:r>
                    </a:p>
                    <a:p>
                      <a:r>
                        <a:rPr lang="en-IN" sz="1800" b="0" i="0" u="none" strike="noStrike" kern="1200" baseline="0" dirty="0" smtClean="0">
                          <a:solidFill>
                            <a:schemeClr val="tx1"/>
                          </a:solidFill>
                          <a:latin typeface="+mn-lt"/>
                          <a:ea typeface="+mn-ea"/>
                          <a:cs typeface="+mn-cs"/>
                        </a:rPr>
                        <a:t>Cost and ease of fabrication</a:t>
                      </a:r>
                    </a:p>
                    <a:p>
                      <a:r>
                        <a:rPr lang="en-IN" sz="1800" b="0" i="0" u="none" strike="noStrike" kern="1200" baseline="0" dirty="0" smtClean="0">
                          <a:solidFill>
                            <a:schemeClr val="tx1"/>
                          </a:solidFill>
                          <a:latin typeface="+mn-lt"/>
                          <a:ea typeface="+mn-ea"/>
                          <a:cs typeface="+mn-cs"/>
                        </a:rPr>
                        <a:t>Friction properties for finger surfaces</a:t>
                      </a:r>
                    </a:p>
                    <a:p>
                      <a:r>
                        <a:rPr lang="en-IN" sz="1800" b="0" i="0" u="none" strike="noStrike" kern="1200" baseline="0" dirty="0" smtClean="0">
                          <a:solidFill>
                            <a:schemeClr val="tx1"/>
                          </a:solidFill>
                          <a:latin typeface="+mn-lt"/>
                          <a:ea typeface="+mn-ea"/>
                          <a:cs typeface="+mn-cs"/>
                        </a:rPr>
                        <a:t>Compatibility with operating environment</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711629">
                <a:tc>
                  <a:txBody>
                    <a:bodyPr/>
                    <a:lstStyle/>
                    <a:p>
                      <a:r>
                        <a:rPr lang="en-IN" sz="1800" b="0" i="0" u="none" strike="noStrike" kern="1200" baseline="0" dirty="0" smtClean="0">
                          <a:solidFill>
                            <a:schemeClr val="tx1"/>
                          </a:solidFill>
                          <a:latin typeface="+mn-lt"/>
                          <a:ea typeface="+mn-ea"/>
                          <a:cs typeface="+mn-cs"/>
                        </a:rPr>
                        <a:t>Other considerations</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i="0" u="none" strike="noStrike" kern="1200" baseline="0" dirty="0" smtClean="0">
                          <a:solidFill>
                            <a:schemeClr val="tx1"/>
                          </a:solidFill>
                          <a:latin typeface="+mn-lt"/>
                          <a:ea typeface="+mn-ea"/>
                          <a:cs typeface="+mn-cs"/>
                        </a:rPr>
                        <a:t>Use of interchangeable fingers</a:t>
                      </a:r>
                    </a:p>
                    <a:p>
                      <a:r>
                        <a:rPr lang="en-IN" sz="1800" b="0" i="0" u="none" strike="noStrike" kern="1200" baseline="0" dirty="0" smtClean="0">
                          <a:solidFill>
                            <a:schemeClr val="tx1"/>
                          </a:solidFill>
                          <a:latin typeface="+mn-lt"/>
                          <a:ea typeface="+mn-ea"/>
                          <a:cs typeface="+mn-cs"/>
                        </a:rPr>
                        <a:t>Design standards</a:t>
                      </a:r>
                    </a:p>
                    <a:p>
                      <a:r>
                        <a:rPr lang="en-IN" sz="1800" b="0" i="0" u="none" strike="noStrike" kern="1200" baseline="0" dirty="0" smtClean="0">
                          <a:solidFill>
                            <a:schemeClr val="tx1"/>
                          </a:solidFill>
                          <a:latin typeface="+mn-lt"/>
                          <a:ea typeface="+mn-ea"/>
                          <a:cs typeface="+mn-cs"/>
                        </a:rPr>
                        <a:t>Mounting connections and interfacing with robot</a:t>
                      </a:r>
                    </a:p>
                    <a:p>
                      <a:r>
                        <a:rPr lang="en-IN" sz="1800" b="0" i="0" u="none" strike="noStrike" kern="1200" baseline="0" dirty="0" smtClean="0">
                          <a:solidFill>
                            <a:schemeClr val="tx1"/>
                          </a:solidFill>
                          <a:latin typeface="+mn-lt"/>
                          <a:ea typeface="+mn-ea"/>
                          <a:cs typeface="+mn-cs"/>
                        </a:rPr>
                        <a:t>Risk of product design changes and their effect on the</a:t>
                      </a:r>
                    </a:p>
                    <a:p>
                      <a:r>
                        <a:rPr lang="en-IN" sz="1800" b="0" i="0" u="none" strike="noStrike" kern="1200" baseline="0" dirty="0" smtClean="0">
                          <a:solidFill>
                            <a:schemeClr val="tx1"/>
                          </a:solidFill>
                          <a:latin typeface="+mn-lt"/>
                          <a:ea typeface="+mn-ea"/>
                          <a:cs typeface="+mn-cs"/>
                        </a:rPr>
                        <a:t>gripper design</a:t>
                      </a:r>
                    </a:p>
                    <a:p>
                      <a:r>
                        <a:rPr lang="en-IN" sz="1800" b="0" i="0" u="none" strike="noStrike" kern="1200" baseline="0" dirty="0" smtClean="0">
                          <a:solidFill>
                            <a:schemeClr val="tx1"/>
                          </a:solidFill>
                          <a:latin typeface="+mn-lt"/>
                          <a:ea typeface="+mn-ea"/>
                          <a:cs typeface="+mn-cs"/>
                        </a:rPr>
                        <a:t>Lead time for design and fabrication</a:t>
                      </a:r>
                    </a:p>
                    <a:p>
                      <a:r>
                        <a:rPr lang="en-IN" sz="1800" b="0" i="0" u="none" strike="noStrike" kern="1200" baseline="0" dirty="0" smtClean="0">
                          <a:solidFill>
                            <a:schemeClr val="tx1"/>
                          </a:solidFill>
                          <a:latin typeface="+mn-lt"/>
                          <a:ea typeface="+mn-ea"/>
                          <a:cs typeface="+mn-cs"/>
                        </a:rPr>
                        <a:t>Spare parts. maintenance, and service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Title 1"/>
          <p:cNvSpPr txBox="1">
            <a:spLocks/>
          </p:cNvSpPr>
          <p:nvPr/>
        </p:nvSpPr>
        <p:spPr>
          <a:xfrm>
            <a:off x="1985870" y="152400"/>
            <a:ext cx="6700930" cy="1066800"/>
          </a:xfrm>
          <a:prstGeom prst="rect">
            <a:avLst/>
          </a:prstGeom>
        </p:spPr>
        <p:txBody>
          <a:bodyPr>
            <a:normAutofit/>
          </a:bodyPr>
          <a:lstStyle>
            <a:lvl1pPr algn="ctr" defTabSz="914400" rtl="0" eaLnBrk="1" latinLnBrk="0" hangingPunct="1">
              <a:spcBef>
                <a:spcPct val="0"/>
              </a:spcBef>
              <a:buNone/>
              <a:defRPr sz="4000" kern="1200">
                <a:solidFill>
                  <a:schemeClr val="tx1"/>
                </a:solidFill>
                <a:latin typeface="+mj-lt"/>
                <a:ea typeface="+mj-ea"/>
                <a:cs typeface="+mj-cs"/>
              </a:defRPr>
            </a:lvl1pPr>
          </a:lstStyle>
          <a:p>
            <a:r>
              <a:rPr lang="en-US" sz="3200" smtClean="0">
                <a:solidFill>
                  <a:srgbClr val="0070C0"/>
                </a:solidFill>
              </a:rPr>
              <a:t>Checklist of factors in the selection and design of grippers</a:t>
            </a:r>
            <a:endParaRPr lang="en-IN" sz="3200" dirty="0">
              <a:solidFill>
                <a:srgbClr val="0070C0"/>
              </a:solidFill>
            </a:endParaRPr>
          </a:p>
        </p:txBody>
      </p:sp>
    </p:spTree>
    <p:extLst>
      <p:ext uri="{BB962C8B-B14F-4D97-AF65-F5344CB8AC3E}">
        <p14:creationId xmlns:p14="http://schemas.microsoft.com/office/powerpoint/2010/main" val="8277698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IN" dirty="0"/>
              <a:t>General architecture of a robotic mechanical system</a:t>
            </a:r>
          </a:p>
        </p:txBody>
      </p:sp>
      <p:sp>
        <p:nvSpPr>
          <p:cNvPr id="4" name="Date Placeholder 3"/>
          <p:cNvSpPr>
            <a:spLocks noGrp="1"/>
          </p:cNvSpPr>
          <p:nvPr>
            <p:ph type="dt" sz="half" idx="10"/>
          </p:nvPr>
        </p:nvSpPr>
        <p:spPr/>
        <p:txBody>
          <a:bodyPr/>
          <a:lstStyle/>
          <a:p>
            <a:fld id="{ED7F517A-009C-4F0D-887E-4ABC8F64B6DC}" type="datetime1">
              <a:rPr lang="en-US" smtClean="0"/>
              <a:t>10/29/2020</a:t>
            </a:fld>
            <a:endParaRPr lang="en-IN"/>
          </a:p>
        </p:txBody>
      </p:sp>
      <p:sp>
        <p:nvSpPr>
          <p:cNvPr id="6" name="Footer Placeholder 5"/>
          <p:cNvSpPr>
            <a:spLocks noGrp="1"/>
          </p:cNvSpPr>
          <p:nvPr>
            <p:ph type="ftr" sz="quarter" idx="11"/>
          </p:nvPr>
        </p:nvSpPr>
        <p:spPr/>
        <p:txBody>
          <a:bodyPr/>
          <a:lstStyle/>
          <a:p>
            <a:r>
              <a:rPr lang="en-IN" dirty="0"/>
              <a:t>Fundamentals of Robotic</a:t>
            </a:r>
          </a:p>
          <a:p>
            <a:r>
              <a:rPr lang="en-IN" dirty="0"/>
              <a:t>Mechanical </a:t>
            </a:r>
            <a:r>
              <a:rPr lang="en-IN" dirty="0" smtClean="0"/>
              <a:t>Systems by </a:t>
            </a:r>
            <a:r>
              <a:rPr lang="en-IN" dirty="0"/>
              <a:t>Jorge Angeles</a:t>
            </a:r>
          </a:p>
        </p:txBody>
      </p:sp>
      <p:sp>
        <p:nvSpPr>
          <p:cNvPr id="5" name="Slide Number Placeholder 4"/>
          <p:cNvSpPr>
            <a:spLocks noGrp="1"/>
          </p:cNvSpPr>
          <p:nvPr>
            <p:ph type="sldNum" sz="quarter" idx="12"/>
          </p:nvPr>
        </p:nvSpPr>
        <p:spPr/>
        <p:txBody>
          <a:bodyPr/>
          <a:lstStyle/>
          <a:p>
            <a:fld id="{41F94EDD-D845-48AB-B01E-E1FCDA2D3009}" type="slidenum">
              <a:rPr lang="en-IN" smtClean="0"/>
              <a:pPr/>
              <a:t>130</a:t>
            </a:fld>
            <a:endParaRPr lang="en-IN"/>
          </a:p>
        </p:txBody>
      </p:sp>
      <p:pic>
        <p:nvPicPr>
          <p:cNvPr id="8" name="Picture 7"/>
          <p:cNvPicPr>
            <a:picLocks noChangeAspect="1"/>
          </p:cNvPicPr>
          <p:nvPr/>
        </p:nvPicPr>
        <p:blipFill>
          <a:blip r:embed="rId2"/>
          <a:stretch>
            <a:fillRect/>
          </a:stretch>
        </p:blipFill>
        <p:spPr>
          <a:xfrm>
            <a:off x="457200" y="1523999"/>
            <a:ext cx="8229600" cy="2892325"/>
          </a:xfrm>
          <a:prstGeom prst="rect">
            <a:avLst/>
          </a:prstGeom>
        </p:spPr>
      </p:pic>
      <p:pic>
        <p:nvPicPr>
          <p:cNvPr id="9" name="Picture 8"/>
          <p:cNvPicPr>
            <a:picLocks noChangeAspect="1"/>
          </p:cNvPicPr>
          <p:nvPr/>
        </p:nvPicPr>
        <p:blipFill>
          <a:blip r:embed="rId3"/>
          <a:stretch>
            <a:fillRect/>
          </a:stretch>
        </p:blipFill>
        <p:spPr>
          <a:xfrm>
            <a:off x="1222906" y="4572000"/>
            <a:ext cx="5331543" cy="1267447"/>
          </a:xfrm>
          <a:prstGeom prst="rect">
            <a:avLst/>
          </a:prstGeom>
        </p:spPr>
      </p:pic>
    </p:spTree>
    <p:extLst>
      <p:ext uri="{BB962C8B-B14F-4D97-AF65-F5344CB8AC3E}">
        <p14:creationId xmlns:p14="http://schemas.microsoft.com/office/powerpoint/2010/main" val="291693151"/>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CLASSIFICATION OF ROBOTICS</a:t>
            </a:r>
            <a:endParaRPr lang="en-IN" dirty="0"/>
          </a:p>
        </p:txBody>
      </p:sp>
      <p:sp>
        <p:nvSpPr>
          <p:cNvPr id="3" name="Date Placeholder 2"/>
          <p:cNvSpPr>
            <a:spLocks noGrp="1"/>
          </p:cNvSpPr>
          <p:nvPr>
            <p:ph type="dt" sz="half" idx="10"/>
          </p:nvPr>
        </p:nvSpPr>
        <p:spPr/>
        <p:txBody>
          <a:bodyPr/>
          <a:lstStyle/>
          <a:p>
            <a:fld id="{6014993A-7C1F-4C33-ADBE-8B4BB8E29E7A}" type="datetime1">
              <a:rPr lang="en-US" smtClean="0">
                <a:solidFill>
                  <a:prstClr val="black">
                    <a:tint val="75000"/>
                  </a:prstClr>
                </a:solidFill>
              </a:rPr>
              <a:t>10/29/2020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5191DE1-7F5A-44CD-9F3E-A95E2D010AEE}" type="slidenum">
              <a:rPr lang="en-US" smtClean="0">
                <a:solidFill>
                  <a:prstClr val="black">
                    <a:tint val="75000"/>
                  </a:prstClr>
                </a:solidFill>
              </a:rPr>
              <a:pPr/>
              <a:t>131</a:t>
            </a:fld>
            <a:endParaRPr lang="en-US">
              <a:solidFill>
                <a:prstClr val="black">
                  <a:tint val="75000"/>
                </a:prstClr>
              </a:solidFill>
            </a:endParaRPr>
          </a:p>
        </p:txBody>
      </p:sp>
      <p:sp>
        <p:nvSpPr>
          <p:cNvPr id="6" name="Rectangle 5"/>
          <p:cNvSpPr/>
          <p:nvPr/>
        </p:nvSpPr>
        <p:spPr>
          <a:xfrm>
            <a:off x="1524000" y="1828800"/>
            <a:ext cx="5334000" cy="2031325"/>
          </a:xfrm>
          <a:prstGeom prst="rect">
            <a:avLst/>
          </a:prstGeom>
        </p:spPr>
        <p:txBody>
          <a:bodyPr wrap="square">
            <a:spAutoFit/>
          </a:bodyPr>
          <a:lstStyle/>
          <a:p>
            <a:r>
              <a:rPr lang="en-IN" sz="1200" dirty="0">
                <a:solidFill>
                  <a:srgbClr val="818181"/>
                </a:solidFill>
                <a:latin typeface="ZapfDingbatsITC"/>
              </a:rPr>
              <a:t>■ </a:t>
            </a:r>
            <a:r>
              <a:rPr lang="en-IN" dirty="0">
                <a:solidFill>
                  <a:srgbClr val="000000"/>
                </a:solidFill>
                <a:latin typeface="NewCaledonia"/>
              </a:rPr>
              <a:t>Robotic Manipulator</a:t>
            </a:r>
          </a:p>
          <a:p>
            <a:r>
              <a:rPr lang="en-IN" sz="1200" dirty="0">
                <a:solidFill>
                  <a:srgbClr val="818181"/>
                </a:solidFill>
                <a:latin typeface="ZapfDingbatsITC"/>
              </a:rPr>
              <a:t>■ </a:t>
            </a:r>
            <a:r>
              <a:rPr lang="en-IN" dirty="0">
                <a:solidFill>
                  <a:srgbClr val="000000"/>
                </a:solidFill>
                <a:latin typeface="NewCaledonia"/>
              </a:rPr>
              <a:t>Wheeled Mobile Robots (WMR)</a:t>
            </a:r>
          </a:p>
          <a:p>
            <a:r>
              <a:rPr lang="en-IN" sz="1200" dirty="0">
                <a:solidFill>
                  <a:srgbClr val="818181"/>
                </a:solidFill>
                <a:latin typeface="ZapfDingbatsITC"/>
              </a:rPr>
              <a:t>■ </a:t>
            </a:r>
            <a:r>
              <a:rPr lang="en-IN" dirty="0">
                <a:solidFill>
                  <a:srgbClr val="000000"/>
                </a:solidFill>
                <a:latin typeface="NewCaledonia"/>
              </a:rPr>
              <a:t>Legged Robots</a:t>
            </a:r>
          </a:p>
          <a:p>
            <a:r>
              <a:rPr lang="en-IN" sz="1200" dirty="0">
                <a:solidFill>
                  <a:srgbClr val="818181"/>
                </a:solidFill>
                <a:latin typeface="ZapfDingbatsITC"/>
              </a:rPr>
              <a:t>■ </a:t>
            </a:r>
            <a:r>
              <a:rPr lang="en-IN" dirty="0">
                <a:solidFill>
                  <a:srgbClr val="000000"/>
                </a:solidFill>
                <a:latin typeface="NewCaledonia"/>
              </a:rPr>
              <a:t>Underwater Robots and Flying Robots</a:t>
            </a:r>
          </a:p>
          <a:p>
            <a:r>
              <a:rPr lang="en-IN" sz="1200" dirty="0">
                <a:solidFill>
                  <a:srgbClr val="818181"/>
                </a:solidFill>
                <a:latin typeface="ZapfDingbatsITC"/>
              </a:rPr>
              <a:t>■ </a:t>
            </a:r>
            <a:r>
              <a:rPr lang="en-IN" dirty="0">
                <a:solidFill>
                  <a:srgbClr val="000000"/>
                </a:solidFill>
                <a:latin typeface="NewCaledonia"/>
              </a:rPr>
              <a:t>Robot Vision</a:t>
            </a:r>
          </a:p>
          <a:p>
            <a:r>
              <a:rPr lang="en-IN" sz="1200" dirty="0">
                <a:solidFill>
                  <a:srgbClr val="818181"/>
                </a:solidFill>
                <a:latin typeface="ZapfDingbatsITC"/>
              </a:rPr>
              <a:t>■ </a:t>
            </a:r>
            <a:r>
              <a:rPr lang="en-IN" dirty="0" smtClean="0">
                <a:solidFill>
                  <a:srgbClr val="000000"/>
                </a:solidFill>
                <a:latin typeface="NewCaledonia"/>
              </a:rPr>
              <a:t>Artificial </a:t>
            </a:r>
            <a:r>
              <a:rPr lang="en-IN" dirty="0">
                <a:solidFill>
                  <a:srgbClr val="000000"/>
                </a:solidFill>
                <a:latin typeface="NewCaledonia"/>
              </a:rPr>
              <a:t>Intelligence</a:t>
            </a:r>
          </a:p>
          <a:p>
            <a:r>
              <a:rPr lang="en-IN" sz="1200" dirty="0">
                <a:solidFill>
                  <a:srgbClr val="818181"/>
                </a:solidFill>
                <a:latin typeface="ZapfDingbatsITC"/>
              </a:rPr>
              <a:t>■ </a:t>
            </a:r>
            <a:r>
              <a:rPr lang="en-IN" dirty="0">
                <a:solidFill>
                  <a:srgbClr val="000000"/>
                </a:solidFill>
                <a:latin typeface="NewCaledonia"/>
              </a:rPr>
              <a:t>Industrial Automation</a:t>
            </a:r>
            <a:endParaRPr lang="en-IN" dirty="0"/>
          </a:p>
        </p:txBody>
      </p:sp>
    </p:spTree>
    <p:extLst>
      <p:ext uri="{BB962C8B-B14F-4D97-AF65-F5344CB8AC3E}">
        <p14:creationId xmlns:p14="http://schemas.microsoft.com/office/powerpoint/2010/main" val="2678940970"/>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Industrial Robot Applications</a:t>
            </a:r>
            <a:endParaRPr lang="en-IN" dirty="0"/>
          </a:p>
        </p:txBody>
      </p:sp>
      <p:sp>
        <p:nvSpPr>
          <p:cNvPr id="3" name="Date Placeholder 2"/>
          <p:cNvSpPr>
            <a:spLocks noGrp="1"/>
          </p:cNvSpPr>
          <p:nvPr>
            <p:ph type="dt" sz="half" idx="10"/>
          </p:nvPr>
        </p:nvSpPr>
        <p:spPr/>
        <p:txBody>
          <a:bodyPr/>
          <a:lstStyle/>
          <a:p>
            <a:fld id="{6014993A-7C1F-4C33-ADBE-8B4BB8E29E7A}" type="datetime1">
              <a:rPr lang="en-US" smtClean="0">
                <a:solidFill>
                  <a:prstClr val="black">
                    <a:tint val="75000"/>
                  </a:prstClr>
                </a:solidFill>
              </a:rPr>
              <a:t>10/29/2020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5191DE1-7F5A-44CD-9F3E-A95E2D010AEE}" type="slidenum">
              <a:rPr lang="en-US" smtClean="0">
                <a:solidFill>
                  <a:prstClr val="black">
                    <a:tint val="75000"/>
                  </a:prstClr>
                </a:solidFill>
              </a:rPr>
              <a:pPr/>
              <a:t>132</a:t>
            </a:fld>
            <a:endParaRPr lang="en-US">
              <a:solidFill>
                <a:prstClr val="black">
                  <a:tint val="75000"/>
                </a:prstClr>
              </a:solidFill>
            </a:endParaRPr>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573909" y="1219200"/>
            <a:ext cx="6306330" cy="4648200"/>
          </a:xfrm>
          <a:prstGeom prst="rect">
            <a:avLst/>
          </a:prstGeom>
        </p:spPr>
      </p:pic>
    </p:spTree>
    <p:extLst>
      <p:ext uri="{BB962C8B-B14F-4D97-AF65-F5344CB8AC3E}">
        <p14:creationId xmlns:p14="http://schemas.microsoft.com/office/powerpoint/2010/main" val="421600342"/>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11625</TotalTime>
  <Words>4198</Words>
  <Application>Microsoft Office PowerPoint</Application>
  <PresentationFormat>On-screen Show (4:3)</PresentationFormat>
  <Paragraphs>762</Paragraphs>
  <Slides>132</Slides>
  <Notes>52</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132</vt:i4>
      </vt:variant>
    </vt:vector>
  </HeadingPairs>
  <TitlesOfParts>
    <vt:vector size="145" baseType="lpstr">
      <vt:lpstr>Arial</vt:lpstr>
      <vt:lpstr>Bell MT</vt:lpstr>
      <vt:lpstr>Calibri</vt:lpstr>
      <vt:lpstr>Courier New</vt:lpstr>
      <vt:lpstr>Garamond</vt:lpstr>
      <vt:lpstr>NewCaledonia</vt:lpstr>
      <vt:lpstr>Times New Roman</vt:lpstr>
      <vt:lpstr>Wingdings</vt:lpstr>
      <vt:lpstr>Wingdings 2</vt:lpstr>
      <vt:lpstr>ZapfDingbatsITC</vt:lpstr>
      <vt:lpstr>1_Office Theme</vt:lpstr>
      <vt:lpstr>Custom Design</vt:lpstr>
      <vt:lpstr>Bitmap Image</vt:lpstr>
      <vt:lpstr>20MEC521J Fundamentals of Robotic systems Unit I </vt:lpstr>
      <vt:lpstr>Unit I</vt:lpstr>
      <vt:lpstr>PowerPoint Presentation</vt:lpstr>
      <vt:lpstr>Definition – (International Organization for Standardization -ISO): </vt:lpstr>
      <vt:lpstr>To qualify as a robot, a machine must be able to: </vt:lpstr>
      <vt:lpstr>Three Laws of Robotics</vt:lpstr>
      <vt:lpstr>Components of robotic system</vt:lpstr>
      <vt:lpstr>Serial Manipulator </vt:lpstr>
      <vt:lpstr>Parallel Manipulator </vt:lpstr>
      <vt:lpstr>Robot Anatomy</vt:lpstr>
      <vt:lpstr>Robot Anatomy</vt:lpstr>
      <vt:lpstr>Degrees of freedom (DOF)</vt:lpstr>
      <vt:lpstr>The Robotic Joints </vt:lpstr>
      <vt:lpstr>The Robotic Joints</vt:lpstr>
      <vt:lpstr>The Robotic Joints</vt:lpstr>
      <vt:lpstr>The Robotic Joints</vt:lpstr>
      <vt:lpstr>PowerPoint Presentation</vt:lpstr>
      <vt:lpstr>Mechanical Joints for Robots</vt:lpstr>
      <vt:lpstr>Translational Motion Joints</vt:lpstr>
      <vt:lpstr>Translational Motion Joints</vt:lpstr>
      <vt:lpstr>Rotary motion</vt:lpstr>
      <vt:lpstr>Rotary motion</vt:lpstr>
      <vt:lpstr>Rotary motion</vt:lpstr>
      <vt:lpstr>Constraints???</vt:lpstr>
      <vt:lpstr>DOF??</vt:lpstr>
      <vt:lpstr>PowerPoint Presentation</vt:lpstr>
      <vt:lpstr>PowerPoint Presentation</vt:lpstr>
      <vt:lpstr>PowerPoint Presentation</vt:lpstr>
      <vt:lpstr>Name the joints?  DOF? </vt:lpstr>
      <vt:lpstr>DOF</vt:lpstr>
      <vt:lpstr>PowerPoint Presentation</vt:lpstr>
      <vt:lpstr>Exercise</vt:lpstr>
      <vt:lpstr>PowerPoint Presentation</vt:lpstr>
      <vt:lpstr>PowerPoint Presentation</vt:lpstr>
      <vt:lpstr>Joint representations</vt:lpstr>
      <vt:lpstr>Can you name the common coordinate systems in robots????</vt:lpstr>
      <vt:lpstr>Robot Body-and-Arm Configurations</vt:lpstr>
      <vt:lpstr>Work volume (Work envelope)</vt:lpstr>
      <vt:lpstr>ROBOT CLASSIFICATION</vt:lpstr>
      <vt:lpstr>PowerPoint Presentation</vt:lpstr>
      <vt:lpstr>PowerPoint Presentation</vt:lpstr>
      <vt:lpstr>PowerPoint Presentation</vt:lpstr>
      <vt:lpstr>Cartesian Robot - Work Envelope</vt:lpstr>
      <vt:lpstr>Can you draw Orthogonal-coordinate type robot?  (Symbolic representation)</vt:lpstr>
      <vt:lpstr>Cylindrical coordinate</vt:lpstr>
      <vt:lpstr>PowerPoint Presentation</vt:lpstr>
      <vt:lpstr>Cylindrical Robot - Work Envelope</vt:lpstr>
      <vt:lpstr>Can you draw Cylindrical-coordinate type robot?  (Symbolic representation)</vt:lpstr>
      <vt:lpstr>Polar Coordinate  Body-and-Arm Assembly</vt:lpstr>
      <vt:lpstr>Spherical/Polar Robots</vt:lpstr>
      <vt:lpstr>PowerPoint Presentation</vt:lpstr>
      <vt:lpstr>Spherical Robot - Work Envelope</vt:lpstr>
      <vt:lpstr>Can you draw Polar-coordinate type robot?  (Symbolic representation)</vt:lpstr>
      <vt:lpstr>ROBOT CLASSIFICATION</vt:lpstr>
      <vt:lpstr>PowerPoint Presentation</vt:lpstr>
      <vt:lpstr>PowerPoint Presentation</vt:lpstr>
      <vt:lpstr>Joint-arm Configuration</vt:lpstr>
      <vt:lpstr>Joint-arm Configuration</vt:lpstr>
      <vt:lpstr>PowerPoint Presentation</vt:lpstr>
      <vt:lpstr>PowerPoint Presentation</vt:lpstr>
      <vt:lpstr>Can you draw Jointed Arm type robot?  (Symbolic representation)</vt:lpstr>
      <vt:lpstr>PowerPoint Presentation</vt:lpstr>
      <vt:lpstr>PowerPoint Presentation</vt:lpstr>
      <vt:lpstr>PowerPoint Presentation</vt:lpstr>
      <vt:lpstr>PowerPoint Presentation</vt:lpstr>
      <vt:lpstr>PowerPoint Presentation</vt:lpstr>
      <vt:lpstr>Working Envelope </vt:lpstr>
      <vt:lpstr>PowerPoint Presentation</vt:lpstr>
      <vt:lpstr>Wrist Configurations</vt:lpstr>
      <vt:lpstr>Six basic robot motions are ???</vt:lpstr>
      <vt:lpstr>PowerPoint Presentation</vt:lpstr>
      <vt:lpstr>Spatial Resolution</vt:lpstr>
      <vt:lpstr>Spatial Resolution</vt:lpstr>
      <vt:lpstr>PowerPoint Presentation</vt:lpstr>
      <vt:lpstr>PowerPoint Presentation</vt:lpstr>
      <vt:lpstr>Accuracy</vt:lpstr>
      <vt:lpstr>PowerPoint Presentation</vt:lpstr>
      <vt:lpstr>Repeatability</vt:lpstr>
      <vt:lpstr>PowerPoint Presentation</vt:lpstr>
      <vt:lpstr>Robot drive systems</vt:lpstr>
      <vt:lpstr>Drive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Speed of motion and Load carrying capacity</vt:lpstr>
      <vt:lpstr>Speed of motion and Load carrying capacity</vt:lpstr>
      <vt:lpstr>End effectors</vt:lpstr>
      <vt:lpstr>Classification</vt:lpstr>
      <vt:lpstr>PowerPoint Presentation</vt:lpstr>
      <vt:lpstr>Types of grippers</vt:lpstr>
      <vt:lpstr>Mechanical grippers</vt:lpstr>
      <vt:lpstr>Mechanical grippers</vt:lpstr>
      <vt:lpstr>PowerPoint Presentation</vt:lpstr>
      <vt:lpstr>PowerPoint Presentation</vt:lpstr>
      <vt:lpstr>Types of mechanical actuation - Pivoting or swinging movement</vt:lpstr>
      <vt:lpstr>PowerPoint Presentation</vt:lpstr>
      <vt:lpstr>PowerPoint Presentation</vt:lpstr>
      <vt:lpstr>PowerPoint Presentation</vt:lpstr>
      <vt:lpstr>Types of mechanical actuation –translational movement</vt:lpstr>
      <vt:lpstr>Gear and Rack Grippers</vt:lpstr>
      <vt:lpstr>Three Fingered Grippers</vt:lpstr>
      <vt:lpstr>Vacuum Grippers      link</vt:lpstr>
      <vt:lpstr>Magnetic Gripper</vt:lpstr>
      <vt:lpstr>GRIPPER FORCE ANALYSIS</vt:lpstr>
      <vt:lpstr>PowerPoint Presentation</vt:lpstr>
      <vt:lpstr>GRIPPER FORCE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CONSIDERATIONS IN GRIPPER SELECTION AND DESIGN</vt:lpstr>
      <vt:lpstr>PowerPoint Presentation</vt:lpstr>
      <vt:lpstr>Gripper design considerations</vt:lpstr>
      <vt:lpstr>Gripper design considerations</vt:lpstr>
      <vt:lpstr>Selection consideration of gripper</vt:lpstr>
      <vt:lpstr>Checklist of factors in the selection and design of grippers</vt:lpstr>
      <vt:lpstr>Checklist of factors in the selection and design of grippers</vt:lpstr>
      <vt:lpstr>PowerPoint Presentation</vt:lpstr>
      <vt:lpstr>PowerPoint Presentation</vt:lpstr>
      <vt:lpstr>General architecture of a robotic mechanical system</vt:lpstr>
      <vt:lpstr>CLASSIFICATION OF ROBOTICS</vt:lpstr>
      <vt:lpstr>Industrial Robot Applications</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 Friction and its applications</dc:title>
  <dc:creator>Vinoth A</dc:creator>
  <cp:lastModifiedBy>HP</cp:lastModifiedBy>
  <cp:revision>234</cp:revision>
  <dcterms:created xsi:type="dcterms:W3CDTF">2020-06-29T04:57:53Z</dcterms:created>
  <dcterms:modified xsi:type="dcterms:W3CDTF">2020-10-30T07:34:45Z</dcterms:modified>
</cp:coreProperties>
</file>