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320" r:id="rId3"/>
    <p:sldId id="323" r:id="rId4"/>
    <p:sldId id="258" r:id="rId5"/>
    <p:sldId id="316" r:id="rId6"/>
    <p:sldId id="314" r:id="rId7"/>
    <p:sldId id="313" r:id="rId8"/>
    <p:sldId id="321" r:id="rId9"/>
    <p:sldId id="326" r:id="rId10"/>
    <p:sldId id="315" r:id="rId11"/>
    <p:sldId id="296" r:id="rId12"/>
    <p:sldId id="262" r:id="rId13"/>
    <p:sldId id="264" r:id="rId14"/>
    <p:sldId id="263" r:id="rId15"/>
    <p:sldId id="266" r:id="rId16"/>
    <p:sldId id="267" r:id="rId17"/>
    <p:sldId id="265" r:id="rId18"/>
    <p:sldId id="298" r:id="rId19"/>
    <p:sldId id="268" r:id="rId20"/>
    <p:sldId id="303" r:id="rId21"/>
    <p:sldId id="304" r:id="rId22"/>
    <p:sldId id="269" r:id="rId23"/>
    <p:sldId id="299" r:id="rId24"/>
    <p:sldId id="271" r:id="rId25"/>
    <p:sldId id="302" r:id="rId26"/>
    <p:sldId id="270" r:id="rId27"/>
    <p:sldId id="274" r:id="rId28"/>
    <p:sldId id="278" r:id="rId29"/>
    <p:sldId id="279" r:id="rId30"/>
    <p:sldId id="273" r:id="rId31"/>
    <p:sldId id="325" r:id="rId32"/>
    <p:sldId id="286" r:id="rId33"/>
    <p:sldId id="327" r:id="rId34"/>
    <p:sldId id="328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339" r:id="rId43"/>
    <p:sldId id="340" r:id="rId44"/>
    <p:sldId id="341" r:id="rId45"/>
    <p:sldId id="342" r:id="rId46"/>
    <p:sldId id="343" r:id="rId47"/>
    <p:sldId id="344" r:id="rId48"/>
    <p:sldId id="345" r:id="rId49"/>
    <p:sldId id="346" r:id="rId50"/>
    <p:sldId id="347" r:id="rId51"/>
    <p:sldId id="348" r:id="rId52"/>
    <p:sldId id="349" r:id="rId53"/>
    <p:sldId id="350" r:id="rId54"/>
    <p:sldId id="351" r:id="rId55"/>
    <p:sldId id="352" r:id="rId56"/>
    <p:sldId id="353" r:id="rId57"/>
    <p:sldId id="354" r:id="rId58"/>
    <p:sldId id="355" r:id="rId59"/>
    <p:sldId id="356" r:id="rId60"/>
    <p:sldId id="357" r:id="rId61"/>
    <p:sldId id="358" r:id="rId62"/>
    <p:sldId id="359" r:id="rId63"/>
    <p:sldId id="360" r:id="rId64"/>
    <p:sldId id="361" r:id="rId65"/>
    <p:sldId id="362" r:id="rId66"/>
    <p:sldId id="363" r:id="rId67"/>
    <p:sldId id="364" r:id="rId68"/>
    <p:sldId id="365" r:id="rId69"/>
    <p:sldId id="366" r:id="rId70"/>
    <p:sldId id="367" r:id="rId71"/>
    <p:sldId id="368" r:id="rId72"/>
    <p:sldId id="369" r:id="rId73"/>
    <p:sldId id="370" r:id="rId74"/>
    <p:sldId id="295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88" autoAdjust="0"/>
    <p:restoredTop sz="94624" autoAdjust="0"/>
  </p:normalViewPr>
  <p:slideViewPr>
    <p:cSldViewPr>
      <p:cViewPr>
        <p:scale>
          <a:sx n="87" d="100"/>
          <a:sy n="87" d="100"/>
        </p:scale>
        <p:origin x="-876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84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274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27A90376-DB0A-488D-8F55-8023082B8D46}" type="datetimeFigureOut">
              <a:rPr lang="en-US" smtClean="0"/>
              <a:pPr/>
              <a:t>12/9/2022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6034B65F-C76B-4F0C-B96F-E746A03F174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iF99iKlDpxA" TargetMode="External"/><Relationship Id="rId2" Type="http://schemas.openxmlformats.org/officeDocument/2006/relationships/hyperlink" Target="https://www.youtube.com/watch?v=jXRksET5vN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71538" y="1142984"/>
            <a:ext cx="6400800" cy="1643074"/>
          </a:xfrm>
        </p:spPr>
        <p:txBody>
          <a:bodyPr>
            <a:normAutofit lnSpcReduction="10000"/>
          </a:bodyPr>
          <a:lstStyle/>
          <a:p>
            <a:pPr algn="ctr"/>
            <a:r>
              <a:rPr lang="en-IN" sz="3200" b="1" dirty="0" smtClean="0"/>
              <a:t>UNIT </a:t>
            </a:r>
            <a:r>
              <a:rPr lang="en-IN" sz="3200" b="1" dirty="0" smtClean="0"/>
              <a:t>– 5</a:t>
            </a:r>
          </a:p>
          <a:p>
            <a:pPr algn="ctr"/>
            <a:endParaRPr lang="en-IN" sz="3200" b="1" dirty="0" smtClean="0"/>
          </a:p>
          <a:p>
            <a:pPr algn="ctr"/>
            <a:r>
              <a:rPr lang="en-IN" sz="3200" b="1" dirty="0" smtClean="0"/>
              <a:t>Distributed Control </a:t>
            </a:r>
            <a:r>
              <a:rPr lang="en-IN" sz="3200" b="1" dirty="0" smtClean="0"/>
              <a:t>System </a:t>
            </a:r>
            <a:r>
              <a:rPr lang="en-IN" sz="3200" b="1" dirty="0" smtClean="0"/>
              <a:t>(DCS)</a:t>
            </a:r>
            <a:endParaRPr lang="en-US" sz="3200" b="1" dirty="0"/>
          </a:p>
        </p:txBody>
      </p:sp>
      <p:sp>
        <p:nvSpPr>
          <p:cNvPr id="44034" name="AutoShape 2" descr="Introduction to DCS (Distributed Control System 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4036" name="AutoShape 4" descr="Introduction to DCS (Distributed Control System )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 smtClean="0"/>
              <a:t>Evolution of Industrial Control</a:t>
            </a:r>
            <a:endParaRPr lang="en-US" sz="3600" b="1" dirty="0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rcRect b="7383"/>
          <a:stretch>
            <a:fillRect/>
          </a:stretch>
        </p:blipFill>
        <p:spPr>
          <a:xfrm>
            <a:off x="571472" y="1571612"/>
            <a:ext cx="8072494" cy="47149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Power plant Layout</a:t>
            </a:r>
            <a:endParaRPr lang="en-US" sz="4000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1571612"/>
            <a:ext cx="6858048" cy="39290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1214414" y="5572140"/>
            <a:ext cx="7500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 1958, the first industrial computer was introduced for plant monitoring.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 to control techniques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14282" y="1428736"/>
            <a:ext cx="8515352" cy="5072098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/>
              <a:t>Direct digital control- A single computer controls the entire process. It overcomes the interfacing problems but is vulnerable to failures and shut down</a:t>
            </a:r>
          </a:p>
          <a:p>
            <a:endParaRPr lang="en-IN" dirty="0"/>
          </a:p>
          <a:p>
            <a:r>
              <a:rPr lang="en-IN" dirty="0" smtClean="0"/>
              <a:t>Hybrid control – An </a:t>
            </a:r>
            <a:r>
              <a:rPr lang="en-US" dirty="0" smtClean="0"/>
              <a:t>individual discrete-control hardware, typically PLCs or analog loop controllers and a </a:t>
            </a:r>
            <a:r>
              <a:rPr lang="en-US" smtClean="0"/>
              <a:t>supervisory computer </a:t>
            </a:r>
            <a:r>
              <a:rPr lang="en-US" dirty="0" smtClean="0"/>
              <a:t>to collect process information and generate reports</a:t>
            </a:r>
          </a:p>
          <a:p>
            <a:endParaRPr lang="en-IN" dirty="0" smtClean="0"/>
          </a:p>
          <a:p>
            <a:r>
              <a:rPr lang="en-IN" dirty="0" smtClean="0"/>
              <a:t>Distributed control - </a:t>
            </a:r>
            <a:r>
              <a:rPr lang="en-US" dirty="0" smtClean="0"/>
              <a:t>allows the application to be broken into subsystems that use digital, rather than analog, control techniques and that can be interfaced together easily.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/>
              <a:t>PLC Vs DCS</a:t>
            </a:r>
            <a:endParaRPr lang="en-US" sz="4000" b="1" dirty="0"/>
          </a:p>
        </p:txBody>
      </p:sp>
      <p:pic>
        <p:nvPicPr>
          <p:cNvPr id="5837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5650" y="2147887"/>
            <a:ext cx="7867650" cy="340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Hybrid control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rmAutofit/>
          </a:bodyPr>
          <a:lstStyle/>
          <a:p>
            <a:r>
              <a:rPr lang="en-IN" dirty="0" smtClean="0"/>
              <a:t>Combination of direct digital control and a central control hardware to implement control functions</a:t>
            </a:r>
          </a:p>
          <a:p>
            <a:r>
              <a:rPr lang="en-IN" dirty="0" smtClean="0"/>
              <a:t>Local control of the plant is </a:t>
            </a:r>
            <a:r>
              <a:rPr lang="en-IN" dirty="0" err="1" smtClean="0"/>
              <a:t>achieived</a:t>
            </a:r>
            <a:r>
              <a:rPr lang="en-IN" dirty="0" smtClean="0"/>
              <a:t> by means of discrete </a:t>
            </a:r>
            <a:r>
              <a:rPr lang="en-IN" dirty="0" err="1" smtClean="0"/>
              <a:t>analog</a:t>
            </a:r>
            <a:r>
              <a:rPr lang="en-IN" dirty="0" smtClean="0"/>
              <a:t> controller</a:t>
            </a:r>
          </a:p>
          <a:p>
            <a:r>
              <a:rPr lang="en-IN" dirty="0" smtClean="0"/>
              <a:t>A central monitoring system with SCADA for data logging, control, optimization &amp; alarm management</a:t>
            </a:r>
          </a:p>
          <a:p>
            <a:r>
              <a:rPr lang="en-IN" dirty="0" smtClean="0"/>
              <a:t>Dominated approach till 1970s in all industries</a:t>
            </a:r>
          </a:p>
          <a:p>
            <a:r>
              <a:rPr lang="en-IN" dirty="0" smtClean="0"/>
              <a:t>Faced difficulties in maintenance of large volumes of data &amp; centralized monitoring of complex industries 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Hybrid architecture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928802"/>
            <a:ext cx="4743462" cy="407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715008" y="2428868"/>
            <a:ext cx="314327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Local control unit &amp; Supervisory computer</a:t>
            </a:r>
          </a:p>
          <a:p>
            <a:r>
              <a:rPr lang="en-US" dirty="0" smtClean="0"/>
              <a:t>LCU- Discrete analog and sequential logic controllers.</a:t>
            </a:r>
          </a:p>
          <a:p>
            <a:r>
              <a:rPr lang="en-US" dirty="0" smtClean="0"/>
              <a:t>Supervisory computer – operating point optimization, alarming, data logging, data storage.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Central computer system architecture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00166" y="1714488"/>
            <a:ext cx="5857916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Drawbacks of centralized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All individual steps in the manufacturing process are handled by a stand-alone central controller</a:t>
            </a:r>
          </a:p>
          <a:p>
            <a:r>
              <a:rPr lang="en-IN" dirty="0" smtClean="0"/>
              <a:t>Simple to implement, monitor and troubleshoot</a:t>
            </a:r>
            <a:endParaRPr lang="en-US" dirty="0" smtClean="0"/>
          </a:p>
          <a:p>
            <a:r>
              <a:rPr lang="en-US" dirty="0" smtClean="0"/>
              <a:t>No exchange of controller status  </a:t>
            </a:r>
          </a:p>
          <a:p>
            <a:r>
              <a:rPr lang="en-US" dirty="0" smtClean="0"/>
              <a:t>No exchange of data to other controllers</a:t>
            </a:r>
          </a:p>
          <a:p>
            <a:r>
              <a:rPr lang="en-US" dirty="0" smtClean="0"/>
              <a:t>If the main controller fails, the whole process stops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Distributed Control System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 smtClean="0"/>
              <a:t>Distributed Control System is a specially designed control system used to control complex, large, and geographically distributed applications in industrial processes. In this, controllers are distributed throughout the entire plant area.</a:t>
            </a:r>
            <a:endParaRPr lang="en-US" sz="2400" dirty="0"/>
          </a:p>
        </p:txBody>
      </p:sp>
      <p:sp>
        <p:nvSpPr>
          <p:cNvPr id="1026" name="AutoShape 2" descr="Examples of DC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3286124"/>
            <a:ext cx="5676900" cy="32146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Evolution of Distributed Control System 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1571612"/>
            <a:ext cx="7067550" cy="469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2071670" y="1559470"/>
            <a:ext cx="4071966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en-IN" dirty="0" smtClean="0">
                <a:solidFill>
                  <a:schemeClr val="accent2">
                    <a:lumMod val="75000"/>
                  </a:schemeClr>
                </a:solidFill>
              </a:rPr>
              <a:t>Distributed Control; Centralized monitoring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Need for distributed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Distributive control permits the distribution of the processing tasks among several controllers and is highly reliable.</a:t>
            </a:r>
          </a:p>
          <a:p>
            <a:r>
              <a:rPr lang="en-US" dirty="0" smtClean="0"/>
              <a:t>Distributive control drastically reduces field wiring and increases performance because it places the controller and I/O close to the machine process being controlled.</a:t>
            </a:r>
          </a:p>
          <a:p>
            <a:r>
              <a:rPr lang="en-US" dirty="0" smtClean="0"/>
              <a:t>Depending on the process, one PLC failure would not necessarily halt the complete process.</a:t>
            </a:r>
          </a:p>
          <a:p>
            <a:r>
              <a:rPr lang="en-US" dirty="0" smtClean="0"/>
              <a:t>DCS is supervised by a host computer that may perform monitoring/supervising functions such as   report generation and storage of data.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between CCS and DCS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</p:nvPr>
        </p:nvGraphicFramePr>
        <p:xfrm>
          <a:off x="571472" y="1928802"/>
          <a:ext cx="8153400" cy="441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76700"/>
                <a:gridCol w="40767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Centralized control system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Distributed control system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Centralised repository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Distributed/</a:t>
                      </a:r>
                      <a:r>
                        <a:rPr lang="en-IN" baseline="0" dirty="0" smtClean="0"/>
                        <a:t> </a:t>
                      </a:r>
                      <a:r>
                        <a:rPr lang="en-IN" dirty="0" smtClean="0"/>
                        <a:t>local</a:t>
                      </a:r>
                      <a:r>
                        <a:rPr lang="en-IN" baseline="0" dirty="0" smtClean="0"/>
                        <a:t> repositories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Failure of central controller leads to shut down</a:t>
                      </a:r>
                      <a:r>
                        <a:rPr lang="en-IN" baseline="0" dirty="0" smtClean="0"/>
                        <a:t> of the entire process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Distribution of the process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tasks among several controllers saves from shut down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Less reliable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Highly reliable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Complexity</a:t>
                      </a:r>
                      <a:r>
                        <a:rPr lang="en-IN" baseline="0" dirty="0" smtClean="0"/>
                        <a:t> in process dynamics and control affects the speed of operation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Improved speed of operation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Increase</a:t>
                      </a:r>
                      <a:r>
                        <a:rPr lang="en-IN" baseline="0" dirty="0" smtClean="0"/>
                        <a:t>d field wiring and hence difficult to troubleshoot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Reduced field wiring and so easier to troubleshoot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Need for dedicated communication links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Distributed communication highways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Low</a:t>
                      </a:r>
                      <a:r>
                        <a:rPr lang="en-IN" baseline="0" dirty="0" smtClean="0"/>
                        <a:t> installation but high maintenance cost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High initial cost but</a:t>
                      </a:r>
                      <a:r>
                        <a:rPr lang="en-IN" baseline="0" dirty="0" smtClean="0"/>
                        <a:t> low maintenance cost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 smtClean="0"/>
                        <a:t>No such centralised supervision of entire process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Supervision</a:t>
                      </a:r>
                      <a:r>
                        <a:rPr lang="en-IN" baseline="0" dirty="0" smtClean="0"/>
                        <a:t> of entire process by means of SCADA software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DCS-Manufacturers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i="1" dirty="0" smtClean="0"/>
              <a:t>Company                            </a:t>
            </a:r>
          </a:p>
          <a:p>
            <a:r>
              <a:rPr lang="en-US" i="1" dirty="0" smtClean="0"/>
              <a:t>Centum (first DCS unit in the year1975)</a:t>
            </a:r>
          </a:p>
          <a:p>
            <a:r>
              <a:rPr lang="en-US" i="1" dirty="0" smtClean="0"/>
              <a:t>ABB </a:t>
            </a:r>
            <a:endParaRPr lang="en-US" dirty="0" smtClean="0"/>
          </a:p>
          <a:p>
            <a:r>
              <a:rPr lang="en-US" i="1" dirty="0" smtClean="0"/>
              <a:t>Honeywell </a:t>
            </a:r>
            <a:endParaRPr lang="en-US" dirty="0" smtClean="0"/>
          </a:p>
          <a:p>
            <a:r>
              <a:rPr lang="en-US" i="1" dirty="0" smtClean="0"/>
              <a:t>Rockwell </a:t>
            </a:r>
            <a:endParaRPr lang="en-US" dirty="0" smtClean="0"/>
          </a:p>
          <a:p>
            <a:r>
              <a:rPr lang="en-US" i="1" dirty="0" smtClean="0"/>
              <a:t>Invensys</a:t>
            </a:r>
            <a:endParaRPr lang="en-US" dirty="0" smtClean="0"/>
          </a:p>
          <a:p>
            <a:r>
              <a:rPr lang="en-US" i="1" dirty="0" smtClean="0"/>
              <a:t>Siemens</a:t>
            </a:r>
            <a:endParaRPr lang="en-US" dirty="0" smtClean="0"/>
          </a:p>
          <a:p>
            <a:r>
              <a:rPr lang="en-US" i="1" dirty="0" smtClean="0"/>
              <a:t>Emerson</a:t>
            </a:r>
            <a:endParaRPr lang="en-US" dirty="0" smtClean="0"/>
          </a:p>
          <a:p>
            <a:r>
              <a:rPr lang="en-US" i="1" dirty="0" smtClean="0"/>
              <a:t>Yokogawa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DCS architecture</a:t>
            </a:r>
            <a:endParaRPr lang="en-US" dirty="0"/>
          </a:p>
        </p:txBody>
      </p:sp>
      <p:pic>
        <p:nvPicPr>
          <p:cNvPr id="32769" name="Picture 1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 t="15254" r="-1723" b="10063"/>
          <a:stretch>
            <a:fillRect/>
          </a:stretch>
        </p:blipFill>
        <p:spPr bwMode="auto">
          <a:xfrm>
            <a:off x="331045" y="1571612"/>
            <a:ext cx="8812955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DCS hardware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Local control unit (LCU)</a:t>
            </a:r>
          </a:p>
          <a:p>
            <a:r>
              <a:rPr lang="en-IN" dirty="0" smtClean="0"/>
              <a:t>Data I/O (DIO) modules</a:t>
            </a:r>
          </a:p>
          <a:p>
            <a:r>
              <a:rPr lang="en-IN" dirty="0" smtClean="0"/>
              <a:t>Human Machine Interface (HMI)- low and high level </a:t>
            </a:r>
          </a:p>
          <a:p>
            <a:r>
              <a:rPr lang="en-IN" dirty="0" smtClean="0"/>
              <a:t>Process interfacing</a:t>
            </a:r>
          </a:p>
          <a:p>
            <a:r>
              <a:rPr lang="en-IN" dirty="0" smtClean="0"/>
              <a:t>Shared data communication </a:t>
            </a:r>
          </a:p>
          <a:p>
            <a:r>
              <a:rPr lang="en-IN" dirty="0" smtClean="0"/>
              <a:t>Field level communication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Local control Unit (LCU)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757758"/>
          </a:xfrm>
        </p:spPr>
        <p:txBody>
          <a:bodyPr>
            <a:normAutofit/>
          </a:bodyPr>
          <a:lstStyle/>
          <a:p>
            <a:r>
              <a:rPr lang="en-IN" dirty="0" smtClean="0"/>
              <a:t>Represents a smallest collection of hardware in the DCS setup that performs the closed loop control</a:t>
            </a:r>
          </a:p>
          <a:p>
            <a:r>
              <a:rPr lang="en-IN" dirty="0" smtClean="0"/>
              <a:t>Takes inputs from field devices and sensors</a:t>
            </a:r>
          </a:p>
          <a:p>
            <a:r>
              <a:rPr lang="en-IN" dirty="0" smtClean="0"/>
              <a:t>Processes commands given by the operator</a:t>
            </a:r>
          </a:p>
          <a:p>
            <a:r>
              <a:rPr lang="en-IN" dirty="0" smtClean="0"/>
              <a:t>Controls the output to actuators-motors, solenoids etc.,</a:t>
            </a:r>
          </a:p>
          <a:p>
            <a:r>
              <a:rPr lang="en-IN" dirty="0" smtClean="0"/>
              <a:t>Communication between other LCUs</a:t>
            </a:r>
          </a:p>
          <a:p>
            <a:r>
              <a:rPr lang="en-IN" dirty="0" smtClean="0"/>
              <a:t>Stand alone operation during changeovers</a:t>
            </a:r>
          </a:p>
          <a:p>
            <a:r>
              <a:rPr lang="en-IN" dirty="0" smtClean="0"/>
              <a:t>Changeover from Auto to manual and vice versa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Functions of LCU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fontAlgn="base"/>
            <a:r>
              <a:rPr lang="en-US" dirty="0" smtClean="0"/>
              <a:t>It receives the instructions from the engineering station like set point and other parameters and directly controls field devices.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It can sense and control both analog and digital inputs/outputs by analog and digital I/O modules. </a:t>
            </a:r>
          </a:p>
          <a:p>
            <a:pPr fontAlgn="base"/>
            <a:endParaRPr lang="en-US" dirty="0" smtClean="0"/>
          </a:p>
          <a:p>
            <a:pPr fontAlgn="base"/>
            <a:r>
              <a:rPr lang="en-US" dirty="0" smtClean="0"/>
              <a:t>It collects the information from discrete field devices and sends this information to operating and engineering stations.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Block diagram of LCU</a:t>
            </a:r>
            <a:endParaRPr lang="en-US" dirty="0"/>
          </a:p>
        </p:txBody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2"/>
          <a:srcRect r="4897" b="15396"/>
          <a:stretch>
            <a:fillRect/>
          </a:stretch>
        </p:blipFill>
        <p:spPr>
          <a:xfrm>
            <a:off x="1571604" y="1785926"/>
            <a:ext cx="5643602" cy="407196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LCU configurations-A,B,C</a:t>
            </a:r>
            <a:endParaRPr lang="en-US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714644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1857364"/>
            <a:ext cx="3867150" cy="20717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86050" y="4214818"/>
            <a:ext cx="3000396" cy="2286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85786" y="1571612"/>
            <a:ext cx="2357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A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857884" y="1571612"/>
            <a:ext cx="2357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B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143240" y="3857628"/>
            <a:ext cx="23574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C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of configurations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 t="8108" r="-2000"/>
          <a:stretch>
            <a:fillRect/>
          </a:stretch>
        </p:blipFill>
        <p:spPr bwMode="auto">
          <a:xfrm>
            <a:off x="857224" y="1857364"/>
            <a:ext cx="7286676" cy="485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357422" y="1500174"/>
            <a:ext cx="2357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A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214810" y="1488032"/>
            <a:ext cx="2357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B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857884" y="1488032"/>
            <a:ext cx="2357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Configuration C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928662" y="1488032"/>
            <a:ext cx="2357454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IN" dirty="0" smtClean="0"/>
              <a:t>Parameter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Functional Blocks (FB)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To enter the  control program and control system configuration in the processor memory of LCU </a:t>
            </a:r>
          </a:p>
          <a:p>
            <a:r>
              <a:rPr lang="en-IN" sz="2400" dirty="0" smtClean="0"/>
              <a:t>Blocks with set of parameters can be sequentially connected to implement a particular process</a:t>
            </a:r>
          </a:p>
          <a:p>
            <a:r>
              <a:rPr lang="en-IN" sz="2400" dirty="0" smtClean="0"/>
              <a:t>It overcomes the need to learn computer programming</a:t>
            </a:r>
          </a:p>
          <a:p>
            <a:r>
              <a:rPr lang="en-IN" sz="2400" dirty="0" smtClean="0"/>
              <a:t>It also helps to avoid manual hardwiring as in the case of relay logic</a:t>
            </a:r>
          </a:p>
          <a:p>
            <a:r>
              <a:rPr lang="en-IN" sz="2400" dirty="0" smtClean="0"/>
              <a:t>It helps in easy implementation of the changes to be made in configuration and troubleshooting</a:t>
            </a:r>
          </a:p>
          <a:p>
            <a:r>
              <a:rPr lang="en-IN" sz="2400" dirty="0" smtClean="0"/>
              <a:t>Number of FBs used influences the size of the LCU </a:t>
            </a:r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Typical Functional blocks</a:t>
            </a:r>
            <a:endParaRPr lang="en-US" dirty="0"/>
          </a:p>
        </p:txBody>
      </p:sp>
      <p:pic>
        <p:nvPicPr>
          <p:cNvPr id="5017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00100" y="1600200"/>
            <a:ext cx="6970217" cy="4775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Functional Block 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17070" cy="4495800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2 types of FB libraries:</a:t>
            </a:r>
          </a:p>
          <a:p>
            <a:r>
              <a:rPr lang="en-IN" dirty="0" smtClean="0"/>
              <a:t>Complex FB library- for PID controller, </a:t>
            </a:r>
            <a:r>
              <a:rPr lang="en-IN" dirty="0" err="1" smtClean="0"/>
              <a:t>sqrt</a:t>
            </a:r>
            <a:r>
              <a:rPr lang="en-IN" dirty="0" smtClean="0"/>
              <a:t> etc.,</a:t>
            </a:r>
          </a:p>
          <a:p>
            <a:r>
              <a:rPr lang="en-IN" dirty="0" smtClean="0"/>
              <a:t>Simple FB library- for single arithmetic/logic function</a:t>
            </a:r>
          </a:p>
          <a:p>
            <a:r>
              <a:rPr lang="en-IN" dirty="0" smtClean="0"/>
              <a:t>Important factors to be considered- LCU utilization, Flexibility of modification, scalability and difficulty level of implementing algorithms</a:t>
            </a:r>
          </a:p>
          <a:p>
            <a:r>
              <a:rPr lang="en-IN" dirty="0" smtClean="0"/>
              <a:t>Important functionalities in High level languages-Text editor, debugger and file manager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Typical FB libraries</a:t>
            </a:r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1500174"/>
            <a:ext cx="7072362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LCU Architecture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IN" dirty="0" smtClean="0">
                <a:solidFill>
                  <a:srgbClr val="002060"/>
                </a:solidFill>
              </a:rPr>
              <a:t>Size of the controller- </a:t>
            </a:r>
            <a:r>
              <a:rPr lang="en-IN" dirty="0" smtClean="0"/>
              <a:t>Number of process I/Os and functional blocks that can be executed</a:t>
            </a:r>
          </a:p>
          <a:p>
            <a:pPr algn="just"/>
            <a:r>
              <a:rPr lang="en-IN" dirty="0" smtClean="0">
                <a:solidFill>
                  <a:srgbClr val="002060"/>
                </a:solidFill>
              </a:rPr>
              <a:t>Functionality- </a:t>
            </a:r>
            <a:r>
              <a:rPr lang="en-IN" dirty="0" smtClean="0"/>
              <a:t>Mix of function blocks(continuous &amp; logic control, arithmetic functions)</a:t>
            </a:r>
            <a:r>
              <a:rPr lang="en-IN" dirty="0" smtClean="0">
                <a:solidFill>
                  <a:srgbClr val="002060"/>
                </a:solidFill>
              </a:rPr>
              <a:t> </a:t>
            </a:r>
            <a:r>
              <a:rPr lang="en-IN" dirty="0" err="1" smtClean="0"/>
              <a:t>Analog</a:t>
            </a:r>
            <a:r>
              <a:rPr lang="en-IN" dirty="0" smtClean="0"/>
              <a:t>/ Digital, Continuous/ Discrete</a:t>
            </a:r>
          </a:p>
          <a:p>
            <a:pPr algn="just"/>
            <a:r>
              <a:rPr lang="en-IN" dirty="0" smtClean="0">
                <a:solidFill>
                  <a:srgbClr val="002060"/>
                </a:solidFill>
              </a:rPr>
              <a:t>Performance – </a:t>
            </a:r>
            <a:r>
              <a:rPr lang="en-IN" dirty="0" smtClean="0"/>
              <a:t>Rate at which the controller scan the inputs, processes function blocks and generate outputs. Speed of performance, accuracy, scanning rate etc.,</a:t>
            </a:r>
          </a:p>
          <a:p>
            <a:pPr algn="just"/>
            <a:r>
              <a:rPr lang="en-IN" dirty="0" smtClean="0">
                <a:solidFill>
                  <a:srgbClr val="002060"/>
                </a:solidFill>
              </a:rPr>
              <a:t>Communication channels-</a:t>
            </a:r>
            <a:r>
              <a:rPr lang="en-IN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IN" dirty="0" smtClean="0"/>
              <a:t>PC-PC communication, Interface devices, field level communication etc.,</a:t>
            </a:r>
          </a:p>
          <a:p>
            <a:pPr algn="just"/>
            <a:r>
              <a:rPr lang="en-IN" dirty="0" smtClean="0">
                <a:solidFill>
                  <a:srgbClr val="002060"/>
                </a:solidFill>
              </a:rPr>
              <a:t>Output security- </a:t>
            </a:r>
            <a:r>
              <a:rPr lang="en-IN" dirty="0" smtClean="0"/>
              <a:t>Fail safe operation, manual or auto backup, frequency of backup and routine checks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Human Machine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757758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Effective Control and visualization of the process</a:t>
            </a:r>
          </a:p>
          <a:p>
            <a:r>
              <a:rPr lang="en-IN" dirty="0" smtClean="0"/>
              <a:t>Electronic interfacing between human and the process to monitor, control and diagnose processes</a:t>
            </a:r>
          </a:p>
          <a:p>
            <a:r>
              <a:rPr lang="en-IN" dirty="0" smtClean="0"/>
              <a:t>Graphical user interface to check:</a:t>
            </a:r>
          </a:p>
          <a:p>
            <a:pPr lvl="1"/>
            <a:r>
              <a:rPr lang="en-IN" dirty="0" smtClean="0"/>
              <a:t>Operation summary- routine monitoring of process</a:t>
            </a:r>
          </a:p>
          <a:p>
            <a:pPr lvl="1"/>
            <a:r>
              <a:rPr lang="en-IN" dirty="0" smtClean="0"/>
              <a:t>Configuration/setup- Control configuration and parametric values</a:t>
            </a:r>
          </a:p>
          <a:p>
            <a:pPr lvl="1"/>
            <a:r>
              <a:rPr lang="en-IN" dirty="0" smtClean="0"/>
              <a:t>Event history-Time stamped list of all significant events</a:t>
            </a:r>
          </a:p>
          <a:p>
            <a:pPr lvl="1"/>
            <a:r>
              <a:rPr lang="en-IN" dirty="0" smtClean="0"/>
              <a:t>Auto/manual changeover – Bypass control during shutdown/maintenance</a:t>
            </a:r>
          </a:p>
          <a:p>
            <a:pPr lvl="1"/>
            <a:r>
              <a:rPr lang="en-IN" dirty="0" smtClean="0"/>
              <a:t>Trend values – Flow, pressure, temperatures as a function of time</a:t>
            </a:r>
          </a:p>
          <a:p>
            <a:pPr lvl="1"/>
            <a:r>
              <a:rPr lang="en-IN" dirty="0" smtClean="0"/>
              <a:t>Diagnostics –cause and occurrence of failures</a:t>
            </a:r>
          </a:p>
          <a:p>
            <a:pPr lvl="1"/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Interfacing requirements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Communication Interfaces are needed in order to:</a:t>
            </a:r>
          </a:p>
          <a:p>
            <a:pPr lvl="2"/>
            <a:r>
              <a:rPr lang="en-IN" dirty="0" smtClean="0"/>
              <a:t>Establish communication between LCUs</a:t>
            </a:r>
          </a:p>
          <a:p>
            <a:pPr lvl="2"/>
            <a:r>
              <a:rPr lang="en-IN" dirty="0" smtClean="0"/>
              <a:t>Allow transmission of process data to higher level elements</a:t>
            </a:r>
          </a:p>
          <a:p>
            <a:pPr lvl="2"/>
            <a:r>
              <a:rPr lang="en-IN" dirty="0" smtClean="0"/>
              <a:t>Transmit information command and requests to LCUs</a:t>
            </a:r>
          </a:p>
          <a:p>
            <a:pPr lvl="2"/>
            <a:r>
              <a:rPr lang="en-IN" dirty="0" smtClean="0"/>
              <a:t>Augment I/O capacity of LCU to DI/DO</a:t>
            </a:r>
          </a:p>
          <a:p>
            <a:pPr lvl="2"/>
            <a:r>
              <a:rPr lang="en-IN" dirty="0" smtClean="0"/>
              <a:t>Implement redundancy operation of one or more LCUs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Reliable interfacing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For maximum reliability,</a:t>
            </a:r>
          </a:p>
          <a:p>
            <a:pPr lvl="1"/>
            <a:r>
              <a:rPr lang="en-IN" dirty="0" smtClean="0"/>
              <a:t>Minimise the number of components and electrical connections</a:t>
            </a:r>
          </a:p>
          <a:p>
            <a:pPr lvl="1"/>
            <a:r>
              <a:rPr lang="en-IN" dirty="0" smtClean="0"/>
              <a:t>Current value of output should be indicated to the LCUs </a:t>
            </a:r>
          </a:p>
          <a:p>
            <a:pPr lvl="1"/>
            <a:r>
              <a:rPr lang="en-IN" dirty="0" smtClean="0"/>
              <a:t>Powering the output circuitry from an independent supply to avoid loss of data</a:t>
            </a:r>
          </a:p>
          <a:p>
            <a:pPr lvl="1"/>
            <a:r>
              <a:rPr lang="en-IN" dirty="0" err="1" smtClean="0"/>
              <a:t>Analog</a:t>
            </a:r>
            <a:r>
              <a:rPr lang="en-IN" dirty="0" smtClean="0"/>
              <a:t> output device should be able to indicate “last minimum output” “last maximum output” “ go to last output”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Low level User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571472" y="1571612"/>
            <a:ext cx="8153400" cy="1714512"/>
          </a:xfrm>
        </p:spPr>
        <p:txBody>
          <a:bodyPr>
            <a:normAutofit fontScale="92500" lnSpcReduction="20000"/>
          </a:bodyPr>
          <a:lstStyle/>
          <a:p>
            <a:r>
              <a:rPr lang="en-IN" dirty="0" smtClean="0"/>
              <a:t>Field devices communication</a:t>
            </a:r>
          </a:p>
          <a:p>
            <a:r>
              <a:rPr lang="en-IN" dirty="0" smtClean="0"/>
              <a:t>Directly communicates with LCU</a:t>
            </a:r>
          </a:p>
          <a:p>
            <a:r>
              <a:rPr lang="en-IN" dirty="0" smtClean="0"/>
              <a:t>Plant operator can directly configure controller</a:t>
            </a:r>
            <a:r>
              <a:rPr lang="en-IN" smtClean="0"/>
              <a:t>, switch control </a:t>
            </a:r>
            <a:r>
              <a:rPr lang="en-IN" dirty="0" smtClean="0"/>
              <a:t>operation and override (Auto/Manual) control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3571876"/>
            <a:ext cx="606742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High Level User Interface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IN" dirty="0" smtClean="0"/>
              <a:t>Shared interface</a:t>
            </a:r>
          </a:p>
          <a:p>
            <a:r>
              <a:rPr lang="en-IN" dirty="0" smtClean="0"/>
              <a:t>Monitor and control the operation of the process</a:t>
            </a:r>
          </a:p>
          <a:p>
            <a:r>
              <a:rPr lang="en-IN" dirty="0" smtClean="0"/>
              <a:t>Interfacing with other elements in DCS</a:t>
            </a:r>
          </a:p>
          <a:p>
            <a:r>
              <a:rPr lang="en-IN" dirty="0" smtClean="0"/>
              <a:t>Security features required for process application</a:t>
            </a:r>
          </a:p>
          <a:p>
            <a:r>
              <a:rPr lang="en-IN" dirty="0" smtClean="0"/>
              <a:t>Modifying the program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Comparison of architectures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71472" y="1571612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Feature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00298" y="157161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Hybrid control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43438" y="1571612"/>
            <a:ext cx="2286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Centralized control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00892" y="1571612"/>
            <a:ext cx="1928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Distributed control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0044" y="1928802"/>
            <a:ext cx="8972550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Operator Interfaces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28650" y="1503336"/>
            <a:ext cx="7886700" cy="514565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functions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are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an industrial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process, for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automated equipment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used in a safe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effective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manner.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it is absolutely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necessary to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'well-engineered human interface system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permit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error-free interactions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the humans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automated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Two distinct groups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plant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personnel interact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the control system on a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regular basis: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system engineers-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are· responsible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setting up the control system 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initially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adjusting,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maintaining it from time to time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afterwards</a:t>
            </a: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Plant operators-</a:t>
            </a:r>
          </a:p>
          <a:p>
            <a:pPr marL="0" indent="0" algn="just"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are responsible for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monitoring, supervising, and running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through the control system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during startup, operation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shutdown conditions.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0908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Low and High Level HMI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 the generalized distributed control system </a:t>
            </a:r>
            <a:r>
              <a:rPr lang="en-US" dirty="0" smtClean="0"/>
              <a:t>architecture shows, a </a:t>
            </a:r>
            <a:r>
              <a:rPr lang="en-US" dirty="0"/>
              <a:t>human interface-capability can be provided at one or both of</a:t>
            </a:r>
            <a:br>
              <a:rPr lang="en-US" dirty="0"/>
            </a:br>
            <a:r>
              <a:rPr lang="en-US" dirty="0"/>
              <a:t>two levels</a:t>
            </a:r>
            <a:r>
              <a:rPr lang="en-US" dirty="0" smtClean="0"/>
              <a:t>: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1. </a:t>
            </a:r>
            <a:r>
              <a:rPr lang="en-US" dirty="0"/>
              <a:t>Through a low-level human interface (</a:t>
            </a:r>
            <a:r>
              <a:rPr lang="en-US" dirty="0" err="1"/>
              <a:t>LLHl</a:t>
            </a:r>
            <a:r>
              <a:rPr lang="en-US" dirty="0"/>
              <a:t>) connected directly to</a:t>
            </a:r>
            <a:br>
              <a:rPr lang="en-US" dirty="0"/>
            </a:br>
            <a:r>
              <a:rPr lang="en-US" dirty="0"/>
              <a:t>the </a:t>
            </a:r>
            <a:r>
              <a:rPr lang="en-US" dirty="0" smtClean="0"/>
              <a:t>local control </a:t>
            </a:r>
            <a:r>
              <a:rPr lang="en-US" dirty="0"/>
              <a:t>unit or data input/output unit (</a:t>
            </a:r>
            <a:r>
              <a:rPr lang="en-US" dirty="0" smtClean="0"/>
              <a:t>DI/OU</a:t>
            </a:r>
            <a:r>
              <a:rPr lang="en-US" dirty="0"/>
              <a:t>) via dedicated </a:t>
            </a:r>
            <a:r>
              <a:rPr lang="en-US" dirty="0" smtClean="0"/>
              <a:t>cabling.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2</a:t>
            </a:r>
            <a:r>
              <a:rPr lang="en-US" dirty="0"/>
              <a:t>. </a:t>
            </a:r>
            <a:r>
              <a:rPr lang="en-US" dirty="0" smtClean="0"/>
              <a:t>Through a high-level </a:t>
            </a:r>
            <a:r>
              <a:rPr lang="en-US" dirty="0"/>
              <a:t>human interface </a:t>
            </a:r>
            <a:r>
              <a:rPr lang="en-US" dirty="0" smtClean="0"/>
              <a:t>(</a:t>
            </a:r>
            <a:r>
              <a:rPr lang="en-US" dirty="0"/>
              <a:t>H</a:t>
            </a:r>
            <a:r>
              <a:rPr lang="en-US" dirty="0" smtClean="0"/>
              <a:t>LHI</a:t>
            </a:r>
            <a:r>
              <a:rPr lang="en-US" dirty="0"/>
              <a:t>) connected to an </a:t>
            </a:r>
            <a:r>
              <a:rPr lang="en-US" dirty="0" smtClean="0"/>
              <a:t>LCU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- or </a:t>
            </a:r>
            <a:r>
              <a:rPr lang="en-US" dirty="0" smtClean="0"/>
              <a:t>DI/OU only </a:t>
            </a:r>
            <a:r>
              <a:rPr lang="en-US" dirty="0"/>
              <a:t>through the shared communications facility. 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55682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OPERATORS RESPONSIBILITY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Operator interface system should allow the operator to perform the following tasks:</a:t>
            </a:r>
            <a:endParaRPr lang="en-IN" dirty="0"/>
          </a:p>
          <a:p>
            <a:endParaRPr lang="en-IN" dirty="0" smtClean="0"/>
          </a:p>
          <a:p>
            <a:r>
              <a:rPr lang="en-IN" dirty="0" smtClean="0"/>
              <a:t>Process Monitoring</a:t>
            </a:r>
          </a:p>
          <a:p>
            <a:r>
              <a:rPr lang="en-IN" dirty="0" smtClean="0"/>
              <a:t>Process control</a:t>
            </a:r>
          </a:p>
          <a:p>
            <a:r>
              <a:rPr lang="en-IN" dirty="0" smtClean="0"/>
              <a:t>Process diagnostics</a:t>
            </a:r>
          </a:p>
          <a:p>
            <a:r>
              <a:rPr lang="en-IN" dirty="0" smtClean="0"/>
              <a:t>Process record keeping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3153021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PROCESS MONITORING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smtClean="0"/>
              <a:t>Operator interface system should allow the operator to observe and monitor the current state of the process</a:t>
            </a:r>
          </a:p>
          <a:p>
            <a:r>
              <a:rPr lang="en-IN" sz="2400" dirty="0" smtClean="0"/>
              <a:t>The values of the process variable must be available for the operator at any time</a:t>
            </a:r>
          </a:p>
          <a:p>
            <a:r>
              <a:rPr lang="en-IN" sz="2400" dirty="0" smtClean="0"/>
              <a:t>The values must be accurate</a:t>
            </a:r>
          </a:p>
          <a:p>
            <a:r>
              <a:rPr lang="en-IN" sz="2400" dirty="0" smtClean="0"/>
              <a:t>If any malfunctions(sensors)should be readily visible to the operator</a:t>
            </a:r>
          </a:p>
          <a:p>
            <a:r>
              <a:rPr lang="en-IN" sz="2400" dirty="0" smtClean="0"/>
              <a:t>Each process variable identifiable by the TAG assigned by instrumentation engineer</a:t>
            </a:r>
          </a:p>
          <a:p>
            <a:r>
              <a:rPr lang="en-IN" sz="2400" dirty="0" smtClean="0"/>
              <a:t>Units of the variable should be visible along with the values</a:t>
            </a:r>
            <a:endParaRPr lang="en-IN" sz="2400" dirty="0"/>
          </a:p>
        </p:txBody>
      </p:sp>
    </p:spTree>
    <p:extLst>
      <p:ext uri="{BB962C8B-B14F-4D97-AF65-F5344CB8AC3E}">
        <p14:creationId xmlns="" xmlns:p14="http://schemas.microsoft.com/office/powerpoint/2010/main" val="39088876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PROCESS MONITORING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Some cases the computed variables should be available for the operator</a:t>
            </a:r>
          </a:p>
          <a:p>
            <a:r>
              <a:rPr lang="en-IN" dirty="0" smtClean="0"/>
              <a:t>Operator interface should alert the operator with various alarms(low – high)or indicators </a:t>
            </a:r>
          </a:p>
          <a:p>
            <a:r>
              <a:rPr lang="en-IN" dirty="0" smtClean="0"/>
              <a:t>Operator interface should display the alarm limits with the process variables </a:t>
            </a:r>
          </a:p>
          <a:p>
            <a:r>
              <a:rPr lang="en-IN" dirty="0" smtClean="0"/>
              <a:t>If the system detects multiple alarm condition ,operator interface should indicate the operator with priority of the various alarm conditions</a:t>
            </a:r>
          </a:p>
          <a:p>
            <a:r>
              <a:rPr lang="en-IN" dirty="0" smtClean="0"/>
              <a:t>Operator requires trending of the process variable moving condition. Trending graphs should be provided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12847703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PROCESS CONTROL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Operator interface should allow the operator to do the following functions to control the process:</a:t>
            </a:r>
          </a:p>
          <a:p>
            <a:pPr marL="0" indent="0">
              <a:buNone/>
            </a:pPr>
            <a:r>
              <a:rPr lang="en-IN" dirty="0" smtClean="0"/>
              <a:t>    </a:t>
            </a:r>
            <a:r>
              <a:rPr lang="en-IN" dirty="0" smtClean="0"/>
              <a:t>1</a:t>
            </a:r>
            <a:r>
              <a:rPr lang="en-IN" dirty="0" smtClean="0"/>
              <a:t>. To access all control loops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</a:t>
            </a:r>
            <a:r>
              <a:rPr lang="en-IN" dirty="0" smtClean="0"/>
              <a:t> </a:t>
            </a:r>
            <a:r>
              <a:rPr lang="en-IN" dirty="0" smtClean="0"/>
              <a:t>2. To change the control modes from auto to manual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</a:t>
            </a:r>
            <a:r>
              <a:rPr lang="en-IN" dirty="0" smtClean="0"/>
              <a:t>3</a:t>
            </a:r>
            <a:r>
              <a:rPr lang="en-IN" dirty="0" smtClean="0"/>
              <a:t>. To perform logic control </a:t>
            </a:r>
            <a:r>
              <a:rPr lang="en-IN" dirty="0" smtClean="0"/>
              <a:t>operations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smtClean="0"/>
              <a:t>   </a:t>
            </a:r>
            <a:r>
              <a:rPr lang="en-IN" dirty="0" smtClean="0"/>
              <a:t>4. To observe the current status and to initiate new steps or Halt</a:t>
            </a:r>
          </a:p>
          <a:p>
            <a:pPr marL="0" indent="0">
              <a:buNone/>
            </a:pPr>
            <a:r>
              <a:rPr lang="en-IN" dirty="0" smtClean="0"/>
              <a:t> </a:t>
            </a:r>
            <a:r>
              <a:rPr lang="en-IN" dirty="0" smtClean="0"/>
              <a:t>   </a:t>
            </a:r>
            <a:r>
              <a:rPr lang="en-IN" dirty="0" smtClean="0"/>
              <a:t>5. To access and be able to manipulate control variables despite any single point failure</a:t>
            </a:r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r>
              <a:rPr lang="en-IN" dirty="0" smtClean="0"/>
              <a:t>                       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4214908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PROCESS DIAGNOSTICS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dirty="0" smtClean="0"/>
              <a:t>Operator interface should allow the operator to identify the equipment causing the problem, take measures to correct </a:t>
            </a:r>
            <a:r>
              <a:rPr lang="en-IN" dirty="0" err="1" smtClean="0"/>
              <a:t>it,move</a:t>
            </a:r>
            <a:r>
              <a:rPr lang="en-IN" dirty="0" smtClean="0"/>
              <a:t> the process to back normal operation</a:t>
            </a:r>
          </a:p>
          <a:p>
            <a:r>
              <a:rPr lang="en-IN" dirty="0" smtClean="0"/>
              <a:t>Diagnostics features: </a:t>
            </a:r>
          </a:p>
          <a:p>
            <a:pPr marL="0" indent="0">
              <a:buNone/>
            </a:pPr>
            <a:r>
              <a:rPr lang="en-IN" dirty="0" smtClean="0"/>
              <a:t>             </a:t>
            </a:r>
            <a:r>
              <a:rPr lang="en-IN" dirty="0" smtClean="0"/>
              <a:t>1</a:t>
            </a:r>
            <a:r>
              <a:rPr lang="en-IN" dirty="0" smtClean="0"/>
              <a:t>. ongoing tests and reasonable checks on the sensors </a:t>
            </a:r>
          </a:p>
          <a:p>
            <a:pPr marL="0" indent="0">
              <a:buNone/>
            </a:pPr>
            <a:r>
              <a:rPr lang="en-IN" dirty="0"/>
              <a:t>	 </a:t>
            </a:r>
            <a:r>
              <a:rPr lang="en-IN" dirty="0" smtClean="0"/>
              <a:t>   2. ongoing self tests on the components and modules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    3. should display all the process information with alarms for malfunctioning(first out alarms and priority alarming functions)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</a:t>
            </a:r>
          </a:p>
        </p:txBody>
      </p:sp>
    </p:spTree>
    <p:extLst>
      <p:ext uri="{BB962C8B-B14F-4D97-AF65-F5344CB8AC3E}">
        <p14:creationId xmlns="" xmlns:p14="http://schemas.microsoft.com/office/powerpoint/2010/main" val="17174696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PROCESS RECORD KEEPING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 smtClean="0"/>
              <a:t>Record keeping was one of the first functions to be automated using conventional computer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1. Recording of short term trending information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2.manual input of process data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3. recording of alarms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4. periodic records of process variables information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5. long time storage and retrieval of information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6. Record of operator control actions</a:t>
            </a:r>
            <a:endParaRPr lang="en-IN" dirty="0"/>
          </a:p>
        </p:txBody>
      </p:sp>
    </p:spTree>
    <p:extLst>
      <p:ext uri="{BB962C8B-B14F-4D97-AF65-F5344CB8AC3E}">
        <p14:creationId xmlns="" xmlns:p14="http://schemas.microsoft.com/office/powerpoint/2010/main" val="6733373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LOW LEVEL OPERATOR INTERFACE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 smtClean="0"/>
              <a:t>Directly connected to LCU for controlling and monitoring</a:t>
            </a:r>
          </a:p>
          <a:p>
            <a:r>
              <a:rPr lang="en-IN" dirty="0" smtClean="0"/>
              <a:t>Motivations for using LLOI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1. provides an interface to operators trained to use panel board     </a:t>
            </a:r>
          </a:p>
          <a:p>
            <a:pPr marL="0" indent="0">
              <a:buNone/>
            </a:pPr>
            <a:r>
              <a:rPr lang="en-IN" dirty="0" smtClean="0"/>
              <a:t>               instrumentation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2. less expensive for small applications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3. can provide manual backup</a:t>
            </a:r>
          </a:p>
          <a:p>
            <a:pPr marL="0" indent="0">
              <a:buNone/>
            </a:pPr>
            <a:r>
              <a:rPr lang="en-IN" dirty="0" smtClean="0"/>
              <a:t>The devices are used in LLOI: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1. control stations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2. indicator stations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3. alarm annunciators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smtClean="0"/>
              <a:t>4. trend recorders</a:t>
            </a:r>
          </a:p>
        </p:txBody>
      </p:sp>
    </p:spTree>
    <p:extLst>
      <p:ext uri="{BB962C8B-B14F-4D97-AF65-F5344CB8AC3E}">
        <p14:creationId xmlns="" xmlns:p14="http://schemas.microsoft.com/office/powerpoint/2010/main" val="162866163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LOW LEVEL OPERATOR INTERFACE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CONTINUOUS CONTROL STATION</a:t>
            </a:r>
            <a:r>
              <a:rPr lang="en-IN" dirty="0" smtClean="0"/>
              <a:t>: one type of panel board instrumentation used in process control system is the manual/automatic station associated with a continuous control loop</a:t>
            </a:r>
          </a:p>
          <a:p>
            <a:endParaRPr lang="en-IN" dirty="0"/>
          </a:p>
          <a:p>
            <a:endParaRPr lang="en-IN" dirty="0" smtClean="0"/>
          </a:p>
          <a:p>
            <a:pPr marL="0" indent="0">
              <a:buNone/>
            </a:pPr>
            <a:endParaRPr lang="en-IN" dirty="0" smtClean="0"/>
          </a:p>
        </p:txBody>
      </p:sp>
      <p:pic>
        <p:nvPicPr>
          <p:cNvPr id="4" name="Picture 4" descr="page17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924" y="3036278"/>
            <a:ext cx="5908430" cy="354036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10015893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 smtClean="0"/>
              <a:t>LOW LEVEL OPERATOR INTERFACE</a:t>
            </a: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smtClean="0"/>
              <a:t>LOGIC STATION</a:t>
            </a:r>
            <a:r>
              <a:rPr lang="en-IN" dirty="0" smtClean="0"/>
              <a:t>: control station for a logic and sequential control system. consists of a set of pushbuttons indicating lights for logic operations.</a:t>
            </a:r>
          </a:p>
          <a:p>
            <a:pPr marL="0" indent="0">
              <a:buNone/>
            </a:pPr>
            <a:endParaRPr lang="en-IN" dirty="0" smtClean="0"/>
          </a:p>
        </p:txBody>
      </p:sp>
      <p:pic>
        <p:nvPicPr>
          <p:cNvPr id="4" name="Picture 5" descr="page1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08" y="3091851"/>
            <a:ext cx="5840308" cy="338234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05327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OPERATOR INTERFACE…</a:t>
            </a:r>
          </a:p>
        </p:txBody>
      </p:sp>
      <p:sp>
        <p:nvSpPr>
          <p:cNvPr id="283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sz="2400" b="1" dirty="0"/>
              <a:t>SMART ANNUNCIATORS</a:t>
            </a:r>
            <a:r>
              <a:rPr lang="en-US" sz="2400" dirty="0"/>
              <a:t>:</a:t>
            </a:r>
          </a:p>
          <a:p>
            <a:pPr marL="609600" indent="-609600">
              <a:buFontTx/>
              <a:buNone/>
            </a:pPr>
            <a:r>
              <a:rPr lang="en-US" sz="2400" dirty="0"/>
              <a:t>It  can provide the following functions: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Alarm prioritization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Annunciation and acknowledgement mode options</a:t>
            </a:r>
          </a:p>
          <a:p>
            <a:pPr marL="609600" indent="-609600">
              <a:buFontTx/>
              <a:buAutoNum type="arabicPeriod"/>
            </a:pPr>
            <a:r>
              <a:rPr lang="en-US" sz="2400" dirty="0"/>
              <a:t>First-out annunciation</a:t>
            </a:r>
          </a:p>
          <a:p>
            <a:pPr marL="609600" indent="-609600"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40359943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OPERATOR INTERFACE…</a:t>
            </a:r>
          </a:p>
        </p:txBody>
      </p:sp>
      <p:sp>
        <p:nvSpPr>
          <p:cNvPr id="284675" name="Rectangle 3"/>
          <p:cNvSpPr>
            <a:spLocks noGrp="1" noChangeArrowheads="1"/>
          </p:cNvSpPr>
          <p:nvPr>
            <p:ph idx="1"/>
          </p:nvPr>
        </p:nvSpPr>
        <p:spPr>
          <a:xfrm>
            <a:off x="430824" y="1664677"/>
            <a:ext cx="7974623" cy="478301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sz="2800" b="1" dirty="0"/>
              <a:t>Selection of Station Components: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The designer should meet the following requirements: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    1. Displays and pushbuttons should be sealed against the atmosphere to avoid contamination.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    2. Displays should be selected for high visibility in the expected ambient light environment.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sz="2400" dirty="0"/>
              <a:t>        3. Each pushbutton when depressed should provide tactile feedback to the operator to minimize potential errors.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="" xmlns:p14="http://schemas.microsoft.com/office/powerpoint/2010/main" val="3327556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79585"/>
            <a:ext cx="8229600" cy="990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LOW LEVEL OPERATOR INTERFACE…</a:t>
            </a:r>
          </a:p>
        </p:txBody>
      </p:sp>
      <p:sp>
        <p:nvSpPr>
          <p:cNvPr id="285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57754"/>
            <a:ext cx="7992208" cy="4519246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Application in Distributed System:</a:t>
            </a:r>
          </a:p>
          <a:p>
            <a:pPr>
              <a:buFontTx/>
              <a:buNone/>
            </a:pPr>
            <a:r>
              <a:rPr lang="en-US" dirty="0"/>
              <a:t>       1. Small control systems</a:t>
            </a:r>
          </a:p>
          <a:p>
            <a:pPr>
              <a:buFontTx/>
              <a:buNone/>
            </a:pPr>
            <a:r>
              <a:rPr lang="en-US" dirty="0"/>
              <a:t>       2. Backup mechanism for critical process control loops</a:t>
            </a:r>
          </a:p>
        </p:txBody>
      </p:sp>
    </p:spTree>
    <p:extLst>
      <p:ext uri="{BB962C8B-B14F-4D97-AF65-F5344CB8AC3E}">
        <p14:creationId xmlns="" xmlns:p14="http://schemas.microsoft.com/office/powerpoint/2010/main" val="2883550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HIGH LEVEL OPERATOR INTERFACE</a:t>
            </a:r>
          </a:p>
        </p:txBody>
      </p:sp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23292"/>
            <a:ext cx="8132885" cy="4906108"/>
          </a:xfrm>
        </p:spPr>
        <p:txBody>
          <a:bodyPr>
            <a:normAutofit fontScale="92500"/>
          </a:bodyPr>
          <a:lstStyle/>
          <a:p>
            <a:pPr algn="just"/>
            <a:r>
              <a:rPr lang="en-US" sz="2800" dirty="0"/>
              <a:t>HLOI in a DCS is  a shared interface that is not dedicated to any particular LCU.</a:t>
            </a:r>
          </a:p>
          <a:p>
            <a:pPr algn="just"/>
            <a:r>
              <a:rPr lang="en-US" sz="2800" dirty="0"/>
              <a:t>HLOI is used to monitor and control the operation of the process through any or all of the LCUs in the distributed system.</a:t>
            </a:r>
          </a:p>
          <a:p>
            <a:pPr algn="just"/>
            <a:r>
              <a:rPr lang="en-US" sz="2800" dirty="0"/>
              <a:t>HLOI hardware </a:t>
            </a:r>
            <a:r>
              <a:rPr lang="en-US" sz="2800"/>
              <a:t>uses </a:t>
            </a:r>
            <a:r>
              <a:rPr lang="en-US" sz="2800" smtClean="0"/>
              <a:t>advanced </a:t>
            </a:r>
            <a:r>
              <a:rPr lang="en-US" sz="2800" dirty="0"/>
              <a:t>display technology in console configurations often called video display units (VDUs).</a:t>
            </a:r>
          </a:p>
          <a:p>
            <a:pPr algn="just"/>
            <a:r>
              <a:rPr lang="en-US" sz="2800" dirty="0"/>
              <a:t>HLOI accepts operator inputs through keyboards instead of the switches, push-buttons, and potentiometers characteristic of conventional operator interface panels.</a:t>
            </a:r>
          </a:p>
        </p:txBody>
      </p:sp>
    </p:spTree>
    <p:extLst>
      <p:ext uri="{BB962C8B-B14F-4D97-AF65-F5344CB8AC3E}">
        <p14:creationId xmlns="" xmlns:p14="http://schemas.microsoft.com/office/powerpoint/2010/main" val="4266975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HIGH LEVEL OPERATOR INTERFACE…</a:t>
            </a:r>
          </a:p>
        </p:txBody>
      </p:sp>
      <p:sp>
        <p:nvSpPr>
          <p:cNvPr id="287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Advantages:</a:t>
            </a:r>
          </a:p>
          <a:p>
            <a:pPr>
              <a:buFontTx/>
              <a:buNone/>
            </a:pPr>
            <a:r>
              <a:rPr lang="en-US"/>
              <a:t>       * Control room space is reduced significantly</a:t>
            </a:r>
          </a:p>
          <a:p>
            <a:pPr>
              <a:buFontTx/>
              <a:buNone/>
            </a:pPr>
            <a:r>
              <a:rPr lang="en-US"/>
              <a:t>       * More flexible</a:t>
            </a:r>
          </a:p>
          <a:p>
            <a:pPr>
              <a:buFontTx/>
              <a:buNone/>
            </a:pPr>
            <a:r>
              <a:rPr lang="en-US"/>
              <a:t>       * Inexpensive </a:t>
            </a:r>
          </a:p>
        </p:txBody>
      </p:sp>
    </p:spTree>
    <p:extLst>
      <p:ext uri="{BB962C8B-B14F-4D97-AF65-F5344CB8AC3E}">
        <p14:creationId xmlns="" xmlns:p14="http://schemas.microsoft.com/office/powerpoint/2010/main" val="213917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OPERATOR INTERFACE…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492369" y="1371600"/>
            <a:ext cx="8229600" cy="5486400"/>
          </a:xfrm>
        </p:spPr>
        <p:txBody>
          <a:bodyPr>
            <a:normAutofit/>
          </a:bodyPr>
          <a:lstStyle/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b="1" dirty="0"/>
              <a:t>Hardware Elements in the Operator 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b="1" dirty="0"/>
              <a:t>Interface: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Microprocessor and Memory Components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Operator Input and Output Devices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Peripherals</a:t>
            </a:r>
          </a:p>
          <a:p>
            <a:pPr marL="609600" indent="-609600">
              <a:lnSpc>
                <a:spcPct val="90000"/>
              </a:lnSpc>
              <a:buFontTx/>
              <a:buAutoNum type="arabicPeriod"/>
            </a:pPr>
            <a:r>
              <a:rPr lang="en-US" sz="2800" dirty="0"/>
              <a:t>Modular Packaging Approach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b="1" dirty="0"/>
              <a:t>Characteristics of Modular Packaging: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         * Good </a:t>
            </a:r>
            <a:r>
              <a:rPr lang="en-US" sz="2800" dirty="0" smtClean="0"/>
              <a:t>design</a:t>
            </a:r>
            <a:endParaRPr lang="en-US" sz="2800" dirty="0"/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         * Elimination of glare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         * Easy accessibility of peripherals</a:t>
            </a:r>
          </a:p>
          <a:p>
            <a:pPr marL="609600" indent="-609600">
              <a:lnSpc>
                <a:spcPct val="90000"/>
              </a:lnSpc>
              <a:buFontTx/>
              <a:buNone/>
            </a:pPr>
            <a:r>
              <a:rPr lang="en-US" sz="2800" dirty="0"/>
              <a:t>         * Simple interconnection of modules</a:t>
            </a:r>
          </a:p>
        </p:txBody>
      </p:sp>
    </p:spTree>
    <p:extLst>
      <p:ext uri="{BB962C8B-B14F-4D97-AF65-F5344CB8AC3E}">
        <p14:creationId xmlns="" xmlns:p14="http://schemas.microsoft.com/office/powerpoint/2010/main" val="4163068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OPERATOR DISPLAYS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None/>
            </a:pPr>
            <a:r>
              <a:rPr lang="en-US" sz="2800"/>
              <a:t>INTRODUCTION:</a:t>
            </a:r>
          </a:p>
          <a:p>
            <a:pPr algn="just"/>
            <a:r>
              <a:rPr lang="en-US" sz="2800"/>
              <a:t>The panel board in a control room uses many square feet of dedicated instruments to provide the operator with the information and mechanisms needed to control the plant.</a:t>
            </a:r>
          </a:p>
          <a:p>
            <a:pPr algn="just"/>
            <a:r>
              <a:rPr lang="en-US" sz="2800"/>
              <a:t>The VDU in an HLOI system provides a window to the process that allows the operator to see only a relatively small amount of information at any one time on one or more CRT displays. </a:t>
            </a:r>
          </a:p>
        </p:txBody>
      </p:sp>
    </p:spTree>
    <p:extLst>
      <p:ext uri="{BB962C8B-B14F-4D97-AF65-F5344CB8AC3E}">
        <p14:creationId xmlns="" xmlns:p14="http://schemas.microsoft.com/office/powerpoint/2010/main" val="2805270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838200"/>
          </a:xfrm>
        </p:spPr>
        <p:txBody>
          <a:bodyPr/>
          <a:lstStyle/>
          <a:p>
            <a:r>
              <a:rPr lang="en-US" sz="3200"/>
              <a:t>OPERATOR DISPLAYS…</a:t>
            </a:r>
          </a:p>
        </p:txBody>
      </p:sp>
      <p:sp>
        <p:nvSpPr>
          <p:cNvPr id="3020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/>
              <a:t>Typical Display Hierarchy:</a:t>
            </a:r>
          </a:p>
          <a:p>
            <a:pPr>
              <a:buFontTx/>
              <a:buNone/>
            </a:pPr>
            <a:endParaRPr lang="en-US"/>
          </a:p>
        </p:txBody>
      </p:sp>
      <p:pic>
        <p:nvPicPr>
          <p:cNvPr id="302084" name="Picture 4" descr="page18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676400"/>
            <a:ext cx="7391400" cy="4953000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4184266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OPERATOR DISPLAYS…</a:t>
            </a:r>
          </a:p>
        </p:txBody>
      </p:sp>
      <p:sp>
        <p:nvSpPr>
          <p:cNvPr id="303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Tx/>
              <a:buAutoNum type="arabicPeriod"/>
            </a:pPr>
            <a:r>
              <a:rPr lang="en-US" sz="2800"/>
              <a:t>PLANT LEVEL:</a:t>
            </a:r>
          </a:p>
          <a:p>
            <a:pPr marL="609600" indent="-609600" algn="just">
              <a:buFontTx/>
              <a:buNone/>
            </a:pPr>
            <a:r>
              <a:rPr lang="en-US" sz="2800"/>
              <a:t>        - provides information about the entire plant.</a:t>
            </a:r>
          </a:p>
          <a:p>
            <a:pPr marL="609600" indent="-609600" algn="just">
              <a:buFontTx/>
              <a:buNone/>
            </a:pPr>
            <a:r>
              <a:rPr lang="en-US" sz="2800"/>
              <a:t>        - If plant is large enough, then it can be broken up into several areas of interest.</a:t>
            </a:r>
          </a:p>
          <a:p>
            <a:pPr marL="609600" indent="-609600" algn="just">
              <a:buFontTx/>
              <a:buNone/>
            </a:pPr>
            <a:r>
              <a:rPr lang="en-US" sz="2800"/>
              <a:t>2. AREA LEVEL:</a:t>
            </a:r>
          </a:p>
          <a:p>
            <a:pPr marL="609600" indent="-609600" algn="just">
              <a:buFontTx/>
              <a:buNone/>
            </a:pPr>
            <a:r>
              <a:rPr lang="en-US" sz="2800"/>
              <a:t>        - provides information concerning the portion of the plant equipment that is related in some way.</a:t>
            </a:r>
          </a:p>
          <a:p>
            <a:pPr marL="609600" indent="-609600" algn="just">
              <a:buFontTx/>
              <a:buNone/>
            </a:pPr>
            <a:r>
              <a:rPr lang="en-US" sz="2800"/>
              <a:t> </a:t>
            </a:r>
          </a:p>
        </p:txBody>
      </p:sp>
    </p:spTree>
    <p:extLst>
      <p:ext uri="{BB962C8B-B14F-4D97-AF65-F5344CB8AC3E}">
        <p14:creationId xmlns="" xmlns:p14="http://schemas.microsoft.com/office/powerpoint/2010/main" val="1024260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OPERATOR DISPLAYS…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3. GROUP LEVEL:</a:t>
            </a:r>
          </a:p>
          <a:p>
            <a:pPr algn="just">
              <a:buFontTx/>
              <a:buNone/>
            </a:pPr>
            <a:r>
              <a:rPr lang="en-US"/>
              <a:t>      - Displays at this level deal with the control loops and data points relating to a single process unit within a plant area.</a:t>
            </a:r>
          </a:p>
          <a:p>
            <a:pPr algn="just">
              <a:buFontTx/>
              <a:buNone/>
            </a:pPr>
            <a:r>
              <a:rPr lang="en-US"/>
              <a:t>4. LOOP LEVEL:</a:t>
            </a:r>
          </a:p>
          <a:p>
            <a:pPr algn="just">
              <a:buFontTx/>
              <a:buNone/>
            </a:pPr>
            <a:r>
              <a:rPr lang="en-US"/>
              <a:t>        - Displays at this level deal with individual control loop, control sequences and data points.</a:t>
            </a:r>
          </a:p>
          <a:p>
            <a:pPr>
              <a:buFontTx/>
              <a:buNone/>
            </a:pPr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33122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OPERATOR DISPLAYS…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sz="2400" dirty="0"/>
              <a:t>FEATURES OF GENERAL DISPLAY STRUCTURE:</a:t>
            </a:r>
          </a:p>
          <a:p>
            <a:pPr algn="just"/>
            <a:r>
              <a:rPr lang="en-US" sz="2800" dirty="0"/>
              <a:t>Covers the full range of detail of information required by the operator.</a:t>
            </a:r>
          </a:p>
          <a:p>
            <a:pPr algn="just"/>
            <a:r>
              <a:rPr lang="en-US" sz="2800" dirty="0"/>
              <a:t>Allows grouping of available information.</a:t>
            </a:r>
          </a:p>
          <a:p>
            <a:pPr algn="just"/>
            <a:r>
              <a:rPr lang="en-US" sz="2800" dirty="0"/>
              <a:t>Allows the operator to form a mental model of the relationships of </a:t>
            </a:r>
            <a:r>
              <a:rPr lang="en-US" sz="2800" dirty="0" smtClean="0"/>
              <a:t> </a:t>
            </a:r>
            <a:r>
              <a:rPr lang="en-US" sz="2800" dirty="0"/>
              <a:t>various pieces of information in the plant.</a:t>
            </a:r>
          </a:p>
        </p:txBody>
      </p:sp>
    </p:spTree>
    <p:extLst>
      <p:ext uri="{BB962C8B-B14F-4D97-AF65-F5344CB8AC3E}">
        <p14:creationId xmlns="" xmlns:p14="http://schemas.microsoft.com/office/powerpoint/2010/main" val="176047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Autofit/>
          </a:bodyPr>
          <a:lstStyle/>
          <a:p>
            <a:r>
              <a:rPr lang="en-US" b="1" dirty="0"/>
              <a:t>OPERATOR DISPLAYS…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413239" y="1225062"/>
            <a:ext cx="8229600" cy="5715000"/>
          </a:xfrm>
        </p:spPr>
        <p:txBody>
          <a:bodyPr/>
          <a:lstStyle/>
          <a:p>
            <a:pPr marL="609600" indent="-609600" algn="just">
              <a:lnSpc>
                <a:spcPct val="80000"/>
              </a:lnSpc>
              <a:buFontTx/>
              <a:buNone/>
            </a:pPr>
            <a:r>
              <a:rPr lang="en-US" sz="2800" dirty="0"/>
              <a:t>Design Considerations for Displays:</a:t>
            </a:r>
          </a:p>
          <a:p>
            <a:pPr marL="609600" indent="-609600" algn="just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Display should not be cluttered. They must be as simple as possible.</a:t>
            </a:r>
          </a:p>
          <a:p>
            <a:pPr marL="609600" indent="-609600" algn="just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Displays should not be overly “flashy” or have light colored backgrounds.</a:t>
            </a:r>
          </a:p>
          <a:p>
            <a:pPr marL="609600" indent="-609600" algn="just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The top line or two of each display should contain common information of interest to the operator like current date, time, overview of the alarm status.</a:t>
            </a:r>
          </a:p>
          <a:p>
            <a:pPr marL="609600" indent="-609600" algn="just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Color should be used in a consistent way throughout all displays to minimize operator confusion.</a:t>
            </a:r>
          </a:p>
          <a:p>
            <a:pPr marL="609600" indent="-609600" algn="just">
              <a:lnSpc>
                <a:spcPct val="80000"/>
              </a:lnSpc>
              <a:buFontTx/>
              <a:buAutoNum type="arabicPeriod"/>
            </a:pPr>
            <a:r>
              <a:rPr lang="en-US" sz="2800" dirty="0"/>
              <a:t>Color should not be the only means for communicating with the operator.</a:t>
            </a:r>
          </a:p>
        </p:txBody>
      </p:sp>
    </p:spTree>
    <p:extLst>
      <p:ext uri="{BB962C8B-B14F-4D97-AF65-F5344CB8AC3E}">
        <p14:creationId xmlns="" xmlns:p14="http://schemas.microsoft.com/office/powerpoint/2010/main" val="552820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Plant status display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42976" y="1500174"/>
            <a:ext cx="6224954" cy="4986988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7710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Area overview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00100" y="1643050"/>
            <a:ext cx="6770077" cy="4888523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73622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Group display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529862" y="1600200"/>
            <a:ext cx="6189785" cy="4495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52085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Operator display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784839" y="1565031"/>
            <a:ext cx="5755862" cy="44958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188459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ENGINEERING INTERFACE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>
          <a:xfrm>
            <a:off x="404446" y="1436077"/>
            <a:ext cx="8229600" cy="5105400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/>
              <a:t>Levels of Engineering Interface Hardware: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Low level- Minimum function device that are inexpensive and justifiable for small systems.</a:t>
            </a:r>
          </a:p>
          <a:p>
            <a:pPr marL="609600" indent="-609600">
              <a:buFontTx/>
              <a:buAutoNum type="arabicPeriod"/>
            </a:pPr>
            <a:r>
              <a:rPr lang="en-US" dirty="0"/>
              <a:t>High Level- Full function devices that are more powerful, that are needed for medium and large sized DCS.</a:t>
            </a:r>
          </a:p>
        </p:txBody>
      </p:sp>
    </p:spTree>
    <p:extLst>
      <p:ext uri="{BB962C8B-B14F-4D97-AF65-F5344CB8AC3E}">
        <p14:creationId xmlns="" xmlns:p14="http://schemas.microsoft.com/office/powerpoint/2010/main" val="8871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ENGINEERING INTERFACE….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FontTx/>
              <a:buNone/>
            </a:pPr>
            <a:r>
              <a:rPr lang="en-US" sz="2800"/>
              <a:t>Functions of Engineering Interface Hardware:</a:t>
            </a:r>
          </a:p>
          <a:p>
            <a:pPr marL="609600" indent="-609600">
              <a:buFontTx/>
              <a:buAutoNum type="arabicPeriod"/>
            </a:pPr>
            <a:r>
              <a:rPr lang="en-US" sz="2800"/>
              <a:t>System configuration</a:t>
            </a:r>
          </a:p>
          <a:p>
            <a:pPr marL="609600" indent="-609600">
              <a:buFontTx/>
              <a:buAutoNum type="arabicPeriod"/>
            </a:pPr>
            <a:r>
              <a:rPr lang="en-US" sz="2800"/>
              <a:t>Operator interface configuration</a:t>
            </a:r>
          </a:p>
          <a:p>
            <a:pPr marL="609600" indent="-609600">
              <a:buFontTx/>
              <a:buAutoNum type="arabicPeriod"/>
            </a:pPr>
            <a:r>
              <a:rPr lang="en-US" sz="2800"/>
              <a:t>System documentation</a:t>
            </a:r>
          </a:p>
          <a:p>
            <a:pPr marL="609600" indent="-609600">
              <a:buFontTx/>
              <a:buAutoNum type="arabicPeriod"/>
            </a:pPr>
            <a:r>
              <a:rPr lang="en-US" sz="2800"/>
              <a:t>System failure diagnosis</a:t>
            </a:r>
          </a:p>
          <a:p>
            <a:pPr marL="609600" indent="-609600">
              <a:buFontTx/>
              <a:buNone/>
            </a:pPr>
            <a:endParaRPr lang="en-US" sz="2800"/>
          </a:p>
        </p:txBody>
      </p:sp>
    </p:spTree>
    <p:extLst>
      <p:ext uri="{BB962C8B-B14F-4D97-AF65-F5344CB8AC3E}">
        <p14:creationId xmlns="" xmlns:p14="http://schemas.microsoft.com/office/powerpoint/2010/main" val="3117854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ENGINEERING INTERFACE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idx="1"/>
          </p:nvPr>
        </p:nvSpPr>
        <p:spPr>
          <a:xfrm>
            <a:off x="480646" y="1811216"/>
            <a:ext cx="8229600" cy="5410200"/>
          </a:xfrm>
        </p:spPr>
        <p:txBody>
          <a:bodyPr/>
          <a:lstStyle/>
          <a:p>
            <a:pPr algn="just"/>
            <a:r>
              <a:rPr lang="en-US" dirty="0"/>
              <a:t>LLEI is designed to be a minimum function, inexpensive device whose cost is justifiable for small DCS.</a:t>
            </a:r>
          </a:p>
          <a:p>
            <a:pPr algn="just"/>
            <a:r>
              <a:rPr lang="en-US" dirty="0"/>
              <a:t>It can also be used as a local maintenance and diagnostic tool in large systems.</a:t>
            </a:r>
          </a:p>
        </p:txBody>
      </p:sp>
    </p:spTree>
    <p:extLst>
      <p:ext uri="{BB962C8B-B14F-4D97-AF65-F5344CB8AC3E}">
        <p14:creationId xmlns="" xmlns:p14="http://schemas.microsoft.com/office/powerpoint/2010/main" val="1162340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ENGINEERING INTERFACE…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404447" y="1512277"/>
            <a:ext cx="8229600" cy="5562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800" dirty="0" smtClean="0"/>
              <a:t>LLEI </a:t>
            </a:r>
            <a:r>
              <a:rPr lang="en-US" sz="2800" dirty="0"/>
              <a:t>is usually a microprocessor based device designed either as an electronic module or as a hand held portable device.</a:t>
            </a:r>
          </a:p>
          <a:p>
            <a:pPr>
              <a:lnSpc>
                <a:spcPct val="90000"/>
              </a:lnSpc>
            </a:pPr>
            <a:r>
              <a:rPr lang="en-US" sz="2800" dirty="0"/>
              <a:t>To minimize the cost, the device is usually designed with a minimal keyboard or alphanumeric display.</a:t>
            </a:r>
          </a:p>
          <a:p>
            <a:pPr>
              <a:lnSpc>
                <a:spcPct val="90000"/>
              </a:lnSpc>
            </a:pPr>
            <a:r>
              <a:rPr lang="en-US" sz="2800" dirty="0" smtClean="0"/>
              <a:t>Some </a:t>
            </a:r>
            <a:r>
              <a:rPr lang="en-US" sz="2800" dirty="0"/>
              <a:t>LLEIs are connected directly to one LCU and Data I/O unit at a time.</a:t>
            </a:r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86483465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ENGINEERING INTERFACE…</a:t>
            </a:r>
          </a:p>
        </p:txBody>
      </p:sp>
      <p:sp>
        <p:nvSpPr>
          <p:cNvPr id="313347" name="Rectangle 3"/>
          <p:cNvSpPr>
            <a:spLocks noGrp="1" noChangeArrowheads="1"/>
          </p:cNvSpPr>
          <p:nvPr>
            <p:ph idx="1"/>
          </p:nvPr>
        </p:nvSpPr>
        <p:spPr>
          <a:xfrm>
            <a:off x="448408" y="1846384"/>
            <a:ext cx="8229600" cy="54864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b="1" dirty="0"/>
              <a:t>System Configuration: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distributed systems provide a </a:t>
            </a:r>
            <a:r>
              <a:rPr lang="en-US" b="1" dirty="0"/>
              <a:t>system engineering guide </a:t>
            </a:r>
            <a:r>
              <a:rPr lang="en-US" dirty="0"/>
              <a:t>that helps the user, a step by step procedure for hardware configuration.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primary purpose of the LLEI is to provide a tool for </a:t>
            </a:r>
            <a:r>
              <a:rPr lang="en-US" b="1" dirty="0"/>
              <a:t>configuring the algorithms</a:t>
            </a:r>
            <a:r>
              <a:rPr lang="en-US" dirty="0"/>
              <a:t> in the system controllers.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It is necessary to install a control configuration in a </a:t>
            </a:r>
            <a:r>
              <a:rPr lang="en-US" b="1" dirty="0"/>
              <a:t>spare controller </a:t>
            </a:r>
            <a:r>
              <a:rPr lang="en-US" dirty="0"/>
              <a:t>used to replace a failed controller.</a:t>
            </a:r>
          </a:p>
          <a:p>
            <a:pPr algn="just">
              <a:lnSpc>
                <a:spcPct val="90000"/>
              </a:lnSpc>
              <a:buFontTx/>
              <a:buNone/>
            </a:pPr>
            <a:endParaRPr lang="en-US" dirty="0"/>
          </a:p>
          <a:p>
            <a:pPr>
              <a:lnSpc>
                <a:spcPct val="90000"/>
              </a:lnSpc>
              <a:buFontTx/>
              <a:buNone/>
            </a:pP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7620557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45831" y="29307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LOW LEVEL ENGINEERING INTERFACE…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515816" y="1629508"/>
            <a:ext cx="8229600" cy="5638800"/>
          </a:xfrm>
        </p:spPr>
        <p:txBody>
          <a:bodyPr/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b="1" dirty="0"/>
              <a:t>Operator Interface Configuration: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LLEI is used only by DCS which are small that have only a </a:t>
            </a:r>
            <a:r>
              <a:rPr lang="en-US" b="1" dirty="0"/>
              <a:t>limited no. of control loops.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Operator interface is also simple usually consisting of a small no. of </a:t>
            </a:r>
            <a:r>
              <a:rPr lang="en-US" b="1" dirty="0"/>
              <a:t>dedicated panel board devices.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The connections of panel board instrumentation, between stations and controllers are </a:t>
            </a:r>
            <a:r>
              <a:rPr lang="en-US" b="1" dirty="0"/>
              <a:t>through hard wiring or cabling</a:t>
            </a:r>
            <a:r>
              <a:rPr lang="en-US" dirty="0"/>
              <a:t>. Changes are difficult to make.</a:t>
            </a:r>
          </a:p>
        </p:txBody>
      </p:sp>
    </p:spTree>
    <p:extLst>
      <p:ext uri="{BB962C8B-B14F-4D97-AF65-F5344CB8AC3E}">
        <p14:creationId xmlns="" xmlns:p14="http://schemas.microsoft.com/office/powerpoint/2010/main" val="257913218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LOW LEVEL ENGINEERING INTERFACE…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b="1" dirty="0"/>
              <a:t>Documentation:</a:t>
            </a:r>
          </a:p>
          <a:p>
            <a:pPr algn="just"/>
            <a:r>
              <a:rPr lang="en-US" dirty="0"/>
              <a:t>The automation of documentation of the hardware and control configuration is less or nil.</a:t>
            </a:r>
          </a:p>
          <a:p>
            <a:pPr algn="just"/>
            <a:r>
              <a:rPr lang="en-US" dirty="0"/>
              <a:t>The documentation is a manual process, with the help of standard forms in the system engineering guide.</a:t>
            </a:r>
          </a:p>
        </p:txBody>
      </p:sp>
    </p:spTree>
    <p:extLst>
      <p:ext uri="{BB962C8B-B14F-4D97-AF65-F5344CB8AC3E}">
        <p14:creationId xmlns="" xmlns:p14="http://schemas.microsoft.com/office/powerpoint/2010/main" val="19762706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</a:t>
            </a:r>
          </a:p>
        </p:txBody>
      </p:sp>
      <p:sp>
        <p:nvSpPr>
          <p:cNvPr id="3174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946031"/>
            <a:ext cx="8176847" cy="4530969"/>
          </a:xfrm>
        </p:spPr>
        <p:txBody>
          <a:bodyPr/>
          <a:lstStyle/>
          <a:p>
            <a:pPr algn="just"/>
            <a:r>
              <a:rPr lang="en-US" dirty="0"/>
              <a:t>HLEI allows a user to use the full benefit of the flexibility and control capability of a DCS with minimal cost.</a:t>
            </a:r>
          </a:p>
          <a:p>
            <a:pPr algn="just"/>
            <a:r>
              <a:rPr lang="en-US" dirty="0"/>
              <a:t>The cost is minimum when used with medium to large scale systems.</a:t>
            </a:r>
          </a:p>
        </p:txBody>
      </p:sp>
    </p:spTree>
    <p:extLst>
      <p:ext uri="{BB962C8B-B14F-4D97-AF65-F5344CB8AC3E}">
        <p14:creationId xmlns="" xmlns:p14="http://schemas.microsoft.com/office/powerpoint/2010/main" val="161331302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184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/>
          <a:lstStyle/>
          <a:p>
            <a:pPr algn="just"/>
            <a:r>
              <a:rPr lang="en-US" dirty="0" smtClean="0"/>
              <a:t>HLEI </a:t>
            </a:r>
            <a:r>
              <a:rPr lang="en-US" dirty="0"/>
              <a:t>is implemented in the form of a </a:t>
            </a:r>
            <a:r>
              <a:rPr lang="en-US" dirty="0" smtClean="0"/>
              <a:t>VDU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The VDU architecture is modular with multiple microprocessors.</a:t>
            </a:r>
          </a:p>
          <a:p>
            <a:pPr algn="just"/>
            <a:r>
              <a:rPr lang="en-US" dirty="0"/>
              <a:t>This provides increased flexibility.</a:t>
            </a:r>
          </a:p>
          <a:p>
            <a:pPr algn="just"/>
            <a:r>
              <a:rPr lang="en-US" dirty="0"/>
              <a:t>It interacts with other elements in DCS through the shared communications facility. </a:t>
            </a:r>
          </a:p>
        </p:txBody>
      </p:sp>
    </p:spTree>
    <p:extLst>
      <p:ext uri="{BB962C8B-B14F-4D97-AF65-F5344CB8AC3E}">
        <p14:creationId xmlns="" xmlns:p14="http://schemas.microsoft.com/office/powerpoint/2010/main" val="31693073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875692"/>
            <a:ext cx="7913077" cy="475370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sz="2800" b="1" dirty="0"/>
              <a:t>System Configuration: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HLEI plays a major role in automating the process of configuring a DCS.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The following information can be stored: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         * Definition of any hardware options.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         * Definition of each input point.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         * Number, type and location of each hardware module.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         * Logic state descriptions.</a:t>
            </a:r>
          </a:p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         * Control and high level language computational algorithms</a:t>
            </a:r>
            <a:r>
              <a:rPr lang="en-US" sz="2800" dirty="0" smtClean="0"/>
              <a:t>.</a:t>
            </a: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18319865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buFontTx/>
              <a:buNone/>
            </a:pPr>
            <a:r>
              <a:rPr lang="en-US" sz="2800" b="1" dirty="0"/>
              <a:t>Operator Interface Configuration:</a:t>
            </a:r>
          </a:p>
          <a:p>
            <a:pPr algn="just"/>
            <a:r>
              <a:rPr lang="en-US" sz="2800" dirty="0"/>
              <a:t>Configure or change its display structure and parameters in a convenient manner.</a:t>
            </a:r>
          </a:p>
          <a:p>
            <a:pPr algn="just"/>
            <a:r>
              <a:rPr lang="en-US" sz="2800" dirty="0"/>
              <a:t>Should be able to download displays and display hierarchies configured on one engineer’s console to any other operators console.</a:t>
            </a:r>
          </a:p>
          <a:p>
            <a:pPr algn="just">
              <a:buFontTx/>
              <a:buNone/>
            </a:pPr>
            <a:r>
              <a:rPr lang="en-US" sz="2800" dirty="0"/>
              <a:t>Steps in Configuring:</a:t>
            </a:r>
          </a:p>
          <a:p>
            <a:pPr algn="just"/>
            <a:r>
              <a:rPr lang="en-US" sz="2800" dirty="0"/>
              <a:t>To structure a hierarchy of displays.</a:t>
            </a:r>
          </a:p>
          <a:p>
            <a:pPr algn="just"/>
            <a:r>
              <a:rPr lang="en-US" sz="2800" dirty="0"/>
              <a:t>Define the individual displays.</a:t>
            </a:r>
          </a:p>
        </p:txBody>
      </p:sp>
    </p:spTree>
    <p:extLst>
      <p:ext uri="{BB962C8B-B14F-4D97-AF65-F5344CB8AC3E}">
        <p14:creationId xmlns="" xmlns:p14="http://schemas.microsoft.com/office/powerpoint/2010/main" val="28447114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25635" name="Rectangle 3"/>
          <p:cNvSpPr>
            <a:spLocks noGrp="1" noChangeArrowheads="1"/>
          </p:cNvSpPr>
          <p:nvPr>
            <p:ph idx="1"/>
          </p:nvPr>
        </p:nvSpPr>
        <p:spPr>
          <a:xfrm>
            <a:off x="428596" y="1714488"/>
            <a:ext cx="7737231" cy="4278923"/>
          </a:xfrm>
        </p:spPr>
        <p:txBody>
          <a:bodyPr>
            <a:normAutofit fontScale="92500"/>
          </a:bodyPr>
          <a:lstStyle/>
          <a:p>
            <a:pPr>
              <a:buFontTx/>
              <a:buNone/>
            </a:pPr>
            <a:r>
              <a:rPr lang="en-US" b="1" dirty="0"/>
              <a:t>Documentation:</a:t>
            </a:r>
          </a:p>
          <a:p>
            <a:pPr algn="just"/>
            <a:r>
              <a:rPr lang="en-US" dirty="0"/>
              <a:t>It can reduce the amount of time required to configure a control system and its associated operator interface.</a:t>
            </a:r>
          </a:p>
          <a:p>
            <a:pPr algn="just"/>
            <a:r>
              <a:rPr lang="en-US" dirty="0"/>
              <a:t>After the configuration process, all the information defining hardware, control logic, computational algorithms and displays is stored in mass memory.</a:t>
            </a:r>
          </a:p>
          <a:p>
            <a:pPr algn="just"/>
            <a:r>
              <a:rPr lang="en-US" dirty="0"/>
              <a:t>This make it possible to completely </a:t>
            </a:r>
            <a:r>
              <a:rPr lang="en-US" dirty="0" smtClean="0"/>
              <a:t>automate </a:t>
            </a:r>
            <a:r>
              <a:rPr lang="en-US" dirty="0"/>
              <a:t>the process of documenting.</a:t>
            </a:r>
          </a:p>
        </p:txBody>
      </p:sp>
    </p:spTree>
    <p:extLst>
      <p:ext uri="{BB962C8B-B14F-4D97-AF65-F5344CB8AC3E}">
        <p14:creationId xmlns="" xmlns:p14="http://schemas.microsoft.com/office/powerpoint/2010/main" val="184822741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/>
              <a:t>Design Consideration for documentation:</a:t>
            </a:r>
          </a:p>
          <a:p>
            <a:pPr algn="just"/>
            <a:r>
              <a:rPr lang="en-US"/>
              <a:t>List of hardware module in DCS.</a:t>
            </a:r>
          </a:p>
          <a:p>
            <a:pPr algn="just"/>
            <a:r>
              <a:rPr lang="en-US"/>
              <a:t>Documentation of control configuration and associated tuning parameters.</a:t>
            </a:r>
          </a:p>
          <a:p>
            <a:pPr algn="just"/>
            <a:r>
              <a:rPr lang="en-US"/>
              <a:t>Listing of tags in DCS, special operator functions that are associated with tag.</a:t>
            </a:r>
          </a:p>
          <a:p>
            <a:pPr algn="just"/>
            <a:r>
              <a:rPr lang="en-US"/>
              <a:t>Definition of operator displays.</a:t>
            </a:r>
          </a:p>
        </p:txBody>
      </p:sp>
    </p:spTree>
    <p:extLst>
      <p:ext uri="{BB962C8B-B14F-4D97-AF65-F5344CB8AC3E}">
        <p14:creationId xmlns="" xmlns:p14="http://schemas.microsoft.com/office/powerpoint/2010/main" val="2448331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HIGH LEVEL ENGINEERING INTERFACE…</a:t>
            </a:r>
          </a:p>
        </p:txBody>
      </p:sp>
      <p:sp>
        <p:nvSpPr>
          <p:cNvPr id="32870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2039815"/>
            <a:ext cx="7658100" cy="4513385"/>
          </a:xfrm>
        </p:spPr>
        <p:txBody>
          <a:bodyPr>
            <a:normAutofit fontScale="92500"/>
          </a:bodyPr>
          <a:lstStyle/>
          <a:p>
            <a:pPr algn="just">
              <a:lnSpc>
                <a:spcPct val="90000"/>
              </a:lnSpc>
              <a:buFontTx/>
              <a:buNone/>
            </a:pPr>
            <a:r>
              <a:rPr lang="en-US" sz="2800" dirty="0"/>
              <a:t>Diagnosis of System Problems: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HLEI helps in diagnosing failures and other problems in DCS.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Most of this hardware is microprocessor based and has the intelligence to perform on-line self diagnostics.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Overall diagnostic status is indicated in top line of each display in the HLOI system.</a:t>
            </a:r>
          </a:p>
          <a:p>
            <a:pPr algn="just">
              <a:lnSpc>
                <a:spcPct val="90000"/>
              </a:lnSpc>
            </a:pPr>
            <a:r>
              <a:rPr lang="en-US" sz="2800" dirty="0"/>
              <a:t>If any problem occurs, then a status alarms goes </a:t>
            </a:r>
            <a:r>
              <a:rPr lang="en-US" sz="2800" dirty="0" smtClean="0"/>
              <a:t>ON </a:t>
            </a:r>
            <a:r>
              <a:rPr lang="en-US" sz="2800" dirty="0"/>
              <a:t>and the operator or engineer can call up a hierarchy of diagnostic displays to pinpoint the problem.</a:t>
            </a:r>
          </a:p>
          <a:p>
            <a:pPr algn="just"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</p:txBody>
      </p:sp>
    </p:spTree>
    <p:extLst>
      <p:ext uri="{BB962C8B-B14F-4D97-AF65-F5344CB8AC3E}">
        <p14:creationId xmlns="" xmlns:p14="http://schemas.microsoft.com/office/powerpoint/2010/main" val="345126869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>
            <a:normAutofit lnSpcReduction="10000"/>
          </a:bodyPr>
          <a:lstStyle/>
          <a:p>
            <a:r>
              <a:rPr lang="en-IN" u="sng" dirty="0" smtClean="0"/>
              <a:t>Book references: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lang="en-US" sz="2000" i="1" dirty="0" smtClean="0"/>
              <a:t>Krishna Kant, Computer Based Industrial Control,    Second edition, Prentice Hall of India, New Delhi,2015</a:t>
            </a:r>
            <a:endParaRPr lang="en-IN" sz="2000" i="1" dirty="0" smtClean="0"/>
          </a:p>
          <a:p>
            <a:pPr>
              <a:buNone/>
            </a:pPr>
            <a:r>
              <a:rPr lang="en-IN" sz="2000" dirty="0" smtClean="0"/>
              <a:t>   	</a:t>
            </a:r>
            <a:r>
              <a:rPr lang="en-IN" sz="2000" i="1" dirty="0" smtClean="0"/>
              <a:t>Michael P Lukas, Distributed Control </a:t>
            </a:r>
            <a:r>
              <a:rPr lang="en-IN" sz="2000" i="1" dirty="0" err="1" smtClean="0"/>
              <a:t>Sytems</a:t>
            </a:r>
            <a:r>
              <a:rPr lang="en-IN" sz="2000" i="1" dirty="0" smtClean="0"/>
              <a:t>- their evaluation and design, Van  </a:t>
            </a:r>
            <a:r>
              <a:rPr lang="en-IN" sz="2000" i="1" dirty="0" err="1" smtClean="0"/>
              <a:t>Nostrand</a:t>
            </a:r>
            <a:r>
              <a:rPr lang="en-IN" sz="2000" i="1" dirty="0" smtClean="0"/>
              <a:t> Reinhold company, USA, 1986</a:t>
            </a:r>
            <a:endParaRPr lang="en-IN" dirty="0" smtClean="0"/>
          </a:p>
          <a:p>
            <a:r>
              <a:rPr lang="en-IN" u="sng" dirty="0" smtClean="0"/>
              <a:t>Video references:</a:t>
            </a:r>
          </a:p>
          <a:p>
            <a:pPr>
              <a:buNone/>
            </a:pPr>
            <a:r>
              <a:rPr lang="en-IN" sz="2400" dirty="0" smtClean="0"/>
              <a:t>Introduction to DCS</a:t>
            </a:r>
          </a:p>
          <a:p>
            <a:pPr>
              <a:buNone/>
            </a:pPr>
            <a:r>
              <a:rPr lang="en-IN" sz="2400" dirty="0" smtClean="0">
                <a:hlinkClick r:id="rId2"/>
              </a:rPr>
              <a:t>https://www.youtube.com/watch?v=jXRksET5vNo</a:t>
            </a:r>
            <a:endParaRPr lang="en-IN" sz="2400" dirty="0" smtClean="0"/>
          </a:p>
          <a:p>
            <a:pPr>
              <a:buNone/>
            </a:pPr>
            <a:r>
              <a:rPr lang="en-IN" sz="2400" dirty="0" smtClean="0"/>
              <a:t>Difference Between PLC and DCS</a:t>
            </a:r>
          </a:p>
          <a:p>
            <a:pPr>
              <a:buNone/>
            </a:pPr>
            <a:r>
              <a:rPr lang="en-IN" sz="2400" u="sng" dirty="0" smtClean="0">
                <a:hlinkClick r:id="rId3"/>
              </a:rPr>
              <a:t>https://</a:t>
            </a:r>
            <a:r>
              <a:rPr lang="en-IN" sz="2400" u="sng" dirty="0" smtClean="0">
                <a:hlinkClick r:id="rId3"/>
              </a:rPr>
              <a:t>www.youtube.com/watch?v=iF99iKlDpxA</a:t>
            </a:r>
            <a:endParaRPr lang="en-IN" sz="2400" u="sng" dirty="0" smtClean="0"/>
          </a:p>
          <a:p>
            <a:pPr>
              <a:buNone/>
            </a:pPr>
            <a:r>
              <a:rPr lang="en-IN" sz="2400" u="sng" dirty="0" smtClean="0"/>
              <a:t>https://www.youtube.com/watch?v=SM07KPSdlME&amp;t=599s</a:t>
            </a:r>
            <a:endParaRPr lang="en-IN" sz="2400" u="sng" dirty="0" smtClean="0"/>
          </a:p>
          <a:p>
            <a:pPr>
              <a:buNone/>
            </a:pPr>
            <a:endParaRPr lang="en-IN" sz="2400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1568</TotalTime>
  <Words>3048</Words>
  <Application>Microsoft Office PowerPoint</Application>
  <PresentationFormat>On-screen Show (4:3)</PresentationFormat>
  <Paragraphs>390</Paragraphs>
  <Slides>74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5" baseType="lpstr">
      <vt:lpstr>Median</vt:lpstr>
      <vt:lpstr>Slide 1</vt:lpstr>
      <vt:lpstr>Evolution of Industrial Control</vt:lpstr>
      <vt:lpstr>Power plant Layout</vt:lpstr>
      <vt:lpstr>Introduction to control techniques</vt:lpstr>
      <vt:lpstr>PLC Vs DCS</vt:lpstr>
      <vt:lpstr>Hybrid control system</vt:lpstr>
      <vt:lpstr>Hybrid architecture</vt:lpstr>
      <vt:lpstr>Central computer system architecture</vt:lpstr>
      <vt:lpstr>Drawbacks of centralized control</vt:lpstr>
      <vt:lpstr>Distributed Control System </vt:lpstr>
      <vt:lpstr>Evolution of Distributed Control System </vt:lpstr>
      <vt:lpstr>Need for distributed control</vt:lpstr>
      <vt:lpstr>Comparison between CCS and DCS</vt:lpstr>
      <vt:lpstr>DCS-Manufacturers</vt:lpstr>
      <vt:lpstr>DCS architecture</vt:lpstr>
      <vt:lpstr>DCS hardware</vt:lpstr>
      <vt:lpstr>Local control Unit (LCU)</vt:lpstr>
      <vt:lpstr>Functions of LCU</vt:lpstr>
      <vt:lpstr>Block diagram of LCU</vt:lpstr>
      <vt:lpstr>LCU configurations-A,B,C</vt:lpstr>
      <vt:lpstr>Comparison of configurations</vt:lpstr>
      <vt:lpstr>Functional Blocks (FB)</vt:lpstr>
      <vt:lpstr>Typical Functional blocks</vt:lpstr>
      <vt:lpstr>Functional Block Libraries</vt:lpstr>
      <vt:lpstr>Typical FB libraries</vt:lpstr>
      <vt:lpstr>LCU Architecture parameters</vt:lpstr>
      <vt:lpstr>Human Machine Interface</vt:lpstr>
      <vt:lpstr>Interfacing requirements</vt:lpstr>
      <vt:lpstr>Reliable interfacing </vt:lpstr>
      <vt:lpstr>Low level User Interface</vt:lpstr>
      <vt:lpstr>High Level User Interface</vt:lpstr>
      <vt:lpstr>Comparison of architectures</vt:lpstr>
      <vt:lpstr>Operator Interfaces</vt:lpstr>
      <vt:lpstr>Low and High Level HMI</vt:lpstr>
      <vt:lpstr>OPERATORS RESPONSIBILITY</vt:lpstr>
      <vt:lpstr>PROCESS MONITORING</vt:lpstr>
      <vt:lpstr>PROCESS MONITORING</vt:lpstr>
      <vt:lpstr>PROCESS CONTROL</vt:lpstr>
      <vt:lpstr>PROCESS DIAGNOSTICS</vt:lpstr>
      <vt:lpstr>PROCESS RECORD KEEPING</vt:lpstr>
      <vt:lpstr>LOW LEVEL OPERATOR INTERFACE</vt:lpstr>
      <vt:lpstr>LOW LEVEL OPERATOR INTERFACE</vt:lpstr>
      <vt:lpstr>LOW LEVEL OPERATOR INTERFACE</vt:lpstr>
      <vt:lpstr>LOW LEVEL OPERATOR INTERFACE…</vt:lpstr>
      <vt:lpstr>LOW LEVEL OPERATOR INTERFACE…</vt:lpstr>
      <vt:lpstr>LOW LEVEL OPERATOR INTERFACE…</vt:lpstr>
      <vt:lpstr>HIGH LEVEL OPERATOR INTERFACE</vt:lpstr>
      <vt:lpstr>HIGH LEVEL OPERATOR INTERFACE…</vt:lpstr>
      <vt:lpstr>HIGH LEVEL OPERATOR INTERFACE…</vt:lpstr>
      <vt:lpstr>OPERATOR DISPLAYS </vt:lpstr>
      <vt:lpstr>OPERATOR DISPLAYS…</vt:lpstr>
      <vt:lpstr>OPERATOR DISPLAYS…</vt:lpstr>
      <vt:lpstr>OPERATOR DISPLAYS…</vt:lpstr>
      <vt:lpstr>OPERATOR DISPLAYS…</vt:lpstr>
      <vt:lpstr>OPERATOR DISPLAYS…</vt:lpstr>
      <vt:lpstr>Plant status display</vt:lpstr>
      <vt:lpstr>Area overview</vt:lpstr>
      <vt:lpstr>Group display</vt:lpstr>
      <vt:lpstr>Operator display</vt:lpstr>
      <vt:lpstr>ENGINEERING INTERFACE </vt:lpstr>
      <vt:lpstr>ENGINEERING INTERFACE….</vt:lpstr>
      <vt:lpstr>LOW LEVEL ENGINEERING INTERFACE</vt:lpstr>
      <vt:lpstr>LOW LEVEL ENGINEERING INTERFACE…</vt:lpstr>
      <vt:lpstr>LOW LEVEL ENGINEERING INTERFACE…</vt:lpstr>
      <vt:lpstr>LOW LEVEL ENGINEERING INTERFACE…</vt:lpstr>
      <vt:lpstr>LOW LEVEL ENGINEERING INTERFACE…</vt:lpstr>
      <vt:lpstr>HIGH LEVEL ENGINEERING INTERFACE</vt:lpstr>
      <vt:lpstr>HIGH LEVEL ENGINEERING INTERFACE…</vt:lpstr>
      <vt:lpstr>HIGH LEVEL ENGINEERING INTERFACE…</vt:lpstr>
      <vt:lpstr>HIGH LEVEL ENGINEERING INTERFACE…</vt:lpstr>
      <vt:lpstr>HIGH LEVEL ENGINEERING INTERFACE…</vt:lpstr>
      <vt:lpstr>HIGH LEVEL ENGINEERING INTERFACE…</vt:lpstr>
      <vt:lpstr>HIGH LEVEL ENGINEERING INTERFACE…</vt:lpstr>
      <vt:lpstr>References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18ECO134T- Industrial Automation</dc:title>
  <dc:creator>HP</dc:creator>
  <cp:lastModifiedBy>HI</cp:lastModifiedBy>
  <cp:revision>79</cp:revision>
  <dcterms:created xsi:type="dcterms:W3CDTF">2020-09-04T09:03:30Z</dcterms:created>
  <dcterms:modified xsi:type="dcterms:W3CDTF">2022-12-09T11:42:12Z</dcterms:modified>
</cp:coreProperties>
</file>