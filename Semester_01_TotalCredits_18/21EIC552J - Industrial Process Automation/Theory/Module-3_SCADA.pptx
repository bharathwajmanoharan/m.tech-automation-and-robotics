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1" roundtripDataSignature="AMtx7miss2lJKHDStYtXspQ8fe4GcAsu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2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0" name="Google Shape;20;p2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9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6" name="Google Shape;26;p2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33" name="Google Shape;33;p3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39" name="Google Shape;39;p3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40" name="Google Shape;40;p3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5" name="Google Shape;55;p3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6" name="Google Shape;56;p3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7" name="Google Shape;57;p3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8" name="Google Shape;58;p3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64" name="Google Shape;64;p3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65" name="Google Shape;65;p3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71" name="Google Shape;71;p3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77" name="Google Shape;77;p3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electrical4u.com/control-system-closed-loop-open-loop-control-system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www.electrical4u.com/guidance-to-fiber-optic-cable-selection/" TargetMode="External"/></Relationships>
</file>

<file path=ppt/slides/_rels/slide23.xml.rels><?xml version="1.0" encoding="UTF-8" standalone="yes"?><Relationships xmlns="http://schemas.openxmlformats.org/package/2006/relationships"><Relationship Id="rId10" Type="http://schemas.openxmlformats.org/officeDocument/2006/relationships/hyperlink" Target="http://thermal-power-plants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://electric-power-generation-transmission-and-distribution" TargetMode="External"/><Relationship Id="rId4" Type="http://schemas.openxmlformats.org/officeDocument/2006/relationships/hyperlink" Target="http://manufacturing-units" TargetMode="External"/><Relationship Id="rId9" Type="http://schemas.openxmlformats.org/officeDocument/2006/relationships/hyperlink" Target="http://thermal-power-plants" TargetMode="External"/><Relationship Id="rId5" Type="http://schemas.openxmlformats.org/officeDocument/2006/relationships/hyperlink" Target="http://mass-transit-and-railway-traction" TargetMode="External"/><Relationship Id="rId6" Type="http://schemas.openxmlformats.org/officeDocument/2006/relationships/hyperlink" Target="http://water-waste-water-utilities-and-sewage" TargetMode="External"/><Relationship Id="rId7" Type="http://schemas.openxmlformats.org/officeDocument/2006/relationships/hyperlink" Target="http://buildings-facilities-and-environments" TargetMode="External"/><Relationship Id="rId8" Type="http://schemas.openxmlformats.org/officeDocument/2006/relationships/hyperlink" Target="http://water-security-the-role-of-the-scada-system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UNIT - </a:t>
            </a:r>
            <a:r>
              <a:rPr b="1" lang="en-US"/>
              <a:t>4</a:t>
            </a:r>
            <a:endParaRPr/>
          </a:p>
        </p:txBody>
      </p:sp>
      <p:sp>
        <p:nvSpPr>
          <p:cNvPr id="85" name="Google Shape;85;p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t/>
            </a:r>
            <a:endParaRPr b="1" i="0" sz="5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SCADA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SCADA stands for “Supervisory Control and Data Acquisition”.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SCADA is a type of process </a:t>
            </a:r>
            <a:r>
              <a:rPr b="0" i="0" lang="en-US" sz="3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control system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architecture that uses computers, networked data communications and graphical Human Machine Interfaces (HMIs) to enable a high-level process supervisory management and control.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Functions of SCADA Systems</a:t>
            </a:r>
            <a:b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96" name="Google Shape;96;p3"/>
          <p:cNvSpPr txBox="1"/>
          <p:nvPr>
            <p:ph idx="1" type="body"/>
          </p:nvPr>
        </p:nvSpPr>
        <p:spPr>
          <a:xfrm>
            <a:off x="428625" y="1285875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SCADA system is a collection of hardware and software components that allows the manufacturing units to perform specific functions.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monitor and gather data in real-time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interact with field devices and control stations via Human Machine Interface (HMI)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record systems events into a log file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control manufacturing process virtually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Information Storage and Reports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Components of a SCADA system</a:t>
            </a:r>
            <a:endParaRPr/>
          </a:p>
        </p:txBody>
      </p:sp>
      <p:sp>
        <p:nvSpPr>
          <p:cNvPr id="102" name="Google Shape;102;p4"/>
          <p:cNvSpPr txBox="1"/>
          <p:nvPr>
            <p:ph idx="1" type="body"/>
          </p:nvPr>
        </p:nvSpPr>
        <p:spPr>
          <a:xfrm>
            <a:off x="457200" y="1125537"/>
            <a:ext cx="8229600" cy="500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Master Terminal Unit (MTU)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Remote Terminal Unit (RTU)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Communication Network </a:t>
            </a:r>
            <a:endParaRPr/>
          </a:p>
        </p:txBody>
      </p:sp>
      <p:pic>
        <p:nvPicPr>
          <p:cNvPr id="103" name="Google Shape;10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8812" y="2133600"/>
            <a:ext cx="5427662" cy="429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SCADA system</a:t>
            </a:r>
            <a:endParaRPr/>
          </a:p>
        </p:txBody>
      </p:sp>
      <p:pic>
        <p:nvPicPr>
          <p:cNvPr id="109" name="Google Shape;109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912" y="1557337"/>
            <a:ext cx="6480175" cy="4995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br>
              <a:rPr b="1" i="0" lang="en-US" sz="3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Master Terminal Unit (MTU)</a:t>
            </a:r>
            <a:br>
              <a:rPr b="1" i="0" lang="en-US" sz="3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MTU is the core of the SCADA system.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It comprises a computer, PLC and a network server that helps MTU to communicate with the RTUs.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MTU begins communication, collects and saves data, helps to interface with operators and to communicate data to other systems.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br>
              <a:rPr b="1" i="0" lang="en-US" sz="3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Remote Terminal Unit (RTU)</a:t>
            </a:r>
            <a:br>
              <a:rPr b="1" i="0" lang="en-US" sz="3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Remote Terminal Unit (RTU) is connected with sensors and actuators.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RTU is used to collect information from these sensors and further sends the data to MTU.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RTUs have the storage capacity facility. So, it stores the data and transmits the data when MTU sends the corresponding command.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Recently developed units are employed with systems, that utilize PLCs as RTUs. This helps for direct transfer and control of data without any signal from MTU.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RTU hardware module</a:t>
            </a:r>
            <a:endParaRPr/>
          </a:p>
        </p:txBody>
      </p:sp>
      <p:pic>
        <p:nvPicPr>
          <p:cNvPr descr="Remote Terminal Unit - an overview | ScienceDirect Topics" id="127" name="Google Shape;127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912" y="1844675"/>
            <a:ext cx="6769100" cy="37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idx="1" type="body"/>
          </p:nvPr>
        </p:nvSpPr>
        <p:spPr>
          <a:xfrm>
            <a:off x="395287" y="404812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processor (or CPU)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generally microprocessor based (16 or 32 bit)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RAM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is 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volatile memory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that temporarily stores the files you are working on. 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ROM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is non-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volatile memory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that permanently stores instructions for your computer.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Diagnostic LEDs provided on the control unit ease troubleshooting and diagnosis of problems (such as CPU failure/failure of I/O module etc).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real-time clock is useful for accurate time stamping of events.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watchdog timer is also required to provide a check that the RTU program is regularly executing.</a:t>
            </a:r>
            <a:endParaRPr/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Analog input modules</a:t>
            </a:r>
            <a:endParaRPr/>
          </a:p>
        </p:txBody>
      </p:sp>
      <p:sp>
        <p:nvSpPr>
          <p:cNvPr id="138" name="Google Shape;138;p10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are five main components making up an Analog input module. They are 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input multiplexer, 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input signal amplifier, 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sample and hold circuit, 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A/D converter and 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bus interface and board timing system.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196975"/>
            <a:ext cx="8229600" cy="504031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1"/>
          <p:cNvSpPr txBox="1"/>
          <p:nvPr/>
        </p:nvSpPr>
        <p:spPr>
          <a:xfrm>
            <a:off x="714375" y="357187"/>
            <a:ext cx="728662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Typical analog input module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Analog output module</a:t>
            </a:r>
            <a:endParaRPr/>
          </a:p>
        </p:txBody>
      </p:sp>
      <p:sp>
        <p:nvSpPr>
          <p:cNvPr id="150" name="Google Shape;150;p1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Typically the analog output module has the following features: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8 analogue outputs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Resolution of 8 or 12 bits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Conversion rate from 10 |i seconds to 30 milliseconds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Outputs ranging from 4-20 mA/± 10 volts/0 to 10 volts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Digital input module</a:t>
            </a:r>
            <a:endParaRPr/>
          </a:p>
        </p:txBody>
      </p:sp>
      <p:sp>
        <p:nvSpPr>
          <p:cNvPr id="156" name="Google Shape;156;p13"/>
          <p:cNvSpPr txBox="1"/>
          <p:nvPr>
            <p:ph idx="1" type="body"/>
          </p:nvPr>
        </p:nvSpPr>
        <p:spPr>
          <a:xfrm>
            <a:off x="500062" y="1285875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Typically the following would be expected of a digital input module: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16 digital inputs per module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Associated LED indicator for each input to indicate current states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Digital input voltages vary from 110/240 VAC and 12/24/48 VDC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Optical isolation provided for each digital input</a:t>
            </a:r>
            <a:endParaRPr/>
          </a:p>
        </p:txBody>
      </p:sp>
      <p:pic>
        <p:nvPicPr>
          <p:cNvPr id="157" name="Google Shape;15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7312" y="3429000"/>
            <a:ext cx="6172200" cy="3071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Digital output module</a:t>
            </a:r>
            <a:endParaRPr/>
          </a:p>
        </p:txBody>
      </p:sp>
      <p:sp>
        <p:nvSpPr>
          <p:cNvPr id="163" name="Google Shape;163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digital output module drives an output voltage at each of the appropriate output channels with three approaches possible: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Triac switching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Relay switching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TTL voltage outputs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Typical digital output modules consists of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digital outputs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240 V AC/24 V DC (0.5 amp to 2.0 amp) outputs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Associated LED indicator for each output to indicate current status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Optical isolation for each output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044700"/>
            <a:ext cx="8229600" cy="3636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4437" y="642937"/>
            <a:ext cx="5562600" cy="6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005012"/>
            <a:ext cx="8229600" cy="3716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8750" y="714375"/>
            <a:ext cx="501015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Discrete control</a:t>
            </a:r>
            <a:endParaRPr/>
          </a:p>
        </p:txBody>
      </p:sp>
      <p:pic>
        <p:nvPicPr>
          <p:cNvPr id="181" name="Google Shape;181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50" y="1285875"/>
            <a:ext cx="6858000" cy="361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5000625"/>
            <a:ext cx="4519612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 txBox="1"/>
          <p:nvPr/>
        </p:nvSpPr>
        <p:spPr>
          <a:xfrm>
            <a:off x="1071562" y="5357812"/>
            <a:ext cx="7072312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register can control eight discrete devices.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Valve close – 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Valve open - 1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062" y="1643062"/>
            <a:ext cx="8229600" cy="2884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1625" y="4857750"/>
            <a:ext cx="4643437" cy="309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Analog Control</a:t>
            </a:r>
            <a:endParaRPr/>
          </a:p>
        </p:txBody>
      </p:sp>
      <p:pic>
        <p:nvPicPr>
          <p:cNvPr id="195" name="Google Shape;19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1687" y="6143625"/>
            <a:ext cx="4762500" cy="27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9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92337" y="1600200"/>
            <a:ext cx="4759325" cy="4525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 has been set 11000000 – 75%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50% open – 10000000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100% open – 11111111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60% - 11011001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428750"/>
            <a:ext cx="8229600" cy="4100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28875" y="6072187"/>
            <a:ext cx="2552700" cy="261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Communication Network</a:t>
            </a:r>
            <a:b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213" name="Google Shape;213;p2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defined as a link between RTU in the field to MTU in the central location.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bidirectional wired or wireless communication channel is used for networking purposes.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Various other communication mediums like </a:t>
            </a:r>
            <a:r>
              <a:rPr b="0" i="0" lang="en-US" sz="32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fiber optic cables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twisted pair cables, etc. are also used.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b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SCADA Applications</a:t>
            </a:r>
            <a:b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b="0" i="0" lang="en-US" sz="2400" u="sng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Electric Power Generation, Transmission, and Distribution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b="0" i="0" lang="en-US" sz="2400" u="sng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Manufacturing Units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b="0" i="0" lang="en-US" sz="2400" u="sng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Mass transit and Railway Traction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b="0" i="0" lang="en-US" sz="2400" u="sng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Water, Waste Water Utilities and Sewage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b="0" i="0" lang="en-US" sz="2400" u="sng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Buildings, Facilities, and Environments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b="0" i="0" lang="en-US" sz="2400" u="sng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Water Security: The Role of the SCADA System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b="0" i="0" lang="en-US" sz="2400" u="sng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Thermal Power Plants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sng">
              <a:solidFill>
                <a:srgbClr val="FF0000"/>
              </a:solidFill>
              <a:latin typeface="Arial"/>
              <a:ea typeface="Arial"/>
              <a:cs typeface="Arial"/>
              <a:sym typeface="Arial"/>
              <a:hlinkClick r:id="rId10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SCADA software </a:t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SCADA software can be divided into two types, proprietary or open.</a:t>
            </a:r>
            <a:endParaRPr/>
          </a:p>
          <a:p>
            <a:pPr indent="0" lvl="1" marL="4000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1) Honeywell --- Experion HS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2) Trihedral --- VTScada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3) IDS --- HIGH-LEIT SCADA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4) Ecava --- IntegraXor ( IGX)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5) Copa --- Data zenOn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6) Afcon --- P-CIM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7) Ordinal --- MESbox SCADA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8) Yokogawa --- Fast/Tools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9) Siemens --- Simatic WinCC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10) TA-Engineering Products --- Aimax</a:t>
            </a:r>
            <a:endParaRPr/>
          </a:p>
          <a:p>
            <a:pPr indent="-2286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features of SCADA software are: 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 interface 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Graphics displays 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Alarms 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Trends 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RTU (and PLC) interface • Scalability 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Access to data 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Database 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Networking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Fault tolerance and redundancy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Client/server distributed processing</a:t>
            </a:r>
            <a:endParaRPr/>
          </a:p>
          <a:p>
            <a:pPr indent="-2286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2010-05-23T14:28:12Z</dcterms:created>
  <dc:creator>Mariajose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