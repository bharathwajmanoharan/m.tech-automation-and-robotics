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6858000" cx="9144000"/>
  <p:notesSz cx="6858000" cy="9144000"/>
  <p:embeddedFontLst>
    <p:embeddedFont>
      <p:font typeface="Garamond"/>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5" roundtripDataSignature="AMtx7mhYvzCkR/wZp4SVAvSHyZP3SBRT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CFB3B7-BB20-4718-880E-09D56612774D}">
  <a:tblStyle styleId="{08CFB3B7-BB20-4718-880E-09D56612774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Garamond-bold.fntdata"/><Relationship Id="rId61" Type="http://schemas.openxmlformats.org/officeDocument/2006/relationships/font" Target="fonts/Garamond-regular.fntdata"/><Relationship Id="rId20" Type="http://schemas.openxmlformats.org/officeDocument/2006/relationships/slide" Target="slides/slide14.xml"/><Relationship Id="rId64" Type="http://schemas.openxmlformats.org/officeDocument/2006/relationships/font" Target="fonts/Garamond-boldItalic.fntdata"/><Relationship Id="rId63" Type="http://schemas.openxmlformats.org/officeDocument/2006/relationships/font" Target="fonts/Garamond-italic.fntdata"/><Relationship Id="rId22" Type="http://schemas.openxmlformats.org/officeDocument/2006/relationships/slide" Target="slides/slide16.xml"/><Relationship Id="rId21" Type="http://schemas.openxmlformats.org/officeDocument/2006/relationships/slide" Target="slides/slide15.xml"/><Relationship Id="rId65"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 name="Google Shape;13;p5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4" name="Google Shape;14;p5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 name="Google Shape;19;p5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5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 name="Shape 23"/>
        <p:cNvGrpSpPr/>
        <p:nvPr/>
      </p:nvGrpSpPr>
      <p:grpSpPr>
        <a:xfrm>
          <a:off x="0" y="0"/>
          <a:ext cx="0" cy="0"/>
          <a:chOff x="0" y="0"/>
          <a:chExt cx="0" cy="0"/>
        </a:xfrm>
      </p:grpSpPr>
      <p:sp>
        <p:nvSpPr>
          <p:cNvPr id="24" name="Google Shape;24;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 name="Google Shape;26;p5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9" name="Shape 29"/>
        <p:cNvGrpSpPr/>
        <p:nvPr/>
      </p:nvGrpSpPr>
      <p:grpSpPr>
        <a:xfrm>
          <a:off x="0" y="0"/>
          <a:ext cx="0" cy="0"/>
          <a:chOff x="0" y="0"/>
          <a:chExt cx="0" cy="0"/>
        </a:xfrm>
      </p:grpSpPr>
      <p:sp>
        <p:nvSpPr>
          <p:cNvPr id="30" name="Google Shape;30;p5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59"/>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5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5" name="Shape 35"/>
        <p:cNvGrpSpPr/>
        <p:nvPr/>
      </p:nvGrpSpPr>
      <p:grpSpPr>
        <a:xfrm>
          <a:off x="0" y="0"/>
          <a:ext cx="0" cy="0"/>
          <a:chOff x="0" y="0"/>
          <a:chExt cx="0" cy="0"/>
        </a:xfrm>
      </p:grpSpPr>
      <p:sp>
        <p:nvSpPr>
          <p:cNvPr id="36" name="Google Shape;36;p6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60"/>
          <p:cNvSpPr/>
          <p:nvPr>
            <p:ph idx="2" type="pic"/>
          </p:nvPr>
        </p:nvSpPr>
        <p:spPr>
          <a:xfrm>
            <a:off x="1792288" y="612775"/>
            <a:ext cx="5486400" cy="4114800"/>
          </a:xfrm>
          <a:prstGeom prst="rect">
            <a:avLst/>
          </a:prstGeom>
          <a:noFill/>
          <a:ln>
            <a:noFill/>
          </a:ln>
        </p:spPr>
      </p:sp>
      <p:sp>
        <p:nvSpPr>
          <p:cNvPr id="38" name="Google Shape;38;p6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39" name="Google Shape;39;p6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2" name="Shape 42"/>
        <p:cNvGrpSpPr/>
        <p:nvPr/>
      </p:nvGrpSpPr>
      <p:grpSpPr>
        <a:xfrm>
          <a:off x="0" y="0"/>
          <a:ext cx="0" cy="0"/>
          <a:chOff x="0" y="0"/>
          <a:chExt cx="0" cy="0"/>
        </a:xfrm>
      </p:grpSpPr>
      <p:sp>
        <p:nvSpPr>
          <p:cNvPr id="43" name="Google Shape;43;p6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6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45" name="Google Shape;45;p6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46" name="Google Shape;46;p6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6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6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6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6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6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1" name="Google Shape;61;p6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2" name="Google Shape;62;p6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3" name="Google Shape;63;p6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4" name="Google Shape;64;p6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6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6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9" name="Google Shape;69;p6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70" name="Google Shape;70;p6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71" name="Google Shape;71;p6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6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6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77" name="Google Shape;77;p6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5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7" name="Google Shape;7;p5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 name="Google Shape;8;p5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5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5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22.png"/><Relationship Id="rId6"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6.png"/><Relationship Id="rId6" Type="http://schemas.openxmlformats.org/officeDocument/2006/relationships/image" Target="../media/image19.png"/></Relationships>
</file>

<file path=ppt/slides/_rels/slide11.xml.rels><?xml version="1.0" encoding="UTF-8" standalone="yes"?><Relationships xmlns="http://schemas.openxmlformats.org/package/2006/relationships"><Relationship Id="rId10"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23.png"/><Relationship Id="rId5" Type="http://schemas.openxmlformats.org/officeDocument/2006/relationships/image" Target="../media/image25.png"/><Relationship Id="rId6" Type="http://schemas.openxmlformats.org/officeDocument/2006/relationships/image" Target="../media/image29.png"/><Relationship Id="rId7" Type="http://schemas.openxmlformats.org/officeDocument/2006/relationships/image" Target="../media/image28.png"/><Relationship Id="rId8" Type="http://schemas.openxmlformats.org/officeDocument/2006/relationships/image" Target="../media/image5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31.png"/><Relationship Id="rId5"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1.png"/><Relationship Id="rId4" Type="http://schemas.openxmlformats.org/officeDocument/2006/relationships/image" Target="../media/image36.png"/><Relationship Id="rId5" Type="http://schemas.openxmlformats.org/officeDocument/2006/relationships/image" Target="../media/image24.png"/><Relationship Id="rId6" Type="http://schemas.openxmlformats.org/officeDocument/2006/relationships/image" Target="../media/image4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7.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5.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www.youtube.com/watch?v=7VpgURVaspU" TargetMode="External"/><Relationship Id="rId4" Type="http://schemas.openxmlformats.org/officeDocument/2006/relationships/hyperlink" Target="https://www.youtube.com/watch?v=ReTtgzN-Dmc" TargetMode="External"/><Relationship Id="rId5" Type="http://schemas.openxmlformats.org/officeDocument/2006/relationships/hyperlink" Target="https://www.youtube.com/watch?v=htlo_gUMJQ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8.png"/><Relationship Id="rId4" Type="http://schemas.openxmlformats.org/officeDocument/2006/relationships/image" Target="../media/image6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8.png"/><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8.png"/><Relationship Id="rId4" Type="http://schemas.openxmlformats.org/officeDocument/2006/relationships/image" Target="../media/image4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8.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8.png"/><Relationship Id="rId4" Type="http://schemas.openxmlformats.org/officeDocument/2006/relationships/image" Target="../media/image5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8.png"/><Relationship Id="rId4" Type="http://schemas.openxmlformats.org/officeDocument/2006/relationships/image" Target="../media/image6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8.png"/><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8.png"/><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7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8.png"/><Relationship Id="rId4" Type="http://schemas.openxmlformats.org/officeDocument/2006/relationships/image" Target="../media/image6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6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6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6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71.png"/><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0" r="0" t="0"/>
          <a:stretch/>
        </p:blipFill>
        <p:spPr>
          <a:xfrm>
            <a:off x="214312" y="214312"/>
            <a:ext cx="2000250" cy="1071562"/>
          </a:xfrm>
          <a:prstGeom prst="rect">
            <a:avLst/>
          </a:prstGeom>
          <a:noFill/>
          <a:ln>
            <a:noFill/>
          </a:ln>
        </p:spPr>
      </p:pic>
      <p:sp>
        <p:nvSpPr>
          <p:cNvPr id="85" name="Google Shape;85;p1"/>
          <p:cNvSpPr txBox="1"/>
          <p:nvPr>
            <p:ph idx="1" type="subTitle"/>
          </p:nvPr>
        </p:nvSpPr>
        <p:spPr>
          <a:xfrm>
            <a:off x="857250" y="5589587"/>
            <a:ext cx="7962900" cy="649287"/>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rgbClr val="000099"/>
              </a:buClr>
              <a:buSzPts val="2400"/>
              <a:buFont typeface="Arial"/>
              <a:buNone/>
            </a:pPr>
            <a:r>
              <a:rPr b="1" i="0" lang="en-US" sz="2400" u="none">
                <a:solidFill>
                  <a:srgbClr val="000099"/>
                </a:solidFill>
                <a:latin typeface="Arial"/>
                <a:ea typeface="Arial"/>
                <a:cs typeface="Arial"/>
                <a:sym typeface="Arial"/>
              </a:rPr>
              <a:t>SRM INSTITUTE OF SCIENCE AND TECHNOLOGY</a:t>
            </a:r>
            <a:endParaRPr/>
          </a:p>
        </p:txBody>
      </p:sp>
      <p:pic>
        <p:nvPicPr>
          <p:cNvPr id="86" name="Google Shape;86;p1"/>
          <p:cNvPicPr preferRelativeResize="0"/>
          <p:nvPr/>
        </p:nvPicPr>
        <p:blipFill rotWithShape="1">
          <a:blip r:embed="rId4">
            <a:alphaModFix/>
          </a:blip>
          <a:srcRect b="0" l="0" r="0" t="0"/>
          <a:stretch/>
        </p:blipFill>
        <p:spPr>
          <a:xfrm>
            <a:off x="7000875" y="214312"/>
            <a:ext cx="1949450" cy="1143000"/>
          </a:xfrm>
          <a:prstGeom prst="rect">
            <a:avLst/>
          </a:prstGeom>
          <a:noFill/>
          <a:ln>
            <a:noFill/>
          </a:ln>
        </p:spPr>
      </p:pic>
      <p:sp>
        <p:nvSpPr>
          <p:cNvPr id="87" name="Google Shape;87;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1" i="0" lang="en-US" sz="3200" u="none">
                <a:solidFill>
                  <a:schemeClr val="dk2"/>
                </a:solidFill>
                <a:latin typeface="Arial"/>
                <a:ea typeface="Arial"/>
                <a:cs typeface="Arial"/>
                <a:sym typeface="Arial"/>
              </a:rPr>
              <a:t> Industrial Process Automation </a:t>
            </a:r>
            <a:br>
              <a:rPr b="1" i="0" lang="en-US" sz="3200" u="none">
                <a:solidFill>
                  <a:schemeClr val="dk2"/>
                </a:solidFill>
                <a:latin typeface="Arial"/>
                <a:ea typeface="Arial"/>
                <a:cs typeface="Arial"/>
                <a:sym typeface="Arial"/>
              </a:rPr>
            </a:br>
            <a:r>
              <a:rPr b="1" i="0" lang="en-US" sz="3200" u="none">
                <a:solidFill>
                  <a:schemeClr val="dk2"/>
                </a:solidFill>
                <a:latin typeface="Arial"/>
                <a:ea typeface="Arial"/>
                <a:cs typeface="Arial"/>
                <a:sym typeface="Arial"/>
              </a:rPr>
              <a:t>-PLC Programming </a:t>
            </a:r>
            <a:endParaRPr/>
          </a:p>
        </p:txBody>
      </p:sp>
      <p:sp>
        <p:nvSpPr>
          <p:cNvPr id="88" name="Google Shape;88;p1"/>
          <p:cNvSpPr txBox="1"/>
          <p:nvPr/>
        </p:nvSpPr>
        <p:spPr>
          <a:xfrm>
            <a:off x="2571750" y="3857625"/>
            <a:ext cx="43578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UNIT - </a:t>
            </a:r>
            <a:r>
              <a:rPr b="1" lang="en-US" sz="3200">
                <a:solidFill>
                  <a:schemeClr val="dk1"/>
                </a:solidFill>
              </a:rPr>
              <a:t>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PLC Programming Languages </a:t>
            </a:r>
            <a:endParaRPr/>
          </a:p>
        </p:txBody>
      </p:sp>
      <p:pic>
        <p:nvPicPr>
          <p:cNvPr id="94" name="Google Shape;94;p2"/>
          <p:cNvPicPr preferRelativeResize="0"/>
          <p:nvPr>
            <p:ph idx="1" type="body"/>
          </p:nvPr>
        </p:nvPicPr>
        <p:blipFill rotWithShape="1">
          <a:blip r:embed="rId3">
            <a:alphaModFix/>
          </a:blip>
          <a:srcRect b="0" l="0" r="0" t="0"/>
          <a:stretch/>
        </p:blipFill>
        <p:spPr>
          <a:xfrm>
            <a:off x="700087" y="2133600"/>
            <a:ext cx="7743825" cy="3240087"/>
          </a:xfrm>
          <a:prstGeom prst="rect">
            <a:avLst/>
          </a:prstGeom>
          <a:noFill/>
          <a:ln>
            <a:noFill/>
          </a:ln>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2"/>
              </a:buClr>
              <a:buSzPts val="3200"/>
              <a:buFont typeface="Times New Roman"/>
              <a:buNone/>
            </a:pPr>
            <a:r>
              <a:rPr b="1" i="0" lang="en-US" sz="3200" u="none">
                <a:solidFill>
                  <a:schemeClr val="dk2"/>
                </a:solidFill>
                <a:latin typeface="Times New Roman"/>
                <a:ea typeface="Times New Roman"/>
                <a:cs typeface="Times New Roman"/>
                <a:sym typeface="Times New Roman"/>
              </a:rPr>
              <a:t>Ladder Diagram (LD)</a:t>
            </a:r>
            <a:br>
              <a:rPr b="0" i="0" lang="en-US" sz="3200" u="none">
                <a:solidFill>
                  <a:schemeClr val="dk2"/>
                </a:solidFill>
                <a:latin typeface="Times New Roman"/>
                <a:ea typeface="Times New Roman"/>
                <a:cs typeface="Times New Roman"/>
                <a:sym typeface="Times New Roman"/>
              </a:rPr>
            </a:br>
            <a:endParaRPr/>
          </a:p>
        </p:txBody>
      </p:sp>
      <p:sp>
        <p:nvSpPr>
          <p:cNvPr id="100" name="Google Shape;100;p3"/>
          <p:cNvSpPr txBox="1"/>
          <p:nvPr>
            <p:ph idx="1" type="body"/>
          </p:nvPr>
        </p:nvSpPr>
        <p:spPr>
          <a:xfrm>
            <a:off x="638175" y="1343025"/>
            <a:ext cx="7886700" cy="43513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It is a symbolic depiction of </a:t>
            </a:r>
            <a:r>
              <a:rPr b="0" i="0" lang="en-US" sz="3200" u="none" cap="none" strike="noStrike">
                <a:solidFill>
                  <a:srgbClr val="FF0000"/>
                </a:solidFill>
                <a:latin typeface="Times New Roman"/>
                <a:ea typeface="Times New Roman"/>
                <a:cs typeface="Times New Roman"/>
                <a:sym typeface="Times New Roman"/>
              </a:rPr>
              <a:t>instructions arranged in rungs </a:t>
            </a:r>
            <a:r>
              <a:rPr b="0" i="0" lang="en-US" sz="3200" u="none" cap="none" strike="noStrike">
                <a:solidFill>
                  <a:schemeClr val="dk1"/>
                </a:solidFill>
                <a:latin typeface="Times New Roman"/>
                <a:ea typeface="Times New Roman"/>
                <a:cs typeface="Times New Roman"/>
                <a:sym typeface="Times New Roman"/>
              </a:rPr>
              <a:t>similar to ladder formatted schematic diagrams.</a:t>
            </a:r>
            <a:endParaRPr/>
          </a:p>
        </p:txBody>
      </p:sp>
      <p:pic>
        <p:nvPicPr>
          <p:cNvPr id="101" name="Google Shape;101;p3"/>
          <p:cNvPicPr preferRelativeResize="0"/>
          <p:nvPr/>
        </p:nvPicPr>
        <p:blipFill rotWithShape="1">
          <a:blip r:embed="rId3">
            <a:alphaModFix/>
          </a:blip>
          <a:srcRect b="0" l="0" r="0" t="0"/>
          <a:stretch/>
        </p:blipFill>
        <p:spPr>
          <a:xfrm>
            <a:off x="2571750" y="2928937"/>
            <a:ext cx="4500562" cy="3567112"/>
          </a:xfrm>
          <a:prstGeom prst="rect">
            <a:avLst/>
          </a:prstGeom>
          <a:noFill/>
          <a:ln>
            <a:noFill/>
          </a:ln>
        </p:spPr>
      </p:pic>
      <p:sp>
        <p:nvSpPr>
          <p:cNvPr id="102" name="Google Shape;102;p3"/>
          <p:cNvSpPr txBox="1"/>
          <p:nvPr/>
        </p:nvSpPr>
        <p:spPr>
          <a:xfrm>
            <a:off x="1214437" y="3225800"/>
            <a:ext cx="1038225" cy="647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Power rail</a:t>
            </a:r>
            <a:endParaRPr/>
          </a:p>
        </p:txBody>
      </p:sp>
      <p:sp>
        <p:nvSpPr>
          <p:cNvPr id="103" name="Google Shape;103;p3"/>
          <p:cNvSpPr txBox="1"/>
          <p:nvPr/>
        </p:nvSpPr>
        <p:spPr>
          <a:xfrm>
            <a:off x="1420812" y="4754562"/>
            <a:ext cx="107791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Rung</a:t>
            </a:r>
            <a:endParaRPr/>
          </a:p>
        </p:txBody>
      </p:sp>
      <p:cxnSp>
        <p:nvCxnSpPr>
          <p:cNvPr id="104" name="Google Shape;104;p3"/>
          <p:cNvCxnSpPr/>
          <p:nvPr/>
        </p:nvCxnSpPr>
        <p:spPr>
          <a:xfrm>
            <a:off x="2214562" y="3429000"/>
            <a:ext cx="695325" cy="209550"/>
          </a:xfrm>
          <a:prstGeom prst="straightConnector1">
            <a:avLst/>
          </a:prstGeom>
          <a:noFill/>
          <a:ln cap="flat" cmpd="sng" w="9525">
            <a:solidFill>
              <a:srgbClr val="B6DCDF"/>
            </a:solidFill>
            <a:prstDash val="solid"/>
            <a:miter lim="800000"/>
            <a:headEnd len="med" w="med" type="none"/>
            <a:tailEnd len="med" w="med" type="stealth"/>
          </a:ln>
        </p:spPr>
      </p:cxnSp>
      <p:cxnSp>
        <p:nvCxnSpPr>
          <p:cNvPr id="105" name="Google Shape;105;p3"/>
          <p:cNvCxnSpPr/>
          <p:nvPr/>
        </p:nvCxnSpPr>
        <p:spPr>
          <a:xfrm flipH="1" rot="10800000">
            <a:off x="2214562" y="3929062"/>
            <a:ext cx="990600" cy="679450"/>
          </a:xfrm>
          <a:prstGeom prst="straightConnector1">
            <a:avLst/>
          </a:prstGeom>
          <a:noFill/>
          <a:ln cap="flat" cmpd="sng" w="9525">
            <a:solidFill>
              <a:srgbClr val="B6DCDF"/>
            </a:solidFill>
            <a:prstDash val="solid"/>
            <a:miter lim="800000"/>
            <a:headEnd len="med" w="med" type="none"/>
            <a:tailEnd len="med" w="med" type="stealth"/>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Instruction List (IL)</a:t>
            </a:r>
            <a:endParaRPr/>
          </a:p>
        </p:txBody>
      </p:sp>
      <p:pic>
        <p:nvPicPr>
          <p:cNvPr id="111" name="Google Shape;111;p4"/>
          <p:cNvPicPr preferRelativeResize="0"/>
          <p:nvPr>
            <p:ph idx="1" type="body"/>
          </p:nvPr>
        </p:nvPicPr>
        <p:blipFill rotWithShape="1">
          <a:blip r:embed="rId3">
            <a:alphaModFix/>
          </a:blip>
          <a:srcRect b="0" l="0" r="0" t="0"/>
          <a:stretch/>
        </p:blipFill>
        <p:spPr>
          <a:xfrm>
            <a:off x="428625" y="2571750"/>
            <a:ext cx="8442325" cy="3095625"/>
          </a:xfrm>
          <a:prstGeom prst="rect">
            <a:avLst/>
          </a:prstGeom>
          <a:noFill/>
          <a:ln>
            <a:noFill/>
          </a:ln>
        </p:spPr>
      </p:pic>
      <p:sp>
        <p:nvSpPr>
          <p:cNvPr id="112" name="Google Shape;112;p4"/>
          <p:cNvSpPr txBox="1"/>
          <p:nvPr/>
        </p:nvSpPr>
        <p:spPr>
          <a:xfrm>
            <a:off x="558800" y="1373187"/>
            <a:ext cx="8445500" cy="120015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Instruction List (IL)</a:t>
            </a:r>
            <a:r>
              <a:rPr b="0" i="0" lang="en-US" sz="2400" u="none" cap="none" strike="noStrike">
                <a:solidFill>
                  <a:schemeClr val="dk1"/>
                </a:solidFill>
                <a:latin typeface="Times New Roman"/>
                <a:ea typeface="Times New Roman"/>
                <a:cs typeface="Times New Roman"/>
                <a:sym typeface="Times New Roman"/>
              </a:rPr>
              <a:t>—a low-level, text-based language that uses </a:t>
            </a:r>
            <a:r>
              <a:rPr b="0" i="0" lang="en-US" sz="2400" u="none" cap="none" strike="noStrike">
                <a:solidFill>
                  <a:srgbClr val="FF0000"/>
                </a:solidFill>
                <a:latin typeface="Times New Roman"/>
                <a:ea typeface="Times New Roman"/>
                <a:cs typeface="Times New Roman"/>
                <a:sym typeface="Times New Roman"/>
              </a:rPr>
              <a:t>mnemonic instructions</a:t>
            </a:r>
            <a:r>
              <a:rPr b="0" i="0" lang="en-US" sz="2400" u="none" cap="none" strike="noStrike">
                <a:solidFill>
                  <a:schemeClr val="dk1"/>
                </a:solidFill>
                <a:latin typeface="Times New Roman"/>
                <a:ea typeface="Times New Roman"/>
                <a:cs typeface="Times New Roman"/>
                <a:sym typeface="Times New Roman"/>
              </a:rPr>
              <a:t>.</a:t>
            </a:r>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Sequential Functional Chart</a:t>
            </a:r>
            <a:endParaRPr/>
          </a:p>
        </p:txBody>
      </p:sp>
      <p:pic>
        <p:nvPicPr>
          <p:cNvPr id="118" name="Google Shape;118;p5"/>
          <p:cNvPicPr preferRelativeResize="0"/>
          <p:nvPr>
            <p:ph idx="1" type="body"/>
          </p:nvPr>
        </p:nvPicPr>
        <p:blipFill rotWithShape="1">
          <a:blip r:embed="rId3">
            <a:alphaModFix/>
          </a:blip>
          <a:srcRect b="0" l="0" r="0" t="0"/>
          <a:stretch/>
        </p:blipFill>
        <p:spPr>
          <a:xfrm>
            <a:off x="2460625" y="2643187"/>
            <a:ext cx="4144962" cy="4005262"/>
          </a:xfrm>
          <a:prstGeom prst="rect">
            <a:avLst/>
          </a:prstGeom>
          <a:noFill/>
          <a:ln>
            <a:noFill/>
          </a:ln>
        </p:spPr>
      </p:pic>
      <p:sp>
        <p:nvSpPr>
          <p:cNvPr id="119" name="Google Shape;119;p5"/>
          <p:cNvSpPr txBox="1"/>
          <p:nvPr/>
        </p:nvSpPr>
        <p:spPr>
          <a:xfrm>
            <a:off x="714375" y="1357312"/>
            <a:ext cx="7959725"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It is similar to a flowchart of your process. SFC programming is designed to accommodate the programming of more advanced processes.</a:t>
            </a:r>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Structured Text</a:t>
            </a:r>
            <a:endParaRPr/>
          </a:p>
        </p:txBody>
      </p:sp>
      <p:pic>
        <p:nvPicPr>
          <p:cNvPr id="125" name="Google Shape;125;p6"/>
          <p:cNvPicPr preferRelativeResize="0"/>
          <p:nvPr>
            <p:ph idx="1" type="body"/>
          </p:nvPr>
        </p:nvPicPr>
        <p:blipFill rotWithShape="1">
          <a:blip r:embed="rId3">
            <a:alphaModFix/>
          </a:blip>
          <a:srcRect b="0" l="0" r="0" t="0"/>
          <a:stretch/>
        </p:blipFill>
        <p:spPr>
          <a:xfrm>
            <a:off x="4429125" y="1500187"/>
            <a:ext cx="4211637" cy="4760912"/>
          </a:xfrm>
          <a:prstGeom prst="rect">
            <a:avLst/>
          </a:prstGeom>
          <a:noFill/>
          <a:ln>
            <a:noFill/>
          </a:ln>
        </p:spPr>
      </p:pic>
      <p:sp>
        <p:nvSpPr>
          <p:cNvPr id="126" name="Google Shape;126;p6"/>
          <p:cNvSpPr txBox="1"/>
          <p:nvPr/>
        </p:nvSpPr>
        <p:spPr>
          <a:xfrm>
            <a:off x="414337" y="1731962"/>
            <a:ext cx="3954462" cy="3786187"/>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Structured text is a high-level text language primarily used to implement complex procedures that cannot be easily expressed with graphical languages. </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Structured text uses statements to define what to execute.</a:t>
            </a:r>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Overview of the data flow</a:t>
            </a:r>
            <a:endParaRPr/>
          </a:p>
        </p:txBody>
      </p:sp>
      <p:pic>
        <p:nvPicPr>
          <p:cNvPr id="132" name="Google Shape;132;p7"/>
          <p:cNvPicPr preferRelativeResize="0"/>
          <p:nvPr>
            <p:ph idx="1" type="body"/>
          </p:nvPr>
        </p:nvPicPr>
        <p:blipFill rotWithShape="1">
          <a:blip r:embed="rId3">
            <a:alphaModFix/>
          </a:blip>
          <a:srcRect b="0" l="0" r="0" t="0"/>
          <a:stretch/>
        </p:blipFill>
        <p:spPr>
          <a:xfrm>
            <a:off x="714375" y="1500187"/>
            <a:ext cx="4060825" cy="3644900"/>
          </a:xfrm>
          <a:prstGeom prst="rect">
            <a:avLst/>
          </a:prstGeom>
          <a:noFill/>
          <a:ln>
            <a:noFill/>
          </a:ln>
        </p:spPr>
      </p:pic>
      <p:sp>
        <p:nvSpPr>
          <p:cNvPr id="133" name="Google Shape;133;p7"/>
          <p:cNvSpPr txBox="1"/>
          <p:nvPr/>
        </p:nvSpPr>
        <p:spPr>
          <a:xfrm>
            <a:off x="500062" y="5143500"/>
            <a:ext cx="45720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Figure :Overview of the data flow during the scan </a:t>
            </a:r>
            <a:r>
              <a:rPr b="0" i="0" lang="en-US" sz="1800" u="none" cap="none" strike="noStrike">
                <a:solidFill>
                  <a:schemeClr val="dk1"/>
                </a:solidFill>
                <a:latin typeface="Arial"/>
                <a:ea typeface="Arial"/>
                <a:cs typeface="Arial"/>
                <a:sym typeface="Arial"/>
              </a:rPr>
              <a:t>process.</a:t>
            </a:r>
            <a:endParaRPr/>
          </a:p>
        </p:txBody>
      </p:sp>
      <p:sp>
        <p:nvSpPr>
          <p:cNvPr id="134" name="Google Shape;134;p7"/>
          <p:cNvSpPr txBox="1"/>
          <p:nvPr/>
        </p:nvSpPr>
        <p:spPr>
          <a:xfrm>
            <a:off x="5286375" y="1285875"/>
            <a:ext cx="3409950" cy="48942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Examine the status of the input image table bits.</a:t>
            </a:r>
            <a:endParaRPr/>
          </a:p>
          <a:p>
            <a:pPr indent="0" lvl="0" marL="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Solve the ladder logic in order to determine logical continuity.</a:t>
            </a:r>
            <a:endParaRPr/>
          </a:p>
          <a:p>
            <a:pPr indent="0" lvl="0" marL="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Update the appropriate output image table bits, if necessary.</a:t>
            </a:r>
            <a:endParaRPr/>
          </a:p>
          <a:p>
            <a:pPr indent="0" lvl="0" marL="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Copy the output image table status to all of the output terminals.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PLC Scan</a:t>
            </a:r>
            <a:endParaRPr/>
          </a:p>
        </p:txBody>
      </p:sp>
      <p:pic>
        <p:nvPicPr>
          <p:cNvPr id="140" name="Google Shape;140;p8"/>
          <p:cNvPicPr preferRelativeResize="0"/>
          <p:nvPr>
            <p:ph idx="1" type="body"/>
          </p:nvPr>
        </p:nvPicPr>
        <p:blipFill rotWithShape="1">
          <a:blip r:embed="rId3">
            <a:alphaModFix/>
          </a:blip>
          <a:srcRect b="0" l="0" r="0" t="0"/>
          <a:stretch/>
        </p:blipFill>
        <p:spPr>
          <a:xfrm>
            <a:off x="214312" y="1357312"/>
            <a:ext cx="4645025" cy="4268787"/>
          </a:xfrm>
          <a:prstGeom prst="rect">
            <a:avLst/>
          </a:prstGeom>
          <a:noFill/>
          <a:ln>
            <a:noFill/>
          </a:ln>
        </p:spPr>
      </p:pic>
      <p:sp>
        <p:nvSpPr>
          <p:cNvPr id="141" name="Google Shape;141;p8"/>
          <p:cNvSpPr txBox="1"/>
          <p:nvPr/>
        </p:nvSpPr>
        <p:spPr>
          <a:xfrm>
            <a:off x="5000625" y="1214437"/>
            <a:ext cx="3979862" cy="5454650"/>
          </a:xfrm>
          <a:prstGeom prst="rect">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342900" lvl="0" marL="34290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Garamond"/>
                <a:ea typeface="Garamond"/>
                <a:cs typeface="Garamond"/>
                <a:sym typeface="Garamond"/>
              </a:rPr>
              <a:t>When a PLC executes a program, it must know—in real time—when external devices controlling a process are changing. </a:t>
            </a:r>
            <a:endParaRPr/>
          </a:p>
          <a:p>
            <a:pPr indent="-342900" lvl="0" marL="34290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Garamond"/>
                <a:ea typeface="Garamond"/>
                <a:cs typeface="Garamond"/>
                <a:sym typeface="Garamond"/>
              </a:rPr>
              <a:t>During each operating cycle, the processor reads all the inputs, takes these values, and energizes or deenergizes the outputs according to the user program.</a:t>
            </a:r>
            <a:endParaRPr/>
          </a:p>
          <a:p>
            <a:pPr indent="-342900" lvl="0" marL="34290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Garamond"/>
                <a:ea typeface="Garamond"/>
                <a:cs typeface="Garamond"/>
                <a:sym typeface="Garamond"/>
              </a:rPr>
              <a:t>This process is known as a PLC</a:t>
            </a:r>
            <a:r>
              <a:rPr b="1" i="1" lang="en-US" sz="2400" u="none" cap="none" strike="noStrike">
                <a:solidFill>
                  <a:srgbClr val="000000"/>
                </a:solidFill>
                <a:latin typeface="Garamond"/>
                <a:ea typeface="Garamond"/>
                <a:cs typeface="Garamond"/>
                <a:sym typeface="Garamond"/>
              </a:rPr>
              <a:t> scan cycle.</a:t>
            </a:r>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Fundamentals of logic</a:t>
            </a:r>
            <a:endParaRPr/>
          </a:p>
        </p:txBody>
      </p:sp>
      <p:pic>
        <p:nvPicPr>
          <p:cNvPr id="147" name="Google Shape;147;p9"/>
          <p:cNvPicPr preferRelativeResize="0"/>
          <p:nvPr>
            <p:ph idx="1" type="body"/>
          </p:nvPr>
        </p:nvPicPr>
        <p:blipFill rotWithShape="1">
          <a:blip r:embed="rId3">
            <a:alphaModFix/>
          </a:blip>
          <a:srcRect b="0" l="0" r="0" t="0"/>
          <a:stretch/>
        </p:blipFill>
        <p:spPr>
          <a:xfrm>
            <a:off x="714375" y="1285875"/>
            <a:ext cx="2928937" cy="1571625"/>
          </a:xfrm>
          <a:prstGeom prst="rect">
            <a:avLst/>
          </a:prstGeom>
          <a:noFill/>
          <a:ln>
            <a:noFill/>
          </a:ln>
        </p:spPr>
      </p:pic>
      <p:pic>
        <p:nvPicPr>
          <p:cNvPr id="148" name="Google Shape;148;p9"/>
          <p:cNvPicPr preferRelativeResize="0"/>
          <p:nvPr/>
        </p:nvPicPr>
        <p:blipFill rotWithShape="1">
          <a:blip r:embed="rId4">
            <a:alphaModFix/>
          </a:blip>
          <a:srcRect b="0" l="0" r="0" t="0"/>
          <a:stretch/>
        </p:blipFill>
        <p:spPr>
          <a:xfrm>
            <a:off x="4857750" y="1357312"/>
            <a:ext cx="2867025" cy="1381125"/>
          </a:xfrm>
          <a:prstGeom prst="rect">
            <a:avLst/>
          </a:prstGeom>
          <a:noFill/>
          <a:ln>
            <a:noFill/>
          </a:ln>
        </p:spPr>
      </p:pic>
      <p:pic>
        <p:nvPicPr>
          <p:cNvPr id="149" name="Google Shape;149;p9"/>
          <p:cNvPicPr preferRelativeResize="0"/>
          <p:nvPr/>
        </p:nvPicPr>
        <p:blipFill rotWithShape="1">
          <a:blip r:embed="rId5">
            <a:alphaModFix/>
          </a:blip>
          <a:srcRect b="0" l="0" r="0" t="0"/>
          <a:stretch/>
        </p:blipFill>
        <p:spPr>
          <a:xfrm>
            <a:off x="714375" y="4000500"/>
            <a:ext cx="3057525" cy="1181100"/>
          </a:xfrm>
          <a:prstGeom prst="rect">
            <a:avLst/>
          </a:prstGeom>
          <a:noFill/>
          <a:ln>
            <a:noFill/>
          </a:ln>
        </p:spPr>
      </p:pic>
      <p:pic>
        <p:nvPicPr>
          <p:cNvPr id="150" name="Google Shape;150;p9"/>
          <p:cNvPicPr preferRelativeResize="0"/>
          <p:nvPr/>
        </p:nvPicPr>
        <p:blipFill rotWithShape="1">
          <a:blip r:embed="rId6">
            <a:alphaModFix/>
          </a:blip>
          <a:srcRect b="0" l="0" r="0" t="0"/>
          <a:stretch/>
        </p:blipFill>
        <p:spPr>
          <a:xfrm>
            <a:off x="4714875" y="3857625"/>
            <a:ext cx="2790825" cy="1257300"/>
          </a:xfrm>
          <a:prstGeom prst="rect">
            <a:avLst/>
          </a:prstGeom>
          <a:noFill/>
          <a:ln>
            <a:noFill/>
          </a:ln>
        </p:spPr>
      </p:pic>
      <p:sp>
        <p:nvSpPr>
          <p:cNvPr id="151" name="Google Shape;151;p9"/>
          <p:cNvSpPr txBox="1"/>
          <p:nvPr/>
        </p:nvSpPr>
        <p:spPr>
          <a:xfrm>
            <a:off x="1214437" y="3000375"/>
            <a:ext cx="192881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Gate logic</a:t>
            </a:r>
            <a:endParaRPr/>
          </a:p>
        </p:txBody>
      </p:sp>
      <p:sp>
        <p:nvSpPr>
          <p:cNvPr id="152" name="Google Shape;152;p9"/>
          <p:cNvSpPr txBox="1"/>
          <p:nvPr/>
        </p:nvSpPr>
        <p:spPr>
          <a:xfrm>
            <a:off x="5000625" y="3000375"/>
            <a:ext cx="235743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Electrical circuit</a:t>
            </a:r>
            <a:endParaRPr/>
          </a:p>
        </p:txBody>
      </p:sp>
      <p:sp>
        <p:nvSpPr>
          <p:cNvPr id="153" name="Google Shape;153;p9"/>
          <p:cNvSpPr txBox="1"/>
          <p:nvPr/>
        </p:nvSpPr>
        <p:spPr>
          <a:xfrm>
            <a:off x="785812" y="5214937"/>
            <a:ext cx="292893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Relay schematic</a:t>
            </a:r>
            <a:endParaRPr/>
          </a:p>
        </p:txBody>
      </p:sp>
      <p:sp>
        <p:nvSpPr>
          <p:cNvPr id="154" name="Google Shape;154;p9"/>
          <p:cNvSpPr txBox="1"/>
          <p:nvPr/>
        </p:nvSpPr>
        <p:spPr>
          <a:xfrm>
            <a:off x="5000625" y="5214937"/>
            <a:ext cx="242887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Ladder logic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10"/>
          <p:cNvPicPr preferRelativeResize="0"/>
          <p:nvPr>
            <p:ph idx="1" type="body"/>
          </p:nvPr>
        </p:nvPicPr>
        <p:blipFill rotWithShape="1">
          <a:blip r:embed="rId3">
            <a:alphaModFix/>
          </a:blip>
          <a:srcRect b="0" l="0" r="0" t="0"/>
          <a:stretch/>
        </p:blipFill>
        <p:spPr>
          <a:xfrm>
            <a:off x="785812" y="1643062"/>
            <a:ext cx="3071812" cy="1714500"/>
          </a:xfrm>
          <a:prstGeom prst="rect">
            <a:avLst/>
          </a:prstGeom>
          <a:noFill/>
          <a:ln>
            <a:noFill/>
          </a:ln>
        </p:spPr>
      </p:pic>
      <p:pic>
        <p:nvPicPr>
          <p:cNvPr id="160" name="Google Shape;160;p10"/>
          <p:cNvPicPr preferRelativeResize="0"/>
          <p:nvPr/>
        </p:nvPicPr>
        <p:blipFill rotWithShape="1">
          <a:blip r:embed="rId4">
            <a:alphaModFix/>
          </a:blip>
          <a:srcRect b="0" l="0" r="0" t="0"/>
          <a:stretch/>
        </p:blipFill>
        <p:spPr>
          <a:xfrm>
            <a:off x="5286375" y="1500187"/>
            <a:ext cx="2809875" cy="2000250"/>
          </a:xfrm>
          <a:prstGeom prst="rect">
            <a:avLst/>
          </a:prstGeom>
          <a:noFill/>
          <a:ln>
            <a:noFill/>
          </a:ln>
        </p:spPr>
      </p:pic>
      <p:pic>
        <p:nvPicPr>
          <p:cNvPr id="161" name="Google Shape;161;p10"/>
          <p:cNvPicPr preferRelativeResize="0"/>
          <p:nvPr/>
        </p:nvPicPr>
        <p:blipFill rotWithShape="1">
          <a:blip r:embed="rId5">
            <a:alphaModFix/>
          </a:blip>
          <a:srcRect b="0" l="0" r="0" t="0"/>
          <a:stretch/>
        </p:blipFill>
        <p:spPr>
          <a:xfrm>
            <a:off x="928687" y="3929062"/>
            <a:ext cx="2928937" cy="1714500"/>
          </a:xfrm>
          <a:prstGeom prst="rect">
            <a:avLst/>
          </a:prstGeom>
          <a:noFill/>
          <a:ln>
            <a:noFill/>
          </a:ln>
        </p:spPr>
      </p:pic>
      <p:pic>
        <p:nvPicPr>
          <p:cNvPr id="162" name="Google Shape;162;p10"/>
          <p:cNvPicPr preferRelativeResize="0"/>
          <p:nvPr/>
        </p:nvPicPr>
        <p:blipFill rotWithShape="1">
          <a:blip r:embed="rId6">
            <a:alphaModFix/>
          </a:blip>
          <a:srcRect b="0" l="0" r="0" t="0"/>
          <a:stretch/>
        </p:blipFill>
        <p:spPr>
          <a:xfrm>
            <a:off x="5286375" y="3929062"/>
            <a:ext cx="2857500" cy="1643062"/>
          </a:xfrm>
          <a:prstGeom prst="rect">
            <a:avLst/>
          </a:prstGeom>
          <a:noFill/>
          <a:ln>
            <a:noFill/>
          </a:ln>
        </p:spPr>
      </p:pic>
      <p:sp>
        <p:nvSpPr>
          <p:cNvPr id="163" name="Google Shape;163;p10"/>
          <p:cNvSpPr txBox="1"/>
          <p:nvPr/>
        </p:nvSpPr>
        <p:spPr>
          <a:xfrm>
            <a:off x="1500187" y="3487737"/>
            <a:ext cx="192881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Gate logic</a:t>
            </a:r>
            <a:endParaRPr/>
          </a:p>
        </p:txBody>
      </p:sp>
      <p:sp>
        <p:nvSpPr>
          <p:cNvPr id="164" name="Google Shape;164;p10"/>
          <p:cNvSpPr txBox="1"/>
          <p:nvPr/>
        </p:nvSpPr>
        <p:spPr>
          <a:xfrm>
            <a:off x="5286375" y="3487737"/>
            <a:ext cx="235743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Electrical circuit</a:t>
            </a:r>
            <a:endParaRPr/>
          </a:p>
        </p:txBody>
      </p:sp>
      <p:sp>
        <p:nvSpPr>
          <p:cNvPr id="165" name="Google Shape;165;p10"/>
          <p:cNvSpPr txBox="1"/>
          <p:nvPr/>
        </p:nvSpPr>
        <p:spPr>
          <a:xfrm>
            <a:off x="1071562" y="5702300"/>
            <a:ext cx="292893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Relay schematic</a:t>
            </a:r>
            <a:endParaRPr/>
          </a:p>
        </p:txBody>
      </p:sp>
      <p:sp>
        <p:nvSpPr>
          <p:cNvPr id="166" name="Google Shape;166;p10"/>
          <p:cNvSpPr txBox="1"/>
          <p:nvPr/>
        </p:nvSpPr>
        <p:spPr>
          <a:xfrm>
            <a:off x="5286375" y="5702300"/>
            <a:ext cx="242887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Ladder logic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11"/>
          <p:cNvPicPr preferRelativeResize="0"/>
          <p:nvPr>
            <p:ph idx="1" type="body"/>
          </p:nvPr>
        </p:nvPicPr>
        <p:blipFill rotWithShape="1">
          <a:blip r:embed="rId3">
            <a:alphaModFix/>
          </a:blip>
          <a:srcRect b="0" l="0" r="0" t="0"/>
          <a:stretch/>
        </p:blipFill>
        <p:spPr>
          <a:xfrm>
            <a:off x="1000125" y="571500"/>
            <a:ext cx="3000375" cy="1357312"/>
          </a:xfrm>
          <a:prstGeom prst="rect">
            <a:avLst/>
          </a:prstGeom>
          <a:noFill/>
          <a:ln>
            <a:noFill/>
          </a:ln>
        </p:spPr>
      </p:pic>
      <p:pic>
        <p:nvPicPr>
          <p:cNvPr id="172" name="Google Shape;172;p11"/>
          <p:cNvPicPr preferRelativeResize="0"/>
          <p:nvPr/>
        </p:nvPicPr>
        <p:blipFill rotWithShape="1">
          <a:blip r:embed="rId4">
            <a:alphaModFix/>
          </a:blip>
          <a:srcRect b="0" l="0" r="0" t="0"/>
          <a:stretch/>
        </p:blipFill>
        <p:spPr>
          <a:xfrm>
            <a:off x="5786437" y="571500"/>
            <a:ext cx="2162175" cy="1071562"/>
          </a:xfrm>
          <a:prstGeom prst="rect">
            <a:avLst/>
          </a:prstGeom>
          <a:noFill/>
          <a:ln>
            <a:noFill/>
          </a:ln>
        </p:spPr>
      </p:pic>
      <p:pic>
        <p:nvPicPr>
          <p:cNvPr id="173" name="Google Shape;173;p11"/>
          <p:cNvPicPr preferRelativeResize="0"/>
          <p:nvPr/>
        </p:nvPicPr>
        <p:blipFill rotWithShape="1">
          <a:blip r:embed="rId5">
            <a:alphaModFix/>
          </a:blip>
          <a:srcRect b="0" l="0" r="0" t="0"/>
          <a:stretch/>
        </p:blipFill>
        <p:spPr>
          <a:xfrm>
            <a:off x="857250" y="2500312"/>
            <a:ext cx="4200525" cy="1428750"/>
          </a:xfrm>
          <a:prstGeom prst="rect">
            <a:avLst/>
          </a:prstGeom>
          <a:noFill/>
          <a:ln>
            <a:noFill/>
          </a:ln>
        </p:spPr>
      </p:pic>
      <p:pic>
        <p:nvPicPr>
          <p:cNvPr id="174" name="Google Shape;174;p11"/>
          <p:cNvPicPr preferRelativeResize="0"/>
          <p:nvPr/>
        </p:nvPicPr>
        <p:blipFill rotWithShape="1">
          <a:blip r:embed="rId6">
            <a:alphaModFix/>
          </a:blip>
          <a:srcRect b="0" l="0" r="0" t="0"/>
          <a:stretch/>
        </p:blipFill>
        <p:spPr>
          <a:xfrm>
            <a:off x="5715000" y="2500312"/>
            <a:ext cx="2647950" cy="1162050"/>
          </a:xfrm>
          <a:prstGeom prst="rect">
            <a:avLst/>
          </a:prstGeom>
          <a:noFill/>
          <a:ln>
            <a:noFill/>
          </a:ln>
        </p:spPr>
      </p:pic>
      <p:pic>
        <p:nvPicPr>
          <p:cNvPr id="175" name="Google Shape;175;p11"/>
          <p:cNvPicPr preferRelativeResize="0"/>
          <p:nvPr/>
        </p:nvPicPr>
        <p:blipFill rotWithShape="1">
          <a:blip r:embed="rId7">
            <a:alphaModFix/>
          </a:blip>
          <a:srcRect b="0" l="0" r="0" t="0"/>
          <a:stretch/>
        </p:blipFill>
        <p:spPr>
          <a:xfrm>
            <a:off x="928687" y="4572000"/>
            <a:ext cx="3971925" cy="1457325"/>
          </a:xfrm>
          <a:prstGeom prst="rect">
            <a:avLst/>
          </a:prstGeom>
          <a:noFill/>
          <a:ln>
            <a:noFill/>
          </a:ln>
        </p:spPr>
      </p:pic>
      <p:pic>
        <p:nvPicPr>
          <p:cNvPr id="176" name="Google Shape;176;p11"/>
          <p:cNvPicPr preferRelativeResize="0"/>
          <p:nvPr/>
        </p:nvPicPr>
        <p:blipFill rotWithShape="1">
          <a:blip r:embed="rId8">
            <a:alphaModFix/>
          </a:blip>
          <a:srcRect b="0" l="0" r="0" t="0"/>
          <a:stretch/>
        </p:blipFill>
        <p:spPr>
          <a:xfrm>
            <a:off x="5786437" y="4786312"/>
            <a:ext cx="2486025" cy="962025"/>
          </a:xfrm>
          <a:prstGeom prst="rect">
            <a:avLst/>
          </a:prstGeom>
          <a:noFill/>
          <a:ln>
            <a:noFill/>
          </a:ln>
        </p:spPr>
      </p:pic>
      <p:pic>
        <p:nvPicPr>
          <p:cNvPr id="177" name="Google Shape;177;p11"/>
          <p:cNvPicPr preferRelativeResize="0"/>
          <p:nvPr/>
        </p:nvPicPr>
        <p:blipFill rotWithShape="1">
          <a:blip r:embed="rId9">
            <a:alphaModFix/>
          </a:blip>
          <a:srcRect b="0" l="0" r="0" t="0"/>
          <a:stretch/>
        </p:blipFill>
        <p:spPr>
          <a:xfrm>
            <a:off x="3643312" y="3857625"/>
            <a:ext cx="1323975" cy="466725"/>
          </a:xfrm>
          <a:prstGeom prst="rect">
            <a:avLst/>
          </a:prstGeom>
          <a:noFill/>
          <a:ln>
            <a:noFill/>
          </a:ln>
        </p:spPr>
      </p:pic>
      <p:pic>
        <p:nvPicPr>
          <p:cNvPr id="178" name="Google Shape;178;p11"/>
          <p:cNvPicPr preferRelativeResize="0"/>
          <p:nvPr/>
        </p:nvPicPr>
        <p:blipFill rotWithShape="1">
          <a:blip r:embed="rId10">
            <a:alphaModFix/>
          </a:blip>
          <a:srcRect b="0" l="0" r="0" t="0"/>
          <a:stretch/>
        </p:blipFill>
        <p:spPr>
          <a:xfrm>
            <a:off x="3714750" y="5929312"/>
            <a:ext cx="1266825" cy="552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12"/>
          <p:cNvPicPr preferRelativeResize="0"/>
          <p:nvPr>
            <p:ph idx="1" type="body"/>
          </p:nvPr>
        </p:nvPicPr>
        <p:blipFill rotWithShape="1">
          <a:blip r:embed="rId3">
            <a:alphaModFix/>
          </a:blip>
          <a:srcRect b="0" l="0" r="0" t="0"/>
          <a:stretch/>
        </p:blipFill>
        <p:spPr>
          <a:xfrm>
            <a:off x="1928812" y="928687"/>
            <a:ext cx="5143500" cy="2000250"/>
          </a:xfrm>
          <a:prstGeom prst="rect">
            <a:avLst/>
          </a:prstGeom>
          <a:noFill/>
          <a:ln>
            <a:noFill/>
          </a:ln>
        </p:spPr>
      </p:pic>
      <p:pic>
        <p:nvPicPr>
          <p:cNvPr id="184" name="Google Shape;184;p12"/>
          <p:cNvPicPr preferRelativeResize="0"/>
          <p:nvPr/>
        </p:nvPicPr>
        <p:blipFill rotWithShape="1">
          <a:blip r:embed="rId4">
            <a:alphaModFix/>
          </a:blip>
          <a:srcRect b="0" l="0" r="0" t="0"/>
          <a:stretch/>
        </p:blipFill>
        <p:spPr>
          <a:xfrm>
            <a:off x="2500312" y="3929062"/>
            <a:ext cx="4071937" cy="1785937"/>
          </a:xfrm>
          <a:prstGeom prst="rect">
            <a:avLst/>
          </a:prstGeom>
          <a:noFill/>
          <a:ln>
            <a:noFill/>
          </a:ln>
        </p:spPr>
      </p:pic>
      <p:pic>
        <p:nvPicPr>
          <p:cNvPr id="185" name="Google Shape;185;p12"/>
          <p:cNvPicPr preferRelativeResize="0"/>
          <p:nvPr/>
        </p:nvPicPr>
        <p:blipFill rotWithShape="1">
          <a:blip r:embed="rId5">
            <a:alphaModFix/>
          </a:blip>
          <a:srcRect b="0" l="0" r="0" t="0"/>
          <a:stretch/>
        </p:blipFill>
        <p:spPr>
          <a:xfrm>
            <a:off x="3714750" y="3071812"/>
            <a:ext cx="1500187" cy="409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 No.1</a:t>
            </a:r>
            <a:endParaRPr/>
          </a:p>
        </p:txBody>
      </p:sp>
      <p:sp>
        <p:nvSpPr>
          <p:cNvPr id="191" name="Google Shape;191;p13"/>
          <p:cNvSpPr txBox="1"/>
          <p:nvPr>
            <p:ph idx="1" type="body"/>
          </p:nvPr>
        </p:nvSpPr>
        <p:spPr>
          <a:xfrm>
            <a:off x="428625" y="1285875"/>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There are 3 inputs I0,I1, I2 and one output Q0. Output is ON when any 2 inputs are ON.</a:t>
            </a:r>
            <a:endParaRPr/>
          </a:p>
          <a:p>
            <a:pPr indent="-190500" lvl="0" marL="342900" marR="0" rtl="0" algn="l">
              <a:spcBef>
                <a:spcPts val="48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p:txBody>
      </p:sp>
      <p:graphicFrame>
        <p:nvGraphicFramePr>
          <p:cNvPr id="192" name="Google Shape;192;p13"/>
          <p:cNvGraphicFramePr/>
          <p:nvPr/>
        </p:nvGraphicFramePr>
        <p:xfrm>
          <a:off x="1500187" y="2214562"/>
          <a:ext cx="3000000" cy="3000000"/>
        </p:xfrm>
        <a:graphic>
          <a:graphicData uri="http://schemas.openxmlformats.org/drawingml/2006/table">
            <a:tbl>
              <a:tblPr>
                <a:noFill/>
                <a:tableStyleId>{08CFB3B7-BB20-4718-880E-09D56612774D}</a:tableStyleId>
              </a:tblPr>
              <a:tblGrid>
                <a:gridCol w="1524000"/>
                <a:gridCol w="1524000"/>
                <a:gridCol w="1524000"/>
                <a:gridCol w="1524000"/>
              </a:tblGrid>
              <a:tr h="279400">
                <a:tc>
                  <a:txBody>
                    <a:bodyPr/>
                    <a:lstStyle/>
                    <a:p>
                      <a:pPr indent="0" lvl="0" marL="0" marR="0" rtl="0" algn="ctr">
                        <a:lnSpc>
                          <a:spcPct val="115000"/>
                        </a:lnSpc>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I0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I1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I2</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Q0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7800">
                <a:tc>
                  <a:txBody>
                    <a:bodyPr/>
                    <a:lstStyle/>
                    <a:p>
                      <a:pPr indent="0" lvl="0" marL="0" marR="0" rtl="0" algn="ctr">
                        <a:lnSpc>
                          <a:spcPct val="115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7800">
                <a:tc>
                  <a:txBody>
                    <a:bodyPr/>
                    <a:lstStyle/>
                    <a:p>
                      <a:pPr indent="0" lvl="0" marL="0" marR="0" rtl="0" algn="ctr">
                        <a:lnSpc>
                          <a:spcPct val="115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9400">
                <a:tc>
                  <a:txBody>
                    <a:bodyPr/>
                    <a:lstStyle/>
                    <a:p>
                      <a:pPr indent="0" lvl="0" marL="0" marR="0" rtl="0" algn="ctr">
                        <a:lnSpc>
                          <a:spcPct val="115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7800">
                <a:tc>
                  <a:txBody>
                    <a:bodyPr/>
                    <a:lstStyle/>
                    <a:p>
                      <a:pPr indent="0" lvl="0" marL="0" marR="0" rtl="0" algn="ctr">
                        <a:lnSpc>
                          <a:spcPct val="115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9400">
                <a:tc>
                  <a:txBody>
                    <a:bodyPr/>
                    <a:lstStyle/>
                    <a:p>
                      <a:pPr indent="0" lvl="0" marL="0" marR="0" rtl="0" algn="ctr">
                        <a:lnSpc>
                          <a:spcPct val="115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pic>
        <p:nvPicPr>
          <p:cNvPr id="193" name="Google Shape;193;p13"/>
          <p:cNvPicPr preferRelativeResize="0"/>
          <p:nvPr/>
        </p:nvPicPr>
        <p:blipFill rotWithShape="1">
          <a:blip r:embed="rId3">
            <a:alphaModFix/>
          </a:blip>
          <a:srcRect b="0" l="0" r="0" t="0"/>
          <a:stretch/>
        </p:blipFill>
        <p:spPr>
          <a:xfrm>
            <a:off x="2143125" y="4214812"/>
            <a:ext cx="4543425" cy="19288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 No.2</a:t>
            </a:r>
            <a:endParaRPr/>
          </a:p>
        </p:txBody>
      </p:sp>
      <p:sp>
        <p:nvSpPr>
          <p:cNvPr id="199" name="Google Shape;199;p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There are 2 switches I0 and I1 control 3 output lights Q0(Blue),Q1(Green) and Q2(Red).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When I0 is pressed Q1 will be ON</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When I1 is pressed Q0 and Q1 will be ON</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When I0 and I1 are pressed Q2 will be ON</a:t>
            </a:r>
            <a:endParaRPr/>
          </a:p>
        </p:txBody>
      </p:sp>
      <p:sp>
        <p:nvSpPr>
          <p:cNvPr descr="File:Blue Light Icon.svg - Wikimedia Commons" id="200" name="Google Shape;200;p14"/>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01" name="Google Shape;201;p14"/>
          <p:cNvPicPr preferRelativeResize="0"/>
          <p:nvPr/>
        </p:nvPicPr>
        <p:blipFill rotWithShape="1">
          <a:blip r:embed="rId3">
            <a:alphaModFix/>
          </a:blip>
          <a:srcRect b="0" l="0" r="0" t="0"/>
          <a:stretch/>
        </p:blipFill>
        <p:spPr>
          <a:xfrm>
            <a:off x="6500812" y="3071812"/>
            <a:ext cx="1000125" cy="1071562"/>
          </a:xfrm>
          <a:prstGeom prst="rect">
            <a:avLst/>
          </a:prstGeom>
          <a:noFill/>
          <a:ln>
            <a:noFill/>
          </a:ln>
        </p:spPr>
      </p:pic>
      <p:pic>
        <p:nvPicPr>
          <p:cNvPr id="202" name="Google Shape;202;p14"/>
          <p:cNvPicPr preferRelativeResize="0"/>
          <p:nvPr/>
        </p:nvPicPr>
        <p:blipFill rotWithShape="1">
          <a:blip r:embed="rId4">
            <a:alphaModFix/>
          </a:blip>
          <a:srcRect b="0" l="0" r="0" t="0"/>
          <a:stretch/>
        </p:blipFill>
        <p:spPr>
          <a:xfrm>
            <a:off x="6500812" y="5500687"/>
            <a:ext cx="1071562" cy="1000125"/>
          </a:xfrm>
          <a:prstGeom prst="rect">
            <a:avLst/>
          </a:prstGeom>
          <a:noFill/>
          <a:ln>
            <a:noFill/>
          </a:ln>
        </p:spPr>
      </p:pic>
      <p:pic>
        <p:nvPicPr>
          <p:cNvPr id="203" name="Google Shape;203;p14"/>
          <p:cNvPicPr preferRelativeResize="0"/>
          <p:nvPr/>
        </p:nvPicPr>
        <p:blipFill rotWithShape="1">
          <a:blip r:embed="rId5">
            <a:alphaModFix/>
          </a:blip>
          <a:srcRect b="0" l="0" r="0" t="0"/>
          <a:stretch/>
        </p:blipFill>
        <p:spPr>
          <a:xfrm>
            <a:off x="6429375" y="4286250"/>
            <a:ext cx="1143000" cy="1000125"/>
          </a:xfrm>
          <a:prstGeom prst="rect">
            <a:avLst/>
          </a:prstGeom>
          <a:noFill/>
          <a:ln>
            <a:noFill/>
          </a:ln>
        </p:spPr>
      </p:pic>
      <p:pic>
        <p:nvPicPr>
          <p:cNvPr id="204" name="Google Shape;204;p14"/>
          <p:cNvPicPr preferRelativeResize="0"/>
          <p:nvPr/>
        </p:nvPicPr>
        <p:blipFill rotWithShape="1">
          <a:blip r:embed="rId6">
            <a:alphaModFix/>
          </a:blip>
          <a:srcRect b="0" l="0" r="0" t="0"/>
          <a:stretch/>
        </p:blipFill>
        <p:spPr>
          <a:xfrm>
            <a:off x="1643062" y="3571875"/>
            <a:ext cx="1285875" cy="1285875"/>
          </a:xfrm>
          <a:prstGeom prst="rect">
            <a:avLst/>
          </a:prstGeom>
          <a:noFill/>
          <a:ln>
            <a:noFill/>
          </a:ln>
        </p:spPr>
      </p:pic>
      <p:pic>
        <p:nvPicPr>
          <p:cNvPr id="205" name="Google Shape;205;p14"/>
          <p:cNvPicPr preferRelativeResize="0"/>
          <p:nvPr/>
        </p:nvPicPr>
        <p:blipFill rotWithShape="1">
          <a:blip r:embed="rId6">
            <a:alphaModFix/>
          </a:blip>
          <a:srcRect b="0" l="0" r="0" t="0"/>
          <a:stretch/>
        </p:blipFill>
        <p:spPr>
          <a:xfrm>
            <a:off x="1695450" y="5000625"/>
            <a:ext cx="1233487" cy="1428750"/>
          </a:xfrm>
          <a:prstGeom prst="rect">
            <a:avLst/>
          </a:prstGeom>
          <a:noFill/>
          <a:ln>
            <a:noFill/>
          </a:ln>
        </p:spPr>
      </p:pic>
      <p:sp>
        <p:nvSpPr>
          <p:cNvPr id="206" name="Google Shape;206;p14"/>
          <p:cNvSpPr txBox="1"/>
          <p:nvPr/>
        </p:nvSpPr>
        <p:spPr>
          <a:xfrm>
            <a:off x="714375" y="3857625"/>
            <a:ext cx="11430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I0</a:t>
            </a:r>
            <a:endParaRPr/>
          </a:p>
        </p:txBody>
      </p:sp>
      <p:sp>
        <p:nvSpPr>
          <p:cNvPr id="207" name="Google Shape;207;p14"/>
          <p:cNvSpPr txBox="1"/>
          <p:nvPr/>
        </p:nvSpPr>
        <p:spPr>
          <a:xfrm>
            <a:off x="785812" y="5572125"/>
            <a:ext cx="785812"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I1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graphicFrame>
        <p:nvGraphicFramePr>
          <p:cNvPr id="212" name="Google Shape;212;p15"/>
          <p:cNvGraphicFramePr/>
          <p:nvPr/>
        </p:nvGraphicFramePr>
        <p:xfrm>
          <a:off x="1785937" y="928687"/>
          <a:ext cx="3000000" cy="3000000"/>
        </p:xfrm>
        <a:graphic>
          <a:graphicData uri="http://schemas.openxmlformats.org/drawingml/2006/table">
            <a:tbl>
              <a:tblPr>
                <a:noFill/>
                <a:tableStyleId>{08CFB3B7-BB20-4718-880E-09D56612774D}</a:tableStyleId>
              </a:tblPr>
              <a:tblGrid>
                <a:gridCol w="1219200"/>
                <a:gridCol w="1257300"/>
                <a:gridCol w="1181100"/>
                <a:gridCol w="1219200"/>
                <a:gridCol w="1219200"/>
              </a:tblGrid>
              <a:tr h="315900">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I0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I1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Q0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Q1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Q2</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5900">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0000"/>
                    </a:solidFill>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4325">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0000"/>
                    </a:solidFill>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0000"/>
                    </a:solidFill>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5900">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0000"/>
                    </a:solidFill>
                  </a:tcPr>
                </a:tc>
              </a:tr>
            </a:tbl>
          </a:graphicData>
        </a:graphic>
      </p:graphicFrame>
      <p:pic>
        <p:nvPicPr>
          <p:cNvPr id="213" name="Google Shape;213;p15"/>
          <p:cNvPicPr preferRelativeResize="0"/>
          <p:nvPr/>
        </p:nvPicPr>
        <p:blipFill rotWithShape="1">
          <a:blip r:embed="rId3">
            <a:alphaModFix/>
          </a:blip>
          <a:srcRect b="0" l="0" r="0" t="0"/>
          <a:stretch/>
        </p:blipFill>
        <p:spPr>
          <a:xfrm>
            <a:off x="2571750" y="2571750"/>
            <a:ext cx="3609975" cy="2924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 No.3</a:t>
            </a:r>
            <a:endParaRPr/>
          </a:p>
        </p:txBody>
      </p:sp>
      <p:sp>
        <p:nvSpPr>
          <p:cNvPr id="219" name="Google Shape;219;p1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There are 4 inputs I0, I1, I2, I3 and 4 outputs Q0, Q1,Q2,Q3.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When I0 is ON Q0 and Q2 will be ON</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When I1 is ON Q1 and Q2 will be ON</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When I2 is ON Q0,Q1 and Q3 will be ON</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When I3 is ON all the outputs will be OFF</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17"/>
          <p:cNvPicPr preferRelativeResize="0"/>
          <p:nvPr>
            <p:ph idx="1" type="body"/>
          </p:nvPr>
        </p:nvPicPr>
        <p:blipFill rotWithShape="1">
          <a:blip r:embed="rId3">
            <a:alphaModFix/>
          </a:blip>
          <a:srcRect b="0" l="0" r="0" t="0"/>
          <a:stretch/>
        </p:blipFill>
        <p:spPr>
          <a:xfrm>
            <a:off x="1500187" y="1214437"/>
            <a:ext cx="5786437" cy="521493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PLC Programming Exercises </a:t>
            </a:r>
            <a:br>
              <a:rPr b="0" i="0" lang="en-US" sz="4400" u="none">
                <a:solidFill>
                  <a:schemeClr val="dk2"/>
                </a:solidFill>
                <a:latin typeface="Arial"/>
                <a:ea typeface="Arial"/>
                <a:cs typeface="Arial"/>
                <a:sym typeface="Arial"/>
              </a:rPr>
            </a:br>
            <a:endParaRPr/>
          </a:p>
        </p:txBody>
      </p:sp>
      <p:pic>
        <p:nvPicPr>
          <p:cNvPr id="230" name="Google Shape;230;p18"/>
          <p:cNvPicPr preferRelativeResize="0"/>
          <p:nvPr>
            <p:ph idx="1" type="body"/>
          </p:nvPr>
        </p:nvPicPr>
        <p:blipFill rotWithShape="1">
          <a:blip r:embed="rId3">
            <a:alphaModFix/>
          </a:blip>
          <a:srcRect b="0" l="0" r="0" t="0"/>
          <a:stretch/>
        </p:blipFill>
        <p:spPr>
          <a:xfrm>
            <a:off x="954087" y="1793875"/>
            <a:ext cx="5826125" cy="1641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19"/>
          <p:cNvPicPr preferRelativeResize="0"/>
          <p:nvPr>
            <p:ph idx="1" type="body"/>
          </p:nvPr>
        </p:nvPicPr>
        <p:blipFill rotWithShape="1">
          <a:blip r:embed="rId3">
            <a:alphaModFix/>
          </a:blip>
          <a:srcRect b="0" l="0" r="0" t="0"/>
          <a:stretch/>
        </p:blipFill>
        <p:spPr>
          <a:xfrm>
            <a:off x="1195387" y="806450"/>
            <a:ext cx="6465887" cy="5137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0"/>
          <p:cNvSpPr txBox="1"/>
          <p:nvPr>
            <p:ph idx="1" type="body"/>
          </p:nvPr>
        </p:nvSpPr>
        <p:spPr>
          <a:xfrm>
            <a:off x="696912" y="623887"/>
            <a:ext cx="7886700" cy="4351337"/>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3000"/>
              <a:buFont typeface="Arial"/>
              <a:buNone/>
            </a:pPr>
            <a:r>
              <a:rPr b="0" i="0" lang="en-US" sz="3000" u="none">
                <a:solidFill>
                  <a:schemeClr val="dk1"/>
                </a:solidFill>
                <a:latin typeface="Arial"/>
                <a:ea typeface="Arial"/>
                <a:cs typeface="Arial"/>
                <a:sym typeface="Arial"/>
              </a:rPr>
              <a:t>Design a PLC ladder diagram to construct an alarm system which operates as follows </a:t>
            </a:r>
            <a:endParaRPr/>
          </a:p>
          <a:p>
            <a:pPr indent="-342900" lvl="0" marL="342900" marR="0" rtl="0" algn="l">
              <a:lnSpc>
                <a:spcPct val="80000"/>
              </a:lnSpc>
              <a:spcBef>
                <a:spcPts val="380"/>
              </a:spcBef>
              <a:spcAft>
                <a:spcPts val="0"/>
              </a:spcAft>
              <a:buClr>
                <a:schemeClr val="dk1"/>
              </a:buClr>
              <a:buSzPts val="1900"/>
              <a:buFont typeface="Arial"/>
              <a:buChar char="•"/>
            </a:pPr>
            <a:r>
              <a:rPr b="0" i="0" lang="en-US" sz="1900" u="none">
                <a:solidFill>
                  <a:schemeClr val="dk1"/>
                </a:solidFill>
                <a:latin typeface="Arial"/>
                <a:ea typeface="Arial"/>
                <a:cs typeface="Arial"/>
                <a:sym typeface="Arial"/>
              </a:rPr>
              <a:t>If one input is ON nothing happens </a:t>
            </a:r>
            <a:endParaRPr/>
          </a:p>
          <a:p>
            <a:pPr indent="-342900" lvl="0" marL="342900" marR="0" rtl="0" algn="l">
              <a:lnSpc>
                <a:spcPct val="80000"/>
              </a:lnSpc>
              <a:spcBef>
                <a:spcPts val="380"/>
              </a:spcBef>
              <a:spcAft>
                <a:spcPts val="0"/>
              </a:spcAft>
              <a:buClr>
                <a:schemeClr val="dk1"/>
              </a:buClr>
              <a:buSzPts val="1900"/>
              <a:buFont typeface="Arial"/>
              <a:buChar char="•"/>
            </a:pPr>
            <a:r>
              <a:rPr b="0" i="0" lang="en-US" sz="1900" u="none">
                <a:solidFill>
                  <a:schemeClr val="dk1"/>
                </a:solidFill>
                <a:latin typeface="Arial"/>
                <a:ea typeface="Arial"/>
                <a:cs typeface="Arial"/>
                <a:sym typeface="Arial"/>
              </a:rPr>
              <a:t>If any two inputs are ON, a red light goes ON </a:t>
            </a:r>
            <a:endParaRPr/>
          </a:p>
          <a:p>
            <a:pPr indent="-342900" lvl="0" marL="342900" marR="0" rtl="0" algn="l">
              <a:lnSpc>
                <a:spcPct val="80000"/>
              </a:lnSpc>
              <a:spcBef>
                <a:spcPts val="380"/>
              </a:spcBef>
              <a:spcAft>
                <a:spcPts val="0"/>
              </a:spcAft>
              <a:buClr>
                <a:schemeClr val="dk1"/>
              </a:buClr>
              <a:buSzPts val="1900"/>
              <a:buFont typeface="Arial"/>
              <a:buChar char="•"/>
            </a:pPr>
            <a:r>
              <a:rPr b="0" i="0" lang="en-US" sz="1900" u="none">
                <a:solidFill>
                  <a:schemeClr val="dk1"/>
                </a:solidFill>
                <a:latin typeface="Arial"/>
                <a:ea typeface="Arial"/>
                <a:cs typeface="Arial"/>
                <a:sym typeface="Arial"/>
              </a:rPr>
              <a:t>If any three inputs are ON, an alarm sirens sound </a:t>
            </a:r>
            <a:endParaRPr/>
          </a:p>
          <a:p>
            <a:pPr indent="-342900" lvl="0" marL="342900" marR="0" rtl="0" algn="l">
              <a:lnSpc>
                <a:spcPct val="80000"/>
              </a:lnSpc>
              <a:spcBef>
                <a:spcPts val="380"/>
              </a:spcBef>
              <a:spcAft>
                <a:spcPts val="0"/>
              </a:spcAft>
              <a:buClr>
                <a:schemeClr val="dk1"/>
              </a:buClr>
              <a:buSzPts val="1900"/>
              <a:buFont typeface="Arial"/>
              <a:buChar char="•"/>
            </a:pPr>
            <a:r>
              <a:rPr b="0" i="0" lang="en-US" sz="1900" u="none">
                <a:solidFill>
                  <a:schemeClr val="dk1"/>
                </a:solidFill>
                <a:latin typeface="Arial"/>
                <a:ea typeface="Arial"/>
                <a:cs typeface="Arial"/>
                <a:sym typeface="Arial"/>
              </a:rPr>
              <a:t>If all </a:t>
            </a:r>
            <a:r>
              <a:rPr b="1" i="0" lang="en-US" sz="1900" u="none">
                <a:solidFill>
                  <a:schemeClr val="dk1"/>
                </a:solidFill>
                <a:latin typeface="Arial"/>
                <a:ea typeface="Arial"/>
                <a:cs typeface="Arial"/>
                <a:sym typeface="Arial"/>
              </a:rPr>
              <a:t>four are ON, the fire department is notified </a:t>
            </a:r>
            <a:endParaRPr/>
          </a:p>
          <a:p>
            <a:pPr indent="-342900" lvl="0" marL="342900" marR="0" rtl="0" algn="l">
              <a:lnSpc>
                <a:spcPct val="80000"/>
              </a:lnSpc>
              <a:spcBef>
                <a:spcPts val="380"/>
              </a:spcBef>
              <a:spcAft>
                <a:spcPts val="0"/>
              </a:spcAft>
              <a:buClr>
                <a:schemeClr val="dk1"/>
              </a:buClr>
              <a:buSzPts val="1900"/>
              <a:buFont typeface="Arial"/>
              <a:buNone/>
            </a:pPr>
            <a:r>
              <a:rPr b="1" i="0" lang="en-US" sz="1900" u="none">
                <a:solidFill>
                  <a:schemeClr val="dk1"/>
                </a:solidFill>
                <a:latin typeface="Arial"/>
                <a:ea typeface="Arial"/>
                <a:cs typeface="Arial"/>
                <a:sym typeface="Arial"/>
              </a:rPr>
              <a:t>Solution:</a:t>
            </a:r>
            <a:endParaRPr/>
          </a:p>
          <a:p>
            <a:pPr indent="-342900" lvl="0" marL="342900" marR="0" rtl="0" algn="l">
              <a:lnSpc>
                <a:spcPct val="80000"/>
              </a:lnSpc>
              <a:spcBef>
                <a:spcPts val="380"/>
              </a:spcBef>
              <a:spcAft>
                <a:spcPts val="0"/>
              </a:spcAft>
              <a:buClr>
                <a:schemeClr val="dk1"/>
              </a:buClr>
              <a:buSzPts val="1900"/>
              <a:buFont typeface="Arial"/>
              <a:buNone/>
            </a:pPr>
            <a:r>
              <a:rPr b="0" i="0" lang="en-US" sz="1900" u="none">
                <a:solidFill>
                  <a:schemeClr val="dk1"/>
                </a:solidFill>
                <a:latin typeface="Arial"/>
                <a:ea typeface="Arial"/>
                <a:cs typeface="Arial"/>
                <a:sym typeface="Arial"/>
              </a:rPr>
              <a:t>No of inputs – 4(A,B,C,D) ; No. of outputs – 3(Red light, Alarm, Fire dept. signal)</a:t>
            </a:r>
            <a:endParaRPr/>
          </a:p>
          <a:p>
            <a:pPr indent="-342900" lvl="0" marL="342900" marR="0" rtl="0" algn="l">
              <a:lnSpc>
                <a:spcPct val="80000"/>
              </a:lnSpc>
              <a:spcBef>
                <a:spcPts val="380"/>
              </a:spcBef>
              <a:spcAft>
                <a:spcPts val="0"/>
              </a:spcAft>
              <a:buClr>
                <a:schemeClr val="dk1"/>
              </a:buClr>
              <a:buSzPts val="1900"/>
              <a:buFont typeface="Arial"/>
              <a:buNone/>
            </a:pPr>
            <a:r>
              <a:rPr b="0" i="0" lang="en-US" sz="1900" u="none">
                <a:solidFill>
                  <a:schemeClr val="dk1"/>
                </a:solidFill>
                <a:latin typeface="Arial"/>
                <a:ea typeface="Arial"/>
                <a:cs typeface="Arial"/>
                <a:sym typeface="Arial"/>
              </a:rPr>
              <a:t>Case 1: If any two inputs are ON, a red light goes ON  - [AB,BC,CD,AC,AD,BD]</a:t>
            </a:r>
            <a:endParaRPr/>
          </a:p>
          <a:p>
            <a:pPr indent="-342900" lvl="0" marL="342900" marR="0" rtl="0" algn="l">
              <a:lnSpc>
                <a:spcPct val="80000"/>
              </a:lnSpc>
              <a:spcBef>
                <a:spcPts val="380"/>
              </a:spcBef>
              <a:spcAft>
                <a:spcPts val="0"/>
              </a:spcAft>
              <a:buClr>
                <a:schemeClr val="dk1"/>
              </a:buClr>
              <a:buSzPts val="1900"/>
              <a:buFont typeface="Arial"/>
              <a:buNone/>
            </a:pPr>
            <a:r>
              <a:rPr b="0" i="0" lang="en-US" sz="1900" u="none">
                <a:solidFill>
                  <a:schemeClr val="dk1"/>
                </a:solidFill>
                <a:latin typeface="Arial"/>
                <a:ea typeface="Arial"/>
                <a:cs typeface="Arial"/>
                <a:sym typeface="Arial"/>
              </a:rPr>
              <a:t>Case 2: If any three inputs are ON, an alarm sirens sound – [ABC, BCD,ACD, ABD]</a:t>
            </a:r>
            <a:endParaRPr/>
          </a:p>
          <a:p>
            <a:pPr indent="-342900" lvl="0" marL="342900" marR="0" rtl="0" algn="l">
              <a:lnSpc>
                <a:spcPct val="80000"/>
              </a:lnSpc>
              <a:spcBef>
                <a:spcPts val="380"/>
              </a:spcBef>
              <a:spcAft>
                <a:spcPts val="0"/>
              </a:spcAft>
              <a:buClr>
                <a:schemeClr val="dk1"/>
              </a:buClr>
              <a:buSzPts val="1900"/>
              <a:buFont typeface="Arial"/>
              <a:buNone/>
            </a:pPr>
            <a:r>
              <a:rPr b="0" i="0" lang="en-US" sz="1900" u="none">
                <a:solidFill>
                  <a:schemeClr val="dk1"/>
                </a:solidFill>
                <a:latin typeface="Arial"/>
                <a:ea typeface="Arial"/>
                <a:cs typeface="Arial"/>
                <a:sym typeface="Arial"/>
              </a:rPr>
              <a:t>Case 3: If all four are ON, the fire department is notified </a:t>
            </a:r>
            <a:endParaRPr/>
          </a:p>
          <a:p>
            <a:pPr indent="-342900" lvl="0" marL="342900" marR="0" rtl="0" algn="l">
              <a:lnSpc>
                <a:spcPct val="80000"/>
              </a:lnSpc>
              <a:spcBef>
                <a:spcPts val="380"/>
              </a:spcBef>
              <a:spcAft>
                <a:spcPts val="0"/>
              </a:spcAft>
              <a:buClr>
                <a:schemeClr val="dk1"/>
              </a:buClr>
              <a:buSzPts val="1900"/>
              <a:buFont typeface="Arial"/>
              <a:buNone/>
            </a:pPr>
            <a:r>
              <a:t/>
            </a:r>
            <a:endParaRPr b="0" i="0" sz="1900" u="none">
              <a:solidFill>
                <a:schemeClr val="dk1"/>
              </a:solidFill>
              <a:latin typeface="Arial"/>
              <a:ea typeface="Arial"/>
              <a:cs typeface="Arial"/>
              <a:sym typeface="Arial"/>
            </a:endParaRPr>
          </a:p>
          <a:p>
            <a:pPr indent="-342900" lvl="0" marL="342900" marR="0" rtl="0" algn="l">
              <a:lnSpc>
                <a:spcPct val="80000"/>
              </a:lnSpc>
              <a:spcBef>
                <a:spcPts val="380"/>
              </a:spcBef>
              <a:spcAft>
                <a:spcPts val="0"/>
              </a:spcAft>
              <a:buClr>
                <a:schemeClr val="dk1"/>
              </a:buClr>
              <a:buSzPts val="1900"/>
              <a:buFont typeface="Arial"/>
              <a:buNone/>
            </a:pPr>
            <a:r>
              <a:t/>
            </a:r>
            <a:endParaRPr b="0" i="0" sz="1900" u="none">
              <a:solidFill>
                <a:schemeClr val="dk1"/>
              </a:solidFill>
              <a:latin typeface="Arial"/>
              <a:ea typeface="Arial"/>
              <a:cs typeface="Arial"/>
              <a:sym typeface="Arial"/>
            </a:endParaRPr>
          </a:p>
          <a:p>
            <a:pPr indent="-222250" lvl="0" marL="342900" marR="0" rtl="0" algn="l">
              <a:spcBef>
                <a:spcPts val="380"/>
              </a:spcBef>
              <a:spcAft>
                <a:spcPts val="0"/>
              </a:spcAft>
              <a:buClr>
                <a:schemeClr val="dk1"/>
              </a:buClr>
              <a:buSzPts val="1900"/>
              <a:buFont typeface="Arial"/>
              <a:buNone/>
            </a:pPr>
            <a:r>
              <a:t/>
            </a:r>
            <a:endParaRPr b="0" i="0" sz="1900" u="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graphicFrame>
        <p:nvGraphicFramePr>
          <p:cNvPr id="246" name="Google Shape;246;p21"/>
          <p:cNvGraphicFramePr/>
          <p:nvPr/>
        </p:nvGraphicFramePr>
        <p:xfrm>
          <a:off x="1465262" y="1790700"/>
          <a:ext cx="3000000" cy="3000000"/>
        </p:xfrm>
        <a:graphic>
          <a:graphicData uri="http://schemas.openxmlformats.org/drawingml/2006/table">
            <a:tbl>
              <a:tblPr>
                <a:noFill/>
                <a:tableStyleId>{08CFB3B7-BB20-4718-880E-09D56612774D}</a:tableStyleId>
              </a:tblPr>
              <a:tblGrid>
                <a:gridCol w="2032000"/>
                <a:gridCol w="2032000"/>
                <a:gridCol w="2032000"/>
              </a:tblGrid>
              <a:tr h="371475">
                <a:tc>
                  <a:txBody>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Any TWO</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Any THREE</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ALL</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6987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A&amp;B</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A&amp;B&amp;C</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A&amp;B&amp;C&amp;D</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37147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B&amp;C</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B&amp;C&amp;D</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37147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C&amp;D</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A&amp;C&amp;D</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36987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A&amp;C</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A&amp;B&amp;D</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37147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A&amp;D</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36987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B&amp;D</a:t>
                      </a:r>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371475">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bl>
          </a:graphicData>
        </a:graphic>
      </p:graphicFrame>
      <p:sp>
        <p:nvSpPr>
          <p:cNvPr id="247" name="Google Shape;247;p21"/>
          <p:cNvSpPr txBox="1"/>
          <p:nvPr/>
        </p:nvSpPr>
        <p:spPr>
          <a:xfrm>
            <a:off x="3189287" y="1128712"/>
            <a:ext cx="29924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No of inputs – 4(A,B,C,D)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Seal-In Circuits</a:t>
            </a:r>
            <a:endParaRPr/>
          </a:p>
        </p:txBody>
      </p:sp>
      <p:sp>
        <p:nvSpPr>
          <p:cNvPr id="253" name="Google Shape;253;p2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It is a method of maintaining current flow after a momentary switch has been pressed and released.</a:t>
            </a:r>
            <a:endParaRPr/>
          </a:p>
        </p:txBody>
      </p:sp>
      <p:pic>
        <p:nvPicPr>
          <p:cNvPr id="254" name="Google Shape;254;p22"/>
          <p:cNvPicPr preferRelativeResize="0"/>
          <p:nvPr/>
        </p:nvPicPr>
        <p:blipFill rotWithShape="1">
          <a:blip r:embed="rId3">
            <a:alphaModFix/>
          </a:blip>
          <a:srcRect b="0" l="0" r="0" t="0"/>
          <a:stretch/>
        </p:blipFill>
        <p:spPr>
          <a:xfrm>
            <a:off x="2071687" y="3286125"/>
            <a:ext cx="4584700" cy="2638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Design a PLC program using ladder diagram for start-stop  </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260" name="Google Shape;260;p23"/>
          <p:cNvPicPr preferRelativeResize="0"/>
          <p:nvPr/>
        </p:nvPicPr>
        <p:blipFill rotWithShape="1">
          <a:blip r:embed="rId3">
            <a:alphaModFix/>
          </a:blip>
          <a:srcRect b="0" l="0" r="0" t="0"/>
          <a:stretch/>
        </p:blipFill>
        <p:spPr>
          <a:xfrm>
            <a:off x="1290637" y="2813050"/>
            <a:ext cx="5829300" cy="1981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4"/>
          <p:cNvSpPr txBox="1"/>
          <p:nvPr>
            <p:ph idx="1" type="body"/>
          </p:nvPr>
        </p:nvSpPr>
        <p:spPr>
          <a:xfrm>
            <a:off x="539750" y="885825"/>
            <a:ext cx="8326437" cy="43513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In certain process control application a fan is to run only when all of the following conditions are met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Input A is OFF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Input B is ON or input C is ON, or both B &amp;C are ON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Inputs D &amp;E both are ON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One or more of inputs F, G, or H is ON </a:t>
            </a:r>
            <a:endParaRPr/>
          </a:p>
          <a:p>
            <a:pPr indent="-342900" lvl="0" marL="34290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Write Gate logic, equivalent Boolean expression &amp; realize the same using PLC ladder diagram</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p:txBody>
      </p:sp>
      <p:pic>
        <p:nvPicPr>
          <p:cNvPr id="266" name="Google Shape;266;p24"/>
          <p:cNvPicPr preferRelativeResize="0"/>
          <p:nvPr/>
        </p:nvPicPr>
        <p:blipFill rotWithShape="1">
          <a:blip r:embed="rId3">
            <a:alphaModFix/>
          </a:blip>
          <a:srcRect b="0" l="0" r="0" t="0"/>
          <a:stretch/>
        </p:blipFill>
        <p:spPr>
          <a:xfrm>
            <a:off x="1500187" y="3786187"/>
            <a:ext cx="5829300" cy="256063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Electrical Interlocking Circuits</a:t>
            </a:r>
            <a:endParaRPr/>
          </a:p>
        </p:txBody>
      </p:sp>
      <p:sp>
        <p:nvSpPr>
          <p:cNvPr id="272" name="Google Shape;272;p25"/>
          <p:cNvSpPr txBox="1"/>
          <p:nvPr>
            <p:ph idx="1" type="body"/>
          </p:nvPr>
        </p:nvSpPr>
        <p:spPr>
          <a:xfrm>
            <a:off x="658812" y="2286000"/>
            <a:ext cx="7886700" cy="3289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Design a PLC program using ladder diagram for Forward-reverse-stop with mutual interlocks</a:t>
            </a:r>
            <a:endParaRPr/>
          </a:p>
        </p:txBody>
      </p:sp>
      <p:pic>
        <p:nvPicPr>
          <p:cNvPr id="273" name="Google Shape;273;p25"/>
          <p:cNvPicPr preferRelativeResize="0"/>
          <p:nvPr/>
        </p:nvPicPr>
        <p:blipFill rotWithShape="1">
          <a:blip r:embed="rId3">
            <a:alphaModFix/>
          </a:blip>
          <a:srcRect b="0" l="0" r="0" t="0"/>
          <a:stretch/>
        </p:blipFill>
        <p:spPr>
          <a:xfrm>
            <a:off x="1785937" y="3429000"/>
            <a:ext cx="6000750" cy="2520950"/>
          </a:xfrm>
          <a:prstGeom prst="rect">
            <a:avLst/>
          </a:prstGeom>
          <a:noFill/>
          <a:ln>
            <a:noFill/>
          </a:ln>
        </p:spPr>
      </p:pic>
      <p:sp>
        <p:nvSpPr>
          <p:cNvPr id="274" name="Google Shape;274;p25"/>
          <p:cNvSpPr txBox="1"/>
          <p:nvPr/>
        </p:nvSpPr>
        <p:spPr>
          <a:xfrm>
            <a:off x="1143000" y="1214437"/>
            <a:ext cx="7373937" cy="101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A technique called </a:t>
            </a:r>
            <a:r>
              <a:rPr b="1" i="0" lang="en-US" sz="2000" u="none">
                <a:solidFill>
                  <a:schemeClr val="dk1"/>
                </a:solidFill>
                <a:latin typeface="Arial"/>
                <a:ea typeface="Arial"/>
                <a:cs typeface="Arial"/>
                <a:sym typeface="Arial"/>
              </a:rPr>
              <a:t>interlocking is used</a:t>
            </a:r>
            <a:r>
              <a:rPr b="0" i="0" lang="en-US" sz="2000" u="none">
                <a:solidFill>
                  <a:schemeClr val="dk1"/>
                </a:solidFill>
                <a:latin typeface="Arial"/>
                <a:ea typeface="Arial"/>
                <a:cs typeface="Arial"/>
                <a:sym typeface="Arial"/>
              </a:rPr>
              <a:t> to prevent the </a:t>
            </a:r>
            <a:r>
              <a:rPr b="1" i="0" lang="en-US" sz="2000" u="none">
                <a:solidFill>
                  <a:schemeClr val="dk1"/>
                </a:solidFill>
                <a:latin typeface="Arial"/>
                <a:ea typeface="Arial"/>
                <a:cs typeface="Arial"/>
                <a:sym typeface="Arial"/>
              </a:rPr>
              <a:t>contactors</a:t>
            </a:r>
            <a:r>
              <a:rPr b="0" i="0" lang="en-US" sz="2000" u="none">
                <a:solidFill>
                  <a:schemeClr val="dk1"/>
                </a:solidFill>
                <a:latin typeface="Arial"/>
                <a:ea typeface="Arial"/>
                <a:cs typeface="Arial"/>
                <a:sym typeface="Arial"/>
              </a:rPr>
              <a:t> from being energized simultaneously or closing together and causing a short circuit.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Times New Roman"/>
              <a:buNone/>
            </a:pPr>
            <a:br>
              <a:rPr b="0" i="0" lang="en-US" sz="4000" u="none">
                <a:solidFill>
                  <a:schemeClr val="dk2"/>
                </a:solidFill>
                <a:latin typeface="Times New Roman"/>
                <a:ea typeface="Times New Roman"/>
                <a:cs typeface="Times New Roman"/>
                <a:sym typeface="Times New Roman"/>
              </a:rPr>
            </a:br>
            <a:r>
              <a:rPr b="0" i="0" lang="en-US" sz="4000" u="none">
                <a:solidFill>
                  <a:schemeClr val="dk2"/>
                </a:solidFill>
                <a:latin typeface="Times New Roman"/>
                <a:ea typeface="Times New Roman"/>
                <a:cs typeface="Times New Roman"/>
                <a:sym typeface="Times New Roman"/>
              </a:rPr>
              <a:t>Hardwired Logic versus Programmed Logic </a:t>
            </a:r>
            <a:br>
              <a:rPr b="0" i="0" lang="en-US" sz="4000" u="none">
                <a:solidFill>
                  <a:schemeClr val="dk2"/>
                </a:solidFill>
                <a:latin typeface="Times New Roman"/>
                <a:ea typeface="Times New Roman"/>
                <a:cs typeface="Times New Roman"/>
                <a:sym typeface="Times New Roman"/>
              </a:rPr>
            </a:br>
            <a:endParaRPr/>
          </a:p>
        </p:txBody>
      </p:sp>
      <p:pic>
        <p:nvPicPr>
          <p:cNvPr id="280" name="Google Shape;280;p26"/>
          <p:cNvPicPr preferRelativeResize="0"/>
          <p:nvPr>
            <p:ph idx="1" type="body"/>
          </p:nvPr>
        </p:nvPicPr>
        <p:blipFill rotWithShape="1">
          <a:blip r:embed="rId3">
            <a:alphaModFix/>
          </a:blip>
          <a:srcRect b="0" l="0" r="0" t="0"/>
          <a:stretch/>
        </p:blipFill>
        <p:spPr>
          <a:xfrm>
            <a:off x="173037" y="1857375"/>
            <a:ext cx="4237037" cy="3743325"/>
          </a:xfrm>
          <a:prstGeom prst="rect">
            <a:avLst/>
          </a:prstGeom>
          <a:noFill/>
          <a:ln>
            <a:noFill/>
          </a:ln>
        </p:spPr>
      </p:pic>
      <p:pic>
        <p:nvPicPr>
          <p:cNvPr id="281" name="Google Shape;281;p26"/>
          <p:cNvPicPr preferRelativeResize="0"/>
          <p:nvPr/>
        </p:nvPicPr>
        <p:blipFill rotWithShape="1">
          <a:blip r:embed="rId4">
            <a:alphaModFix/>
          </a:blip>
          <a:srcRect b="0" l="0" r="0" t="0"/>
          <a:stretch/>
        </p:blipFill>
        <p:spPr>
          <a:xfrm>
            <a:off x="4581525" y="1846262"/>
            <a:ext cx="4419600" cy="3754437"/>
          </a:xfrm>
          <a:prstGeom prst="rect">
            <a:avLst/>
          </a:prstGeom>
          <a:noFill/>
          <a:ln>
            <a:noFill/>
          </a:ln>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To develop a ladder logic program for the given relay logic circuits.</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287" name="Google Shape;287;p27"/>
          <p:cNvPicPr preferRelativeResize="0"/>
          <p:nvPr/>
        </p:nvPicPr>
        <p:blipFill rotWithShape="1">
          <a:blip r:embed="rId3">
            <a:alphaModFix/>
          </a:blip>
          <a:srcRect b="0" l="0" r="0" t="0"/>
          <a:stretch/>
        </p:blipFill>
        <p:spPr>
          <a:xfrm>
            <a:off x="1898650" y="2806700"/>
            <a:ext cx="1882775" cy="1725612"/>
          </a:xfrm>
          <a:prstGeom prst="rect">
            <a:avLst/>
          </a:prstGeom>
          <a:noFill/>
          <a:ln>
            <a:noFill/>
          </a:ln>
        </p:spPr>
      </p:pic>
      <p:pic>
        <p:nvPicPr>
          <p:cNvPr id="288" name="Google Shape;288;p27"/>
          <p:cNvPicPr preferRelativeResize="0"/>
          <p:nvPr/>
        </p:nvPicPr>
        <p:blipFill rotWithShape="1">
          <a:blip r:embed="rId4">
            <a:alphaModFix/>
          </a:blip>
          <a:srcRect b="0" l="0" r="0" t="0"/>
          <a:stretch/>
        </p:blipFill>
        <p:spPr>
          <a:xfrm>
            <a:off x="4830762" y="2668587"/>
            <a:ext cx="1679575" cy="168116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Arial"/>
              <a:buNone/>
            </a:pPr>
            <a:r>
              <a:rPr b="1" i="0" lang="en-US" sz="4000" u="none">
                <a:solidFill>
                  <a:schemeClr val="dk2"/>
                </a:solidFill>
                <a:latin typeface="Arial"/>
                <a:ea typeface="Arial"/>
                <a:cs typeface="Arial"/>
                <a:sym typeface="Arial"/>
              </a:rPr>
              <a:t>Latching Relays</a:t>
            </a:r>
            <a:endParaRPr/>
          </a:p>
        </p:txBody>
      </p:sp>
      <p:sp>
        <p:nvSpPr>
          <p:cNvPr id="294" name="Google Shape;294;p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Electromagnetic </a:t>
            </a:r>
            <a:r>
              <a:rPr b="1" i="0" lang="en-US" sz="2800" u="none">
                <a:solidFill>
                  <a:schemeClr val="dk1"/>
                </a:solidFill>
                <a:latin typeface="Arial"/>
                <a:ea typeface="Arial"/>
                <a:cs typeface="Arial"/>
                <a:sym typeface="Arial"/>
              </a:rPr>
              <a:t>latching relays are designed to hold the </a:t>
            </a:r>
            <a:r>
              <a:rPr b="0" i="0" lang="en-US" sz="2800" u="none">
                <a:solidFill>
                  <a:schemeClr val="dk1"/>
                </a:solidFill>
                <a:latin typeface="Arial"/>
                <a:ea typeface="Arial"/>
                <a:cs typeface="Arial"/>
                <a:sym typeface="Arial"/>
              </a:rPr>
              <a:t>relay closed after power has been removed from the coil.</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Latching relays are used where it is necessary for contacts to stay open and/or closed even though the coil is energized only momentarily.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Additional resources</a:t>
            </a:r>
            <a:endParaRPr/>
          </a:p>
        </p:txBody>
      </p:sp>
      <p:sp>
        <p:nvSpPr>
          <p:cNvPr id="300" name="Google Shape;300;p29"/>
          <p:cNvSpPr txBox="1"/>
          <p:nvPr/>
        </p:nvSpPr>
        <p:spPr>
          <a:xfrm>
            <a:off x="1000125" y="3143250"/>
            <a:ext cx="55721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sng">
                <a:solidFill>
                  <a:schemeClr val="dk1"/>
                </a:solidFill>
                <a:latin typeface="Arial"/>
                <a:ea typeface="Arial"/>
                <a:cs typeface="Arial"/>
                <a:sym typeface="Arial"/>
                <a:hlinkClick r:id="rId3">
                  <a:extLst>
                    <a:ext uri="{A12FA001-AC4F-418D-AE19-62706E023703}">
                      <ahyp:hlinkClr val="tx"/>
                    </a:ext>
                  </a:extLst>
                </a:hlinkClick>
              </a:rPr>
              <a:t>https://www.youtube.com/watch?v=7VpgURVaspU</a:t>
            </a:r>
            <a:endParaRPr/>
          </a:p>
        </p:txBody>
      </p:sp>
      <p:sp>
        <p:nvSpPr>
          <p:cNvPr id="301" name="Google Shape;301;p29"/>
          <p:cNvSpPr txBox="1"/>
          <p:nvPr/>
        </p:nvSpPr>
        <p:spPr>
          <a:xfrm>
            <a:off x="928687" y="2000250"/>
            <a:ext cx="635793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sng">
                <a:solidFill>
                  <a:schemeClr val="dk1"/>
                </a:solidFill>
                <a:latin typeface="Arial"/>
                <a:ea typeface="Arial"/>
                <a:cs typeface="Arial"/>
                <a:sym typeface="Arial"/>
                <a:hlinkClick r:id="rId4">
                  <a:extLst>
                    <a:ext uri="{A12FA001-AC4F-418D-AE19-62706E023703}">
                      <ahyp:hlinkClr val="tx"/>
                    </a:ext>
                  </a:extLst>
                </a:hlinkClick>
              </a:rPr>
              <a:t>https://www.youtube.com/watch?v=ReTtgzN-Dmc</a:t>
            </a:r>
            <a:endParaRPr/>
          </a:p>
        </p:txBody>
      </p:sp>
      <p:sp>
        <p:nvSpPr>
          <p:cNvPr id="302" name="Google Shape;302;p29"/>
          <p:cNvSpPr txBox="1"/>
          <p:nvPr/>
        </p:nvSpPr>
        <p:spPr>
          <a:xfrm>
            <a:off x="1071562" y="4286250"/>
            <a:ext cx="592931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sng">
                <a:solidFill>
                  <a:schemeClr val="dk1"/>
                </a:solidFill>
                <a:latin typeface="Arial"/>
                <a:ea typeface="Arial"/>
                <a:cs typeface="Arial"/>
                <a:sym typeface="Arial"/>
                <a:hlinkClick r:id="rId5">
                  <a:extLst>
                    <a:ext uri="{A12FA001-AC4F-418D-AE19-62706E023703}">
                      <ahyp:hlinkClr val="tx"/>
                    </a:ext>
                  </a:extLst>
                </a:hlinkClick>
              </a:rPr>
              <a:t>https://www.youtube.com/watch?v=htlo_gUMJQg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0"/>
          <p:cNvSpPr txBox="1"/>
          <p:nvPr>
            <p:ph type="title"/>
          </p:nvPr>
        </p:nvSpPr>
        <p:spPr>
          <a:xfrm>
            <a:off x="609600" y="2286000"/>
            <a:ext cx="8229600" cy="1752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br>
              <a:rPr b="1" i="0" lang="en-US" sz="4400" u="none">
                <a:solidFill>
                  <a:schemeClr val="dk2"/>
                </a:solidFill>
                <a:latin typeface="Arial"/>
                <a:ea typeface="Arial"/>
                <a:cs typeface="Arial"/>
                <a:sym typeface="Arial"/>
              </a:rPr>
            </a:br>
            <a:r>
              <a:rPr b="1" i="0" lang="en-US" sz="4400" u="none">
                <a:solidFill>
                  <a:schemeClr val="dk2"/>
                </a:solidFill>
                <a:latin typeface="Arial"/>
                <a:ea typeface="Arial"/>
                <a:cs typeface="Arial"/>
                <a:sym typeface="Arial"/>
              </a:rPr>
              <a:t>Function Blocks </a:t>
            </a:r>
            <a:br>
              <a:rPr b="1" i="0" lang="en-US" sz="4400" u="none">
                <a:solidFill>
                  <a:schemeClr val="dk2"/>
                </a:solidFill>
                <a:latin typeface="Arial"/>
                <a:ea typeface="Arial"/>
                <a:cs typeface="Arial"/>
                <a:sym typeface="Arial"/>
              </a:rPr>
            </a:br>
            <a:endParaRPr/>
          </a:p>
        </p:txBody>
      </p:sp>
      <p:pic>
        <p:nvPicPr>
          <p:cNvPr id="308" name="Google Shape;308;p30"/>
          <p:cNvPicPr preferRelativeResize="0"/>
          <p:nvPr/>
        </p:nvPicPr>
        <p:blipFill rotWithShape="1">
          <a:blip r:embed="rId3">
            <a:alphaModFix/>
          </a:blip>
          <a:srcRect b="0" l="0" r="0" t="0"/>
          <a:stretch/>
        </p:blipFill>
        <p:spPr>
          <a:xfrm>
            <a:off x="304800" y="228600"/>
            <a:ext cx="1181100" cy="600075"/>
          </a:xfrm>
          <a:prstGeom prst="rect">
            <a:avLst/>
          </a:prstGeom>
          <a:noFill/>
          <a:ln>
            <a:noFill/>
          </a:ln>
        </p:spPr>
      </p:pic>
      <p:sp>
        <p:nvSpPr>
          <p:cNvPr id="309" name="Google Shape;309;p30"/>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Timers</a:t>
            </a:r>
            <a:endParaRPr/>
          </a:p>
        </p:txBody>
      </p:sp>
      <p:sp>
        <p:nvSpPr>
          <p:cNvPr id="315" name="Google Shape;315;p3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On-Delay Timer (Ton)</a:t>
            </a:r>
            <a:r>
              <a:rPr b="0" i="0" lang="en-US" sz="2800" u="none">
                <a:solidFill>
                  <a:schemeClr val="dk1"/>
                </a:solidFill>
                <a:latin typeface="Arial"/>
                <a:ea typeface="Arial"/>
                <a:cs typeface="Arial"/>
                <a:sym typeface="Arial"/>
              </a:rPr>
              <a:t>: When input (IN) goes high, output (Q) will go high only after the preset time (PT) has elapsed. When input goes low, output will also go low immediately.</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316" name="Google Shape;316;p31"/>
          <p:cNvPicPr preferRelativeResize="0"/>
          <p:nvPr/>
        </p:nvPicPr>
        <p:blipFill rotWithShape="1">
          <a:blip r:embed="rId3">
            <a:alphaModFix/>
          </a:blip>
          <a:srcRect b="0" l="0" r="0" t="0"/>
          <a:stretch/>
        </p:blipFill>
        <p:spPr>
          <a:xfrm>
            <a:off x="304800" y="228600"/>
            <a:ext cx="1181100" cy="600075"/>
          </a:xfrm>
          <a:prstGeom prst="rect">
            <a:avLst/>
          </a:prstGeom>
          <a:noFill/>
          <a:ln>
            <a:noFill/>
          </a:ln>
        </p:spPr>
      </p:pic>
      <p:sp>
        <p:nvSpPr>
          <p:cNvPr id="317" name="Google Shape;317;p31"/>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318" name="Google Shape;318;p31"/>
          <p:cNvPicPr preferRelativeResize="0"/>
          <p:nvPr/>
        </p:nvPicPr>
        <p:blipFill rotWithShape="1">
          <a:blip r:embed="rId4">
            <a:alphaModFix/>
          </a:blip>
          <a:srcRect b="0" l="0" r="0" t="0"/>
          <a:stretch/>
        </p:blipFill>
        <p:spPr>
          <a:xfrm>
            <a:off x="2971800" y="3505200"/>
            <a:ext cx="3048000" cy="2514600"/>
          </a:xfrm>
          <a:prstGeom prst="rect">
            <a:avLst/>
          </a:prstGeom>
          <a:noFill/>
          <a:ln>
            <a:noFill/>
          </a:ln>
        </p:spPr>
      </p:pic>
      <p:sp>
        <p:nvSpPr>
          <p:cNvPr id="319" name="Google Shape;319;p31"/>
          <p:cNvSpPr txBox="1"/>
          <p:nvPr/>
        </p:nvSpPr>
        <p:spPr>
          <a:xfrm>
            <a:off x="914400" y="5791200"/>
            <a:ext cx="75438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Q is TRUE when IN is TRUE and ET is equal to PT. Otherwise it is FALSE.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Timers</a:t>
            </a:r>
            <a:endParaRPr/>
          </a:p>
        </p:txBody>
      </p:sp>
      <p:sp>
        <p:nvSpPr>
          <p:cNvPr id="325" name="Google Shape;325;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 Off-Delay Timer (Toff)</a:t>
            </a:r>
            <a:r>
              <a:rPr b="0" i="0" lang="en-US" sz="2800" u="none">
                <a:solidFill>
                  <a:schemeClr val="dk1"/>
                </a:solidFill>
                <a:latin typeface="Arial"/>
                <a:ea typeface="Arial"/>
                <a:cs typeface="Arial"/>
                <a:sym typeface="Arial"/>
              </a:rPr>
              <a:t>: When input (IN) becomes high, simultaneously output (Q) becomes high. When input becomes low, output becomes low after the preset time (PT) is elapsed.</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326" name="Google Shape;326;p32"/>
          <p:cNvPicPr preferRelativeResize="0"/>
          <p:nvPr/>
        </p:nvPicPr>
        <p:blipFill rotWithShape="1">
          <a:blip r:embed="rId3">
            <a:alphaModFix/>
          </a:blip>
          <a:srcRect b="0" l="0" r="0" t="0"/>
          <a:stretch/>
        </p:blipFill>
        <p:spPr>
          <a:xfrm>
            <a:off x="304800" y="228600"/>
            <a:ext cx="1181100" cy="600075"/>
          </a:xfrm>
          <a:prstGeom prst="rect">
            <a:avLst/>
          </a:prstGeom>
          <a:noFill/>
          <a:ln>
            <a:noFill/>
          </a:ln>
        </p:spPr>
      </p:pic>
      <p:sp>
        <p:nvSpPr>
          <p:cNvPr id="327" name="Google Shape;327;p32"/>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328" name="Google Shape;328;p32"/>
          <p:cNvPicPr preferRelativeResize="0"/>
          <p:nvPr/>
        </p:nvPicPr>
        <p:blipFill rotWithShape="1">
          <a:blip r:embed="rId4">
            <a:alphaModFix/>
          </a:blip>
          <a:srcRect b="0" l="0" r="0" t="0"/>
          <a:stretch/>
        </p:blipFill>
        <p:spPr>
          <a:xfrm>
            <a:off x="3352800" y="3657600"/>
            <a:ext cx="2971800" cy="1981200"/>
          </a:xfrm>
          <a:prstGeom prst="rect">
            <a:avLst/>
          </a:prstGeom>
          <a:noFill/>
          <a:ln>
            <a:noFill/>
          </a:ln>
        </p:spPr>
      </p:pic>
      <p:sp>
        <p:nvSpPr>
          <p:cNvPr id="329" name="Google Shape;329;p32"/>
          <p:cNvSpPr txBox="1"/>
          <p:nvPr/>
        </p:nvSpPr>
        <p:spPr>
          <a:xfrm>
            <a:off x="762000" y="5715000"/>
            <a:ext cx="73914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Q is FALSE when IN is FALSE and ET equal PT. Otherwise it is TRUE.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Timers</a:t>
            </a:r>
            <a:endParaRPr/>
          </a:p>
        </p:txBody>
      </p:sp>
      <p:sp>
        <p:nvSpPr>
          <p:cNvPr id="335" name="Google Shape;335;p3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Pulse Timer (TP)</a:t>
            </a:r>
            <a:r>
              <a:rPr b="0" i="0" lang="en-US" sz="2800" u="none">
                <a:solidFill>
                  <a:schemeClr val="dk1"/>
                </a:solidFill>
                <a:latin typeface="Arial"/>
                <a:ea typeface="Arial"/>
                <a:cs typeface="Arial"/>
                <a:sym typeface="Arial"/>
              </a:rPr>
              <a:t>: If input (IN) is low, output (Q) is low. When input goes high, output will remain high till the preset time (PT) &amp; after that it will be reset even if input is high.</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336" name="Google Shape;336;p33"/>
          <p:cNvPicPr preferRelativeResize="0"/>
          <p:nvPr/>
        </p:nvPicPr>
        <p:blipFill rotWithShape="1">
          <a:blip r:embed="rId3">
            <a:alphaModFix/>
          </a:blip>
          <a:srcRect b="0" l="0" r="0" t="0"/>
          <a:stretch/>
        </p:blipFill>
        <p:spPr>
          <a:xfrm>
            <a:off x="304800" y="228600"/>
            <a:ext cx="1181100" cy="600075"/>
          </a:xfrm>
          <a:prstGeom prst="rect">
            <a:avLst/>
          </a:prstGeom>
          <a:noFill/>
          <a:ln>
            <a:noFill/>
          </a:ln>
        </p:spPr>
      </p:pic>
      <p:sp>
        <p:nvSpPr>
          <p:cNvPr id="337" name="Google Shape;337;p33"/>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338" name="Google Shape;338;p33"/>
          <p:cNvPicPr preferRelativeResize="0"/>
          <p:nvPr/>
        </p:nvPicPr>
        <p:blipFill rotWithShape="1">
          <a:blip r:embed="rId4">
            <a:alphaModFix/>
          </a:blip>
          <a:srcRect b="0" l="0" r="0" t="0"/>
          <a:stretch/>
        </p:blipFill>
        <p:spPr>
          <a:xfrm>
            <a:off x="3200400" y="3657600"/>
            <a:ext cx="3200400" cy="2133600"/>
          </a:xfrm>
          <a:prstGeom prst="rect">
            <a:avLst/>
          </a:prstGeom>
          <a:noFill/>
          <a:ln>
            <a:noFill/>
          </a:ln>
        </p:spPr>
      </p:pic>
      <p:sp>
        <p:nvSpPr>
          <p:cNvPr id="339" name="Google Shape;339;p33"/>
          <p:cNvSpPr txBox="1"/>
          <p:nvPr/>
        </p:nvSpPr>
        <p:spPr>
          <a:xfrm>
            <a:off x="838200" y="5649912"/>
            <a:ext cx="79248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Q is TRUE if IN is TRUE and ET is less than or equal to PT. Otherwise it is FALSE.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4"/>
          <p:cNvSpPr txBox="1"/>
          <p:nvPr>
            <p:ph idx="1" type="body"/>
          </p:nvPr>
        </p:nvSpPr>
        <p:spPr>
          <a:xfrm>
            <a:off x="457200" y="1412875"/>
            <a:ext cx="8229600" cy="4713287"/>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345" name="Google Shape;345;p34"/>
          <p:cNvPicPr preferRelativeResize="0"/>
          <p:nvPr/>
        </p:nvPicPr>
        <p:blipFill rotWithShape="1">
          <a:blip r:embed="rId3">
            <a:alphaModFix/>
          </a:blip>
          <a:srcRect b="0" l="0" r="0" t="0"/>
          <a:stretch/>
        </p:blipFill>
        <p:spPr>
          <a:xfrm>
            <a:off x="304800" y="228600"/>
            <a:ext cx="1524000" cy="762000"/>
          </a:xfrm>
          <a:prstGeom prst="rect">
            <a:avLst/>
          </a:prstGeom>
          <a:noFill/>
          <a:ln>
            <a:noFill/>
          </a:ln>
        </p:spPr>
      </p:pic>
      <p:sp>
        <p:nvSpPr>
          <p:cNvPr id="346" name="Google Shape;346;p34"/>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347" name="Google Shape;347;p34"/>
          <p:cNvSpPr txBox="1"/>
          <p:nvPr/>
        </p:nvSpPr>
        <p:spPr>
          <a:xfrm>
            <a:off x="387350" y="1052512"/>
            <a:ext cx="53340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sng">
                <a:solidFill>
                  <a:schemeClr val="dk1"/>
                </a:solidFill>
                <a:latin typeface="Arial"/>
                <a:ea typeface="Arial"/>
                <a:cs typeface="Arial"/>
                <a:sym typeface="Arial"/>
              </a:rPr>
              <a:t>How to use timers in logic</a:t>
            </a:r>
            <a:r>
              <a:rPr b="0" i="0" lang="en-US" sz="2400" u="none">
                <a:solidFill>
                  <a:schemeClr val="dk1"/>
                </a:solidFill>
                <a:latin typeface="Arial"/>
                <a:ea typeface="Arial"/>
                <a:cs typeface="Arial"/>
                <a:sym typeface="Arial"/>
              </a:rPr>
              <a:t> :-</a:t>
            </a:r>
            <a:endParaRPr/>
          </a:p>
        </p:txBody>
      </p:sp>
      <p:pic>
        <p:nvPicPr>
          <p:cNvPr id="348" name="Google Shape;348;p34"/>
          <p:cNvPicPr preferRelativeResize="0"/>
          <p:nvPr/>
        </p:nvPicPr>
        <p:blipFill rotWithShape="1">
          <a:blip r:embed="rId4">
            <a:alphaModFix/>
          </a:blip>
          <a:srcRect b="0" l="0" r="0" t="0"/>
          <a:stretch/>
        </p:blipFill>
        <p:spPr>
          <a:xfrm>
            <a:off x="463550" y="1557337"/>
            <a:ext cx="7924800" cy="460851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5"/>
          <p:cNvSpPr txBox="1"/>
          <p:nvPr>
            <p:ph idx="1" type="body"/>
          </p:nvPr>
        </p:nvSpPr>
        <p:spPr>
          <a:xfrm>
            <a:off x="250825" y="1341437"/>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354" name="Google Shape;354;p35"/>
          <p:cNvPicPr preferRelativeResize="0"/>
          <p:nvPr/>
        </p:nvPicPr>
        <p:blipFill rotWithShape="1">
          <a:blip r:embed="rId3">
            <a:alphaModFix/>
          </a:blip>
          <a:srcRect b="0" l="0" r="0" t="0"/>
          <a:stretch/>
        </p:blipFill>
        <p:spPr>
          <a:xfrm>
            <a:off x="304800" y="228600"/>
            <a:ext cx="1524000" cy="762000"/>
          </a:xfrm>
          <a:prstGeom prst="rect">
            <a:avLst/>
          </a:prstGeom>
          <a:noFill/>
          <a:ln>
            <a:noFill/>
          </a:ln>
        </p:spPr>
      </p:pic>
      <p:sp>
        <p:nvSpPr>
          <p:cNvPr id="355" name="Google Shape;355;p35"/>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356" name="Google Shape;356;p35"/>
          <p:cNvSpPr txBox="1"/>
          <p:nvPr/>
        </p:nvSpPr>
        <p:spPr>
          <a:xfrm>
            <a:off x="900112" y="1577975"/>
            <a:ext cx="7775575" cy="2616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UP Counter (CTU)</a:t>
            </a:r>
            <a:r>
              <a:rPr b="0" i="0" lang="en-US" sz="2400" u="none">
                <a:solidFill>
                  <a:schemeClr val="dk1"/>
                </a:solidFill>
                <a:latin typeface="Arial"/>
                <a:ea typeface="Arial"/>
                <a:cs typeface="Arial"/>
                <a:sym typeface="Arial"/>
              </a:rPr>
              <a:t>:</a:t>
            </a:r>
            <a:endParaRPr/>
          </a:p>
          <a:p>
            <a:pPr indent="0" lvl="0" marL="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When input (CU) has the rising edge, counter value (CV) is incremented by 1. When CV becomes equal to the preset value (PV) which is loaded with some initial value except zero, output (Q) becomes high. Reset is used to reset the counter value to zero. </a:t>
            </a:r>
            <a:endParaRPr/>
          </a:p>
        </p:txBody>
      </p:sp>
      <p:pic>
        <p:nvPicPr>
          <p:cNvPr id="357" name="Google Shape;357;p35"/>
          <p:cNvPicPr preferRelativeResize="0"/>
          <p:nvPr/>
        </p:nvPicPr>
        <p:blipFill rotWithShape="1">
          <a:blip r:embed="rId4">
            <a:alphaModFix/>
          </a:blip>
          <a:srcRect b="0" l="0" r="0" t="0"/>
          <a:stretch/>
        </p:blipFill>
        <p:spPr>
          <a:xfrm>
            <a:off x="2971800" y="4191000"/>
            <a:ext cx="3095625" cy="1800225"/>
          </a:xfrm>
          <a:prstGeom prst="rect">
            <a:avLst/>
          </a:prstGeom>
          <a:noFill/>
          <a:ln>
            <a:noFill/>
          </a:ln>
        </p:spPr>
      </p:pic>
      <p:sp>
        <p:nvSpPr>
          <p:cNvPr id="358" name="Google Shape;358;p35"/>
          <p:cNvSpPr txBox="1"/>
          <p:nvPr/>
        </p:nvSpPr>
        <p:spPr>
          <a:xfrm>
            <a:off x="2286000" y="457200"/>
            <a:ext cx="4724400" cy="708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000"/>
              <a:buFont typeface="Arial"/>
              <a:buNone/>
            </a:pPr>
            <a:r>
              <a:rPr b="1" i="0" lang="en-US" sz="4000" u="none">
                <a:solidFill>
                  <a:schemeClr val="dk1"/>
                </a:solidFill>
                <a:latin typeface="Arial"/>
                <a:ea typeface="Arial"/>
                <a:cs typeface="Arial"/>
                <a:sym typeface="Arial"/>
              </a:rPr>
              <a:t>Counters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364" name="Google Shape;364;p36"/>
          <p:cNvPicPr preferRelativeResize="0"/>
          <p:nvPr/>
        </p:nvPicPr>
        <p:blipFill rotWithShape="1">
          <a:blip r:embed="rId3">
            <a:alphaModFix/>
          </a:blip>
          <a:srcRect b="0" l="0" r="0" t="0"/>
          <a:stretch/>
        </p:blipFill>
        <p:spPr>
          <a:xfrm>
            <a:off x="304800" y="228600"/>
            <a:ext cx="1524000" cy="762000"/>
          </a:xfrm>
          <a:prstGeom prst="rect">
            <a:avLst/>
          </a:prstGeom>
          <a:noFill/>
          <a:ln>
            <a:noFill/>
          </a:ln>
        </p:spPr>
      </p:pic>
      <p:sp>
        <p:nvSpPr>
          <p:cNvPr id="365" name="Google Shape;365;p36"/>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366" name="Google Shape;366;p36"/>
          <p:cNvSpPr txBox="1"/>
          <p:nvPr/>
        </p:nvSpPr>
        <p:spPr>
          <a:xfrm>
            <a:off x="534987" y="1241425"/>
            <a:ext cx="7924800" cy="28305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 </a:t>
            </a:r>
            <a:r>
              <a:rPr b="1" i="0" lang="en-US" sz="2400" u="none">
                <a:solidFill>
                  <a:schemeClr val="dk1"/>
                </a:solidFill>
                <a:latin typeface="Arial"/>
                <a:ea typeface="Arial"/>
                <a:cs typeface="Arial"/>
                <a:sym typeface="Arial"/>
              </a:rPr>
              <a:t>Down Counter (CTD)</a:t>
            </a:r>
            <a:r>
              <a:rPr b="0" i="0" lang="en-US" sz="2400" u="none">
                <a:solidFill>
                  <a:schemeClr val="dk1"/>
                </a:solidFill>
                <a:latin typeface="Arial"/>
                <a:ea typeface="Arial"/>
                <a:cs typeface="Arial"/>
                <a:sym typeface="Arial"/>
              </a:rPr>
              <a:t>: </a:t>
            </a:r>
            <a:endParaRPr/>
          </a:p>
          <a:p>
            <a:pPr indent="0" lvl="0" marL="0" marR="0" rtl="0" algn="just">
              <a:lnSpc>
                <a:spcPct val="100000"/>
              </a:lnSpc>
              <a:spcBef>
                <a:spcPts val="14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When input (CD) has the rising edge, counter value (CV) is decremented by 1. So when the counter value becomes equal to the preset value (PV) which is zero, output (Q) becomes high. Some initial value is given to Load which is been shifted to CV. </a:t>
            </a:r>
            <a:endParaRPr/>
          </a:p>
        </p:txBody>
      </p:sp>
      <p:pic>
        <p:nvPicPr>
          <p:cNvPr id="367" name="Google Shape;367;p36"/>
          <p:cNvPicPr preferRelativeResize="0"/>
          <p:nvPr/>
        </p:nvPicPr>
        <p:blipFill rotWithShape="1">
          <a:blip r:embed="rId4">
            <a:alphaModFix/>
          </a:blip>
          <a:srcRect b="0" l="0" r="0" t="0"/>
          <a:stretch/>
        </p:blipFill>
        <p:spPr>
          <a:xfrm>
            <a:off x="2819400" y="4191000"/>
            <a:ext cx="3095625" cy="1944687"/>
          </a:xfrm>
          <a:prstGeom prst="rect">
            <a:avLst/>
          </a:prstGeom>
          <a:noFill/>
          <a:ln>
            <a:noFill/>
          </a:ln>
        </p:spPr>
      </p:pic>
      <p:sp>
        <p:nvSpPr>
          <p:cNvPr id="368" name="Google Shape;368;p36"/>
          <p:cNvSpPr txBox="1"/>
          <p:nvPr/>
        </p:nvSpPr>
        <p:spPr>
          <a:xfrm>
            <a:off x="2286000" y="457200"/>
            <a:ext cx="4724400" cy="708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000"/>
              <a:buFont typeface="Arial"/>
              <a:buNone/>
            </a:pPr>
            <a:r>
              <a:rPr b="1" i="0" lang="en-US" sz="4000" u="none">
                <a:solidFill>
                  <a:schemeClr val="dk1"/>
                </a:solidFill>
                <a:latin typeface="Arial"/>
                <a:ea typeface="Arial"/>
                <a:cs typeface="Arial"/>
                <a:sym typeface="Arial"/>
              </a:rPr>
              <a:t>Counters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374" name="Google Shape;374;p37"/>
          <p:cNvPicPr preferRelativeResize="0"/>
          <p:nvPr/>
        </p:nvPicPr>
        <p:blipFill rotWithShape="1">
          <a:blip r:embed="rId3">
            <a:alphaModFix/>
          </a:blip>
          <a:srcRect b="0" l="0" r="0" t="0"/>
          <a:stretch/>
        </p:blipFill>
        <p:spPr>
          <a:xfrm>
            <a:off x="304800" y="228600"/>
            <a:ext cx="1524000" cy="762000"/>
          </a:xfrm>
          <a:prstGeom prst="rect">
            <a:avLst/>
          </a:prstGeom>
          <a:noFill/>
          <a:ln>
            <a:noFill/>
          </a:ln>
        </p:spPr>
      </p:pic>
      <p:sp>
        <p:nvSpPr>
          <p:cNvPr id="375" name="Google Shape;375;p37"/>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376" name="Google Shape;376;p37"/>
          <p:cNvSpPr txBox="1"/>
          <p:nvPr/>
        </p:nvSpPr>
        <p:spPr>
          <a:xfrm>
            <a:off x="611187" y="1412875"/>
            <a:ext cx="7848600" cy="1323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Up-Down Counter (CTUD)</a:t>
            </a:r>
            <a:r>
              <a:rPr b="0" i="0" lang="en-US" sz="2400" u="non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It can act as Up Counter as well as Down Counter. So it can perform both the functions. </a:t>
            </a:r>
            <a:endParaRPr/>
          </a:p>
        </p:txBody>
      </p:sp>
      <p:pic>
        <p:nvPicPr>
          <p:cNvPr id="377" name="Google Shape;377;p37"/>
          <p:cNvPicPr preferRelativeResize="0"/>
          <p:nvPr/>
        </p:nvPicPr>
        <p:blipFill rotWithShape="1">
          <a:blip r:embed="rId4">
            <a:alphaModFix/>
          </a:blip>
          <a:srcRect b="0" l="0" r="0" t="0"/>
          <a:stretch/>
        </p:blipFill>
        <p:spPr>
          <a:xfrm>
            <a:off x="2743200" y="3200400"/>
            <a:ext cx="3455987" cy="2447925"/>
          </a:xfrm>
          <a:prstGeom prst="rect">
            <a:avLst/>
          </a:prstGeom>
          <a:noFill/>
          <a:ln>
            <a:noFill/>
          </a:ln>
        </p:spPr>
      </p:pic>
      <p:sp>
        <p:nvSpPr>
          <p:cNvPr id="378" name="Google Shape;378;p37"/>
          <p:cNvSpPr txBox="1"/>
          <p:nvPr/>
        </p:nvSpPr>
        <p:spPr>
          <a:xfrm>
            <a:off x="2286000" y="457200"/>
            <a:ext cx="4724400" cy="708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000"/>
              <a:buFont typeface="Arial"/>
              <a:buNone/>
            </a:pPr>
            <a:r>
              <a:rPr b="1" i="0" lang="en-US" sz="4000" u="none">
                <a:solidFill>
                  <a:schemeClr val="dk1"/>
                </a:solidFill>
                <a:latin typeface="Arial"/>
                <a:ea typeface="Arial"/>
                <a:cs typeface="Arial"/>
                <a:sym typeface="Arial"/>
              </a:rPr>
              <a:t>Counters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384" name="Google Shape;384;p38"/>
          <p:cNvPicPr preferRelativeResize="0"/>
          <p:nvPr/>
        </p:nvPicPr>
        <p:blipFill rotWithShape="1">
          <a:blip r:embed="rId3">
            <a:alphaModFix/>
          </a:blip>
          <a:srcRect b="0" l="0" r="0" t="0"/>
          <a:stretch/>
        </p:blipFill>
        <p:spPr>
          <a:xfrm>
            <a:off x="304800" y="228600"/>
            <a:ext cx="1524000" cy="762000"/>
          </a:xfrm>
          <a:prstGeom prst="rect">
            <a:avLst/>
          </a:prstGeom>
          <a:noFill/>
          <a:ln>
            <a:noFill/>
          </a:ln>
        </p:spPr>
      </p:pic>
      <p:sp>
        <p:nvSpPr>
          <p:cNvPr id="385" name="Google Shape;385;p38"/>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386" name="Google Shape;386;p38"/>
          <p:cNvSpPr txBox="1"/>
          <p:nvPr/>
        </p:nvSpPr>
        <p:spPr>
          <a:xfrm>
            <a:off x="455612" y="1125537"/>
            <a:ext cx="5334000"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sng">
                <a:solidFill>
                  <a:schemeClr val="dk1"/>
                </a:solidFill>
                <a:latin typeface="Arial"/>
                <a:ea typeface="Arial"/>
                <a:cs typeface="Arial"/>
                <a:sym typeface="Arial"/>
              </a:rPr>
              <a:t>How to use counters in logic</a:t>
            </a:r>
            <a:r>
              <a:rPr b="0" i="0" lang="en-US" sz="2400" u="none">
                <a:solidFill>
                  <a:schemeClr val="dk1"/>
                </a:solidFill>
                <a:latin typeface="Arial"/>
                <a:ea typeface="Arial"/>
                <a:cs typeface="Arial"/>
                <a:sym typeface="Arial"/>
              </a:rPr>
              <a:t> :-</a:t>
            </a:r>
            <a:endParaRPr/>
          </a:p>
        </p:txBody>
      </p:sp>
      <p:pic>
        <p:nvPicPr>
          <p:cNvPr id="387" name="Google Shape;387;p38"/>
          <p:cNvPicPr preferRelativeResize="0"/>
          <p:nvPr/>
        </p:nvPicPr>
        <p:blipFill rotWithShape="1">
          <a:blip r:embed="rId4">
            <a:alphaModFix/>
          </a:blip>
          <a:srcRect b="0" l="0" r="0" t="0"/>
          <a:stretch/>
        </p:blipFill>
        <p:spPr>
          <a:xfrm>
            <a:off x="455612" y="1628775"/>
            <a:ext cx="8077200" cy="44640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9"/>
          <p:cNvSpPr txBox="1"/>
          <p:nvPr>
            <p:ph idx="1" type="body"/>
          </p:nvPr>
        </p:nvSpPr>
        <p:spPr>
          <a:xfrm>
            <a:off x="533400" y="457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For a grinding operation on a metal part, the coolant flow on a part must be on for an interval before the grinding process starts. When the process circuit is turned on, the coolant motor is turned on. Eight seconds later the grinding process starts.</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393" name="Google Shape;393;p39"/>
          <p:cNvPicPr preferRelativeResize="0"/>
          <p:nvPr/>
        </p:nvPicPr>
        <p:blipFill rotWithShape="1">
          <a:blip r:embed="rId3">
            <a:alphaModFix/>
          </a:blip>
          <a:srcRect b="0" l="0" r="0" t="0"/>
          <a:stretch/>
        </p:blipFill>
        <p:spPr>
          <a:xfrm>
            <a:off x="838200" y="3048000"/>
            <a:ext cx="4297362" cy="28606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p40"/>
          <p:cNvPicPr preferRelativeResize="0"/>
          <p:nvPr/>
        </p:nvPicPr>
        <p:blipFill rotWithShape="1">
          <a:blip r:embed="rId3">
            <a:alphaModFix/>
          </a:blip>
          <a:srcRect b="0" l="0" r="0" t="0"/>
          <a:stretch/>
        </p:blipFill>
        <p:spPr>
          <a:xfrm>
            <a:off x="838200" y="1600200"/>
            <a:ext cx="7353300" cy="25622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There are 3 pumps on a processing line which are operated in a following sequence. </a:t>
            </a:r>
            <a:endParaRPr/>
          </a:p>
          <a:p>
            <a:pPr indent="-342900" lvl="0" marL="342900" marR="0" rtl="0" algn="just">
              <a:lnSpc>
                <a:spcPct val="10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When START button is pressed pump1 should get ON for 20sec. Next pump2  should get ON for 10sec. Next pump 3 should get ON for 5 sec. Write PLC ladder diagram, and realize the same. </a:t>
            </a:r>
            <a:endParaRPr/>
          </a:p>
          <a:p>
            <a:pPr indent="-342900" lvl="0" marL="342900" marR="0" rtl="0" algn="just">
              <a:lnSpc>
                <a:spcPct val="10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There are 2 inputs(start and stop)</a:t>
            </a:r>
            <a:endParaRPr/>
          </a:p>
          <a:p>
            <a:pPr indent="-342900" lvl="0" marL="342900" marR="0" rtl="0" algn="just">
              <a:lnSpc>
                <a:spcPct val="10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Inputs : I0 and I1</a:t>
            </a:r>
            <a:endParaRPr/>
          </a:p>
          <a:p>
            <a:pPr indent="-342900" lvl="0" marL="342900" marR="0" rtl="0" algn="just">
              <a:lnSpc>
                <a:spcPct val="10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Outputs: Q0, Q1 and Q2</a:t>
            </a:r>
            <a:endParaRPr/>
          </a:p>
          <a:p>
            <a:pPr indent="-190500" lvl="0" marL="342900" marR="0" rtl="0" algn="l">
              <a:spcBef>
                <a:spcPts val="48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42"/>
          <p:cNvPicPr preferRelativeResize="0"/>
          <p:nvPr>
            <p:ph idx="1" type="body"/>
          </p:nvPr>
        </p:nvPicPr>
        <p:blipFill rotWithShape="1">
          <a:blip r:embed="rId3">
            <a:alphaModFix/>
          </a:blip>
          <a:srcRect b="0" l="0" r="0" t="0"/>
          <a:stretch/>
        </p:blipFill>
        <p:spPr>
          <a:xfrm>
            <a:off x="304800" y="533400"/>
            <a:ext cx="8458200" cy="546576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Write a PLC program to operate a light according to the following sequence.</a:t>
            </a:r>
            <a:endParaRPr/>
          </a:p>
          <a:p>
            <a:pPr indent="-177800" lvl="0" marL="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 momentary push button is pressed to start the sequence</a:t>
            </a:r>
            <a:endParaRPr/>
          </a:p>
          <a:p>
            <a:pPr indent="-177800" lvl="0" marL="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The light is switched ON and remains ON for 2 s.</a:t>
            </a:r>
            <a:endParaRPr/>
          </a:p>
          <a:p>
            <a:pPr indent="-177800" lvl="0" marL="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The light is then switched off and remains off for 2 s.</a:t>
            </a:r>
            <a:endParaRPr/>
          </a:p>
          <a:p>
            <a:pPr indent="-177800" lvl="0" marL="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This sequence continues until STOP is pressed.</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p44"/>
          <p:cNvPicPr preferRelativeResize="0"/>
          <p:nvPr>
            <p:ph idx="1" type="body"/>
          </p:nvPr>
        </p:nvPicPr>
        <p:blipFill rotWithShape="1">
          <a:blip r:embed="rId3">
            <a:alphaModFix/>
          </a:blip>
          <a:srcRect b="0" l="0" r="0" t="0"/>
          <a:stretch/>
        </p:blipFill>
        <p:spPr>
          <a:xfrm>
            <a:off x="457200" y="838200"/>
            <a:ext cx="8229600" cy="486886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5"/>
          <p:cNvSpPr txBox="1"/>
          <p:nvPr>
            <p:ph idx="1" type="body"/>
          </p:nvPr>
        </p:nvSpPr>
        <p:spPr>
          <a:xfrm>
            <a:off x="457200" y="914400"/>
            <a:ext cx="8229600" cy="4525962"/>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Clr>
                <a:schemeClr val="dk1"/>
              </a:buClr>
              <a:buSzPts val="2700"/>
              <a:buFont typeface="Arial"/>
              <a:buNone/>
            </a:pPr>
            <a:r>
              <a:rPr b="0" i="0" lang="en-US" sz="2700" u="none">
                <a:solidFill>
                  <a:schemeClr val="dk1"/>
                </a:solidFill>
                <a:latin typeface="Arial"/>
                <a:ea typeface="Arial"/>
                <a:cs typeface="Arial"/>
                <a:sym typeface="Arial"/>
              </a:rPr>
              <a:t>Write a PLC program to operate a light according to the following sequence.</a:t>
            </a:r>
            <a:endParaRPr/>
          </a:p>
          <a:p>
            <a:pPr indent="-171450" lvl="0" marL="0" marR="0" rtl="0" algn="l">
              <a:lnSpc>
                <a:spcPct val="80000"/>
              </a:lnSpc>
              <a:spcBef>
                <a:spcPts val="540"/>
              </a:spcBef>
              <a:spcAft>
                <a:spcPts val="0"/>
              </a:spcAft>
              <a:buClr>
                <a:schemeClr val="dk1"/>
              </a:buClr>
              <a:buSzPts val="2700"/>
              <a:buFont typeface="Arial"/>
              <a:buChar char="•"/>
            </a:pPr>
            <a:r>
              <a:rPr b="0" i="0" lang="en-US" sz="2700" u="none">
                <a:solidFill>
                  <a:schemeClr val="dk1"/>
                </a:solidFill>
                <a:latin typeface="Arial"/>
                <a:ea typeface="Arial"/>
                <a:cs typeface="Arial"/>
                <a:sym typeface="Arial"/>
              </a:rPr>
              <a:t>A momentary push button is pressed to start the sequence</a:t>
            </a:r>
            <a:endParaRPr/>
          </a:p>
          <a:p>
            <a:pPr indent="-171450" lvl="0" marL="0" marR="0" rtl="0" algn="l">
              <a:lnSpc>
                <a:spcPct val="80000"/>
              </a:lnSpc>
              <a:spcBef>
                <a:spcPts val="540"/>
              </a:spcBef>
              <a:spcAft>
                <a:spcPts val="0"/>
              </a:spcAft>
              <a:buClr>
                <a:schemeClr val="dk1"/>
              </a:buClr>
              <a:buSzPts val="2700"/>
              <a:buFont typeface="Arial"/>
              <a:buChar char="•"/>
            </a:pPr>
            <a:r>
              <a:rPr b="0" i="0" lang="en-US" sz="2700" u="none">
                <a:solidFill>
                  <a:schemeClr val="dk1"/>
                </a:solidFill>
                <a:latin typeface="Arial"/>
                <a:ea typeface="Arial"/>
                <a:cs typeface="Arial"/>
                <a:sym typeface="Arial"/>
              </a:rPr>
              <a:t>The light is switched ON and remains ON for 2 s.</a:t>
            </a:r>
            <a:endParaRPr/>
          </a:p>
          <a:p>
            <a:pPr indent="-171450" lvl="0" marL="0" marR="0" rtl="0" algn="l">
              <a:lnSpc>
                <a:spcPct val="80000"/>
              </a:lnSpc>
              <a:spcBef>
                <a:spcPts val="540"/>
              </a:spcBef>
              <a:spcAft>
                <a:spcPts val="0"/>
              </a:spcAft>
              <a:buClr>
                <a:schemeClr val="dk1"/>
              </a:buClr>
              <a:buSzPts val="2700"/>
              <a:buFont typeface="Arial"/>
              <a:buChar char="•"/>
            </a:pPr>
            <a:r>
              <a:rPr b="0" i="0" lang="en-US" sz="2700" u="none">
                <a:solidFill>
                  <a:schemeClr val="dk1"/>
                </a:solidFill>
                <a:latin typeface="Arial"/>
                <a:ea typeface="Arial"/>
                <a:cs typeface="Arial"/>
                <a:sym typeface="Arial"/>
              </a:rPr>
              <a:t>The light is then switched off and remains off for 2 s.</a:t>
            </a:r>
            <a:endParaRPr/>
          </a:p>
          <a:p>
            <a:pPr indent="-171450" lvl="0" marL="0" marR="0" rtl="0" algn="l">
              <a:lnSpc>
                <a:spcPct val="80000"/>
              </a:lnSpc>
              <a:spcBef>
                <a:spcPts val="540"/>
              </a:spcBef>
              <a:spcAft>
                <a:spcPts val="0"/>
              </a:spcAft>
              <a:buClr>
                <a:schemeClr val="dk1"/>
              </a:buClr>
              <a:buSzPts val="2700"/>
              <a:buFont typeface="Arial"/>
              <a:buChar char="•"/>
            </a:pPr>
            <a:r>
              <a:rPr b="0" i="0" lang="en-US" sz="2700" u="none">
                <a:solidFill>
                  <a:schemeClr val="dk1"/>
                </a:solidFill>
                <a:latin typeface="Arial"/>
                <a:ea typeface="Arial"/>
                <a:cs typeface="Arial"/>
                <a:sym typeface="Arial"/>
              </a:rPr>
              <a:t>A counter is incremented by 1 after this sequence.</a:t>
            </a:r>
            <a:endParaRPr/>
          </a:p>
          <a:p>
            <a:pPr indent="-171450" lvl="0" marL="0" marR="0" rtl="0" algn="l">
              <a:lnSpc>
                <a:spcPct val="80000"/>
              </a:lnSpc>
              <a:spcBef>
                <a:spcPts val="540"/>
              </a:spcBef>
              <a:spcAft>
                <a:spcPts val="0"/>
              </a:spcAft>
              <a:buClr>
                <a:schemeClr val="dk1"/>
              </a:buClr>
              <a:buSzPts val="2700"/>
              <a:buFont typeface="Arial"/>
              <a:buChar char="•"/>
            </a:pPr>
            <a:r>
              <a:rPr b="0" i="0" lang="en-US" sz="2700" u="none">
                <a:solidFill>
                  <a:schemeClr val="dk1"/>
                </a:solidFill>
                <a:latin typeface="Arial"/>
                <a:ea typeface="Arial"/>
                <a:cs typeface="Arial"/>
                <a:sym typeface="Arial"/>
              </a:rPr>
              <a:t>The sequence then repeats for a total of 4 counts.</a:t>
            </a:r>
            <a:endParaRPr/>
          </a:p>
          <a:p>
            <a:pPr indent="-171450" lvl="0" marL="0" marR="0" rtl="0" algn="l">
              <a:lnSpc>
                <a:spcPct val="80000"/>
              </a:lnSpc>
              <a:spcBef>
                <a:spcPts val="540"/>
              </a:spcBef>
              <a:spcAft>
                <a:spcPts val="0"/>
              </a:spcAft>
              <a:buClr>
                <a:schemeClr val="dk1"/>
              </a:buClr>
              <a:buSzPts val="2700"/>
              <a:buFont typeface="Arial"/>
              <a:buChar char="•"/>
            </a:pPr>
            <a:r>
              <a:rPr b="0" i="0" lang="en-US" sz="2700" u="none">
                <a:solidFill>
                  <a:schemeClr val="dk1"/>
                </a:solidFill>
                <a:latin typeface="Arial"/>
                <a:ea typeface="Arial"/>
                <a:cs typeface="Arial"/>
                <a:sym typeface="Arial"/>
              </a:rPr>
              <a:t>After the fourth count, the sequence will stop and the counter will be reset to zero.</a:t>
            </a:r>
            <a:endParaRPr/>
          </a:p>
          <a:p>
            <a:pPr indent="-171450" lvl="0" marL="342900" marR="0" rtl="0" algn="l">
              <a:spcBef>
                <a:spcPts val="540"/>
              </a:spcBef>
              <a:spcAft>
                <a:spcPts val="0"/>
              </a:spcAft>
              <a:buClr>
                <a:schemeClr val="dk1"/>
              </a:buClr>
              <a:buSzPts val="2700"/>
              <a:buFont typeface="Arial"/>
              <a:buNone/>
            </a:pPr>
            <a:r>
              <a:t/>
            </a:r>
            <a:endParaRPr b="0" i="0" sz="2700" u="none">
              <a:solidFill>
                <a:schemeClr val="dk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id="428" name="Google Shape;428;p46"/>
          <p:cNvPicPr preferRelativeResize="0"/>
          <p:nvPr>
            <p:ph idx="1" type="body"/>
          </p:nvPr>
        </p:nvPicPr>
        <p:blipFill rotWithShape="1">
          <a:blip r:embed="rId3">
            <a:alphaModFix/>
          </a:blip>
          <a:srcRect b="0" l="0" r="0" t="0"/>
          <a:stretch/>
        </p:blipFill>
        <p:spPr>
          <a:xfrm>
            <a:off x="457200" y="762000"/>
            <a:ext cx="8229600" cy="509746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In certain process control application when the count reaches 25, a paint spray is to run for 40 seconds. Design, construct, and test PLC circuits for this process.</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8"/>
          <p:cNvSpPr txBox="1"/>
          <p:nvPr>
            <p:ph idx="1" type="body"/>
          </p:nvPr>
        </p:nvSpPr>
        <p:spPr>
          <a:xfrm>
            <a:off x="457200" y="6096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To develop ladder diagram for a one way traffic light control system and verify the logic in the PLC simulator </a:t>
            </a:r>
            <a:endParaRPr b="0" i="0" sz="2000" u="none">
              <a:solidFill>
                <a:schemeClr val="dk1"/>
              </a:solidFill>
              <a:latin typeface="Arial"/>
              <a:ea typeface="Arial"/>
              <a:cs typeface="Arial"/>
              <a:sym typeface="Arial"/>
            </a:endParaRPr>
          </a:p>
          <a:p>
            <a:pPr indent="0" lvl="0" marL="0" marR="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a:p>
            <a:pPr indent="0" lvl="0" marL="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When start button is pressed, Red light will be ON for 30s after which yellow light is ON for 5s then green light is ON for 25s and this process continues. There is a start and stop button to control the system.</a:t>
            </a:r>
            <a:endParaRPr/>
          </a:p>
          <a:p>
            <a:pPr indent="0" lvl="0" marL="0" marR="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a:p>
            <a:pPr indent="0" lvl="0" marL="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0" lvl="0" marL="0" marR="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a:p>
            <a:pPr indent="0" lvl="0" marL="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0" lvl="0" marL="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439" name="Google Shape;439;p48"/>
          <p:cNvPicPr preferRelativeResize="0"/>
          <p:nvPr/>
        </p:nvPicPr>
        <p:blipFill rotWithShape="1">
          <a:blip r:embed="rId3">
            <a:alphaModFix/>
          </a:blip>
          <a:srcRect b="0" l="0" r="0" t="0"/>
          <a:stretch/>
        </p:blipFill>
        <p:spPr>
          <a:xfrm>
            <a:off x="2667000" y="3657600"/>
            <a:ext cx="3170237" cy="111601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p49"/>
          <p:cNvPicPr preferRelativeResize="0"/>
          <p:nvPr/>
        </p:nvPicPr>
        <p:blipFill rotWithShape="1">
          <a:blip r:embed="rId3">
            <a:alphaModFix/>
          </a:blip>
          <a:srcRect b="0" l="0" r="0" t="0"/>
          <a:stretch/>
        </p:blipFill>
        <p:spPr>
          <a:xfrm>
            <a:off x="609600" y="1160462"/>
            <a:ext cx="8001000" cy="3182937"/>
          </a:xfrm>
          <a:prstGeom prst="rect">
            <a:avLst/>
          </a:prstGeom>
          <a:noFill/>
          <a:ln>
            <a:noFill/>
          </a:ln>
        </p:spPr>
      </p:pic>
      <p:pic>
        <p:nvPicPr>
          <p:cNvPr id="445" name="Google Shape;445;p49"/>
          <p:cNvPicPr preferRelativeResize="0"/>
          <p:nvPr/>
        </p:nvPicPr>
        <p:blipFill rotWithShape="1">
          <a:blip r:embed="rId4">
            <a:alphaModFix/>
          </a:blip>
          <a:srcRect b="0" l="0" r="0" t="0"/>
          <a:stretch/>
        </p:blipFill>
        <p:spPr>
          <a:xfrm>
            <a:off x="609600" y="4343400"/>
            <a:ext cx="8001000" cy="17526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0"/>
          <p:cNvSpPr txBox="1"/>
          <p:nvPr>
            <p:ph idx="1" type="body"/>
          </p:nvPr>
        </p:nvSpPr>
        <p:spPr>
          <a:xfrm>
            <a:off x="457200" y="1524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The conveyor is operated by a START/STOP button. There is a photo sensor to detect the objects passing on it. The conveyor should stop when the sensor detects 5 objects. </a:t>
            </a:r>
            <a:endParaRPr/>
          </a:p>
        </p:txBody>
      </p:sp>
      <p:pic>
        <p:nvPicPr>
          <p:cNvPr id="451" name="Google Shape;451;p50"/>
          <p:cNvPicPr preferRelativeResize="0"/>
          <p:nvPr/>
        </p:nvPicPr>
        <p:blipFill rotWithShape="1">
          <a:blip r:embed="rId3">
            <a:alphaModFix/>
          </a:blip>
          <a:srcRect b="0" l="0" r="0" t="0"/>
          <a:stretch/>
        </p:blipFill>
        <p:spPr>
          <a:xfrm>
            <a:off x="457200" y="2438400"/>
            <a:ext cx="8077200" cy="32004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1"/>
          <p:cNvSpPr txBox="1"/>
          <p:nvPr>
            <p:ph idx="1" type="body"/>
          </p:nvPr>
        </p:nvSpPr>
        <p:spPr>
          <a:xfrm>
            <a:off x="533400" y="6096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100"/>
              <a:buFont typeface="Arial"/>
              <a:buChar char="•"/>
            </a:pPr>
            <a:r>
              <a:rPr b="0" i="0" lang="en-US" sz="2100" u="none">
                <a:solidFill>
                  <a:schemeClr val="dk1"/>
                </a:solidFill>
                <a:latin typeface="Arial"/>
                <a:ea typeface="Arial"/>
                <a:cs typeface="Arial"/>
                <a:sym typeface="Arial"/>
              </a:rPr>
              <a:t>To develop ladder diagram for a two way traffic light control system and verify the logic in the PLC simulator </a:t>
            </a:r>
            <a:endParaRPr/>
          </a:p>
          <a:p>
            <a:pPr indent="-342900" lvl="0" marL="342900" marR="0" rtl="0" algn="l">
              <a:lnSpc>
                <a:spcPct val="100000"/>
              </a:lnSpc>
              <a:spcBef>
                <a:spcPts val="420"/>
              </a:spcBef>
              <a:spcAft>
                <a:spcPts val="0"/>
              </a:spcAft>
              <a:buClr>
                <a:schemeClr val="dk1"/>
              </a:buClr>
              <a:buSzPts val="2100"/>
              <a:buFont typeface="Arial"/>
              <a:buChar char="•"/>
            </a:pPr>
            <a:r>
              <a:rPr b="0" i="0" lang="en-US" sz="2100" u="none">
                <a:solidFill>
                  <a:schemeClr val="dk1"/>
                </a:solidFill>
                <a:latin typeface="Arial"/>
                <a:ea typeface="Arial"/>
                <a:cs typeface="Arial"/>
                <a:sym typeface="Arial"/>
              </a:rPr>
              <a:t>When Red 1 is ON for 30s, W-E traffic flows. At this instant, Yellow 2 becomes ON for 5s after which Green 2 becomes ON for 25s. After 30s, when Red 2 is ON for 30s, N-S traffic flows. At this instant, Yellow 1 becomes ON for 5s after which Green 1 becomes ON for 25s and this process continues. There is a start button and a stop button. Draw</a:t>
            </a:r>
            <a:r>
              <a:rPr b="1" i="0" lang="en-US" sz="2100" u="none">
                <a:solidFill>
                  <a:schemeClr val="dk1"/>
                </a:solidFill>
                <a:latin typeface="Arial"/>
                <a:ea typeface="Arial"/>
                <a:cs typeface="Arial"/>
                <a:sym typeface="Arial"/>
              </a:rPr>
              <a:t> </a:t>
            </a:r>
            <a:r>
              <a:rPr b="0" i="0" lang="en-US" sz="2100" u="none">
                <a:solidFill>
                  <a:schemeClr val="dk1"/>
                </a:solidFill>
                <a:latin typeface="Arial"/>
                <a:ea typeface="Arial"/>
                <a:cs typeface="Arial"/>
                <a:sym typeface="Arial"/>
              </a:rPr>
              <a:t>the ladder logic to implement the above process.</a:t>
            </a:r>
            <a:endParaRPr/>
          </a:p>
          <a:p>
            <a:pPr indent="-209550" lvl="0" marL="342900" marR="0" rtl="0" algn="l">
              <a:spcBef>
                <a:spcPts val="420"/>
              </a:spcBef>
              <a:spcAft>
                <a:spcPts val="0"/>
              </a:spcAft>
              <a:buClr>
                <a:schemeClr val="dk1"/>
              </a:buClr>
              <a:buSzPts val="2100"/>
              <a:buFont typeface="Arial"/>
              <a:buNone/>
            </a:pPr>
            <a:r>
              <a:t/>
            </a:r>
            <a:endParaRPr b="0" i="0" sz="2100" u="none">
              <a:solidFill>
                <a:schemeClr val="dk1"/>
              </a:solidFill>
              <a:latin typeface="Arial"/>
              <a:ea typeface="Arial"/>
              <a:cs typeface="Arial"/>
              <a:sym typeface="Arial"/>
            </a:endParaRPr>
          </a:p>
        </p:txBody>
      </p:sp>
      <p:pic>
        <p:nvPicPr>
          <p:cNvPr id="457" name="Google Shape;457;p51"/>
          <p:cNvPicPr preferRelativeResize="0"/>
          <p:nvPr/>
        </p:nvPicPr>
        <p:blipFill rotWithShape="1">
          <a:blip r:embed="rId3">
            <a:alphaModFix/>
          </a:blip>
          <a:srcRect b="0" l="0" r="0" t="0"/>
          <a:stretch/>
        </p:blipFill>
        <p:spPr>
          <a:xfrm>
            <a:off x="1828800" y="3505200"/>
            <a:ext cx="5562600" cy="13747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2"/>
          <p:cNvSpPr txBox="1"/>
          <p:nvPr>
            <p:ph idx="1" type="body"/>
          </p:nvPr>
        </p:nvSpPr>
        <p:spPr>
          <a:xfrm>
            <a:off x="533400" y="533400"/>
            <a:ext cx="8229600" cy="4525962"/>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Write a program to implement the process illustrated in Figure below. An up-counter must be programmed as part of a batch-counting operation to sort parts automatically for quality control. The counter is installed to divert 1 part out of every 1000 for quality control or inspection purposes. The circuit operates as follows:</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 start/stop pushbutton station is used to turn the conveyor motor on and off.</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 proximity sensor counts the parts as they pass by on the conveyor.</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When a count of 1000 is reached, the counter's output activates the gate solenoid, diverting the part to the inspection line.</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The gate solenoid is energized for 2 s, which allows enough time for the part to continue to the quality control line.</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The gate returns to its normal position when the 2-s time period ends.</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The counter resets to 0 and continues to accumulate counts.</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 reset pushbutton is provided to reset the counter manually.</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p:txBody>
      </p:sp>
      <p:pic>
        <p:nvPicPr>
          <p:cNvPr id="463" name="Google Shape;463;p52"/>
          <p:cNvPicPr preferRelativeResize="0"/>
          <p:nvPr/>
        </p:nvPicPr>
        <p:blipFill rotWithShape="1">
          <a:blip r:embed="rId3">
            <a:alphaModFix/>
          </a:blip>
          <a:srcRect b="0" l="0" r="0" t="0"/>
          <a:stretch/>
        </p:blipFill>
        <p:spPr>
          <a:xfrm>
            <a:off x="2408237" y="4800600"/>
            <a:ext cx="4479925" cy="17494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3"/>
          <p:cNvSpPr txBox="1"/>
          <p:nvPr>
            <p:ph type="title"/>
          </p:nvPr>
        </p:nvSpPr>
        <p:spPr>
          <a:xfrm>
            <a:off x="104775" y="1828800"/>
            <a:ext cx="5610225" cy="4267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2"/>
              </a:buClr>
              <a:buSzPts val="1800"/>
              <a:buFont typeface="Arial"/>
              <a:buNone/>
            </a:pPr>
            <a:r>
              <a:rPr b="0" i="0" lang="en-US" sz="1800" u="none">
                <a:solidFill>
                  <a:schemeClr val="dk2"/>
                </a:solidFill>
                <a:latin typeface="Arial"/>
                <a:ea typeface="Arial"/>
                <a:cs typeface="Arial"/>
                <a:sym typeface="Arial"/>
              </a:rPr>
              <a:t>When START is pressed the valve V1 will get ON resulting liquid1 inlet to mixing tank. </a:t>
            </a:r>
            <a:br>
              <a:rPr b="0" i="0" lang="en-US" sz="1800" u="none">
                <a:solidFill>
                  <a:schemeClr val="dk2"/>
                </a:solidFill>
                <a:latin typeface="Arial"/>
                <a:ea typeface="Arial"/>
                <a:cs typeface="Arial"/>
                <a:sym typeface="Arial"/>
              </a:rPr>
            </a:br>
            <a:r>
              <a:rPr b="0" i="0" lang="en-US" sz="1800" u="none">
                <a:solidFill>
                  <a:schemeClr val="dk2"/>
                </a:solidFill>
                <a:latin typeface="Arial"/>
                <a:ea typeface="Arial"/>
                <a:cs typeface="Arial"/>
                <a:sym typeface="Arial"/>
              </a:rPr>
              <a:t>As liquid1 comes in low level sensor will get ON and further middle level sensor will be ON. As ML is ON, V1 should get OFF and V2 should get ON.  As V2 is ON liquid 2 inlet to mixing tank resulting increase in level and reaches to high level sensor. As HL is ON V2 will get OFF and motor M will get ON for 10s. After 10s, motor gets OFF and drain V3 gets ON. As drain is ON mixing tank will start getting empty. Slowly level goes down resulting HL, ML and LL sensors OFF one by one. As LL is OFF repeat the process. STOP button will be used to stop the process at any time. </a:t>
            </a:r>
            <a:endParaRPr/>
          </a:p>
        </p:txBody>
      </p:sp>
      <p:pic>
        <p:nvPicPr>
          <p:cNvPr id="469" name="Google Shape;469;p53"/>
          <p:cNvPicPr preferRelativeResize="0"/>
          <p:nvPr>
            <p:ph idx="1" type="body"/>
          </p:nvPr>
        </p:nvPicPr>
        <p:blipFill rotWithShape="1">
          <a:blip r:embed="rId3">
            <a:alphaModFix/>
          </a:blip>
          <a:srcRect b="0" l="0" r="0" t="0"/>
          <a:stretch/>
        </p:blipFill>
        <p:spPr>
          <a:xfrm>
            <a:off x="5715000" y="2133600"/>
            <a:ext cx="2947987" cy="2590800"/>
          </a:xfrm>
          <a:prstGeom prst="rect">
            <a:avLst/>
          </a:prstGeom>
          <a:noFill/>
          <a:ln>
            <a:noFill/>
          </a:ln>
        </p:spPr>
      </p:pic>
      <p:sp>
        <p:nvSpPr>
          <p:cNvPr id="470" name="Google Shape;470;p53"/>
          <p:cNvSpPr txBox="1"/>
          <p:nvPr/>
        </p:nvSpPr>
        <p:spPr>
          <a:xfrm>
            <a:off x="609600" y="4270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Arial"/>
              <a:buNone/>
            </a:pPr>
            <a:r>
              <a:rPr b="0" i="0" lang="en-US" sz="4400" u="none">
                <a:solidFill>
                  <a:schemeClr val="dk1"/>
                </a:solidFill>
                <a:latin typeface="Arial"/>
                <a:ea typeface="Arial"/>
                <a:cs typeface="Arial"/>
                <a:sym typeface="Arial"/>
              </a:rPr>
              <a:t>Mixing application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pic>
        <p:nvPicPr>
          <p:cNvPr id="475" name="Google Shape;475;p54"/>
          <p:cNvPicPr preferRelativeResize="0"/>
          <p:nvPr>
            <p:ph idx="1" type="body"/>
          </p:nvPr>
        </p:nvPicPr>
        <p:blipFill rotWithShape="1">
          <a:blip r:embed="rId3">
            <a:alphaModFix/>
          </a:blip>
          <a:srcRect b="0" l="0" r="0" t="0"/>
          <a:stretch/>
        </p:blipFill>
        <p:spPr>
          <a:xfrm>
            <a:off x="495300" y="228600"/>
            <a:ext cx="8229600" cy="4267200"/>
          </a:xfrm>
          <a:prstGeom prst="rect">
            <a:avLst/>
          </a:prstGeom>
          <a:noFill/>
          <a:ln>
            <a:noFill/>
          </a:ln>
        </p:spPr>
      </p:pic>
      <p:pic>
        <p:nvPicPr>
          <p:cNvPr id="476" name="Google Shape;476;p54"/>
          <p:cNvPicPr preferRelativeResize="0"/>
          <p:nvPr/>
        </p:nvPicPr>
        <p:blipFill rotWithShape="1">
          <a:blip r:embed="rId4">
            <a:alphaModFix/>
          </a:blip>
          <a:srcRect b="0" l="0" r="0" t="0"/>
          <a:stretch/>
        </p:blipFill>
        <p:spPr>
          <a:xfrm>
            <a:off x="495300" y="4495800"/>
            <a:ext cx="8202612" cy="1301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2010-05-23T14:28:12Z</dcterms:created>
  <dc:creator>Mariajose</dc:creator>
</cp:coreProperties>
</file>

<file path=docProps/custom.xml><?xml version="1.0" encoding="utf-8"?>
<Properties xmlns="http://schemas.openxmlformats.org/officeDocument/2006/custom-properties" xmlns:vt="http://schemas.openxmlformats.org/officeDocument/2006/docPropsVTypes"/>
</file>