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7" r:id="rId4"/>
    <p:sldId id="259" r:id="rId5"/>
    <p:sldId id="260" r:id="rId6"/>
    <p:sldId id="261" r:id="rId7"/>
    <p:sldId id="268" r:id="rId8"/>
    <p:sldId id="262" r:id="rId9"/>
    <p:sldId id="26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Camera Calibration &amp; Single-View Geometry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Camera Calibration?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sz="2800" dirty="0"/>
              <a:t>Camera calibration is the process of estimating the parameters of a camera so that we can relate 3D points in the world to their corresponding 2D projections on the image plane. 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sz="2800" dirty="0"/>
              <a:t>It removes distortions and provides a mathematical model of the camera.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sz="2800" dirty="0"/>
              <a:t>Calibration involves finding two main types of parameters: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974C66-D90D-D566-EF93-05A6CF006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Camera Parameters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09E76F-3D9E-848C-BEDB-3B8B3025B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Intrinsic Parameters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EC2BCE-C128-3585-AA7E-0A56857D6A6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Internal to the camera.</a:t>
            </a:r>
          </a:p>
          <a:p>
            <a:r>
              <a:rPr lang="en-US" dirty="0"/>
              <a:t>Image formation in camera.</a:t>
            </a:r>
          </a:p>
          <a:p>
            <a:r>
              <a:rPr lang="en-IN" dirty="0"/>
              <a:t>Examples:</a:t>
            </a:r>
          </a:p>
          <a:p>
            <a:pPr lvl="1"/>
            <a:r>
              <a:rPr lang="en-IN" dirty="0"/>
              <a:t>Focal length (</a:t>
            </a:r>
            <a:r>
              <a:rPr lang="en-IN" dirty="0" err="1"/>
              <a:t>fx</a:t>
            </a:r>
            <a:r>
              <a:rPr lang="en-IN" dirty="0"/>
              <a:t>, </a:t>
            </a:r>
            <a:r>
              <a:rPr lang="en-IN" dirty="0" err="1"/>
              <a:t>fy</a:t>
            </a:r>
            <a:r>
              <a:rPr lang="en-IN" dirty="0"/>
              <a:t>)</a:t>
            </a:r>
          </a:p>
          <a:p>
            <a:pPr lvl="1"/>
            <a:r>
              <a:rPr lang="en-IN" dirty="0"/>
              <a:t>Principal point (image center cx, cy)</a:t>
            </a:r>
          </a:p>
          <a:p>
            <a:pPr lvl="1"/>
            <a:r>
              <a:rPr lang="en-US" dirty="0"/>
              <a:t>Skew (non-rectangular pixels, usually negligible)</a:t>
            </a:r>
          </a:p>
          <a:p>
            <a:pPr lvl="1"/>
            <a:r>
              <a:rPr lang="en-IN" dirty="0"/>
              <a:t>Lens distortion (radial, tangential)</a:t>
            </a:r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C98C4B3-5B10-6D4A-F2EB-24B15462B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Extrinsic Parameters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0FBD3-67F8-41BE-FE67-F67B97FC9ED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Pose of the camera</a:t>
            </a:r>
          </a:p>
          <a:p>
            <a:pPr lvl="1"/>
            <a:r>
              <a:rPr lang="en-IN" dirty="0"/>
              <a:t>Rotation matrix (orientation)</a:t>
            </a:r>
          </a:p>
          <a:p>
            <a:pPr lvl="1"/>
            <a:r>
              <a:rPr lang="en-IN" dirty="0"/>
              <a:t>Translation vector (position)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1999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IN" b="1" dirty="0"/>
                  <a:t>pinhole camera model</a:t>
                </a:r>
                <a:r>
                  <a:rPr lang="en-IN" dirty="0"/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m:rPr>
                          <m:nor/>
                        </m:rPr>
                        <a:rPr lang="ar-AE" i="1">
                          <a:latin typeface="Cambria Math" panose="02040503050406030204" pitchFamily="18" charset="0"/>
                        </a:rPr>
                        <m:t>  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m:rPr>
                              <m:nor/>
                            </m:rPr>
                            <a:rPr lang="ar-AE" i="1">
                              <a:latin typeface="Cambria Math" panose="02040503050406030204" pitchFamily="18" charset="0"/>
                            </a:rPr>
                            <m:t>  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m:rPr>
                              <m:nor/>
                            </m:rPr>
                            <a:rPr lang="ar-AE" i="1">
                              <a:latin typeface="Cambria Math" panose="02040503050406030204" pitchFamily="18" charset="0"/>
                            </a:rPr>
                            <m:t>  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nor/>
                        </m:rPr>
                        <a:rPr lang="ar-AE" i="1">
                          <a:latin typeface="Cambria Math" panose="02040503050406030204" pitchFamily="18" charset="0"/>
                        </a:rPr>
                        <m:t>  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where: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IN" dirty="0"/>
                  <a:t>= intrinsic matrix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= </a:t>
                </a:r>
                <a:r>
                  <a:rPr lang="en-IN" dirty="0"/>
                  <a:t>extrinsic parameters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Relation: </a:t>
                </a:r>
                <a:r>
                  <a:rPr lang="en-IN" b="1" dirty="0"/>
                  <a:t>World → Camera → Image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2830" b="-32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Calibration is Needed?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en-US" altLang="en-US" sz="270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altLang="en-US" sz="2700" dirty="0"/>
              <a:t>Real cameras are not ideal (lens distortions, offset from image center, pixel scaling differences).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altLang="en-US" sz="2700" dirty="0"/>
              <a:t>Without calibration, 3D reconstruction, measurements, or mapping would be inaccurate.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Influence on Single-View Geometry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 algn="just"/>
            <a:r>
              <a:rPr lang="en-US" sz="2700" dirty="0"/>
              <a:t>Single-view geometry refers to the geometric relationships (like projection, vanishing points, perspective effects) seen in an image taken from a single viewpoint.</a:t>
            </a:r>
          </a:p>
          <a:p>
            <a:pPr algn="just"/>
            <a:r>
              <a:rPr lang="en-US" sz="2700" dirty="0"/>
              <a:t>Calibration tells us the true mapping between scene geometry and its image.</a:t>
            </a:r>
          </a:p>
          <a:p>
            <a:pPr algn="just"/>
            <a:endParaRPr sz="2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7F3E8-328F-762A-DEEC-0C3FEF4FD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Effects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B7762-B393-171D-D043-0F5FF9BB5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400" b="1" dirty="0"/>
              <a:t>Vanishing Points &amp; Lines</a:t>
            </a:r>
            <a:r>
              <a:rPr lang="en-US" sz="2400" dirty="0"/>
              <a:t>: Calibration determines how parallel lines in 3D converge to vanishing points in the image.</a:t>
            </a:r>
          </a:p>
          <a:p>
            <a:pPr algn="just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400" b="1" dirty="0"/>
              <a:t>Metric Reconstruction</a:t>
            </a:r>
            <a:r>
              <a:rPr lang="en-US" sz="2400" dirty="0"/>
              <a:t>: With calibration, we can measure </a:t>
            </a:r>
            <a:r>
              <a:rPr lang="en-US" sz="2400" b="1" dirty="0"/>
              <a:t>real-world lengths, angles, and areas</a:t>
            </a:r>
            <a:r>
              <a:rPr lang="en-US" sz="2400" dirty="0"/>
              <a:t> from a single image (not just projective geometry).</a:t>
            </a:r>
          </a:p>
          <a:p>
            <a:pPr algn="just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400" b="1" dirty="0"/>
              <a:t>Camera Pose Estimation</a:t>
            </a:r>
            <a:r>
              <a:rPr lang="en-US" sz="2400" dirty="0"/>
              <a:t>: Extrinsic calibration allows us to know where the camera is located in space relative to the scene.</a:t>
            </a:r>
          </a:p>
          <a:p>
            <a:pPr algn="just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400" b="1" dirty="0"/>
              <a:t>Removing Distortion</a:t>
            </a:r>
            <a:r>
              <a:rPr lang="en-US" sz="2400" dirty="0"/>
              <a:t>: Corrects curved lines (barrel/pincushion distortion) to recover accurate geometry.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274621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Example: Checkerboard Calibration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Before calibration: curved edges, inaccurate distances</a:t>
            </a:r>
          </a:p>
          <a:p>
            <a:r>
              <a:t>After calibration: straight edges, geometry preserved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04162-72F1-1A4C-ED6B-59F0CC4C2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In Short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176A2-9FA1-2FCA-11CF-4EBC6A465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sz="2800" dirty="0"/>
              <a:t>Without calibration → only </a:t>
            </a:r>
            <a:r>
              <a:rPr lang="en-US" sz="2800" i="1" dirty="0"/>
              <a:t>projective geometry</a:t>
            </a:r>
            <a:r>
              <a:rPr lang="en-US" sz="2800" dirty="0"/>
              <a:t> (relative structure, parallelism lost).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sz="2800" dirty="0"/>
              <a:t>With calibration → </a:t>
            </a:r>
            <a:r>
              <a:rPr lang="en-US" sz="2800" i="1" dirty="0"/>
              <a:t>metric geometry</a:t>
            </a:r>
            <a:r>
              <a:rPr lang="en-US" sz="2800" dirty="0"/>
              <a:t> (true shapes, angles, measurements possible).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148769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370</Words>
  <Application>Microsoft Office PowerPoint</Application>
  <PresentationFormat>On-screen Show (4:3)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Cambria Math</vt:lpstr>
      <vt:lpstr>Century Gothic</vt:lpstr>
      <vt:lpstr>Palatino Linotype</vt:lpstr>
      <vt:lpstr>Office Theme</vt:lpstr>
      <vt:lpstr>Camera Calibration &amp; Single-View Geometry</vt:lpstr>
      <vt:lpstr>What is Camera Calibration?</vt:lpstr>
      <vt:lpstr>Camera Parameters</vt:lpstr>
      <vt:lpstr>Mathematical Model</vt:lpstr>
      <vt:lpstr>Why Calibration is Needed?</vt:lpstr>
      <vt:lpstr>Influence on Single-View Geometry</vt:lpstr>
      <vt:lpstr>Effects</vt:lpstr>
      <vt:lpstr>Example: Checkerboard Calibration</vt:lpstr>
      <vt:lpstr>In Short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ஆ சேவியர் ரெனி பிரசாத்</cp:lastModifiedBy>
  <cp:revision>2</cp:revision>
  <dcterms:created xsi:type="dcterms:W3CDTF">2013-01-27T09:14:16Z</dcterms:created>
  <dcterms:modified xsi:type="dcterms:W3CDTF">2025-09-29T20:44:04Z</dcterms:modified>
  <cp:category/>
</cp:coreProperties>
</file>