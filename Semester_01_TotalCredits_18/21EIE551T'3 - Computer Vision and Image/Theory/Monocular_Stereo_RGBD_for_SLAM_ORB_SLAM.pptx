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71" r:id="rId4"/>
    <p:sldId id="27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3" r:id="rId14"/>
    <p:sldId id="265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019A6-8226-4B54-8ED5-A310B0AECE2B}" v="33" dt="2025-11-01T04:52:09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redo custSel addSld modSld">
      <pc:chgData name="Reni Nithya" userId="81dbbd6ae6b89009" providerId="LiveId" clId="{712AF1E0-38CE-403E-8C05-4A6DF01D01E8}" dt="2025-11-01T04:52:15.574" v="223" actId="20577"/>
      <pc:docMkLst>
        <pc:docMk/>
      </pc:docMkLst>
      <pc:sldChg chg="modSp mod">
        <pc:chgData name="Reni Nithya" userId="81dbbd6ae6b89009" providerId="LiveId" clId="{712AF1E0-38CE-403E-8C05-4A6DF01D01E8}" dt="2025-11-01T04:23:38.474" v="9" actId="20577"/>
        <pc:sldMkLst>
          <pc:docMk/>
          <pc:sldMk cId="0" sldId="258"/>
        </pc:sldMkLst>
        <pc:spChg chg="mod">
          <ac:chgData name="Reni Nithya" userId="81dbbd6ae6b89009" providerId="LiveId" clId="{712AF1E0-38CE-403E-8C05-4A6DF01D01E8}" dt="2025-11-01T04:23:38.474" v="9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26:42.340" v="15" actId="20577"/>
        <pc:sldMkLst>
          <pc:docMk/>
          <pc:sldMk cId="0" sldId="260"/>
        </pc:sldMkLst>
        <pc:spChg chg="mod">
          <ac:chgData name="Reni Nithya" userId="81dbbd6ae6b89009" providerId="LiveId" clId="{712AF1E0-38CE-403E-8C05-4A6DF01D01E8}" dt="2025-11-01T04:26:42.340" v="15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32:22.490" v="54" actId="1076"/>
        <pc:sldMkLst>
          <pc:docMk/>
          <pc:sldMk cId="0" sldId="262"/>
        </pc:sldMkLst>
        <pc:spChg chg="mod">
          <ac:chgData name="Reni Nithya" userId="81dbbd6ae6b89009" providerId="LiveId" clId="{712AF1E0-38CE-403E-8C05-4A6DF01D01E8}" dt="2025-11-01T04:32:22.490" v="54" actId="1076"/>
          <ac:spMkLst>
            <pc:docMk/>
            <pc:sldMk cId="0" sldId="262"/>
            <ac:spMk id="3" creationId="{00000000-0000-0000-0000-000000000000}"/>
          </ac:spMkLst>
        </pc:spChg>
      </pc:sldChg>
      <pc:sldChg chg="addSp modSp mod">
        <pc:chgData name="Reni Nithya" userId="81dbbd6ae6b89009" providerId="LiveId" clId="{712AF1E0-38CE-403E-8C05-4A6DF01D01E8}" dt="2025-11-01T04:52:15.574" v="223" actId="20577"/>
        <pc:sldMkLst>
          <pc:docMk/>
          <pc:sldMk cId="0" sldId="263"/>
        </pc:sldMkLst>
        <pc:spChg chg="mod">
          <ac:chgData name="Reni Nithya" userId="81dbbd6ae6b89009" providerId="LiveId" clId="{712AF1E0-38CE-403E-8C05-4A6DF01D01E8}" dt="2025-11-01T04:34:25.149" v="69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Reni Nithya" userId="81dbbd6ae6b89009" providerId="LiveId" clId="{712AF1E0-38CE-403E-8C05-4A6DF01D01E8}" dt="2025-11-01T04:52:15.574" v="223" actId="20577"/>
          <ac:spMkLst>
            <pc:docMk/>
            <pc:sldMk cId="0" sldId="263"/>
            <ac:spMk id="3" creationId="{00000000-0000-0000-0000-000000000000}"/>
          </ac:spMkLst>
        </pc:spChg>
        <pc:spChg chg="add">
          <ac:chgData name="Reni Nithya" userId="81dbbd6ae6b89009" providerId="LiveId" clId="{712AF1E0-38CE-403E-8C05-4A6DF01D01E8}" dt="2025-11-01T04:33:45.713" v="58"/>
          <ac:spMkLst>
            <pc:docMk/>
            <pc:sldMk cId="0" sldId="263"/>
            <ac:spMk id="4" creationId="{18F45B99-C217-901A-CA8B-7FCDC0B7BEBD}"/>
          </ac:spMkLst>
        </pc:spChg>
      </pc:sldChg>
      <pc:sldChg chg="addSp delSp modSp mod">
        <pc:chgData name="Reni Nithya" userId="81dbbd6ae6b89009" providerId="LiveId" clId="{712AF1E0-38CE-403E-8C05-4A6DF01D01E8}" dt="2025-11-01T04:42:27.564" v="155"/>
        <pc:sldMkLst>
          <pc:docMk/>
          <pc:sldMk cId="0" sldId="264"/>
        </pc:sldMkLst>
        <pc:spChg chg="del">
          <ac:chgData name="Reni Nithya" userId="81dbbd6ae6b89009" providerId="LiveId" clId="{712AF1E0-38CE-403E-8C05-4A6DF01D01E8}" dt="2025-11-01T04:41:01.183" v="142" actId="478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Reni Nithya" userId="81dbbd6ae6b89009" providerId="LiveId" clId="{712AF1E0-38CE-403E-8C05-4A6DF01D01E8}" dt="2025-11-01T04:41:12.798" v="144"/>
          <ac:spMkLst>
            <pc:docMk/>
            <pc:sldMk cId="0" sldId="264"/>
            <ac:spMk id="5" creationId="{568667F6-098B-4519-B80A-C811EF40CCA2}"/>
          </ac:spMkLst>
        </pc:spChg>
        <pc:graphicFrameChg chg="add mod modGraphic">
          <ac:chgData name="Reni Nithya" userId="81dbbd6ae6b89009" providerId="LiveId" clId="{712AF1E0-38CE-403E-8C05-4A6DF01D01E8}" dt="2025-11-01T04:42:27.564" v="155"/>
          <ac:graphicFrameMkLst>
            <pc:docMk/>
            <pc:sldMk cId="0" sldId="264"/>
            <ac:graphicFrameMk id="6" creationId="{3B62C148-BA67-C96C-F6FE-E6D30E417FE1}"/>
          </ac:graphicFrameMkLst>
        </pc:graphicFrameChg>
      </pc:sldChg>
      <pc:sldChg chg="modSp mod">
        <pc:chgData name="Reni Nithya" userId="81dbbd6ae6b89009" providerId="LiveId" clId="{712AF1E0-38CE-403E-8C05-4A6DF01D01E8}" dt="2025-11-01T04:40:42.824" v="141" actId="20577"/>
        <pc:sldMkLst>
          <pc:docMk/>
          <pc:sldMk cId="0" sldId="265"/>
        </pc:sldMkLst>
        <pc:spChg chg="mod">
          <ac:chgData name="Reni Nithya" userId="81dbbd6ae6b89009" providerId="LiveId" clId="{712AF1E0-38CE-403E-8C05-4A6DF01D01E8}" dt="2025-11-01T04:40:42.824" v="141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48:01.892" v="188" actId="20577"/>
        <pc:sldMkLst>
          <pc:docMk/>
          <pc:sldMk cId="0" sldId="266"/>
        </pc:sldMkLst>
        <pc:spChg chg="mod">
          <ac:chgData name="Reni Nithya" userId="81dbbd6ae6b89009" providerId="LiveId" clId="{712AF1E0-38CE-403E-8C05-4A6DF01D01E8}" dt="2025-11-01T04:48:01.892" v="18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40:00.353" v="125" actId="20577"/>
        <pc:sldMkLst>
          <pc:docMk/>
          <pc:sldMk cId="0" sldId="267"/>
        </pc:sldMkLst>
        <pc:spChg chg="mod">
          <ac:chgData name="Reni Nithya" userId="81dbbd6ae6b89009" providerId="LiveId" clId="{712AF1E0-38CE-403E-8C05-4A6DF01D01E8}" dt="2025-11-01T04:40:00.353" v="125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39:37.954" v="113" actId="6549"/>
        <pc:sldMkLst>
          <pc:docMk/>
          <pc:sldMk cId="0" sldId="268"/>
        </pc:sldMkLst>
        <pc:spChg chg="mod">
          <ac:chgData name="Reni Nithya" userId="81dbbd6ae6b89009" providerId="LiveId" clId="{712AF1E0-38CE-403E-8C05-4A6DF01D01E8}" dt="2025-11-01T04:39:37.954" v="113" actId="6549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Reni Nithya" userId="81dbbd6ae6b89009" providerId="LiveId" clId="{712AF1E0-38CE-403E-8C05-4A6DF01D01E8}" dt="2025-11-01T04:39:23.234" v="105" actId="20577"/>
        <pc:sldMkLst>
          <pc:docMk/>
          <pc:sldMk cId="0" sldId="269"/>
        </pc:sldMkLst>
        <pc:spChg chg="mod">
          <ac:chgData name="Reni Nithya" userId="81dbbd6ae6b89009" providerId="LiveId" clId="{712AF1E0-38CE-403E-8C05-4A6DF01D01E8}" dt="2025-11-01T04:39:23.234" v="105" actId="20577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new mod">
        <pc:chgData name="Reni Nithya" userId="81dbbd6ae6b89009" providerId="LiveId" clId="{712AF1E0-38CE-403E-8C05-4A6DF01D01E8}" dt="2025-11-01T04:46:04.959" v="175"/>
        <pc:sldMkLst>
          <pc:docMk/>
          <pc:sldMk cId="3092920269" sldId="273"/>
        </pc:sldMkLst>
        <pc:spChg chg="del">
          <ac:chgData name="Reni Nithya" userId="81dbbd6ae6b89009" providerId="LiveId" clId="{712AF1E0-38CE-403E-8C05-4A6DF01D01E8}" dt="2025-11-01T04:44:30.215" v="157" actId="478"/>
          <ac:spMkLst>
            <pc:docMk/>
            <pc:sldMk cId="3092920269" sldId="273"/>
            <ac:spMk id="2" creationId="{989A6E6C-213C-F77E-4622-98A1A1B6CDBD}"/>
          </ac:spMkLst>
        </pc:spChg>
        <pc:spChg chg="del">
          <ac:chgData name="Reni Nithya" userId="81dbbd6ae6b89009" providerId="LiveId" clId="{712AF1E0-38CE-403E-8C05-4A6DF01D01E8}" dt="2025-11-01T04:44:33.782" v="158" actId="478"/>
          <ac:spMkLst>
            <pc:docMk/>
            <pc:sldMk cId="3092920269" sldId="273"/>
            <ac:spMk id="3" creationId="{682A8DBC-63CC-9E7C-CC9B-8EA38C795C2C}"/>
          </ac:spMkLst>
        </pc:spChg>
        <pc:spChg chg="add mod">
          <ac:chgData name="Reni Nithya" userId="81dbbd6ae6b89009" providerId="LiveId" clId="{712AF1E0-38CE-403E-8C05-4A6DF01D01E8}" dt="2025-11-01T04:46:04.959" v="175"/>
          <ac:spMkLst>
            <pc:docMk/>
            <pc:sldMk cId="3092920269" sldId="273"/>
            <ac:spMk id="5" creationId="{FE37525E-6245-AA83-1603-8E11F4BD5A85}"/>
          </ac:spMkLst>
        </pc:spChg>
        <pc:graphicFrameChg chg="add mod modGraphic">
          <ac:chgData name="Reni Nithya" userId="81dbbd6ae6b89009" providerId="LiveId" clId="{712AF1E0-38CE-403E-8C05-4A6DF01D01E8}" dt="2025-11-01T04:45:45.418" v="174" actId="122"/>
          <ac:graphicFrameMkLst>
            <pc:docMk/>
            <pc:sldMk cId="3092920269" sldId="273"/>
            <ac:graphicFrameMk id="4" creationId="{4007CF09-475C-C08D-190F-8A3078D8ACB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2D84E-91A1-4286-81E1-E77CDD22184C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79FE2-B0B8-4D61-ADDA-58A00CD9DC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3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79FE2-B0B8-4D61-ADDA-58A00CD9DCD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26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HM4moDOYTM&amp;t=17s" TargetMode="External"/><Relationship Id="rId2" Type="http://schemas.openxmlformats.org/officeDocument/2006/relationships/hyperlink" Target="https://www.youtube.com/watch?v=bRkUGqsz6SI&amp;t=197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suvasism/orb-slam-2-under-the-hood-ad120049eff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SLAM">
            <a:extLst>
              <a:ext uri="{FF2B5EF4-FFF2-40B4-BE49-F238E27FC236}">
                <a16:creationId xmlns:a16="http://schemas.microsoft.com/office/drawing/2014/main" id="{5161CEA6-32BF-0A68-9C1D-B5E45C478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SLAM">
            <a:extLst>
              <a:ext uri="{FF2B5EF4-FFF2-40B4-BE49-F238E27FC236}">
                <a16:creationId xmlns:a16="http://schemas.microsoft.com/office/drawing/2014/main" id="{A6DCE733-A262-20EA-DC35-739C89F03C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32" r="50000" b="16255"/>
          <a:stretch>
            <a:fillRect/>
          </a:stretch>
        </p:blipFill>
        <p:spPr bwMode="auto">
          <a:xfrm>
            <a:off x="110066" y="0"/>
            <a:ext cx="8923867" cy="685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32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is SLAM">
            <a:extLst>
              <a:ext uri="{FF2B5EF4-FFF2-40B4-BE49-F238E27FC236}">
                <a16:creationId xmlns:a16="http://schemas.microsoft.com/office/drawing/2014/main" id="{57226D7B-E1FE-4C21-0228-A39EBBBC48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925" r="1019" b="16092"/>
          <a:stretch>
            <a:fillRect/>
          </a:stretch>
        </p:blipFill>
        <p:spPr bwMode="auto">
          <a:xfrm>
            <a:off x="177800" y="0"/>
            <a:ext cx="8788400" cy="686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633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2710656"/>
            <a:ext cx="9143999" cy="143668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Comparison of Monocular, Stereo, and RGB-D Sensors for SLAM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1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sz="2800" dirty="0"/>
              <a:t>Understand visual sensors used in SLAM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800" dirty="0"/>
              <a:t>Explain Monocular, Stereo, and RGB-D camera principles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800" dirty="0"/>
              <a:t>Compare their characteristics and suitability for SLAM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800" dirty="0"/>
              <a:t>Relate sensor selection to ORB-SLAM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Visual SLAM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SLAM: Simultaneous Localization and Mapping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Uses visual data to estimate camera pose and build maps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Visual SLAM = feature extraction + motion estimation + loop closure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800" dirty="0"/>
              <a:t>ORB-SLAM: feature-based approach using ORB (Oriented FAST and </a:t>
            </a:r>
            <a:r>
              <a:rPr lang="en-US" sz="2800" dirty="0"/>
              <a:t>Rotated </a:t>
            </a:r>
            <a:r>
              <a:rPr sz="2800" dirty="0"/>
              <a:t>BRIEF)</a:t>
            </a:r>
            <a:r>
              <a:rPr lang="en-US" sz="2800" dirty="0"/>
              <a:t> algorithm</a:t>
            </a: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71"/>
            <a:ext cx="8229600" cy="1143000"/>
          </a:xfrm>
        </p:spPr>
        <p:txBody>
          <a:bodyPr/>
          <a:lstStyle/>
          <a:p>
            <a:r>
              <a:rPr dirty="0"/>
              <a:t>ORB-SLAM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467" y="931334"/>
            <a:ext cx="8915399" cy="5194830"/>
          </a:xfrm>
        </p:spPr>
        <p:txBody>
          <a:bodyPr wrap="square"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/>
              <a:t>The system's entire visual processing is based on ORB features, which are corners in an image that are both rotation- and scale-invariant. 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/>
              <a:t>FAST (Features from Accelerated Segment Test) corners:</a:t>
            </a:r>
            <a:r>
              <a:rPr lang="en-US" sz="2400" dirty="0"/>
              <a:t> The algorithm identifies high-contrast pixels in a circular pattern to quickly locate corners.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/>
              <a:t>Rotated BRIEF (Binary Robust Independent Elementary Features) descriptors:</a:t>
            </a:r>
            <a:r>
              <a:rPr lang="en-US" sz="2400" dirty="0"/>
              <a:t> A 256-bit binary descriptor is generated for each corner to describe the patch of pixels around it. This is made rotation-invariant by factoring in the corner's orientation. 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sz="2400" dirty="0"/>
              <a:t>Three main threads: Tracking, Local Mapping, Loop Closing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</a:t>
            </a:r>
            <a:r>
              <a:rPr sz="2400" dirty="0"/>
              <a:t>Uses keyframes and map points for optimization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</a:t>
            </a:r>
            <a:r>
              <a:rPr sz="2400" dirty="0"/>
              <a:t>Supports Monocular, Stereo, and RGB-D modes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 </a:t>
            </a:r>
            <a:r>
              <a:rPr lang="en-IN" sz="2400" dirty="0"/>
              <a:t>Accurate, robust, and open-source (Mur-Artal et al., 2015)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Visual Sensors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Monocular camera: single lens, 2D intensity data only</a:t>
            </a:r>
          </a:p>
          <a:p>
            <a:r>
              <a:rPr dirty="0"/>
              <a:t>Stereo camera: two cameras with known baseline for triangulation</a:t>
            </a:r>
          </a:p>
          <a:p>
            <a:r>
              <a:rPr dirty="0"/>
              <a:t>RGB-D camera: active sensing using IR/</a:t>
            </a:r>
            <a:r>
              <a:rPr dirty="0" err="1"/>
              <a:t>ToF</a:t>
            </a:r>
            <a:r>
              <a:rPr dirty="0"/>
              <a:t> to obtain depth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31837"/>
          </a:xfrm>
        </p:spPr>
        <p:txBody>
          <a:bodyPr>
            <a:normAutofit fontScale="90000"/>
          </a:bodyPr>
          <a:lstStyle/>
          <a:p>
            <a:r>
              <a:rPr dirty="0"/>
              <a:t>Monocular Cameras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1268"/>
            <a:ext cx="9059333" cy="6036732"/>
          </a:xfrm>
        </p:spPr>
        <p:txBody>
          <a:bodyPr wrap="square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Single camera, captures 2D images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No direct depth → scale ambiguity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Low cost, low power, lightweight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Requires motion for structure-from-motion (</a:t>
            </a:r>
            <a:r>
              <a:rPr sz="2400" dirty="0" err="1"/>
              <a:t>SfM</a:t>
            </a:r>
            <a:r>
              <a:rPr sz="24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ORB-SLAM (monocular) estimates depth via motion cues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Lightweight and inexpensive.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/>
              <a:t>High resolution, well-supported by SLAM frameworks (e.g., ORB-SLAM, LSD-SLAM).</a:t>
            </a:r>
          </a:p>
          <a:p>
            <a:pPr marL="0" indent="0">
              <a:buNone/>
            </a:pPr>
            <a:r>
              <a:rPr lang="en-US" sz="2400" b="1" dirty="0"/>
              <a:t>Limitations:</a:t>
            </a:r>
            <a:endParaRPr lang="en-US" sz="2400" dirty="0"/>
          </a:p>
          <a:p>
            <a:r>
              <a:rPr lang="en-US" sz="2400" dirty="0"/>
              <a:t>Scale ambiguity (depth only relative).</a:t>
            </a:r>
          </a:p>
          <a:p>
            <a:r>
              <a:rPr lang="en-US" sz="2400" dirty="0"/>
              <a:t>Poor performance in low-texture or low-light environments.</a:t>
            </a:r>
          </a:p>
          <a:p>
            <a:r>
              <a:rPr lang="en-US" sz="2400" dirty="0"/>
              <a:t>Requires motion for depth recovery.</a:t>
            </a:r>
          </a:p>
          <a:p>
            <a:pPr marL="0" indent="0">
              <a:buNone/>
            </a:pPr>
            <a:r>
              <a:rPr lang="en-US" sz="2400" b="1" dirty="0"/>
              <a:t>SLAM suitability: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Good for lightweight mobile robots, drones.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Not ideal where accurate metric scale is needed.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71"/>
            <a:ext cx="8229600" cy="783696"/>
          </a:xfrm>
        </p:spPr>
        <p:txBody>
          <a:bodyPr/>
          <a:lstStyle/>
          <a:p>
            <a:r>
              <a:rPr dirty="0"/>
              <a:t>Stereo Cameras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3852"/>
            <a:ext cx="9144000" cy="5330296"/>
          </a:xfrm>
        </p:spPr>
        <p:txBody>
          <a:bodyPr wrap="square"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Two cameras with a known baseline.</a:t>
            </a: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Depth from disparity (triangulation principle).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Provides metric depth directly.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Robust to moderate lighting variation.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Works outdoors (unlike many RGB-D sensors).</a:t>
            </a:r>
          </a:p>
          <a:p>
            <a:pPr marL="0" indent="0">
              <a:buNone/>
            </a:pPr>
            <a:r>
              <a:rPr lang="en-US" b="1" dirty="0"/>
              <a:t>Limitations:</a:t>
            </a:r>
            <a:endParaRPr lang="en-US" dirty="0"/>
          </a:p>
          <a:p>
            <a:r>
              <a:rPr lang="en-US" dirty="0"/>
              <a:t>Depth accuracy depends on baseline and calibration.</a:t>
            </a:r>
          </a:p>
          <a:p>
            <a:r>
              <a:rPr lang="en-US" dirty="0"/>
              <a:t>Sensitive to </a:t>
            </a:r>
            <a:r>
              <a:rPr lang="en-US" dirty="0" err="1"/>
              <a:t>textureless</a:t>
            </a:r>
            <a:r>
              <a:rPr lang="en-US" dirty="0"/>
              <a:t> regions.</a:t>
            </a:r>
          </a:p>
          <a:p>
            <a:r>
              <a:rPr lang="en-US" dirty="0"/>
              <a:t>Higher computation (disparity matching).</a:t>
            </a:r>
          </a:p>
          <a:p>
            <a:pPr marL="0" indent="0">
              <a:buNone/>
            </a:pPr>
            <a:r>
              <a:rPr lang="en-IN" b="1" dirty="0"/>
              <a:t>SLAM suitability: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Reliable for outdoor navigation, mobile robots, and autonomous vehicles.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Computationally heavier than monocular; baseline limits compactness.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71"/>
            <a:ext cx="8229600" cy="1143000"/>
          </a:xfrm>
        </p:spPr>
        <p:txBody>
          <a:bodyPr/>
          <a:lstStyle/>
          <a:p>
            <a:r>
              <a:rPr dirty="0"/>
              <a:t>RGB-D Cameras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5171"/>
            <a:ext cx="8229600" cy="4708525"/>
          </a:xfrm>
        </p:spPr>
        <p:txBody>
          <a:bodyPr wrap="square"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Provide both color (RGB) and depth (D) using structured light or </a:t>
            </a:r>
            <a:r>
              <a:rPr lang="en-US" dirty="0" err="1"/>
              <a:t>ToF</a:t>
            </a:r>
            <a:r>
              <a:rPr lang="en-US" dirty="0"/>
              <a:t> (Time-of-Flight). (1.</a:t>
            </a:r>
            <a:r>
              <a:rPr lang="en-US" dirty="0">
                <a:hlinkClick r:id="rId2"/>
              </a:rPr>
              <a:t>https://www.youtube.com/watch?v=bRkUGqsz6SI&amp;t=197s</a:t>
            </a:r>
            <a:r>
              <a:rPr lang="en-US" dirty="0"/>
              <a:t> &amp;</a:t>
            </a:r>
          </a:p>
          <a:p>
            <a:pPr marL="0" indent="0">
              <a:buNone/>
            </a:pPr>
            <a:r>
              <a:rPr lang="en-US" dirty="0"/>
              <a:t>        2. </a:t>
            </a:r>
            <a:r>
              <a:rPr lang="en-US" dirty="0">
                <a:hlinkClick r:id="rId3"/>
              </a:rPr>
              <a:t>https://www.youtube.com/watch?v=DHM4moDOYTM&amp;t=17s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Popular examples: Kinect, RealSense, ZED 2i.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Direct per-pixel depth (no triangulation needed).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Dense 3D map reconstruction possible.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Useful in low-texture indoor environments.</a:t>
            </a:r>
          </a:p>
          <a:p>
            <a:pPr marL="0" indent="0">
              <a:buNone/>
            </a:pPr>
            <a:r>
              <a:rPr lang="en-US" b="1" dirty="0"/>
              <a:t>Limitations:</a:t>
            </a:r>
            <a:endParaRPr lang="en-US" dirty="0"/>
          </a:p>
          <a:p>
            <a:r>
              <a:rPr lang="en-US" dirty="0"/>
              <a:t>Limited range (typically 0.3 – 5 m).</a:t>
            </a:r>
          </a:p>
          <a:p>
            <a:r>
              <a:rPr lang="en-US" dirty="0"/>
              <a:t>Sensitive to sunlight (structured light interference).</a:t>
            </a:r>
          </a:p>
          <a:p>
            <a:r>
              <a:rPr lang="en-US" dirty="0"/>
              <a:t>Higher power consumption.</a:t>
            </a:r>
          </a:p>
          <a:p>
            <a:pPr marL="0" indent="0">
              <a:buNone/>
            </a:pPr>
            <a:r>
              <a:rPr lang="en-US" b="1" dirty="0"/>
              <a:t>SLAM suitability: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Excellent for indoor applications (robotic arms, service robots).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Poor outdoor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B62C148-BA67-C96C-F6FE-E6D30E417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313750"/>
              </p:ext>
            </p:extLst>
          </p:nvPr>
        </p:nvGraphicFramePr>
        <p:xfrm>
          <a:off x="43718" y="1417638"/>
          <a:ext cx="9056564" cy="4940825"/>
        </p:xfrm>
        <a:graphic>
          <a:graphicData uri="http://schemas.openxmlformats.org/drawingml/2006/table">
            <a:tbl>
              <a:tblPr/>
              <a:tblGrid>
                <a:gridCol w="2264141">
                  <a:extLst>
                    <a:ext uri="{9D8B030D-6E8A-4147-A177-3AD203B41FA5}">
                      <a16:colId xmlns:a16="http://schemas.microsoft.com/office/drawing/2014/main" val="516305909"/>
                    </a:ext>
                  </a:extLst>
                </a:gridCol>
                <a:gridCol w="2264141">
                  <a:extLst>
                    <a:ext uri="{9D8B030D-6E8A-4147-A177-3AD203B41FA5}">
                      <a16:colId xmlns:a16="http://schemas.microsoft.com/office/drawing/2014/main" val="624810225"/>
                    </a:ext>
                  </a:extLst>
                </a:gridCol>
                <a:gridCol w="2264141">
                  <a:extLst>
                    <a:ext uri="{9D8B030D-6E8A-4147-A177-3AD203B41FA5}">
                      <a16:colId xmlns:a16="http://schemas.microsoft.com/office/drawing/2014/main" val="292656000"/>
                    </a:ext>
                  </a:extLst>
                </a:gridCol>
                <a:gridCol w="2264141">
                  <a:extLst>
                    <a:ext uri="{9D8B030D-6E8A-4147-A177-3AD203B41FA5}">
                      <a16:colId xmlns:a16="http://schemas.microsoft.com/office/drawing/2014/main" val="1478841531"/>
                    </a:ext>
                  </a:extLst>
                </a:gridCol>
              </a:tblGrid>
              <a:tr h="387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Feature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Monocular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Stereo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/>
                        <a:t>RGB-D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409295"/>
                  </a:ext>
                </a:extLst>
              </a:tr>
              <a:tr h="678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Depth Source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Motion / </a:t>
                      </a:r>
                      <a:r>
                        <a:rPr lang="en-IN" sz="1700" dirty="0" err="1"/>
                        <a:t>SfM</a:t>
                      </a:r>
                      <a:endParaRPr lang="en-IN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Disparity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Active sensing (ToF / IR)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90717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Metric Scale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✗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✓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✓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341112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Cost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Low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Moderate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Moderate–High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66706"/>
                  </a:ext>
                </a:extLst>
              </a:tr>
              <a:tr h="678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Range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Long (depends on scene)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Medium–Long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Short (≤5 m)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495152"/>
                  </a:ext>
                </a:extLst>
              </a:tr>
              <a:tr h="678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Lighting Sensitivity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High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Medium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High (sunlight interference)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659394"/>
                  </a:ext>
                </a:extLst>
              </a:tr>
              <a:tr h="678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Computational Load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Low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Medium–High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Medium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29205"/>
                  </a:ext>
                </a:extLst>
              </a:tr>
              <a:tr h="387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SLAM Accuracy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Low–Medium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High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High (indoor)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886022"/>
                  </a:ext>
                </a:extLst>
              </a:tr>
              <a:tr h="678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Example SLAM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ORB-SLAM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Stereo ORB-SLAM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RTAB-Map, </a:t>
                      </a:r>
                      <a:r>
                        <a:rPr lang="en-IN" sz="1700" dirty="0" err="1"/>
                        <a:t>KinectFusion</a:t>
                      </a:r>
                      <a:endParaRPr lang="en-IN" sz="1700" dirty="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184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07CF09-475C-C08D-190F-8A3078D8A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029230"/>
              </p:ext>
            </p:extLst>
          </p:nvPr>
        </p:nvGraphicFramePr>
        <p:xfrm>
          <a:off x="84667" y="1854888"/>
          <a:ext cx="9000068" cy="3021912"/>
        </p:xfrm>
        <a:graphic>
          <a:graphicData uri="http://schemas.openxmlformats.org/drawingml/2006/table">
            <a:tbl>
              <a:tblPr/>
              <a:tblGrid>
                <a:gridCol w="2250017">
                  <a:extLst>
                    <a:ext uri="{9D8B030D-6E8A-4147-A177-3AD203B41FA5}">
                      <a16:colId xmlns:a16="http://schemas.microsoft.com/office/drawing/2014/main" val="540577041"/>
                    </a:ext>
                  </a:extLst>
                </a:gridCol>
                <a:gridCol w="2250017">
                  <a:extLst>
                    <a:ext uri="{9D8B030D-6E8A-4147-A177-3AD203B41FA5}">
                      <a16:colId xmlns:a16="http://schemas.microsoft.com/office/drawing/2014/main" val="2946982740"/>
                    </a:ext>
                  </a:extLst>
                </a:gridCol>
                <a:gridCol w="2250017">
                  <a:extLst>
                    <a:ext uri="{9D8B030D-6E8A-4147-A177-3AD203B41FA5}">
                      <a16:colId xmlns:a16="http://schemas.microsoft.com/office/drawing/2014/main" val="7605252"/>
                    </a:ext>
                  </a:extLst>
                </a:gridCol>
                <a:gridCol w="2250017">
                  <a:extLst>
                    <a:ext uri="{9D8B030D-6E8A-4147-A177-3AD203B41FA5}">
                      <a16:colId xmlns:a16="http://schemas.microsoft.com/office/drawing/2014/main" val="2811599900"/>
                    </a:ext>
                  </a:extLst>
                </a:gridCol>
              </a:tblGrid>
              <a:tr h="431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Estimated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Real-world scale?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076321"/>
                  </a:ext>
                </a:extLst>
              </a:tr>
              <a:tr h="10792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Monocular SLAM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Moves forward 10 “units”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Unknown (could be 10 cm or 10 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Relative scale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28184"/>
                  </a:ext>
                </a:extLst>
              </a:tr>
              <a:tr h="755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Stereo SLAM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Moves forward 1.0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Metric scale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467853"/>
                  </a:ext>
                </a:extLst>
              </a:tr>
              <a:tr h="755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RGB-D SLAM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Moves forward 1.0 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Metric scale from depth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38401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E37525E-6245-AA83-1603-8E11F4BD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Comparative Analysis</a:t>
            </a:r>
          </a:p>
        </p:txBody>
      </p:sp>
    </p:spTree>
    <p:extLst>
      <p:ext uri="{BB962C8B-B14F-4D97-AF65-F5344CB8AC3E}">
        <p14:creationId xmlns:p14="http://schemas.microsoft.com/office/powerpoint/2010/main" val="3092920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Suitability for SLAM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endParaRPr dirty="0"/>
          </a:p>
          <a:p>
            <a:r>
              <a:rPr dirty="0"/>
              <a:t>Monocular → drones, lightweight robots, academic research</a:t>
            </a:r>
          </a:p>
          <a:p>
            <a:r>
              <a:rPr dirty="0"/>
              <a:t>Stereo → autonomous vehicles, outdoor mapping</a:t>
            </a:r>
          </a:p>
          <a:p>
            <a:r>
              <a:rPr dirty="0"/>
              <a:t>RGB-D → indoor robots, service robots, manipulation tasks</a:t>
            </a:r>
          </a:p>
          <a:p>
            <a:r>
              <a:rPr dirty="0"/>
              <a:t>Hybrid (Visual-Inertial / Multi-sensor fusion) improves robustness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ORB-SLAM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endParaRPr dirty="0"/>
          </a:p>
          <a:p>
            <a:r>
              <a:rPr dirty="0"/>
              <a:t>ORB-SLAM (Monocular): real-time feature-based mapping</a:t>
            </a:r>
          </a:p>
          <a:p>
            <a:r>
              <a:rPr dirty="0"/>
              <a:t>ORB-SLAM2: supports Monocular, Stereo, RGB-D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https://medium.com/@suvasism/orb-slam-2-under-the-hood-ad120049eff2</a:t>
            </a:r>
            <a:r>
              <a:rPr lang="en-US" dirty="0"/>
              <a:t>)</a:t>
            </a:r>
            <a:endParaRPr dirty="0"/>
          </a:p>
          <a:p>
            <a:r>
              <a:rPr dirty="0"/>
              <a:t>ORB-SLAM3: includes inertial sensor fusion (Visual-Inertial SLAM)</a:t>
            </a:r>
          </a:p>
          <a:p>
            <a:r>
              <a:rPr dirty="0"/>
              <a:t>Demonstrated on drones, AR, and autonomous navigation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Consider environment (indoor/outdoor)</a:t>
            </a:r>
          </a:p>
          <a:p>
            <a:r>
              <a:rPr dirty="0"/>
              <a:t>Depth accuracy vs. cost vs. range</a:t>
            </a:r>
          </a:p>
          <a:p>
            <a:r>
              <a:rPr dirty="0"/>
              <a:t>Lighting conditions and texture</a:t>
            </a:r>
          </a:p>
          <a:p>
            <a:r>
              <a:rPr dirty="0"/>
              <a:t>Computational capability of platform</a:t>
            </a:r>
          </a:p>
          <a:p>
            <a:r>
              <a:rPr dirty="0"/>
              <a:t>Fusion (IMU, LiDAR) can compensate sensor weaknesses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Monocular: low cost, no depth → suitable for scale-agnostic SLAM</a:t>
            </a:r>
          </a:p>
          <a:p>
            <a:r>
              <a:rPr dirty="0"/>
              <a:t>Stereo: direct metric depth, robust outdoors</a:t>
            </a:r>
          </a:p>
          <a:p>
            <a:r>
              <a:rPr dirty="0"/>
              <a:t>RGB-D: dense indoor mapping, limited range</a:t>
            </a:r>
          </a:p>
          <a:p>
            <a:r>
              <a:rPr dirty="0"/>
              <a:t>ORB-SLAM supports all three with variant optimizations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Mur-Artal et al., 'ORB-SLAM: A Versatile and Accurate Monocular SLAM System,' IEEE T-RO, 2015</a:t>
            </a:r>
          </a:p>
          <a:p>
            <a:r>
              <a:rPr dirty="0"/>
              <a:t>Cadena et al., 'Past, Present, and Future of SLAM,' IEEE T-RO, 2016</a:t>
            </a:r>
          </a:p>
          <a:p>
            <a:r>
              <a:rPr dirty="0"/>
              <a:t>RTAB-Map and RealSense technical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910</Words>
  <Application>Microsoft Office PowerPoint</Application>
  <PresentationFormat>On-screen Show (4:3)</PresentationFormat>
  <Paragraphs>156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Learning Objectives</vt:lpstr>
      <vt:lpstr>Introduction to Visual SLAM</vt:lpstr>
      <vt:lpstr>ORB-SLAM Overview</vt:lpstr>
      <vt:lpstr>Classification of Visual Sensors</vt:lpstr>
      <vt:lpstr>Monocular Cameras</vt:lpstr>
      <vt:lpstr>Stereo Cameras</vt:lpstr>
      <vt:lpstr>RGB-D Cameras</vt:lpstr>
      <vt:lpstr>Comparative Analysis</vt:lpstr>
      <vt:lpstr>Comparative Analysis</vt:lpstr>
      <vt:lpstr>Suitability for SLAM Applications</vt:lpstr>
      <vt:lpstr>Example ORB-SLAM Implementations</vt:lpstr>
      <vt:lpstr>Choosing the Right Sensor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Reni Nithya</cp:lastModifiedBy>
  <cp:revision>2</cp:revision>
  <dcterms:created xsi:type="dcterms:W3CDTF">2013-01-27T09:14:16Z</dcterms:created>
  <dcterms:modified xsi:type="dcterms:W3CDTF">2025-11-01T04:52:20Z</dcterms:modified>
  <cp:category/>
</cp:coreProperties>
</file>