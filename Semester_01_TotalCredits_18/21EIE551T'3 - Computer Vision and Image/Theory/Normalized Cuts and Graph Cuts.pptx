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B75306-A6C6-4C45-934F-DBA64F4216D4}" v="43" dt="2025-10-27T18:47:44.0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custSel addSld modSld">
      <pc:chgData name="Reni Nithya" userId="81dbbd6ae6b89009" providerId="LiveId" clId="{712AF1E0-38CE-403E-8C05-4A6DF01D01E8}" dt="2025-10-27T18:47:44.025" v="148"/>
      <pc:docMkLst>
        <pc:docMk/>
      </pc:docMkLst>
      <pc:sldChg chg="delSp modSp new mod">
        <pc:chgData name="Reni Nithya" userId="81dbbd6ae6b89009" providerId="LiveId" clId="{712AF1E0-38CE-403E-8C05-4A6DF01D01E8}" dt="2025-10-27T18:28:23.062" v="26" actId="478"/>
        <pc:sldMkLst>
          <pc:docMk/>
          <pc:sldMk cId="2241485709" sldId="256"/>
        </pc:sldMkLst>
        <pc:spChg chg="mod">
          <ac:chgData name="Reni Nithya" userId="81dbbd6ae6b89009" providerId="LiveId" clId="{712AF1E0-38CE-403E-8C05-4A6DF01D01E8}" dt="2025-10-27T18:28:20.064" v="25" actId="20577"/>
          <ac:spMkLst>
            <pc:docMk/>
            <pc:sldMk cId="2241485709" sldId="256"/>
            <ac:spMk id="2" creationId="{58D6FC53-233A-4C55-91F5-05FCD4027F47}"/>
          </ac:spMkLst>
        </pc:spChg>
        <pc:spChg chg="del">
          <ac:chgData name="Reni Nithya" userId="81dbbd6ae6b89009" providerId="LiveId" clId="{712AF1E0-38CE-403E-8C05-4A6DF01D01E8}" dt="2025-10-27T18:28:23.062" v="26" actId="478"/>
          <ac:spMkLst>
            <pc:docMk/>
            <pc:sldMk cId="2241485709" sldId="256"/>
            <ac:spMk id="3" creationId="{678B7B38-8815-474A-3280-38D77693EAC2}"/>
          </ac:spMkLst>
        </pc:spChg>
      </pc:sldChg>
      <pc:sldChg chg="addSp delSp modSp new mod">
        <pc:chgData name="Reni Nithya" userId="81dbbd6ae6b89009" providerId="LiveId" clId="{712AF1E0-38CE-403E-8C05-4A6DF01D01E8}" dt="2025-10-27T18:30:41.631" v="65" actId="948"/>
        <pc:sldMkLst>
          <pc:docMk/>
          <pc:sldMk cId="234068310" sldId="257"/>
        </pc:sldMkLst>
        <pc:spChg chg="mod">
          <ac:chgData name="Reni Nithya" userId="81dbbd6ae6b89009" providerId="LiveId" clId="{712AF1E0-38CE-403E-8C05-4A6DF01D01E8}" dt="2025-10-27T18:28:29.058" v="28"/>
          <ac:spMkLst>
            <pc:docMk/>
            <pc:sldMk cId="234068310" sldId="257"/>
            <ac:spMk id="2" creationId="{7C63A283-3044-7E2D-0A94-EB86F33DC69A}"/>
          </ac:spMkLst>
        </pc:spChg>
        <pc:spChg chg="add del mod">
          <ac:chgData name="Reni Nithya" userId="81dbbd6ae6b89009" providerId="LiveId" clId="{712AF1E0-38CE-403E-8C05-4A6DF01D01E8}" dt="2025-10-27T18:30:41.631" v="65" actId="948"/>
          <ac:spMkLst>
            <pc:docMk/>
            <pc:sldMk cId="234068310" sldId="257"/>
            <ac:spMk id="3" creationId="{292A46D5-99D1-0F75-4627-192722D52115}"/>
          </ac:spMkLst>
        </pc:spChg>
        <pc:spChg chg="add mod">
          <ac:chgData name="Reni Nithya" userId="81dbbd6ae6b89009" providerId="LiveId" clId="{712AF1E0-38CE-403E-8C05-4A6DF01D01E8}" dt="2025-10-27T18:28:43.009" v="30"/>
          <ac:spMkLst>
            <pc:docMk/>
            <pc:sldMk cId="234068310" sldId="257"/>
            <ac:spMk id="4" creationId="{05A6BE3A-196D-577D-B658-8C1161C9F413}"/>
          </ac:spMkLst>
        </pc:spChg>
        <pc:spChg chg="add del mod">
          <ac:chgData name="Reni Nithya" userId="81dbbd6ae6b89009" providerId="LiveId" clId="{712AF1E0-38CE-403E-8C05-4A6DF01D01E8}" dt="2025-10-27T18:29:00.259" v="35" actId="478"/>
          <ac:spMkLst>
            <pc:docMk/>
            <pc:sldMk cId="234068310" sldId="257"/>
            <ac:spMk id="5" creationId="{22B0A103-B5CE-B052-7AF2-56F981C6F095}"/>
          </ac:spMkLst>
        </pc:spChg>
      </pc:sldChg>
      <pc:sldChg chg="addSp modSp new mod">
        <pc:chgData name="Reni Nithya" userId="81dbbd6ae6b89009" providerId="LiveId" clId="{712AF1E0-38CE-403E-8C05-4A6DF01D01E8}" dt="2025-10-27T18:42:16.635" v="97" actId="1076"/>
        <pc:sldMkLst>
          <pc:docMk/>
          <pc:sldMk cId="1703749548" sldId="258"/>
        </pc:sldMkLst>
        <pc:spChg chg="mod">
          <ac:chgData name="Reni Nithya" userId="81dbbd6ae6b89009" providerId="LiveId" clId="{712AF1E0-38CE-403E-8C05-4A6DF01D01E8}" dt="2025-10-27T18:31:01.589" v="67"/>
          <ac:spMkLst>
            <pc:docMk/>
            <pc:sldMk cId="1703749548" sldId="258"/>
            <ac:spMk id="2" creationId="{C475B91D-A9AD-9765-025A-F361815F374A}"/>
          </ac:spMkLst>
        </pc:spChg>
        <pc:spChg chg="mod">
          <ac:chgData name="Reni Nithya" userId="81dbbd6ae6b89009" providerId="LiveId" clId="{712AF1E0-38CE-403E-8C05-4A6DF01D01E8}" dt="2025-10-27T18:33:25.991" v="90" actId="1076"/>
          <ac:spMkLst>
            <pc:docMk/>
            <pc:sldMk cId="1703749548" sldId="258"/>
            <ac:spMk id="3" creationId="{425AC945-61A9-DC24-B561-1CB8029B70F7}"/>
          </ac:spMkLst>
        </pc:spChg>
        <pc:spChg chg="add">
          <ac:chgData name="Reni Nithya" userId="81dbbd6ae6b89009" providerId="LiveId" clId="{712AF1E0-38CE-403E-8C05-4A6DF01D01E8}" dt="2025-10-27T18:31:26.014" v="74"/>
          <ac:spMkLst>
            <pc:docMk/>
            <pc:sldMk cId="1703749548" sldId="258"/>
            <ac:spMk id="4" creationId="{3225D3B2-FA45-EF2B-1CCB-0B0D00C3B6F0}"/>
          </ac:spMkLst>
        </pc:spChg>
        <pc:spChg chg="add mod">
          <ac:chgData name="Reni Nithya" userId="81dbbd6ae6b89009" providerId="LiveId" clId="{712AF1E0-38CE-403E-8C05-4A6DF01D01E8}" dt="2025-10-27T18:42:16.635" v="97" actId="1076"/>
          <ac:spMkLst>
            <pc:docMk/>
            <pc:sldMk cId="1703749548" sldId="258"/>
            <ac:spMk id="10" creationId="{1CB9B1B5-9F98-CC10-7695-321A980C4746}"/>
          </ac:spMkLst>
        </pc:spChg>
        <pc:picChg chg="add mod">
          <ac:chgData name="Reni Nithya" userId="81dbbd6ae6b89009" providerId="LiveId" clId="{712AF1E0-38CE-403E-8C05-4A6DF01D01E8}" dt="2025-10-27T18:32:09.312" v="83" actId="1076"/>
          <ac:picMkLst>
            <pc:docMk/>
            <pc:sldMk cId="1703749548" sldId="258"/>
            <ac:picMk id="6" creationId="{D2C458D1-2B2D-9A26-4EDD-D92A8002544A}"/>
          </ac:picMkLst>
        </pc:picChg>
        <pc:picChg chg="add mod">
          <ac:chgData name="Reni Nithya" userId="81dbbd6ae6b89009" providerId="LiveId" clId="{712AF1E0-38CE-403E-8C05-4A6DF01D01E8}" dt="2025-10-27T18:42:12.922" v="96" actId="1076"/>
          <ac:picMkLst>
            <pc:docMk/>
            <pc:sldMk cId="1703749548" sldId="258"/>
            <ac:picMk id="8" creationId="{E4A29D21-F29A-70AB-9340-2F2AEEF94EEE}"/>
          </ac:picMkLst>
        </pc:picChg>
      </pc:sldChg>
      <pc:sldChg chg="addSp delSp modSp new mod">
        <pc:chgData name="Reni Nithya" userId="81dbbd6ae6b89009" providerId="LiveId" clId="{712AF1E0-38CE-403E-8C05-4A6DF01D01E8}" dt="2025-10-27T18:45:20.228" v="132" actId="20577"/>
        <pc:sldMkLst>
          <pc:docMk/>
          <pc:sldMk cId="208458262" sldId="259"/>
        </pc:sldMkLst>
        <pc:spChg chg="mod">
          <ac:chgData name="Reni Nithya" userId="81dbbd6ae6b89009" providerId="LiveId" clId="{712AF1E0-38CE-403E-8C05-4A6DF01D01E8}" dt="2025-10-27T18:42:46.591" v="98"/>
          <ac:spMkLst>
            <pc:docMk/>
            <pc:sldMk cId="208458262" sldId="259"/>
            <ac:spMk id="2" creationId="{CA829CDF-1AB9-821A-2411-C481390B19C3}"/>
          </ac:spMkLst>
        </pc:spChg>
        <pc:spChg chg="add del mod">
          <ac:chgData name="Reni Nithya" userId="81dbbd6ae6b89009" providerId="LiveId" clId="{712AF1E0-38CE-403E-8C05-4A6DF01D01E8}" dt="2025-10-27T18:45:20.228" v="132" actId="20577"/>
          <ac:spMkLst>
            <pc:docMk/>
            <pc:sldMk cId="208458262" sldId="259"/>
            <ac:spMk id="3" creationId="{DE0EE9CC-E8AA-4FF2-AA99-0F9CEF229BC0}"/>
          </ac:spMkLst>
        </pc:spChg>
        <pc:spChg chg="add mod">
          <ac:chgData name="Reni Nithya" userId="81dbbd6ae6b89009" providerId="LiveId" clId="{712AF1E0-38CE-403E-8C05-4A6DF01D01E8}" dt="2025-10-27T18:43:03.089" v="100"/>
          <ac:spMkLst>
            <pc:docMk/>
            <pc:sldMk cId="208458262" sldId="259"/>
            <ac:spMk id="4" creationId="{1C8AC1F0-84E1-B73D-FCFC-ABD58F0BBA4A}"/>
          </ac:spMkLst>
        </pc:spChg>
        <pc:picChg chg="add del mod">
          <ac:chgData name="Reni Nithya" userId="81dbbd6ae6b89009" providerId="LiveId" clId="{712AF1E0-38CE-403E-8C05-4A6DF01D01E8}" dt="2025-10-27T18:44:48.223" v="123" actId="478"/>
          <ac:picMkLst>
            <pc:docMk/>
            <pc:sldMk cId="208458262" sldId="259"/>
            <ac:picMk id="6" creationId="{DCE22A4A-180A-5BE0-6F5C-50C8D653D28D}"/>
          </ac:picMkLst>
        </pc:picChg>
        <pc:picChg chg="add mod">
          <ac:chgData name="Reni Nithya" userId="81dbbd6ae6b89009" providerId="LiveId" clId="{712AF1E0-38CE-403E-8C05-4A6DF01D01E8}" dt="2025-10-27T18:45:09.546" v="125" actId="1076"/>
          <ac:picMkLst>
            <pc:docMk/>
            <pc:sldMk cId="208458262" sldId="259"/>
            <ac:picMk id="8" creationId="{606394FB-AD50-80A6-F833-F14BDF8D188A}"/>
          </ac:picMkLst>
        </pc:picChg>
      </pc:sldChg>
      <pc:sldChg chg="addSp delSp modSp new mod">
        <pc:chgData name="Reni Nithya" userId="81dbbd6ae6b89009" providerId="LiveId" clId="{712AF1E0-38CE-403E-8C05-4A6DF01D01E8}" dt="2025-10-27T18:46:41.276" v="139"/>
        <pc:sldMkLst>
          <pc:docMk/>
          <pc:sldMk cId="486884930" sldId="260"/>
        </pc:sldMkLst>
        <pc:spChg chg="mod">
          <ac:chgData name="Reni Nithya" userId="81dbbd6ae6b89009" providerId="LiveId" clId="{712AF1E0-38CE-403E-8C05-4A6DF01D01E8}" dt="2025-10-27T18:45:51.969" v="134"/>
          <ac:spMkLst>
            <pc:docMk/>
            <pc:sldMk cId="486884930" sldId="260"/>
            <ac:spMk id="2" creationId="{2ED78E68-5D09-76B4-B175-3F4AF5CFCBC8}"/>
          </ac:spMkLst>
        </pc:spChg>
        <pc:spChg chg="del">
          <ac:chgData name="Reni Nithya" userId="81dbbd6ae6b89009" providerId="LiveId" clId="{712AF1E0-38CE-403E-8C05-4A6DF01D01E8}" dt="2025-10-27T18:46:08.553" v="135"/>
          <ac:spMkLst>
            <pc:docMk/>
            <pc:sldMk cId="486884930" sldId="260"/>
            <ac:spMk id="3" creationId="{740E58CC-E1C4-8F17-1A16-683BDFB05773}"/>
          </ac:spMkLst>
        </pc:spChg>
        <pc:graphicFrameChg chg="add mod modGraphic">
          <ac:chgData name="Reni Nithya" userId="81dbbd6ae6b89009" providerId="LiveId" clId="{712AF1E0-38CE-403E-8C05-4A6DF01D01E8}" dt="2025-10-27T18:46:41.276" v="139"/>
          <ac:graphicFrameMkLst>
            <pc:docMk/>
            <pc:sldMk cId="486884930" sldId="260"/>
            <ac:graphicFrameMk id="4" creationId="{D71FC40C-92BE-3C2A-E2B5-8107C2671E04}"/>
          </ac:graphicFrameMkLst>
        </pc:graphicFrameChg>
      </pc:sldChg>
      <pc:sldChg chg="modSp new mod">
        <pc:chgData name="Reni Nithya" userId="81dbbd6ae6b89009" providerId="LiveId" clId="{712AF1E0-38CE-403E-8C05-4A6DF01D01E8}" dt="2025-10-27T18:47:44.025" v="148"/>
        <pc:sldMkLst>
          <pc:docMk/>
          <pc:sldMk cId="3035282381" sldId="261"/>
        </pc:sldMkLst>
        <pc:spChg chg="mod">
          <ac:chgData name="Reni Nithya" userId="81dbbd6ae6b89009" providerId="LiveId" clId="{712AF1E0-38CE-403E-8C05-4A6DF01D01E8}" dt="2025-10-27T18:47:15.287" v="141"/>
          <ac:spMkLst>
            <pc:docMk/>
            <pc:sldMk cId="3035282381" sldId="261"/>
            <ac:spMk id="2" creationId="{5F247828-8B09-D012-EC46-0E2472749E66}"/>
          </ac:spMkLst>
        </pc:spChg>
        <pc:spChg chg="mod">
          <ac:chgData name="Reni Nithya" userId="81dbbd6ae6b89009" providerId="LiveId" clId="{712AF1E0-38CE-403E-8C05-4A6DF01D01E8}" dt="2025-10-27T18:47:44.025" v="148"/>
          <ac:spMkLst>
            <pc:docMk/>
            <pc:sldMk cId="3035282381" sldId="261"/>
            <ac:spMk id="3" creationId="{C7D99196-3CBB-20BD-C340-2D42E00C74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EE60-CF4F-1FC1-0B88-0600FBE3A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52051-7707-E816-2F91-3797E7CCF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BA960-876D-9B64-46CA-E58586FD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6C92-E2CF-E3BC-8787-06005221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D3D0B-8443-240C-78EE-4B306205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02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5A0F-21E9-4058-A36A-B435BC4F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857D8-E86C-8322-B755-C2DD5EBB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A1F52-BCBE-E5B7-3102-A4AB6140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F4CF2-7E4A-B7DF-4314-087AE5C1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0DD85-A9B1-966E-BF1C-F342E7C5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5B97-CD54-A5CB-BE0E-E26F6A92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29C6F-CD0C-5B1B-EA62-B751C5C77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12F9-1DAD-9CE5-6C85-CBDF6201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3FC8C-FB92-FEA0-5C83-FF44CA95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3F4D-110C-7E09-BFC4-49DA39E0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02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A948-1471-0863-59AA-B909A7CF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75570-760A-817F-BB2B-30EC334D6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11538-B306-F7E1-118F-7E490CA7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6C9F0-6E44-607D-9A33-839AD81F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3B193-A24E-77CC-EEB9-ABAC49C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24A03-4FA3-3C28-E5B2-6F382A69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0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5146-3971-AC29-BF4C-A1342446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63FCE-4BDB-CD71-D163-22B871B0B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F2C48-ABE6-8B7C-42A4-F04D922F0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F1B80-7B60-8CED-9D12-1FC142884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0AB86-CEAC-AA6E-175D-EF3B548EE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3491F-507A-5E02-3073-7115A60E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47866-6B11-F33D-9ECD-633AE69A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97B42D-1E7E-97BA-60CB-29EFF492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8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D8EE-C0E2-2DA2-6456-A23257E6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CB759-8385-F376-29FF-0DEF642F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FE99-275A-558B-3C31-1C0E7225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9FE73-91B7-CD02-9CA2-35F2BF58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229351-F079-DA50-DF63-72256F3E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B1007-E21B-050C-8ABF-E017A718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1B2BC-3ACC-2620-013B-50041978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81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0F51-5477-C742-F1B7-3FDF2CD4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BD2D-3CFF-82CD-E181-08734F6D8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7598D-62F3-BE0A-12F2-2705D777E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8F495-C93E-B627-A72E-72F45234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02671-81D3-4233-4B3E-0FCE0187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5147D-7DEE-F72B-C627-2433F39D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0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3CEE-9EA7-74C4-4784-18585F4F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F974F-46FE-6558-D29A-9EF212DB4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508B8-BD0D-4DAD-55A0-21A8FA8DA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96401-4D3E-ED5F-2C9D-27FF83CC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E2E99-4594-93ED-B8E4-6E7D4013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4C477-1B2B-F178-EA52-B1A935B5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792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FE62-D6FA-33D2-1F66-02017C99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5C6B2-D409-3D9A-532C-43BFD7075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37B8A-92A1-6AF1-7958-4CB9326A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70FD-7824-2DB0-FC12-DC073497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51ADF-A5A8-70C6-023A-C59D77C4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10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42C11-6803-F13D-047E-91B80C468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5F831-9A63-766F-3562-B70168D7A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A752-85C0-4876-51CB-2B7A5DEA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BBF31-20D8-51A0-3B35-119ADDC1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A914-7C96-5A76-030E-8A71FBED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02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76832-C757-93CD-F648-4A1583C6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35F75-59DE-0BCE-84F9-AB93181D7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201E-B4B3-B623-C4DE-7DDAA0886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383A7-C719-443E-B92D-E14FFB1DA44E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4D98F-0B85-4D8C-A624-006655A90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140AA-42A7-C9E9-E0EA-B0E9A6301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FA411-8CA8-4CEC-92A4-10996DB00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6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FC53-233A-4C55-91F5-05FCD4027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Normalized and Graph Cuts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48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A283-3044-7E2D-0A94-EB86F33DC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Graph-based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46D5-99D1-0F75-4627-192722D52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Image segmentation aims to partition an image into meaningful regions (e.g., organs, tumors, tissues).</a:t>
            </a:r>
          </a:p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Graph-based segmentation</a:t>
            </a:r>
            <a:r>
              <a:rPr lang="en-US" altLang="en-US" sz="2400" dirty="0">
                <a:latin typeface="Arial" panose="020B0604020202020204" pitchFamily="34" charset="0"/>
              </a:rPr>
              <a:t> treats an image as a </a:t>
            </a:r>
            <a:r>
              <a:rPr lang="en-US" altLang="en-US" sz="2400" b="1" dirty="0">
                <a:latin typeface="Arial" panose="020B0604020202020204" pitchFamily="34" charset="0"/>
              </a:rPr>
              <a:t>graph G=(V,E) </a:t>
            </a:r>
          </a:p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V: set of nodes (pixels or </a:t>
            </a:r>
            <a:r>
              <a:rPr lang="en-US" altLang="en-US" sz="2400" dirty="0" err="1">
                <a:latin typeface="Arial" panose="020B0604020202020204" pitchFamily="34" charset="0"/>
              </a:rPr>
              <a:t>superpixels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E: edges connecting nodes, weighted by </a:t>
            </a:r>
            <a:r>
              <a:rPr lang="en-US" altLang="en-US" sz="2400" b="1" dirty="0">
                <a:latin typeface="Arial" panose="020B0604020202020204" pitchFamily="34" charset="0"/>
              </a:rPr>
              <a:t>similarity (w(</a:t>
            </a:r>
            <a:r>
              <a:rPr lang="en-US" altLang="en-US" sz="2400" b="1" dirty="0" err="1">
                <a:latin typeface="Arial" panose="020B0604020202020204" pitchFamily="34" charset="0"/>
              </a:rPr>
              <a:t>i</a:t>
            </a:r>
            <a:r>
              <a:rPr lang="en-US" altLang="en-US" sz="2400" b="1" dirty="0">
                <a:latin typeface="Arial" panose="020B0604020202020204" pitchFamily="34" charset="0"/>
              </a:rPr>
              <a:t>, j))</a:t>
            </a:r>
            <a:r>
              <a:rPr lang="en-US" altLang="en-US" sz="2400" dirty="0">
                <a:latin typeface="Arial" panose="020B0604020202020204" pitchFamily="34" charset="0"/>
              </a:rPr>
              <a:t> based on intensity, color, or texture.</a:t>
            </a:r>
          </a:p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goal is to </a:t>
            </a:r>
            <a:r>
              <a:rPr lang="en-US" altLang="en-US" sz="2400" b="1" dirty="0">
                <a:latin typeface="Arial" panose="020B0604020202020204" pitchFamily="34" charset="0"/>
              </a:rPr>
              <a:t>cut</a:t>
            </a:r>
            <a:r>
              <a:rPr lang="en-US" altLang="en-US" sz="2400" dirty="0">
                <a:latin typeface="Arial" panose="020B0604020202020204" pitchFamily="34" charset="0"/>
              </a:rPr>
              <a:t> the graph into disjoint sets such that the </a:t>
            </a:r>
            <a:r>
              <a:rPr lang="en-US" altLang="en-US" sz="2400" b="1" dirty="0">
                <a:latin typeface="Arial" panose="020B0604020202020204" pitchFamily="34" charset="0"/>
              </a:rPr>
              <a:t>similarity within regions</a:t>
            </a:r>
            <a:r>
              <a:rPr lang="en-US" altLang="en-US" sz="2400" dirty="0">
                <a:latin typeface="Arial" panose="020B0604020202020204" pitchFamily="34" charset="0"/>
              </a:rPr>
              <a:t> is high and </a:t>
            </a:r>
            <a:r>
              <a:rPr lang="en-US" altLang="en-US" sz="2400" b="1" dirty="0">
                <a:latin typeface="Arial" panose="020B0604020202020204" pitchFamily="34" charset="0"/>
              </a:rPr>
              <a:t>dissimilarity between regions</a:t>
            </a:r>
            <a:r>
              <a:rPr lang="en-US" altLang="en-US" sz="2400" dirty="0">
                <a:latin typeface="Arial" panose="020B0604020202020204" pitchFamily="34" charset="0"/>
              </a:rPr>
              <a:t> is high.</a:t>
            </a:r>
          </a:p>
        </p:txBody>
      </p:sp>
    </p:spTree>
    <p:extLst>
      <p:ext uri="{BB962C8B-B14F-4D97-AF65-F5344CB8AC3E}">
        <p14:creationId xmlns:p14="http://schemas.microsoft.com/office/powerpoint/2010/main" val="23406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B91D-A9AD-9765-025A-F361815F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Graph Cuts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AC945-61A9-DC24-B561-1CB8029B7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Graph Cut</a:t>
                </a:r>
                <a:r>
                  <a:rPr lang="en-US" sz="2400" dirty="0"/>
                  <a:t> methods aim to partition the graph into two disjoint sets </a:t>
                </a:r>
                <a14:m>
                  <m:oMath xmlns:m="http://schemas.openxmlformats.org/officeDocument/2006/math">
                    <m:r>
                      <a:rPr lang="en-US" sz="2400" i="1"/>
                      <m:t>𝐴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/>
                      <m:t>𝐵</m:t>
                    </m:r>
                  </m:oMath>
                </a14:m>
                <a:r>
                  <a:rPr lang="en-US" sz="2400" dirty="0"/>
                  <a:t>by minimizing a cost function: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This measures the </a:t>
                </a:r>
                <a:r>
                  <a:rPr lang="en-US" sz="2400" b="1" dirty="0"/>
                  <a:t>total dissimilarity</a:t>
                </a:r>
                <a:r>
                  <a:rPr lang="en-US" sz="2400" dirty="0"/>
                  <a:t> between the two groups.</a:t>
                </a:r>
              </a:p>
              <a:p>
                <a:r>
                  <a:rPr lang="en-US" sz="2400" dirty="0"/>
                  <a:t>To find an optimal segmentation, </a:t>
                </a:r>
                <a:r>
                  <a:rPr lang="en-US" sz="2400" b="1" dirty="0"/>
                  <a:t>energy minimization</a:t>
                </a:r>
                <a:r>
                  <a:rPr lang="en-US" sz="2400" dirty="0"/>
                  <a:t> frameworks are used:</a:t>
                </a:r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AC945-61A9-DC24-B561-1CB8029B7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1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2C458D1-2B2D-9A26-4EDD-D92A80025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979" y="2787179"/>
            <a:ext cx="2549454" cy="641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A29D21-F29A-70AB-9340-2F2AEEF94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67" y="4390554"/>
            <a:ext cx="5692633" cy="2339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B9B1B5-9F98-CC10-7695-321A980C4746}"/>
              </a:ext>
            </a:extLst>
          </p:cNvPr>
          <p:cNvSpPr txBox="1"/>
          <p:nvPr/>
        </p:nvSpPr>
        <p:spPr>
          <a:xfrm>
            <a:off x="6096000" y="497663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r>
              <a:rPr lang="en-US" dirty="0"/>
              <a:t>In medical images, graph cuts can be used to segment structures like the </a:t>
            </a:r>
            <a:r>
              <a:rPr lang="en-US" b="1" dirty="0"/>
              <a:t>brain tumor</a:t>
            </a:r>
            <a:r>
              <a:rPr lang="en-US" dirty="0"/>
              <a:t> or </a:t>
            </a:r>
            <a:r>
              <a:rPr lang="en-US" b="1" dirty="0"/>
              <a:t>blood vessels</a:t>
            </a:r>
            <a:r>
              <a:rPr lang="en-US" dirty="0"/>
              <a:t>, where intensity contrast helps define boundaries.</a:t>
            </a:r>
          </a:p>
        </p:txBody>
      </p:sp>
    </p:spTree>
    <p:extLst>
      <p:ext uri="{BB962C8B-B14F-4D97-AF65-F5344CB8AC3E}">
        <p14:creationId xmlns:p14="http://schemas.microsoft.com/office/powerpoint/2010/main" val="170374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9CDF-1AB9-821A-2411-C481390B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Normalized Cuts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0EE9CC-E8AA-4FF2-AA99-0F9CEF229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7958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b="1" dirty="0"/>
                  <a:t>Limitation of basic graph cut:</a:t>
                </a:r>
                <a:r>
                  <a:rPr lang="en-US" sz="2400" dirty="0"/>
                  <a:t> tends to bias toward small isolated regions (since smaller cuts yield lower cost).</a:t>
                </a:r>
              </a:p>
              <a:p>
                <a:r>
                  <a:rPr lang="en-US" sz="2400" b="1" dirty="0"/>
                  <a:t>Normalized Cut (</a:t>
                </a:r>
                <a:r>
                  <a:rPr lang="en-US" sz="2400" b="1" dirty="0" err="1"/>
                  <a:t>Ncut</a:t>
                </a:r>
                <a:r>
                  <a:rPr lang="en-US" sz="2400" b="1" dirty="0"/>
                  <a:t>)</a:t>
                </a:r>
                <a:r>
                  <a:rPr lang="en-US" sz="2400" dirty="0"/>
                  <a:t> addresses this by </a:t>
                </a:r>
                <a:r>
                  <a:rPr lang="en-US" sz="2400" b="1" dirty="0"/>
                  <a:t>normalizing the cut cost</a:t>
                </a:r>
                <a:r>
                  <a:rPr lang="en-US" sz="2400" dirty="0"/>
                  <a:t> relative to the total connections in each partition:</a:t>
                </a:r>
              </a:p>
              <a:p>
                <a:endParaRPr lang="en-US" sz="2400" dirty="0"/>
              </a:p>
              <a:p>
                <a:r>
                  <a:rPr lang="en-IN" sz="2400" dirty="0"/>
                  <a:t>where</a:t>
                </a:r>
                <a:br>
                  <a:rPr lang="en-IN" sz="2400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b="0"/>
                      <m:t>Assoc</m:t>
                    </m:r>
                    <m:r>
                      <m:rPr>
                        <m:nor/>
                      </m:rPr>
                      <a:rPr lang="en-US" sz="2400" b="0" i="0" smtClean="0"/>
                      <m:t>(</m:t>
                    </m:r>
                    <m:r>
                      <m:rPr>
                        <m:nor/>
                      </m:rPr>
                      <a:rPr lang="en-US" sz="2400" b="0" i="0" smtClean="0"/>
                      <m:t>A</m:t>
                    </m:r>
                    <m:r>
                      <m:rPr>
                        <m:nor/>
                      </m:rPr>
                      <a:rPr lang="en-US" sz="2400" b="0" i="0" smtClean="0"/>
                      <m:t>,</m:t>
                    </m:r>
                    <m:r>
                      <m:rPr>
                        <m:nor/>
                      </m:rPr>
                      <a:rPr lang="en-US" sz="2400" b="0" i="0" smtClean="0"/>
                      <m:t>V</m:t>
                    </m:r>
                    <m:r>
                      <m:rPr>
                        <m:nor/>
                      </m:rPr>
                      <a:rPr lang="en-US" sz="2400" b="0" i="0" smtClean="0"/>
                      <m:t>)</m:t>
                    </m:r>
                  </m:oMath>
                </a14:m>
                <a:r>
                  <a:rPr lang="en-IN" sz="2400" dirty="0"/>
                  <a:t>is the total connection from A to all nodes in the graph.</a:t>
                </a:r>
              </a:p>
              <a:p>
                <a:r>
                  <a:rPr lang="en-US" sz="2400" dirty="0"/>
                  <a:t>The objective is to </a:t>
                </a:r>
                <a:r>
                  <a:rPr lang="en-US" sz="2400" b="1" dirty="0"/>
                  <a:t>minimize </a:t>
                </a:r>
                <a:r>
                  <a:rPr lang="en-US" sz="2400" b="1" dirty="0" err="1"/>
                  <a:t>Ncut</a:t>
                </a:r>
                <a:r>
                  <a:rPr lang="en-US" sz="2400" b="1" dirty="0"/>
                  <a:t>(A,B)</a:t>
                </a:r>
                <a:r>
                  <a:rPr lang="en-US" sz="2400" dirty="0"/>
                  <a:t> while maximizing </a:t>
                </a:r>
                <a:r>
                  <a:rPr lang="en-US" sz="2400" b="1" dirty="0"/>
                  <a:t>within-group association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It is formulated as a </a:t>
                </a:r>
                <a:r>
                  <a:rPr lang="en-US" sz="2400" b="1" dirty="0"/>
                  <a:t>generalized eigenvalue problem</a:t>
                </a:r>
                <a:r>
                  <a:rPr lang="en-US" sz="2400" dirty="0"/>
                  <a:t> and solved using </a:t>
                </a:r>
                <a:r>
                  <a:rPr lang="en-US" sz="2400" b="1" dirty="0"/>
                  <a:t>spectral graph theory</a:t>
                </a:r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Example:</a:t>
                </a:r>
              </a:p>
              <a:p>
                <a:r>
                  <a:rPr lang="en-US" sz="2400" dirty="0"/>
                  <a:t>Normalized cuts are effective for segmenting </a:t>
                </a:r>
                <a:r>
                  <a:rPr lang="en-US" sz="2400" b="1" dirty="0"/>
                  <a:t>complex anatomical structures</a:t>
                </a:r>
                <a:r>
                  <a:rPr lang="en-US" sz="2400" dirty="0"/>
                  <a:t> (like brain regions in MRI) where global intensity relationships are more important than local ones.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0EE9CC-E8AA-4FF2-AA99-0F9CEF229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7958"/>
                <a:ext cx="10515600" cy="4351338"/>
              </a:xfrm>
              <a:blipFill>
                <a:blip r:embed="rId2"/>
                <a:stretch>
                  <a:fillRect l="-696" t="-2661" r="-174" b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06394FB-AD50-80A6-F833-F14BDF8D1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813" y="2815990"/>
            <a:ext cx="3482642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8E68-5D09-76B4-B175-3F4AF5CF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Limitations in Medical Image Segmentation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FC40C-92BE-3C2A-E2B5-8107C2671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3650867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76537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84667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72564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Aspect</a:t>
                      </a:r>
                      <a:endParaRPr lang="en-IN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Graph Cuts</a:t>
                      </a:r>
                      <a:endParaRPr lang="en-IN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Normalized Cuts</a:t>
                      </a:r>
                      <a:endParaRPr lang="en-IN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681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Strengths</a:t>
                      </a:r>
                      <a:endParaRPr lang="en-IN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Globally optimal segmentation (binary). - Handles noise with smoothness term. - Fast implementations (min-cut/max-flow).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Avoids small region bias. - Considers global image properties. - Good for multi-region segmentation.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717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Bias toward small regions. - Sensitive to initialization (seed points). - May need prior knowledge of object boundaries.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Computationally expensive (eigenvalue decomposition). - Difficult for large 3D medical volumes. - Sensitive to choice of similarity metric.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5209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Applications in Medical Imaging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Tumor segmentation, organ boundary extraction, vessel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Brain tissue segmentation, complex organ separation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004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88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7828-8B09-D012-EC46-0E247274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Comparative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9196-3CBB-20BD-C340-2D42E00C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</a:t>
            </a:r>
            <a:r>
              <a:rPr lang="en-US" b="1" dirty="0"/>
              <a:t>Graph Cuts</a:t>
            </a:r>
            <a:r>
              <a:rPr lang="en-US" dirty="0"/>
              <a:t> and </a:t>
            </a:r>
            <a:r>
              <a:rPr lang="en-US" b="1" dirty="0"/>
              <a:t>Normalized Cuts</a:t>
            </a:r>
            <a:r>
              <a:rPr lang="en-US" dirty="0"/>
              <a:t> are powerful graph-based segmentation techniques.</a:t>
            </a:r>
          </a:p>
          <a:p>
            <a:r>
              <a:rPr lang="en-US" b="1" dirty="0"/>
              <a:t>Graph Cuts</a:t>
            </a:r>
            <a:r>
              <a:rPr lang="en-US" dirty="0"/>
              <a:t> are efficient and suitable for </a:t>
            </a:r>
            <a:r>
              <a:rPr lang="en-US" b="1" dirty="0"/>
              <a:t>binary segmentation</a:t>
            </a:r>
            <a:r>
              <a:rPr lang="en-US" dirty="0"/>
              <a:t> with interactive user input.</a:t>
            </a:r>
          </a:p>
          <a:p>
            <a:r>
              <a:rPr lang="en-US" b="1" dirty="0"/>
              <a:t>Normalized Cuts</a:t>
            </a:r>
            <a:r>
              <a:rPr lang="en-US" dirty="0"/>
              <a:t> provide </a:t>
            </a:r>
            <a:r>
              <a:rPr lang="en-US" b="1" dirty="0"/>
              <a:t>balanced partitioning</a:t>
            </a:r>
            <a:r>
              <a:rPr lang="en-US" dirty="0"/>
              <a:t> for </a:t>
            </a:r>
            <a:r>
              <a:rPr lang="en-US" b="1" dirty="0"/>
              <a:t>multi-region segmentation</a:t>
            </a:r>
            <a:r>
              <a:rPr lang="en-US" dirty="0"/>
              <a:t> and </a:t>
            </a:r>
            <a:r>
              <a:rPr lang="en-US" b="1" dirty="0"/>
              <a:t>global coherence</a:t>
            </a:r>
            <a:r>
              <a:rPr lang="en-US" dirty="0"/>
              <a:t>, though at a higher computational cost.</a:t>
            </a:r>
          </a:p>
          <a:p>
            <a:r>
              <a:rPr lang="en-US" dirty="0"/>
              <a:t>In practice, </a:t>
            </a:r>
            <a:r>
              <a:rPr lang="en-US" b="1" dirty="0"/>
              <a:t>hybrid methods</a:t>
            </a:r>
            <a:r>
              <a:rPr lang="en-US" dirty="0"/>
              <a:t> and </a:t>
            </a:r>
            <a:r>
              <a:rPr lang="en-US" b="1" dirty="0"/>
              <a:t>deep learning-graph cut combinations</a:t>
            </a:r>
            <a:r>
              <a:rPr lang="en-US" dirty="0"/>
              <a:t> are used in modern medical image analysis to overcome these limitations.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28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495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Normalized and Graph Cuts</vt:lpstr>
      <vt:lpstr>Introduction to Graph-based Segmentation</vt:lpstr>
      <vt:lpstr>Principle of Graph Cuts </vt:lpstr>
      <vt:lpstr>Principle of Normalized Cuts</vt:lpstr>
      <vt:lpstr>Strengths and Limitations in Medical Image Segmentation</vt:lpstr>
      <vt:lpstr>Comparative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 Nithya</dc:creator>
  <cp:lastModifiedBy>Reni Nithya</cp:lastModifiedBy>
  <cp:revision>1</cp:revision>
  <dcterms:created xsi:type="dcterms:W3CDTF">2025-10-27T18:28:09Z</dcterms:created>
  <dcterms:modified xsi:type="dcterms:W3CDTF">2025-10-27T18:47:52Z</dcterms:modified>
</cp:coreProperties>
</file>