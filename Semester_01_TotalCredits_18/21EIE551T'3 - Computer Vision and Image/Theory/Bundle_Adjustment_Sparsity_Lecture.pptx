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Bundle Adjustment Optimization and the Role of Sparsity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Bundle Adjustment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b="1" dirty="0"/>
              <a:t>Bundle Adjustment (BA)</a:t>
            </a:r>
            <a:r>
              <a:rPr lang="en-US" dirty="0"/>
              <a:t> is a nonlinear optimization process that </a:t>
            </a:r>
            <a:r>
              <a:rPr lang="en-US" b="1" dirty="0"/>
              <a:t>refines 3D structure (points)</a:t>
            </a:r>
            <a:r>
              <a:rPr lang="en-US" dirty="0"/>
              <a:t> and </a:t>
            </a:r>
            <a:r>
              <a:rPr lang="en-US" b="1" dirty="0"/>
              <a:t>camera parameters</a:t>
            </a:r>
            <a:r>
              <a:rPr lang="en-US" dirty="0"/>
              <a:t> simultaneously by </a:t>
            </a:r>
            <a:r>
              <a:rPr lang="en-US" b="1" dirty="0"/>
              <a:t>minimizing the reprojection error</a:t>
            </a:r>
            <a:r>
              <a:rPr lang="en-US" dirty="0"/>
              <a:t> across multiple views.</a:t>
            </a:r>
            <a:endParaRPr dirty="0"/>
          </a:p>
          <a:p>
            <a:r>
              <a:rPr lang="en-US" b="1" dirty="0"/>
              <a:t>In essence:</a:t>
            </a:r>
          </a:p>
          <a:p>
            <a:r>
              <a:rPr lang="en-US" dirty="0"/>
              <a:t>It adjusts (“bundles”) all parameters so that the projected 3D points match the observed 2D image features as closely as possible.</a:t>
            </a:r>
          </a:p>
          <a:p>
            <a:r>
              <a:rPr dirty="0"/>
              <a:t>Objective Function:</a:t>
            </a:r>
          </a:p>
          <a:p>
            <a:r>
              <a:rPr dirty="0"/>
              <a:t>min Σ||</a:t>
            </a:r>
            <a:r>
              <a:rPr dirty="0" err="1"/>
              <a:t>x_ij</a:t>
            </a:r>
            <a:r>
              <a:rPr dirty="0"/>
              <a:t> - f(</a:t>
            </a:r>
            <a:r>
              <a:rPr dirty="0" err="1"/>
              <a:t>P_i</a:t>
            </a:r>
            <a:r>
              <a:rPr dirty="0"/>
              <a:t>, </a:t>
            </a:r>
            <a:r>
              <a:rPr dirty="0" err="1"/>
              <a:t>X_j</a:t>
            </a:r>
            <a:r>
              <a:rPr dirty="0"/>
              <a:t>)||²</a:t>
            </a:r>
          </a:p>
          <a:p>
            <a:endParaRPr dirty="0"/>
          </a:p>
          <a:p>
            <a:r>
              <a:rPr dirty="0"/>
              <a:t>Applications:</a:t>
            </a:r>
          </a:p>
          <a:p>
            <a:r>
              <a:rPr dirty="0"/>
              <a:t>- Structure-from-Motion (</a:t>
            </a:r>
            <a:r>
              <a:rPr dirty="0" err="1"/>
              <a:t>SfM</a:t>
            </a:r>
            <a:r>
              <a:rPr dirty="0"/>
              <a:t>)</a:t>
            </a:r>
          </a:p>
          <a:p>
            <a:r>
              <a:rPr dirty="0"/>
              <a:t>- Visual SLAM</a:t>
            </a:r>
          </a:p>
          <a:p>
            <a:r>
              <a:rPr dirty="0"/>
              <a:t>- Camera calibration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Mathematical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IN" dirty="0"/>
                  <a:t>Let: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𝑋</m:t>
                        </m:r>
                      </m:e>
                      <m:sub>
                        <m:r>
                          <a:rPr lang="ar-AE" i="1"/>
                          <m:t>𝑗</m:t>
                        </m:r>
                      </m:sub>
                    </m:sSub>
                  </m:oMath>
                </a14:m>
                <a:r>
                  <a:rPr lang="ar-AE" dirty="0"/>
                  <a:t>: 3</a:t>
                </a:r>
                <a:r>
                  <a:rPr lang="en-IN" dirty="0"/>
                  <a:t>D coordinates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i="1"/>
                          <m:t>𝑗</m:t>
                        </m:r>
                      </m:e>
                      <m:sup>
                        <m:r>
                          <a:rPr lang="ar-AE" i="1"/>
                          <m:t>𝑡</m:t>
                        </m:r>
                        <m:r>
                          <a:rPr lang="ar-AE" i="1"/>
                          <m:t>h</m:t>
                        </m:r>
                      </m:sup>
                    </m:sSup>
                  </m:oMath>
                </a14:m>
                <a:r>
                  <a:rPr lang="en-IN" dirty="0"/>
                  <a:t>point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IN" dirty="0"/>
                  <a:t>Camera projection matrix (or parameters)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i="1"/>
                          <m:t>𝑖</m:t>
                        </m:r>
                      </m:e>
                      <m:sup>
                        <m:r>
                          <a:rPr lang="ar-AE" i="1"/>
                          <m:t>𝑡</m:t>
                        </m:r>
                        <m:r>
                          <a:rPr lang="ar-AE" i="1"/>
                          <m:t>h</m:t>
                        </m:r>
                      </m:sup>
                    </m:sSup>
                  </m:oMath>
                </a14:m>
                <a:r>
                  <a:rPr lang="en-IN" dirty="0"/>
                  <a:t>camera</a:t>
                </a:r>
              </a:p>
              <a:p>
                <a:r>
                  <a:rPr lang="en-US" dirty="0" err="1"/>
                  <a:t>x</a:t>
                </a:r>
                <a:r>
                  <a:rPr lang="en-US" baseline="-25000" dirty="0" err="1"/>
                  <a:t>ij</a:t>
                </a:r>
                <a:r>
                  <a:rPr lang="en-US" dirty="0"/>
                  <a:t>​: Observed 2D image point in camera </a:t>
                </a:r>
                <a14:m>
                  <m:oMath xmlns:m="http://schemas.openxmlformats.org/officeDocument/2006/math">
                    <m:r>
                      <a:rPr lang="en-US" i="1"/>
                      <m:t>𝑖</m:t>
                    </m:r>
                  </m:oMath>
                </a14:m>
                <a:r>
                  <a:rPr lang="en-US" dirty="0"/>
                  <a:t>corresponding to 3D point </a:t>
                </a:r>
                <a14:m>
                  <m:oMath xmlns:m="http://schemas.openxmlformats.org/officeDocument/2006/math">
                    <m:r>
                      <a:rPr lang="en-US" i="1"/>
                      <m:t>𝑗</m:t>
                    </m:r>
                  </m:oMath>
                </a14:m>
                <a:endParaRPr lang="en-US" dirty="0"/>
              </a:p>
              <a:p>
                <a:r>
                  <a:rPr lang="en-IN" b="1" dirty="0"/>
                  <a:t>Reprojection function:</a:t>
                </a:r>
                <a:endParaRPr lang="ar-AE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</m:oMath>
                </a14:m>
                <a:r>
                  <a:rPr lang="en-US" dirty="0"/>
                  <a:t>is the camera projection model (e.g., perspective).</a:t>
                </a:r>
              </a:p>
              <a:p>
                <a:r>
                  <a:rPr lang="en-IN" b="1" dirty="0"/>
                  <a:t>Objective function:</a:t>
                </a:r>
              </a:p>
              <a:p>
                <a:endParaRPr lang="ar-AE" dirty="0"/>
              </a:p>
              <a:p>
                <a:r>
                  <a:rPr lang="en-IN" dirty="0"/>
                  <a:t>This is a </a:t>
                </a:r>
                <a:r>
                  <a:rPr lang="en-IN" b="1" dirty="0"/>
                  <a:t>nonlinear least-squares</a:t>
                </a:r>
                <a:r>
                  <a:rPr lang="en-IN" dirty="0"/>
                  <a:t> problem.</a:t>
                </a:r>
              </a:p>
              <a:p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59" t="-2695" r="-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DEB037E-E281-6A5C-3DB9-F28C6B327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796" y="3376757"/>
            <a:ext cx="2027847" cy="4948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574C63-0F5B-03BB-6B61-06F3645F7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382" y="4471381"/>
            <a:ext cx="2982263" cy="7864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FFA3-DB27-CC54-BBB8-F3B17775C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Optimization Strategies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C6ACAB-2770-3E38-F9E4-3E2CA0DFED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Bundle adjustment problems are </a:t>
                </a:r>
                <a:r>
                  <a:rPr lang="en-US" b="1" dirty="0"/>
                  <a:t>large-scale, sparse, nonlinear</a:t>
                </a:r>
                <a:r>
                  <a:rPr lang="en-US" dirty="0"/>
                  <a:t> least-squares problems.</a:t>
                </a:r>
              </a:p>
              <a:p>
                <a:pPr marL="0" indent="0">
                  <a:buNone/>
                </a:pPr>
                <a:r>
                  <a:rPr lang="en-US" b="1" dirty="0"/>
                  <a:t>(a) Linearization</a:t>
                </a:r>
              </a:p>
              <a:p>
                <a:pPr marL="0" indent="0">
                  <a:buNone/>
                </a:pPr>
                <a:r>
                  <a:rPr lang="en-US" dirty="0"/>
                  <a:t>At each iteration (e.g., in Gauss–Newton or Levenberg–Marquardt):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IN" dirty="0"/>
                  <a:t>and we linearize around current estimates: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𝑟</m:t>
                          </m:r>
                        </m:e>
                        <m:sub>
                          <m:r>
                            <a:rPr lang="ar-AE" i="1"/>
                            <m:t>𝑖𝑗</m:t>
                          </m:r>
                        </m:sub>
                      </m:sSub>
                      <m:r>
                        <a:rPr lang="ar-AE"/>
                        <m:t>+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𝐽</m:t>
                          </m:r>
                        </m:e>
                        <m:sub>
                          <m:r>
                            <a:rPr lang="ar-AE" i="1"/>
                            <m:t>𝑖𝑗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/>
                        <m:t>Δ</m:t>
                      </m:r>
                      <m:r>
                        <a:rPr lang="el-GR"/>
                        <m:t>=</m:t>
                      </m:r>
                      <m:r>
                        <a:rPr lang="el-GR"/>
                        <m:t>0</m:t>
                      </m:r>
                    </m:oMath>
                  </m:oMathPara>
                </a14:m>
                <a:endParaRPr lang="el-GR" dirty="0"/>
              </a:p>
              <a:p>
                <a:pPr marL="0" indent="0">
                  <a:buNone/>
                </a:pPr>
                <a:r>
                  <a:rPr lang="en-IN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𝐽</m:t>
                        </m:r>
                      </m:e>
                      <m:sub>
                        <m:r>
                          <a:rPr lang="ar-AE" i="1"/>
                          <m:t>𝑖𝑗</m:t>
                        </m:r>
                      </m:sub>
                    </m:sSub>
                  </m:oMath>
                </a14:m>
                <a:r>
                  <a:rPr lang="en-IN" dirty="0"/>
                  <a:t>is the </a:t>
                </a:r>
                <a:r>
                  <a:rPr lang="en-IN" b="1" dirty="0"/>
                  <a:t>Jacobian</a:t>
                </a:r>
                <a:r>
                  <a:rPr lang="en-IN" dirty="0"/>
                  <a:t> of residuals with respect to all parameters.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C6ACAB-2770-3E38-F9E4-3E2CA0DFED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3504" r="-2222" b="-9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775B23A-E862-574F-837E-5FF0BF73A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092" y="3266810"/>
            <a:ext cx="2972643" cy="54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37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9C6AE-FD82-81D2-D559-61327BE3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Optimization Strategies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335BFC-F715-D0CC-5F1E-AEE4821A13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(b) Normal Equations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/>
                          </m:ctrlPr>
                        </m:dPr>
                        <m:e>
                          <m:sSup>
                            <m:sSupPr>
                              <m:ctrlPr>
                                <a:rPr lang="ar-AE"/>
                              </m:ctrlPr>
                            </m:sSupPr>
                            <m:e>
                              <m:r>
                                <a:rPr lang="ar-AE" i="1"/>
                                <m:t>𝐽</m:t>
                              </m:r>
                            </m:e>
                            <m:sup>
                              <m:r>
                                <a:rPr lang="ar-AE" i="1"/>
                                <m:t>𝑇</m:t>
                              </m:r>
                            </m:sup>
                          </m:sSup>
                          <m:r>
                            <a:rPr lang="ar-AE" i="1"/>
                            <m:t>𝐽</m:t>
                          </m:r>
                        </m:e>
                      </m:d>
                      <m:r>
                        <m:rPr>
                          <m:sty m:val="p"/>
                        </m:rPr>
                        <a:rPr lang="el-GR"/>
                        <m:t>Δ</m:t>
                      </m:r>
                      <m:r>
                        <a:rPr lang="el-GR"/>
                        <m:t>=−</m:t>
                      </m:r>
                      <m:sSup>
                        <m:sSupPr>
                          <m:ctrlPr>
                            <a:rPr lang="ar-AE" i="1"/>
                          </m:ctrlPr>
                        </m:sSupPr>
                        <m:e>
                          <m:r>
                            <a:rPr lang="ar-AE" i="1"/>
                            <m:t>𝐽</m:t>
                          </m:r>
                        </m:e>
                        <m:sup>
                          <m:r>
                            <a:rPr lang="ar-AE" i="1"/>
                            <m:t>𝑇</m:t>
                          </m:r>
                        </m:sup>
                      </m:sSup>
                      <m:r>
                        <a:rPr lang="ar-AE" i="1"/>
                        <m:t>𝑟</m:t>
                      </m:r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Solving this gives parameter updates.</a:t>
                </a:r>
              </a:p>
              <a:p>
                <a:pPr marL="0" indent="0">
                  <a:buNone/>
                </a:pPr>
                <a:r>
                  <a:rPr lang="en-IN" b="1" dirty="0"/>
                  <a:t>(c) Levenberg–Marquardt (LM) Algorithm</a:t>
                </a:r>
              </a:p>
              <a:p>
                <a:pPr marL="0" indent="0">
                  <a:buNone/>
                </a:pPr>
                <a:r>
                  <a:rPr lang="en-IN" dirty="0"/>
                  <a:t>A hybrid of </a:t>
                </a:r>
                <a:r>
                  <a:rPr lang="en-IN" b="1" dirty="0"/>
                  <a:t>Gauss–Newton</a:t>
                </a:r>
                <a:r>
                  <a:rPr lang="en-IN" dirty="0"/>
                  <a:t> and </a:t>
                </a:r>
                <a:r>
                  <a:rPr lang="en-IN" b="1" dirty="0"/>
                  <a:t>Gradient Descent</a:t>
                </a:r>
                <a:r>
                  <a:rPr lang="en-IN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/>
                          </m:ctrlPr>
                        </m:dPr>
                        <m:e>
                          <m:sSup>
                            <m:sSupPr>
                              <m:ctrlPr>
                                <a:rPr lang="ar-AE"/>
                              </m:ctrlPr>
                            </m:sSupPr>
                            <m:e>
                              <m:r>
                                <a:rPr lang="ar-AE" i="1"/>
                                <m:t>𝐽</m:t>
                              </m:r>
                            </m:e>
                            <m:sup>
                              <m:r>
                                <a:rPr lang="ar-AE" i="1"/>
                                <m:t>𝑇</m:t>
                              </m:r>
                            </m:sup>
                          </m:sSup>
                          <m:r>
                            <a:rPr lang="ar-AE" i="1"/>
                            <m:t>𝐽</m:t>
                          </m:r>
                          <m:r>
                            <a:rPr lang="ar-AE"/>
                            <m:t>+</m:t>
                          </m:r>
                          <m:r>
                            <a:rPr lang="ar-AE" i="1"/>
                            <m:t>𝜆</m:t>
                          </m:r>
                          <m:r>
                            <a:rPr lang="ar-AE" i="1"/>
                            <m:t>𝐼</m:t>
                          </m:r>
                        </m:e>
                      </m:d>
                      <m:r>
                        <m:rPr>
                          <m:sty m:val="p"/>
                        </m:rPr>
                        <a:rPr lang="el-GR"/>
                        <m:t>Δ</m:t>
                      </m:r>
                      <m:r>
                        <a:rPr lang="el-GR"/>
                        <m:t>=−</m:t>
                      </m:r>
                      <m:sSup>
                        <m:sSupPr>
                          <m:ctrlPr>
                            <a:rPr lang="ar-AE" i="1"/>
                          </m:ctrlPr>
                        </m:sSupPr>
                        <m:e>
                          <m:r>
                            <a:rPr lang="ar-AE" i="1"/>
                            <m:t>𝐽</m:t>
                          </m:r>
                        </m:e>
                        <m:sup>
                          <m:r>
                            <a:rPr lang="ar-AE" i="1"/>
                            <m:t>𝑇</m:t>
                          </m:r>
                        </m:sup>
                      </m:sSup>
                      <m:r>
                        <a:rPr lang="ar-AE" i="1"/>
                        <m:t>𝑟</m:t>
                      </m:r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When </a:t>
                </a:r>
                <a14:m>
                  <m:oMath xmlns:m="http://schemas.openxmlformats.org/officeDocument/2006/math">
                    <m:r>
                      <a:rPr lang="en-IN" i="1"/>
                      <m:t>𝜆</m:t>
                    </m:r>
                  </m:oMath>
                </a14:m>
                <a:r>
                  <a:rPr lang="en-IN" dirty="0"/>
                  <a:t>is small → behaves like Gauss–Newton</a:t>
                </a:r>
              </a:p>
              <a:p>
                <a:pPr marL="0" indent="0">
                  <a:buNone/>
                </a:pPr>
                <a:r>
                  <a:rPr lang="en-IN" dirty="0"/>
                  <a:t>When </a:t>
                </a:r>
                <a14:m>
                  <m:oMath xmlns:m="http://schemas.openxmlformats.org/officeDocument/2006/math">
                    <m:r>
                      <a:rPr lang="en-IN" i="1"/>
                      <m:t>𝜆</m:t>
                    </m:r>
                  </m:oMath>
                </a14:m>
                <a:r>
                  <a:rPr lang="en-IN" dirty="0"/>
                  <a:t>is large → behaves like Gradient Descent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335BFC-F715-D0CC-5F1E-AEE4821A13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9054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A6F18-6F91-B3C9-3B16-348A804D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Exploiting Problem Structure: Sparsity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9FD95B-9315-1184-C0D8-33CAED8F81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(a) Observation Pattern</a:t>
                </a:r>
              </a:p>
              <a:p>
                <a:pPr marL="0" indent="0">
                  <a:buNone/>
                </a:pPr>
                <a:r>
                  <a:rPr lang="en-US" dirty="0"/>
                  <a:t>Observation graph: each 3D point seen in only a few cameras → sparse Jacobian→ Most entries in the Jacobian </a:t>
                </a:r>
                <a14:m>
                  <m:oMath xmlns:m="http://schemas.openxmlformats.org/officeDocument/2006/math">
                    <m:r>
                      <a:rPr lang="en-US" i="1"/>
                      <m:t>𝐽</m:t>
                    </m:r>
                  </m:oMath>
                </a14:m>
                <a:r>
                  <a:rPr lang="en-US" dirty="0"/>
                  <a:t>are </a:t>
                </a:r>
                <a:r>
                  <a:rPr lang="en-US" b="1" dirty="0"/>
                  <a:t>zero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IN" b="1" dirty="0"/>
                  <a:t>(b) Block Structure</a:t>
                </a:r>
              </a:p>
              <a:p>
                <a:pPr marL="0" indent="0">
                  <a:buNone/>
                </a:pPr>
                <a:r>
                  <a:rPr lang="en-IN" dirty="0"/>
                  <a:t>If we group parameters as:</a:t>
                </a:r>
              </a:p>
              <a:p>
                <a:pPr marL="0" indent="0">
                  <a:buNone/>
                </a:pPr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Then the </a:t>
                </a:r>
                <a:r>
                  <a:rPr lang="en-IN" b="1" dirty="0"/>
                  <a:t>normal matrix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i="1"/>
                          <m:t>𝐽</m:t>
                        </m:r>
                      </m:e>
                      <m:sup>
                        <m:r>
                          <a:rPr lang="ar-AE" i="1"/>
                          <m:t>𝑇</m:t>
                        </m:r>
                      </m:sup>
                    </m:sSup>
                    <m:r>
                      <a:rPr lang="ar-AE" i="1"/>
                      <m:t>𝐽</m:t>
                    </m:r>
                  </m:oMath>
                </a14:m>
                <a:r>
                  <a:rPr lang="en-IN" dirty="0"/>
                  <a:t>has the block structure: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/>
                              </m:ctrlPr>
                            </m:mPr>
                            <m:mr>
                              <m:e>
                                <m:r>
                                  <a:rPr lang="ar-AE" i="1"/>
                                  <m:t>𝐴</m:t>
                                </m:r>
                              </m:e>
                              <m:e>
                                <m:r>
                                  <a:rPr lang="ar-AE" i="1"/>
                                  <m:t>𝐵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ar-AE" i="1"/>
                                    </m:ctrlPr>
                                  </m:sSupPr>
                                  <m:e>
                                    <m:r>
                                      <a:rPr lang="ar-AE" i="1"/>
                                      <m:t>𝐵</m:t>
                                    </m:r>
                                  </m:e>
                                  <m:sup>
                                    <m:r>
                                      <a:rPr lang="ar-AE" i="1"/>
                                      <m:t>𝑇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ar-AE" i="1"/>
                                  <m:t>𝐶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where: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i="1"/>
                      <m:t>𝐴</m:t>
                    </m:r>
                  </m:oMath>
                </a14:m>
                <a:r>
                  <a:rPr lang="en-IN" dirty="0"/>
                  <a:t>: camera–camera blocks (sparse, small)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i="1"/>
                      <m:t>𝐵</m:t>
                    </m:r>
                  </m:oMath>
                </a14:m>
                <a:r>
                  <a:rPr lang="en-IN" dirty="0"/>
                  <a:t>: camera–point interaction blocks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i="1"/>
                      <m:t>𝐶</m:t>
                    </m:r>
                  </m:oMath>
                </a14:m>
                <a:r>
                  <a:rPr lang="en-IN" dirty="0"/>
                  <a:t>: point–point blocks (block-diagonal)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9FD95B-9315-1184-C0D8-33CAED8F81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2291" r="-14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DA38BC0-9DBF-1693-1083-40E5D6701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286" y="2787152"/>
            <a:ext cx="3672341" cy="58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444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2C42-B3AD-8229-B032-2D07F4337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Exploiting Problem Structure: Sparsity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5568BA-C9FA-4115-5608-AEE0BF165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b="1" dirty="0"/>
                  <a:t>(c) Schur Complement Trick</a:t>
                </a:r>
              </a:p>
              <a:p>
                <a:pPr marL="0" indent="0">
                  <a:buNone/>
                </a:pPr>
                <a:r>
                  <a:rPr lang="en-IN" dirty="0"/>
                  <a:t>To avoid directly inverting huge matrices, eliminate 3D points: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/>
                          </m:ctrlPr>
                        </m:dPr>
                        <m:e>
                          <m:r>
                            <a:rPr lang="ar-AE" i="1"/>
                            <m:t>𝐴</m:t>
                          </m:r>
                          <m:r>
                            <a:rPr lang="ar-AE"/>
                            <m:t>−</m:t>
                          </m:r>
                          <m:r>
                            <a:rPr lang="ar-AE" i="1"/>
                            <m:t>𝐵</m:t>
                          </m:r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r>
                                <a:rPr lang="ar-AE" i="1"/>
                                <m:t>𝐶</m:t>
                              </m:r>
                            </m:e>
                            <m:sup>
                              <m:r>
                                <a:rPr lang="ar-AE"/>
                                <m:t>−</m:t>
                              </m:r>
                              <m:r>
                                <a:rPr lang="ar-AE"/>
                                <m:t>1</m:t>
                              </m:r>
                            </m:sup>
                          </m:sSup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r>
                                <a:rPr lang="ar-AE" i="1"/>
                                <m:t>𝐵</m:t>
                              </m:r>
                            </m:e>
                            <m:sup>
                              <m:r>
                                <a:rPr lang="ar-AE" i="1"/>
                                <m:t>𝑇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/>
                            <m:t>Δ</m:t>
                          </m:r>
                        </m:e>
                        <m:sub>
                          <m:r>
                            <a:rPr lang="ar-AE" i="1"/>
                            <m:t>𝑃</m:t>
                          </m:r>
                        </m:sub>
                      </m:sSub>
                      <m:r>
                        <a:rPr lang="ar-AE"/>
                        <m:t>=</m:t>
                      </m:r>
                      <m:r>
                        <a:rPr lang="ar-AE" i="1"/>
                        <m:t>𝑔</m:t>
                      </m:r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Only camera parameters are solved first (small system), then back-substitute to get 3D points.</a:t>
                </a:r>
              </a:p>
              <a:p>
                <a:pPr marL="0" indent="0">
                  <a:buNone/>
                </a:pPr>
                <a:r>
                  <a:rPr lang="en-IN" dirty="0"/>
                  <a:t>This dramatically reduces computation.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5568BA-C9FA-4115-5608-AEE0BF165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1684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9DFAD-F723-EBEE-E93A-36A51FB8F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Practical Implementation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65A1A-542C-D215-47BB-5BF4C2873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 defTabSz="914400" eaLnBrk="0" fontAlgn="base" hangingPunc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Libraries:</a:t>
            </a:r>
            <a:r>
              <a:rPr lang="en-US" altLang="en-US" dirty="0">
                <a:latin typeface="Arial" panose="020B0604020202020204" pitchFamily="34" charset="0"/>
              </a:rPr>
              <a:t> Ceres Solver (Google), g2o, SBA, GTSAM</a:t>
            </a:r>
          </a:p>
          <a:p>
            <a:pPr marL="0" lvl="0" indent="0" defTabSz="914400" eaLnBrk="0" fontAlgn="base" hangingPunc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Techniques:</a:t>
            </a:r>
            <a:endParaRPr lang="en-US" altLang="en-US" dirty="0"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US" dirty="0">
                <a:latin typeface="Arial" panose="020B0604020202020204" pitchFamily="34" charset="0"/>
              </a:rPr>
              <a:t>Sparse Cholesky factorization</a:t>
            </a:r>
          </a:p>
          <a:p>
            <a:pPr defTabSz="914400" eaLnBrk="0" fontAlgn="base" hangingPunc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US" dirty="0">
                <a:latin typeface="Arial" panose="020B0604020202020204" pitchFamily="34" charset="0"/>
              </a:rPr>
              <a:t>Schur complement</a:t>
            </a:r>
          </a:p>
          <a:p>
            <a:pPr defTabSz="914400" eaLnBrk="0" fontAlgn="base" hangingPunc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US" dirty="0">
                <a:latin typeface="Arial" panose="020B0604020202020204" pitchFamily="34" charset="0"/>
              </a:rPr>
              <a:t>Block-sparse matrix storage</a:t>
            </a:r>
          </a:p>
          <a:p>
            <a:pPr defTabSz="914400" eaLnBrk="0" fontAlgn="base" hangingPunc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US" dirty="0">
                <a:latin typeface="Arial" panose="020B0604020202020204" pitchFamily="34" charset="0"/>
              </a:rPr>
              <a:t>Iterative refinement</a:t>
            </a:r>
          </a:p>
          <a:p>
            <a:pPr marL="0" lvl="0" indent="0" defTabSz="914400" eaLnBrk="0" fontAlgn="base" hangingPunc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Applications:</a:t>
            </a:r>
            <a:endParaRPr lang="en-US" altLang="en-US" dirty="0"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US" dirty="0">
                <a:latin typeface="Arial" panose="020B0604020202020204" pitchFamily="34" charset="0"/>
              </a:rPr>
              <a:t>Visual SLAM</a:t>
            </a:r>
          </a:p>
          <a:p>
            <a:pPr defTabSz="914400" eaLnBrk="0" fontAlgn="base" hangingPunc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US" dirty="0">
                <a:latin typeface="Arial" panose="020B0604020202020204" pitchFamily="34" charset="0"/>
              </a:rPr>
              <a:t>Structure-from-Motion (</a:t>
            </a:r>
            <a:r>
              <a:rPr lang="en-US" altLang="en-US" dirty="0" err="1">
                <a:latin typeface="Arial" panose="020B0604020202020204" pitchFamily="34" charset="0"/>
              </a:rPr>
              <a:t>SfM</a:t>
            </a:r>
            <a:r>
              <a:rPr lang="en-US" altLang="en-US" dirty="0">
                <a:latin typeface="Arial" panose="020B0604020202020204" pitchFamily="34" charset="0"/>
              </a:rPr>
              <a:t>)</a:t>
            </a:r>
          </a:p>
          <a:p>
            <a:pPr defTabSz="914400" eaLnBrk="0" fontAlgn="base" hangingPunc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US" dirty="0">
                <a:latin typeface="Arial" panose="020B0604020202020204" pitchFamily="34" charset="0"/>
              </a:rPr>
              <a:t>Camera calibration and 3D reconstruction</a:t>
            </a:r>
          </a:p>
        </p:txBody>
      </p:sp>
    </p:spTree>
    <p:extLst>
      <p:ext uri="{BB962C8B-B14F-4D97-AF65-F5344CB8AC3E}">
        <p14:creationId xmlns:p14="http://schemas.microsoft.com/office/powerpoint/2010/main" val="4281742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D6972-D53D-135C-E227-B883119B3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CBF211A-0C0D-EBE5-F72B-2AEDA6DB73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1355214"/>
              </p:ext>
            </p:extLst>
          </p:nvPr>
        </p:nvGraphicFramePr>
        <p:xfrm>
          <a:off x="457200" y="2262981"/>
          <a:ext cx="8229600" cy="32004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53015094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0937471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Key 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0531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Minimize reprojection error over all images and 3D 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161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Problem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Nonlinear least squares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4144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Algorithms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Gauss–Newton, Levenberg–Marquardt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811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Large, sparse Jacobian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4926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Exploit sparsity + Schur complement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499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Drastic speedup in 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401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SLAM, </a:t>
                      </a:r>
                      <a:r>
                        <a:rPr lang="en-IN" dirty="0" err="1"/>
                        <a:t>SfM</a:t>
                      </a:r>
                      <a:r>
                        <a:rPr lang="en-IN" dirty="0"/>
                        <a:t>, 3D reconstruction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051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2440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522</Words>
  <Application>Microsoft Office PowerPoint</Application>
  <PresentationFormat>On-screen Show (4:3)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Bundle Adjustment Optimization and the Role of Sparsity</vt:lpstr>
      <vt:lpstr>Introduction to Bundle Adjustment</vt:lpstr>
      <vt:lpstr>Mathematical Formulation</vt:lpstr>
      <vt:lpstr>Optimization Strategies</vt:lpstr>
      <vt:lpstr>Optimization Strategies</vt:lpstr>
      <vt:lpstr>Exploiting Problem Structure: Sparsity</vt:lpstr>
      <vt:lpstr>Exploiting Problem Structure: Sparsity</vt:lpstr>
      <vt:lpstr>Practical Implementation Insights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Reni Nithya</cp:lastModifiedBy>
  <cp:revision>2</cp:revision>
  <dcterms:created xsi:type="dcterms:W3CDTF">2013-01-27T09:14:16Z</dcterms:created>
  <dcterms:modified xsi:type="dcterms:W3CDTF">2025-10-27T17:17:12Z</dcterms:modified>
  <cp:category/>
</cp:coreProperties>
</file>